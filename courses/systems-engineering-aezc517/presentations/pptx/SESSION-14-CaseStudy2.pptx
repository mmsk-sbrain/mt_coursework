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14: Case Study 2 - Tesla Autopilot System Analysis'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Case Study 2 - Tesla Autopilot System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14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14, our second major case study. In Session 6, we analyzed the Boeing 737 MAX MCAS disaster - an aerospace automation failure that killed 346 people.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Today, we analyze Tesla Autopilot - an AUTOMOTIVE automation system involved in multiple fatalities and hundreds of crashes.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not an anti-Tesla session. Tesla pioneered advanced driver assistance in consumer vehicles. But their approach reveals critical systems engineering lessons about automation, human factors, testing, and regulation.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Our goal: Understand what went wrong, why, and how systems engineering principles can prevent similar failures in your future work on autonomous and semi-autonomous vehicles.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AUTOMOTIVE SYSTEMS ENGINEERING</a:t>
            </a:r>
            <a:br/>
            <a:r>
              <a:t>AE ZG517 / AEL ZG517</a:t>
            </a:r>
            <a:br/>
            <a:r>
              <a:t>Session 14: Case Study 2 - Tesla Autopilot System Analysis</a:t>
            </a:r>
            <a:br/>
            <a:br/>
            <a:r>
              <a:t>Comparing Aerospace vs. Automotive Automation Failures</a:t>
            </a:r>
            <a:br/>
            <a:r>
              <a:t>Learning from Incidents to Build Safer Autonomous Systems</a:t>
            </a:r>
            <a:br/>
            <a:br/>
            <a:r>
              <a:t>Instructor: Sajeeth Kumar</a:t>
            </a:r>
            <a:br/>
            <a:r>
              <a:t>Duration: 120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Case Study Overview - The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establish the facts we'll be analyzing: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October 2015: Tesla Autopilot launches (Version 1.0, Mobileye-based)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May 2016: First fatal crash (Joshua Brown, Florida) - Autopilot fails to detect white truck against bright sky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October 2016: Tesla announces 'Full Self-Driving' capability (hardware, software pending)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March 2018: Walter Huang fatal crash (Mountain View, CA) - Autopilot steers into barrier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March 2019: Jeremy Banner fatal crash (Florida) - Similar to 2016, truck crossing path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NHTSA Investigations (as of 2023): — 40+ investigations into Tesla Autopilot crashes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17+ fatalities attributed to Autopilot engagement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736 crashes involving Autopilot (since 2019 data collection)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Pattern: Autopilot disengages seconds before impact (liability question)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Issues Identified: — Driver monitoring inadequate (detects hands on wheel, not attention)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operates outside Operational Design Domain (ODD)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Confusing nomenclature ('Autopilot', 'Full Self-Driving')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Inadequate testing and validation for edge cases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Regulatory gaps in ADAS oversight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Total impact: — 17+ confirmed deaths (likely more)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Hundreds of injuries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Multiple NHTSA investigations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Recalls affecting 2+ million vehicles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Legal liability cases ongoing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Industry-wide implications for ADAS regulation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Our mission: Analyze this through systems engineering lens and compare to 737 MAX.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Your Learning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are we studying BOTH an aerospace case (737 MAX) and automotive case (Tesla Autopilot)?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Because the systems engineering failures are remarkably similar: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Aspect | Boeing 737 MAX | Tesla Autopilot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|--------|----------------|-----------------|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System Type | Flight automation | Driving automation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Failure Mode | Single sensor dependency | Inadequate sensor fusion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Human Factors | Pilots unaware of system | Drivers misunderstand capability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Naming | MCAS hidden from pilots | 'Autopilot' implies full autonomy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Testing | Inadequate failure mode testing | Inadequate edge case validation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Regulation | FAA delegation to Boeing | NHTSA reactive, not proactive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Stakeholders | Commercial pressure &gt; safety | Market pressure &gt; validation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Result | 346 deaths | 17+ deaths, hundreds of crashes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Same systems engineering failures, different domain.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you'll learn: — How SE principles apply across industries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human-automation interaction is critical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design and verify ADAS systems properly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Regulatory challenges for novel technologies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Lessons for your work on autonomous vehicles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Learning Approach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Today's structure mirrors Session 6: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1 (Slides 1-10): Case presentation - Technical system, incidents, facts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2 (Slides 11-18): Guided SE analysis - Requirements, architecture, V&amp;V, human factors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3 (Slides 19-21): Comparative analysis - 737 MAX vs. Autopilot lessons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4 (Slides 22-25): Group work - Analyze specific aspects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5 (Slides 26-28): Synthesis - Lessons for autonomous vehicle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Ground rules: — Technical analysis, respectful to victims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Focus on SYSTEMS failures, not individual blame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SE frameworks from entire course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Compare lessons across aerospace and automotive domains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Incident 1 - Joshua Brown (May 2016)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examine the first fatal crash in detail.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Date: May 7, 2016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Location: Williston, Florida (US Highway 27A)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Vehicle: 2015 Tesla Model S with Autopilot 1.0 (Mobileye-based)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Victim: Joshua Brown, 40, Tesla enthusiast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Sequence of Events: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13:40: Vehicle traveling 74 mph (9 mph over limit) with Autopilot engaged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13:40:05: Tractor-trailer begins left turn across highway (crossing vehicle's path)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13:40:06-10: Autopilot does NOT detect truck and does NOT brake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Camera fails to distinguish white truck against bright sky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 sees truck but classifies as 'overhead object' (false positive suppression)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13:40:10: Vehicle collides with truck at full speed, passes underneath trailer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Joshua Brown dies from injuries, vehicle continues 100+ yards off road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Failure Analysis: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Sensor Failure Modes: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Camera: High contrast scene (white truck, bright sky) - vision system failed to detect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Radar: Detected truck but classified as overhead sign/bridge (tuned to ignore)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Fusion: Failed - neither sensor triggered braking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Monitoring Failure: — Driver's hands detected on wheel periodically (satisfied monitoring)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was watching movie (found playing on laptop after crash)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did NOT detect driver's lack of visual attention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Design Issues: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Over-reliance on camera in challenging lighting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 tuned to minimize false positives (missed true positive)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Inadequate sensor fusion (should vote between sensors)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monitoring only checks hands, not eyes/attention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functional limitation on where Autopilot can engage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NHTSA Investigation Findings: — Tesla's Autopilot performance 'not defective'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But: Recommended better driver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misuse of system (watching video while driving)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Systems Engineering Question: Is 'driver misuse' an acceptable answer, or a systems design failure?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Incident 2 - Walter Huang (March 2018)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Second fatal crash reveals a DIFFERENT failure mode.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Date: March 23, 2018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Location: Mountain View, CA (US Highway 101)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Vehicle: 2017 Tesla Model X with Autopilot 2.5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Victim: Walter Huang, 38, Apple engineer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Sequence of Events: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09:27: Vehicle traveling on Highway 101 with Autopilot engaged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09:27:15: Highway splits - left lanes continue 101, right exit to 85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Lane markings faded at gore point (triangular barrier area)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09:27:18: Autopilot steers LEFT toward barrier (follows left lanes)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Should have detected barrier and disengaged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09:27:19: Vehicle accelerates from 62 to 71 mph approaching barrier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09:27:20: Autopilot disengages 1 second before impact (no driver input detected)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09:27:21: Vehicle strikes barrier at 71 mph, battery fire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Walter Huang dies at hospital, vehicle destroyed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Details: — Huang had complained to family about Autopilot steering toward this same barrier previously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 continued using Autopilot despite known issue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Tesla data shows Huang's hands off wheel for 6 seconds before impact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Huang was likely using phone (not confirmed, device damaged in fire)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Failure Analysis: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Perception Failure: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Lane detection: Confused by faded markings at gore point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Barrier detection: Failed to classify concrete barrier as obstacle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Path planning: Chose to follow lane lines (left) instead of road geometry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Deceleration → Acceleration: System accelerated approaching stopped traffic (trying to maintain set speed)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Monitoring Failure: — Hands off wheel for 6 seconds (system allows this)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detection of phone use or distraction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Design Issues: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Autopilot operates on roads outside ODD (highway splits, gore points)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Lane-following algorithm prioritizes lane lines over obstacle detection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disengages 1 second before crash (appears to shift liability to driver)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Inadequate driver monitoring - doesn't ensure driver ready to take over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NTSB Investigation Findings (2020): — Tesla's Autopilot design 'contributed to crash'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Autopilot allowed use outside ODD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monitoring insufficient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was distracted (probable phone use)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Recommended: Improve driver monitoring, limit Autopilot to appropriate roads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Systems Engineering Question: Who is responsible when automation works outside its design domain and driver doesn't supervise?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Framework for Analysis - SE Lens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we apply our systems engineering frameworks, exactly as we did for 737 MAX.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Our Analysis Framework: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Requirements Engineering Failures — What requirements existed for Autopilot?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requirements were missing?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Were they complete, verifiable, traceable?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System Architecture &amp; Design — Sensor architecture - redundancy and diversity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Perception algorithms - failure modes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Human-automation interaction design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Verification &amp; Validation Failures — What testing was done?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edge cases were missed?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Real-world validation gaps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Human Factors Failures — Driver understanding of system capabilities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monitoring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Naming and marketing implications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Regulatory and Standards Gaps — How did Tesla get approval for deployment?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Where did oversight fail?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Comparison to aerospace regulation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Systems Thinking Failures — Optimizing for feature deployment vs. safety 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Fleet learning vs. individual vehicle safety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work through each systematically, then compare to 737 MAX. —--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Analysis Part 1 - Requirements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analyze Tesla Autopilot through requirements engineering lens.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Safety Requirements That Should Have Existed: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SR-1: Operational Design Domain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Missing: 'Autopilot shall only operate within defined ODD (divided highways, good weather, clear markings)'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exists: System can activate anywhere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Consequence: Operates in scenarios it wasn't designed for (city streets, poor markings, complex intersections)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SR-2: Obstacle Detection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Inadequate: 'Autopilot shall detect and avoid all obstacles in path'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exists: Optimized for moving traffic, poor at stationary objects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Consequence: Crashes into barriers, parked vehicles, trucks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SR-3: Driver Monitoring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Inadequate: 'System shall ensure driver is attentive and ready to take control'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exists: Torque sensor on steering wheel (hands on wheel)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Should be: Eye tracking, head pose, attention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Consequence: Drivers use phone, sleep, watch movies while 'supervising'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SR-4: Safe Handoff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Missing: 'System shall provide adequate time and warning for driver to resume control'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exists: Disengages with minimal warning, sometimes 1 second before crash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Consequence: Driver cannot react in 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SR-5: Fail-Safe Behavior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Inadequate: 'System shall bring vehicle to safe stop if failure detected'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exists: Disengages, expects driver to take over immediately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Should be: Detect driver readiness before handoff, execute safe stop if driver unresponsive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SR-6: Sensor Redundancy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⚠️ Partial: 'Critical perception shall use diverse, redundant sensors'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exists: Camera + radar + ultrasonics (but radar removed in some versions)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Issue: No LiDAR (single technology - vision only in newer models)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Consequence: Failures when vision fails (lighting, contrast, occlusion)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SR-7: System Capability Communication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Absent: 'System shall clearly communicate limitations to driver'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exists: Name 'Autopilot' and 'Full Self-Driving' imply full autonomy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Consequence: Driver misunderstanding, over-reliance, complacency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Quality Analysis: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Attribute | Status | Evidence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|-----------|--------|----------|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Complete | ❌ FAIL | Missing ODD, driver monitoring, safe handoff requirements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Verifiable | ❌ FAIL | No clear verification criteria for 'ensure driver attention'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Traceable | ❌ FAIL | Requirements not traced to ISO 26262 safety goals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Realistic | ❌ FAIL | Expects driver to supervise indefinitely (not realistic)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Unambiguous | ❌ FAIL | 'Autopilot' naming is ambiguous about capability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Comparison to 737 MAX: — Both: Missing critical safety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Both: Inadequate requirements for human interaction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Both: Requirements didn't account for realistic human behavior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Difference: 737 MAX had aerospace standards (failed to follow), Tesla had no equivalent mandatory automotive ADAS standard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Analysis Part 2 - Architecture &amp; Design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examine the system architecture through SE lens.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Sensor Architecture Analysis: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Original Autopilot (HW1, 2015-2016): — 1 forward camera (Mobileye)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 forward radar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12 ultrasonic sensors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Issue: Single camera for critical perception (SPOF)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Autopilot 2.0-2.5 (2016-2019): — 8 cameras (360° coverage)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 forward radar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12 ultrasonic sensors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Improvement: Camera redundancy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Issue: Still relies heavily on vision, radar as secondary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Autopilot 3.0+ / FSD (2019+): — 8 cameras (higher resolution)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radar (removed in 2021+ models)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12 ultrasonic sensors (removed in 2022+ models)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Vision-only approach — Issue: Single sensing modality (eliminates sensor diversity)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Principles Violated: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Sensor Diversity: Removed radar, relies only on vision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Industry standard: Camera + radar + LiDAR (diverse physics)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Tesla: Vision only (affected by lighting, weather, contrast, occlusion)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Graceful Degradation: System disengages abruptly when confused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Should: Detect degradation, alert driver with adequate time, execute safe stop if needed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Actually: Sudden disengagement, immediate handoff to driver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Defense in Depth: No backup safety layers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vision fails, no backup (removed radar)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driver not paying attention (common), no backup supervision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⚠️ Redundancy: Dual FSD computers (processing redundancy)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Good: Two independent processors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But: Both run same algorithms on same sensor data (common mode failure)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Perception Algorithm Design Issues: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Optimized for False Positive Minimization — Tuned to avoid phantom braking (customer complaints)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Misses true positives (actual obstacles)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Classic SE trade-off: False negatives (misses) vs. false positives (false alarms)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Lane-Following vs. Obstacle Avoidance Priority — System prioritizes staying in lane over avoiding obstacles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Walter Huang crash: Followed lane into barrier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Should: Obstacle avoidance overrides lane following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Neural Network Black Box — Deep learning-based perception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Hard to verify all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formal proof of safety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Monitoring Architecture: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Current Design: — Torque sensor on steering wheel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Periodic checks (every 30-60 seconds)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can satisfy by moving wheel slightly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Inadequacies: — Doesn't detect visual attention (eyes on road)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Doesn't detect head pose (facing forward)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Doesn't detect drowsiness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Easily defeated (weights on wheel, etc.)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Industry Best Practice (e.g., GM Super Cruise): — Eye tracking (infrared camera)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Head pose detection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Hands on wheel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Geofencing (only works on pre-mapped highways)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Comparison to 737 MAX Architecture: — Both: Removed redundancy for cost/simplicity (MAX: single AOA, Tesla: removed radar)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Both: Inadequate human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Both: System can operate outside design intent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Difference: Tesla uses learning-based perception (harder to verify than MAX's deterministic code)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Analysis Part 3 - Verification &amp; Validation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was Autopilot tested and validated? Let's analyze through V&amp;V lens.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Verification (Are we building the system right?):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Unit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Individual components tested (cameras, radar, computer)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Software modules tested in simulation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Integration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⚠️ Partial - components integrated incrementally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Issue: Limited testing of sensor fusion edge cases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⚠️ Partial - tested on test tracks and public roads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Issue: Edge cases (crossing trucks, faded markings, barriers) not systematically tested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Validation (Are we building the right system?):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Does it meet stakeholder needs? — ✓ Customers: Want convenience features (Yes, delivers)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❌ Safety regulators: Want guaranteed safety (No, crashes occur)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❌ Society: Want safe roads (No, crashes involving Autopilot)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V&amp;V Gaps: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1: Edge Case Testing — Autopilot tested in 'typical'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Edge cases (crossing vehicles, stationary objects, gore points) not systematically validated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These edge cases are where crashes occur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2: Real-World Operational Testing — Tesla uses 'shadow mode' - system runs in background, logs what it would do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But: Not same as active intervention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Customers are de facto beta testers (not informed consent for safety-critical system)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3: Driver Behavior Validation — System assumes driver will supervise attentively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Reality: Drivers become complacent, distracted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validation that driver monitoring is adequate for realistic driver behavior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4: Independent Verification — No independent third-party testing before deployment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NHTSA does not pre-approve ADAS systems (unlike FAA for aircraft)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Self-certification by manufacturer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5: Statistical Safety Validation — How many test miles needed to prove safety?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Industry estimate: Billions of miles for autonomous safety proof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Tesla's approach: Deploy early, learn from fleet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Question: Is this ethical for safety-critical system?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6: Scenario Coverage — No evidence of systematic scenario analysis (HAZOP, FMEA)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Crashes suggest scenarios not anticipated: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Crossing vehicle in high-contrast lighting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Faded lane markings at highway splits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Emergency vehicles with flashing lights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7: Compliance to Standards — ISO 26262 (Automotive Functional Safety) - voluntary, not mandated for ADAS in 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evidence Tesla follows ISO 26262 ASIL D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Contrast: Aviation follows DO-178C (mandatory)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Fleet Learning Approach (Tesla's Defense):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Tesla argues: — Fleet of 3M+ vehicles collects massive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Neural networks improve with real-world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Continuous improvement through OTA updates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 Critique: — Fleet learning doesn't replace systematic V&amp;V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Individual vehicles are not validated before learning applied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Updates can introduce new failure modes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safety case for each OTA update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Comparison to 737 MAX V&amp;V: — Both: Inadequate edge case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Both: Self-certification (Boeing ODA, Tesla no oversight)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Both: Optimistic assumptions about human behavior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Difference: Aerospace has mandatory standards, automotive ADAS does not (in US)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Analysis Part 4 - Human Factors Catastrophic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where Tesla Autopilot most profoundly fails - human factors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Human Factors Principle: 'Design systems for how humans actually behave, not how we wish they would behave.'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Autopilot's Human Factors Failures: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Failure 1: Automation Complacency (Documented Phenomenon)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Psychology of Automation: — Humans are poor at sustained vigilance (monitoring tasks)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When automation works well, trust increases, attention decreases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is not 'misuse' - it's predictable human behavior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Autopilot Design Assumes: — Driver will remain attentive for entire trip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will be ready to take over instantly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will not become complacent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Reality: — Drivers become complacent within minutes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Drivers use phones, eat, sleep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Drivers cannot resume control instantly from distraction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 Failure: System designed for idealized human, not actual human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Failure 2: Mode Confusion (What is the system doing?)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Autopilot has multiple modes: — TACC only (adaptive cruise, no steering)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Autosteer (cruise + lane keeping)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Navigate on Autopilot (plus lane changes)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Full Self-Driving (city streets)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Confusion: — Which mode am I in?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will the system do?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do I need to do?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Evidence from Crashes: — Drivers unsure when Autopilot is engaged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Drivers unsure what Autopilot can/cannot handle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 transitions not clearly communicated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Failure 3: Misleading Nomenclature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'Autopilot' implies: — Aircraft autopilot (works without pilot intervention for extended periods)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Full automation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handle all situations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'Full Self-Driving' implies: — Complete autonomy (SAE Level 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driver intervention needed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Reality: — Both are SAE Level 2 (partial automation)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must supervise constantly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can fail at any moment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Comparison to Aviation: — Aircraft autopilot operates in controlled airspace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Pilots are trained professionals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Strict operational limitations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Autopilot is NOT used during critical phases (takeoff, landing)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Autopilot: — Operates in uncontrolled environment (public roads)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Drivers are general public (untrained)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operational limitations (can use anywhere)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Used during most critical scenarios (highway merges, intersections)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naming is a systems engineering failure - sets wrong expectations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Failure 4: Inadequate Driver Monitoring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What's needed for Level 2 automation: — Verify driver is visually attentive (eyes on road)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 driver is cognitively engaged (ready to intervene)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Provide adequate takeover time (4-7 seconds minimum)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Tesla provides: — Torque sensor (hands on wheel)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30-60 second check intervals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1-2 second takeover time (inadequate)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Comparison to GM Super Cruise: — Eye tracking (infrared camera)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Head pose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Geofencing (only on pre-mapped highways)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driver not attentive: escalating warnings → safe stop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Failure 5: Training and Education Gap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Training for Autopilot: — Brief in-car tutorial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Written warnings in manual (most don't read)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On-screen disclaimers (click-through)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What's needed: — Formal training (like pilot training for aircraft autopilot)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Testing/certification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Recurrent training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Clear operational limitations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 Principle Violated: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'Safety-critical systems require trained operators' - violated by consumer ADAS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Root Cause Analysis - Human Factors: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Tesla optimized for: — User experience (ease of use, minimal training)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Feature deployment speed (beat competitors)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Customer satisfaction (minimize false alarms)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Tesla did NOT optimize for: — Realistic human behavior modeling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margins for human error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Clear communication of limitations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fundamental human factors systems engineering failure.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Comparison to 737 MAX: — Both: Assumed humans would perfectly supervise automation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Both: Inadequate human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Both: Insufficient training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Both: Marketing/naming implied more capability than existed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Same human factors failures, aerospace and automotive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737 MAX vs. Tesla Autopilot - Side-by-Side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now directly compare the two case studies. The parallels are striking.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Systems Engineering Failure Comparison: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SE Area | Boeing 737 MAX MCAS | Tesla Autopilot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|---------|---------------------|-----------------|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System Purpose | Pitch stability augmentation | Driver assistance / partial automation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Automation Level | Hidden from pilots | Visible but capabilities unclear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Human Role | Pilots supervise, can override | Drivers supervise, can override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Failure Mode | Single AOA sensor failure → nose down | Vision/radar failure → crashes into obstacles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Stakeholder Priority | Airlines (training cost) &gt; Safety | Market speed &gt; Validation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Requirements | Missing redundancy req's | Missing ODD, driver monitoring req's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Architecture | Single sensor (SPOF) | Single modality (vision only), removed radar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Verification | Inadequate failure mode testing | Inadequate edge case validation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Human Factors | Pilots unaware of system | Drivers misunderstand capability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Training | None provided | Minimal tutorial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Naming | 'MCAS' hidden in docs | 'Autopilot', 'FSD' misleading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Regulation | Self-certification (Boeing ODA) | No pre-market approval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Result | 346 deaths, 2 crashes | 17+ deaths, 736+ crashes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Commonalities - Root Causes: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Commercial Pressure Over Safety: — Both prioritized speed to market over thorough 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cut corners on requirements and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Single Points of Failure: — Both removed redundancy (MAX: 1 AOA sensor, Tesla: vision only)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violated defense-in-depth principles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Inadequate Human Factors: — Both assumed perfect human supervision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provided inadequate training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had misleading nomenclature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Failed Verification: — Both inadequately tested edge cases / failure modes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relied on self-certification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lacked independent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Regulatory Gaps: — Both exploited weak regulatory oversight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self-certified safety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deployed before comprehensive safety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Differences: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Aspect | 737 MAX | Tesla Autopilot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|--------|---------|-----------------|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Domain | Aerospace | Automotive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Standards | Exist (DO-178C) but violated | No mandatory standard (US)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Training | Pilots are professionals | Drivers are general public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Environment | Controlled airspace | Uncontrolled public roads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Deployment | Few aircraft | Millions of vehicles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Iteration | Expensive to update | Easy OTA updates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Consequence | Grounding possible | Recall difficult to enforce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Same systems engineering failures manifest across industries.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SE principles are universal - requirements, architecture, V&amp;V, human factors, standards.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automotive follows aerospace path: — Current: Permissive, deploy first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After major disaster: Reactionary regulation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Future: Mandatory standards, pre-market approval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question: Will automotive learn from aerospace failures, or repeat them at larger scale?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Lessons Learned - 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can we learn by comparing these failures?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 1: Systems Engineering Principles Are Universal — Same SE failures (requirements, architecture, V&amp;V, human factors) cause disasters in aerospace AND automotive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 frameworks apply across domains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Your takeaway: SE skills transfer across industries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 2: Automation Without Human Factors is Dangerous — Both cases: Assumed humans would perfectly supervise automation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Reality: Humans are poor at monitoring tasks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Your takeaway: Design for realistic human behavior, not idealized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 3: Single Points of Failure Are Never Acceptable — MAX: Single AOA sensor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Tesla: Vision-only perception (removed radar)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Your takeaway: Safety-critical systems require redundancy and diversity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 4: Edge Cases and Failure Modes Must Be Systematically Tested — Both missed critical edge cases in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deployed without comprehensive 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Your takeaway: Use FMEA, HAZOP, systematic scenario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 5: Marketing and Naming Affect Safety — 'MCAS' hidden from pilots → lack of awareness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'Autopilot' / 'Full Self-Driving' → over-reliance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Your takeaway: System naming and communication are SE responsibilities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 6: Self-Certification Creates Conflict of Interest — Both relied on self-certification under commercial pressure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needed independent verification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Your takeaway: Independent V&amp;V is not optional for safety-critical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 7: Regulations Lag Technology — Aerospace: Standards existed, were circumvented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Automotive: Standards don't exist (for ADAS in US)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Your takeaway: Engineers must self-impose rigorous SE even when not required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 8: Incremental Deployment ≠ Safety Validation — Tesla argument: Fleet learning improves safety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Reality: Each vehicle must be validated before deployment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Your takeaway: Data-driven improvement doesn't replace systematic V&amp;V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 9: Cost of Failure Far Exceeds Cost of Proper SE — MAX: $20B+ costs, brand damage, criminal charges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Tesla: Ongoing investigations, recalls, legal liability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Your takeaway: Invest in SE upfront, avoid catastrophic costs later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 10: Engineers Have Professional and Ethical Responsibility — Both cases: Engineers raised concerns, were overruled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Both: Lives lost because safety was deprioritized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Your takeaway: Speak up when safety is compromised. It's your professional duty.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Group Work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it's your turn. You'll work in groups to analyze specific aspects of Autopilot and propose solutions.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Group Activity (30 minutes):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Form groups (4-5 students)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Choose one topic: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Topic 1: Requirements Rewrite — Write complete safety requirements for Level 2 driving automation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Include: ODD, sensor requirements, driver monitoring, fail-safe behavior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Make them complete, verifiable, traceable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Topic 2: Architecture Redesign — Propose sensor architecture with redundancy and diversity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driver monitoring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fail-safe behaviors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Topic 3: V&amp;V Plan — Create comprehensive V&amp;V plan for ADAS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Include scenario analysis (edge cases to test)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acceptance criteria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Topic 4: Human Factors Improvement — Redesign driver-automation interaction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Propose driver training program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Create clear communication strategy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Topic 5: Regulatory Framework — Propose mandatory ADAS standard for 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Compare to UN R157, ISO 26262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Include enforcement mechanisms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Topic 6: Comparative Analysis — Compare Autopilot to GM Super Cruise, Waymo, other ADAS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what makes a system safer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Propose best practices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Deliverable: 3-minute presentation with SE-backed recommendations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Group Presentations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(Instructor facilitates presentations and synthesis)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Final Synthesis -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synthesize what we've learned across both case studies.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6 (737 MAX) + Session 14 (Autopilot) = Universal SE Lessons: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Requirements engineering is critical — incomplete requirements kill people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Human factors cannot be ignored — design for realistic humans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Single points of failure are unacceptable — redundancy saves lives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Verification must be independent — self-certification fails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Edge cases must be systematically tested — crashes happen at edges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Standards exist for a reason — follow them rigorously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Commercial pressure cannot override safety — ethical responsibility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Automation changes human role — must be carefully designed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Naming and communication affect safety — be accurate and honest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SE processes prevent disasters — skipping them invites tragedy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Your Career in Automotive SE: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will work on ADAS, autonomous vehicles, connected systems. You will face: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 to market pressure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constraints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Cutting-edge technology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Regulatory uncertainty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Your responsibility: Apply rigorous SE to save lives.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Remember: — 346 people died because aerospace SE was compromised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17+ people died because automotive ADAS SE was inadequate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Future deaths can be prevented by YOU applying SE properly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That's why you're learning this. That's why it matters. —--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Assignment (Due before Session 15):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Comparative Case Study Analysis Paper (4-5 pages):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Choose ONE of the following: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Compare 737 MAX and Tesla Autopilot failures - identify common SE failures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Analyze another ADAS system (GM Super Cruise, Waymo, Comma.ai) - what makes it safer?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Propose comprehensive SE framework for Level 4 autonomous shuttle deployment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Required Elements: — SE analysis using frameworks from Sessions 1-14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Requirements, architecture, V&amp;V, human factors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Lessons learned and recommendations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presentation with references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 Session (Session 15): Technical Management Processes — Configuration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management deep dive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assurance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Lessons from case studies inform technical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Final Sessions: — Session 16: Emerging Trends (AI, digital engineering, autonomous systems)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17: Course synthesis and future of automotive 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Questions? —--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(Similar to Session 6 framework)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Timing Management: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Comparative case study learning: Analyze automotive failure, compare to aerospace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Pattern recognition: Same SE failures across domains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Application: Students apply SE frameworks to real-world automotive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development: Understand ethical responsibilities in ADAS/AV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Respectful treatment of real tragedies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Balance between technical analysis and human impact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Empower students to prevent future incidents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Core content: 60 minutes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Group work: 30 minutes (strictly enforced)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Presentations: 3 min per group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Synthesis: 10 minutes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Analyze ADAS systems using complete SE framework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Compare aerospace and automotive automation failures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Identify human factors failures in automation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Understand regulatory gaps in ADAS oversight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Propose SE solutions for safe autonomous vehicle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Recognize professional responsibility in safety-critical automotive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Importantly: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understand that ADAS and AV development requires rigorous SE. Shortcuts kill people. Their future work will determine whether automotive repeats aviation's mistakes or learns from them.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