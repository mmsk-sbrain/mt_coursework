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15: Technical Management &amp; Enabling Processes'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Management &amp; Enabling Processes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15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15: Technical Management and Enabling Processes. Today we explore the often-overlooked half of systems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spent most of this course on TECHNICAL processes: requirements, architecture, verification. But successful SE requires MANAGEMENT processes and ENABLING processes.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Without these, even perfect technical processes fail.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SESSION 15: TECHNICAL MANAGEMENT &amp; ENABLING PROCESSES</a:t>
            </a:r>
            <a:br/>
            <a:r>
              <a:t>The Management Foundation for Technical Excellence</a:t>
            </a:r>
            <a:br/>
            <a:br/>
            <a:r>
              <a:t>Module 4: Lifecycle &amp; Trends</a:t>
            </a:r>
            <a:br/>
            <a:r>
              <a:t>Automotive Systems Engineering (AE ZG517 / AEL ZG517)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Outcomes Addressed: Setting context for LO3, LO5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Previous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see how we got here: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Sessions 1-8 (Technical Processes): — Requirements, architecture, verification,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'WHAT' and 'HOW' of systems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Sessions 9-12 (Project Management &amp; Specialty): — Project management, risk, quality, safety &amp; security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Managing technical execution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13 (Lifecycle Cost): — Economic perspective on SE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cost of ownership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14 (Case Study 2): — Applied SE analysis to real-world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15 (Today): Technical Management &amp; Enabling Processes — The processes that make technical processes 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Knowledge, measurement, decision-making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Planning, control, portfolio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completes the ISO/IEC 15288 process framework.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THE SYSTEMS ENGINEERING JOURNEY</a:t>
            </a:r>
            <a:br/>
            <a:br/>
            <a:r>
              <a:t>Sessions 1-8: Technical Processes Foundation</a:t>
            </a:r>
            <a:br/>
            <a:r>
              <a:t>  • Requirements, architecture, design</a:t>
            </a:r>
            <a:br/>
            <a:r>
              <a:t>  • Integration, verification, validation</a:t>
            </a:r>
            <a:br/>
            <a:br/>
            <a:r>
              <a:t>Sessions 9-12: Project Management &amp; Specialty</a:t>
            </a:r>
            <a:br/>
            <a:r>
              <a:t>  • Project, risk, quality management</a:t>
            </a:r>
            <a:br/>
            <a:r>
              <a:t>  • Safety &amp; security engineering</a:t>
            </a:r>
            <a:br/>
            <a:br/>
            <a:r>
              <a:t>Sessions 13-14: Lifecycle &amp; Application</a:t>
            </a:r>
            <a:br/>
            <a:r>
              <a:t>  • LCC &amp; TCO</a:t>
            </a:r>
            <a:br/>
            <a:r>
              <a:t>  • Real-world case analysis</a:t>
            </a:r>
            <a:br/>
            <a:br/>
            <a:r>
              <a:t>Session 15: Management &amp; Enabling ← TODAY</a:t>
            </a:r>
            <a:br/>
            <a:r>
              <a:t>  • Technical management processes</a:t>
            </a:r>
            <a:br/>
            <a:r>
              <a:t>  • Enabling organizational processes</a:t>
            </a:r>
            <a:br/>
            <a:br/>
            <a:r>
              <a:t>Session 16: Emerging Trends (Next)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Three Process Categories - ISO/IEC 15288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organizes SE processes into THREE categories: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PROCESSES (8 processes): — Business/Mission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Needs &amp;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Integration, Verification,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covered these extensively in Sessions 1-14.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MANAGEMENT PROCESSES (8 processes): — Project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Assessment &amp;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Information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Assurance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touched on some (Sessions 9-12), today we dive deeper.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ORGANIZATIONAL PROJECT-ENABLING PROCESSES (5 processes): — Life Cycle Model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Infrastructure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Portfolio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Resource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enable all other processes. Often neglected, but critical.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we focus on the management and enabling processes that make technical excellence possible.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ISO/IEC 15288: THREE PROCESS CATEGORIES</a:t>
            </a:r>
            <a:br/>
            <a:br/>
            <a:r>
              <a:t>TECHNICAL PROCESSES (8)</a:t>
            </a:r>
            <a:br/>
            <a:r>
              <a:t>  • Requirements, architecture, design</a:t>
            </a:r>
            <a:br/>
            <a:r>
              <a:t>  • Implementation, verification, validation</a:t>
            </a:r>
            <a:br/>
            <a:r>
              <a:t>  → Sessions 1-14 coverage</a:t>
            </a:r>
            <a:br/>
            <a:br/>
            <a:r>
              <a:t>TECHNICAL MANAGEMENT PROCESSES (8)</a:t>
            </a:r>
            <a:br/>
            <a:r>
              <a:t>  • Project planning &amp; control</a:t>
            </a:r>
            <a:br/>
            <a:r>
              <a:t>  • Decision, risk, configuration mgmt</a:t>
            </a:r>
            <a:br/>
            <a:r>
              <a:t>  • Measurement, quality assurance</a:t>
            </a:r>
            <a:br/>
            <a:r>
              <a:t>  → Today's focus (Part 1)</a:t>
            </a:r>
            <a:br/>
            <a:br/>
            <a:r>
              <a:t>ORGANIZATIONAL ENABLING PROCESSES (5)</a:t>
            </a:r>
            <a:br/>
            <a:r>
              <a:t>  • Lifecycle model, infrastructure, portfolio</a:t>
            </a:r>
            <a:br/>
            <a:r>
              <a:t>  • Human resources, quality management</a:t>
            </a:r>
            <a:br/>
            <a:r>
              <a:t>  → Today's focus (Part 2)</a:t>
            </a:r>
            <a:br/>
            <a:br/>
            <a:r>
              <a:t>**All three categories required for SE success**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Management Processes Matter - Real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why today's processes are critical: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Industry data on project failures: — 68% of software-intensive projects fail due to poor requirements management (Standish Group)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75% of large automotive projects exceed budget/schedule (McKinsey)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#1 cause: Inadequate technical planning and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#2 cause: Poor decision-making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#3 cause: Lack of knowledge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examples: — Boeing 737 MAX: Poor configuration management led to MCAS version confusion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VW Dieselgate: Inadequate quality assurance and measurement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 Autopilot delays: Knowledge management gaps between teams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paradox: Technical processes get attention, but management processes prevent failures.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we learn the processes that prevent these failures.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WHY TECHNICAL MANAGEMENT MATTERS: PROJECT FAILURES</a:t>
            </a:r>
            <a:br/>
            <a:br/>
            <a:r>
              <a:t>Industry Statistics:</a:t>
            </a:r>
            <a:br/>
            <a:r>
              <a:t>  • 68% of projects fail due to poor requirements mgmt</a:t>
            </a:r>
            <a:br/>
            <a:r>
              <a:t>  • 75% of automotive projects exceed budget/schedule</a:t>
            </a:r>
            <a:br/>
            <a:r>
              <a:t>  • Top causes: Planning, decision-making, knowledge gaps</a:t>
            </a:r>
            <a:br/>
            <a:br/>
            <a:r>
              <a:t>Automotive Failures (Management Gaps):</a:t>
            </a:r>
            <a:br/>
            <a:r>
              <a:t>  • Boeing 737 MAX: Configuration management</a:t>
            </a:r>
            <a:br/>
            <a:r>
              <a:t>  • VW Dieselgate: Quality assurance</a:t>
            </a:r>
            <a:br/>
            <a:r>
              <a:t>  • Tesla delays: Knowledge management</a:t>
            </a:r>
            <a:br/>
            <a:br/>
            <a:r>
              <a:t>**Perfect technical processes ≠ Success**</a:t>
            </a:r>
            <a:br/>
            <a:r>
              <a:t>**Need management &amp; enabling processes**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Management Gap - What's Missing?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illustrate the management gap with a real scenario: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Project: Next-generation ADAS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execution: Excellent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Perfect requirements (Session 4 methods applied)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Solid architecture (Session 5 principles used)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Comprehensive V&amp;V (Session 8 coverage achieved)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Project result: Failure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Delivered 18 months 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200% over budget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 rejected final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went wrong? Not technical processes. Management processes: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Missing Process 1: Technical Planning — No work breakdown 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resource allocation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schedule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Missing Process 2: Decision Management — Architecture decisions revisited 5 times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decision framework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conflicts unresolved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Missing Process 3: Measurement — No progress tracking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quality metrics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Problems discovered too late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Missing Process 4: Knowledge Management — Lessons from previous projects not captured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Expert knowledge siloed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New team members reinventing solutions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 we need today's session. Management processes are the foundation.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THE MANAGEMENT GAP: WHY GOOD TECH FAILS</a:t>
            </a:r>
            <a:br/>
            <a:br/>
            <a:r>
              <a:t>Scenario: Next-gen ADAS Project</a:t>
            </a:r>
            <a:br/>
            <a:br/>
            <a:r>
              <a:t>Technical Execution: ✓ Excellent</a:t>
            </a:r>
            <a:br/>
            <a:r>
              <a:t>  • Perfect requirements</a:t>
            </a:r>
            <a:br/>
            <a:r>
              <a:t>  • Solid architecture</a:t>
            </a:r>
            <a:br/>
            <a:r>
              <a:t>  • Comprehensive V&amp;V</a:t>
            </a:r>
            <a:br/>
            <a:br/>
            <a:r>
              <a:t>Project Result: ✗ Failure</a:t>
            </a:r>
            <a:br/>
            <a:r>
              <a:t>  • 18 months late</a:t>
            </a:r>
            <a:br/>
            <a:r>
              <a:t>  • 200% over budget</a:t>
            </a:r>
            <a:br/>
            <a:r>
              <a:t>  • Customer rejection</a:t>
            </a:r>
            <a:br/>
            <a:br/>
            <a:r>
              <a:t>Root Causes (Management Gaps):</a:t>
            </a:r>
            <a:br/>
            <a:r>
              <a:t>  1. No technical planning → resource chaos</a:t>
            </a:r>
            <a:br/>
            <a:r>
              <a:t>  2. No decision framework → rework cycles</a:t>
            </a:r>
            <a:br/>
            <a:r>
              <a:t>  3. No measurement → late problem detection</a:t>
            </a:r>
            <a:br/>
            <a:r>
              <a:t>  4. No knowledge mgmt → repeated mistakes</a:t>
            </a:r>
            <a:br/>
            <a:br/>
            <a:r>
              <a:t>**Management processes prevent this**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Perfect System That Failed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tell you about a real automotive project I'll call 'Advanced Driver Assist Platform' (ADAP):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credentials: Impeccable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Requirements: 2,000+ system requirements, full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Architecture: Modular, scalable, safety-certified ASIL-D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V&amp;V: 95% code coverage, 100% requirement coverage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Team: World-class engineers from top OEMs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Project timeline: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Month 0: Project kickoff, 24-month plan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Month 6: First architecture review - team decides to change sensor suite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Month 8: Architecture decision reversed, return to original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Month 12: Mid-project - no working integration yet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Month 18: Schedule slips to 36 months, budget increased 50%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Month 24: Integration issues discovered (should have been month 12)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Month 30: Customer loses confidence, considers canceling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Month 36: System finally delivered, 12 months late, 80% over budget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Post-mortem findings: — Technical quality: Excellent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management: Catastrophic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went wrong? Let's analyze the management process failures.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CASE: ADVANCED DRIVER ASSIST PLATFORM (ADAP)</a:t>
            </a:r>
            <a:br/>
            <a:br/>
            <a:r>
              <a:t>Technical Excellence:</a:t>
            </a:r>
            <a:br/>
            <a:r>
              <a:t>  ✓ 2,000+ requirements, full traceability</a:t>
            </a:r>
            <a:br/>
            <a:r>
              <a:t>  ✓ ASIL-D certified architecture</a:t>
            </a:r>
            <a:br/>
            <a:r>
              <a:t>  ✓ 95% code coverage, 100% req coverage</a:t>
            </a:r>
            <a:br/>
            <a:r>
              <a:t>  ✓ World-class engineering team</a:t>
            </a:r>
            <a:br/>
            <a:br/>
            <a:r>
              <a:t>Project Execution:</a:t>
            </a:r>
            <a:br/>
            <a:r>
              <a:t>  ✗ 12 months late (24 → 36 months)</a:t>
            </a:r>
            <a:br/>
            <a:r>
              <a:t>  ✗ 80% over budget</a:t>
            </a:r>
            <a:br/>
            <a:r>
              <a:t>  ✗ Customer nearly canceled</a:t>
            </a:r>
            <a:br/>
            <a:r>
              <a:t>  ✗ Integration chaos</a:t>
            </a:r>
            <a:br/>
            <a:br/>
            <a:r>
              <a:t>Post-Mortem: Technical quality excellent, management failed</a:t>
            </a:r>
            <a:br/>
            <a:br/>
            <a:r>
              <a:t>**Question: How does this happen?**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Root Cause Analysis - Management Process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Root cause analysis of ADAP failure revealed SIX management process gaps: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1: No Decision Management Process — Architecture changes made ad-hoc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decision criteria framework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Decisions reversed multiple times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4 months of rework, $2M wasted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2: Inadequate Technical Planning — No detailed WBS below subsystem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integration milestones defined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Parallel work poorly coordinated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Late discovery of integration issues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3: No Measurement System — Progress tracked by 'percent complete' estimates (subjective)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earned value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performance not measured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Problems invisible until month 24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4: Poor Configuration Management — Multiple architecture versions in use simultaneously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specifications changed without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Teams worked to different baselines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Integration failures, incompatible components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5: Zero Knowledge Management — Previous ADAS project lessons not reviewed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Same integration mistakes repeated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New team members not onboarded with historical context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Repeated errors, slow learning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Gap 6: No Portfolio Oversight — ADAP competed with 3 other projects for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organizational prioritization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experts pulled to other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Resource thrashing, schedule delays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Every gap is a PROCESS gap, not a people gap.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 proper management processes, ADAP would have succeeded on time and budget.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what we'll learn today.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ADAP ROOT CAUSES: MANAGEMENT PROCESS GAPS</a:t>
            </a:r>
            <a:br/>
            <a:br/>
            <a:r>
              <a:t>Gap 1: No Decision Management</a:t>
            </a:r>
            <a:br/>
            <a:r>
              <a:t>  • Ad-hoc architecture changes</a:t>
            </a:r>
            <a:br/>
            <a:r>
              <a:t>  • 4 months rework, $2M wasted</a:t>
            </a:r>
            <a:br/>
            <a:br/>
            <a:r>
              <a:t>Gap 2: Inadequate Technical Planning</a:t>
            </a:r>
            <a:br/>
            <a:r>
              <a:t>  • No integration milestones</a:t>
            </a:r>
            <a:br/>
            <a:r>
              <a:t>  • Late problem discovery</a:t>
            </a:r>
            <a:br/>
            <a:br/>
            <a:r>
              <a:t>Gap 3: No Measurement System</a:t>
            </a:r>
            <a:br/>
            <a:r>
              <a:t>  • Subjective progress tracking</a:t>
            </a:r>
            <a:br/>
            <a:r>
              <a:t>  • Problems invisible until month 24</a:t>
            </a:r>
            <a:br/>
            <a:br/>
            <a:r>
              <a:t>Gap 4: Poor Configuration Management</a:t>
            </a:r>
            <a:br/>
            <a:r>
              <a:t>  • Multiple baselines in parallel</a:t>
            </a:r>
            <a:br/>
            <a:r>
              <a:t>  • Integration failures</a:t>
            </a:r>
            <a:br/>
            <a:br/>
            <a:r>
              <a:t>Gap 5: Zero Knowledge Management</a:t>
            </a:r>
            <a:br/>
            <a:r>
              <a:t>  • Lessons not captured/applied</a:t>
            </a:r>
            <a:br/>
            <a:r>
              <a:t>  • Repeated mistakes</a:t>
            </a:r>
            <a:br/>
            <a:br/>
            <a:r>
              <a:t>Gap 6: No Portfolio Oversight</a:t>
            </a:r>
            <a:br/>
            <a:r>
              <a:t>  • Resource conflicts</a:t>
            </a:r>
            <a:br/>
            <a:r>
              <a:t>  • Schedule delays</a:t>
            </a:r>
            <a:br/>
            <a:br/>
            <a:r>
              <a:t>**All process gaps, not people gaps**</a:t>
            </a:r>
            <a:br/>
            <a:r>
              <a:t>**Fixable with today's processes**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Technical Planning - Work Breakdown Structure (WBS)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start with Technical Planning. Foundation: Work Breakdown Structure (WBS).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WBS Definition (PMBOK):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'Hierarchical decomposition of total scope of work to accomplish project objectives'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WBS matters for SE: — Defines ALL work to be done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Basis for schedule, cost, resource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 parallel work assignment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Provides control account structure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WBS for Automotive ADAS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1: Project — 1.0 ADAS System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2: Major Deliverables — 1.1 Requirements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1.2 System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 Subsystem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1.4 Integration &amp; V&amp;V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1.5 Documentation &amp; Certification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1.6 Project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3: Work Packages (Example: 1.3 Subsystem Development) — 1.3.1 Sensor Subsystem (Radar, Camera, Lidar)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1.3.2 Perception Subsystem (Sensor Fusion, Object Tracking)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1.3.3 Decision Subsystem (Path Planning, Behavior Control)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1.3.4 Actuation Subsystem (Steering, Braking Interface)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1.3.5 HMI Subsystem (Display, Alerts)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4: Activities (Example: 1.3.1 Sensor Subsystem) — 1.3.1.1 Radar sensor specification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1.3.1.2 Radar hardware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1.3.1.3 Radar firmware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1.3.1.4 Radar unit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1.3.1.5 Radar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WBS goes to level where: — Work can be assigned to individual/team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Duration can be estimated (±10%)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can be budgeted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Progress can be measured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automotive ADAS WBS: 4-6 levels, 500-2000 work packages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Tools: MS Project, Primavera, JIRA (for agile WBS)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TECHNICAL PLANNING: WORK BREAKDOWN STRUCTURE (WBS)</a:t>
            </a:r>
            <a:br/>
            <a:br/>
            <a:r>
              <a:t>Definition: Hierarchical decomposition of project scope</a:t>
            </a:r>
            <a:br/>
            <a:br/>
            <a:r>
              <a:t>ADAS System WBS Structure:</a:t>
            </a:r>
            <a:br/>
            <a:br/>
            <a:r>
              <a:t>Level 1: Project (ADAS Development)</a:t>
            </a:r>
            <a:br/>
            <a:r>
              <a:t>Level 2: Major Deliverables</a:t>
            </a:r>
            <a:br/>
            <a:r>
              <a:t>  • Requirements, architecture, subsystems</a:t>
            </a:r>
            <a:br/>
            <a:r>
              <a:t>  • Integration, V&amp;V, documentation</a:t>
            </a:r>
            <a:br/>
            <a:r>
              <a:t>  • Project management</a:t>
            </a:r>
            <a:br/>
            <a:br/>
            <a:r>
              <a:t>Level 3: Work Packages</a:t>
            </a:r>
            <a:br/>
            <a:r>
              <a:t>  • Sensor, perception, decision, actuation, HMI</a:t>
            </a:r>
            <a:br/>
            <a:br/>
            <a:r>
              <a:t>Level 4: Activities</a:t>
            </a:r>
            <a:br/>
            <a:r>
              <a:t>  • Specification, design, development</a:t>
            </a:r>
            <a:br/>
            <a:r>
              <a:t>  • Testing, integration</a:t>
            </a:r>
            <a:br/>
            <a:br/>
            <a:r>
              <a:t>WBS Criteria:</a:t>
            </a:r>
            <a:br/>
            <a:r>
              <a:t>  ✓ Assignable to individual/team</a:t>
            </a:r>
            <a:br/>
            <a:r>
              <a:t>  ✓ Estimable (±10%)</a:t>
            </a:r>
            <a:br/>
            <a:r>
              <a:t>  ✓ Budgetable</a:t>
            </a:r>
            <a:br/>
            <a:r>
              <a:t>  ✓ Measurable</a:t>
            </a:r>
            <a:br/>
            <a:br/>
            <a:r>
              <a:t>**WBS = Foundation for schedule, cost, resources**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Technical Planning - Schedule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WBS, we build the Integrated Master Schedule (IMS).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Schedule Integration for ADAS: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path dependencies: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→ Architecture: — Requirements complete (Month 3) → Architecture start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review gate (Month 6) → Subsystem design start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Parallel Development (Months 6-18): — Sensor subsystem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Perception subsystem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subsystem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in parallel, different teams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Dependencies (Months 18-24): — Sensor-Perception integration (Month 18)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Perception-Decision integration (Month 20)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integration (Month 22)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test (Month 24)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scheduling principles: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Interface freeze dates: — CAN message definitions frozen Month 8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API specifications frozen Month 10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Prevents late integration chaos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Incremental integration: — Not big-bang at Month 22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Continuous integration from Month 18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Hardware-in-Loop (HIL) from Month 12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Schedule margin: — 15-20% margin on critical path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mitigation reserve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Decision gate alignment: — Gates at Month 6, 12, 18, 24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Go/no-go decisions, not just reviews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 practice: — Use critical path method (CPM)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Track with earned value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Weekly schedule reviews for integration phase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ADAP failure? No interface freeze, no incremental integration.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TECHNICAL PLANNING: INTEGRATED MASTER SCHEDULE</a:t>
            </a:r>
            <a:br/>
            <a:br/>
            <a:r>
              <a:t>ADAS Schedule Structure:</a:t>
            </a:r>
            <a:br/>
            <a:br/>
            <a:r>
              <a:t>Phase 1: Requirements &amp; Architecture (Months 0-6)</a:t>
            </a:r>
            <a:br/>
            <a:r>
              <a:t>  → Gate 1 (Architecture Review)</a:t>
            </a:r>
            <a:br/>
            <a:br/>
            <a:r>
              <a:t>Phase 2: Parallel Subsystem Development (Months 6-18)</a:t>
            </a:r>
            <a:br/>
            <a:r>
              <a:t>  • Sensor, perception, decision (parallel)</a:t>
            </a:r>
            <a:br/>
            <a:r>
              <a:t>  → Gate 2 (Design Review)</a:t>
            </a:r>
            <a:br/>
            <a:br/>
            <a:r>
              <a:t>Phase 3: Incremental Integration (Months 18-24)</a:t>
            </a:r>
            <a:br/>
            <a:r>
              <a:t>  • Sensor-Perception (Month 18)</a:t>
            </a:r>
            <a:br/>
            <a:r>
              <a:t>  • Perception-Decision (Month 20)</a:t>
            </a:r>
            <a:br/>
            <a:r>
              <a:t>  • System integration (Month 22)</a:t>
            </a:r>
            <a:br/>
            <a:r>
              <a:t>  → Gate 3 (System Test Ready)</a:t>
            </a:r>
            <a:br/>
            <a:br/>
            <a:r>
              <a:t>Phase 4: V&amp;V (Months 24-30)</a:t>
            </a:r>
            <a:br/>
            <a:r>
              <a:t>  → Gate 4 (Production Release)</a:t>
            </a:r>
            <a:br/>
            <a:br/>
            <a:r>
              <a:t>Key Principles:</a:t>
            </a:r>
            <a:br/>
            <a:r>
              <a:t>  ✓ Interface freeze (Month 8, 10)</a:t>
            </a:r>
            <a:br/>
            <a:r>
              <a:t>  ✓ Incremental integration (not big-bang)</a:t>
            </a:r>
            <a:br/>
            <a:r>
              <a:t>  ✓ 15-20% schedule margin</a:t>
            </a:r>
            <a:br/>
            <a:r>
              <a:t>  ✓ Decision gates, not just reviews</a:t>
            </a:r>
            <a:br/>
            <a:br/>
            <a:r>
              <a:t>**Schedule integration prevents late surprises**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Technical Assessment &amp; Control - Earned Value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 you KNOW if your project is on track? Earned Value Management (EVM).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EVM Basics: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Three key values: — PV (Planned Value): Budgeted cost for scheduled 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 (Earned Value): Budgeted cost for completed 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 (Actual Cost): Actual cost incurred for completed 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key metrics: — SV (Schedule Variance) = EV - PV — Positive: Ahead of schedule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Negative: Behind schedule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CV (Cost Variance) = EV - AC — Positive: Under budget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Negative: Over budget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key indices: — SPI (Schedule Performance Index) = EV / PV — &gt; 1.0: Ahead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&lt; 1.0: Behind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CPI (Cost Performance Index) = EV / AC — &gt; 1.0: Under budget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&lt; 1.0: Over budget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ADAS Example at Month 12: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Planned: Should have completed 40% of work (PV = $4M)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Earned: Actually completed 30% of work (EV = $3M)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Actual Cost: Spent $3.5M (AC = $3.5M)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Analysis: — SV = $3M - $4M = -$1M (behind schedule)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CV = $3M - $3.5M = -$0.5M (over budget)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SPI = 3/4 = 0.75 (25% behind schedule)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CPI = 3/3.5 = 0.86 (14% over budget)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Forecast: — EAC (Estimate at Completion) = BAC / CPI = $10M / 0.86 = $11.6M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Expected overrun: $1.6M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 EVM, ADAP problems would have been visible at Month 12, not Month 24.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standard: EVM required for programs &gt;$10M (ISO 21500)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TECHNICAL CONTROL: EARNED VALUE MANAGEMENT (EVM)</a:t>
            </a:r>
            <a:br/>
            <a:br/>
            <a:r>
              <a:t>Key Values:</a:t>
            </a:r>
            <a:br/>
            <a:r>
              <a:t>  • PV (Planned Value): Budget for scheduled work</a:t>
            </a:r>
            <a:br/>
            <a:r>
              <a:t>  • EV (Earned Value): Budget for completed work</a:t>
            </a:r>
            <a:br/>
            <a:r>
              <a:t>  • AC (Actual Cost): Actual cost incurred</a:t>
            </a:r>
            <a:br/>
            <a:br/>
            <a:r>
              <a:t>Metrics:</a:t>
            </a:r>
            <a:br/>
            <a:r>
              <a:t>  • SV = EV - PV (schedule variance)</a:t>
            </a:r>
            <a:br/>
            <a:r>
              <a:t>  • CV = EV - AC (cost variance)</a:t>
            </a:r>
            <a:br/>
            <a:r>
              <a:t>  • SPI = EV/PV (schedule index)</a:t>
            </a:r>
            <a:br/>
            <a:r>
              <a:t>  • CPI = EV/AC (cost index)</a:t>
            </a:r>
            <a:br/>
            <a:br/>
            <a:r>
              <a:t>ADAS Example (Month 12):</a:t>
            </a:r>
            <a:br/>
            <a:r>
              <a:t>  PV = $4M | EV = $3M | AC = $3.5M</a:t>
            </a:r>
            <a:br/>
            <a:r>
              <a:t>  → SPI = 0.75 (25% behind)</a:t>
            </a:r>
            <a:br/>
            <a:r>
              <a:t>  → CPI = 0.86 (14% over budget)</a:t>
            </a:r>
            <a:br/>
            <a:r>
              <a:t>  → Forecast: $1.6M overrun</a:t>
            </a:r>
            <a:br/>
            <a:br/>
            <a:r>
              <a:t>**EVM makes problems visible early**</a:t>
            </a:r>
            <a:br/>
            <a:br/>
            <a:r>
              <a:t>Tools: MS Project, Primavera, custom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Decision Management - Decision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Management is critical. Let's formalize it.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Decision Management Process: — Prepare for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Analyze decision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Make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 decisions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Stage-Gate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0: Concept — Decision: Pursue this system concept?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Inputs: Market analysis, feasibility study, business case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Criteria: Strategic fit, ROI &gt; 15%, technical feasibility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Outputs: Go/No-Go, funding for requirements phase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1: Requirements Review — Decision: Requirements complete and stable?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Inputs: Requirements document, stakeholder signoff, CONOPS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Criteria: 100% traceability, &lt; 5% TBD items, customer approval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Outputs: Freeze requirements baseline, proceed to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2: Architecture Review — Decision: Architecture viable and approved?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Inputs: Architecture description, interface specs, trade studies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Criteria: Meets all requirements, passes safety analysis, cost within target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Outputs: Freeze architecture baseline, proceed to detailed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3: Design Review (Critical Design Review - CDR) — Decision: Design ready for implementation?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Inputs: Detailed designs, simulations, prototype results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Criteria: All interfaces defined, V&amp;V plan approved, manufacturing feasible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Outputs: Freeze design baseline, proceed to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4: System Test Readiness Review — Decision: System ready for full integration?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Inputs: Subsystem test results, integration test plan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Criteria: All subsystems verified, integration environment ready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Outputs: Proceed to system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5: Production Readiness Review — Decision: Release to production?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Inputs: V&amp;V results, certification evidence, field trial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Criteria: All requirements verified, safety certification, customer acceptance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Outputs: Release to manufacturing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principles: — Gates are GO/NO-GO decisions, not reviews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 defined in advance, objective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Cross-functional decision boards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Decisions documented and tracked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 failure: Architecture decisions made without gate criteria, reversed multiple times.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DECISION MANAGEMENT: STAGE-GATE PROCESS</a:t>
            </a:r>
            <a:br/>
            <a:br/>
            <a:r>
              <a:t>Automotive Development Gates:</a:t>
            </a:r>
            <a:br/>
            <a:br/>
            <a:r>
              <a:t>Gate 0: Concept → Pursue?</a:t>
            </a:r>
            <a:br/>
            <a:r>
              <a:t>  Criteria: Strategic fit, ROI, feasibility</a:t>
            </a:r>
            <a:br/>
            <a:br/>
            <a:r>
              <a:t>Gate 1: Requirements Review → Complete?</a:t>
            </a:r>
            <a:br/>
            <a:r>
              <a:t>  Criteria: Traceability, stability, approval</a:t>
            </a:r>
            <a:br/>
            <a:br/>
            <a:r>
              <a:t>Gate 2: Architecture Review → Viable?</a:t>
            </a:r>
            <a:br/>
            <a:r>
              <a:t>  Criteria: Meets requirements, safe, cost</a:t>
            </a:r>
            <a:br/>
            <a:br/>
            <a:r>
              <a:t>Gate 3: Critical Design Review → Ready?</a:t>
            </a:r>
            <a:br/>
            <a:r>
              <a:t>  Criteria: Interfaces defined, V&amp;V planned</a:t>
            </a:r>
            <a:br/>
            <a:br/>
            <a:r>
              <a:t>Gate 4: System Test Readiness → Integrate?</a:t>
            </a:r>
            <a:br/>
            <a:r>
              <a:t>  Criteria: Subsystems verified, env ready</a:t>
            </a:r>
            <a:br/>
            <a:br/>
            <a:r>
              <a:t>Gate 5: Production Readiness → Release?</a:t>
            </a:r>
            <a:br/>
            <a:r>
              <a:t>  Criteria: Verified, certified, accepted</a:t>
            </a:r>
            <a:br/>
            <a:br/>
            <a:r>
              <a:t>Principles:</a:t>
            </a:r>
            <a:br/>
            <a:r>
              <a:t>  ✓ GO/NO-GO decisions (not just reviews)</a:t>
            </a:r>
            <a:br/>
            <a:r>
              <a:t>  ✓ Objective criteria (defined in advance)</a:t>
            </a:r>
            <a:br/>
            <a:r>
              <a:t>  ✓ Cross-functional boards</a:t>
            </a:r>
            <a:br/>
            <a:r>
              <a:t>  ✓ Documented &amp; tracked</a:t>
            </a:r>
            <a:br/>
            <a:br/>
            <a:r>
              <a:t>**Gates prevent uncontrolled changes**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Decision Management - Decision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Beyond gates, we need frameworks for technical decisions. Two essential tools: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 1: Decision Matrix (Pugh Matrix)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 case: Selecting sensor architecture for ADAS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Alternatives: — A: Radar + Camera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B: Radar + Camera + Lidar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C: Camera-only (Tesla approach)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D: Radar + Ultrasonic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Criteria (weighted): — Cost (20%): Capital + lifecycle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Range (25%): Detection distance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Weather robustness (20%): Rain, fog, snow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Accuracy (15%): Position ±cm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Redundancy (10%): Fault tolerance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Complexity (10%): Integration effort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Scoring (1-5 scale):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Criterion | Weight | A | B | C | 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|-----------|--------|---|---|---|---|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Cost | 20% | 4 | 2 | 5 | 4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Range | 25% | 4 | 5 | 3 | 3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Weather | 20% | 4 | 5 | 2 | 4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Accuracy | 15% | 3 | 5 | 3 | 2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Redundancy | 10% | 3 | 5 | 1 | 2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Complexity | 10% | 4 | 2 | 5 | 4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Total | 100% | 3.75 | 4.15 | 3.25 | 3.25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Option B (Radar+Camera+Lidar) wins with 4.15 weighted score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 2: Real Options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 case: When to freeze architecture?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Options: — Option 1: Freeze now (Month 6) → Minimize rework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Option 2: Defer to Month 9 → Wait for sensor tech maturity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Analysis: — Value of waiting: New sensor available Month 8, 30% better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of waiting: 3-month schedule slip, $500K holding cost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Probability new sensor works: 70%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Expected value: — Freeze now: $10M system value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Wait: 0.7 × $13M + 0.3 × $10M - $0.5M = $11.6M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Decision: Wait for new sensor (higher expected value)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Key: Both frameworks require: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Defined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Quantitative scoring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agreement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prevents the ADAP ad-hoc decision problem.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DECISION FRAMEWORKS: STRUCTURED APPROACHES</a:t>
            </a:r>
            <a:br/>
            <a:br/>
            <a:r>
              <a:t>TOOL 1: Decision Matrix (Pugh Matrix)</a:t>
            </a:r>
            <a:br/>
            <a:br/>
            <a:r>
              <a:t>Example: ADAS Sensor Selection</a:t>
            </a:r>
            <a:br/>
            <a:r>
              <a:t>  Alternatives: Radar+Cam, R+C+Lidar, Cam-only</a:t>
            </a:r>
            <a:br/>
            <a:r>
              <a:t>  Criteria: Cost, range, weather, accuracy</a:t>
            </a:r>
            <a:br/>
            <a:r>
              <a:t>  Weighted scoring → Quantitative comparison</a:t>
            </a:r>
            <a:br/>
            <a:br/>
            <a:r>
              <a:t>Result: Radar+Camera+Lidar (4.15 weighted score)</a:t>
            </a:r>
            <a:br/>
            <a:br/>
            <a:r>
              <a:t>TOOL 2: Real Options Analysis</a:t>
            </a:r>
            <a:br/>
            <a:br/>
            <a:r>
              <a:t>Example: Architecture Freeze Timing</a:t>
            </a:r>
            <a:br/>
            <a:r>
              <a:t>  Option 1: Freeze Month 6 → $10M value</a:t>
            </a:r>
            <a:br/>
            <a:r>
              <a:t>  Option 2: Wait Month 9 → $11.6M expected value</a:t>
            </a:r>
            <a:br/>
            <a:r>
              <a:t>  Decision: Wait (higher EV)</a:t>
            </a:r>
            <a:br/>
            <a:br/>
            <a:r>
              <a:t>Framework Requirements:</a:t>
            </a:r>
            <a:br/>
            <a:r>
              <a:t>  ✓ Defined criteria</a:t>
            </a:r>
            <a:br/>
            <a:r>
              <a:t>  ✓ Quantitative scoring</a:t>
            </a:r>
            <a:br/>
            <a:r>
              <a:t>  ✓ Stakeholder agreement</a:t>
            </a:r>
            <a:br/>
            <a:r>
              <a:t>  ✓ Documentation</a:t>
            </a:r>
            <a:br/>
            <a:br/>
            <a:r>
              <a:t>**Prevents ad-hoc decision chaos**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Measurement - Technical Performance Measures (TPMs)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can't control what you don't measure. Technical Performance Measures (TPMs):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TPM Definition (INCOSE):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'Metrics that assess system characteristics and progress toward meeting technical requirements'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Three types of TPMs: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Progress TPMs (How much done?)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completion: % verified and validated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maturity: % components at CDR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completion: % test cases passed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Performance TPMs (Does it meet specs?)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Detection range: Actual vs required 150m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Response latency: Actual vs required 200ms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Reliability: MTBF actual vs required 10,000 hrs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Quality TPMs (Is it good?)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Defect density: Defects per 1000 LOC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Rework rate: % requirements changed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pass rate: % tests passing first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ADAS Example TPM Dashboard: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TPM 1: Detection Range — Target: 150m ± 5m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Current: 142m (Month 18 prototype)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Trend: Improving (was 135m Month 15)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Status: Yellow (not yet meeting target)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Algorithm tuning, sensor calibration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TPM 2: Response Latency — Target: &lt; 200ms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Current: 185ms (Month 18)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Trend: Stable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Status: Green (meeting target)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Continue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TPM 3: Requirements Stability — Target: &lt; 5% changes after Month 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Current: 12% changed Month 6-12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Trend: Worsening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Status: Red (excessive churn)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Requirements freeze enforcement, change board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TPM 4: Test Pass Rate — Target: &gt; 90% first-time pass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Current: 75% (Month 20)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Trend: Improving (was 65% Month 18)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Status: Yellow (improving but below target)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Root cause analysis of failures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TPM Best Practices: — 5-10 TPMs per project (not 50+)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Leading indicators (predict problems) + lagging indicators (measure results)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Weekly review for critical TPMs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Trend analysis (not just current value)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collection where possible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 failure: No TPMs. Used subjective 'percent complete' only.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MEASUREMENT: TECHNICAL PERFORMANCE MEASURES (TPMs)</a:t>
            </a:r>
            <a:br/>
            <a:br/>
            <a:r>
              <a:t>Three TPM Types:</a:t>
            </a:r>
            <a:br/>
            <a:br/>
            <a:r>
              <a:t>1. PROGRESS TPMs (How much done?)</a:t>
            </a:r>
            <a:br/>
            <a:r>
              <a:t>   • Requirements verified %</a:t>
            </a:r>
            <a:br/>
            <a:r>
              <a:t>   • Design maturity %</a:t>
            </a:r>
            <a:br/>
            <a:r>
              <a:t>   • Test completion %</a:t>
            </a:r>
            <a:br/>
            <a:br/>
            <a:r>
              <a:t>2. PERFORMANCE TPMs (Meets specs?)</a:t>
            </a:r>
            <a:br/>
            <a:r>
              <a:t>   • Detection range: 142m vs 150m target</a:t>
            </a:r>
            <a:br/>
            <a:r>
              <a:t>   • Latency: 185ms vs 200ms target</a:t>
            </a:r>
            <a:br/>
            <a:r>
              <a:t>   • Reliability: MTBF tracking</a:t>
            </a:r>
            <a:br/>
            <a:br/>
            <a:r>
              <a:t>3. QUALITY TPMs (Is it good?)</a:t>
            </a:r>
            <a:br/>
            <a:r>
              <a:t>   • Defect density</a:t>
            </a:r>
            <a:br/>
            <a:r>
              <a:t>   • Rework rate: 12% (Red - too high)</a:t>
            </a:r>
            <a:br/>
            <a:r>
              <a:t>   • Test pass rate: 75% (Yellow)</a:t>
            </a:r>
            <a:br/>
            <a:br/>
            <a:r>
              <a:t>TPM Dashboard: 5-10 key measures</a:t>
            </a:r>
            <a:br/>
            <a:r>
              <a:t>  ✓ Leading + lagging indicators</a:t>
            </a:r>
            <a:br/>
            <a:r>
              <a:t>  ✓ Weekly review</a:t>
            </a:r>
            <a:br/>
            <a:r>
              <a:t>  ✓ Trend analysis</a:t>
            </a:r>
            <a:br/>
            <a:r>
              <a:t>  ✓ Automated collection</a:t>
            </a:r>
            <a:br/>
            <a:br/>
            <a:r>
              <a:t>**TPMs make technical progress objective**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Configuration Management - Baselines and 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 (CM) prevents the chaos of 'multiple versions in use.'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CM Purpose (ISO/IEC 15288): — Establish and maintain integrity of all outputs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changes to baselines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Ensure everyone works to same version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ADAS Configuration Items: — Requirements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descriptions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control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models and drawings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Source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procedures and results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Calibration data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Baseline Concept: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Baseline = Approved version serving as basis for further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ADAS Baseline Sequence: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Functional Baseline (Month 6): — Requirements specification v1.0 APPROVED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signoff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Changes require CCB approval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Allocated Baseline (Month 12): — Architecture description v1.0 APPROVED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specifications v1.0 APPROVED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v1.0 frozen (changes only via CCB)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Baseline (Month 18): — Detailed designs v1.0 APPROVED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baselines frozen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Emergency changes only via CCB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Product Baseline (Month 30): — Production release v1.0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artifacts frozen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Customer-approved changes only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Change Control Board (CCB):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Evaluate and approve/reject changes to baselines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Membership: — Chief Engineer (chair)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Systems engineering lead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Hardware, software, test leads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manager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 representative (for product baseline)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CCB Process: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 request submitted (anyone can submit)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 analysis (SE team)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impact (requirements, architecture, interfaces)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impact ($, resources)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Schedule impact (days)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impact (new risks introduced?)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CCB reviews impact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Approve, defer, or reject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approved: Baseline updated, all teams notified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Change Request (Month 14):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CR-045: Change radar sensor from 77 GHz to 79 GHz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Justification: New 79 GHz sensor available, 20% better resolution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Impact Analysis: — Technical: Requires new antenna design, FCC re-certification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Cost: +$150K (sensor, certification)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Schedule: +6 weeks (antenna redesign, test)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Medium (new sensor less mature)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CCB Decision: DEFER to next generation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Rationale: Schedule impact unacceptable, risk too high for current program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how you prevent ADAP's 'multiple baselines' problem.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Tools: Git (code), DOORS (requirements), PLM systems (hardware), Jama, Polarion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CONFIGURATION MANAGEMENT: BASELINES &amp; CHANGE CONTROL</a:t>
            </a:r>
            <a:br/>
            <a:br/>
            <a:r>
              <a:t>Configuration Items (ADAS):</a:t>
            </a:r>
            <a:br/>
            <a:r>
              <a:t>  • Requirements, architecture, interfaces</a:t>
            </a:r>
            <a:br/>
            <a:r>
              <a:t>  • Design, code, tests, calibration</a:t>
            </a:r>
            <a:br/>
            <a:br/>
            <a:r>
              <a:t>Baseline Evolution:</a:t>
            </a:r>
            <a:br/>
            <a:r>
              <a:t>  Month 6: Functional (requirements v1.0)</a:t>
            </a:r>
            <a:br/>
            <a:r>
              <a:t>  Month 12: Allocated (architecture v1.0)</a:t>
            </a:r>
            <a:br/>
            <a:r>
              <a:t>  Month 18: Design (detailed design v1.0)</a:t>
            </a:r>
            <a:br/>
            <a:r>
              <a:t>  Month 30: Product (release v1.0)</a:t>
            </a:r>
            <a:br/>
            <a:br/>
            <a:r>
              <a:t>Change Control Board (CCB):</a:t>
            </a:r>
            <a:br/>
            <a:r>
              <a:t>  Members: Chief Eng, SE lead, tech leads, PM</a:t>
            </a:r>
            <a:br/>
            <a:r>
              <a:t>  Process:</a:t>
            </a:r>
            <a:br/>
            <a:r>
              <a:t>    1. Change request submitted</a:t>
            </a:r>
            <a:br/>
            <a:r>
              <a:t>    2. Impact analysis (tech, cost, schedule, risk)</a:t>
            </a:r>
            <a:br/>
            <a:r>
              <a:t>    3. CCB review &amp; decision</a:t>
            </a:r>
            <a:br/>
            <a:r>
              <a:t>    4. Update baseline, notify teams</a:t>
            </a:r>
            <a:br/>
            <a:br/>
            <a:r>
              <a:t>Example: Change radar 77→79 GHz</a:t>
            </a:r>
            <a:br/>
            <a:r>
              <a:t>  Impact: +$150K, +6 weeks, medium risk</a:t>
            </a:r>
            <a:br/>
            <a:r>
              <a:t>  Decision: DEFER (too risky mid-program)</a:t>
            </a:r>
            <a:br/>
            <a:br/>
            <a:r>
              <a:t>**CCB prevents uncontrolled changes**</a:t>
            </a:r>
            <a:br/>
            <a:br/>
            <a:r>
              <a:t>Tools: Git, DOORS, PLM, Jama, Polarion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Information Management - Data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Information Management: ensuring right information to right people at right time.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Information Management: — Generate information items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Store and retrieve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Maintain information integrity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Distribute information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ADAS Information Architecture: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1: Requirements Information — Tool: IBM DOORS, Jama Connect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traces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Access: All SE team, read-only for broader team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2: Design Information — Tool: SysML tool (Cameo, Rhapsody), CAD (CATIA, NX)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Detailed designs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Simulation results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Access: Design team read-write, SE team read-only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3: Implementation Information — Tool: Git, Bitbucket, SVN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Source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 scripts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Calibration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Access: Dev team read-write, version controlled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4: Verification Information — Tool: Test management (TestRail, Zephyr), JIRA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plans, cases, procedures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results and logs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Defect reports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 evidence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Access: Test team read-write, SE review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5: Project Information — Tool: MS Project, Primavera, SharePoint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WBS, schedules, budgets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 reports, metrics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register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logs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Access: PM read-write, stakeholders read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6: Document Management — Tool: SharePoint, Documentum, PLM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Specifications, plans, reports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Presentations, drawings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Baselined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Access: Role-based, version controlled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Information Integration: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Challenge: Data in 10+ tools, risk of disconnection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 Integration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DOORS ↔ SysML: Requirements ↔ Architecture trace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SysML ↔ CAD: Logical ↔ Physical trace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DOORS ↔ Test Mgmt: Requirements ↔ Tests trace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→ PLM: Centralized baseline repository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principles: — Single source of truth for each artifact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synchronization where possible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ownership (who maintains what)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Version control for all artifacts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 control based on roles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 failure: No information architecture, teams used different tools/versions.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INFORMATION MANAGEMENT: DATA ARCHITECTURE</a:t>
            </a:r>
            <a:br/>
            <a:br/>
            <a:r>
              <a:t>Six Information Layers (ADAS):</a:t>
            </a:r>
            <a:br/>
            <a:br/>
            <a:r>
              <a:t>1. Requirements (DOORS, Jama)</a:t>
            </a:r>
            <a:br/>
            <a:r>
              <a:t>   • Stakeholder, system, subsystem reqs</a:t>
            </a:r>
            <a:br/>
            <a:r>
              <a:t>   • Verification traces</a:t>
            </a:r>
            <a:br/>
            <a:br/>
            <a:r>
              <a:t>2. Design (SysML, CAD)</a:t>
            </a:r>
            <a:br/>
            <a:r>
              <a:t>   • Architecture, detailed designs</a:t>
            </a:r>
            <a:br/>
            <a:r>
              <a:t>   • Interfaces, simulations</a:t>
            </a:r>
            <a:br/>
            <a:br/>
            <a:r>
              <a:t>3. Implementation (Git, SVN)</a:t>
            </a:r>
            <a:br/>
            <a:r>
              <a:t>   • Source code, calibrations</a:t>
            </a:r>
            <a:br/>
            <a:r>
              <a:t>   • Build scripts</a:t>
            </a:r>
            <a:br/>
            <a:br/>
            <a:r>
              <a:t>4. Verification (TestRail, JIRA)</a:t>
            </a:r>
            <a:br/>
            <a:r>
              <a:t>   • Test plans, results, defects</a:t>
            </a:r>
            <a:br/>
            <a:r>
              <a:t>   • V&amp;V evidence</a:t>
            </a:r>
            <a:br/>
            <a:br/>
            <a:r>
              <a:t>5. Project (MS Project, SharePoint)</a:t>
            </a:r>
            <a:br/>
            <a:r>
              <a:t>   • WBS, schedules, metrics</a:t>
            </a:r>
            <a:br/>
            <a:r>
              <a:t>   • Risks, decisions</a:t>
            </a:r>
            <a:br/>
            <a:br/>
            <a:r>
              <a:t>6. Documents (SharePoint, PLM)</a:t>
            </a:r>
            <a:br/>
            <a:r>
              <a:t>   • Specs, plans, reports</a:t>
            </a:r>
            <a:br/>
            <a:r>
              <a:t>   • Baselined documents</a:t>
            </a:r>
            <a:br/>
            <a:br/>
            <a:r>
              <a:t>Integration: DOORS↔SysML↔CAD↔Test→PLM</a:t>
            </a:r>
            <a:br/>
            <a:br/>
            <a:r>
              <a:t>Principles:</a:t>
            </a:r>
            <a:br/>
            <a:r>
              <a:t>  ✓ Single source of truth</a:t>
            </a:r>
            <a:br/>
            <a:r>
              <a:t>  ✓ Automated sync</a:t>
            </a:r>
            <a:br/>
            <a:r>
              <a:t>  ✓ Version control</a:t>
            </a:r>
            <a:br/>
            <a:r>
              <a:t>  ✓ Role-based access</a:t>
            </a:r>
            <a:br/>
            <a:br/>
            <a:r>
              <a:t>**Prevents tool/version chaos**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Risk Management Revisited - Technical Risk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covered risk management in Session 9. Let's focus on TECHNICAL risks specific to management processes.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Risks in ADAS Development: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 1: Technology Maturity Risk — Description: New 79 GHz radar sensor unproven in automotive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Probability: Medium (40%)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High (6-month delay, $2M)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Mitigation: Parallel development of 77 GHz backup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Trigger: If 79 GHz fails qualification by Month 12, switch to 77 GHz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Owner: Hardware lead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 2: Integration Complexity Risk — Description: 5 subsystems, 15+ interfaces, integration may fail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Probability: High (60%)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High (3-month delay)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Mitigation: Incremental integration from Month 15, HIL testing from Month 12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Trigger: If integration issues found, add integration sprint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Owner: Integration lead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 3: Requirements Instability Risk — Description: Customer changes requirements after Month 6 baseline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Probability: Medium (50%)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Medium ($500K, 2-month delay per change)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Mitigation: Strict CCB process, customer signoff at Gate 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Trigger: Reject changes unless critical safety issue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Owner: Chief engineer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 4: Resource Availability Risk — Description: Key experts pulled to other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Probability: Medium (40%)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Medium (schedule slip, quality issues)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Mitigation: Cross-training, knowledge documentation, portfolio prioritization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Trigger: If expert unavailable &gt;2 weeks, escalate to portfolio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Owner: Project manager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 5: Verification Coverage Risk — Description: Insufficient test scenarios, defects escape to field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Probability: Low (20%)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Critical (recall, reputation)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Mitigation: 100% requirements coverage, edge case analysis, field trials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Trigger: If test pass rate &lt;90%, extend V&amp;V phase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Owner: V&amp;V lead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 Management Integration: — Risks reviewed monthly at project status meeting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5 risks reported to senior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reserve in budget (15-20%)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triggers monitored via TPMs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 failure: Risks identified but not actively managed, no trigger-based mitigation.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RISK MANAGEMENT: TECHNICAL RISK FOCUS</a:t>
            </a:r>
            <a:br/>
            <a:br/>
            <a:r>
              <a:t>Top Technical Risks (ADAS):</a:t>
            </a:r>
            <a:br/>
            <a:br/>
            <a:r>
              <a:t>Risk 1: Technology Maturity</a:t>
            </a:r>
            <a:br/>
            <a:r>
              <a:t>  • New sensor unproven</a:t>
            </a:r>
            <a:br/>
            <a:r>
              <a:t>  • P: 40% | I: High (6mo, $2M)</a:t>
            </a:r>
            <a:br/>
            <a:r>
              <a:t>  • Mitigation: Parallel backup development</a:t>
            </a:r>
            <a:br/>
            <a:br/>
            <a:r>
              <a:t>Risk 2: Integration Complexity</a:t>
            </a:r>
            <a:br/>
            <a:r>
              <a:t>  • 5 subsystems, 15+ interfaces</a:t>
            </a:r>
            <a:br/>
            <a:r>
              <a:t>  • P: 60% | I: High (3mo delay)</a:t>
            </a:r>
            <a:br/>
            <a:r>
              <a:t>  • Mitigation: Incremental integration, HIL</a:t>
            </a:r>
            <a:br/>
            <a:br/>
            <a:r>
              <a:t>Risk 3: Requirements Instability</a:t>
            </a:r>
            <a:br/>
            <a:r>
              <a:t>  • Customer changes post-baseline</a:t>
            </a:r>
            <a:br/>
            <a:r>
              <a:t>  • P: 50% | I: Medium ($500K, 2mo)</a:t>
            </a:r>
            <a:br/>
            <a:r>
              <a:t>  • Mitigation: CCB, strict gate process</a:t>
            </a:r>
            <a:br/>
            <a:br/>
            <a:r>
              <a:t>Risk 4: Resource Availability</a:t>
            </a:r>
            <a:br/>
            <a:r>
              <a:t>  • Experts pulled to other projects</a:t>
            </a:r>
            <a:br/>
            <a:r>
              <a:t>  • P: 40% | I: Medium (schedule, quality)</a:t>
            </a:r>
            <a:br/>
            <a:r>
              <a:t>  • Mitigation: Cross-train, portfolio priority</a:t>
            </a:r>
            <a:br/>
            <a:br/>
            <a:r>
              <a:t>Risk 5: Verification Coverage</a:t>
            </a:r>
            <a:br/>
            <a:r>
              <a:t>  • Insufficient test scenarios</a:t>
            </a:r>
            <a:br/>
            <a:r>
              <a:t>  • P: 20% | I: Critical (recall)</a:t>
            </a:r>
            <a:br/>
            <a:r>
              <a:t>  • Mitigation: 100% coverage, edge cases</a:t>
            </a:r>
            <a:br/>
            <a:br/>
            <a:r>
              <a:t>**Active monitoring via TPMs, trigger-based response**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Quality Assurance - Process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Assurance (QA) ensures processes are followed and products meet standards.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QA vs QC (Quality Control): — QA (Assurance): Process-focused, preventive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Are we following the right processes?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Reviews, audits,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QC (Control): Product-focused, detective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 the product correct?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Testing, inspection, measurement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Both needed. Today we focus on QA.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QA Activities in ADAS Development: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1: Requirements (Months 0-6) — Process QA: — Requirements review checklist compliance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audit (stakeholder → system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Template compliance (IEEE 29148)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 1 QA Check: — 100% requirements in DOORS?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100% traceability to stakeholders?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TBDs resolved?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2: Architecture (Months 6-12) — Process QA: — Architecture review board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 study documentation audit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specification compliance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 2 QA Check: — All requirements allocated to architecture?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specs complete and approved?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analysis (FMEA) completed?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3: Design (Months 12-18) — Process QA: — Design review checklists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 review compliance (MISRA 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 audit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 3 QA Check: — All designs reviewed and approved?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 meets coding standards?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baselines in CM system?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4: Integration &amp; V&amp;V (Months 18-30) — Process QA: — Test procedure review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 plan compliance audit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 compliance assessment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 4 QA Check: — 100% requirements verified?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test evidence documented?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certification complete?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QA Standards for Automotive: — ISO 26262: Functional safety QA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Automotive SPICE: Process capability assessment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ASPICE Level 3 target: Defined and established process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QA Independence: — QA team reports to quality organization, not project manager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Prevents 'pressure to pass' conflicts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Authority to stop project at gate if criteria not met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 failure: QA existed but no authority, gates became 'rubber stamps.'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QUALITY ASSURANCE: PROCESS COMPLIANCE</a:t>
            </a:r>
            <a:br/>
            <a:br/>
            <a:r>
              <a:t>QA vs QC:</a:t>
            </a:r>
            <a:br/>
            <a:r>
              <a:t>  • QA: Process-focused, preventive (right processes?)</a:t>
            </a:r>
            <a:br/>
            <a:r>
              <a:t>  • QC: Product-focused, detective (right product?)</a:t>
            </a:r>
            <a:br/>
            <a:br/>
            <a:r>
              <a:t>QA Activities by Phase (ADAS):</a:t>
            </a:r>
            <a:br/>
            <a:br/>
            <a:r>
              <a:t>Phase 1: Requirements</a:t>
            </a:r>
            <a:br/>
            <a:r>
              <a:t>  • Review checklist compliance</a:t>
            </a:r>
            <a:br/>
            <a:r>
              <a:t>  • Traceability audit</a:t>
            </a:r>
            <a:br/>
            <a:r>
              <a:t>  • Gate 1: 100% reqs traced, TBDs resolved</a:t>
            </a:r>
            <a:br/>
            <a:br/>
            <a:r>
              <a:t>Phase 2: Architecture</a:t>
            </a:r>
            <a:br/>
            <a:r>
              <a:t>  • Architecture review</a:t>
            </a:r>
            <a:br/>
            <a:r>
              <a:t>  • Trade study audit</a:t>
            </a:r>
            <a:br/>
            <a:r>
              <a:t>  • Gate 2: Reqs allocated, interfaces complete</a:t>
            </a:r>
            <a:br/>
            <a:br/>
            <a:r>
              <a:t>Phase 3: Design</a:t>
            </a:r>
            <a:br/>
            <a:r>
              <a:t>  • Design reviews, code reviews</a:t>
            </a:r>
            <a:br/>
            <a:r>
              <a:t>  • CM audit</a:t>
            </a:r>
            <a:br/>
            <a:r>
              <a:t>  • Gate 3: Designs approved, code compliant</a:t>
            </a:r>
            <a:br/>
            <a:br/>
            <a:r>
              <a:t>Phase 4: V&amp;V</a:t>
            </a:r>
            <a:br/>
            <a:r>
              <a:t>  • V&amp;V plan compliance</a:t>
            </a:r>
            <a:br/>
            <a:r>
              <a:t>  • ISO 26262 assessment</a:t>
            </a:r>
            <a:br/>
            <a:r>
              <a:t>  • Gate 4: 100% verified, certified</a:t>
            </a:r>
            <a:br/>
            <a:br/>
            <a:r>
              <a:t>QA Standards: ISO 26262, ASPICE Level 3</a:t>
            </a:r>
            <a:br/>
            <a:br/>
            <a:r>
              <a:t>QA Independence: Reports to quality org, not PM</a:t>
            </a:r>
            <a:br/>
            <a:br/>
            <a:r>
              <a:t>**Authority to stop project if criteria not met**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Continuous Improvement -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management includes organizational learning. The Lessons Learned process.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Lessons Learned Purpose: — Capture what worked / didn't 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Share knowledge across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Improve processes and practices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Prevent repeating mistakes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Lessons Learned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Capture (Throughout Project) — Weekly team retrospectives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Post-milestone reviews (after each gate)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Issue logs (problems encountered)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Innovation logs (creative solutions)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Document (Structured Format) — Situation: What was the context?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What did we do?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What happened?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Recommendation: What should future projects do?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Lesson from ADAP: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 #23: Interface Freeze Timing — Situation: ADAP changed CAN message definitions at Month 14 (after subsystem development started)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Action: Teams had to rework interface code, regression test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6-week delay, $800K rework cost, integration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Root Cause: No formal interface freeze date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Recommendation: Establish interface freeze at Gate 2 (architecture review). Include in technical plan. CCB approval required for any interface changes after freeze.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Change: Added 'Interface Freeze' milestone to project plan template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Review and Approve — Monthly lessons learned review meeting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Engineering review board validates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Classify: Organization-wide vs project-specific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Disseminate — Lessons learned database (searchable)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materials updated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Briefing for new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plan templates updated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Apply — New projects review relevant lessons during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Checklists include common pitfalls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Metrics track whether lessons applied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OEM Example: — BMW lessons learned system: 10,000+ lessons captured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Search by: Technology, issue type, project phase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Mandatory review before project kickoff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Tracked: Did project review lessons? Did they apply them?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 failure: No lessons learned from previous ADAS project. Repeated same integration mistakes.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Key: Lessons learned must be ACTIONABLE and APPLIED, not just documented.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CONTINUOUS IMPROVEMENT: LESSONS LEARNED</a:t>
            </a:r>
            <a:br/>
            <a:br/>
            <a:r>
              <a:t>Process Steps:</a:t>
            </a:r>
            <a:br/>
            <a:br/>
            <a:r>
              <a:t>1. CAPTURE (Throughout)</a:t>
            </a:r>
            <a:br/>
            <a:r>
              <a:t>   • Weekly retrospectives</a:t>
            </a:r>
            <a:br/>
            <a:r>
              <a:t>   • Post-gate reviews</a:t>
            </a:r>
            <a:br/>
            <a:r>
              <a:t>   • Issue/innovation logs</a:t>
            </a:r>
            <a:br/>
            <a:br/>
            <a:r>
              <a:t>2. DOCUMENT (Structured)</a:t>
            </a:r>
            <a:br/>
            <a:r>
              <a:t>   • Situation, Action, Result</a:t>
            </a:r>
            <a:br/>
            <a:r>
              <a:t>   • Root cause, Recommendation</a:t>
            </a:r>
            <a:br/>
            <a:br/>
            <a:r>
              <a:t>3. REVIEW &amp; APPROVE</a:t>
            </a:r>
            <a:br/>
            <a:r>
              <a:t>   • Monthly LL review</a:t>
            </a:r>
            <a:br/>
            <a:r>
              <a:t>   • Classify: Org-wide vs project</a:t>
            </a:r>
            <a:br/>
            <a:br/>
            <a:r>
              <a:t>4. DISSEMINATE</a:t>
            </a:r>
            <a:br/>
            <a:r>
              <a:t>   • Searchable database</a:t>
            </a:r>
            <a:br/>
            <a:r>
              <a:t>   • Training materials</a:t>
            </a:r>
            <a:br/>
            <a:r>
              <a:t>   • Project templates</a:t>
            </a:r>
            <a:br/>
            <a:br/>
            <a:r>
              <a:t>5. APPLY</a:t>
            </a:r>
            <a:br/>
            <a:r>
              <a:t>   • Review before kickoff</a:t>
            </a:r>
            <a:br/>
            <a:r>
              <a:t>   • Checklist pitfalls</a:t>
            </a:r>
            <a:br/>
            <a:r>
              <a:t>   • Track application</a:t>
            </a:r>
            <a:br/>
            <a:br/>
            <a:r>
              <a:t>Example: ADAP Interface Freeze Lesson</a:t>
            </a:r>
            <a:br/>
            <a:r>
              <a:t>  • Changed CAN at Month 14 → 6-week delay, $800K</a:t>
            </a:r>
            <a:br/>
            <a:r>
              <a:t>  • Recommendation: Freeze interfaces at Gate 2</a:t>
            </a:r>
            <a:br/>
            <a:r>
              <a:t>  • Process change: Added to plan template</a:t>
            </a:r>
            <a:br/>
            <a:br/>
            <a:r>
              <a:t>**BMW: 10,000+ lessons, mandatory review**</a:t>
            </a:r>
            <a:br/>
            <a:br/>
            <a:r>
              <a:t>**Lessons must be APPLIED, not just captured**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Part 1 Summary - Technical Management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Part 1: Technical Management Processes.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covered 8 processes from ISO/IEC 15288: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Project Planning — Work Breakdown Structure (WBS)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Integrated Master Schedule (IMS)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allocation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Define all work, sequence, resources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Project Assessment &amp; Control — Earned Value Management (EVM)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 tracking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Corrective action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Monitor progress, control execution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Decision Management — Stage-gate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frameworks (Pugh, real options)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CCB for changes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Structured, traceable decisions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Risk Management — Technical risk identification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Mitigation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Trigger-based response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Proactive uncertainty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Configuration Management — Baselines (functional, allocated, design, product)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 control board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Version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Maintain integrity, control changes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Information Management — Multi-layer data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integration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Right info to right people at right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Measurement — Technical Performance Measures (TPMs)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Progress, performance, quality metrics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Trend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Objective visibility into technical status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8. Quality Assurance — Process compliance audits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 criteria enforcement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Independent authority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Ensure processes followed, standards met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These Prevented ADAP Failure: — Planning → Would have defined integration milestones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→ Would have detected schedule slip at Month 12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Mgmt → Would have prevented architecture churn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→ Would have prevented multiple baselines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Measurement → Would have shown requirements instability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QA → Would have enforced gate criteria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8 processes are the MANAGEMENT FOUNDATION for technical processes.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Part 2: Enabling processes that support everything.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PART 1 SUMMARY: TECHNICAL MANAGEMENT PROCESSES</a:t>
            </a:r>
            <a:br/>
            <a:br/>
            <a:r>
              <a:t>8 ISO/IEC 15288 Processes:</a:t>
            </a:r>
            <a:br/>
            <a:br/>
            <a:r>
              <a:t>1. Project Planning</a:t>
            </a:r>
            <a:br/>
            <a:r>
              <a:t>   → WBS, schedule, resources</a:t>
            </a:r>
            <a:br/>
            <a:br/>
            <a:r>
              <a:t>2. Project Assessment &amp; Control</a:t>
            </a:r>
            <a:br/>
            <a:r>
              <a:t>   → EVM, status, corrective action</a:t>
            </a:r>
            <a:br/>
            <a:br/>
            <a:r>
              <a:t>3. Decision Management</a:t>
            </a:r>
            <a:br/>
            <a:r>
              <a:t>   → Gates, frameworks, CCB</a:t>
            </a:r>
            <a:br/>
            <a:br/>
            <a:r>
              <a:t>4. Risk Management</a:t>
            </a:r>
            <a:br/>
            <a:r>
              <a:t>   → Identify, mitigate, monitor</a:t>
            </a:r>
            <a:br/>
            <a:br/>
            <a:r>
              <a:t>5. Configuration Management</a:t>
            </a:r>
            <a:br/>
            <a:r>
              <a:t>   → Baselines, change control</a:t>
            </a:r>
            <a:br/>
            <a:br/>
            <a:r>
              <a:t>6. Information Management</a:t>
            </a:r>
            <a:br/>
            <a:r>
              <a:t>   → Data architecture, integration</a:t>
            </a:r>
            <a:br/>
            <a:br/>
            <a:r>
              <a:t>7. Measurement</a:t>
            </a:r>
            <a:br/>
            <a:r>
              <a:t>   → TPMs, metrics, trends</a:t>
            </a:r>
            <a:br/>
            <a:br/>
            <a:r>
              <a:t>8. Quality Assurance</a:t>
            </a:r>
            <a:br/>
            <a:r>
              <a:t>   → Audits, compliance, gates</a:t>
            </a:r>
            <a:br/>
            <a:br/>
            <a:r>
              <a:t>**These prevent ADAP-type failures**</a:t>
            </a:r>
            <a:br/>
            <a:br/>
            <a:r>
              <a:t>**Management foundation for technical processes**</a:t>
            </a:r>
            <a:br/>
            <a:br/>
            <a:r>
              <a:t>→ Next: Enabling processes (organizational)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Organizational Enabling Processes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2: Organizational Project-Enabling Processes. These operate at the ORGANIZATIONAL level, not project level.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defines 5 enabling processes: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Life Cycle Model Management — Define and maintain organizational SE lifecycle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Tailor models for different project types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V-Model for safety-critical, Agile for infotainment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Operates at: Enterprise/organization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Enables: Consistent process across projects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Infrastructure Management — Provide and maintain SE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Tools, facilities, test environments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HIL lab, DOORS licenses, CAD workstations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Operates at: Organization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Enables: Technical work (can't do SE without tools)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Portfolio Management — Strategically manage portfolio of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allocation across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Prioritization and alignment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Fund ADAS over infotainment upgrade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Operates at: Executive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Enables: Strategic alignment, resource optimization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Human Resource Management — Acquire, develop, maintain competent workforce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Training, competency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SysML training, safety certification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Operates at: HR + Engineering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Enables: Skilled workforce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Quality Management — Organizational quality policies and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system (ISO 9001, ASPICE)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ASPICE Level 3 process framework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Operates at: Quality organization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Enables: Consistent quality across organization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difference from technical management: — Technical management: Project-level, specific to one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Enabling processes: Organization-level, support all projects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we focus on three critical enabling processes: — Knowledge Management (often missing)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Portfolio Management (resource conflicts)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Infrastructure Management (tool chaos)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are often the ROOT CAUSE of project failures, not the projects themselves.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ORGANIZATIONAL ENABLING PROCESSES (5)</a:t>
            </a:r>
            <a:br/>
            <a:br/>
            <a:r>
              <a:t>1. Life Cycle Model Management</a:t>
            </a:r>
            <a:br/>
            <a:r>
              <a:t>   • Define org SE lifecycle</a:t>
            </a:r>
            <a:br/>
            <a:r>
              <a:t>   • Tailor for project types</a:t>
            </a:r>
            <a:br/>
            <a:br/>
            <a:r>
              <a:t>2. Infrastructure Management</a:t>
            </a:r>
            <a:br/>
            <a:r>
              <a:t>   • Tools, facilities, environments</a:t>
            </a:r>
            <a:br/>
            <a:r>
              <a:t>   • SE infrastructure provision</a:t>
            </a:r>
            <a:br/>
            <a:br/>
            <a:r>
              <a:t>3. Portfolio Management</a:t>
            </a:r>
            <a:br/>
            <a:r>
              <a:t>   • Strategic project management</a:t>
            </a:r>
            <a:br/>
            <a:r>
              <a:t>   • Resource allocation &amp; priority</a:t>
            </a:r>
            <a:br/>
            <a:br/>
            <a:r>
              <a:t>4. Human Resource Management</a:t>
            </a:r>
            <a:br/>
            <a:r>
              <a:t>   • Workforce development</a:t>
            </a:r>
            <a:br/>
            <a:r>
              <a:t>   • Training, competency</a:t>
            </a:r>
            <a:br/>
            <a:br/>
            <a:r>
              <a:t>5. Quality Management</a:t>
            </a:r>
            <a:br/>
            <a:r>
              <a:t>   • Org quality system</a:t>
            </a:r>
            <a:br/>
            <a:r>
              <a:t>   • ISO 9001, ASPICE</a:t>
            </a:r>
            <a:br/>
            <a:br/>
            <a:r>
              <a:t>**Difference:**</a:t>
            </a:r>
            <a:br/>
            <a:r>
              <a:t>  • Technical mgmt: Project-level</a:t>
            </a:r>
            <a:br/>
            <a:r>
              <a:t>  • Enabling: Organization-level (support all projects)</a:t>
            </a:r>
            <a:br/>
            <a:br/>
            <a:r>
              <a:t>**Today's focus: Knowledge, Portfolio, Infrastructure**</a:t>
            </a:r>
            <a:br/>
            <a:br/>
            <a:r>
              <a:t>**Root cause of many project failures**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Knowledge Management - Organizational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Knowledge Management is the most neglected enabling process. Yet critical.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Knowledge Management Purpose (ISO/IEC 15288):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'Ensure that individual, project, and organizational knowledge is created, collected, retained, shared, and applied to meet objectives'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Knowledge Management Matters: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1: Expert Dependency — Critical knowledge in expert's heads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Expert leaves → knowledge lost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ADAP example: Integration expert retired, new person repeated mistakes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2: Knowledge Silos — Radar team knows radar, camera team knows camera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shared understanding of sensor fusion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fails due to assumptions mismatch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3: Repeated Mistakes — Previous project made integration error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 not documented or shared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New project repeats same error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4: Slow Onboarding — New engineers take 6-12 months to become productive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structured knowledge transfer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Mentorship ad-hoc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Knowledge Management Framework: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Knowledge Creation — Research and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Innovation and experimentation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Problem-solving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Develop new sensor fusion algorithm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Knowledge Capture — Documentation (design documents, reports)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Lessons learned (from projects)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Expert interviews (before retirement)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Communities of practice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Document algorithm in wiki, record expert video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Knowledge Organization — Taxonomy and classification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Searchable repositories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Metadata and tagging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Knowledge base with categories: Sensors, Fusion, Control, V&amp;V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Knowledge Sharing — Training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Brown bag sessions (lunch &amp; learn)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Communities of practice (CoP)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Mentoring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Monthly 'Sensor Fusion CoP' meeting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Knowledge Application — Reuse in new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practices 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New ADAS project uses previous fusion algorithm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Knowledge Retention — Critical knowledge identification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Succession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Knowledge transfer before departures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Expert creates training course before retiring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OEM Example - Toyota: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Toyota Technical Skills Institute: — Captures expert knowledge in manufacturing, design, 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Video libraries of expert techniques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Apprenticeship programs (master-apprentice)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'Toyota Way' knowledge base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Knowledge retained across generations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Knowledge Management Tools: — Wiki: Confluence, SharePoint wiki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repository: SharePoint, Documentum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Lessons learned DB: Custom or commercial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Expert directory: Skills database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Communities: Yammer, Slack channels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 could have avoided failures with: — Documented integration lessons from previous project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fusion community of practice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Expert knowledge captured before retirement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KNOWLEDGE MANAGEMENT: ORGANIZATIONAL LEARNING</a:t>
            </a:r>
            <a:br/>
            <a:br/>
            <a:r>
              <a:t>Purpose: Create, collect, retain, share, apply knowledge</a:t>
            </a:r>
            <a:br/>
            <a:br/>
            <a:r>
              <a:t>Four Problems:</a:t>
            </a:r>
            <a:br/>
            <a:r>
              <a:t>  1. Expert dependency (knowledge lost)</a:t>
            </a:r>
            <a:br/>
            <a:r>
              <a:t>  2. Knowledge silos (teams disconnected)</a:t>
            </a:r>
            <a:br/>
            <a:r>
              <a:t>  3. Repeated mistakes (lessons not shared)</a:t>
            </a:r>
            <a:br/>
            <a:r>
              <a:t>  4. Slow onboarding (6-12 months)</a:t>
            </a:r>
            <a:br/>
            <a:br/>
            <a:r>
              <a:t>KM Framework (6 Steps):</a:t>
            </a:r>
            <a:br/>
            <a:br/>
            <a:r>
              <a:t>1. Create: R&amp;D, innovation, problem-solving</a:t>
            </a:r>
            <a:br/>
            <a:r>
              <a:t>2. Capture: Docs, lessons, expert interviews</a:t>
            </a:r>
            <a:br/>
            <a:r>
              <a:t>3. Organize: Taxonomy, repositories, metadata</a:t>
            </a:r>
            <a:br/>
            <a:r>
              <a:t>4. Share: Training, CoP, mentoring</a:t>
            </a:r>
            <a:br/>
            <a:r>
              <a:t>5. Apply: Reuse, best practices, decisions</a:t>
            </a:r>
            <a:br/>
            <a:r>
              <a:t>6. Retain: Succession planning, transfer</a:t>
            </a:r>
            <a:br/>
            <a:br/>
            <a:r>
              <a:t>Example: Toyota Technical Skills Institute</a:t>
            </a:r>
            <a:br/>
            <a:r>
              <a:t>  • Video expert techniques</a:t>
            </a:r>
            <a:br/>
            <a:r>
              <a:t>  • Apprenticeship programs</a:t>
            </a:r>
            <a:br/>
            <a:r>
              <a:t>  • 'Toyota Way' knowledge base</a:t>
            </a:r>
            <a:br/>
            <a:r>
              <a:t>  • Result: Multi-generational knowledge</a:t>
            </a:r>
            <a:br/>
            <a:br/>
            <a:r>
              <a:t>Tools: Wiki, doc repos, lessons DB, expert directory</a:t>
            </a:r>
            <a:br/>
            <a:br/>
            <a:r>
              <a:t>**KM prevents knowledge loss and repeated errors**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Portfolio Management - Strategic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Portfolio Management: Managing the RIGHT mix of projects, not just managing projects right.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Portfolio Management Purpose (ISO/IEC 15288):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'Initiate and sustain necessary, sufficient, and suitable projects to meet strategic objectives'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Portfolio Challenge: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Scenario: Automotive OEM has 20 active projects: — 5 ADAS projects (autonomous driving, safety features)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 Powertrain projects (electrification, efficiency)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 Infotainment projects (connectivity, UX)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 Body systems (comfort, convenience)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 Manufacturing (production line upgrades)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Resources: — 150 systems engineers (not 500)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$500M R&amp;D budget (not unlimited)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12 HIL test benches (shared across projects)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50 senior experts (heavily in demand)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Portfolio Questions: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Which projects to fund? Which to kill?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allocate 150 engineers across 20 projects?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if ADAS Project A needs expert currently on Powertrain Project B?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budget cut 20%, which projects suffer?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Portfolio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Portfolio Management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Strategic Alignment — Company strategy: 'Leader in autonomous driving by 2028'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Portfolio analysis: Are projects aligned?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ADAS projects: High alignment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Infotainment projects: Medium alignment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Body systems: Low alignment (unless differentiation)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Portfolio Categorization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Three categories: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Strategic (Must-Have): — Aligned with core strategy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Level 3 autonomous ADAS (strategic commitment)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priority: Highest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Operational (Keep-Running): — Sustaining current products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Infotainment updates for current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priority: Medium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Exploratory (Future): — Innovation, R&amp;D, new technologies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Lidar sensor research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priority: Opportunistic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Portfolio Prioritization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Prioritization Matrix: Value vs Effort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 Value, Low Effort (Do First): — ADAS Project A: Safety feature (regulatory requirement), reuses existing platform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Priority: 1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 Value, High Effort (Strategic Investment): — ADAS Project B: Full autonomous stack, new technology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Priority: 2 (if resources available)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Low Value, Low Effort (Do If Capacity): — Infotainment Project C: Minor UX update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Priority: 3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Low Value, High Effort (Kill or Defer): — Body Project D: Luxury feature, limited market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Priority: 4 (consider killing)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Resource Allocation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Resource pool: 150 SE engineers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Allocation: — Strategic projects (ADAS): 80 engineers (53%)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projects: 50 engineers (33%)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Exploratory projects: 20 engineers (13%)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conflict: Strategic projects get priority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Portfolio Balancing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Balance across: — Technology domains: ADAS, powertrain, infotainment (not all in one area)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profile: High-risk innovation + low-risk sustaining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Timeline: Short-term (12mo) + long-term (5yr)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types: Don't overload specific experts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Portfolio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Quarterly portfolio review: — Project status (on-track? struggling?)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utilization (bottlenecks? idle?)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Strategic alignment (still aligned?)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Kill/defer decisions (shut down failing projects)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Portfolio Governance: — Portfolio Board: CTO, VP Engineering, CFO, business unit heads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Meets: Quarterly (or monthly if dynamic)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Authority: Start, stop, redirect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ADAP example: Would have prioritized ADAP vs competing projects, allocated experts accordingly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Right projects get right resources at right time.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PORTFOLIO MANAGEMENT: STRATEGIC ALIGNMENT</a:t>
            </a:r>
            <a:br/>
            <a:br/>
            <a:r>
              <a:t>Purpose: Right mix of projects for strategy</a:t>
            </a:r>
            <a:br/>
            <a:br/>
            <a:r>
              <a:t>Portfolio Challenge:</a:t>
            </a:r>
            <a:br/>
            <a:r>
              <a:t>  20 projects, 150 engineers, $500M budget</a:t>
            </a:r>
            <a:br/>
            <a:r>
              <a:t>  → Which to fund? How to allocate?</a:t>
            </a:r>
            <a:br/>
            <a:br/>
            <a:r>
              <a:t>PM Process:</a:t>
            </a:r>
            <a:br/>
            <a:br/>
            <a:r>
              <a:t>1. Strategic Alignment</a:t>
            </a:r>
            <a:br/>
            <a:r>
              <a:t>   • Strategy: Leader in autonomous</a:t>
            </a:r>
            <a:br/>
            <a:r>
              <a:t>   • ADAS: High | Infotainment: Med | Body: Low</a:t>
            </a:r>
            <a:br/>
            <a:br/>
            <a:r>
              <a:t>2. Categorization</a:t>
            </a:r>
            <a:br/>
            <a:r>
              <a:t>   • Strategic (must-have): ADAS</a:t>
            </a:r>
            <a:br/>
            <a:r>
              <a:t>   • Operational (sustain): Updates</a:t>
            </a:r>
            <a:br/>
            <a:r>
              <a:t>   • Exploratory (future): R&amp;D</a:t>
            </a:r>
            <a:br/>
            <a:br/>
            <a:r>
              <a:t>3. Prioritization (Value vs Effort)</a:t>
            </a:r>
            <a:br/>
            <a:r>
              <a:t>   • High V, Low E: Do first</a:t>
            </a:r>
            <a:br/>
            <a:r>
              <a:t>   • High V, High E: Strategic investment</a:t>
            </a:r>
            <a:br/>
            <a:r>
              <a:t>   • Low V, High E: Kill or defer</a:t>
            </a:r>
            <a:br/>
            <a:br/>
            <a:r>
              <a:t>4. Resource Allocation</a:t>
            </a:r>
            <a:br/>
            <a:r>
              <a:t>   • Strategic: 53% | Operational: 33% | Explore: 13%</a:t>
            </a:r>
            <a:br/>
            <a:br/>
            <a:r>
              <a:t>5. Balancing</a:t>
            </a:r>
            <a:br/>
            <a:r>
              <a:t>   • Technology, risk, timeline, resources</a:t>
            </a:r>
            <a:br/>
            <a:br/>
            <a:r>
              <a:t>6. Monitoring</a:t>
            </a:r>
            <a:br/>
            <a:r>
              <a:t>   • Quarterly review, kill/defer decisions</a:t>
            </a:r>
            <a:br/>
            <a:br/>
            <a:r>
              <a:t>**Governance: Portfolio Board (CTO, VPs, CFO)**</a:t>
            </a:r>
            <a:br/>
            <a:br/>
            <a:r>
              <a:t>**Right projects, right resources, right time**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Infrastructure Management - Tools and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Infrastructure Management: Providing the tools and environments for SE work.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Infrastructure Management Purpose (ISO/IEC 15288):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'Provide infrastructure required to support technical and management processes'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is SE Infrastructure?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1: Software Tools — Requirements management: IBM DOORS, Jama Connect, Polarion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Architecture/design: SysML tools (Cameo, Rhapsody), MATLAB/Simulink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management: Git, SVN, PLM (Siemens Teamcenter)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management: MS Project, Primavera, JIRA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V&amp;V: CANoe, dSPACE, test management (TestRail)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management: SharePoint, Documentum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2: Hardware Infrastructure — Workstations: High-performance for simulation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Servers: Compute clusters for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Network: High-speed for data transfer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Storage: Centralized repositories (NAS, SAN)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3: Test and Integration Facilities — Hardware-in-Loop (HIL) benches: 10-20 setups for ADAS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Software-in-Loop (SIL) environments: Virtual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test fleet: Instrumented vehicles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Environmental chambers: Temperature, vibration, EMC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Proving grounds: Test tracks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4: Development Environments — Build systems: Continuous integration (Jenkins, GitLab CI)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Simulation environments: CARLA, VTD for autonomous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Calibration tools: ETAS INCA, Vector CANape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Infrastructure Challenges: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Tool Sprawl — 30+ tools used across organization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Poor integration between tools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Duplicate data entry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Tool integration architecture, single-source-of-truth principle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Version Incompatibility — Team A uses DOORS 9.6, Team B uses DOORS 9.7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Files incompatible, collaboration breaks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Standardized tool versions, upgrade planning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License Limitations — 50 DOORS licenses, 80 users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Engineers wait for license availability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Floating licenses, usage monitoring, capacity planning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Infrastructure Obsolescence — HIL benches use 10-year-old hardware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Can't support new ECU platforms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Infrastructure refresh cycles (every 3-5 years)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5: Access and Security — Confidential designs must be protected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 collaboration requires sharing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Role-based access, secure networks, data classification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Infrastructure Management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Plan: — Assess infrastructure needs (tools, facilities)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3-year infrastructure roadmap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Budget allocation (typically 5-10% of R&amp;D budget)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Acquire: — Tool procurement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Facility construction/upgrade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Vendor selection and negotiation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Deploy: — Tool installation and configuration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 processes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Maintain: — Version upgrades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License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Retire: — Tool/facility end-of-life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migration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Knowledge transfer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OEM 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BMW Group Tool Infrastructure: — Standardized on Siemens Teamcenter PLM (enterprise-wide)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IBM DOORS for requirements (20,000 users)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CATIA for mechanical design (standard)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100+ HIL benches worldwide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Centralized tool support organization (200 people)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Annual infrastructure investment: €50M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Consistent tooling, global collaboration, reduced training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 example: Would have provided standardized tools, preventing version chaos.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INFRASTRUCTURE MANAGEMENT: TOOLS &amp; ENVIRONMENTS</a:t>
            </a:r>
            <a:br/>
            <a:br/>
            <a:r>
              <a:t>Purpose: Provide infrastructure for SE processes</a:t>
            </a:r>
            <a:br/>
            <a:br/>
            <a:r>
              <a:t>Four Categories:</a:t>
            </a:r>
            <a:br/>
            <a:br/>
            <a:r>
              <a:t>1. Software Tools</a:t>
            </a:r>
            <a:br/>
            <a:r>
              <a:t>   • Requirements (DOORS, Jama)</a:t>
            </a:r>
            <a:br/>
            <a:r>
              <a:t>   • Design (SysML, Simulink)</a:t>
            </a:r>
            <a:br/>
            <a:r>
              <a:t>   • CM (Git, PLM), PM (MS Project)</a:t>
            </a:r>
            <a:br/>
            <a:r>
              <a:t>   • V&amp;V (CANoe, dSPACE)</a:t>
            </a:r>
            <a:br/>
            <a:br/>
            <a:r>
              <a:t>2. Hardware Infrastructure</a:t>
            </a:r>
            <a:br/>
            <a:r>
              <a:t>   • Workstations, servers, network, storage</a:t>
            </a:r>
            <a:br/>
            <a:br/>
            <a:r>
              <a:t>3. Test &amp; Integration Facilities</a:t>
            </a:r>
            <a:br/>
            <a:r>
              <a:t>   • HIL benches (10-20 setups)</a:t>
            </a:r>
            <a:br/>
            <a:r>
              <a:t>   • SIL environments, vehicle fleet</a:t>
            </a:r>
            <a:br/>
            <a:r>
              <a:t>   • Environmental chambers, test tracks</a:t>
            </a:r>
            <a:br/>
            <a:br/>
            <a:r>
              <a:t>4. Development Environments</a:t>
            </a:r>
            <a:br/>
            <a:r>
              <a:t>   • Build systems (CI/CD)</a:t>
            </a:r>
            <a:br/>
            <a:r>
              <a:t>   • Simulation (CARLA, VTD)</a:t>
            </a:r>
            <a:br/>
            <a:r>
              <a:t>   • Calibration tools</a:t>
            </a:r>
            <a:br/>
            <a:br/>
            <a:r>
              <a:t>Challenges:</a:t>
            </a:r>
            <a:br/>
            <a:r>
              <a:t>  • Tool sprawl (30+ tools)</a:t>
            </a:r>
            <a:br/>
            <a:r>
              <a:t>  • Version incompatibility</a:t>
            </a:r>
            <a:br/>
            <a:r>
              <a:t>  • License limitations</a:t>
            </a:r>
            <a:br/>
            <a:r>
              <a:t>  • Obsolescence</a:t>
            </a:r>
            <a:br/>
            <a:r>
              <a:t>  • Access &amp; security</a:t>
            </a:r>
            <a:br/>
            <a:br/>
            <a:r>
              <a:t>Process: Plan → Acquire → Deploy → Maintain → Retire</a:t>
            </a:r>
            <a:br/>
            <a:br/>
            <a:r>
              <a:t>Example: BMW standardized Teamcenter, DOORS, CATIA</a:t>
            </a:r>
            <a:br/>
            <a:r>
              <a:t>  100+ HIL benches, €50M/yr investment</a:t>
            </a:r>
            <a:br/>
            <a:br/>
            <a:r>
              <a:t>**Prevents tool chaos, enables collaboration**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Lifecycle Model Management - Process Tailoring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Life Cycle Model Management: Defining HOW to do systems engineering across the organization.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Lifecycle Model Management Purpose (ISO/IEC 15288):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'Ensure that appropriate life cycle models, processes, and procedures are available for use'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Multiple Lifecycle Models?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One-size does NOT fit all: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Project Type A: Safety-Critical ADAS — High complexity, high risk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requirements (ISO 26262)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Lifecycle model: V-Model (waterfall-based)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Need rigorous documentation, traceability, certification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Project Type B: Infotainment System — Moderate complexity, user-focused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Frequent updates, evolving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Lifecycle model: Agile/Scrum with SE overlay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Need flexibility, rapid iteration, user feedback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Project Type C: Exploratory R&amp;D — High uncertainty, innovation-focused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Proof-of-concept, feasibility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Lifecycle model: Spiral model (iterative risk-driven)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Need experimentation, learning, pivoting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Project Type D: Platform Reuse — Low complexity, leveraging existing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Incremental changes to proven platform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Lifecycle model: Incremental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Minimize changes, reuse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Lifecycle Model Management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Define Organizational Lifecycle Models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Model 1: V-Model (Safety-Critical) — Phases: Concept → Requirements → Architecture → Design → Implement → Integrate → V&amp;V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Gates: 5 decision gates with strict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Documents: 20+ mandatory documents (requirements spec, architecture, FMEA, V&amp;V plan, safety case)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Compliance: ISO 26262, ASPICE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Model 2: Agile SE Model (User-Focused) — Sprints: 2-week iterations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 activities: Requirements in backlog, architecture evolves, continuous V&amp;V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Gates: End-of-sprint reviews, PI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Documents: Lightweight (user stories, architecture decision records, test results)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Compliance: Agile Manifesto + ISO/IEC 15288 core processes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Model 3: Spiral Model (R&amp;D) — Cycles: 4-6 risk-driven iterations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 activities: Prototyping, testing, learning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Gates: Risk review after each cycle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Documents: Minimal (feasibility reports, prototypes)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Tailoring Guidelines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Tailoring Criteria: — Project size: &lt;$1M (lightweight), $1-10M (moderate), &gt;$10M (full)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criticality: QM / ASIL A-B (moderate) / ASIL C-D (rigorous)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Novelty: Reuse (incremental) / New development (V-Model) / R&amp;D (Spiral)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Schedule: &lt;6mo (Agile) / 6-24mo (V-Model) / &gt;24mo (Incremental releases)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Tailoring Process: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characterization (size, criticality, novelty, schedule)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Select base lifecycle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Tailor processes (add/remove/modify)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tailoring rationale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Approval by engineering review board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Tailoring: ADAP (ADAS, ASIL-D, 30-month) — Base model: V-Model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Tailoring: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Add: ISO 26262 safety activities (FMEA, FTA, FMEDA)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Add: Continuous integration (not just gate-based)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Remove: Some documentation for non-safety functions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'V-Model with Agile Integration' hybrid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Process Asset Library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Organizational repository: — Lifecycle model templates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descriptions (how-to guides)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 product templates (requirements spec template, V&amp;V plan template)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Checklists (gate criteria, review checklists)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materials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Requirements Engineering Process Asset: — Process description: 'How to do requirements engineering' (10-page guide)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Template: IEEE 29148 requirements specification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Checklist: Requirements quality checklist (25 items)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guide: 'How to use DOORS' (training slides)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Sample requirements from previous projects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Process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Continuous improvement: — Lessons learned from projects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audits and assessments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Benchmarking with industry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ASPICE assessments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Update models and assets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OEM Example: Mercedes-Benz — 5 lifecycle models defined (V-Model, Agile SE, Incremental, Spiral, DevOps)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Tailoring guide: 30-page decision tree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asset library: 500+ templates and guides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ASPICE Level 3 achieved across organization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Consistent processes, but flexible for project needs.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LIFECYCLE MODEL MANAGEMENT: PROCESS TAILORING</a:t>
            </a:r>
            <a:br/>
            <a:br/>
            <a:r>
              <a:t>Purpose: Appropriate models, processes, procedures for use</a:t>
            </a:r>
            <a:br/>
            <a:br/>
            <a:r>
              <a:t>Why Multiple Models?</a:t>
            </a:r>
            <a:br/>
            <a:br/>
            <a:r>
              <a:t>Project Type A: Safety-Critical ADAS</a:t>
            </a:r>
            <a:br/>
            <a:r>
              <a:t>  → V-Model (rigorous, traceable)</a:t>
            </a:r>
            <a:br/>
            <a:br/>
            <a:r>
              <a:t>Project Type B: Infotainment</a:t>
            </a:r>
            <a:br/>
            <a:r>
              <a:t>  → Agile SE (flexible, iterative)</a:t>
            </a:r>
            <a:br/>
            <a:br/>
            <a:r>
              <a:t>Project Type C: R&amp;D</a:t>
            </a:r>
            <a:br/>
            <a:r>
              <a:t>  → Spiral (risk-driven, learning)</a:t>
            </a:r>
            <a:br/>
            <a:br/>
            <a:r>
              <a:t>Project Type D: Platform Reuse</a:t>
            </a:r>
            <a:br/>
            <a:r>
              <a:t>  → Incremental (minimize change)</a:t>
            </a:r>
            <a:br/>
            <a:br/>
            <a:r>
              <a:t>LCM Process:</a:t>
            </a:r>
            <a:br/>
            <a:br/>
            <a:r>
              <a:t>1. Define Org Models (V, Agile, Spiral, etc.)</a:t>
            </a:r>
            <a:br/>
            <a:r>
              <a:t>2. Tailoring Guidelines</a:t>
            </a:r>
            <a:br/>
            <a:r>
              <a:t>   • Criteria: Size, safety, novelty, schedule</a:t>
            </a:r>
            <a:br/>
            <a:r>
              <a:t>   • Process: Characterize → Select → Tailor → Approve</a:t>
            </a:r>
            <a:br/>
            <a:br/>
            <a:r>
              <a:t>3. Process Asset Library</a:t>
            </a:r>
            <a:br/>
            <a:r>
              <a:t>   • Templates, guides, checklists, training</a:t>
            </a:r>
            <a:br/>
            <a:br/>
            <a:r>
              <a:t>4. Process Improvement</a:t>
            </a:r>
            <a:br/>
            <a:r>
              <a:t>   • Lessons learned, audits, ASPICE</a:t>
            </a:r>
            <a:br/>
            <a:br/>
            <a:r>
              <a:t>Example: Mercedes-Benz</a:t>
            </a:r>
            <a:br/>
            <a:r>
              <a:t>  5 models, tailoring guide, 500+ assets, ASPICE L3</a:t>
            </a:r>
            <a:br/>
            <a:br/>
            <a:r>
              <a:t>**Consistent but flexible processes**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Complete Process Framework - ISO/IEC 15288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see the COMPLETE ISO/IEC 15288 framework - all 21 processes integrated: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PROCESSES (8) - Sessions 1-14: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Business or Mission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Needs and Requirements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Requirements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Integration, Verification, Validation, Transition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These are the 'WHAT' and 'HOW' of systems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MANAGEMENT PROCESSES (8) - Today Part 1: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Assessment and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Information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Assurance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These MANAGE technical execution.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ORGANIZATIONAL ENABLING PROCESSES (5) - Today Part 2: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 Cycle Model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Infrastructure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Portfolio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Resource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Management (organizational)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These ENABLE all processes.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They Integrate: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Scenario: ADAS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Enabling (Before Project Starts): — Portfolio mgmt: Approves ADAS project, allocates budget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Infrastructure: Provides DOORS, HIL benches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Lifecycle: Defines V-Model process for ADAS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HR: Assigns skilled SE engineers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Quality: Establishes ISO 26262 compliance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Management (Throughout Project): — Planning: WBS, schedule,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Control: EVM tracking, status reviews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Gate reviews, architecture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Identify, mitigate technical risks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Configuration: Baseline requirements,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Information: DOORS for reqs, Git for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Measurement: TPMs for progress,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QA: Audits, gate criteria enforcement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(Core SE Work): — Requirements: Define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Architecture: Design system 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Design: Detailed subsystem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Implementation: Build subsystems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Integration: Combine subsystems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Verification: Test against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Validation: Test against needs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Integration Flow: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Enabling processes provide foundation 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management processes control execution 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processes deliver system 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 to enabling (lessons learned feed knowledge mgmt)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COMPLETE systems engineering framework.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is not just technical processes. It's all 21 processes working together.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organizations implement technical processes (8) well.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Many implement some technical management (4-6 of 8).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Few implement enabling processes (0-2 of 5).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Projects struggle despite good technical work.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lesson of Session 15: All 21 processes are required for SE success.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COMPLETE ISO/IEC 15288 FRAMEWORK (21 Processes)</a:t>
            </a:r>
            <a:br/>
            <a:br/>
            <a:r>
              <a:t>TECHNICAL PROCESSES (8)</a:t>
            </a:r>
            <a:br/>
            <a:r>
              <a:t>  • Business, requirements, architecture, design</a:t>
            </a:r>
            <a:br/>
            <a:r>
              <a:t>  • Analysis, implementation, integration, V&amp;V</a:t>
            </a:r>
            <a:br/>
            <a:r>
              <a:t>  → WHAT and HOW of SE</a:t>
            </a:r>
            <a:br/>
            <a:br/>
            <a:r>
              <a:t>TECHNICAL MANAGEMENT (8)</a:t>
            </a:r>
            <a:br/>
            <a:r>
              <a:t>  • Planning, control, decision, risk</a:t>
            </a:r>
            <a:br/>
            <a:r>
              <a:t>  • Configuration, information, measurement, QA</a:t>
            </a:r>
            <a:br/>
            <a:r>
              <a:t>  → MANAGE technical execution</a:t>
            </a:r>
            <a:br/>
            <a:br/>
            <a:r>
              <a:t>ORGANIZATIONAL ENABLING (5)</a:t>
            </a:r>
            <a:br/>
            <a:r>
              <a:t>  • Lifecycle, infrastructure, portfolio</a:t>
            </a:r>
            <a:br/>
            <a:r>
              <a:t>  • HR, quality management</a:t>
            </a:r>
            <a:br/>
            <a:r>
              <a:t>  → ENABLE all processes</a:t>
            </a:r>
            <a:br/>
            <a:br/>
            <a:r>
              <a:t>Integration Flow:</a:t>
            </a:r>
            <a:br/>
            <a:r>
              <a:t>  Enabling (foundation) →</a:t>
            </a:r>
            <a:br/>
            <a:r>
              <a:t>  Technical Mgmt (control) →</a:t>
            </a:r>
            <a:br/>
            <a:r>
              <a:t>  Technical (deliver) →</a:t>
            </a:r>
            <a:br/>
            <a:r>
              <a:t>  Back to Enabling (lessons learned)</a:t>
            </a:r>
            <a:br/>
            <a:br/>
            <a:r>
              <a:t>**All 21 processes required for SE success**</a:t>
            </a:r>
            <a:br/>
            <a:br/>
            <a:r>
              <a:t>Typical Implementation:</a:t>
            </a:r>
            <a:br/>
            <a:r>
              <a:t>  • Technical: 8/8 (100%)</a:t>
            </a:r>
            <a:br/>
            <a:r>
              <a:t>  • Mgmt: 4-6/8 (50-75%)</a:t>
            </a:r>
            <a:br/>
            <a:r>
              <a:t>  • Enabling: 0-2/5 (0-40%)</a:t>
            </a:r>
            <a:br/>
            <a:br/>
            <a:r>
              <a:t>**Gap in enabling processes = root cause of failures**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Best Practices - Management and Enabling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best practices for management and enabling processes: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MANAGEMENT BEST PRACTICES: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Planning &amp; Control: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Develop WBS to 4-6 levels (assignable, estimable)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Define integration milestones early (not just end-of-project)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Use EVM for progress tracking (not subjective % complete)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Reserve 15-20% schedule margin for risks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Weekly status reviews during integration phase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Define gate criteria in advance (objective, measurable)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Use decision frameworks (Pugh, real options) for major decisions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Document all decisions and rationale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CCB for all baseline changes (requirements, architecture, design)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Impact analysis required for all changes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Measurement: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Define 5-10 key TPMs (progress, performance, quality)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Automate data collection where possible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Trend analysis, not just current values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Leading indicators to predict problems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Weekly TPM review for critical measures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 &amp; Information: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Establish baselines at gates (functional, allocated, design, product)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Single source of truth for each artifact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Tool integration to prevent disconnection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Version control for all work products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Role-based access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 &amp; Quality: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Risk identification at project start, monthly updates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Trigger-based mitigation (not reactive)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Independent QA (reports to quality org, not 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Gate authority to stop project if criteria not met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Continuous improvement via lessons learned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ENABLING PROCESS BEST PRACTICES: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Knowledge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Capture lessons at end of each phase (not just end of project)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Structured format (situation, action, result, recommendation)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Searchable repository (by technology, issue, phase)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Mandatory lessons review at project kickoff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Measure application: Did project apply relevant lessons?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Portfolio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Strategic alignment first, then resource allocation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Categorize: Strategic, operational, exploratory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Prioritize using value vs effort matrix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Quarterly portfolio reviews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Kill failing projects (don't let them drag)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Infrastructure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Standardize on organization-wide tools (not team-specific)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3-5 year infrastructure roadmap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Allocate 5-10% of R&amp;D budget to infrastructure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Centralized tool support organization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Regular tool upgrades (every 2-3 years)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Lifecycle Model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Define 3-5 lifecycle models for different project types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Tailoring guidelines based on size, criticality, novelty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Process asset library (templates, checklists, guides)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ASPICE or CMMI assessment every 2-3 years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Continuous process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Resource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Competency model for SE roles (junior, senior, expert)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Training programs: SysML, ISO 26262, ASPICE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Succession planning for critical experts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Cross-training to prevent single-point dependencies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Career development paths for SE professionals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IMPLEMENTATION APPROACH: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Don't implement all at once: — Year 1: Focus on technical management (planning, control, decision, risk, config)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Year 2: Add measurement, QA, information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Year 3: Add enabling processes (knowledge, portfolio, infrastructure)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Ongoing: Lifecycle model, HR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Start small, prove value, scale: — Pilot on one project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 improvements (schedule, cost, quality)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Refine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Roll out organization-wide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OEM approach (typical): — 3-year SE process transformation program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ASPICE Level 3 (established, defined processes)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Investment: 2-3% of engineering headcount for process group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ROI: 10-20% reduction in rework, 15-30% reduction in defect rates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Follow these practices, and your projects will succeed.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BEST PRACTICES: MANAGEMENT &amp; ENABLING PROCESSES</a:t>
            </a:r>
            <a:br/>
            <a:br/>
            <a:r>
              <a:t>TECHNICAL MANAGEMENT:</a:t>
            </a:r>
            <a:br/>
            <a:br/>
            <a:r>
              <a:t>Planning &amp; Control:</a:t>
            </a:r>
            <a:br/>
            <a:r>
              <a:t>  ✓ WBS to 4-6 levels, integration milestones</a:t>
            </a:r>
            <a:br/>
            <a:r>
              <a:t>  ✓ EVM tracking, 15-20% margin</a:t>
            </a:r>
            <a:br/>
            <a:br/>
            <a:r>
              <a:t>Decision:</a:t>
            </a:r>
            <a:br/>
            <a:r>
              <a:t>  ✓ Gate criteria in advance</a:t>
            </a:r>
            <a:br/>
            <a:r>
              <a:t>  ✓ Decision frameworks, CCB, impact analysis</a:t>
            </a:r>
            <a:br/>
            <a:br/>
            <a:r>
              <a:t>Measurement:</a:t>
            </a:r>
            <a:br/>
            <a:r>
              <a:t>  ✓ 5-10 TPMs, automated, trend analysis</a:t>
            </a:r>
            <a:br/>
            <a:br/>
            <a:r>
              <a:t>Config &amp; Info:</a:t>
            </a:r>
            <a:br/>
            <a:r>
              <a:t>  ✓ Baselines at gates</a:t>
            </a:r>
            <a:br/>
            <a:r>
              <a:t>  ✓ Single source of truth, version control</a:t>
            </a:r>
            <a:br/>
            <a:br/>
            <a:r>
              <a:t>Risk &amp; Quality:</a:t>
            </a:r>
            <a:br/>
            <a:r>
              <a:t>  ✓ Trigger-based mitigation</a:t>
            </a:r>
            <a:br/>
            <a:r>
              <a:t>  ✓ Independent QA, gate authority</a:t>
            </a:r>
            <a:br/>
            <a:br/>
            <a:r>
              <a:t>ENABLING:</a:t>
            </a:r>
            <a:br/>
            <a:br/>
            <a:r>
              <a:t>Knowledge:</a:t>
            </a:r>
            <a:br/>
            <a:r>
              <a:t>  ✓ Capture lessons end-of-phase</a:t>
            </a:r>
            <a:br/>
            <a:r>
              <a:t>  ✓ Searchable, mandatory review</a:t>
            </a:r>
            <a:br/>
            <a:br/>
            <a:r>
              <a:t>Portfolio:</a:t>
            </a:r>
            <a:br/>
            <a:r>
              <a:t>  ✓ Strategic alignment, quarterly reviews</a:t>
            </a:r>
            <a:br/>
            <a:br/>
            <a:r>
              <a:t>Infrastructure:</a:t>
            </a:r>
            <a:br/>
            <a:r>
              <a:t>  ✓ Standardize tools, 3-5yr roadmap</a:t>
            </a:r>
            <a:br/>
            <a:br/>
            <a:r>
              <a:t>Lifecycle:</a:t>
            </a:r>
            <a:br/>
            <a:r>
              <a:t>  ✓ 3-5 models, tailoring, asset library</a:t>
            </a:r>
            <a:br/>
            <a:br/>
            <a:r>
              <a:t>HR:</a:t>
            </a:r>
            <a:br/>
            <a:r>
              <a:t>  ✓ Competency, training, succession</a:t>
            </a:r>
            <a:br/>
            <a:br/>
            <a:r>
              <a:t>**Implement over 3 years, start small, scale**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Session 15 Key Takeaways and Connection to Session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lock in the key takeaways from Session 15: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1: Three Process Categories — Technical processes (WHAT and HOW of SE) - Sessions 1-14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management processes (MANAGE execution) - Today Part 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Organizational enabling processes (ENABLE all processes) - Today Part 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21 processes required for success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2: Management Foundation — Planning (WBS, schedule) prevents late surprises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(EVM) makes problems visible early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management (gates, frameworks) prevents churn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 (baselines, CCB) prevents chaos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3: Measurement is Critical — Can't control what you don't measure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5-10 TPMs: progress, performance, quality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Trend analysis predicts problems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EVM forecasts cost and schedule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4: Knowledge Management Often Missing — Expert dependency, knowledge silos, repeated mistakes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Capture, organize, share, apply knowledge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Lessons learned must be APPLIED, not just documented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5: Portfolio Management Resolves Conflicts — Strategic alignment first, then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Prioritize: Strategic &gt; Operational &gt; Exploratory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Quarterly reviews, kill failing projects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6: Infrastructure Enables Everything — Standardized tools prevent chaos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5-10% R&amp;D budget for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3-5 year roadmap, centralized support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7: Process Excellence ≥ Technical Excellence — ADAP: Same team, same tech, different processes = success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Most failures due to process gaps, not technical gaps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 all 21 processes over 3 years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CONNECTION TO SESSION 16: EMERGING TRENDS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we've learned: ISO/IEC 15288 framework (established, proven)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What's next: How is SE evolving?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16 Topics: — Model-Based Systems Engineering (MBSE) maturity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twins and digital threads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AI/ML in systems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Autonomous systems SE challenges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Agile and DevOps in 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Cloud-based SE collaboration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Cybersecurity by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Sustainability and green 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question: How do management and enabling processes ADAPT to these trends?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AI/ML in SE → How to manage AI model development? (New lifecycle model)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twins → What infrastructure needed? (Cloud compute, simulation platforms)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Agile SE → How to do gates in Agile? (Sprint reviews as micro-gates)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15 gives you the foundation. Session 16 shows you the future.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Final thought: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is 20+ years old, but still relevant. Why?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Because: — Technical processes may change (Agile vs waterfall)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Technologies evolve (AI, digital twins)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 management and enabling processes remain constant: — Still need planning, control,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Still need knowledge management, portfolio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Still need infrastructure, quality assurance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fundamentals of Session 15 will serve your entire career.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session: How to apply these fundamentals to emerging trends.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SESSION 15 KEY TAKEAWAYS</a:t>
            </a:r>
            <a:br/>
            <a:br/>
            <a:r>
              <a:t>1. Three Process Categories (21 Total)</a:t>
            </a:r>
            <a:br/>
            <a:r>
              <a:t>   • Technical (8): WHAT/HOW</a:t>
            </a:r>
            <a:br/>
            <a:r>
              <a:t>   • Mgmt (8): Control execution</a:t>
            </a:r>
            <a:br/>
            <a:r>
              <a:t>   • Enabling (5): Foundation</a:t>
            </a:r>
            <a:br/>
            <a:br/>
            <a:r>
              <a:t>2. Management Foundation</a:t>
            </a:r>
            <a:br/>
            <a:r>
              <a:t>   • Planning, control, decision, config</a:t>
            </a:r>
            <a:br/>
            <a:r>
              <a:t>   • Prevents late surprises, chaos</a:t>
            </a:r>
            <a:br/>
            <a:br/>
            <a:r>
              <a:t>3. Measurement Critical</a:t>
            </a:r>
            <a:br/>
            <a:r>
              <a:t>   • TPMs, EVM make problems visible</a:t>
            </a:r>
            <a:br/>
            <a:br/>
            <a:r>
              <a:t>4. Knowledge Management Often Missing</a:t>
            </a:r>
            <a:br/>
            <a:r>
              <a:t>   • Capture, share, APPLY lessons</a:t>
            </a:r>
            <a:br/>
            <a:br/>
            <a:r>
              <a:t>5. Portfolio Resolves Conflicts</a:t>
            </a:r>
            <a:br/>
            <a:r>
              <a:t>   • Strategic alignment → resource allocation</a:t>
            </a:r>
            <a:br/>
            <a:br/>
            <a:r>
              <a:t>6. Infrastructure Enables Everything</a:t>
            </a:r>
            <a:br/>
            <a:r>
              <a:t>   • Standardized tools, 3-5yr roadmap</a:t>
            </a:r>
            <a:br/>
            <a:br/>
            <a:r>
              <a:t>7. Process Excellence ≥ Technical Excellence</a:t>
            </a:r>
            <a:br/>
            <a:r>
              <a:t>   • ADAP success via better processes</a:t>
            </a:r>
            <a:br/>
            <a:br/>
            <a:r>
              <a:t>**Next: Session 16 - Emerging Trends in SE**</a:t>
            </a:r>
            <a:br/>
            <a:br/>
            <a:r>
              <a:t>Preview:</a:t>
            </a:r>
            <a:br/>
            <a:r>
              <a:t>  • MBSE maturity, digital twins, AI/ML</a:t>
            </a:r>
            <a:br/>
            <a:r>
              <a:t>  • Autonomous systems, Agile SE</a:t>
            </a:r>
            <a:br/>
            <a:r>
              <a:t>  • Cloud collaboration, cybersecurity</a:t>
            </a:r>
            <a:br/>
            <a:r>
              <a:t>  • Sustainability</a:t>
            </a:r>
            <a:br/>
            <a:br/>
            <a:r>
              <a:t>**How do management/enabling processes adapt to trends?**</a:t>
            </a:r>
            <a:br/>
            <a:br/>
            <a:r>
              <a:t>**Session 15 foundation serves your entire career**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📝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Additional Resources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Approach: Process-Focused/Management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session shifts from technical to managerial perspective. The pedagogy emphasizes: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Integration: Show how management processes enable technical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Consequences: Use ADAP case to show management process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Practical Tools: EVM, WBS, decision frameworks, TPMs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Organizational Context: Enabling processes operate at org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Complete Framework: All 21 ISO/IEC 15288 processes integrated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Challenge: Students often find management processes "boring" compared to technical. Counter by showing ADAP case - technical excellence failed without management processes.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"Why do we need all this process overhead? Can't we just engineer?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Response: Use ADAP case. Same engineers, same technology. Only difference: processes. Result: Success vs failure. Processes are not overhead, they're enablers.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"EVM seems complicated. Can't we just track % complete?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Response: Show EVM forecasting power. At Month 12, EVM predicted $1.6M overrun. % complete showed "on track." Which would you trust?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"Knowledge management sounds nice but impractical.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Response: Calculate cost of repeated mistakes. ADAP repeated integration error: $800K. Capturing and applying one lesson would have saved that. ROI clear.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"These enabling processes are not my job, they're management's job.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Response: True, but you'll be affected. Understanding portfolio management helps you understand why your project lost resources. Understanding infrastructure helps you advocate for better tools.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timing considerations: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1 (Technical Management) is dense (Slides 9-20). Budget full 30 minutes. Can't compress.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2 (Enabling) is less familiar to students. Budget 20 minutes, use examples heavily.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ADAP case revisited (Slide 28) can generate discussion. Set 8-minute timer.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 on time: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Condensed: Combine Slides 14-16 (Measurement, Config, Info) into 10 min instead of 15 min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Skip: Slide 17 (Risk revisited) - covered in Session 9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extra time: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demonstration: Show actual DOORS, MS Project, EVM dashboard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Workshop: Give students a scenario, have them create WBS or decision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Extended ADAP: More detailed root cause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7: Poll - "How many have experienced a project like ADAP?" Show of hands.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Interactive - "You're at Gate 2. Architecture doesn't meet cost target. What decision?" Debate go/no-go.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14: Quick exercise - "For your project, what are top 3 TPMs you'd track?" Brainstorm.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Case - "You have 10 projects, 5 engineers. How allocate?" Small groups (5 min).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28: "What one process would have most helped ADAP?" Vote and discuss.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class: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sample WBS (ADAS project, 4 levels)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Create EVM chart with sample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Load decision matrix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TPM dashboard example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Sample lessons learned from automotive project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Optional materials: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project plan (redacted) showing WBS, schedule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EVM tool demo (MS Project or equivalent)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 15288 standard excerpt (processes)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Formative Assessment (During Session):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check after Slide 11: "Calculate SPI and CPI for this scenario" (give numbers)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check after Slide 15: "What baseline type at Month 18?" (Design baseline)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check after Slide 23: "Categorize these 5 projects: Strategic, Operational, or Exploratory?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Summative Assessment (Future):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specific exercise for Session 15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Will be assessed in final exam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Case study analysis (provide scenario, identify process gaps)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successfully understand Session 15 if they can: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List all 21 ISO/IEC 15288 processes in three categories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Explain how management processes enable technical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Apply WBS, EVM, decision frameworks to project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TPMs for a given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Describe CCB process and baseline types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Explain knowledge management cycle and benefits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Apply portfolio prioritization to resource allocation scenarios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Backward Links: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ISO/IEC 15288 introduced, today completes framework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Project and risk management expanded today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10: Decision and quality management deepened today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13: LCC/TCO connects to portfolio management (project valuation)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Forward Links: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16: Emerging trends require adapted management processes (Agile gates, AI model management, digital twin infrastructure)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ISO/IEC/IEEE 15288:2023 (Full standard, all 21 processes)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21500:2021 (Project management guidance)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PMBOK Guide 7th Edition (Project management body of knowledge)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Automotive SPICE v3.1 (Process assessment model)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Books: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"Systems Engineering Management" by Benjamin Blanchard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"Earned Value Management" by Quentin Fleming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"The Knowledge-Creating Company" by Nonaka &amp; Takeuchi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MS Project, Primavera (planning, EVM)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JIRA, Azure DevOps (Agile project management)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Confluence, SharePoint (knowledge management)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END OF SESSION 15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Prepared for: Automotive Systems Engineering (AE ZG517 / AEL ZG517)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Session: 15 of 16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Status: Ready for PPT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Estimated PPT Slides: 28-30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Instructor Preparation Time: 3-4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