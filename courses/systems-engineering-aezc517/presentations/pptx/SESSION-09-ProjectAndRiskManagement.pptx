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9: Project and Risk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Project and Risk Management</a:t>
            </a:r>
          </a:p>
        </p:txBody>
      </p:sp>
      <p:sp>
        <p:nvSpPr>
          <p:cNvPr id="3" name="Subtitle 2"/>
          <p:cNvSpPr>
            <a:spLocks noGrp="1"/>
          </p:cNvSpPr>
          <p:nvPr>
            <p:ph type="subTitle" idx="1"/>
          </p:nvPr>
        </p:nvSpPr>
        <p:spPr/>
        <p:txBody>
          <a:bodyPr/>
          <a:lstStyle/>
          <a:p>
            <a:pPr>
              <a:defRPr sz="2000">
                <a:solidFill>
                  <a:srgbClr val="FFFFFF"/>
                </a:solidFill>
              </a:defRPr>
            </a:pPr>
            <a:r>
              <a:t>Session 9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Welcome to Session 9. Today we're talking about project management and risk management. And I know what some of you are thinking: 'This is a technical course. Why are we talking about management?'</a:t>
            </a:r>
          </a:p>
          <a:p>
            <a:pPr>
              <a:spcAft>
                <a:spcPts val="1000"/>
              </a:spcAft>
              <a:defRPr sz="1800">
                <a:solidFill>
                  <a:srgbClr val="333333"/>
                </a:solidFill>
              </a:defRPr>
            </a:pPr>
            <a:r>
              <a:t>Here's why: The best technical solution in the world is worthless if the project fails, runs out of money, misses deadlines, or encounters unforeseen risks that destroy the program. Technical excellence and management excellence must go together. Today, you'll learn how.</a:t>
            </a:r>
          </a:p>
          <a:p>
            <a:pPr>
              <a:spcAft>
                <a:spcPts val="1000"/>
              </a:spcAft>
              <a:defRPr sz="1800">
                <a:solidFill>
                  <a:srgbClr val="333333"/>
                </a:solidFill>
              </a:defRPr>
            </a:pPr>
            <a:r>
              <a:t>PPT Content:</a:t>
            </a:r>
          </a:p>
          <a:p>
            <a:pPr>
              <a:defRPr sz="1400">
                <a:solidFill>
                  <a:srgbClr val="787878"/>
                </a:solidFill>
                <a:latin typeface="Consolas"/>
              </a:defRPr>
            </a:pPr>
            <a:r>
              <a:t>AUTOMOTIVE SYSTEMS ENGINEERING</a:t>
            </a:r>
            <a:br/>
            <a:r>
              <a:t>AE ZG517 / AEL ZG517</a:t>
            </a:r>
            <a:br/>
            <a:r>
              <a:t>Session 9: Project and Risk Management</a:t>
            </a:r>
            <a:br/>
            <a:br/>
            <a:r>
              <a:t>Instructor: Sajeeth Kumar</a:t>
            </a:r>
            <a:br/>
            <a:r>
              <a:t>Duration: 120 minutes</a:t>
            </a:r>
            <a:br/>
            <a:br/>
            <a:r>
              <a:t>Technical brilliance without project discipline = failure</a:t>
            </a:r>
          </a:p>
          <a:p>
            <a:pPr>
              <a:spcAft>
                <a:spcPts val="1000"/>
              </a:spcAft>
              <a:defRPr sz="1800">
                <a:solidFill>
                  <a:srgbClr val="333333"/>
                </a:solidFill>
              </a:defRPr>
            </a:pPr>
            <a:r>
              <a:t>Learning Outcomes: Setting context for LO1, LO2, LO3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Management Paradox</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Engineering students often see project management as overhead. As bureaucracy getting in the way of real engineering work. But here's the paradox:</a:t>
            </a:r>
          </a:p>
          <a:p>
            <a:pPr>
              <a:spcAft>
                <a:spcPts val="1000"/>
              </a:spcAft>
              <a:defRPr sz="1800">
                <a:solidFill>
                  <a:srgbClr val="333333"/>
                </a:solidFill>
              </a:defRPr>
            </a:pPr>
            <a:r>
              <a:t>Without management discipline, your technical work never sees the light of day. The Denver Airport baggage system? Brilliant technical design. Project management disaster. $560 million over budget, 16 months late, and eventually scrapped.</a:t>
            </a:r>
          </a:p>
          <a:p>
            <a:pPr>
              <a:spcAft>
                <a:spcPts val="1000"/>
              </a:spcAft>
              <a:defRPr sz="1800">
                <a:solidFill>
                  <a:srgbClr val="333333"/>
                </a:solidFill>
              </a:defRPr>
            </a:pPr>
            <a:r>
              <a:t>The Boeing 787 Dreamliner? Revolutionary aircraft. But poor supplier project management led to 3-year delays and $50 billion in losses.</a:t>
            </a:r>
          </a:p>
          <a:p>
            <a:pPr>
              <a:spcAft>
                <a:spcPts val="1000"/>
              </a:spcAft>
              <a:defRPr sz="1800">
                <a:solidFill>
                  <a:srgbClr val="333333"/>
                </a:solidFill>
              </a:defRPr>
            </a:pPr>
            <a:r>
              <a:t>Today's lesson: Project and risk management are not overhead. They're how you ensure your technical work succeeds.</a:t>
            </a:r>
          </a:p>
          <a:p>
            <a:pPr>
              <a:spcAft>
                <a:spcPts val="1000"/>
              </a:spcAft>
              <a:defRPr sz="1800">
                <a:solidFill>
                  <a:srgbClr val="333333"/>
                </a:solidFill>
              </a:defRPr>
            </a:pPr>
            <a:r>
              <a:t>PPT Content:</a:t>
            </a:r>
          </a:p>
          <a:p>
            <a:pPr>
              <a:defRPr sz="1400">
                <a:solidFill>
                  <a:srgbClr val="787878"/>
                </a:solidFill>
                <a:latin typeface="Consolas"/>
              </a:defRPr>
            </a:pPr>
            <a:r>
              <a:t>The Project Management Paradox:</a:t>
            </a:r>
            <a:br/>
            <a:br/>
            <a:r>
              <a:t>PERCEPTION:</a:t>
            </a:r>
            <a:br/>
            <a:r>
              <a:t>• Project management = bureaucracy</a:t>
            </a:r>
            <a:br/>
            <a:r>
              <a:t>• Takes time away from "real" engineering</a:t>
            </a:r>
            <a:br/>
            <a:r>
              <a:t>• Unnecessary overhead</a:t>
            </a:r>
            <a:br/>
            <a:br/>
            <a:r>
              <a:t>REALITY:</a:t>
            </a:r>
            <a:br/>
            <a:r>
              <a:t>• Poor PM destroys technical excellence</a:t>
            </a:r>
            <a:br/>
            <a:r>
              <a:t>• Risk management prevents disasters</a:t>
            </a:r>
            <a:br/>
            <a:r>
              <a:t>• Planning enables execution</a:t>
            </a:r>
            <a:br/>
            <a:br/>
            <a:r>
              <a:t>EXAMPLES OF PM FAILURES:</a:t>
            </a:r>
            <a:br/>
            <a:r>
              <a:t>• Denver Airport Baggage: $560M over budget, scrapped</a:t>
            </a:r>
            <a:br/>
            <a:r>
              <a:t>• Boeing 787: 3-year delay, $50B in losses</a:t>
            </a:r>
            <a:br/>
            <a:r>
              <a:t>• Sydney Opera House: 10 years late, 14x over budget</a:t>
            </a:r>
            <a:br/>
            <a:br/>
            <a:r>
              <a:t>→ Technical skills + Management discipline = Success</a:t>
            </a:r>
          </a:p>
          <a:p>
            <a:pPr>
              <a:spcAft>
                <a:spcPts val="1000"/>
              </a:spcAft>
              <a:defRPr sz="1800">
                <a:solidFill>
                  <a:srgbClr val="333333"/>
                </a:solidFill>
              </a:defRPr>
            </a:pPr>
            <a:r>
              <a:t>Learning Outcomes: LO3 - Understanding SE management criticality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Case Study Teaser - Mars Climate Orbiter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September 23, 1999. NASA's Mars Climate Orbiter approaches Mars after a 9-month journey. It enters the atmosphere to begin orbital insertion. And then... nothing. Silence. The spacecraft is lost.</a:t>
            </a:r>
          </a:p>
          <a:p>
            <a:pPr>
              <a:spcAft>
                <a:spcPts val="1000"/>
              </a:spcAft>
              <a:defRPr sz="1800">
                <a:solidFill>
                  <a:srgbClr val="333333"/>
                </a:solidFill>
              </a:defRPr>
            </a:pPr>
            <a:r>
              <a:t>The cause? A units conversion error. One team used metric. Another used imperial. Nobody caught it. Cost: $327.6 million. Completely preventable with basic project management and risk controls.</a:t>
            </a:r>
          </a:p>
          <a:p>
            <a:pPr>
              <a:spcAft>
                <a:spcPts val="1000"/>
              </a:spcAft>
              <a:defRPr sz="1800">
                <a:solidFill>
                  <a:srgbClr val="333333"/>
                </a:solidFill>
              </a:defRPr>
            </a:pPr>
            <a:r>
              <a:t>But here's the deeper question: This wasn't just a technical error. It was a project management failure. No interface control document. No verification of assumptions. No risk review that caught the units mismatch. The systems engineering processes existed on paper. The project management failed to ensure they were followed.</a:t>
            </a:r>
          </a:p>
          <a:p>
            <a:pPr>
              <a:spcAft>
                <a:spcPts val="1000"/>
              </a:spcAft>
              <a:defRPr sz="1800">
                <a:solidFill>
                  <a:srgbClr val="333333"/>
                </a:solidFill>
              </a:defRPr>
            </a:pPr>
            <a:r>
              <a:t>Keep this in mind as we explore project and risk management today.</a:t>
            </a:r>
          </a:p>
          <a:p>
            <a:pPr>
              <a:spcAft>
                <a:spcPts val="1000"/>
              </a:spcAft>
              <a:defRPr sz="1800">
                <a:solidFill>
                  <a:srgbClr val="333333"/>
                </a:solidFill>
              </a:defRPr>
            </a:pPr>
            <a:r>
              <a:t>PPT Content:</a:t>
            </a:r>
          </a:p>
          <a:p>
            <a:pPr>
              <a:defRPr sz="1400">
                <a:solidFill>
                  <a:srgbClr val="787878"/>
                </a:solidFill>
                <a:latin typeface="Consolas"/>
              </a:defRPr>
            </a:pPr>
            <a:r>
              <a:t>CASE STUDY: Mars Climate Orbiter Loss</a:t>
            </a:r>
            <a:br/>
            <a:br/>
            <a:r>
              <a:t>INCIDENT (Sept 23, 1999):</a:t>
            </a:r>
            <a:br/>
            <a:r>
              <a:t>• $327.6 million spacecraft lost</a:t>
            </a:r>
            <a:br/>
            <a:r>
              <a:t>• Entered Mars atmosphere too low</a:t>
            </a:r>
            <a:br/>
            <a:r>
              <a:t>• Burned up or skipped into space</a:t>
            </a:r>
            <a:br/>
            <a:r>
              <a:t>• Root cause: Units conversion error (metric vs imperial)</a:t>
            </a:r>
            <a:br/>
            <a:br/>
            <a:r>
              <a:t>THE PROJECT MANAGEMENT FAILURES:</a:t>
            </a:r>
            <a:br/>
            <a:r>
              <a:t>✗ No interface control verification</a:t>
            </a:r>
            <a:br/>
            <a:r>
              <a:t>✗ Inadequate communication between teams</a:t>
            </a:r>
            <a:br/>
            <a:r>
              <a:t>✗ Risk of units mismatch not identified</a:t>
            </a:r>
            <a:br/>
            <a:r>
              <a:t>✗ No independent verification checkpoint</a:t>
            </a:r>
            <a:br/>
            <a:r>
              <a:t>✗ Assumptions not documented or validated</a:t>
            </a:r>
            <a:br/>
            <a:br/>
            <a:r>
              <a:t>LESSON:</a:t>
            </a:r>
            <a:br/>
            <a:r>
              <a:t>Technical error, but fundamentally a project management</a:t>
            </a:r>
            <a:br/>
            <a:r>
              <a:t>and risk management failure.</a:t>
            </a:r>
            <a:br/>
            <a:br/>
            <a:r>
              <a:t>→ Brilliant engineering destroyed by poor management</a:t>
            </a:r>
          </a:p>
          <a:p>
            <a:pPr>
              <a:spcAft>
                <a:spcPts val="1000"/>
              </a:spcAft>
              <a:defRPr sz="1800">
                <a:solidFill>
                  <a:srgbClr val="333333"/>
                </a:solidFill>
              </a:defRPr>
            </a:pPr>
            <a:r>
              <a:t>Learning Outcomes: LO1, LO3 - PM/RM failures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Today's Learning Journey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our journey today. We'll start by understanding the relationship between systems engineering and project management—they're partners, not competitors.</a:t>
            </a:r>
          </a:p>
          <a:p>
            <a:pPr>
              <a:spcAft>
                <a:spcPts val="1000"/>
              </a:spcAft>
              <a:defRPr sz="1800">
                <a:solidFill>
                  <a:srgbClr val="333333"/>
                </a:solidFill>
              </a:defRPr>
            </a:pPr>
            <a:r>
              <a:t>Then we dive into technical planning—how to plan SE projects, create work breakdown structures, develop schedules, and allocate resources.</a:t>
            </a:r>
          </a:p>
          <a:p>
            <a:pPr>
              <a:spcAft>
                <a:spcPts val="1000"/>
              </a:spcAft>
              <a:defRPr sz="1800">
                <a:solidFill>
                  <a:srgbClr val="333333"/>
                </a:solidFill>
              </a:defRPr>
            </a:pPr>
            <a:r>
              <a:t>Next, we explore risk management—identifying, assessing, treating, and monitoring risks throughout the system lifecycle.</a:t>
            </a:r>
          </a:p>
          <a:p>
            <a:pPr>
              <a:spcAft>
                <a:spcPts val="1000"/>
              </a:spcAft>
              <a:defRPr sz="1800">
                <a:solidFill>
                  <a:srgbClr val="333333"/>
                </a:solidFill>
              </a:defRPr>
            </a:pPr>
            <a:r>
              <a:t>Finally, we bring it together with automotive applications—how this applies to your real-world vehicle development programs.</a:t>
            </a:r>
          </a:p>
          <a:p>
            <a:pPr>
              <a:spcAft>
                <a:spcPts val="1000"/>
              </a:spcAft>
              <a:defRPr sz="1800">
                <a:solidFill>
                  <a:srgbClr val="333333"/>
                </a:solidFill>
              </a:defRPr>
            </a:pPr>
            <a:r>
              <a:t>By the end, you'll understand that project and risk management aren't overhead—they're essential SE practices.</a:t>
            </a:r>
          </a:p>
          <a:p>
            <a:pPr>
              <a:spcAft>
                <a:spcPts val="1000"/>
              </a:spcAft>
              <a:defRPr sz="1800">
                <a:solidFill>
                  <a:srgbClr val="333333"/>
                </a:solidFill>
              </a:defRPr>
            </a:pPr>
            <a:r>
              <a:t>PPT Content:</a:t>
            </a:r>
          </a:p>
          <a:p>
            <a:pPr>
              <a:defRPr sz="1400">
                <a:solidFill>
                  <a:srgbClr val="787878"/>
                </a:solidFill>
                <a:latin typeface="Consolas"/>
              </a:defRPr>
            </a:pPr>
            <a:r>
              <a:t>Today's Journey:</a:t>
            </a:r>
            <a:br/>
            <a:br/>
            <a:r>
              <a:t>1. SE &amp; Project Management (15 min)</a:t>
            </a:r>
            <a:br/>
            <a:r>
              <a:t>   • Relationship and integration</a:t>
            </a:r>
            <a:br/>
            <a:r>
              <a:t>   • Technical planning vs program management</a:t>
            </a:r>
            <a:br/>
            <a:br/>
            <a:r>
              <a:t>2. Technical Planning Processes (25 min)</a:t>
            </a:r>
            <a:br/>
            <a:r>
              <a:t>   • Work breakdown structures</a:t>
            </a:r>
            <a:br/>
            <a:r>
              <a:t>   • Scheduling and resource allocation</a:t>
            </a:r>
            <a:br/>
            <a:r>
              <a:t>   • Project assessment and control</a:t>
            </a:r>
            <a:br/>
            <a:br/>
            <a:r>
              <a:t>3. Risk Management (30 min)</a:t>
            </a:r>
            <a:br/>
            <a:r>
              <a:t>   • Risk identification and analysis</a:t>
            </a:r>
            <a:br/>
            <a:r>
              <a:t>   • Risk treatment and monitoring</a:t>
            </a:r>
            <a:br/>
            <a:r>
              <a:t>   • Opportunity management</a:t>
            </a:r>
            <a:br/>
            <a:br/>
            <a:r>
              <a:t>4. Automotive Applications (15 min)</a:t>
            </a:r>
            <a:br/>
            <a:r>
              <a:t>   • Vehicle development programs</a:t>
            </a:r>
            <a:br/>
            <a:r>
              <a:t>   • Integration with APQP/VDA-RGA</a:t>
            </a:r>
            <a:br/>
            <a:br/>
            <a:r>
              <a:t>5. Discussion &amp; Q&amp;A (15 min)</a:t>
            </a:r>
            <a:br/>
            <a:br/>
            <a:r>
              <a:t>Goal: Master project and risk management as SE practices</a:t>
            </a:r>
          </a:p>
          <a:p>
            <a:pPr>
              <a:spcAft>
                <a:spcPts val="1000"/>
              </a:spcAft>
              <a:defRPr sz="1800">
                <a:solidFill>
                  <a:srgbClr val="333333"/>
                </a:solidFill>
              </a:defRPr>
            </a:pPr>
            <a:r>
              <a:t>Learning Outcomes: LO1, LO2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Ground Rules for Technical Management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Before we begin, three ground rules:</a:t>
            </a:r>
          </a:p>
          <a:p>
            <a:pPr>
              <a:spcAft>
                <a:spcPts val="1000"/>
              </a:spcAft>
              <a:defRPr sz="1800">
                <a:solidFill>
                  <a:srgbClr val="333333"/>
                </a:solidFill>
              </a:defRPr>
            </a:pPr>
            <a:r>
              <a:t>First, we're focusing on technical planning and management, not general program management. This is about managing the SE work—requirements, design, integration—not HR or procurement.</a:t>
            </a:r>
          </a:p>
          <a:p>
            <a:pPr>
              <a:spcAft>
                <a:spcPts val="1000"/>
              </a:spcAft>
              <a:defRPr sz="1800">
                <a:solidFill>
                  <a:srgbClr val="333333"/>
                </a:solidFill>
              </a:defRPr>
            </a:pPr>
            <a:r>
              <a:t>Second, these aren't theoretical frameworks. We'll tie everything to ISO/IEC 15288 and automotive industry standards like APQP and VDA.</a:t>
            </a:r>
          </a:p>
          <a:p>
            <a:pPr>
              <a:spcAft>
                <a:spcPts val="1000"/>
              </a:spcAft>
              <a:defRPr sz="1800">
                <a:solidFill>
                  <a:srgbClr val="333333"/>
                </a:solidFill>
              </a:defRPr>
            </a:pPr>
            <a:r>
              <a:t>Third, think about how these practices would have prevented the failures we've studied—Apollo 13, Therac-25, Toyota, Mars Orbiter. Management discipline prevents technical disasters.</a:t>
            </a:r>
          </a:p>
          <a:p>
            <a:pPr>
              <a:spcAft>
                <a:spcPts val="1000"/>
              </a:spcAft>
              <a:defRPr sz="1800">
                <a:solidFill>
                  <a:srgbClr val="333333"/>
                </a:solidFill>
              </a:defRPr>
            </a:pPr>
            <a:r>
              <a:t>Ready? Let's build your project and risk management expertise.</a:t>
            </a:r>
          </a:p>
          <a:p>
            <a:pPr>
              <a:spcAft>
                <a:spcPts val="1000"/>
              </a:spcAft>
              <a:defRPr sz="1800">
                <a:solidFill>
                  <a:srgbClr val="333333"/>
                </a:solidFill>
              </a:defRPr>
            </a:pPr>
            <a:r>
              <a:t>PPT Content:</a:t>
            </a:r>
          </a:p>
          <a:p>
            <a:pPr>
              <a:defRPr sz="1400">
                <a:solidFill>
                  <a:srgbClr val="787878"/>
                </a:solidFill>
                <a:latin typeface="Consolas"/>
              </a:defRPr>
            </a:pPr>
            <a:r>
              <a:t>Ground Rules:</a:t>
            </a:r>
            <a:br/>
            <a:br/>
            <a:r>
              <a:t>1. FOCUS: Technical Planning &amp; Management</a:t>
            </a:r>
            <a:br/>
            <a:r>
              <a:t>   • Not general program/business management</a:t>
            </a:r>
            <a:br/>
            <a:r>
              <a:t>   • SE-specific planning, scheduling, risk management</a:t>
            </a:r>
            <a:br/>
            <a:r>
              <a:t>   • How to manage the technical work of SE</a:t>
            </a:r>
            <a:br/>
            <a:br/>
            <a:r>
              <a:t>2. STANDARDS-BASED APPROACH</a:t>
            </a:r>
            <a:br/>
            <a:r>
              <a:t>   • ISO/IEC 15288 Technical Management Processes</a:t>
            </a:r>
            <a:br/>
            <a:r>
              <a:t>   • Automotive standards (APQP, VDA-RGA, ISO 26262)</a:t>
            </a:r>
            <a:br/>
            <a:r>
              <a:t>   • Industry best practices</a:t>
            </a:r>
            <a:br/>
            <a:br/>
            <a:r>
              <a:t>3. PREVENTION MINDSET</a:t>
            </a:r>
            <a:br/>
            <a:r>
              <a:t>   • Ask: "How would this have prevented past failures?</a:t>
            </a:r>
            <a:br/>
            <a:r>
              <a:t>   • Management prevents technical disasters</a:t>
            </a:r>
            <a:br/>
            <a:r>
              <a:t>   • Discipline enables innovation</a:t>
            </a:r>
            <a:br/>
            <a:br/>
            <a:r>
              <a:t>Questions to Consider:</a:t>
            </a:r>
            <a:br/>
            <a:r>
              <a:t>• How does project planning enable technical work?</a:t>
            </a:r>
            <a:br/>
            <a:r>
              <a:t>• What risks threaten your system success?</a:t>
            </a:r>
            <a:br/>
            <a:r>
              <a:t>• How do you balance planning with execution?</a:t>
            </a:r>
          </a:p>
          <a:p>
            <a:pPr>
              <a:spcAft>
                <a:spcPts val="1000"/>
              </a:spcAft>
              <a:defRPr sz="1800">
                <a:solidFill>
                  <a:srgbClr val="333333"/>
                </a:solidFill>
              </a:defRPr>
            </a:pPr>
            <a:r>
              <a:t>Learning Outcomes: LO1, LO3 - Framework for SE management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Stakes - What Poor Management Costs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talk stakes. What does poor project and risk management cost in automotive?</a:t>
            </a:r>
          </a:p>
          <a:p>
            <a:pPr>
              <a:spcAft>
                <a:spcPts val="1000"/>
              </a:spcAft>
              <a:defRPr sz="1800">
                <a:solidFill>
                  <a:srgbClr val="333333"/>
                </a:solidFill>
              </a:defRPr>
            </a:pPr>
            <a:r>
              <a:t>Financial: Average automotive recall costs $500M-$1B. A single failed vehicle program can cost $5-10 billion in development plus opportunity costs.</a:t>
            </a:r>
          </a:p>
          <a:p>
            <a:pPr>
              <a:spcAft>
                <a:spcPts val="1000"/>
              </a:spcAft>
              <a:defRPr sz="1800">
                <a:solidFill>
                  <a:srgbClr val="333333"/>
                </a:solidFill>
              </a:defRPr>
            </a:pPr>
            <a:r>
              <a:t>Schedule: Each month of delay costs millions in lost revenue and keeps your product from market while competitors advance.</a:t>
            </a:r>
          </a:p>
          <a:p>
            <a:pPr>
              <a:spcAft>
                <a:spcPts val="1000"/>
              </a:spcAft>
              <a:defRPr sz="1800">
                <a:solidFill>
                  <a:srgbClr val="333333"/>
                </a:solidFill>
              </a:defRPr>
            </a:pPr>
            <a:r>
              <a:t>Technical Debt: Skipping planning and risk management creates technical debt—shortcuts taken that require expensive rework later.</a:t>
            </a:r>
          </a:p>
          <a:p>
            <a:pPr>
              <a:spcAft>
                <a:spcPts val="1000"/>
              </a:spcAft>
              <a:defRPr sz="1800">
                <a:solidFill>
                  <a:srgbClr val="333333"/>
                </a:solidFill>
              </a:defRPr>
            </a:pPr>
            <a:r>
              <a:t>Career Impact: Major project failures end careers and damage reputations for years.</a:t>
            </a:r>
          </a:p>
          <a:p>
            <a:pPr>
              <a:spcAft>
                <a:spcPts val="1000"/>
              </a:spcAft>
              <a:defRPr sz="1800">
                <a:solidFill>
                  <a:srgbClr val="333333"/>
                </a:solidFill>
              </a:defRPr>
            </a:pPr>
            <a:r>
              <a:t>But here's the good news: Rigorous project and risk management dramatically improves success rates. Studies show well-managed projects are 3-4x more likely to succeed. That's what we're learning today.</a:t>
            </a:r>
          </a:p>
          <a:p>
            <a:pPr>
              <a:spcAft>
                <a:spcPts val="1000"/>
              </a:spcAft>
              <a:defRPr sz="1800">
                <a:solidFill>
                  <a:srgbClr val="333333"/>
                </a:solidFill>
              </a:defRPr>
            </a:pPr>
            <a:r>
              <a:t>PPT Content:</a:t>
            </a:r>
          </a:p>
          <a:p>
            <a:pPr>
              <a:defRPr sz="1400">
                <a:solidFill>
                  <a:srgbClr val="787878"/>
                </a:solidFill>
                <a:latin typeface="Consolas"/>
              </a:defRPr>
            </a:pPr>
            <a:r>
              <a:t>THE STAKES: Cost of Poor Project/Risk Management</a:t>
            </a:r>
            <a:br/>
            <a:br/>
            <a:r>
              <a:t>AUTOMOTIVE PROJECT FAILURES:</a:t>
            </a:r>
            <a:br/>
            <a:r>
              <a:t>• Failed vehicle program: $5-10B in development costs</a:t>
            </a:r>
            <a:br/>
            <a:r>
              <a:t>• Each month delay: $10-50M in lost revenue</a:t>
            </a:r>
            <a:br/>
            <a:r>
              <a:t>• Average recall: $500M-$1B</a:t>
            </a:r>
            <a:br/>
            <a:r>
              <a:t>• Technical debt: 2-5x rework costs</a:t>
            </a:r>
            <a:br/>
            <a:br/>
            <a:r>
              <a:t>INDUSTRY STATISTICS:</a:t>
            </a:r>
            <a:br/>
            <a:r>
              <a:t>• 70% of large projects fail to meet objectives</a:t>
            </a:r>
            <a:br/>
            <a:r>
              <a:t>• Average cost overrun: 189% of budget</a:t>
            </a:r>
            <a:br/>
            <a:r>
              <a:t>• Average schedule delay: 222% of timeline</a:t>
            </a:r>
            <a:br/>
            <a:r>
              <a:t>• Only 2.5% of companies complete 100% of projects successfully</a:t>
            </a:r>
            <a:br/>
            <a:br/>
            <a:r>
              <a:t>ROOT CAUSES OF FAILURE:</a:t>
            </a:r>
            <a:br/>
            <a:r>
              <a:t>1. Poor planning and estimation (39%)</a:t>
            </a:r>
            <a:br/>
            <a:r>
              <a:t>2. Inadequate risk management (28%)</a:t>
            </a:r>
            <a:br/>
            <a:r>
              <a:t>3. Scope creep and change control (25%)</a:t>
            </a:r>
            <a:br/>
            <a:r>
              <a:t>4. Resource constraints (21%)</a:t>
            </a:r>
            <a:br/>
            <a:r>
              <a:t>5. Poor communication (19%)</a:t>
            </a:r>
            <a:br/>
            <a:br/>
            <a:r>
              <a:t>THE GOOD NEWS:</a:t>
            </a:r>
            <a:br/>
            <a:r>
              <a:t>• Well-managed projects: 3-4x higher success rate</a:t>
            </a:r>
            <a:br/>
            <a:r>
              <a:t>• Risk management ROI: $1 spent saves $3-7 later</a:t>
            </a:r>
            <a:br/>
            <a:r>
              <a:t>• Early planning reduces rework by 50-80%</a:t>
            </a:r>
            <a:br/>
            <a:br/>
            <a:r>
              <a:t>→ Management discipline is professional engineering practice</a:t>
            </a:r>
          </a:p>
          <a:p>
            <a:pPr>
              <a:spcAft>
                <a:spcPts val="1000"/>
              </a:spcAft>
              <a:defRPr sz="1800">
                <a:solidFill>
                  <a:srgbClr val="333333"/>
                </a:solidFill>
              </a:defRPr>
            </a:pPr>
            <a:r>
              <a:t>Learning Outcomes: LO3 - Understanding management value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ISO/IEC 15288 Technical Management Processes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ISO/IEC 15288—the systems engineering lifecycle standard we've referenced throughout this course—defines four Technical Management Processes. These are the management processes specifically for SE work:</a:t>
            </a:r>
          </a:p>
          <a:p>
            <a:pPr>
              <a:spcAft>
                <a:spcPts val="1000"/>
              </a:spcAft>
              <a:defRPr sz="1800">
                <a:solidFill>
                  <a:srgbClr val="333333"/>
                </a:solidFill>
              </a:defRPr>
            </a:pPr>
            <a:r>
              <a:t>1. Project Planning Process — Define and maintain plans for SE activities</a:t>
            </a:r>
          </a:p>
          <a:p>
            <a:pPr>
              <a:spcAft>
                <a:spcPts val="1000"/>
              </a:spcAft>
              <a:defRPr sz="1800">
                <a:solidFill>
                  <a:srgbClr val="333333"/>
                </a:solidFill>
              </a:defRPr>
            </a:pPr>
            <a:r>
              <a:t>2. Project Assessment and Control Process — Monitor progress, identify issues, take corrective action</a:t>
            </a:r>
          </a:p>
          <a:p>
            <a:pPr>
              <a:spcAft>
                <a:spcPts val="1000"/>
              </a:spcAft>
              <a:defRPr sz="1800">
                <a:solidFill>
                  <a:srgbClr val="333333"/>
                </a:solidFill>
              </a:defRPr>
            </a:pPr>
            <a:r>
              <a:t>3. Decision Management Process — Make informed technical decisions throughout the lifecycle</a:t>
            </a:r>
          </a:p>
          <a:p>
            <a:pPr>
              <a:spcAft>
                <a:spcPts val="1000"/>
              </a:spcAft>
              <a:defRPr sz="1800">
                <a:solidFill>
                  <a:srgbClr val="333333"/>
                </a:solidFill>
              </a:defRPr>
            </a:pPr>
            <a:r>
              <a:t>4. Risk Management Process — Identify and manage risks and opportunities</a:t>
            </a:r>
          </a:p>
          <a:p>
            <a:pPr>
              <a:spcAft>
                <a:spcPts val="1000"/>
              </a:spcAft>
              <a:defRPr sz="1800">
                <a:solidFill>
                  <a:srgbClr val="333333"/>
                </a:solidFill>
              </a:defRPr>
            </a:pPr>
            <a:r>
              <a:t>Today we focus on processes 1, 2, and 4. Next session, we'll deep-dive into Decision Management and add Quality Management. But notice: these aren't separate from SE. These ARE systems engineering processes. Managing the work is part of doing the work.</a:t>
            </a:r>
          </a:p>
          <a:p>
            <a:pPr>
              <a:spcAft>
                <a:spcPts val="1000"/>
              </a:spcAft>
              <a:defRPr sz="1800">
                <a:solidFill>
                  <a:srgbClr val="333333"/>
                </a:solidFill>
              </a:defRPr>
            </a:pPr>
            <a:r>
              <a:t>PPT Content:</a:t>
            </a:r>
          </a:p>
          <a:p>
            <a:pPr>
              <a:defRPr sz="1400">
                <a:solidFill>
                  <a:srgbClr val="787878"/>
                </a:solidFill>
                <a:latin typeface="Consolas"/>
              </a:defRPr>
            </a:pPr>
            <a:r>
              <a:t>ISO/IEC 15288 TECHNICAL MANAGEMENT PROCESSES</a:t>
            </a:r>
            <a:br/>
            <a:br/>
            <a:r>
              <a:t>Four Technical Management Processes:</a:t>
            </a:r>
            <a:br/>
            <a:br/>
            <a:r>
              <a:t>1. PROJECT PLANNING PROCESS</a:t>
            </a:r>
            <a:br/>
            <a:r>
              <a:t>   Purpose: Produce and coordinate effective plans</a:t>
            </a:r>
            <a:br/>
            <a:r>
              <a:t>   • Define project scope and objectives</a:t>
            </a:r>
            <a:br/>
            <a:r>
              <a:t>   • Develop schedules, budgets, resources</a:t>
            </a:r>
            <a:br/>
            <a:r>
              <a:t>   • Create work breakdown structure</a:t>
            </a:r>
            <a:br/>
            <a:r>
              <a:t>   • Plan integration and verification activities</a:t>
            </a:r>
            <a:br/>
            <a:br/>
            <a:r>
              <a:t>2. PROJECT ASSESSMENT AND CONTROL PROCESS</a:t>
            </a:r>
            <a:br/>
            <a:r>
              <a:t>   Purpose: Assess progress and control execution</a:t>
            </a:r>
            <a:br/>
            <a:r>
              <a:t>   • Monitor technical progress</a:t>
            </a:r>
            <a:br/>
            <a:r>
              <a:t>   • Identify deviations and issues</a:t>
            </a:r>
            <a:br/>
            <a:r>
              <a:t>   • Take corrective actions</a:t>
            </a:r>
            <a:br/>
            <a:r>
              <a:t>   • Report status to stakeholders</a:t>
            </a:r>
            <a:br/>
            <a:br/>
            <a:r>
              <a:t>3. DECISION MANAGEMENT PROCESS (Session 10)</a:t>
            </a:r>
            <a:br/>
            <a:r>
              <a:t>   Purpose: Make informed technical decisions</a:t>
            </a:r>
            <a:br/>
            <a:r>
              <a:t>   • Identify decision needs</a:t>
            </a:r>
            <a:br/>
            <a:r>
              <a:t>   • Analyze alternatives</a:t>
            </a:r>
            <a:br/>
            <a:r>
              <a:t>   • Select preferred solutions</a:t>
            </a:r>
            <a:br/>
            <a:br/>
            <a:r>
              <a:t>4. RISK MANAGEMENT PROCESS</a:t>
            </a:r>
            <a:br/>
            <a:r>
              <a:t>   Purpose: Identify and manage risks/opportunities</a:t>
            </a:r>
            <a:br/>
            <a:r>
              <a:t>   • Risk identification and analysis</a:t>
            </a:r>
            <a:br/>
            <a:r>
              <a:t>   • Risk treatment planning</a:t>
            </a:r>
            <a:br/>
            <a:r>
              <a:t>   • Monitor and control risks</a:t>
            </a:r>
            <a:br/>
            <a:br/>
            <a:r>
              <a:t>→ These are not overhead. These ARE systems engineering.</a:t>
            </a:r>
          </a:p>
          <a:p>
            <a:pPr>
              <a:spcAft>
                <a:spcPts val="1000"/>
              </a:spcAft>
              <a:defRPr sz="1800">
                <a:solidFill>
                  <a:srgbClr val="333333"/>
                </a:solidFill>
              </a:defRPr>
            </a:pPr>
            <a:r>
              <a:t>Learning Outcomes: LO1 - SE management framework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Project Planning Process - Overview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dive into Project Planning. The purpose of this process is simple: Produce and maintain plans that enable the SE work to be performed effectively.</a:t>
            </a:r>
          </a:p>
          <a:p>
            <a:pPr>
              <a:spcAft>
                <a:spcPts val="1000"/>
              </a:spcAft>
              <a:defRPr sz="1800">
                <a:solidFill>
                  <a:srgbClr val="333333"/>
                </a:solidFill>
              </a:defRPr>
            </a:pPr>
            <a:r>
              <a:t>Notice what this means: You're not planning everything. You're planning the technical work—the systems engineering activities. You're making sure requirements engineering happens, design happens, integration happens, verification happens—on time, with the right people and resources.</a:t>
            </a:r>
          </a:p>
          <a:p>
            <a:pPr>
              <a:spcAft>
                <a:spcPts val="1000"/>
              </a:spcAft>
              <a:defRPr sz="1800">
                <a:solidFill>
                  <a:srgbClr val="333333"/>
                </a:solidFill>
              </a:defRPr>
            </a:pPr>
            <a:r>
              <a:t>Project planning in SE has five key activities. Let's explore each one.</a:t>
            </a:r>
          </a:p>
          <a:p>
            <a:pPr>
              <a:spcAft>
                <a:spcPts val="1000"/>
              </a:spcAft>
              <a:defRPr sz="1800">
                <a:solidFill>
                  <a:srgbClr val="333333"/>
                </a:solidFill>
              </a:defRPr>
            </a:pPr>
            <a:r>
              <a:t>PPT Content:</a:t>
            </a:r>
          </a:p>
          <a:p>
            <a:pPr>
              <a:defRPr sz="1400">
                <a:solidFill>
                  <a:srgbClr val="787878"/>
                </a:solidFill>
                <a:latin typeface="Consolas"/>
              </a:defRPr>
            </a:pPr>
            <a:r>
              <a:t>PROJECT PLANNING PROCESS</a:t>
            </a:r>
            <a:br/>
            <a:br/>
            <a:r>
              <a:t>PURPOSE:</a:t>
            </a:r>
            <a:br/>
            <a:r>
              <a:t>Produce and maintain plans that enable the SE work</a:t>
            </a:r>
            <a:br/>
            <a:r>
              <a:t>to be performed effectively" (ISO/IEC 15288)</a:t>
            </a:r>
            <a:br/>
            <a:br/>
            <a:r>
              <a:t>KEY ACTIVITIES:</a:t>
            </a:r>
            <a:br/>
            <a:br/>
            <a:r>
              <a:t>1. DEFINE PROJECT SCOPE</a:t>
            </a:r>
            <a:br/>
            <a:r>
              <a:t>   • Objectives and success criteria</a:t>
            </a:r>
            <a:br/>
            <a:r>
              <a:t>   • System boundary and lifecycle scope</a:t>
            </a:r>
            <a:br/>
            <a:r>
              <a:t>   • Stakeholder needs and expectations</a:t>
            </a:r>
            <a:br/>
            <a:r>
              <a:t>   • Constraints and assumptions</a:t>
            </a:r>
            <a:br/>
            <a:br/>
            <a:r>
              <a:t>2. DEVELOP WORK BREAKDOWN STRUCTURE (WBS)</a:t>
            </a:r>
            <a:br/>
            <a:r>
              <a:t>   • Decompose work into manageable elements</a:t>
            </a:r>
            <a:br/>
            <a:r>
              <a:t>   • Align with system architecture</a:t>
            </a:r>
            <a:br/>
            <a:r>
              <a:t>   • Define deliverables and work packages</a:t>
            </a:r>
            <a:br/>
            <a:br/>
            <a:r>
              <a:t>3. CREATE PROJECT SCHEDULE</a:t>
            </a:r>
            <a:br/>
            <a:r>
              <a:t>   • Sequence activities</a:t>
            </a:r>
            <a:br/>
            <a:r>
              <a:t>   • Estimate durations</a:t>
            </a:r>
            <a:br/>
            <a:r>
              <a:t>   • Identify dependencies and critical path</a:t>
            </a:r>
            <a:br/>
            <a:r>
              <a:t>   • Allocate milestones and gates</a:t>
            </a:r>
            <a:br/>
            <a:br/>
            <a:r>
              <a:t>4. ALLOCATE RESOURCES</a:t>
            </a:r>
            <a:br/>
            <a:r>
              <a:t>   • People (skills, roles, availability)</a:t>
            </a:r>
            <a:br/>
            <a:r>
              <a:t>   • Budget and funding</a:t>
            </a:r>
            <a:br/>
            <a:r>
              <a:t>   • Tools, facilities, equipment</a:t>
            </a:r>
            <a:br/>
            <a:r>
              <a:t>   • Information and data</a:t>
            </a:r>
            <a:br/>
            <a:br/>
            <a:r>
              <a:t>5. PLAN INTEGRATION &amp; INFRASTRUCTURE</a:t>
            </a:r>
            <a:br/>
            <a:r>
              <a:t>   • Technical planning for integration</a:t>
            </a:r>
            <a:br/>
            <a:r>
              <a:t>   • V&amp;V planning</a:t>
            </a:r>
            <a:br/>
            <a:r>
              <a:t>   • Configuration management</a:t>
            </a:r>
            <a:br/>
            <a:r>
              <a:t>   • Information management</a:t>
            </a:r>
            <a:br/>
            <a:br/>
            <a:r>
              <a:t>→ Planning is continuous, not one-time</a:t>
            </a:r>
          </a:p>
          <a:p>
            <a:pPr>
              <a:spcAft>
                <a:spcPts val="1000"/>
              </a:spcAft>
              <a:defRPr sz="1800">
                <a:solidFill>
                  <a:srgbClr val="333333"/>
                </a:solidFill>
              </a:defRPr>
            </a:pPr>
            <a:r>
              <a:t>Learning Outcomes: LO1 - Project planning fundamentals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Work Breakdown Structure (WBS) - Foundation of Planning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Work Breakdown Structure is the foundation of all project planning. It's a hierarchical decomposition of the total work to be performed.</a:t>
            </a:r>
          </a:p>
          <a:p>
            <a:pPr>
              <a:spcAft>
                <a:spcPts val="1000"/>
              </a:spcAft>
              <a:defRPr sz="1800">
                <a:solidFill>
                  <a:srgbClr val="333333"/>
                </a:solidFill>
              </a:defRPr>
            </a:pPr>
            <a:r>
              <a:t>Here's the key: The WBS should align with your system architecture. If your system has these subsystems—powertrain, chassis, body, electrical—then your WBS should reflect that structure. This creates natural alignment between what you're building and how you're organizing the work.</a:t>
            </a:r>
          </a:p>
          <a:p>
            <a:pPr>
              <a:spcAft>
                <a:spcPts val="1000"/>
              </a:spcAft>
              <a:defRPr sz="1800">
                <a:solidFill>
                  <a:srgbClr val="333333"/>
                </a:solidFill>
              </a:defRPr>
            </a:pPr>
            <a:r>
              <a:t>Let me show you an automotive example. Top level: Complete vehicle system. Second level: Major subsystems. Third level: Components and assemblies. Fourth level: Work packages—the actual tasks assigned to teams.</a:t>
            </a:r>
          </a:p>
          <a:p>
            <a:pPr>
              <a:spcAft>
                <a:spcPts val="1000"/>
              </a:spcAft>
              <a:defRPr sz="1800">
                <a:solidFill>
                  <a:srgbClr val="333333"/>
                </a:solidFill>
              </a:defRPr>
            </a:pPr>
            <a:r>
              <a:t>Each WBS element should have clear deliverables, acceptance criteria, and responsible owners. This is how you ensure nothing falls through the cracks.</a:t>
            </a:r>
          </a:p>
          <a:p>
            <a:pPr>
              <a:spcAft>
                <a:spcPts val="1000"/>
              </a:spcAft>
              <a:defRPr sz="1800">
                <a:solidFill>
                  <a:srgbClr val="333333"/>
                </a:solidFill>
              </a:defRPr>
            </a:pPr>
            <a:r>
              <a:t>PPT Content:</a:t>
            </a:r>
          </a:p>
          <a:p>
            <a:pPr>
              <a:defRPr sz="1400">
                <a:solidFill>
                  <a:srgbClr val="787878"/>
                </a:solidFill>
                <a:latin typeface="Consolas"/>
              </a:defRPr>
            </a:pPr>
            <a:r>
              <a:t>WORK BREAKDOWN STRUCTURE (WBS)</a:t>
            </a:r>
            <a:br/>
            <a:br/>
            <a:r>
              <a:t>DEFINITION:</a:t>
            </a:r>
            <a:br/>
            <a:r>
              <a:t>Hierarchical decomposition of total project work</a:t>
            </a:r>
            <a:br/>
            <a:r>
              <a:t>into manageable, measurable elements</a:t>
            </a:r>
            <a:br/>
            <a:br/>
            <a:r>
              <a:t>PRINCIPLES:</a:t>
            </a:r>
            <a:br/>
            <a:r>
              <a:t>✓ Align with system architecture</a:t>
            </a:r>
            <a:br/>
            <a:r>
              <a:t>✓ 100% rule: WBS includes 100% of work, nothing more</a:t>
            </a:r>
            <a:br/>
            <a:r>
              <a:t>✓ Mutually exclusive: No overlap between elements</a:t>
            </a:r>
            <a:br/>
            <a:r>
              <a:t>✓ Deliverable-oriented: Each element produces something</a:t>
            </a:r>
            <a:br/>
            <a:r>
              <a:t>✓ Manageable size: Work packages 1-2 weeks effort</a:t>
            </a:r>
            <a:br/>
            <a:br/>
            <a:r>
              <a:t>AUTOMOTIVE EXAMPLE: Electric Vehicle Development</a:t>
            </a:r>
            <a:br/>
            <a:br/>
            <a:r>
              <a:t>Level 1: Complete EV System</a:t>
            </a:r>
            <a:br/>
            <a:r>
              <a:t>├─ Level 2: Powertrain System</a:t>
            </a:r>
            <a:br/>
            <a:r>
              <a:t>│  ├─ Level 3: Battery System</a:t>
            </a:r>
            <a:br/>
            <a:r>
              <a:t>│  │  ├─ Level 4: Cell design &amp; validation (Work Package)</a:t>
            </a:r>
            <a:br/>
            <a:r>
              <a:t>│  │  ├─ Level 4: BMS hardware development (Work Package)</a:t>
            </a:r>
            <a:br/>
            <a:r>
              <a:t>│  │  └─ Level 4: Thermal management integration (Work Package)</a:t>
            </a:r>
            <a:br/>
            <a:r>
              <a:t>│  ├─ Level 3: Electric Motor System</a:t>
            </a:r>
            <a:br/>
            <a:r>
              <a:t>│  └─ Level 3: Power Electronics</a:t>
            </a:r>
            <a:br/>
            <a:r>
              <a:t>├─ Level 2: Chassis System</a:t>
            </a:r>
            <a:br/>
            <a:r>
              <a:t>├─ Level 2: Body &amp; Interior</a:t>
            </a:r>
            <a:br/>
            <a:r>
              <a:t>└─ Level 2: Electrical/Electronic Architecture</a:t>
            </a:r>
            <a:br/>
            <a:br/>
            <a:r>
              <a:t>EACH WBS ELEMENT SHOULD DEFINE:</a:t>
            </a:r>
            <a:br/>
            <a:r>
              <a:t>• Deliverables (what is produced)</a:t>
            </a:r>
            <a:br/>
            <a:r>
              <a:t>• Acceptance criteria (how we know it's done)</a:t>
            </a:r>
            <a:br/>
            <a:r>
              <a:t>• Resources required (who, what, cost)</a:t>
            </a:r>
            <a:br/>
            <a:r>
              <a:t>• Dependencies (what it needs from others)</a:t>
            </a:r>
            <a:br/>
            <a:r>
              <a:t>• Owner/Responsible party</a:t>
            </a:r>
            <a:br/>
            <a:br/>
            <a:r>
              <a:t>→ WBS drives scheduling, budgeting, resource allocation</a:t>
            </a:r>
          </a:p>
          <a:p>
            <a:pPr>
              <a:spcAft>
                <a:spcPts val="1000"/>
              </a:spcAft>
              <a:defRPr sz="1800">
                <a:solidFill>
                  <a:srgbClr val="333333"/>
                </a:solidFill>
              </a:defRPr>
            </a:pPr>
            <a:r>
              <a:t>Learning Outcomes: LO1, LO2 - WBS for SE projects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Scheduling - Sequencing and Dependencies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Once you have your WBS, you create the schedule. This means sequencing activities, estimating durations, and identifying dependencies.</a:t>
            </a:r>
          </a:p>
          <a:p>
            <a:pPr>
              <a:spcAft>
                <a:spcPts val="1000"/>
              </a:spcAft>
              <a:defRPr sz="1800">
                <a:solidFill>
                  <a:srgbClr val="333333"/>
                </a:solidFill>
              </a:defRPr>
            </a:pPr>
            <a:r>
              <a:t>Dependencies are critical. You can't verify requirements before you've captured them. You can't integrate subsystems before they're designed. These are called precedence relationships.</a:t>
            </a:r>
          </a:p>
          <a:p>
            <a:pPr>
              <a:spcAft>
                <a:spcPts val="1000"/>
              </a:spcAft>
              <a:defRPr sz="1800">
                <a:solidFill>
                  <a:srgbClr val="333333"/>
                </a:solidFill>
              </a:defRPr>
            </a:pPr>
            <a:r>
              <a:t>Three key scheduling concepts you must know:</a:t>
            </a:r>
          </a:p>
          <a:p>
            <a:pPr>
              <a:spcAft>
                <a:spcPts val="1000"/>
              </a:spcAft>
              <a:defRPr sz="1800">
                <a:solidFill>
                  <a:srgbClr val="333333"/>
                </a:solidFill>
              </a:defRPr>
            </a:pPr>
            <a:r>
              <a:t>1. Critical Path — The longest sequence of dependent activities. This determines your minimum project duration. Delay anything on the critical path, and you delay the whole project.</a:t>
            </a:r>
          </a:p>
          <a:p>
            <a:pPr>
              <a:spcAft>
                <a:spcPts val="1000"/>
              </a:spcAft>
              <a:defRPr sz="1800">
                <a:solidFill>
                  <a:srgbClr val="333333"/>
                </a:solidFill>
              </a:defRPr>
            </a:pPr>
            <a:r>
              <a:t>2. Float/Slack — How much an activity can be delayed without delaying the project. Activities on the critical path have zero float.</a:t>
            </a:r>
          </a:p>
          <a:p>
            <a:pPr>
              <a:spcAft>
                <a:spcPts val="1000"/>
              </a:spcAft>
              <a:defRPr sz="1800">
                <a:solidFill>
                  <a:srgbClr val="333333"/>
                </a:solidFill>
              </a:defRPr>
            </a:pPr>
            <a:r>
              <a:t>3. Milestones and Gates — Key decision points and deliverables. In automotive, these align with APQP gates or stage-gate processes.</a:t>
            </a:r>
          </a:p>
          <a:p>
            <a:pPr>
              <a:spcAft>
                <a:spcPts val="1000"/>
              </a:spcAft>
              <a:defRPr sz="1800">
                <a:solidFill>
                  <a:srgbClr val="333333"/>
                </a:solidFill>
              </a:defRPr>
            </a:pPr>
            <a:r>
              <a:t>Let me show you an example schedule for a system development.</a:t>
            </a:r>
          </a:p>
          <a:p>
            <a:pPr>
              <a:spcAft>
                <a:spcPts val="1000"/>
              </a:spcAft>
              <a:defRPr sz="1800">
                <a:solidFill>
                  <a:srgbClr val="333333"/>
                </a:solidFill>
              </a:defRPr>
            </a:pPr>
            <a:r>
              <a:t>PPT Content:</a:t>
            </a:r>
          </a:p>
          <a:p>
            <a:pPr>
              <a:defRPr sz="1400">
                <a:solidFill>
                  <a:srgbClr val="787878"/>
                </a:solidFill>
                <a:latin typeface="Consolas"/>
              </a:defRPr>
            </a:pPr>
            <a:r>
              <a:t>PROJECT SCHEDULING</a:t>
            </a:r>
            <a:br/>
            <a:br/>
            <a:r>
              <a:t>PURPOSE:</a:t>
            </a:r>
            <a:br/>
            <a:r>
              <a:t>Sequence activities, estimate durations, manage dependencies</a:t>
            </a:r>
            <a:br/>
            <a:br/>
            <a:r>
              <a:t>KEY SCHEDULING CONCEPTS:</a:t>
            </a:r>
            <a:br/>
            <a:br/>
            <a:r>
              <a:t>1. PRECEDENCE RELATIONSHIPS (Dependencies)</a:t>
            </a:r>
            <a:br/>
            <a:r>
              <a:t>   • Finish-to-Start (FS): A must finish before B starts</a:t>
            </a:r>
            <a:br/>
            <a:r>
              <a:t>   • Start-to-Start (SS): A and B start together</a:t>
            </a:r>
            <a:br/>
            <a:r>
              <a:t>   • Finish-to-Finish (FF): A and B finish together</a:t>
            </a:r>
            <a:br/>
            <a:r>
              <a:t>   • Start-to-Finish (SF): A must start before B finishes (rare)</a:t>
            </a:r>
            <a:br/>
            <a:br/>
            <a:r>
              <a:t>2. CRITICAL PATH</a:t>
            </a:r>
            <a:br/>
            <a:r>
              <a:t>   • Longest sequence of dependent activities</a:t>
            </a:r>
            <a:br/>
            <a:r>
              <a:t>   • Determines minimum project duration</a:t>
            </a:r>
            <a:br/>
            <a:r>
              <a:t>   • Activities with zero float/slack</a:t>
            </a:r>
            <a:br/>
            <a:r>
              <a:t>   • Delays here delay entire project</a:t>
            </a:r>
            <a:br/>
            <a:br/>
            <a:r>
              <a:t>3. FLOAT / SLACK</a:t>
            </a:r>
            <a:br/>
            <a:r>
              <a:t>   • Time an activity can be delayed without delaying project</a:t>
            </a:r>
            <a:br/>
            <a:r>
              <a:t>   • Critical path activities: 0 float</a:t>
            </a:r>
            <a:br/>
            <a:r>
              <a:t>   • Non-critical activities: positive float</a:t>
            </a:r>
            <a:br/>
            <a:br/>
            <a:r>
              <a:t>4. MILESTONES &amp; GATES</a:t>
            </a:r>
            <a:br/>
            <a:r>
              <a:t>   • Key decision points with no duration</a:t>
            </a:r>
            <a:br/>
            <a:r>
              <a:t>   • Example automotive milestones:</a:t>
            </a:r>
            <a:br/>
            <a:r>
              <a:t>     - Concept approval</a:t>
            </a:r>
            <a:br/>
            <a:r>
              <a:t>     - Requirements baseline</a:t>
            </a:r>
            <a:br/>
            <a:r>
              <a:t>     - PDR (Preliminary Design Review)</a:t>
            </a:r>
            <a:br/>
            <a:r>
              <a:t>     - CDR (Critical Design Review)</a:t>
            </a:r>
            <a:br/>
            <a:r>
              <a:t>     - Integration complete</a:t>
            </a:r>
            <a:br/>
            <a:r>
              <a:t>     - Verification complete</a:t>
            </a:r>
            <a:br/>
            <a:br/>
            <a:r>
              <a:t>AUTOMOTIVE SCHEDULE EXAMPLE:</a:t>
            </a:r>
            <a:br/>
            <a:r>
              <a:t>Requirements Engineering (8 weeks) → [Baseline Milestone]</a:t>
            </a:r>
            <a:br/>
            <a:r>
              <a:t>   ↓</a:t>
            </a:r>
            <a:br/>
            <a:r>
              <a:t>System Architecture (6 weeks) → [PDR Milestone]</a:t>
            </a:r>
            <a:br/>
            <a:r>
              <a:t>   ↓</a:t>
            </a:r>
            <a:br/>
            <a:r>
              <a:t>Detailed Design (12 weeks, parallel subsystems)</a:t>
            </a:r>
            <a:br/>
            <a:r>
              <a:t>   ↓</a:t>
            </a:r>
            <a:br/>
            <a:r>
              <a:t>Component Development (16 weeks) → [CDR Milestone]</a:t>
            </a:r>
            <a:br/>
            <a:r>
              <a:t>   ↓</a:t>
            </a:r>
            <a:br/>
            <a:r>
              <a:t>Integration (10 weeks)</a:t>
            </a:r>
            <a:br/>
            <a:r>
              <a:t>   ↓</a:t>
            </a:r>
            <a:br/>
            <a:r>
              <a:t>System Verification (8 weeks) → [Verification Complete Milestone]</a:t>
            </a:r>
            <a:br/>
            <a:r>
              <a:t>   ↓</a:t>
            </a:r>
            <a:br/>
            <a:r>
              <a:t>Validation (6 weeks) → [Product Release]</a:t>
            </a:r>
            <a:br/>
            <a:br/>
            <a:r>
              <a:t>CRITICAL PATH ANALYSIS:</a:t>
            </a:r>
            <a:br/>
            <a:r>
              <a:t>• Requirements → Architecture → Design → Integration → Verification</a:t>
            </a:r>
            <a:br/>
            <a:r>
              <a:t>• Any delay in this path delays product release</a:t>
            </a:r>
            <a:br/>
            <a:r>
              <a:t>• Parallel work (if independent) doesn't extend critical path</a:t>
            </a:r>
            <a:br/>
            <a:br/>
            <a:r>
              <a:t>SCHEDULING TOOLS:</a:t>
            </a:r>
            <a:br/>
            <a:r>
              <a:t>• Gantt charts (timeline visualization)</a:t>
            </a:r>
            <a:br/>
            <a:r>
              <a:t>• Network diagrams (dependency visualization)</a:t>
            </a:r>
            <a:br/>
            <a:r>
              <a:t>• Critical Path Method (CPM)</a:t>
            </a:r>
            <a:br/>
            <a:r>
              <a:t>• Program Evaluation and Review Technique (PERT)</a:t>
            </a:r>
            <a:br/>
            <a:br/>
            <a:r>
              <a:t>→ Schedule is living document, update continuously</a:t>
            </a:r>
          </a:p>
          <a:p>
            <a:pPr>
              <a:spcAft>
                <a:spcPts val="1000"/>
              </a:spcAft>
              <a:defRPr sz="1800">
                <a:solidFill>
                  <a:srgbClr val="333333"/>
                </a:solidFill>
              </a:defRPr>
            </a:pPr>
            <a:r>
              <a:t>Learning Outcomes: LO1, LO2 - Scheduling SE 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Resource Allocation - People, Budget, Tools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You have your WBS and schedule. Now you need resources. Resources in SE include people, budget, tools, facilities, and information.</a:t>
            </a:r>
          </a:p>
          <a:p>
            <a:pPr>
              <a:spcAft>
                <a:spcPts val="1000"/>
              </a:spcAft>
              <a:defRPr sz="1800">
                <a:solidFill>
                  <a:srgbClr val="333333"/>
                </a:solidFill>
              </a:defRPr>
            </a:pPr>
            <a:r>
              <a:t>People: What skills do you need? Systems engineers, domain experts, analysts, testers. When do you need them? For how long? You can't have 10 tasks requiring the same person simultaneously.</a:t>
            </a:r>
          </a:p>
          <a:p>
            <a:pPr>
              <a:spcAft>
                <a:spcPts val="1000"/>
              </a:spcAft>
              <a:defRPr sz="1800">
                <a:solidFill>
                  <a:srgbClr val="333333"/>
                </a:solidFill>
              </a:defRPr>
            </a:pPr>
            <a:r>
              <a:t>Budget: Cost estimation for each WBS element. SE work costs money—labor, tools, test facilities, prototypes. You need to plan and track it.</a:t>
            </a:r>
          </a:p>
          <a:p>
            <a:pPr>
              <a:spcAft>
                <a:spcPts val="1000"/>
              </a:spcAft>
              <a:defRPr sz="1800">
                <a:solidFill>
                  <a:srgbClr val="333333"/>
                </a:solidFill>
              </a:defRPr>
            </a:pPr>
            <a:r>
              <a:t>Tools and Infrastructure: SysML modeling tools, simulation software, test equipment, labs, integration facilities. These have lead times—you can't order a test facility the week you need it.</a:t>
            </a:r>
          </a:p>
          <a:p>
            <a:pPr>
              <a:spcAft>
                <a:spcPts val="1000"/>
              </a:spcAft>
              <a:defRPr sz="1800">
                <a:solidFill>
                  <a:srgbClr val="333333"/>
                </a:solidFill>
              </a:defRPr>
            </a:pPr>
            <a:r>
              <a:t>Information: Requirements databases, models, test data, supplier inputs. You need to plan how information flows and is managed.</a:t>
            </a:r>
          </a:p>
          <a:p>
            <a:pPr>
              <a:spcAft>
                <a:spcPts val="1000"/>
              </a:spcAft>
              <a:defRPr sz="1800">
                <a:solidFill>
                  <a:srgbClr val="333333"/>
                </a:solidFill>
              </a:defRPr>
            </a:pPr>
            <a:r>
              <a:t>Key challenge: Resource conflicts and leveling. What happens when three activities need the same specialist? You level resources—adjust schedule to avoid over-allocation.</a:t>
            </a:r>
          </a:p>
          <a:p>
            <a:pPr>
              <a:spcAft>
                <a:spcPts val="1000"/>
              </a:spcAft>
              <a:defRPr sz="1800">
                <a:solidFill>
                  <a:srgbClr val="333333"/>
                </a:solidFill>
              </a:defRPr>
            </a:pPr>
            <a:r>
              <a:t>PPT Content:</a:t>
            </a:r>
          </a:p>
          <a:p>
            <a:pPr>
              <a:defRPr sz="1400">
                <a:solidFill>
                  <a:srgbClr val="787878"/>
                </a:solidFill>
                <a:latin typeface="Consolas"/>
              </a:defRPr>
            </a:pPr>
            <a:r>
              <a:t>RESOURCE ALLOCATION</a:t>
            </a:r>
            <a:br/>
            <a:br/>
            <a:r>
              <a:t>RESOURCE CATEGORIES:</a:t>
            </a:r>
            <a:br/>
            <a:br/>
            <a:r>
              <a:t>1. HUMAN RESOURCES</a:t>
            </a:r>
            <a:br/>
            <a:r>
              <a:t>   • Skills needed: Systems engineers, domain experts, specialists</a:t>
            </a:r>
            <a:br/>
            <a:r>
              <a:t>   • Roles: Lead SE, requirements engineer, architect, integration lead</a:t>
            </a:r>
            <a:br/>
            <a:r>
              <a:t>   • Availability: Full-time, part-time, when needed</a:t>
            </a:r>
            <a:br/>
            <a:r>
              <a:t>   • Resource loading: Hours/week per person per task</a:t>
            </a:r>
            <a:br/>
            <a:br/>
            <a:r>
              <a:t>2. FINANCIAL RESOURCES</a:t>
            </a:r>
            <a:br/>
            <a:r>
              <a:t>   • Labor costs (by role, by activity)</a:t>
            </a:r>
            <a:br/>
            <a:r>
              <a:t>   • Tools and software licenses</a:t>
            </a:r>
            <a:br/>
            <a:r>
              <a:t>   • Test equipment and facilities</a:t>
            </a:r>
            <a:br/>
            <a:r>
              <a:t>   • Prototypes and materials</a:t>
            </a:r>
            <a:br/>
            <a:r>
              <a:t>   • Travel and external services</a:t>
            </a:r>
            <a:br/>
            <a:r>
              <a:t>   • Contingency reserves (typically 10-20%)</a:t>
            </a:r>
            <a:br/>
            <a:br/>
            <a:r>
              <a:t>3. TOOLS &amp; EQUIPMENT</a:t>
            </a:r>
            <a:br/>
            <a:r>
              <a:t>   • SysML/MBSE tools (Cameo, Rhapsody, etc.)</a:t>
            </a:r>
            <a:br/>
            <a:r>
              <a:t>   • Simulation tools (MATLAB/Simulink, etc.)</a:t>
            </a:r>
            <a:br/>
            <a:r>
              <a:t>   • Requirements management (DOORS, Polarion)</a:t>
            </a:r>
            <a:br/>
            <a:r>
              <a:t>   • Configuration management systems</a:t>
            </a:r>
            <a:br/>
            <a:r>
              <a:t>   • Test equipment and instrumentation</a:t>
            </a:r>
            <a:br/>
            <a:r>
              <a:t>   • Integration and test facilities</a:t>
            </a:r>
            <a:br/>
            <a:br/>
            <a:r>
              <a:t>4. FACILITIES &amp; INFRASTRUCTURE</a:t>
            </a:r>
            <a:br/>
            <a:r>
              <a:t>   • Office space and meeting rooms</a:t>
            </a:r>
            <a:br/>
            <a:r>
              <a:t>   • Laboratories and test cells</a:t>
            </a:r>
            <a:br/>
            <a:r>
              <a:t>   • Integration facilities</a:t>
            </a:r>
            <a:br/>
            <a:r>
              <a:t>   • Environmental chambers</a:t>
            </a:r>
            <a:br/>
            <a:r>
              <a:t>   • Vehicle proving grounds</a:t>
            </a:r>
            <a:br/>
            <a:br/>
            <a:r>
              <a:t>5. INFORMATION &amp; DATA</a:t>
            </a:r>
            <a:br/>
            <a:r>
              <a:t>   • Requirements specifications</a:t>
            </a:r>
            <a:br/>
            <a:r>
              <a:t>   • System models and architectures</a:t>
            </a:r>
            <a:br/>
            <a:r>
              <a:t>   • Analysis results</a:t>
            </a:r>
            <a:br/>
            <a:r>
              <a:t>   • Supplier technical data</a:t>
            </a:r>
            <a:br/>
            <a:r>
              <a:t>   • Test data and reports</a:t>
            </a:r>
            <a:br/>
            <a:br/>
            <a:r>
              <a:t>RESOURCE LEVELING:</a:t>
            </a:r>
            <a:br/>
            <a:r>
              <a:t>Problem: Multiple tasks competing for same resource</a:t>
            </a:r>
            <a:br/>
            <a:r>
              <a:t>Solution: Adjust schedule to smooth resource usage</a:t>
            </a:r>
            <a:br/>
            <a:r>
              <a:t>• Delay non-critical tasks</a:t>
            </a:r>
            <a:br/>
            <a:r>
              <a:t>• Reassign work to available resources</a:t>
            </a:r>
            <a:br/>
            <a:r>
              <a:t>• Add resources if critical path affected</a:t>
            </a:r>
            <a:br/>
            <a:r>
              <a:t>• Accept schedule extension if necessary</a:t>
            </a:r>
            <a:br/>
            <a:br/>
            <a:r>
              <a:t>RESOURCE ALLOCATION MATRIX EXAMPLE:</a:t>
            </a:r>
            <a:br/>
            <a:r>
              <a:t>Activity          | SE Lead | Req Eng | Architect | Integration | Hours | Cost</a:t>
            </a:r>
            <a:br/>
            <a:r>
              <a:t>Requirements      |   50%   |  100%   |    25%    |      0%     |  320  | $48K</a:t>
            </a:r>
            <a:br/>
            <a:r>
              <a:t>Architecture      |   75%   |   25%   |   100%    |      0%     |  240  | $42K</a:t>
            </a:r>
            <a:br/>
            <a:r>
              <a:t>Integration Plan  |   50%   |    0%   |    50%    |    100%     |  160  | $28K</a:t>
            </a:r>
            <a:br/>
            <a:br/>
            <a:r>
              <a:t>AUTOMOTIVE RESOURCE CONSIDERATIONS:</a:t>
            </a:r>
            <a:br/>
            <a:r>
              <a:t>• Supplier resources and dependencies</a:t>
            </a:r>
            <a:br/>
            <a:r>
              <a:t>• Cross-functional team coordination</a:t>
            </a:r>
            <a:br/>
            <a:r>
              <a:t>• Test facility scheduling (long lead times)</a:t>
            </a:r>
            <a:br/>
            <a:r>
              <a:t>• Prototype vehicle availability</a:t>
            </a:r>
            <a:br/>
            <a:r>
              <a:t>• Regulatory testing requirements</a:t>
            </a:r>
            <a:br/>
            <a:br/>
            <a:r>
              <a:t>→ Resources constrain schedule; plan realistically</a:t>
            </a:r>
          </a:p>
          <a:p>
            <a:pPr>
              <a:spcAft>
                <a:spcPts val="1000"/>
              </a:spcAft>
              <a:defRPr sz="1800">
                <a:solidFill>
                  <a:srgbClr val="333333"/>
                </a:solidFill>
              </a:defRPr>
            </a:pPr>
            <a:r>
              <a:t>Learning Outcomes: LO1, LO2 - Resource planning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Technical Planning Deliverables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All this planning gets documented in key deliverables. The primary one is the Systems Engineering Management Plan (SEMP)—the master plan for how SE work will be performed.</a:t>
            </a:r>
          </a:p>
          <a:p>
            <a:pPr>
              <a:spcAft>
                <a:spcPts val="1000"/>
              </a:spcAft>
              <a:defRPr sz="1800">
                <a:solidFill>
                  <a:srgbClr val="333333"/>
                </a:solidFill>
              </a:defRPr>
            </a:pPr>
            <a:r>
              <a:t>The SEMP includes your WBS, schedule, resource allocation, verification approach, risk management approach, and configuration management approach. It's the roadmap for the technical team.</a:t>
            </a:r>
          </a:p>
          <a:p>
            <a:pPr>
              <a:spcAft>
                <a:spcPts val="1000"/>
              </a:spcAft>
              <a:defRPr sz="1800">
                <a:solidFill>
                  <a:srgbClr val="333333"/>
                </a:solidFill>
              </a:defRPr>
            </a:pPr>
            <a:r>
              <a:t>You also create specialized plans: Requirements Management Plan, Verification Plan, Integration Plan, Configuration Management Plan. Each addresses a specific aspect of the SE work.</a:t>
            </a:r>
          </a:p>
          <a:p>
            <a:pPr>
              <a:spcAft>
                <a:spcPts val="1000"/>
              </a:spcAft>
              <a:defRPr sz="1800">
                <a:solidFill>
                  <a:srgbClr val="333333"/>
                </a:solidFill>
              </a:defRPr>
            </a:pPr>
            <a:r>
              <a:t>These aren't bureaucratic documents gathering dust. These are working plans that guide daily activities and get updated as the project evolves. In automotive programs, these align with APQP deliverables and project management plans.</a:t>
            </a:r>
          </a:p>
          <a:p>
            <a:pPr>
              <a:spcAft>
                <a:spcPts val="1000"/>
              </a:spcAft>
              <a:defRPr sz="1800">
                <a:solidFill>
                  <a:srgbClr val="333333"/>
                </a:solidFill>
              </a:defRPr>
            </a:pPr>
            <a:r>
              <a:t>If you can't explain how the SE work will be done, you're not ready to start. Planning first, execution second.</a:t>
            </a:r>
          </a:p>
          <a:p>
            <a:pPr>
              <a:spcAft>
                <a:spcPts val="1000"/>
              </a:spcAft>
              <a:defRPr sz="1800">
                <a:solidFill>
                  <a:srgbClr val="333333"/>
                </a:solidFill>
              </a:defRPr>
            </a:pPr>
            <a:r>
              <a:t>PPT Content:</a:t>
            </a:r>
          </a:p>
          <a:p>
            <a:pPr>
              <a:defRPr sz="1400">
                <a:solidFill>
                  <a:srgbClr val="787878"/>
                </a:solidFill>
                <a:latin typeface="Consolas"/>
              </a:defRPr>
            </a:pPr>
            <a:r>
              <a:t>TECHNICAL PLANNING DELIVERABLES</a:t>
            </a:r>
            <a:br/>
            <a:br/>
            <a:r>
              <a:t>1. SYSTEMS ENGINEERING MANAGEMENT PLAN (SEMP)</a:t>
            </a:r>
            <a:br/>
            <a:r>
              <a:t>   Master plan for SE activities and processes</a:t>
            </a:r>
            <a:br/>
            <a:br/>
            <a:r>
              <a:t>   Typical SEMP Contents:</a:t>
            </a:r>
            <a:br/>
            <a:r>
              <a:t>   • Project scope and objectives</a:t>
            </a:r>
            <a:br/>
            <a:r>
              <a:t>   • System overview and context</a:t>
            </a:r>
            <a:br/>
            <a:r>
              <a:t>   • SE process tailoring</a:t>
            </a:r>
            <a:br/>
            <a:r>
              <a:t>   • Organization and responsibilities</a:t>
            </a:r>
            <a:br/>
            <a:r>
              <a:t>   • Work breakdown structure</a:t>
            </a:r>
            <a:br/>
            <a:r>
              <a:t>   • Project schedule and milestones</a:t>
            </a:r>
            <a:br/>
            <a:r>
              <a:t>   • Resource allocation and budget</a:t>
            </a:r>
            <a:br/>
            <a:r>
              <a:t>   • Integration and verification approach</a:t>
            </a:r>
            <a:br/>
            <a:r>
              <a:t>   • Risk management approach</a:t>
            </a:r>
            <a:br/>
            <a:r>
              <a:t>   • Configuration management approach</a:t>
            </a:r>
            <a:br/>
            <a:r>
              <a:t>   • Technical performance measures</a:t>
            </a:r>
            <a:br/>
            <a:r>
              <a:t>   • Supplier management approach</a:t>
            </a:r>
            <a:br/>
            <a:br/>
            <a:r>
              <a:t>2. SPECIALIZED SE PLANS</a:t>
            </a:r>
            <a:br/>
            <a:r>
              <a:t>   • Requirements Management Plan</a:t>
            </a:r>
            <a:br/>
            <a:r>
              <a:t>   • System Architecture Document (living)</a:t>
            </a:r>
            <a:br/>
            <a:r>
              <a:t>   • Verification and Validation Plan</a:t>
            </a:r>
            <a:br/>
            <a:r>
              <a:t>   • Integration Plan</a:t>
            </a:r>
            <a:br/>
            <a:r>
              <a:t>   • Configuration Management Plan</a:t>
            </a:r>
            <a:br/>
            <a:r>
              <a:t>   • Risk Management Plan</a:t>
            </a:r>
            <a:br/>
            <a:r>
              <a:t>   • Interface Control Plan</a:t>
            </a:r>
            <a:br/>
            <a:br/>
            <a:r>
              <a:t>3. SCHEDULES &amp; TRACKING TOOLS</a:t>
            </a:r>
            <a:br/>
            <a:r>
              <a:t>   • Integrated master schedule</a:t>
            </a:r>
            <a:br/>
            <a:r>
              <a:t>   • Milestone chart</a:t>
            </a:r>
            <a:br/>
            <a:r>
              <a:t>   • Gantt charts (by subsystem, by activity)</a:t>
            </a:r>
            <a:br/>
            <a:r>
              <a:t>   • Resource loading charts</a:t>
            </a:r>
            <a:br/>
            <a:br/>
            <a:r>
              <a:t>4. BUDGETS &amp; COST TRACKING</a:t>
            </a:r>
            <a:br/>
            <a:r>
              <a:t>   • Budget by WBS element</a:t>
            </a:r>
            <a:br/>
            <a:r>
              <a:t>   • Earned Value Management (EVM) for large programs</a:t>
            </a:r>
            <a:br/>
            <a:r>
              <a:t>   • Cost tracking and variance analysis</a:t>
            </a:r>
            <a:br/>
            <a:br/>
            <a:r>
              <a:t>AUTOMOTIVE CONTEXT:</a:t>
            </a:r>
            <a:br/>
            <a:r>
              <a:t>SEMP aligns with:</a:t>
            </a:r>
            <a:br/>
            <a:r>
              <a:t>• APQP (Advanced Product Quality Planning) deliverables</a:t>
            </a:r>
            <a:br/>
            <a:r>
              <a:t>• Project Management Plan</a:t>
            </a:r>
            <a:br/>
            <a:r>
              <a:t>• DVP&amp;R (Design Verification Plan &amp; Report)</a:t>
            </a:r>
            <a:br/>
            <a:r>
              <a:t>• DFMEA / PFMEA processes</a:t>
            </a:r>
            <a:br/>
            <a:r>
              <a:t>• Supplier development plans</a:t>
            </a:r>
            <a:br/>
            <a:br/>
            <a:r>
              <a:t>PLAN MAINTENANCE:</a:t>
            </a:r>
            <a:br/>
            <a:r>
              <a:t>✓ Plans are living documents</a:t>
            </a:r>
            <a:br/>
            <a:r>
              <a:t>✓ Update as project evolves</a:t>
            </a:r>
            <a:br/>
            <a:r>
              <a:t>✓ Baseline major versions</a:t>
            </a:r>
            <a:br/>
            <a:r>
              <a:t>✓ Communicate changes to team</a:t>
            </a:r>
            <a:br/>
            <a:r>
              <a:t>✓ Keep plans realistic and useful (not shelf-ware)</a:t>
            </a:r>
            <a:br/>
            <a:br/>
            <a:r>
              <a:t>→ "Proper planning prevents poor performance</a:t>
            </a:r>
          </a:p>
          <a:p>
            <a:pPr>
              <a:spcAft>
                <a:spcPts val="1000"/>
              </a:spcAft>
              <a:defRPr sz="1800">
                <a:solidFill>
                  <a:srgbClr val="333333"/>
                </a:solidFill>
              </a:defRPr>
            </a:pPr>
            <a:r>
              <a:t>Learning Outcomes: LO1, LO2 - Planning deliverables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Risk Management Process - Overview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Now we shift to Risk Management—arguably the most critical technical management process. Let me start with a definition:</a:t>
            </a:r>
          </a:p>
          <a:p>
            <a:pPr>
              <a:spcAft>
                <a:spcPts val="1000"/>
              </a:spcAft>
              <a:defRPr sz="1800">
                <a:solidFill>
                  <a:srgbClr val="333333"/>
                </a:solidFill>
              </a:defRPr>
            </a:pPr>
            <a:r>
              <a:t>Risk is the effect of uncertainty on objectives. Notice: Risk is not just negative. Uncertainty can create threats (negative risks) or opportunities (positive risks).</a:t>
            </a:r>
          </a:p>
          <a:p>
            <a:pPr>
              <a:spcAft>
                <a:spcPts val="1000"/>
              </a:spcAft>
              <a:defRPr sz="1800">
                <a:solidFill>
                  <a:srgbClr val="333333"/>
                </a:solidFill>
              </a:defRPr>
            </a:pPr>
            <a:r>
              <a:t>The Risk Management Process has four key activities: Plan, Identify, Analyze, Treat, and Monitor. This is a continuous cycle throughout the system lifecycle.</a:t>
            </a:r>
          </a:p>
          <a:p>
            <a:pPr>
              <a:spcAft>
                <a:spcPts val="1000"/>
              </a:spcAft>
              <a:defRPr sz="1800">
                <a:solidFill>
                  <a:srgbClr val="333333"/>
                </a:solidFill>
              </a:defRPr>
            </a:pPr>
            <a:r>
              <a:t>Here's why this matters in automotive: You're developing a system that will be manufactured in millions of units, used by untrained drivers, in unpredictable conditions, for 10+ years. Uncertainty is everywhere. If you don't manage it proactively, it will destroy your program.</a:t>
            </a:r>
          </a:p>
          <a:p>
            <a:pPr>
              <a:spcAft>
                <a:spcPts val="1000"/>
              </a:spcAft>
              <a:defRPr sz="1800">
                <a:solidFill>
                  <a:srgbClr val="333333"/>
                </a:solidFill>
              </a:defRPr>
            </a:pPr>
            <a:r>
              <a:t>Let's build your risk management expertise step by step.</a:t>
            </a:r>
          </a:p>
          <a:p>
            <a:pPr>
              <a:spcAft>
                <a:spcPts val="1000"/>
              </a:spcAft>
              <a:defRPr sz="1800">
                <a:solidFill>
                  <a:srgbClr val="333333"/>
                </a:solidFill>
              </a:defRPr>
            </a:pPr>
            <a:r>
              <a:t>PPT Content:</a:t>
            </a:r>
          </a:p>
          <a:p>
            <a:pPr>
              <a:defRPr sz="1400">
                <a:solidFill>
                  <a:srgbClr val="787878"/>
                </a:solidFill>
                <a:latin typeface="Consolas"/>
              </a:defRPr>
            </a:pPr>
            <a:r>
              <a:t>RISK MANAGEMENT PROCESS (ISO/IEC 15288)</a:t>
            </a:r>
            <a:br/>
            <a:br/>
            <a:r>
              <a:t>PURPOSE:</a:t>
            </a:r>
            <a:br/>
            <a:r>
              <a:t>Identify, analyze, treat, and monitor risks and opportunities</a:t>
            </a:r>
            <a:br/>
            <a:r>
              <a:t>throughout the system lifecycle</a:t>
            </a:r>
            <a:br/>
            <a:br/>
            <a:r>
              <a:t>RISK DEFINITION:</a:t>
            </a:r>
            <a:br/>
            <a:r>
              <a:t>Risk is the effect of uncertainty on objectives</a:t>
            </a:r>
            <a:br/>
            <a:r>
              <a:t>(ISO 31000, ISO/IEC 15288)</a:t>
            </a:r>
            <a:br/>
            <a:br/>
            <a:r>
              <a:t>KEY CONCEPTS:</a:t>
            </a:r>
            <a:br/>
            <a:r>
              <a:t>• Risk = Threat (negative) or Opportunity (positive)</a:t>
            </a:r>
            <a:br/>
            <a:r>
              <a:t>• Uncertainty → variability, ambiguity, lack of knowledge</a:t>
            </a:r>
            <a:br/>
            <a:r>
              <a:t>• Objectives → what you're trying to achieve (performance, cost, schedule, quality, safety)</a:t>
            </a:r>
            <a:br/>
            <a:br/>
            <a:r>
              <a:t>RISK MANAGEMENT ACTIVITIES:</a:t>
            </a:r>
            <a:br/>
            <a:br/>
            <a:r>
              <a:t>1. PLAN RISK MANAGEMENT</a:t>
            </a:r>
            <a:br/>
            <a:r>
              <a:t>   • Define risk management approach</a:t>
            </a:r>
            <a:br/>
            <a:r>
              <a:t>   • Establish risk categories and criteria</a:t>
            </a:r>
            <a:br/>
            <a:r>
              <a:t>   • Define roles and responsibilities</a:t>
            </a:r>
            <a:br/>
            <a:br/>
            <a:r>
              <a:t>2. IDENTIFY RISKS</a:t>
            </a:r>
            <a:br/>
            <a:r>
              <a:t>   • What can go wrong? (threats)</a:t>
            </a:r>
            <a:br/>
            <a:r>
              <a:t>   • What can go better than expected? (opportunities)</a:t>
            </a:r>
            <a:br/>
            <a:r>
              <a:t>   • Document in risk register</a:t>
            </a:r>
            <a:br/>
            <a:br/>
            <a:r>
              <a:t>3. ANALYZE RISKS</a:t>
            </a:r>
            <a:br/>
            <a:r>
              <a:t>   • Assess probability and impact</a:t>
            </a:r>
            <a:br/>
            <a:r>
              <a:t>   • Prioritize risks</a:t>
            </a:r>
            <a:br/>
            <a:r>
              <a:t>   • Understand root causes</a:t>
            </a:r>
            <a:br/>
            <a:br/>
            <a:r>
              <a:t>4. TREAT RISKS</a:t>
            </a:r>
            <a:br/>
            <a:r>
              <a:t>   • Develop risk treatment plans</a:t>
            </a:r>
            <a:br/>
            <a:r>
              <a:t>   • Implement risk responses</a:t>
            </a:r>
            <a:br/>
            <a:r>
              <a:t>   • Allocate resources for treatment</a:t>
            </a:r>
            <a:br/>
            <a:br/>
            <a:r>
              <a:t>5. MONITOR RISKS</a:t>
            </a:r>
            <a:br/>
            <a:r>
              <a:t>   • Track risk status</a:t>
            </a:r>
            <a:br/>
            <a:r>
              <a:t>   • Identify new risks</a:t>
            </a:r>
            <a:br/>
            <a:r>
              <a:t>   • Evaluate treatment effectiveness</a:t>
            </a:r>
            <a:br/>
            <a:r>
              <a:t>   • Communicate risk status</a:t>
            </a:r>
            <a:br/>
            <a:br/>
            <a:r>
              <a:t>→ Risk management is continuous, not one-time</a:t>
            </a:r>
            <a:br/>
            <a:br/>
            <a:r>
              <a:t>AUTOMOTIVE RISK CATEGORIES:</a:t>
            </a:r>
            <a:br/>
            <a:r>
              <a:t>• Technical risks (performance, integration, technology maturity)</a:t>
            </a:r>
            <a:br/>
            <a:r>
              <a:t>• Schedule risks (delays, dependencies)</a:t>
            </a:r>
            <a:br/>
            <a:r>
              <a:t>• Cost risks (overruns, supplier costs)</a:t>
            </a:r>
            <a:br/>
            <a:r>
              <a:t>• Safety risks (hazards, failures)</a:t>
            </a:r>
            <a:br/>
            <a:r>
              <a:t>• Regulatory/Compliance risks</a:t>
            </a:r>
            <a:br/>
            <a:r>
              <a:t>• Supply chain risks</a:t>
            </a:r>
            <a:br/>
            <a:r>
              <a:t>• Market/Business risks</a:t>
            </a:r>
          </a:p>
          <a:p>
            <a:pPr>
              <a:spcAft>
                <a:spcPts val="1000"/>
              </a:spcAft>
              <a:defRPr sz="1800">
                <a:solidFill>
                  <a:srgbClr val="333333"/>
                </a:solidFill>
              </a:defRPr>
            </a:pPr>
            <a:r>
              <a:t>Learning Outcomes: LO1, LO3 - Risk management framework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Risk Identification - Finding the Threats and Opportunities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Risk identification answers one question: What uncertainties could affect our objectives?</a:t>
            </a:r>
          </a:p>
          <a:p>
            <a:pPr>
              <a:spcAft>
                <a:spcPts val="1000"/>
              </a:spcAft>
              <a:defRPr sz="1800">
                <a:solidFill>
                  <a:srgbClr val="333333"/>
                </a:solidFill>
              </a:defRPr>
            </a:pPr>
            <a:r>
              <a:t>You identify risks using multiple techniques:</a:t>
            </a:r>
          </a:p>
          <a:p>
            <a:pPr>
              <a:spcAft>
                <a:spcPts val="1000"/>
              </a:spcAft>
              <a:defRPr sz="1800">
                <a:solidFill>
                  <a:srgbClr val="333333"/>
                </a:solidFill>
              </a:defRPr>
            </a:pPr>
            <a:r>
              <a:t>Brainstorming with the team: 'What could go wrong? What are we worried about?'</a:t>
            </a:r>
          </a:p>
          <a:p>
            <a:pPr>
              <a:spcAft>
                <a:spcPts val="1000"/>
              </a:spcAft>
              <a:defRPr sz="1800">
                <a:solidFill>
                  <a:srgbClr val="333333"/>
                </a:solidFill>
              </a:defRPr>
            </a:pPr>
            <a:r>
              <a:t>Checklists from past projects and lessons learned: 'What risks occurred before?'</a:t>
            </a:r>
          </a:p>
          <a:p>
            <a:pPr>
              <a:spcAft>
                <a:spcPts val="1000"/>
              </a:spcAft>
              <a:defRPr sz="1800">
                <a:solidFill>
                  <a:srgbClr val="333333"/>
                </a:solidFill>
              </a:defRPr>
            </a:pPr>
            <a:r>
              <a:t>Risk Breakdown Structure (RBS) — Categories of risk to ensure you don't miss anything: Technical, schedule, cost, external, organizational.</a:t>
            </a:r>
          </a:p>
          <a:p>
            <a:pPr>
              <a:spcAft>
                <a:spcPts val="1000"/>
              </a:spcAft>
              <a:defRPr sz="1800">
                <a:solidFill>
                  <a:srgbClr val="333333"/>
                </a:solidFill>
              </a:defRPr>
            </a:pPr>
            <a:r>
              <a:t>Failure mode analysis — FMEA, Fault Tree Analysis, Hazard Analysis. We covered these in safety engineering.</a:t>
            </a:r>
          </a:p>
          <a:p>
            <a:pPr>
              <a:spcAft>
                <a:spcPts val="1000"/>
              </a:spcAft>
              <a:defRPr sz="1800">
                <a:solidFill>
                  <a:srgbClr val="333333"/>
                </a:solidFill>
              </a:defRPr>
            </a:pPr>
            <a:r>
              <a:t>Assumption analysis — Every assumption is a hidden risk. 'We assume the supplier delivers on time.' That's a risk if the assumption is wrong.</a:t>
            </a:r>
          </a:p>
          <a:p>
            <a:pPr>
              <a:spcAft>
                <a:spcPts val="1000"/>
              </a:spcAft>
              <a:defRPr sz="1800">
                <a:solidFill>
                  <a:srgbClr val="333333"/>
                </a:solidFill>
              </a:defRPr>
            </a:pPr>
            <a:r>
              <a:t>Expert judgment — Experienced engineers who've seen similar systems.</a:t>
            </a:r>
          </a:p>
          <a:p>
            <a:pPr>
              <a:spcAft>
                <a:spcPts val="1000"/>
              </a:spcAft>
              <a:defRPr sz="1800">
                <a:solidFill>
                  <a:srgbClr val="333333"/>
                </a:solidFill>
              </a:defRPr>
            </a:pPr>
            <a:r>
              <a:t>You document all identified risks in a Risk Register—a living database of risks tracked throughout the project. Let me show you what goes in a risk register.</a:t>
            </a:r>
          </a:p>
          <a:p>
            <a:pPr>
              <a:spcAft>
                <a:spcPts val="1000"/>
              </a:spcAft>
              <a:defRPr sz="1800">
                <a:solidFill>
                  <a:srgbClr val="333333"/>
                </a:solidFill>
              </a:defRPr>
            </a:pPr>
            <a:r>
              <a:t>PPT Content:</a:t>
            </a:r>
          </a:p>
          <a:p>
            <a:pPr>
              <a:defRPr sz="1400">
                <a:solidFill>
                  <a:srgbClr val="787878"/>
                </a:solidFill>
                <a:latin typeface="Consolas"/>
              </a:defRPr>
            </a:pPr>
            <a:r>
              <a:t>RISK IDENTIFICATION</a:t>
            </a:r>
            <a:br/>
            <a:br/>
            <a:r>
              <a:t>GOAL:</a:t>
            </a:r>
            <a:br/>
            <a:r>
              <a:t>Identify all significant threats and opportunities</a:t>
            </a:r>
            <a:br/>
            <a:r>
              <a:t>that could affect project objectives</a:t>
            </a:r>
            <a:br/>
            <a:br/>
            <a:r>
              <a:t>RISK IDENTIFICATION TECHNIQUES:</a:t>
            </a:r>
            <a:br/>
            <a:br/>
            <a:r>
              <a:t>1. BRAINSTORMING</a:t>
            </a:r>
            <a:br/>
            <a:r>
              <a:t>   • Team-based ideation</a:t>
            </a:r>
            <a:br/>
            <a:r>
              <a:t>   • "What could go wrong?</a:t>
            </a:r>
            <a:br/>
            <a:r>
              <a:t>   • "What could go better than expected?</a:t>
            </a:r>
            <a:br/>
            <a:r>
              <a:t>   • Encourage diverse perspectives</a:t>
            </a:r>
            <a:br/>
            <a:br/>
            <a:r>
              <a:t>2. RISK BREAKDOWN STRUCTURE (RBS)</a:t>
            </a:r>
            <a:br/>
            <a:r>
              <a:t>   Systematic categories to ensure complete coverage:</a:t>
            </a:r>
            <a:br/>
            <a:r>
              <a:t>   • Technical Risks</a:t>
            </a:r>
            <a:br/>
            <a:r>
              <a:t>     - Requirements instability</a:t>
            </a:r>
            <a:br/>
            <a:r>
              <a:t>     - Design complexity</a:t>
            </a:r>
            <a:br/>
            <a:r>
              <a:t>     - Technology maturity (TRL)</a:t>
            </a:r>
            <a:br/>
            <a:r>
              <a:t>     - Integration challenges</a:t>
            </a:r>
            <a:br/>
            <a:r>
              <a:t>     - Performance uncertainty</a:t>
            </a:r>
            <a:br/>
            <a:r>
              <a:t>   • Schedule Risks</a:t>
            </a:r>
            <a:br/>
            <a:r>
              <a:t>     - Unrealistic timelines</a:t>
            </a:r>
            <a:br/>
            <a:r>
              <a:t>     - Dependencies and critical path</a:t>
            </a:r>
            <a:br/>
            <a:r>
              <a:t>     - Resource availability</a:t>
            </a:r>
            <a:br/>
            <a:r>
              <a:t>     - Supplier delays</a:t>
            </a:r>
            <a:br/>
            <a:r>
              <a:t>   • Cost Risks</a:t>
            </a:r>
            <a:br/>
            <a:r>
              <a:t>     - Estimation errors</a:t>
            </a:r>
            <a:br/>
            <a:r>
              <a:t>     - Scope creep</a:t>
            </a:r>
            <a:br/>
            <a:r>
              <a:t>     - Commodity price volatility</a:t>
            </a:r>
            <a:br/>
            <a:r>
              <a:t>   • External Risks</a:t>
            </a:r>
            <a:br/>
            <a:r>
              <a:t>     - Regulatory changes</a:t>
            </a:r>
            <a:br/>
            <a:r>
              <a:t>     - Market changes</a:t>
            </a:r>
            <a:br/>
            <a:r>
              <a:t>     - Supplier financial health</a:t>
            </a:r>
            <a:br/>
            <a:r>
              <a:t>     - Natural disasters</a:t>
            </a:r>
            <a:br/>
            <a:r>
              <a:t>   • Organizational Risks</a:t>
            </a:r>
            <a:br/>
            <a:r>
              <a:t>     - Skill gaps</a:t>
            </a:r>
            <a:br/>
            <a:r>
              <a:t>     - Staff turnover</a:t>
            </a:r>
            <a:br/>
            <a:r>
              <a:t>     - Communication breakdowns</a:t>
            </a:r>
            <a:br/>
            <a:r>
              <a:t>     - Conflicting priorities</a:t>
            </a:r>
            <a:br/>
            <a:br/>
            <a:r>
              <a:t>3. CHECKLISTS &amp; LESSONS LEARNED</a:t>
            </a:r>
            <a:br/>
            <a:r>
              <a:t>   • Historical risk databases</a:t>
            </a:r>
            <a:br/>
            <a:r>
              <a:t>   • Previous project risk registers</a:t>
            </a:r>
            <a:br/>
            <a:r>
              <a:t>   • Industry-specific risk libraries</a:t>
            </a:r>
            <a:br/>
            <a:r>
              <a:t>   • Lessons learned repositories</a:t>
            </a:r>
            <a:br/>
            <a:br/>
            <a:r>
              <a:t>4. FAILURE MODE ANALYSIS</a:t>
            </a:r>
            <a:br/>
            <a:r>
              <a:t>   • FMEA (Failure Mode and Effects Analysis)</a:t>
            </a:r>
            <a:br/>
            <a:r>
              <a:t>   • Fault Tree Analysis</a:t>
            </a:r>
            <a:br/>
            <a:r>
              <a:t>   • Hazard Analysis (for safety-critical systems)</a:t>
            </a:r>
            <a:br/>
            <a:r>
              <a:t>   • "What If" analysis</a:t>
            </a:r>
            <a:br/>
            <a:br/>
            <a:r>
              <a:t>5. ASSUMPTION ANALYSIS</a:t>
            </a:r>
            <a:br/>
            <a:r>
              <a:t>   • List all project assumptions</a:t>
            </a:r>
            <a:br/>
            <a:r>
              <a:t>   • Each assumption is a potential risk</a:t>
            </a:r>
            <a:br/>
            <a:r>
              <a:t>   • "What if this assumption is wrong?</a:t>
            </a:r>
            <a:br/>
            <a:br/>
            <a:r>
              <a:t>   Example Assumptions → Risks:</a:t>
            </a:r>
            <a:br/>
            <a:r>
              <a:t>   - Assume supplier delivers on time → Risk: Supplier delay</a:t>
            </a:r>
            <a:br/>
            <a:r>
              <a:t>   - Assume technology is mature → Risk: Technology not ready</a:t>
            </a:r>
            <a:br/>
            <a:r>
              <a:t>   - Assume requirements are stable → Risk: Requirement changes</a:t>
            </a:r>
            <a:br/>
            <a:br/>
            <a:r>
              <a:t>6. EXPERT JUDGMENT &amp; INTERVIEWS</a:t>
            </a:r>
            <a:br/>
            <a:r>
              <a:t>   • Consult experienced engineers</a:t>
            </a:r>
            <a:br/>
            <a:r>
              <a:t>   • Domain experts</a:t>
            </a:r>
            <a:br/>
            <a:r>
              <a:t>   • Supplier input</a:t>
            </a:r>
            <a:br/>
            <a:r>
              <a:t>   • Customer/User insights</a:t>
            </a:r>
            <a:br/>
            <a:br/>
            <a:r>
              <a:t>7. SYSTEM ANALYSIS TECHNIQUES</a:t>
            </a:r>
            <a:br/>
            <a:r>
              <a:t>   • Interface analysis (interface risks)</a:t>
            </a:r>
            <a:br/>
            <a:r>
              <a:t>   • Dependency analysis (dependency risks)</a:t>
            </a:r>
            <a:br/>
            <a:r>
              <a:t>   • Complexity analysis (emergent behavior risks)</a:t>
            </a:r>
            <a:br/>
            <a:br/>
            <a:r>
              <a:t>AUTOMOTIVE-SPECIFIC RISK SOURCES:</a:t>
            </a:r>
            <a:br/>
            <a:r>
              <a:t>• New technology integration (e.g., autonomous features)</a:t>
            </a:r>
            <a:br/>
            <a:r>
              <a:t>• Supply chain complexity (global, multi-tier)</a:t>
            </a:r>
            <a:br/>
            <a:r>
              <a:t>• Regulatory uncertainty (evolving standards)</a:t>
            </a:r>
            <a:br/>
            <a:r>
              <a:t>• Software and cybersecurity</a:t>
            </a:r>
            <a:br/>
            <a:r>
              <a:t>• Validation and testing (proving grounds, scenarios)</a:t>
            </a:r>
            <a:br/>
            <a:r>
              <a:t>• Manufacturing and quality (new processes)</a:t>
            </a:r>
            <a:br/>
            <a:r>
              <a:t>• Warranty and field performance</a:t>
            </a:r>
            <a:br/>
            <a:br/>
            <a:r>
              <a:t>RISK REGISTER:</a:t>
            </a:r>
            <a:br/>
            <a:r>
              <a:t>Database tracking all identified risks</a:t>
            </a:r>
            <a:br/>
            <a:br/>
            <a:r>
              <a:t>Risk Register Fields:</a:t>
            </a:r>
            <a:br/>
            <a:r>
              <a:t>• Risk ID (unique identifier)</a:t>
            </a:r>
            <a:br/>
            <a:r>
              <a:t>• Risk Title (brief description)</a:t>
            </a:r>
            <a:br/>
            <a:r>
              <a:t>• Risk Category (from RBS)</a:t>
            </a:r>
            <a:br/>
            <a:r>
              <a:t>• Risk Description (detailed)</a:t>
            </a:r>
            <a:br/>
            <a:r>
              <a:t>• Risk Owner (who's responsible)</a:t>
            </a:r>
            <a:br/>
            <a:r>
              <a:t>• Probability (likelihood of occurring)</a:t>
            </a:r>
            <a:br/>
            <a:r>
              <a:t>• Impact (consequence if it occurs)</a:t>
            </a:r>
            <a:br/>
            <a:r>
              <a:t>• Risk Score (Probability × Impact)</a:t>
            </a:r>
            <a:br/>
            <a:r>
              <a:t>• Risk Response Strategy</a:t>
            </a:r>
            <a:br/>
            <a:r>
              <a:t>• Trigger/Indicator (early warning signs)</a:t>
            </a:r>
            <a:br/>
            <a:r>
              <a:t>• Status (open, mitigated, closed)</a:t>
            </a:r>
            <a:br/>
            <a:r>
              <a:t>• Date Identified</a:t>
            </a:r>
            <a:br/>
            <a:br/>
            <a:r>
              <a:t>→ Risk identification is continuous throughout project</a:t>
            </a:r>
          </a:p>
          <a:p>
            <a:pPr>
              <a:spcAft>
                <a:spcPts val="1000"/>
              </a:spcAft>
              <a:defRPr sz="1800">
                <a:solidFill>
                  <a:srgbClr val="333333"/>
                </a:solidFill>
              </a:defRPr>
            </a:pPr>
            <a:r>
              <a:t>Learning Outcomes: LO1, LO2 - Risk identification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Risk Analysis - Assessing Probability and Impact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Once you've identified risks, you analyze them. Risk analysis answers two questions:</a:t>
            </a:r>
          </a:p>
          <a:p>
            <a:pPr>
              <a:spcAft>
                <a:spcPts val="1000"/>
              </a:spcAft>
              <a:defRPr sz="1800">
                <a:solidFill>
                  <a:srgbClr val="333333"/>
                </a:solidFill>
              </a:defRPr>
            </a:pPr>
            <a:r>
              <a:t>1. How likely is this risk to occur? (Probability)</a:t>
            </a:r>
          </a:p>
          <a:p>
            <a:pPr>
              <a:spcAft>
                <a:spcPts val="1000"/>
              </a:spcAft>
              <a:defRPr sz="1800">
                <a:solidFill>
                  <a:srgbClr val="333333"/>
                </a:solidFill>
              </a:defRPr>
            </a:pPr>
            <a:r>
              <a:t>2. If it occurs, how bad is the impact? (Consequence)</a:t>
            </a:r>
          </a:p>
          <a:p>
            <a:pPr>
              <a:spcAft>
                <a:spcPts val="1000"/>
              </a:spcAft>
              <a:defRPr sz="1800">
                <a:solidFill>
                  <a:srgbClr val="333333"/>
                </a:solidFill>
              </a:defRPr>
            </a:pPr>
            <a:r>
              <a:t>You assess both, then calculate a Risk Score = Probability × Impact. This lets you prioritize—focus on high-probability, high-impact risks first.</a:t>
            </a:r>
          </a:p>
          <a:p>
            <a:pPr>
              <a:spcAft>
                <a:spcPts val="1000"/>
              </a:spcAft>
              <a:defRPr sz="1800">
                <a:solidFill>
                  <a:srgbClr val="333333"/>
                </a:solidFill>
              </a:defRPr>
            </a:pPr>
            <a:r>
              <a:t>We visualize this using a Risk Matrix. Probability on one axis (rare, unlikely, possible, likely, almost certain). Impact on the other axis (negligible, minor, moderate, major, catastrophic). Each risk gets plotted.</a:t>
            </a:r>
          </a:p>
          <a:p>
            <a:pPr>
              <a:spcAft>
                <a:spcPts val="1000"/>
              </a:spcAft>
              <a:defRPr sz="1800">
                <a:solidFill>
                  <a:srgbClr val="333333"/>
                </a:solidFill>
              </a:defRPr>
            </a:pPr>
            <a:r>
              <a:t>Risks in the red zone (high probability, high impact) demand immediate attention. Risks in the green zone (low probability, low impact) you may accept or monitor.</a:t>
            </a:r>
          </a:p>
          <a:p>
            <a:pPr>
              <a:spcAft>
                <a:spcPts val="1000"/>
              </a:spcAft>
              <a:defRPr sz="1800">
                <a:solidFill>
                  <a:srgbClr val="333333"/>
                </a:solidFill>
              </a:defRPr>
            </a:pPr>
            <a:r>
              <a:t>Let me show you an automotive example: 'Risk that battery cells don't meet range requirement.' Probability: Possible (50%). Impact: Major (significant rework, cost, schedule). Risk Score: High. Priority: Immediate treatment needed.</a:t>
            </a:r>
          </a:p>
          <a:p>
            <a:pPr>
              <a:spcAft>
                <a:spcPts val="1000"/>
              </a:spcAft>
              <a:defRPr sz="1800">
                <a:solidFill>
                  <a:srgbClr val="333333"/>
                </a:solidFill>
              </a:defRPr>
            </a:pPr>
            <a:r>
              <a:t>PPT Content:</a:t>
            </a:r>
          </a:p>
          <a:p>
            <a:pPr>
              <a:defRPr sz="1400">
                <a:solidFill>
                  <a:srgbClr val="787878"/>
                </a:solidFill>
                <a:latin typeface="Consolas"/>
              </a:defRPr>
            </a:pPr>
            <a:r>
              <a:t>RISK ANALYSIS</a:t>
            </a:r>
            <a:br/>
            <a:br/>
            <a:r>
              <a:t>GOAL:</a:t>
            </a:r>
            <a:br/>
            <a:r>
              <a:t>Assess probability and impact of each risk;</a:t>
            </a:r>
            <a:br/>
            <a:r>
              <a:t>prioritize for treatment</a:t>
            </a:r>
            <a:br/>
            <a:br/>
            <a:r>
              <a:t>TWO KEY QUESTIONS:</a:t>
            </a:r>
            <a:br/>
            <a:r>
              <a:t>1. How likely is this risk to occur? (PROBABILITY)</a:t>
            </a:r>
            <a:br/>
            <a:r>
              <a:t>2. If it occurs, how severe is the impact? (IMPACT/CONSEQUENCE)</a:t>
            </a:r>
            <a:br/>
            <a:br/>
            <a:r>
              <a:t>PROBABILITY SCALE (Example):</a:t>
            </a:r>
            <a:br/>
            <a:r>
              <a:t>• Almost Certain: 90-100% (5)</a:t>
            </a:r>
            <a:br/>
            <a:r>
              <a:t>• Likely: 70-90% (4)</a:t>
            </a:r>
            <a:br/>
            <a:r>
              <a:t>• Possible: 30-70% (3)</a:t>
            </a:r>
            <a:br/>
            <a:r>
              <a:t>• Unlikely: 10-30% (2)</a:t>
            </a:r>
            <a:br/>
            <a:r>
              <a:t>• Rare: 0-10% (1)</a:t>
            </a:r>
            <a:br/>
            <a:br/>
            <a:r>
              <a:t>IMPACT SCALE (Example):</a:t>
            </a:r>
            <a:br/>
            <a:r>
              <a:t>• Catastrophic: Program failure, safety critical (5)</a:t>
            </a:r>
            <a:br/>
            <a:r>
              <a:t>• Major: Significant cost/schedule impact, major rework (4)</a:t>
            </a:r>
            <a:br/>
            <a:r>
              <a:t>• Moderate: Noticeable impact, manageable rework (3)</a:t>
            </a:r>
            <a:br/>
            <a:r>
              <a:t>• Minor: Small impact, easily recovered (2)</a:t>
            </a:r>
            <a:br/>
            <a:r>
              <a:t>• Negligible: Minimal or no impact (1)</a:t>
            </a:r>
            <a:br/>
            <a:br/>
            <a:r>
              <a:t>RISK SCORE:</a:t>
            </a:r>
            <a:br/>
            <a:r>
              <a:t>Risk Score = Probability × Impact</a:t>
            </a:r>
            <a:br/>
            <a:r>
              <a:t>(Scale of 1-25 in this example)</a:t>
            </a:r>
            <a:br/>
            <a:br/>
            <a:r>
              <a:t>RISK MATRIX EXAMPLE:</a:t>
            </a:r>
            <a:br/>
            <a:r>
              <a:t>                    IMPACT →</a:t>
            </a:r>
            <a:br/>
            <a:r>
              <a:t>           Negligible Minor Moderate Major Catastrophic</a:t>
            </a:r>
            <a:br/>
            <a:r>
              <a:t>           (1)        (2)   (3)      (4)   (5)</a:t>
            </a:r>
            <a:br/>
            <a:r>
              <a:t>Rare (1)       1       2      3        4      5</a:t>
            </a:r>
            <a:br/>
            <a:r>
              <a:t>Unlikely (2)   2       4      6        8     10</a:t>
            </a:r>
            <a:br/>
            <a:r>
              <a:t>Possible (3)   3       6      9       12     15</a:t>
            </a:r>
            <a:br/>
            <a:r>
              <a:t>Likely (4)     4       8     12       16     20</a:t>
            </a:r>
            <a:br/>
            <a:r>
              <a:t>Almost (5)     5      10     15       20     25</a:t>
            </a:r>
            <a:br/>
            <a:r>
              <a:t>Certain</a:t>
            </a:r>
            <a:br/>
            <a:br/>
            <a:r>
              <a:t>RISK ZONES:</a:t>
            </a:r>
            <a:br/>
            <a:r>
              <a:t>• LOW (1-5): Green zone - Accept or monitor</a:t>
            </a:r>
            <a:br/>
            <a:r>
              <a:t>• MEDIUM (6-12): Yellow zone - Treat with standard approaches</a:t>
            </a:r>
            <a:br/>
            <a:r>
              <a:t>• HIGH (15-25): Red zone - Immediate attention, aggressive treatment</a:t>
            </a:r>
            <a:br/>
            <a:br/>
            <a:r>
              <a:t>AUTOMOTIVE RISK EXAMPLE: Battery Range</a:t>
            </a:r>
            <a:br/>
            <a:br/>
            <a:r>
              <a:t>Risk: Battery cells don't meet energy density target,</a:t>
            </a:r>
            <a:br/>
            <a:r>
              <a:t>      resulting in vehicle range below 400 km requirement</a:t>
            </a:r>
            <a:br/>
            <a:br/>
            <a:r>
              <a:t>Analysis:</a:t>
            </a:r>
            <a:br/>
            <a:r>
              <a:t>• Probability: Possible (3) - New cell chemistry, supplier track record uncertain</a:t>
            </a:r>
            <a:br/>
            <a:r>
              <a:t>• Impact: Major (4) - Would require:</a:t>
            </a:r>
            <a:br/>
            <a:r>
              <a:t>  - Battery redesign</a:t>
            </a:r>
            <a:br/>
            <a:r>
              <a:t>  - Vehicle weight reduction (expensive)</a:t>
            </a:r>
            <a:br/>
            <a:r>
              <a:t>  - Schedule delay of 6+ months</a:t>
            </a:r>
            <a:br/>
            <a:r>
              <a:t>  - Cost impact $50M+</a:t>
            </a:r>
            <a:br/>
            <a:r>
              <a:t>  - Customer dissatisfaction if range reduced</a:t>
            </a:r>
            <a:br/>
            <a:r>
              <a:t>• Risk Score: 3 × 4 = 12 (Medium-High)</a:t>
            </a:r>
            <a:br/>
            <a:r>
              <a:t>• Priority: High - Requires treatment plan</a:t>
            </a:r>
            <a:br/>
            <a:br/>
            <a:r>
              <a:t>QUALITATIVE vs QUANTITATIVE ANALYSIS:</a:t>
            </a:r>
            <a:br/>
            <a:br/>
            <a:r>
              <a:t>QUALITATIVE (most common):</a:t>
            </a:r>
            <a:br/>
            <a:r>
              <a:t>• Use scales (Low/Med/High or 1-5)</a:t>
            </a:r>
            <a:br/>
            <a:r>
              <a:t>• Faster, easier, subjective</a:t>
            </a:r>
            <a:br/>
            <a:r>
              <a:t>• Suitable for most projects</a:t>
            </a:r>
            <a:br/>
            <a:br/>
            <a:r>
              <a:t>QUANTITATIVE (complex/large programs):</a:t>
            </a:r>
            <a:br/>
            <a:r>
              <a:t>• Use numerical probabilities (e.g., 35%)</a:t>
            </a:r>
            <a:br/>
            <a:r>
              <a:t>• Use cost/schedule impacts ($, days)</a:t>
            </a:r>
            <a:br/>
            <a:r>
              <a:t>• Simulation (Monte Carlo) for overall program risk</a:t>
            </a:r>
            <a:br/>
            <a:r>
              <a:t>• More precise, more effort</a:t>
            </a:r>
            <a:br/>
            <a:r>
              <a:t>• Example: Risk of 6-month delay has 35% probability,</a:t>
            </a:r>
            <a:br/>
            <a:r>
              <a:t>  costing $12M if it occurs</a:t>
            </a:r>
            <a:br/>
            <a:r>
              <a:t>  Expected Monetary Value = 0.35 × $12M = $4.2M</a:t>
            </a:r>
            <a:br/>
            <a:br/>
            <a:r>
              <a:t>RISK ANALYSIS TECHNIQUES:</a:t>
            </a:r>
            <a:br/>
            <a:r>
              <a:t>• Expert judgment</a:t>
            </a:r>
            <a:br/>
            <a:r>
              <a:t>• Historical data analysis</a:t>
            </a:r>
            <a:br/>
            <a:r>
              <a:t>• Probability distributions</a:t>
            </a:r>
            <a:br/>
            <a:r>
              <a:t>• Sensitivity analysis (what-if scenarios)</a:t>
            </a:r>
            <a:br/>
            <a:r>
              <a:t>• Monte Carlo simulation (for schedule/cost risk)</a:t>
            </a:r>
            <a:br/>
            <a:r>
              <a:t>• Decision tree analysis</a:t>
            </a:r>
            <a:br/>
            <a:br/>
            <a:r>
              <a:t>→ Analysis enables rational prioritization and resource allocation</a:t>
            </a:r>
          </a:p>
          <a:p>
            <a:pPr>
              <a:spcAft>
                <a:spcPts val="1000"/>
              </a:spcAft>
              <a:defRPr sz="1800">
                <a:solidFill>
                  <a:srgbClr val="333333"/>
                </a:solidFill>
              </a:defRPr>
            </a:pPr>
            <a:r>
              <a:t>Learning Outcomes: LO1, LO2 - Risk analysis methods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Risk Treatment - Response Strategies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Now you've identified and analyzed risks. Time to treat them—develop and implement risk responses.</a:t>
            </a:r>
          </a:p>
          <a:p>
            <a:pPr>
              <a:spcAft>
                <a:spcPts val="1000"/>
              </a:spcAft>
              <a:defRPr sz="1800">
                <a:solidFill>
                  <a:srgbClr val="333333"/>
                </a:solidFill>
              </a:defRPr>
            </a:pPr>
            <a:r>
              <a:t>You have four basic strategies for threats (negative risks):</a:t>
            </a:r>
          </a:p>
          <a:p>
            <a:pPr>
              <a:spcAft>
                <a:spcPts val="1000"/>
              </a:spcAft>
              <a:defRPr sz="1800">
                <a:solidFill>
                  <a:srgbClr val="333333"/>
                </a:solidFill>
              </a:defRPr>
            </a:pPr>
            <a:r>
              <a:t>1. Avoid — Eliminate the risk entirely. Change your approach so the risk can't happen. Example: Risk of supplier delay? Avoid by bringing work in-house or dual-sourcing.</a:t>
            </a:r>
          </a:p>
          <a:p>
            <a:pPr>
              <a:spcAft>
                <a:spcPts val="1000"/>
              </a:spcAft>
              <a:defRPr sz="1800">
                <a:solidFill>
                  <a:srgbClr val="333333"/>
                </a:solidFill>
              </a:defRPr>
            </a:pPr>
            <a:r>
              <a:t>2. Mitigate — Reduce probability or impact. Can't eliminate the risk, but you can make it less likely or less severe. Example: Battery range risk? Mitigate by testing cells early, working closely with supplier on design.</a:t>
            </a:r>
          </a:p>
          <a:p>
            <a:pPr>
              <a:spcAft>
                <a:spcPts val="1000"/>
              </a:spcAft>
              <a:defRPr sz="1800">
                <a:solidFill>
                  <a:srgbClr val="333333"/>
                </a:solidFill>
              </a:defRPr>
            </a:pPr>
            <a:r>
              <a:t>3. Transfer — Shift the risk to another party. Insurance, contractual terms, outsourcing. Example: Transfer software development risk to a Tier 1 supplier with penalty clauses for delays.</a:t>
            </a:r>
          </a:p>
          <a:p>
            <a:pPr>
              <a:spcAft>
                <a:spcPts val="1000"/>
              </a:spcAft>
              <a:defRPr sz="1800">
                <a:solidFill>
                  <a:srgbClr val="333333"/>
                </a:solidFill>
              </a:defRPr>
            </a:pPr>
            <a:r>
              <a:t>4. Accept — Acknowledge the risk exists, but take no proactive action. Use for low-priority risks. You may create a contingency reserve (budget/schedule buffer) in case the risk occurs.</a:t>
            </a:r>
          </a:p>
          <a:p>
            <a:pPr>
              <a:spcAft>
                <a:spcPts val="1000"/>
              </a:spcAft>
              <a:defRPr sz="1800">
                <a:solidFill>
                  <a:srgbClr val="333333"/>
                </a:solidFill>
              </a:defRPr>
            </a:pPr>
            <a:r>
              <a:t>For opportunities (positive risks), you have parallel strategies: Exploit, Enhance, Share, Accept.</a:t>
            </a:r>
          </a:p>
          <a:p>
            <a:pPr>
              <a:spcAft>
                <a:spcPts val="1000"/>
              </a:spcAft>
              <a:defRPr sz="1800">
                <a:solidFill>
                  <a:srgbClr val="333333"/>
                </a:solidFill>
              </a:defRPr>
            </a:pPr>
            <a:r>
              <a:t>Each high-priority risk needs a documented treatment plan. Let me show you what that looks like.</a:t>
            </a:r>
          </a:p>
          <a:p>
            <a:pPr>
              <a:spcAft>
                <a:spcPts val="1000"/>
              </a:spcAft>
              <a:defRPr sz="1800">
                <a:solidFill>
                  <a:srgbClr val="333333"/>
                </a:solidFill>
              </a:defRPr>
            </a:pPr>
            <a:r>
              <a:t>PPT Content:</a:t>
            </a:r>
          </a:p>
          <a:p>
            <a:pPr>
              <a:defRPr sz="1400">
                <a:solidFill>
                  <a:srgbClr val="787878"/>
                </a:solidFill>
                <a:latin typeface="Consolas"/>
              </a:defRPr>
            </a:pPr>
            <a:r>
              <a:t>RISK TREATMENT</a:t>
            </a:r>
            <a:br/>
            <a:br/>
            <a:r>
              <a:t>GOAL:</a:t>
            </a:r>
            <a:br/>
            <a:r>
              <a:t>Develop and implement responses to address risks</a:t>
            </a:r>
            <a:br/>
            <a:br/>
            <a:r>
              <a:t>FOUR STRATEGIES FOR THREATS (Negative Risks):</a:t>
            </a:r>
            <a:br/>
            <a:br/>
            <a:r>
              <a:t>1. AVOID</a:t>
            </a:r>
            <a:br/>
            <a:r>
              <a:t>   • Eliminate the risk entirely</a:t>
            </a:r>
            <a:br/>
            <a:r>
              <a:t>   • Change plan/approach so risk cannot occur</a:t>
            </a:r>
            <a:br/>
            <a:r>
              <a:t>   • Usually highest cost, but eliminates uncertainty</a:t>
            </a:r>
            <a:br/>
            <a:br/>
            <a:r>
              <a:t>   Example:</a:t>
            </a:r>
            <a:br/>
            <a:r>
              <a:t>   Risk: Supplier A has history of delays</a:t>
            </a:r>
            <a:br/>
            <a:r>
              <a:t>   Avoidance: Don't use Supplier A; use proven Supplier B</a:t>
            </a:r>
            <a:br/>
            <a:r>
              <a:t>   or bring work in-house</a:t>
            </a:r>
            <a:br/>
            <a:br/>
            <a:r>
              <a:t>2. MITIGATE</a:t>
            </a:r>
            <a:br/>
            <a:r>
              <a:t>   • Reduce probability of occurrence</a:t>
            </a:r>
            <a:br/>
            <a:r>
              <a:t>   • Reduce impact if it occurs</a:t>
            </a:r>
            <a:br/>
            <a:r>
              <a:t>   • Most common strategy</a:t>
            </a:r>
            <a:br/>
            <a:br/>
            <a:r>
              <a:t>   Example:</a:t>
            </a:r>
            <a:br/>
            <a:r>
              <a:t>   Risk: Battery cells may not meet energy density target</a:t>
            </a:r>
            <a:br/>
            <a:r>
              <a:t>   Mitigation:</a:t>
            </a:r>
            <a:br/>
            <a:r>
              <a:t>   - Early cell testing and validation (reduce probability)</a:t>
            </a:r>
            <a:br/>
            <a:r>
              <a:t>   - Design vehicle with weight reduction options (reduce impact)</a:t>
            </a:r>
            <a:br/>
            <a:r>
              <a:t>   - Close collaboration with cell supplier</a:t>
            </a:r>
            <a:br/>
            <a:r>
              <a:t>   - Parallel development of backup cell chemistry</a:t>
            </a:r>
            <a:br/>
            <a:br/>
            <a:r>
              <a:t>3. TRANSFER</a:t>
            </a:r>
            <a:br/>
            <a:r>
              <a:t>   • Shift risk to another party</a:t>
            </a:r>
            <a:br/>
            <a:r>
              <a:t>   • Insurance, contracts, outsourcing</a:t>
            </a:r>
            <a:br/>
            <a:r>
              <a:t>   • Risk still exists, but someone else bears the consequence</a:t>
            </a:r>
            <a:br/>
            <a:br/>
            <a:r>
              <a:t>   Example:</a:t>
            </a:r>
            <a:br/>
            <a:r>
              <a:t>   Risk: Software development may be delayed</a:t>
            </a:r>
            <a:br/>
            <a:r>
              <a:t>   Transfer:</a:t>
            </a:r>
            <a:br/>
            <a:r>
              <a:t>   - Contract with Tier 1 supplier for software development</a:t>
            </a:r>
            <a:br/>
            <a:r>
              <a:t>   - Include penalty clauses for late delivery</a:t>
            </a:r>
            <a:br/>
            <a:r>
              <a:t>   - Supplier bears schedule/cost risk</a:t>
            </a:r>
            <a:br/>
            <a:br/>
            <a:r>
              <a:t>4. ACCEPT</a:t>
            </a:r>
            <a:br/>
            <a:r>
              <a:t>   • Acknowledge risk, take no proactive action</a:t>
            </a:r>
            <a:br/>
            <a:r>
              <a:t>   • For low-priority risks where treatment cost exceeds benefit</a:t>
            </a:r>
            <a:br/>
            <a:r>
              <a:t>   • Passive acceptance: Do nothing</a:t>
            </a:r>
            <a:br/>
            <a:r>
              <a:t>   • Active acceptance: Create contingency reserve (buffer)</a:t>
            </a:r>
            <a:br/>
            <a:br/>
            <a:r>
              <a:t>   Example:</a:t>
            </a:r>
            <a:br/>
            <a:r>
              <a:t>   Risk: Minor component cost increase (5%)</a:t>
            </a:r>
            <a:br/>
            <a:r>
              <a:t>   Acceptance: Include in budget contingency reserve</a:t>
            </a:r>
            <a:br/>
            <a:br/>
            <a:r>
              <a:t>FOUR STRATEGIES FOR OPPORTUNITIES (Positive Risks):</a:t>
            </a:r>
            <a:br/>
            <a:br/>
            <a:r>
              <a:t>1. EXPLOIT</a:t>
            </a:r>
            <a:br/>
            <a:r>
              <a:t>   • Ensure opportunity definitely happens</a:t>
            </a:r>
            <a:br/>
            <a:r>
              <a:t>   • Assign best resources, remove obstacles</a:t>
            </a:r>
            <a:br/>
            <a:br/>
            <a:r>
              <a:t>   Example:</a:t>
            </a:r>
            <a:br/>
            <a:r>
              <a:t>   Opportunity: New manufacturing process could reduce cost 20%</a:t>
            </a:r>
            <a:br/>
            <a:r>
              <a:t>   Exploit: Invest in process development, accelerate implementation</a:t>
            </a:r>
            <a:br/>
            <a:br/>
            <a:r>
              <a:t>2. ENHANCE</a:t>
            </a:r>
            <a:br/>
            <a:r>
              <a:t>   • Increase probability or positive impact</a:t>
            </a:r>
            <a:br/>
            <a:br/>
            <a:r>
              <a:t>   Example:</a:t>
            </a:r>
            <a:br/>
            <a:r>
              <a:t>   Opportunity: Early completion could capture market window</a:t>
            </a:r>
            <a:br/>
            <a:r>
              <a:t>   Enhance: Add resources to critical path, incentivize team</a:t>
            </a:r>
            <a:br/>
            <a:br/>
            <a:r>
              <a:t>3. SHARE</a:t>
            </a:r>
            <a:br/>
            <a:r>
              <a:t>   • Partner with others to realize opportunity</a:t>
            </a:r>
            <a:br/>
            <a:br/>
            <a:r>
              <a:t>   Example:</a:t>
            </a:r>
            <a:br/>
            <a:r>
              <a:t>   Opportunity: New technology platform applicable to multiple products</a:t>
            </a:r>
            <a:br/>
            <a:r>
              <a:t>   Share: Joint development with another division, share costs and benefits</a:t>
            </a:r>
            <a:br/>
            <a:br/>
            <a:r>
              <a:t>4. ACCEPT</a:t>
            </a:r>
            <a:br/>
            <a:r>
              <a:t>   • Don't actively pursue, but be ready if it occurs</a:t>
            </a:r>
            <a:br/>
            <a:br/>
            <a:r>
              <a:t>RISK TREATMENT PLAN COMPONENTS:</a:t>
            </a:r>
            <a:br/>
            <a:br/>
            <a:r>
              <a:t>For each high-priority risk, document:</a:t>
            </a:r>
            <a:br/>
            <a:r>
              <a:t>• Risk ID and description</a:t>
            </a:r>
            <a:br/>
            <a:r>
              <a:t>• Treatment strategy (Avoid/Mitigate/Transfer/Accept)</a:t>
            </a:r>
            <a:br/>
            <a:r>
              <a:t>• Specific actions to be taken</a:t>
            </a:r>
            <a:br/>
            <a:r>
              <a:t>• Resources required (budget, people, time)</a:t>
            </a:r>
            <a:br/>
            <a:r>
              <a:t>• Responsible person (risk owner)</a:t>
            </a:r>
            <a:br/>
            <a:r>
              <a:t>• Timeline for implementation</a:t>
            </a:r>
            <a:br/>
            <a:r>
              <a:t>• Success criteria (how we know it's working)</a:t>
            </a:r>
            <a:br/>
            <a:r>
              <a:t>• Contingency plan (if treatment fails)</a:t>
            </a:r>
            <a:br/>
            <a:br/>
            <a:r>
              <a:t>EXAMPLE RISK TREATMENT PLAN:</a:t>
            </a:r>
            <a:br/>
            <a:br/>
            <a:r>
              <a:t>Risk ID: R-045</a:t>
            </a:r>
            <a:br/>
            <a:r>
              <a:t>Title: Battery range below requirement</a:t>
            </a:r>
            <a:br/>
            <a:r>
              <a:t>Probability: 3 (Possible) | Impact: 4 (Major) | Score: 12</a:t>
            </a:r>
            <a:br/>
            <a:br/>
            <a:r>
              <a:t>Strategy: MITIGATE</a:t>
            </a:r>
            <a:br/>
            <a:br/>
            <a:r>
              <a:t>Actions:</a:t>
            </a:r>
            <a:br/>
            <a:r>
              <a:t>1. Conduct early cell characterization testing (Week 8-12)</a:t>
            </a:r>
            <a:br/>
            <a:r>
              <a:t>   Owner: Battery Engineer</a:t>
            </a:r>
            <a:br/>
            <a:r>
              <a:t>   Cost: $50K</a:t>
            </a:r>
            <a:br/>
            <a:br/>
            <a:r>
              <a:t>2. Establish weekly design reviews with cell supplier (Week 6 onward)</a:t>
            </a:r>
            <a:br/>
            <a:r>
              <a:t>   Owner: Chief Engineer</a:t>
            </a:r>
            <a:br/>
            <a:br/>
            <a:r>
              <a:t>3. Develop lightweight vehicle design options to offset range loss (Week 10-20)</a:t>
            </a:r>
            <a:br/>
            <a:r>
              <a:t>   Owner: Vehicle Architecture Team</a:t>
            </a:r>
            <a:br/>
            <a:r>
              <a:t>   Cost: $200K</a:t>
            </a:r>
            <a:br/>
            <a:br/>
            <a:r>
              <a:t>4. Initiate parallel development of backup cell chemistry (Week 12)</a:t>
            </a:r>
            <a:br/>
            <a:r>
              <a:t>   Owner: Battery Engineer</a:t>
            </a:r>
            <a:br/>
            <a:r>
              <a:t>   Cost: $300K</a:t>
            </a:r>
            <a:br/>
            <a:br/>
            <a:r>
              <a:t>5. Include 5% range margin in target (400 km → 420 km target)</a:t>
            </a:r>
            <a:br/>
            <a:r>
              <a:t>   Owner: Systems Engineer</a:t>
            </a:r>
            <a:br/>
            <a:br/>
            <a:r>
              <a:t>Contingency Plan (if risk occurs):</a:t>
            </a:r>
            <a:br/>
            <a:r>
              <a:t>• Reduce vehicle weight by 100 kg (estimated cost: $2M)</a:t>
            </a:r>
            <a:br/>
            <a:r>
              <a:t>• Accept reduced range to 380 km with marketing plan</a:t>
            </a:r>
            <a:br/>
            <a:r>
              <a:t>• Delay launch 3 months for battery redesign</a:t>
            </a:r>
            <a:br/>
            <a:br/>
            <a:r>
              <a:t>Expected Risk Reduction:</a:t>
            </a:r>
            <a:br/>
            <a:r>
              <a:t>• Probability: 3 → 2 (Unlikely)</a:t>
            </a:r>
            <a:br/>
            <a:r>
              <a:t>• Impact: 4 → 3 (Moderate, due to contingency options)</a:t>
            </a:r>
            <a:br/>
            <a:r>
              <a:t>• New Score: 6 (Medium)</a:t>
            </a:r>
            <a:br/>
            <a:br/>
            <a:r>
              <a:t>RESIDUAL RISK:</a:t>
            </a:r>
            <a:br/>
            <a:r>
              <a:t>After treatment, some risk remains (residual risk)</a:t>
            </a:r>
            <a:br/>
            <a:r>
              <a:t>Monitor and manage throughout project</a:t>
            </a:r>
            <a:br/>
            <a:br/>
            <a:r>
              <a:t>→ Document treatment plans; assign ownership; track execution</a:t>
            </a:r>
          </a:p>
          <a:p>
            <a:pPr>
              <a:spcAft>
                <a:spcPts val="1000"/>
              </a:spcAft>
              <a:defRPr sz="1800">
                <a:solidFill>
                  <a:srgbClr val="333333"/>
                </a:solidFill>
              </a:defRPr>
            </a:pPr>
            <a:r>
              <a:t>Learning Outcomes: LO1, LO2 - Risk treatment strategies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Risk Monitoring and Control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Risk management doesn't end after treatment. You must monitor risks continuously throughout the project.</a:t>
            </a:r>
          </a:p>
          <a:p>
            <a:pPr>
              <a:spcAft>
                <a:spcPts val="1000"/>
              </a:spcAft>
              <a:defRPr sz="1800">
                <a:solidFill>
                  <a:srgbClr val="333333"/>
                </a:solidFill>
              </a:defRPr>
            </a:pPr>
            <a:r>
              <a:t>Monitor risk triggers — Early warning indicators that a risk is materializing. Example: Battery risk trigger is 'Cell test results show energy density below target.' If you see the trigger, activate contingency plans.</a:t>
            </a:r>
          </a:p>
          <a:p>
            <a:pPr>
              <a:spcAft>
                <a:spcPts val="1000"/>
              </a:spcAft>
              <a:defRPr sz="1800">
                <a:solidFill>
                  <a:srgbClr val="333333"/>
                </a:solidFill>
              </a:defRPr>
            </a:pPr>
            <a:r>
              <a:t>Track treatment effectiveness — Are your mitigation actions working? Is the risk score decreasing?</a:t>
            </a:r>
          </a:p>
          <a:p>
            <a:pPr>
              <a:spcAft>
                <a:spcPts val="1000"/>
              </a:spcAft>
              <a:defRPr sz="1800">
                <a:solidFill>
                  <a:srgbClr val="333333"/>
                </a:solidFill>
              </a:defRPr>
            </a:pPr>
            <a:r>
              <a:t>Identify new risks — As the project evolves, new risks emerge. Keep identifying and adding to the risk register.</a:t>
            </a:r>
          </a:p>
          <a:p>
            <a:pPr>
              <a:spcAft>
                <a:spcPts val="1000"/>
              </a:spcAft>
              <a:defRPr sz="1800">
                <a:solidFill>
                  <a:srgbClr val="333333"/>
                </a:solidFill>
              </a:defRPr>
            </a:pPr>
            <a:r>
              <a:t>Conduct regular risk reviews — Weekly team reviews for high risks, monthly for all risks, gate reviews for major decision points.</a:t>
            </a:r>
          </a:p>
          <a:p>
            <a:pPr>
              <a:spcAft>
                <a:spcPts val="1000"/>
              </a:spcAft>
              <a:defRPr sz="1800">
                <a:solidFill>
                  <a:srgbClr val="333333"/>
                </a:solidFill>
              </a:defRPr>
            </a:pPr>
            <a:r>
              <a:t>Update the risk register — Close resolved risks, escalate growing risks, adjust scores as information improves.</a:t>
            </a:r>
          </a:p>
          <a:p>
            <a:pPr>
              <a:spcAft>
                <a:spcPts val="1000"/>
              </a:spcAft>
              <a:defRPr sz="1800">
                <a:solidFill>
                  <a:srgbClr val="333333"/>
                </a:solidFill>
              </a:defRPr>
            </a:pPr>
            <a:r>
              <a:t>Communicate risk status — Dashboards, reports, escalation to management when thresholds exceeded.</a:t>
            </a:r>
          </a:p>
          <a:p>
            <a:pPr>
              <a:spcAft>
                <a:spcPts val="1000"/>
              </a:spcAft>
              <a:defRPr sz="1800">
                <a:solidFill>
                  <a:srgbClr val="333333"/>
                </a:solidFill>
              </a:defRPr>
            </a:pPr>
            <a:r>
              <a:t>The risk register is a living document. It evolves as your understanding evolves. This is proactive management.</a:t>
            </a:r>
          </a:p>
          <a:p>
            <a:pPr>
              <a:spcAft>
                <a:spcPts val="1000"/>
              </a:spcAft>
              <a:defRPr sz="1800">
                <a:solidFill>
                  <a:srgbClr val="333333"/>
                </a:solidFill>
              </a:defRPr>
            </a:pPr>
            <a:r>
              <a:t>PPT Content:</a:t>
            </a:r>
          </a:p>
          <a:p>
            <a:pPr>
              <a:defRPr sz="1400">
                <a:solidFill>
                  <a:srgbClr val="787878"/>
                </a:solidFill>
                <a:latin typeface="Consolas"/>
              </a:defRPr>
            </a:pPr>
            <a:r>
              <a:t>RISK MONITORING AND CONTROL</a:t>
            </a:r>
            <a:br/>
            <a:br/>
            <a:r>
              <a:t>GOAL:</a:t>
            </a:r>
            <a:br/>
            <a:r>
              <a:t>Track risks, evaluate treatment effectiveness,</a:t>
            </a:r>
            <a:br/>
            <a:r>
              <a:t>identify new risks, communicate status</a:t>
            </a:r>
            <a:br/>
            <a:br/>
            <a:r>
              <a:t>MONITORING ACTIVITIES:</a:t>
            </a:r>
            <a:br/>
            <a:br/>
            <a:r>
              <a:t>1. TRACK RISK TRIGGERS</a:t>
            </a:r>
            <a:br/>
            <a:r>
              <a:t>   • Early warning indicators</a:t>
            </a:r>
            <a:br/>
            <a:r>
              <a:t>   • When trigger observed → activate contingency</a:t>
            </a:r>
            <a:br/>
            <a:br/>
            <a:r>
              <a:t>   Example Triggers:</a:t>
            </a:r>
            <a:br/>
            <a:r>
              <a:t>   - Battery risk: Cell test results below target</a:t>
            </a:r>
            <a:br/>
            <a:r>
              <a:t>   - Supplier risk: Supplier misses interim deliverable</a:t>
            </a:r>
            <a:br/>
            <a:r>
              <a:t>   - Schedule risk: Critical path activity slips 1 week</a:t>
            </a:r>
            <a:br/>
            <a:br/>
            <a:r>
              <a:t>2. EVALUATE TREATMENT EFFECTIVENESS</a:t>
            </a:r>
            <a:br/>
            <a:r>
              <a:t>   • Are mitigation actions being executed?</a:t>
            </a:r>
            <a:br/>
            <a:r>
              <a:t>   • Is risk score decreasing?</a:t>
            </a:r>
            <a:br/>
            <a:r>
              <a:t>   • Do we need additional actions?</a:t>
            </a:r>
            <a:br/>
            <a:br/>
            <a:r>
              <a:t>3. IDENTIFY NEW RISKS</a:t>
            </a:r>
            <a:br/>
            <a:r>
              <a:t>   • Continuous risk identification</a:t>
            </a:r>
            <a:br/>
            <a:r>
              <a:t>   • Environment changes → new risks</a:t>
            </a:r>
            <a:br/>
            <a:r>
              <a:t>   • Lessons from other projects</a:t>
            </a:r>
            <a:br/>
            <a:br/>
            <a:r>
              <a:t>4. UPDATE RISK SCORES</a:t>
            </a:r>
            <a:br/>
            <a:r>
              <a:t>   • As information improves, reassess probability/impact</a:t>
            </a:r>
            <a:br/>
            <a:r>
              <a:t>   • Risks may increase or decrease over time</a:t>
            </a:r>
            <a:br/>
            <a:r>
              <a:t>   • Re-prioritize based on current scores</a:t>
            </a:r>
            <a:br/>
            <a:br/>
            <a:r>
              <a:t>5. REVIEW AND ESCALATE</a:t>
            </a:r>
            <a:br/>
            <a:r>
              <a:t>   • Regular risk reviews:</a:t>
            </a:r>
            <a:br/>
            <a:r>
              <a:t>     - Weekly: High risks (score &gt; 15)</a:t>
            </a:r>
            <a:br/>
            <a:r>
              <a:t>     - Monthly: All active risks</a:t>
            </a:r>
            <a:br/>
            <a:r>
              <a:t>     - Gate reviews: Major decision points</a:t>
            </a:r>
            <a:br/>
            <a:r>
              <a:t>   • Escalate when:</a:t>
            </a:r>
            <a:br/>
            <a:r>
              <a:t>     - Risk score exceeds threshold</a:t>
            </a:r>
            <a:br/>
            <a:r>
              <a:t>     - Treatment not effective</a:t>
            </a:r>
            <a:br/>
            <a:r>
              <a:t>     - New critical risk identified</a:t>
            </a:r>
            <a:br/>
            <a:r>
              <a:t>     - Risk impacts program success</a:t>
            </a:r>
            <a:br/>
            <a:br/>
            <a:r>
              <a:t>6. CLOSE RESOLVED RISKS</a:t>
            </a:r>
            <a:br/>
            <a:r>
              <a:t>   • Risk no longer applicable → close</a:t>
            </a:r>
            <a:br/>
            <a:r>
              <a:t>   • Document lessons learned</a:t>
            </a:r>
            <a:br/>
            <a:r>
              <a:t>   • Archive for future reference</a:t>
            </a:r>
            <a:br/>
            <a:br/>
            <a:r>
              <a:t>RISK COMMUNICATION:</a:t>
            </a:r>
            <a:br/>
            <a:br/>
            <a:r>
              <a:t>Risk Dashboard (Example):</a:t>
            </a:r>
            <a:br/>
            <a:r>
              <a:t>┌─────────────────────────────────────────┐</a:t>
            </a:r>
            <a:br/>
            <a:r>
              <a:t>│ RISK STATUS SUMMARY                     │</a:t>
            </a:r>
            <a:br/>
            <a:r>
              <a:t>│                                         │</a:t>
            </a:r>
            <a:br/>
            <a:r>
              <a:t>│ Total Active Risks: 45                  │</a:t>
            </a:r>
            <a:br/>
            <a:r>
              <a:t>│ High (15-25):  8  [↓ 2 from last month] │</a:t>
            </a:r>
            <a:br/>
            <a:r>
              <a:t>│ Medium (6-14): 22 [↑ 3 from last month] │</a:t>
            </a:r>
            <a:br/>
            <a:r>
              <a:t>│ Low (1-5):     15 [→ No change]         │</a:t>
            </a:r>
            <a:br/>
            <a:r>
              <a:t>│                                         │</a:t>
            </a:r>
            <a:br/>
            <a:r>
              <a:t>│ TOP 5 RISKS:                            │</a:t>
            </a:r>
            <a:br/>
            <a:r>
              <a:t>│ 1. R-045 Battery range (Score: 12)      │</a:t>
            </a:r>
            <a:br/>
            <a:r>
              <a:t>│ 2. R-102 Supplier integration (Score:15)│</a:t>
            </a:r>
            <a:br/>
            <a:r>
              <a:t>│ 3. R-067 Software complexity (Score: 12)│</a:t>
            </a:r>
            <a:br/>
            <a:r>
              <a:t>│ 4. R-089 Test facility delays (Score:10)│</a:t>
            </a:r>
            <a:br/>
            <a:r>
              <a:t>│ 5. R-134 Regulatory approval (Score: 9) │</a:t>
            </a:r>
            <a:br/>
            <a:r>
              <a:t>└─────────────────────────────────────────┘</a:t>
            </a:r>
            <a:br/>
            <a:br/>
            <a:r>
              <a:t>Risk Trend Chart:</a:t>
            </a:r>
            <a:br/>
            <a:r>
              <a:t>(Shows risk score over time for top risks)</a:t>
            </a:r>
            <a:br/>
            <a:br/>
            <a:r>
              <a:t>Risk Reports:</a:t>
            </a:r>
            <a:br/>
            <a:r>
              <a:t>• Risk register (detailed, all risks)</a:t>
            </a:r>
            <a:br/>
            <a:r>
              <a:t>• Executive summary (top 10 risks, trends)</a:t>
            </a:r>
            <a:br/>
            <a:r>
              <a:t>• Risk watch list (risks nearing thresholds)</a:t>
            </a:r>
            <a:br/>
            <a:r>
              <a:t>• Closed risks and lessons learned</a:t>
            </a:r>
            <a:br/>
            <a:br/>
            <a:r>
              <a:t>RISK REVIEW MEETINGS:</a:t>
            </a:r>
            <a:br/>
            <a:br/>
            <a:r>
              <a:t>Weekly Team Risk Review:</a:t>
            </a:r>
            <a:br/>
            <a:r>
              <a:t>• Focus on high risks</a:t>
            </a:r>
            <a:br/>
            <a:r>
              <a:t>• 30-60 minutes</a:t>
            </a:r>
            <a:br/>
            <a:r>
              <a:t>• Review triggers, treatment status</a:t>
            </a:r>
            <a:br/>
            <a:r>
              <a:t>• Identify issues and actions</a:t>
            </a:r>
            <a:br/>
            <a:br/>
            <a:r>
              <a:t>Monthly Program Risk Review:</a:t>
            </a:r>
            <a:br/>
            <a:r>
              <a:t>• All active risks</a:t>
            </a:r>
            <a:br/>
            <a:r>
              <a:t>• Trend analysis</a:t>
            </a:r>
            <a:br/>
            <a:r>
              <a:t>• New risks identified</a:t>
            </a:r>
            <a:br/>
            <a:r>
              <a:t>• Risk reserve status</a:t>
            </a:r>
            <a:br/>
            <a:r>
              <a:t>• Management decisions on escalated risks</a:t>
            </a:r>
            <a:br/>
            <a:br/>
            <a:r>
              <a:t>Gate/Milestone Risk Reviews:</a:t>
            </a:r>
            <a:br/>
            <a:r>
              <a:t>• Comprehensive risk assessment</a:t>
            </a:r>
            <a:br/>
            <a:r>
              <a:t>• Go/No-Go decision input</a:t>
            </a:r>
            <a:br/>
            <a:r>
              <a:t>• Update risk management plan</a:t>
            </a:r>
            <a:br/>
            <a:r>
              <a:t>• Approve risk reserves for next phase</a:t>
            </a:r>
            <a:br/>
            <a:br/>
            <a:r>
              <a:t>AUTOMOTIVE RISK MONITORING TOOLS:</a:t>
            </a:r>
            <a:br/>
            <a:r>
              <a:t>• Integrated into APQP reviews</a:t>
            </a:r>
            <a:br/>
            <a:r>
              <a:t>• Launch readiness scorecard</a:t>
            </a:r>
            <a:br/>
            <a:r>
              <a:t>• Supplier scorecards (for supply risks)</a:t>
            </a:r>
            <a:br/>
            <a:r>
              <a:t>• Test execution tracking (for validation risks)</a:t>
            </a:r>
            <a:br/>
            <a:r>
              <a:t>• Issue tracking systems (CAPA, 8D)</a:t>
            </a:r>
            <a:br/>
            <a:br/>
            <a:r>
              <a:t>→ Proactive monitoring prevents surprises</a:t>
            </a:r>
          </a:p>
          <a:p>
            <a:pPr>
              <a:spcAft>
                <a:spcPts val="1000"/>
              </a:spcAft>
              <a:defRPr sz="1800">
                <a:solidFill>
                  <a:srgbClr val="333333"/>
                </a:solidFill>
              </a:defRPr>
            </a:pPr>
            <a:r>
              <a:t>Learning Outcomes: LO1, LO2 - Risk monitoring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Opportunity Management - The Positive Side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So far we've focused on threats—negative risks. But remember: Risk is uncertainty, which includes opportunities.</a:t>
            </a:r>
          </a:p>
          <a:p>
            <a:pPr>
              <a:spcAft>
                <a:spcPts val="1000"/>
              </a:spcAft>
              <a:defRPr sz="1800">
                <a:solidFill>
                  <a:srgbClr val="333333"/>
                </a:solidFill>
              </a:defRPr>
            </a:pPr>
            <a:r>
              <a:t>Opportunities are uncertain events that, if they occur, have a positive impact on your objectives. Early supplier delivery. New technology that improves performance. Cost reduction from design optimization.</a:t>
            </a:r>
          </a:p>
          <a:p>
            <a:pPr>
              <a:spcAft>
                <a:spcPts val="1000"/>
              </a:spcAft>
              <a:defRPr sz="1800">
                <a:solidFill>
                  <a:srgbClr val="333333"/>
                </a:solidFill>
              </a:defRPr>
            </a:pPr>
            <a:r>
              <a:t>Most teams ignore opportunities—they're focused on preventing bad things. But proactive opportunity management can significantly improve project outcomes.</a:t>
            </a:r>
          </a:p>
          <a:p>
            <a:pPr>
              <a:spcAft>
                <a:spcPts val="1000"/>
              </a:spcAft>
              <a:defRPr sz="1800">
                <a:solidFill>
                  <a:srgbClr val="333333"/>
                </a:solidFill>
              </a:defRPr>
            </a:pPr>
            <a:r>
              <a:t>Identify opportunities using the same techniques as threats: brainstorming, lessons learned, expert input. What could go better than planned?</a:t>
            </a:r>
          </a:p>
          <a:p>
            <a:pPr>
              <a:spcAft>
                <a:spcPts val="1000"/>
              </a:spcAft>
              <a:defRPr sz="1800">
                <a:solidFill>
                  <a:srgbClr val="333333"/>
                </a:solidFill>
              </a:defRPr>
            </a:pPr>
            <a:r>
              <a:t>Analyze opportunities the same way: What's the probability? What's the positive impact?</a:t>
            </a:r>
          </a:p>
          <a:p>
            <a:pPr>
              <a:spcAft>
                <a:spcPts val="1000"/>
              </a:spcAft>
              <a:defRPr sz="1800">
                <a:solidFill>
                  <a:srgbClr val="333333"/>
                </a:solidFill>
              </a:defRPr>
            </a:pPr>
            <a:r>
              <a:t>Treat opportunities using the four strategies: Exploit (make it happen), Enhance (increase probability/impact), Share (partner for mutual benefit), Accept (let it happen if it happens).</a:t>
            </a:r>
          </a:p>
          <a:p>
            <a:pPr>
              <a:spcAft>
                <a:spcPts val="1000"/>
              </a:spcAft>
              <a:defRPr sz="1800">
                <a:solidFill>
                  <a:srgbClr val="333333"/>
                </a:solidFill>
              </a:defRPr>
            </a:pPr>
            <a:r>
              <a:t>Let me give you an automotive example: 'Opportunity: New battery cell chemistry could increase range by 10%.' Probability: Possible. Impact: Moderate (competitive advantage, customer delight). Strategy: Enhance—invest in early validation, collaborate with supplier, prepare production for quick adoption.</a:t>
            </a:r>
          </a:p>
          <a:p>
            <a:pPr>
              <a:spcAft>
                <a:spcPts val="1000"/>
              </a:spcAft>
              <a:defRPr sz="1800">
                <a:solidFill>
                  <a:srgbClr val="333333"/>
                </a:solidFill>
              </a:defRPr>
            </a:pPr>
            <a:r>
              <a:t>Great project managers manage both threats and opportunities. Don't leave positive outcomes to chance.</a:t>
            </a:r>
          </a:p>
          <a:p>
            <a:pPr>
              <a:spcAft>
                <a:spcPts val="1000"/>
              </a:spcAft>
              <a:defRPr sz="1800">
                <a:solidFill>
                  <a:srgbClr val="333333"/>
                </a:solidFill>
              </a:defRPr>
            </a:pPr>
            <a:r>
              <a:t>PPT Content:</a:t>
            </a:r>
          </a:p>
          <a:p>
            <a:pPr>
              <a:defRPr sz="1400">
                <a:solidFill>
                  <a:srgbClr val="787878"/>
                </a:solidFill>
                <a:latin typeface="Consolas"/>
              </a:defRPr>
            </a:pPr>
            <a:r>
              <a:t>OPPORTUNITY MANAGEMENT</a:t>
            </a:r>
            <a:br/>
            <a:br/>
            <a:r>
              <a:t>DEFINITION:</a:t>
            </a:r>
            <a:br/>
            <a:r>
              <a:t>Opportunities are uncertain events that, if they occur,</a:t>
            </a:r>
            <a:br/>
            <a:r>
              <a:t>have a POSITIVE impact on objectives</a:t>
            </a:r>
            <a:br/>
            <a:br/>
            <a:r>
              <a:t>WHY MANAGE OPPORTUNITIES?</a:t>
            </a:r>
            <a:br/>
            <a:r>
              <a:t>• Most teams focus only on threats</a:t>
            </a:r>
            <a:br/>
            <a:r>
              <a:t>• Proactive opportunity management improves outcomes</a:t>
            </a:r>
            <a:br/>
            <a:r>
              <a:t>• Competitive advantage</a:t>
            </a:r>
            <a:br/>
            <a:r>
              <a:t>• Cost savings, schedule acceleration, performance improvement</a:t>
            </a:r>
            <a:br/>
            <a:r>
              <a:t>• Innovation and learning</a:t>
            </a:r>
            <a:br/>
            <a:br/>
            <a:r>
              <a:t>OPPORTUNITY IDENTIFICATION:</a:t>
            </a:r>
            <a:br/>
            <a:br/>
            <a:r>
              <a:t>Same techniques as threats:</a:t>
            </a:r>
            <a:br/>
            <a:r>
              <a:t>• Brainstorming: "What could go better than expected?</a:t>
            </a:r>
            <a:br/>
            <a:r>
              <a:t>• Technology scouting: New innovations applicable</a:t>
            </a:r>
            <a:br/>
            <a:r>
              <a:t>• Lessons learned: What worked better than planned before?</a:t>
            </a:r>
            <a:br/>
            <a:r>
              <a:t>• Supplier innovations: What can suppliers offer?</a:t>
            </a:r>
            <a:br/>
            <a:r>
              <a:t>• Market analysis: Emerging customer needs we can address</a:t>
            </a:r>
            <a:br/>
            <a:br/>
            <a:r>
              <a:t>AUTOMOTIVE OPPORTUNITY EXAMPLES:</a:t>
            </a:r>
            <a:br/>
            <a:br/>
            <a:r>
              <a:t>1. TECHNICAL OPPORTUNITIES</a:t>
            </a:r>
            <a:br/>
            <a:r>
              <a:t>   • New technology improves performance beyond target</a:t>
            </a:r>
            <a:br/>
            <a:r>
              <a:t>   • Design optimization reduces weight/cost more than expected</a:t>
            </a:r>
            <a:br/>
            <a:r>
              <a:t>   • Supplier offers better component at same cost</a:t>
            </a:r>
            <a:br/>
            <a:r>
              <a:t>   • Testing reveals system exceeds requirements</a:t>
            </a:r>
            <a:br/>
            <a:br/>
            <a:r>
              <a:t>2. SCHEDULE OPPORTUNITIES</a:t>
            </a:r>
            <a:br/>
            <a:r>
              <a:t>   • Parallel work possible (thought to be sequential)</a:t>
            </a:r>
            <a:br/>
            <a:r>
              <a:t>   • Supplier delivers early</a:t>
            </a:r>
            <a:br/>
            <a:r>
              <a:t>   • Verification completes faster than planned</a:t>
            </a:r>
            <a:br/>
            <a:r>
              <a:t>   • Regulatory approval faster than expected</a:t>
            </a:r>
            <a:br/>
            <a:br/>
            <a:r>
              <a:t>3. COST OPPORTUNITIES</a:t>
            </a:r>
            <a:br/>
            <a:r>
              <a:t>   • Commodity price reduction</a:t>
            </a:r>
            <a:br/>
            <a:r>
              <a:t>   • Manufacturing process improvement reduces cost</a:t>
            </a:r>
            <a:br/>
            <a:r>
              <a:t>   • Volume increase enables better supplier pricing</a:t>
            </a:r>
            <a:br/>
            <a:r>
              <a:t>   • Design simplification reduces part count</a:t>
            </a:r>
            <a:br/>
            <a:br/>
            <a:r>
              <a:t>4. MARKET OPPORTUNITIES</a:t>
            </a:r>
            <a:br/>
            <a:r>
              <a:t>   • Competitor delay creates market window</a:t>
            </a:r>
            <a:br/>
            <a:r>
              <a:t>   • Customer demand higher than expected</a:t>
            </a:r>
            <a:br/>
            <a:r>
              <a:t>   • Early launch captures market share</a:t>
            </a:r>
            <a:br/>
            <a:r>
              <a:t>   • New market segment identified</a:t>
            </a:r>
            <a:br/>
            <a:br/>
            <a:r>
              <a:t>OPPORTUNITY ANALYSIS:</a:t>
            </a:r>
            <a:br/>
            <a:br/>
            <a:r>
              <a:t>Same approach as threats:</a:t>
            </a:r>
            <a:br/>
            <a:r>
              <a:t>• Probability: How likely is this opportunity?</a:t>
            </a:r>
            <a:br/>
            <a:r>
              <a:t>• Impact: How beneficial if it occurs?</a:t>
            </a:r>
            <a:br/>
            <a:r>
              <a:t>• Opportunity Score = Probability × Impact</a:t>
            </a:r>
            <a:br/>
            <a:br/>
            <a:r>
              <a:t>Example:</a:t>
            </a:r>
            <a:br/>
            <a:r>
              <a:t>Opportunity: New battery cell chemistry increases range 10%</a:t>
            </a:r>
            <a:br/>
            <a:r>
              <a:t>Probability: Possible (3)</a:t>
            </a:r>
            <a:br/>
            <a:r>
              <a:t>Impact: Moderate (3) - competitive advantage, customer delight</a:t>
            </a:r>
            <a:br/>
            <a:r>
              <a:t>Score: 9</a:t>
            </a:r>
            <a:br/>
            <a:br/>
            <a:r>
              <a:t>OPPORTUNITY TREATMENT STRATEGIES:</a:t>
            </a:r>
            <a:br/>
            <a:br/>
            <a:r>
              <a:t>1. EXPLOIT</a:t>
            </a:r>
            <a:br/>
            <a:r>
              <a:t>   • Ensure opportunity definitely happens</a:t>
            </a:r>
            <a:br/>
            <a:r>
              <a:t>   • Invest resources, remove barriers</a:t>
            </a:r>
            <a:br/>
            <a:br/>
            <a:r>
              <a:t>   Example:</a:t>
            </a:r>
            <a:br/>
            <a:r>
              <a:t>   New manufacturing process could reduce cost 20%</a:t>
            </a:r>
            <a:br/>
            <a:r>
              <a:t>   Exploit: Fund process development, accelerate implementation,</a:t>
            </a:r>
            <a:br/>
            <a:r>
              <a:t>   allocate best engineers</a:t>
            </a:r>
            <a:br/>
            <a:br/>
            <a:r>
              <a:t>2. ENHANCE</a:t>
            </a:r>
            <a:br/>
            <a:r>
              <a:t>   • Increase probability or positive impact</a:t>
            </a:r>
            <a:br/>
            <a:br/>
            <a:r>
              <a:t>   Example:</a:t>
            </a:r>
            <a:br/>
            <a:r>
              <a:t>   Battery cell opportunity (10% range increase)</a:t>
            </a:r>
            <a:br/>
            <a:r>
              <a:t>   Enhance:</a:t>
            </a:r>
            <a:br/>
            <a:r>
              <a:t>   - Early validation testing with cell supplier</a:t>
            </a:r>
            <a:br/>
            <a:r>
              <a:t>   - Prepare design to accommodate new cells</a:t>
            </a:r>
            <a:br/>
            <a:r>
              <a:t>   - Fast-track qualification process</a:t>
            </a:r>
            <a:br/>
            <a:r>
              <a:t>   - Marketing plan ready for enhanced range announcement</a:t>
            </a:r>
            <a:br/>
            <a:br/>
            <a:r>
              <a:t>3. SHARE</a:t>
            </a:r>
            <a:br/>
            <a:r>
              <a:t>   • Partner to realize mutual benefit</a:t>
            </a:r>
            <a:br/>
            <a:br/>
            <a:r>
              <a:t>   Example:</a:t>
            </a:r>
            <a:br/>
            <a:r>
              <a:t>   New autonomous driving algorithm applicable to multiple vehicles</a:t>
            </a:r>
            <a:br/>
            <a:r>
              <a:t>   Share: Co-develop with another OEM, share costs and IP</a:t>
            </a:r>
            <a:br/>
            <a:br/>
            <a:r>
              <a:t>4. ACCEPT</a:t>
            </a:r>
            <a:br/>
            <a:r>
              <a:t>   • Don't actively pursue, but be ready if it occurs</a:t>
            </a:r>
            <a:br/>
            <a:br/>
            <a:r>
              <a:t>   Example:</a:t>
            </a:r>
            <a:br/>
            <a:r>
              <a:t>   Competitor delay might create market window</a:t>
            </a:r>
            <a:br/>
            <a:r>
              <a:t>   Accept: Monitor competitor status, have accelerated launch plan ready</a:t>
            </a:r>
            <a:br/>
            <a:br/>
            <a:r>
              <a:t>OPPORTUNITY TREATMENT PLAN EXAMPLE:</a:t>
            </a:r>
            <a:br/>
            <a:br/>
            <a:r>
              <a:t>Opportunity ID: O-023</a:t>
            </a:r>
            <a:br/>
            <a:r>
              <a:t>Title: New battery cell chemistry could increase range 10%</a:t>
            </a:r>
            <a:br/>
            <a:r>
              <a:t>Probability: 3 (Possible) | Impact: 3 (Moderate) | Score: 9</a:t>
            </a:r>
            <a:br/>
            <a:br/>
            <a:r>
              <a:t>Strategy: ENHANCE</a:t>
            </a:r>
            <a:br/>
            <a:br/>
            <a:r>
              <a:t>Actions:</a:t>
            </a:r>
            <a:br/>
            <a:r>
              <a:t>1. Conduct early validation testing of new cells (Week 15-20)</a:t>
            </a:r>
            <a:br/>
            <a:r>
              <a:t>   Owner: Battery Engineer</a:t>
            </a:r>
            <a:br/>
            <a:r>
              <a:t>   Cost: $100K</a:t>
            </a:r>
            <a:br/>
            <a:br/>
            <a:r>
              <a:t>2. Engage cell supplier in joint development (Week 12 onward)</a:t>
            </a:r>
            <a:br/>
            <a:r>
              <a:t>   Owner: Purchasing Manager</a:t>
            </a:r>
            <a:br/>
            <a:br/>
            <a:r>
              <a:t>3. Design battery pack to accommodate new cell dimensions (Week 18-24)</a:t>
            </a:r>
            <a:br/>
            <a:r>
              <a:t>   Owner: Battery Design Team</a:t>
            </a:r>
            <a:br/>
            <a:r>
              <a:t>   Cost: $50K (design margin)</a:t>
            </a:r>
            <a:br/>
            <a:br/>
            <a:r>
              <a:t>4. Prepare fast-track qualification plan (Week 20)</a:t>
            </a:r>
            <a:br/>
            <a:r>
              <a:t>   Owner: Quality Engineer</a:t>
            </a:r>
            <a:br/>
            <a:br/>
            <a:r>
              <a:t>5. Develop marketing message for enhanced range (Week 25)</a:t>
            </a:r>
            <a:br/>
            <a:r>
              <a:t>   Owner: Product Planning</a:t>
            </a:r>
            <a:br/>
            <a:br/>
            <a:r>
              <a:t>Expected Outcome:</a:t>
            </a:r>
            <a:br/>
            <a:r>
              <a:t>• Probability: 3 → 4 (Likely) with proactive engagement</a:t>
            </a:r>
            <a:br/>
            <a:r>
              <a:t>• Impact: 3 → 4 (Major) if we're ready to adopt quickly</a:t>
            </a:r>
            <a:br/>
            <a:r>
              <a:t>• New Score: 16 (High positive opportunity)</a:t>
            </a:r>
            <a:br/>
            <a:br/>
            <a:r>
              <a:t>Success Metric:</a:t>
            </a:r>
            <a:br/>
            <a:r>
              <a:t>If cells meet targets, integrate into production within 6 months</a:t>
            </a:r>
            <a:br/>
            <a:r>
              <a:t>Achieve 440 km range vs 400 km baseline</a:t>
            </a:r>
            <a:br/>
            <a:br/>
            <a:r>
              <a:t>→ Don't leave positive outcomes to chance; actively pursue opportunities</a:t>
            </a:r>
          </a:p>
          <a:p>
            <a:pPr>
              <a:spcAft>
                <a:spcPts val="1000"/>
              </a:spcAft>
              <a:defRPr sz="1800">
                <a:solidFill>
                  <a:srgbClr val="333333"/>
                </a:solidFill>
              </a:defRPr>
            </a:pPr>
            <a:r>
              <a:t>Learning Outcomes: LO1, LO2, LO3 - Opportunity management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Risk Reserves - Planning for Uncertainty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a critical question: How do you plan for uncertainty? You can't know exactly how much a project will cost or how long it will take, because risks exist. The answer: Risk Reserves.</a:t>
            </a:r>
          </a:p>
          <a:p>
            <a:pPr>
              <a:spcAft>
                <a:spcPts val="1000"/>
              </a:spcAft>
              <a:defRPr sz="1800">
                <a:solidFill>
                  <a:srgbClr val="333333"/>
                </a:solidFill>
              </a:defRPr>
            </a:pPr>
            <a:r>
              <a:t>Two types of reserves:</a:t>
            </a:r>
          </a:p>
          <a:p>
            <a:pPr>
              <a:spcAft>
                <a:spcPts val="1000"/>
              </a:spcAft>
              <a:defRPr sz="1800">
                <a:solidFill>
                  <a:srgbClr val="333333"/>
                </a:solidFill>
              </a:defRPr>
            </a:pPr>
            <a:r>
              <a:t>Contingency Reserve — Budget and schedule buffer for known risks (the ones in your risk register). You've identified them, analyzed them, but haven't eliminated them. If they occur, you use the contingency reserve.</a:t>
            </a:r>
          </a:p>
          <a:p>
            <a:pPr>
              <a:spcAft>
                <a:spcPts val="1000"/>
              </a:spcAft>
              <a:defRPr sz="1800">
                <a:solidFill>
                  <a:srgbClr val="333333"/>
                </a:solidFill>
              </a:defRPr>
            </a:pPr>
            <a:r>
              <a:t>Example: Your risk register has 10 medium-high risks with potential cost impact of $5M total. You allocate a $3M contingency reserve (60% coverage). If risks materialize, you have budget to address them.</a:t>
            </a:r>
          </a:p>
          <a:p>
            <a:pPr>
              <a:spcAft>
                <a:spcPts val="1000"/>
              </a:spcAft>
              <a:defRPr sz="1800">
                <a:solidFill>
                  <a:srgbClr val="333333"/>
                </a:solidFill>
              </a:defRPr>
            </a:pPr>
            <a:r>
              <a:t>Management Reserve — Buffer for unknown risks (the 'unknown unknowns'). Things you haven't anticipated. Typically 5-15% of project budget.</a:t>
            </a:r>
          </a:p>
          <a:p>
            <a:pPr>
              <a:spcAft>
                <a:spcPts val="1000"/>
              </a:spcAft>
              <a:defRPr sz="1800">
                <a:solidFill>
                  <a:srgbClr val="333333"/>
                </a:solidFill>
              </a:defRPr>
            </a:pPr>
            <a:r>
              <a:t>Automotive programs always include reserves. A project with no reserves is a fantasy. Reality always includes uncertainty. Reserves acknowledge that and prepare for it.</a:t>
            </a:r>
          </a:p>
          <a:p>
            <a:pPr>
              <a:spcAft>
                <a:spcPts val="1000"/>
              </a:spcAft>
              <a:defRPr sz="1800">
                <a:solidFill>
                  <a:srgbClr val="333333"/>
                </a:solidFill>
              </a:defRPr>
            </a:pPr>
            <a:r>
              <a:t>Key point: Reserves are not slush funds. They're risk-based, justified, and controlled. You spend reserves only for identified risks or approved changes.</a:t>
            </a:r>
          </a:p>
          <a:p>
            <a:pPr>
              <a:spcAft>
                <a:spcPts val="1000"/>
              </a:spcAft>
              <a:defRPr sz="1800">
                <a:solidFill>
                  <a:srgbClr val="333333"/>
                </a:solidFill>
              </a:defRPr>
            </a:pPr>
            <a:r>
              <a:t>PPT Content:</a:t>
            </a:r>
          </a:p>
          <a:p>
            <a:pPr>
              <a:defRPr sz="1400">
                <a:solidFill>
                  <a:srgbClr val="787878"/>
                </a:solidFill>
                <a:latin typeface="Consolas"/>
              </a:defRPr>
            </a:pPr>
            <a:r>
              <a:t>RISK RESERVES - Planning for Uncertainty</a:t>
            </a:r>
            <a:br/>
            <a:br/>
            <a:r>
              <a:t>PURPOSE:</a:t>
            </a:r>
            <a:br/>
            <a:r>
              <a:t>Allocate budget/schedule to address risks</a:t>
            </a:r>
            <a:br/>
            <a:r>
              <a:t>without derailing the project</a:t>
            </a:r>
            <a:br/>
            <a:br/>
            <a:r>
              <a:t>TWO TYPES OF RESERVES:</a:t>
            </a:r>
            <a:br/>
            <a:br/>
            <a:r>
              <a:t>1. CONTINGENCY RESERVE</a:t>
            </a:r>
            <a:br/>
            <a:r>
              <a:t>   • For KNOWN RISKS (in risk register)</a:t>
            </a:r>
            <a:br/>
            <a:r>
              <a:t>   • Calculated based on risk analysis</a:t>
            </a:r>
            <a:br/>
            <a:r>
              <a:t>   • Controlled by project manager</a:t>
            </a:r>
            <a:br/>
            <a:r>
              <a:t>   • Used when identified risks occur</a:t>
            </a:r>
            <a:br/>
            <a:br/>
            <a:r>
              <a:t>   Calculation Methods:</a:t>
            </a:r>
            <a:br/>
            <a:r>
              <a:t>   a) Expected Monetary Value (EMV):</a:t>
            </a:r>
            <a:br/>
            <a:r>
              <a:t>      For each risk: EMV = Probability × Impact ($)</a:t>
            </a:r>
            <a:br/>
            <a:r>
              <a:t>      Contingency Reserve = Sum of all EMVs</a:t>
            </a:r>
            <a:br/>
            <a:br/>
            <a:r>
              <a:t>      Example:</a:t>
            </a:r>
            <a:br/>
            <a:r>
              <a:t>      Risk A: 30% × $1M = $300K</a:t>
            </a:r>
            <a:br/>
            <a:r>
              <a:t>      Risk B: 50% × $500K = $250K</a:t>
            </a:r>
            <a:br/>
            <a:r>
              <a:t>      Risk C: 20% × $2M = $400K</a:t>
            </a:r>
            <a:br/>
            <a:r>
              <a:t>      Total Contingency Reserve = $950K</a:t>
            </a:r>
            <a:br/>
            <a:br/>
            <a:r>
              <a:t>   b) Percentage of Identified Risks:</a:t>
            </a:r>
            <a:br/>
            <a:r>
              <a:t>      Sum worst-case impact of all medium-high risks</a:t>
            </a:r>
            <a:br/>
            <a:r>
              <a:t>      Reserve = 40-80% of total (based on treatment effectiveness)</a:t>
            </a:r>
            <a:br/>
            <a:br/>
            <a:r>
              <a:t>      Example:</a:t>
            </a:r>
            <a:br/>
            <a:r>
              <a:t>      Total identified risk exposure: $10M</a:t>
            </a:r>
            <a:br/>
            <a:r>
              <a:t>      Contingency Reserve: 50% × $10M = $5M</a:t>
            </a:r>
            <a:br/>
            <a:br/>
            <a:r>
              <a:t>2. MANAGEMENT RESERVE</a:t>
            </a:r>
            <a:br/>
            <a:r>
              <a:t>   • For UNKNOWN RISKS ("unknown unknowns")</a:t>
            </a:r>
            <a:br/>
            <a:r>
              <a:t>   • Things not yet identified</a:t>
            </a:r>
            <a:br/>
            <a:r>
              <a:t>   • Controlled by senior management</a:t>
            </a:r>
            <a:br/>
            <a:r>
              <a:t>   • Typically 5-15% of project budget</a:t>
            </a:r>
            <a:br/>
            <a:r>
              <a:t>   • Requires management approval to use</a:t>
            </a:r>
            <a:br/>
            <a:br/>
            <a:r>
              <a:t>   Example:</a:t>
            </a:r>
            <a:br/>
            <a:r>
              <a:t>   Project Budget: $100M</a:t>
            </a:r>
            <a:br/>
            <a:r>
              <a:t>   Management Reserve: 10% × $100M = $10M</a:t>
            </a:r>
            <a:br/>
            <a:br/>
            <a:r>
              <a:t>TOTAL PROJECT BUDGET:</a:t>
            </a:r>
            <a:br/>
            <a:br/>
            <a:r>
              <a:t>Base Estimate (most likely cost)        $85M</a:t>
            </a:r>
            <a:br/>
            <a:r>
              <a:t>+ Contingency Reserve (known risks)     $10M</a:t>
            </a:r>
            <a:br/>
            <a:r>
              <a:t>+ Management Reserve (unknown risks)    $10M</a:t>
            </a:r>
            <a:br/>
            <a:r>
              <a:t>───────────────────────────────────────</a:t>
            </a:r>
            <a:br/>
            <a:r>
              <a:t>Total Project Budget                   $105M</a:t>
            </a:r>
            <a:br/>
            <a:br/>
            <a:r>
              <a:t>SCHEDULE RESERVES:</a:t>
            </a:r>
            <a:br/>
            <a:br/>
            <a:r>
              <a:t>Same concept applies to schedule:</a:t>
            </a:r>
            <a:br/>
            <a:r>
              <a:t>• Contingency time for known schedule risks</a:t>
            </a:r>
            <a:br/>
            <a:r>
              <a:t>• Management reserve time for unknowns</a:t>
            </a:r>
            <a:br/>
            <a:r>
              <a:t>• Often added as buffer at milestones or end of project</a:t>
            </a:r>
            <a:br/>
            <a:br/>
            <a:r>
              <a:t>RESERVE MANAGEMENT:</a:t>
            </a:r>
            <a:br/>
            <a:br/>
            <a:r>
              <a:t>✓ Document basis for reserve allocation</a:t>
            </a:r>
            <a:br/>
            <a:r>
              <a:t>✓ Track reserve usage against risk occurrence</a:t>
            </a:r>
            <a:br/>
            <a:r>
              <a:t>✓ Update reserves as risks change</a:t>
            </a:r>
            <a:br/>
            <a:r>
              <a:t>✓ Replenish if new risks identified</a:t>
            </a:r>
            <a:br/>
            <a:r>
              <a:t>✓ Release unused reserves at project end</a:t>
            </a:r>
            <a:br/>
            <a:br/>
            <a:r>
              <a:t>AUTOMOTIVE CONTEXT:</a:t>
            </a:r>
            <a:br/>
            <a:br/>
            <a:r>
              <a:t>• APQP programs include contingency in timelines</a:t>
            </a:r>
            <a:br/>
            <a:r>
              <a:t>• Launch delays always have cost/schedule buffers</a:t>
            </a:r>
            <a:br/>
            <a:r>
              <a:t>• Supplier agreements include penalty clauses (risk transfer)</a:t>
            </a:r>
            <a:br/>
            <a:r>
              <a:t>• Warranty reserves for post-launch quality issues</a:t>
            </a:r>
            <a:br/>
            <a:br/>
            <a:r>
              <a:t>COMMON MISTAKES:</a:t>
            </a:r>
            <a:br/>
            <a:br/>
            <a:r>
              <a:t>✗ No reserves ("we'll hit the estimate exactly") → Unrealistic</a:t>
            </a:r>
            <a:br/>
            <a:r>
              <a:t>✗ Reserves too large (padding) → Inflated budgets, reduces efficiency</a:t>
            </a:r>
            <a:br/>
            <a:r>
              <a:t>✗ Reserves used as slush fund → Poor discipline</a:t>
            </a:r>
            <a:br/>
            <a:r>
              <a:t>✗ Reserves not tracked → Don't know if risk management working</a:t>
            </a:r>
            <a:br/>
            <a:br/>
            <a:r>
              <a:t>BEST PRACTICES:</a:t>
            </a:r>
            <a:br/>
            <a:br/>
            <a:r>
              <a:t>✓ Risk-based reserve allocation</a:t>
            </a:r>
            <a:br/>
            <a:r>
              <a:t>✓ Clear approval process for reserve use</a:t>
            </a:r>
            <a:br/>
            <a:r>
              <a:t>✓ Track reserves separately from base budget</a:t>
            </a:r>
            <a:br/>
            <a:r>
              <a:t>✓ Review and justify reserves at gates</a:t>
            </a:r>
            <a:br/>
            <a:r>
              <a:t>✓ Return unused reserves at project close</a:t>
            </a:r>
            <a:br/>
            <a:br/>
            <a:r>
              <a:t>→ Reserves are acknowledgment of reality, not pessimism</a:t>
            </a:r>
          </a:p>
          <a:p>
            <a:pPr>
              <a:spcAft>
                <a:spcPts val="1000"/>
              </a:spcAft>
              <a:defRPr sz="1800">
                <a:solidFill>
                  <a:srgbClr val="333333"/>
                </a:solidFill>
              </a:defRPr>
            </a:pPr>
            <a:r>
              <a:t>Learning Outcomes: LO1, LO2 - Risk reserves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Automotive Program Management Context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bring this to your world. Automotive programs are among the most complex product development efforts—3-5 year timelines, thousands of people, billions in investment, global supply chains, and zero tolerance for safety failures.</a:t>
            </a:r>
          </a:p>
          <a:p>
            <a:pPr>
              <a:spcAft>
                <a:spcPts val="1000"/>
              </a:spcAft>
              <a:defRPr sz="1800">
                <a:solidFill>
                  <a:srgbClr val="333333"/>
                </a:solidFill>
              </a:defRPr>
            </a:pPr>
            <a:r>
              <a:t>The automotive industry uses specific frameworks: APQP (Advanced Product Quality Planning) in North America, VDA-RGA in Europe. These integrate systems engineering, project management, and quality management.</a:t>
            </a:r>
          </a:p>
          <a:p>
            <a:pPr>
              <a:spcAft>
                <a:spcPts val="1000"/>
              </a:spcAft>
              <a:defRPr sz="1800">
                <a:solidFill>
                  <a:srgbClr val="333333"/>
                </a:solidFill>
              </a:defRPr>
            </a:pPr>
            <a:r>
              <a:t>APQP has five phases, each with defined deliverables and gate reviews. Let me show you how the project and risk management processes we've discussed integrate into APQP.</a:t>
            </a:r>
          </a:p>
          <a:p>
            <a:pPr>
              <a:spcAft>
                <a:spcPts val="1000"/>
              </a:spcAft>
              <a:defRPr sz="1800">
                <a:solidFill>
                  <a:srgbClr val="333333"/>
                </a:solidFill>
              </a:defRPr>
            </a:pPr>
            <a:r>
              <a:t>Everything you've learned today—WBS, scheduling, risk management—maps directly to automotive program management. This isn't academic theory. This is how real vehicle programs are managed.</a:t>
            </a:r>
          </a:p>
          <a:p>
            <a:pPr>
              <a:spcAft>
                <a:spcPts val="1000"/>
              </a:spcAft>
              <a:defRPr sz="1800">
                <a:solidFill>
                  <a:srgbClr val="333333"/>
                </a:solidFill>
              </a:defRPr>
            </a:pPr>
            <a:r>
              <a:t>PPT Content:</a:t>
            </a:r>
          </a:p>
          <a:p>
            <a:pPr>
              <a:defRPr sz="1400">
                <a:solidFill>
                  <a:srgbClr val="787878"/>
                </a:solidFill>
                <a:latin typeface="Consolas"/>
              </a:defRPr>
            </a:pPr>
            <a:r>
              <a:t>AUTOMOTIVE PROGRAM MANAGEMENT</a:t>
            </a:r>
            <a:br/>
            <a:br/>
            <a:r>
              <a:t>APQP (ADVANCED PRODUCT QUALITY PLANNING):</a:t>
            </a:r>
            <a:br/>
            <a:r>
              <a:t>North American automotive standard</a:t>
            </a:r>
            <a:br/>
            <a:r>
              <a:t>Five phases with gates:</a:t>
            </a:r>
            <a:br/>
            <a:br/>
            <a:r>
              <a:t>PHASE 1: PLAN AND DEFINE PROGRAM</a:t>
            </a:r>
            <a:br/>
            <a:r>
              <a:t>• Concept approval</a:t>
            </a:r>
            <a:br/>
            <a:r>
              <a:t>• Business case and feasibility</a:t>
            </a:r>
            <a:br/>
            <a:r>
              <a:t>• Preliminary requirements</a:t>
            </a:r>
            <a:br/>
            <a:r>
              <a:t>→ Gate 1: Concept Approval</a:t>
            </a:r>
            <a:br/>
            <a:br/>
            <a:r>
              <a:t>PHASE 2: PRODUCT DESIGN AND DEVELOPMENT</a:t>
            </a:r>
            <a:br/>
            <a:r>
              <a:t>• Requirements engineering</a:t>
            </a:r>
            <a:br/>
            <a:r>
              <a:t>• System and detail design</a:t>
            </a:r>
            <a:br/>
            <a:r>
              <a:t>• Design verification (DVP&amp;R)</a:t>
            </a:r>
            <a:br/>
            <a:r>
              <a:t>• DFMEA</a:t>
            </a:r>
            <a:br/>
            <a:r>
              <a:t>→ Gate 2: Design Release</a:t>
            </a:r>
            <a:br/>
            <a:br/>
            <a:r>
              <a:t>PHASE 3: PROCESS DESIGN AND DEVELOPMENT</a:t>
            </a:r>
            <a:br/>
            <a:r>
              <a:t>• Manufacturing process design</a:t>
            </a:r>
            <a:br/>
            <a:r>
              <a:t>• Process FMEA</a:t>
            </a:r>
            <a:br/>
            <a:r>
              <a:t>• Control plans</a:t>
            </a:r>
            <a:br/>
            <a:r>
              <a:t>→ Gate 3: Process Validation</a:t>
            </a:r>
            <a:br/>
            <a:br/>
            <a:r>
              <a:t>PHASE 4: PRODUCT AND PROCESS VALIDATION</a:t>
            </a:r>
            <a:br/>
            <a:r>
              <a:t>• Production trial run</a:t>
            </a:r>
            <a:br/>
            <a:r>
              <a:t>• Measurement systems analysis</a:t>
            </a:r>
            <a:br/>
            <a:r>
              <a:t>• Production validation testing</a:t>
            </a:r>
            <a:br/>
            <a:r>
              <a:t>→ Gate 4: Production Approval</a:t>
            </a:r>
            <a:br/>
            <a:br/>
            <a:r>
              <a:t>PHASE 5: LAUNCH, FEEDBACK, ASSESSMENT, CORRECTIVE ACTION</a:t>
            </a:r>
            <a:br/>
            <a:r>
              <a:t>• Start of production</a:t>
            </a:r>
            <a:br/>
            <a:r>
              <a:t>• Continuous improvement</a:t>
            </a:r>
            <a:br/>
            <a:r>
              <a:t>• Lessons learned</a:t>
            </a:r>
            <a:br/>
            <a:r>
              <a:t>→ Ongoing production monitoring</a:t>
            </a:r>
            <a:br/>
            <a:br/>
            <a:r>
              <a:t>SE PROJECT MANAGEMENT INTEGRATION:</a:t>
            </a:r>
            <a:br/>
            <a:br/>
            <a:r>
              <a:t>PHASE 1 (Plan &amp; Define):</a:t>
            </a:r>
            <a:br/>
            <a:r>
              <a:t>• Define project scope</a:t>
            </a:r>
            <a:br/>
            <a:r>
              <a:t>• Develop preliminary WBS</a:t>
            </a:r>
            <a:br/>
            <a:r>
              <a:t>• Initial risk identification</a:t>
            </a:r>
            <a:br/>
            <a:r>
              <a:t>• Conceptual architecture</a:t>
            </a:r>
            <a:br/>
            <a:r>
              <a:t>→ SEMP initiated</a:t>
            </a:r>
            <a:br/>
            <a:br/>
            <a:r>
              <a:t>PHASE 2 (Design &amp; Development):</a:t>
            </a:r>
            <a:br/>
            <a:r>
              <a:t>• Detailed WBS aligned with system architecture</a:t>
            </a:r>
            <a:br/>
            <a:r>
              <a:t>• Integrated master schedule</a:t>
            </a:r>
            <a:br/>
            <a:r>
              <a:t>• Requirements management plan</a:t>
            </a:r>
            <a:br/>
            <a:r>
              <a:t>• Risk management plan</a:t>
            </a:r>
            <a:br/>
            <a:r>
              <a:t>• Design reviews (PDR, CDR)</a:t>
            </a:r>
            <a:br/>
            <a:r>
              <a:t>• DVP&amp;R (verification planning)</a:t>
            </a:r>
            <a:br/>
            <a:r>
              <a:t>→ SEMP baseline, detailed plans active</a:t>
            </a:r>
            <a:br/>
            <a:br/>
            <a:r>
              <a:t>PHASE 3 (Process Design):</a:t>
            </a:r>
            <a:br/>
            <a:r>
              <a:t>• Manufacturing integration planning</a:t>
            </a:r>
            <a:br/>
            <a:r>
              <a:t>• Process verification planning</a:t>
            </a:r>
            <a:br/>
            <a:r>
              <a:t>• Supply chain risk management</a:t>
            </a:r>
            <a:br/>
            <a:r>
              <a:t>• Production schedule development</a:t>
            </a:r>
            <a:br/>
            <a:br/>
            <a:r>
              <a:t>PHASE 4 (Validation):</a:t>
            </a:r>
            <a:br/>
            <a:r>
              <a:t>• Validation execution and tracking</a:t>
            </a:r>
            <a:br/>
            <a:r>
              <a:t>• Issue tracking and resolution (8D, CAPA)</a:t>
            </a:r>
            <a:br/>
            <a:r>
              <a:t>• Launch readiness assessment</a:t>
            </a:r>
            <a:br/>
            <a:r>
              <a:t>• Risk mitigation for launch</a:t>
            </a:r>
            <a:br/>
            <a:br/>
            <a:r>
              <a:t>PHASE 5 (Launch &amp; Production):</a:t>
            </a:r>
            <a:br/>
            <a:r>
              <a:t>• Production monitoring</a:t>
            </a:r>
            <a:br/>
            <a:r>
              <a:t>• Field performance tracking</a:t>
            </a:r>
            <a:br/>
            <a:r>
              <a:t>• Lessons learned capture</a:t>
            </a:r>
            <a:br/>
            <a:r>
              <a:t>• Continuous improvement</a:t>
            </a:r>
            <a:br/>
            <a:br/>
            <a:r>
              <a:t>RISK MANAGEMENT IN APQP:</a:t>
            </a:r>
            <a:br/>
            <a:br/>
            <a:r>
              <a:t>Phase 1: Initial risk identification (business, technical, market)</a:t>
            </a:r>
            <a:br/>
            <a:r>
              <a:t>Phase 2: Design risk management (DFMEA, system FMEA, risk register)</a:t>
            </a:r>
            <a:br/>
            <a:r>
              <a:t>Phase 3: Process risk management (PFMEA, supply chain)</a:t>
            </a:r>
            <a:br/>
            <a:r>
              <a:t>Phase 4: Validation risks (test failures, approval delays)</a:t>
            </a:r>
            <a:br/>
            <a:r>
              <a:t>Phase 5: Launch and field risks (quality, warranty, recalls)</a:t>
            </a:r>
            <a:br/>
            <a:br/>
            <a:r>
              <a:t>GATE REVIEWS = RISK-BASED DECISIONS:</a:t>
            </a:r>
            <a:br/>
            <a:br/>
            <a:r>
              <a:t>Each gate review assesses:</a:t>
            </a:r>
            <a:br/>
            <a:r>
              <a:t>• Are objectives met?</a:t>
            </a:r>
            <a:br/>
            <a:r>
              <a:t>• Are risks acceptable?</a:t>
            </a:r>
            <a:br/>
            <a:r>
              <a:t>• Are we ready for next phase?</a:t>
            </a:r>
            <a:br/>
            <a:r>
              <a:t>• Go / No-Go decision</a:t>
            </a:r>
            <a:br/>
            <a:br/>
            <a:r>
              <a:t>VDA-RGA (GERMAN AUTOMOTIVE):</a:t>
            </a:r>
            <a:br/>
            <a:r>
              <a:t>Similar structure, different terminology</a:t>
            </a:r>
            <a:br/>
            <a:r>
              <a:t>• Maturity Level Assessment (MLA)</a:t>
            </a:r>
            <a:br/>
            <a:r>
              <a:t>• Risk management integrated throughout</a:t>
            </a:r>
            <a:br/>
            <a:r>
              <a:t>• Strong supplier integration</a:t>
            </a:r>
            <a:br/>
            <a:br/>
            <a:r>
              <a:t>→ Automotive SE is embedded in program management frameworks</a:t>
            </a:r>
          </a:p>
          <a:p>
            <a:pPr>
              <a:spcAft>
                <a:spcPts val="1000"/>
              </a:spcAft>
              <a:defRPr sz="1800">
                <a:solidFill>
                  <a:srgbClr val="333333"/>
                </a:solidFill>
              </a:defRPr>
            </a:pPr>
            <a:r>
              <a:t>Learning Outcomes: LO2, LO4 - Automotive SE integration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Risk Management in Automotive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 me give you specific automotive risk examples across the development lifecycle.</a:t>
            </a:r>
          </a:p>
          <a:p>
            <a:pPr>
              <a:spcAft>
                <a:spcPts val="1000"/>
              </a:spcAft>
              <a:defRPr sz="1800">
                <a:solidFill>
                  <a:srgbClr val="333333"/>
                </a:solidFill>
              </a:defRPr>
            </a:pPr>
            <a:r>
              <a:t>Concept Phase Risks: Market acceptance uncertainty, technology feasibility (e.g., new propulsion system), business case sensitivity to cost/volume assumptions.</a:t>
            </a:r>
          </a:p>
          <a:p>
            <a:pPr>
              <a:spcAft>
                <a:spcPts val="1000"/>
              </a:spcAft>
              <a:defRPr sz="1800">
                <a:solidFill>
                  <a:srgbClr val="333333"/>
                </a:solidFill>
              </a:defRPr>
            </a:pPr>
            <a:r>
              <a:t>Design Phase Risks: Requirements instability (customer keeps changing), integration complexity (100+ ECUs networked), supplier technical capability, software complexity and verification, safety hazard analysis gaps.</a:t>
            </a:r>
          </a:p>
          <a:p>
            <a:pPr>
              <a:spcAft>
                <a:spcPts val="1000"/>
              </a:spcAft>
              <a:defRPr sz="1800">
                <a:solidFill>
                  <a:srgbClr val="333333"/>
                </a:solidFill>
              </a:defRPr>
            </a:pPr>
            <a:r>
              <a:t>Validation Phase Risks: Test facility availability, proving ground access, scenario coverage (can't test every possible condition), regulatory approval delays, certification test failures.</a:t>
            </a:r>
          </a:p>
          <a:p>
            <a:pPr>
              <a:spcAft>
                <a:spcPts val="1000"/>
              </a:spcAft>
              <a:defRPr sz="1800">
                <a:solidFill>
                  <a:srgbClr val="333333"/>
                </a:solidFill>
              </a:defRPr>
            </a:pPr>
            <a:r>
              <a:t>Production Phase Risks: Manufacturing process yield, supply chain disruptions, quality escapes, launch timing (missing key sales season), cost overruns.</a:t>
            </a:r>
          </a:p>
          <a:p>
            <a:pPr>
              <a:spcAft>
                <a:spcPts val="1000"/>
              </a:spcAft>
              <a:defRPr sz="1800">
                <a:solidFill>
                  <a:srgbClr val="333333"/>
                </a:solidFill>
              </a:defRPr>
            </a:pPr>
            <a:r>
              <a:t>Post-Launch Risks: Field failures and warranty costs, recall risks, cybersecurity vulnerabilities discovered, software bugs in deployed fleet.</a:t>
            </a:r>
          </a:p>
          <a:p>
            <a:pPr>
              <a:spcAft>
                <a:spcPts val="1000"/>
              </a:spcAft>
              <a:defRPr sz="1800">
                <a:solidFill>
                  <a:srgbClr val="333333"/>
                </a:solidFill>
              </a:defRPr>
            </a:pPr>
            <a:r>
              <a:t>Every one of these is real. Every automotive program faces them. Your job as a systems engineer is to identify, analyze, and treat these risks proactively. That's how you prevent the next major recall.</a:t>
            </a:r>
          </a:p>
          <a:p>
            <a:pPr>
              <a:spcAft>
                <a:spcPts val="1000"/>
              </a:spcAft>
              <a:defRPr sz="1800">
                <a:solidFill>
                  <a:srgbClr val="333333"/>
                </a:solidFill>
              </a:defRPr>
            </a:pPr>
            <a:r>
              <a:t>PPT Content:</a:t>
            </a:r>
          </a:p>
          <a:p>
            <a:pPr>
              <a:defRPr sz="1400">
                <a:solidFill>
                  <a:srgbClr val="787878"/>
                </a:solidFill>
                <a:latin typeface="Consolas"/>
              </a:defRPr>
            </a:pPr>
            <a:r>
              <a:t>AUTOMOTIVE RISK EXAMPLES</a:t>
            </a:r>
            <a:br/>
            <a:br/>
            <a:r>
              <a:t>CONCEPT PHASE RISKS:</a:t>
            </a:r>
            <a:br/>
            <a:br/>
            <a:r>
              <a:t>Technical Risks:</a:t>
            </a:r>
            <a:br/>
            <a:r>
              <a:t>• New propulsion technology not mature (TRL &lt; 7)</a:t>
            </a:r>
            <a:br/>
            <a:r>
              <a:t>• Performance targets not achievable with current technology</a:t>
            </a:r>
            <a:br/>
            <a:r>
              <a:t>• Architecture concept has integration unknowns</a:t>
            </a:r>
            <a:br/>
            <a:br/>
            <a:r>
              <a:t>Market Risks:</a:t>
            </a:r>
            <a:br/>
            <a:r>
              <a:t>• Customer acceptance of new technology uncertain</a:t>
            </a:r>
            <a:br/>
            <a:r>
              <a:t>• Competitor actions (feature parity, pricing)</a:t>
            </a:r>
            <a:br/>
            <a:r>
              <a:t>• Regulatory changes (emissions, safety standards)</a:t>
            </a:r>
            <a:br/>
            <a:br/>
            <a:r>
              <a:t>Business Risks:</a:t>
            </a:r>
            <a:br/>
            <a:r>
              <a:t>• Business case sensitive to cost/volume assumptions</a:t>
            </a:r>
            <a:br/>
            <a:r>
              <a:t>• Investment payback timeline long (&gt;7 years)</a:t>
            </a:r>
            <a:br/>
            <a:r>
              <a:t>• Insufficient funding allocated</a:t>
            </a:r>
            <a:br/>
            <a:br/>
            <a:r>
              <a:t>DESIGN PHASE RISKS:</a:t>
            </a:r>
            <a:br/>
            <a:br/>
            <a:r>
              <a:t>Requirements Risks:</a:t>
            </a:r>
            <a:br/>
            <a:r>
              <a:t>• Requirements unstable (high change rate)</a:t>
            </a:r>
            <a:br/>
            <a:r>
              <a:t>• Conflicting requirements (performance vs cost vs safety)</a:t>
            </a:r>
            <a:br/>
            <a:r>
              <a:t>• Missing critical requirements</a:t>
            </a:r>
            <a:br/>
            <a:r>
              <a:t>• Stakeholder alignment gaps</a:t>
            </a:r>
            <a:br/>
            <a:br/>
            <a:r>
              <a:t>Technical Risks:</a:t>
            </a:r>
            <a:br/>
            <a:r>
              <a:t>• System complexity beyond verification capability</a:t>
            </a:r>
            <a:br/>
            <a:r>
              <a:t>• Integration risks (interfaces, timing, emergent behavior)</a:t>
            </a:r>
            <a:br/>
            <a:r>
              <a:t>• Software size and complexity (defect density)</a:t>
            </a:r>
            <a:br/>
            <a:r>
              <a:t>• Supplier technical capability gaps</a:t>
            </a:r>
            <a:br/>
            <a:r>
              <a:t>• Technology obsolescence (long development cycles)</a:t>
            </a:r>
            <a:br/>
            <a:br/>
            <a:r>
              <a:t>Safety Risks:</a:t>
            </a:r>
            <a:br/>
            <a:r>
              <a:t>• FMEA gaps (failure modes not identified)</a:t>
            </a:r>
            <a:br/>
            <a:r>
              <a:t>• Hazard analysis incomplete</a:t>
            </a:r>
            <a:br/>
            <a:r>
              <a:t>• Safety architecture insufficient (single point failures)</a:t>
            </a:r>
            <a:br/>
            <a:r>
              <a:t>• Cybersecurity vulnerabilities</a:t>
            </a:r>
            <a:br/>
            <a:br/>
            <a:r>
              <a:t>Design Process Risks:</a:t>
            </a:r>
            <a:br/>
            <a:r>
              <a:t>• Design review findings not closed</a:t>
            </a:r>
            <a:br/>
            <a:r>
              <a:t>• Verification planning inadequate (DVP&amp;R gaps)</a:t>
            </a:r>
            <a:br/>
            <a:r>
              <a:t>• Traceability gaps (requirements to design to tests)</a:t>
            </a:r>
            <a:br/>
            <a:br/>
            <a:r>
              <a:t>VALIDATION PHASE RISKS:</a:t>
            </a:r>
            <a:br/>
            <a:br/>
            <a:r>
              <a:t>Test Execution Risks:</a:t>
            </a:r>
            <a:br/>
            <a:r>
              <a:t>• Test facility availability (proving grounds, labs)</a:t>
            </a:r>
            <a:br/>
            <a:r>
              <a:t>• Test equipment lead times</a:t>
            </a:r>
            <a:br/>
            <a:r>
              <a:t>• Scenario coverage incomplete (can't test everything)</a:t>
            </a:r>
            <a:br/>
            <a:r>
              <a:t>• Environmental testing (extreme conditions)</a:t>
            </a:r>
            <a:br/>
            <a:r>
              <a:t>• Durability testing (accelerated aging)</a:t>
            </a:r>
            <a:br/>
            <a:br/>
            <a:r>
              <a:t>Validation Results Risks:</a:t>
            </a:r>
            <a:br/>
            <a:r>
              <a:t>• Test failures (design inadequate)</a:t>
            </a:r>
            <a:br/>
            <a:r>
              <a:t>• Performance shortfalls (doesn't meet targets)</a:t>
            </a:r>
            <a:br/>
            <a:r>
              <a:t>• Certification test failures (regulatory)</a:t>
            </a:r>
            <a:br/>
            <a:r>
              <a:t>• Reliability issues discovered late</a:t>
            </a:r>
            <a:br/>
            <a:br/>
            <a:r>
              <a:t>Schedule Risks:</a:t>
            </a:r>
            <a:br/>
            <a:r>
              <a:t>• Validation takes longer than planned</a:t>
            </a:r>
            <a:br/>
            <a:r>
              <a:t>• Rework cycles delay completion</a:t>
            </a:r>
            <a:br/>
            <a:r>
              <a:t>• Regulatory approval delays (certifications)</a:t>
            </a:r>
            <a:br/>
            <a:br/>
            <a:r>
              <a:t>PRODUCTION PHASE RISKS:</a:t>
            </a:r>
            <a:br/>
            <a:br/>
            <a:r>
              <a:t>Manufacturing Risks:</a:t>
            </a:r>
            <a:br/>
            <a:r>
              <a:t>• Process yield issues (new processes)</a:t>
            </a:r>
            <a:br/>
            <a:r>
              <a:t>• Tooling delays or quality issues</a:t>
            </a:r>
            <a:br/>
            <a:r>
              <a:t>• Assembly complexity (fit, tolerance)</a:t>
            </a:r>
            <a:br/>
            <a:r>
              <a:t>• Supply chain disruptions (part shortages)</a:t>
            </a:r>
            <a:br/>
            <a:r>
              <a:t>• Quality escapes (defects not caught)</a:t>
            </a:r>
            <a:br/>
            <a:br/>
            <a:r>
              <a:t>Launch Risks:</a:t>
            </a:r>
            <a:br/>
            <a:r>
              <a:t>• Launch timing (miss key sales season)</a:t>
            </a:r>
            <a:br/>
            <a:r>
              <a:t>• Ramp-up slower than planned (volume)</a:t>
            </a:r>
            <a:br/>
            <a:r>
              <a:t>• Cost overruns (manufacturing not optimized)</a:t>
            </a:r>
            <a:br/>
            <a:r>
              <a:t>• Training gaps (assembly workers, service technicians)</a:t>
            </a:r>
            <a:br/>
            <a:br/>
            <a:r>
              <a:t>POST-LAUNCH RISKS:</a:t>
            </a:r>
            <a:br/>
            <a:br/>
            <a:r>
              <a:t>Field Performance Risks:</a:t>
            </a:r>
            <a:br/>
            <a:r>
              <a:t>• Reliability issues (early failures)</a:t>
            </a:r>
            <a:br/>
            <a:r>
              <a:t>• Warranty costs higher than predicted</a:t>
            </a:r>
            <a:br/>
            <a:r>
              <a:t>• Software bugs in deployed fleet</a:t>
            </a:r>
            <a:br/>
            <a:r>
              <a:t>• Cybersecurity vulnerabilities discovered</a:t>
            </a:r>
            <a:br/>
            <a:r>
              <a:t>• Recall risk (safety-critical defects)</a:t>
            </a:r>
            <a:br/>
            <a:br/>
            <a:r>
              <a:t>Market Risks:</a:t>
            </a:r>
            <a:br/>
            <a:r>
              <a:t>• Customer satisfaction below target</a:t>
            </a:r>
            <a:br/>
            <a:r>
              <a:t>• Competitive pressure (better products launched)</a:t>
            </a:r>
            <a:br/>
            <a:r>
              <a:t>• Demand different than forecast</a:t>
            </a:r>
            <a:br/>
            <a:br/>
            <a:r>
              <a:t>RISK EXAMPLE: BATTERY ELECTRIC VEHICLE</a:t>
            </a:r>
            <a:br/>
            <a:br/>
            <a:r>
              <a:t>Technical Risk: Battery thermal runaway</a:t>
            </a:r>
            <a:br/>
            <a:r>
              <a:t>• Probability: Unlikely (2)</a:t>
            </a:r>
            <a:br/>
            <a:r>
              <a:t>• Impact: Catastrophic (5) - safety, recall, brand damage</a:t>
            </a:r>
            <a:br/>
            <a:r>
              <a:t>• Score: 10 (High)</a:t>
            </a:r>
            <a:br/>
            <a:r>
              <a:t>• Treatment:</a:t>
            </a:r>
            <a:br/>
            <a:r>
              <a:t>  - Mitigation: Rigorous FMEA, thermal testing, battery management system design</a:t>
            </a:r>
            <a:br/>
            <a:r>
              <a:t>  - Mitigation: Cell-level and pack-level safety features</a:t>
            </a:r>
            <a:br/>
            <a:r>
              <a:t>  - Mitigation: Abuse testing (overcharge, crush, thermal)</a:t>
            </a:r>
            <a:br/>
            <a:r>
              <a:t>  - Contingency: Recall plan, field monitoring</a:t>
            </a:r>
            <a:br/>
            <a:br/>
            <a:r>
              <a:t>Supply Chain Risk: Battery cell shortages</a:t>
            </a:r>
            <a:br/>
            <a:r>
              <a:t>• Probability: Possible (3)</a:t>
            </a:r>
            <a:br/>
            <a:r>
              <a:t>• Impact: Major (4) - production delays, cost increases</a:t>
            </a:r>
            <a:br/>
            <a:r>
              <a:t>• Score: 12 (High)</a:t>
            </a:r>
            <a:br/>
            <a:r>
              <a:t>• Treatment:</a:t>
            </a:r>
            <a:br/>
            <a:r>
              <a:t>  - Mitigation: Multi-source strategy (2-3 cell suppliers qualified)</a:t>
            </a:r>
            <a:br/>
            <a:r>
              <a:t>  - Mitigation: Long-term supply agreements with volume commitments</a:t>
            </a:r>
            <a:br/>
            <a:r>
              <a:t>  - Transfer: Penalty clauses in supplier contracts</a:t>
            </a:r>
            <a:br/>
            <a:r>
              <a:t>  - Accept: Strategic inventory buffer (3-month supply)</a:t>
            </a:r>
            <a:br/>
            <a:br/>
            <a:r>
              <a:t>Software Risk: Over-the-air update failures</a:t>
            </a:r>
            <a:br/>
            <a:r>
              <a:t>• Probability: Possible (3)</a:t>
            </a:r>
            <a:br/>
            <a:r>
              <a:t>• Impact: Major (4) - customer dissatisfaction, safety if critical update</a:t>
            </a:r>
            <a:br/>
            <a:r>
              <a:t>• Score: 12 (High)</a:t>
            </a:r>
            <a:br/>
            <a:r>
              <a:t>• Treatment:</a:t>
            </a:r>
            <a:br/>
            <a:r>
              <a:t>  - Mitigation: Robust update architecture (rollback capability)</a:t>
            </a:r>
            <a:br/>
            <a:r>
              <a:t>  - Mitigation: Phased rollout (fleet segmentation)</a:t>
            </a:r>
            <a:br/>
            <a:r>
              <a:t>  - Mitigation: Comprehensive testing before deployment</a:t>
            </a:r>
            <a:br/>
            <a:r>
              <a:t>  - Contingency: Service center reflash capability</a:t>
            </a:r>
            <a:br/>
            <a:br/>
            <a:r>
              <a:t>→ Automotive risk management is continuous, lifecycle-wide</a:t>
            </a:r>
          </a:p>
          <a:p>
            <a:pPr>
              <a:spcAft>
                <a:spcPts val="1000"/>
              </a:spcAft>
              <a:defRPr sz="1800">
                <a:solidFill>
                  <a:srgbClr val="333333"/>
                </a:solidFill>
              </a:defRPr>
            </a:pPr>
            <a:r>
              <a:t>Learning Outcomes: LO2, LO4 - Automotive risks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Integration with ISO 26262 Functional Safety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If you're working on safety-critical automotive systems—and most of you will be—you need to understand the relationship between risk management and ISO 26262 Functional Safety.</a:t>
            </a:r>
          </a:p>
          <a:p>
            <a:pPr>
              <a:spcAft>
                <a:spcPts val="1000"/>
              </a:spcAft>
              <a:defRPr sz="1800">
                <a:solidFill>
                  <a:srgbClr val="333333"/>
                </a:solidFill>
              </a:defRPr>
            </a:pPr>
            <a:r>
              <a:t>ISO 26262 is the automotive functional safety standard. It's a risk-based approach to safety—identify hazards, assess risks, implement safety measures to reduce risk to acceptable levels.</a:t>
            </a:r>
          </a:p>
          <a:p>
            <a:pPr>
              <a:spcAft>
                <a:spcPts val="1000"/>
              </a:spcAft>
              <a:defRPr sz="1800">
                <a:solidFill>
                  <a:srgbClr val="333333"/>
                </a:solidFill>
              </a:defRPr>
            </a:pPr>
            <a:r>
              <a:t>Here's the key: ISO 26262 is a specialized form of risk management focused on safety hazards. The risk management process we discussed today is broader—it includes schedule, cost, technical, business risks. ISO 26262 focuses on risks to human safety.</a:t>
            </a:r>
          </a:p>
          <a:p>
            <a:pPr>
              <a:spcAft>
                <a:spcPts val="1000"/>
              </a:spcAft>
              <a:defRPr sz="1800">
                <a:solidFill>
                  <a:srgbClr val="333333"/>
                </a:solidFill>
              </a:defRPr>
            </a:pPr>
            <a:r>
              <a:t>They integrate this way:</a:t>
            </a:r>
          </a:p>
          <a:p>
            <a:pPr>
              <a:spcAft>
                <a:spcPts val="600"/>
              </a:spcAft>
              <a:defRPr sz="1800">
                <a:solidFill>
                  <a:srgbClr val="333333"/>
                </a:solidFill>
              </a:defRPr>
            </a:pPr>
            <a:r>
              <a:t>Your general risk register includes all project risks</a:t>
            </a:r>
          </a:p>
          <a:p>
            <a:pPr>
              <a:spcAft>
                <a:spcPts val="600"/>
              </a:spcAft>
              <a:defRPr sz="1800">
                <a:solidFill>
                  <a:srgbClr val="333333"/>
                </a:solidFill>
              </a:defRPr>
            </a:pPr>
            <a:r>
              <a:t>Hazard analysis (ISO 26262) identifies safety-specific risks</a:t>
            </a:r>
          </a:p>
          <a:p>
            <a:pPr>
              <a:spcAft>
                <a:spcPts val="600"/>
              </a:spcAft>
              <a:defRPr sz="1800">
                <a:solidFill>
                  <a:srgbClr val="333333"/>
                </a:solidFill>
              </a:defRPr>
            </a:pPr>
            <a:r>
              <a:t>ASIL (Automotive Safety Integrity Level) ratings drive safety requirements</a:t>
            </a:r>
          </a:p>
          <a:p>
            <a:pPr>
              <a:spcAft>
                <a:spcPts val="600"/>
              </a:spcAft>
              <a:defRPr sz="1800">
                <a:solidFill>
                  <a:srgbClr val="333333"/>
                </a:solidFill>
              </a:defRPr>
            </a:pPr>
            <a:r>
              <a:t>Safety goals and safety requirements get traced through the system</a:t>
            </a:r>
          </a:p>
          <a:p>
            <a:pPr>
              <a:spcAft>
                <a:spcPts val="600"/>
              </a:spcAft>
              <a:defRPr sz="1800">
                <a:solidFill>
                  <a:srgbClr val="333333"/>
                </a:solidFill>
              </a:defRPr>
            </a:pPr>
            <a:r>
              <a:t>Safety validation is part of your overall verification and validation</a:t>
            </a:r>
          </a:p>
          <a:p>
            <a:pPr>
              <a:spcAft>
                <a:spcPts val="1000"/>
              </a:spcAft>
              <a:defRPr sz="1800">
                <a:solidFill>
                  <a:srgbClr val="333333"/>
                </a:solidFill>
              </a:defRPr>
            </a:pPr>
            <a:r>
              <a:t>Bottom line: If your system is safety-critical, you do both general risk management AND functional safety analysis. They're complementary, not competing.</a:t>
            </a:r>
          </a:p>
          <a:p>
            <a:pPr>
              <a:spcAft>
                <a:spcPts val="1000"/>
              </a:spcAft>
              <a:defRPr sz="1800">
                <a:solidFill>
                  <a:srgbClr val="333333"/>
                </a:solidFill>
              </a:defRPr>
            </a:pPr>
            <a:r>
              <a:t>PPT Content:</a:t>
            </a:r>
          </a:p>
          <a:p>
            <a:pPr>
              <a:defRPr sz="1400">
                <a:solidFill>
                  <a:srgbClr val="787878"/>
                </a:solidFill>
                <a:latin typeface="Consolas"/>
              </a:defRPr>
            </a:pPr>
            <a:r>
              <a:t>INTEGRATION: RISK MANAGEMENT &amp; ISO 26262 FUNCTIONAL SAFETY</a:t>
            </a:r>
            <a:br/>
            <a:br/>
            <a:r>
              <a:t>ISO 26262 OVERVIEW:</a:t>
            </a:r>
            <a:br/>
            <a:r>
              <a:t>Automotive functional safety standard</a:t>
            </a:r>
            <a:br/>
            <a:r>
              <a:t>Risk-based approach to prevent unreasonable safety risks</a:t>
            </a:r>
            <a:br/>
            <a:br/>
            <a:r>
              <a:t>RELATIONSHIP TO RISK MANAGEMENT:</a:t>
            </a:r>
            <a:br/>
            <a:br/>
            <a:r>
              <a:t>GENERAL RISK MANAGEMENT (ISO/IEC 15288):</a:t>
            </a:r>
            <a:br/>
            <a:r>
              <a:t>• Broad scope: Technical, schedule, cost, business, safety, etc.</a:t>
            </a:r>
            <a:br/>
            <a:r>
              <a:t>• All project risks</a:t>
            </a:r>
            <a:br/>
            <a:r>
              <a:t>• Risk register with all identified risks</a:t>
            </a:r>
            <a:br/>
            <a:br/>
            <a:r>
              <a:t>ISO 26262 FUNCTIONAL SAFETY:</a:t>
            </a:r>
            <a:br/>
            <a:r>
              <a:t>• Narrow scope: Safety hazards and risks to human life</a:t>
            </a:r>
            <a:br/>
            <a:r>
              <a:t>• Safety-specific risk assessment</a:t>
            </a:r>
            <a:br/>
            <a:r>
              <a:t>• Hazard Analysis and Risk Assessment (HARA)</a:t>
            </a:r>
            <a:br/>
            <a:r>
              <a:t>• Automotive Safety Integrity Level (ASIL) ratings</a:t>
            </a:r>
            <a:br/>
            <a:br/>
            <a:r>
              <a:t>→ ISO 26262 is specialized risk management for safety</a:t>
            </a:r>
            <a:br/>
            <a:br/>
            <a:r>
              <a:t>INTEGRATION POINTS:</a:t>
            </a:r>
            <a:br/>
            <a:br/>
            <a:r>
              <a:t>1. HAZARD IDENTIFICATION</a:t>
            </a:r>
            <a:br/>
            <a:r>
              <a:t>   General Risk ID → Identifies some safety hazards</a:t>
            </a:r>
            <a:br/>
            <a:r>
              <a:t>   ISO 26262 HARA → Systematically identifies all safety hazards</a:t>
            </a:r>
            <a:br/>
            <a:r>
              <a:t>   Both feed into → Comprehensive risk/hazard register</a:t>
            </a:r>
            <a:br/>
            <a:br/>
            <a:r>
              <a:t>2. RISK ANALYSIS</a:t>
            </a:r>
            <a:br/>
            <a:r>
              <a:t>   General Risk Analysis → Probability × Impact (cost, schedule, etc.)</a:t>
            </a:r>
            <a:br/>
            <a:r>
              <a:t>   ISO 26262 HARA → Severity × Exposure × Controllability → ASIL</a:t>
            </a:r>
            <a:br/>
            <a:r>
              <a:t>   Both drive → Prioritization and treatment</a:t>
            </a:r>
            <a:br/>
            <a:br/>
            <a:r>
              <a:t>3. RISK TREATMENT</a:t>
            </a:r>
            <a:br/>
            <a:r>
              <a:t>   General Risk → Avoid, Mitigate, Transfer, Accept</a:t>
            </a:r>
            <a:br/>
            <a:r>
              <a:t>   ISO 26262 → Safety requirements, ASIL decomposition, safety mechanisms</a:t>
            </a:r>
            <a:br/>
            <a:r>
              <a:t>   Both result in → Design requirements and verification</a:t>
            </a:r>
            <a:br/>
            <a:br/>
            <a:r>
              <a:t>4. RISK MONITORING</a:t>
            </a:r>
            <a:br/>
            <a:r>
              <a:t>   General Risk → Track risk register, evaluate treatment</a:t>
            </a:r>
            <a:br/>
            <a:r>
              <a:t>   ISO 26262 → Safety validation, functional safety assessment</a:t>
            </a:r>
            <a:br/>
            <a:r>
              <a:t>   Both provide → Ongoing assurance</a:t>
            </a:r>
            <a:br/>
            <a:br/>
            <a:r>
              <a:t>EXAMPLE: BRAKING SYSTEM</a:t>
            </a:r>
            <a:br/>
            <a:br/>
            <a:r>
              <a:t>General Risk Management:</a:t>
            </a:r>
            <a:br/>
            <a:r>
              <a:t>Risk: Brake system performance below target</a:t>
            </a:r>
            <a:br/>
            <a:r>
              <a:t>• Probability: Unlikely (2)</a:t>
            </a:r>
            <a:br/>
            <a:r>
              <a:t>• Impact: Major (4) - rework, cost</a:t>
            </a:r>
            <a:br/>
            <a:r>
              <a:t>• Score: 8</a:t>
            </a:r>
            <a:br/>
            <a:r>
              <a:t>• Treatment: Early testing, design reviews</a:t>
            </a:r>
            <a:br/>
            <a:br/>
            <a:r>
              <a:t>ISO 26262 Functional Safety:</a:t>
            </a:r>
            <a:br/>
            <a:r>
              <a:t>Hazard: Unintended brake application during normal driving</a:t>
            </a:r>
            <a:br/>
            <a:r>
              <a:t>• Severity: S3 (severe injuries possible)</a:t>
            </a:r>
            <a:br/>
            <a:r>
              <a:t>• Exposure: E4 (high probability of exposure)</a:t>
            </a:r>
            <a:br/>
            <a:r>
              <a:t>• Controllability: C2 (normally controllable)</a:t>
            </a:r>
            <a:br/>
            <a:r>
              <a:t>• ASIL: D (highest)</a:t>
            </a:r>
            <a:br/>
            <a:r>
              <a:t>• Treatment:</a:t>
            </a:r>
            <a:br/>
            <a:r>
              <a:t>  - Safety goal: "Prevent unintended brake application</a:t>
            </a:r>
            <a:br/>
            <a:r>
              <a:t>  - Safety requirements: Redundant sensors, plausibility checks</a:t>
            </a:r>
            <a:br/>
            <a:r>
              <a:t>  - Safety architecture: Fail-safe design</a:t>
            </a:r>
            <a:br/>
            <a:r>
              <a:t>  - Verification: Fault injection testing, FMEA</a:t>
            </a:r>
            <a:br/>
            <a:br/>
            <a:r>
              <a:t>BOTH PERSPECTIVES MANAGED:</a:t>
            </a:r>
            <a:br/>
            <a:r>
              <a:t>• Risk register includes performance risk</a:t>
            </a:r>
            <a:br/>
            <a:r>
              <a:t>• HARA and safety case address safety hazards</a:t>
            </a:r>
            <a:br/>
            <a:r>
              <a:t>• Integrated verification plan covers both</a:t>
            </a:r>
            <a:br/>
            <a:br/>
            <a:r>
              <a:t>PROCESS INTEGRATION:</a:t>
            </a:r>
            <a:br/>
            <a:br/>
            <a:r>
              <a:t>SE Risk Management Plan includes:</a:t>
            </a:r>
            <a:br/>
            <a:r>
              <a:t>• General risk identification and treatment</a:t>
            </a:r>
            <a:br/>
            <a:r>
              <a:t>• Reference to ISO 26262 safety activities</a:t>
            </a:r>
            <a:br/>
            <a:r>
              <a:t>• Integration of safety requirements into system requirements</a:t>
            </a:r>
            <a:br/>
            <a:r>
              <a:t>• Verification of both functional and safety requirements</a:t>
            </a:r>
            <a:br/>
            <a:br/>
            <a:r>
              <a:t>ISO 26262 Safety Plan includes:</a:t>
            </a:r>
            <a:br/>
            <a:r>
              <a:t>• Hazard analysis and risk assessment</a:t>
            </a:r>
            <a:br/>
            <a:r>
              <a:t>• ASIL determination</a:t>
            </a:r>
            <a:br/>
            <a:r>
              <a:t>• Safety concept and architecture</a:t>
            </a:r>
            <a:br/>
            <a:r>
              <a:t>• Verification and validation of safety</a:t>
            </a:r>
            <a:br/>
            <a:r>
              <a:t>• Functional safety assessment</a:t>
            </a:r>
            <a:br/>
            <a:br/>
            <a:r>
              <a:t>→ Systems Engineer coordinates both; ensures integration</a:t>
            </a:r>
            <a:br/>
            <a:br/>
            <a:r>
              <a:t>KEY TAKEAWAY:</a:t>
            </a:r>
            <a:br/>
            <a:r>
              <a:t>If your system is safety-critical:</a:t>
            </a:r>
            <a:br/>
            <a:r>
              <a:t>✓ Do general risk management (ISO/IEC 15288)</a:t>
            </a:r>
            <a:br/>
            <a:r>
              <a:t>✓ Do functional safety analysis (ISO 26262)</a:t>
            </a:r>
            <a:br/>
            <a:r>
              <a:t>✓ Integrate them into a coherent approach</a:t>
            </a:r>
            <a:br/>
            <a:r>
              <a:t>✓ Ensure safety risks are treated with highest rigor</a:t>
            </a:r>
            <a:br/>
            <a:br/>
            <a:r>
              <a:t>→ Safety risks cannot be "accepted" like other risks</a:t>
            </a:r>
          </a:p>
          <a:p>
            <a:pPr>
              <a:spcAft>
                <a:spcPts val="1000"/>
              </a:spcAft>
              <a:defRPr sz="1800">
                <a:solidFill>
                  <a:srgbClr val="333333"/>
                </a:solidFill>
              </a:defRPr>
            </a:pPr>
            <a:r>
              <a:t>Learning Outcomes: LO2, LO4 - Safety integration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Key Takeaways - Session 9</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consolidate what you learned today. Write these down:</a:t>
            </a:r>
          </a:p>
          <a:p>
            <a:pPr>
              <a:spcAft>
                <a:spcPts val="1000"/>
              </a:spcAft>
              <a:defRPr sz="1800">
                <a:solidFill>
                  <a:srgbClr val="333333"/>
                </a:solidFill>
              </a:defRPr>
            </a:pPr>
            <a:r>
              <a:t>1. Technical management IS systems engineering. Planning, assessment, and risk management are not overhead—they're how you execute SE work successfully.</a:t>
            </a:r>
          </a:p>
          <a:p>
            <a:pPr>
              <a:spcAft>
                <a:spcPts val="1000"/>
              </a:spcAft>
              <a:defRPr sz="1800">
                <a:solidFill>
                  <a:srgbClr val="333333"/>
                </a:solidFill>
              </a:defRPr>
            </a:pPr>
            <a:r>
              <a:t>2. Project planning provides structure. WBS aligned with architecture, schedules with dependencies, resources allocated realistically. Without planning, you're hoping, not engineering.</a:t>
            </a:r>
          </a:p>
          <a:p>
            <a:pPr>
              <a:spcAft>
                <a:spcPts val="1000"/>
              </a:spcAft>
              <a:defRPr sz="1800">
                <a:solidFill>
                  <a:srgbClr val="333333"/>
                </a:solidFill>
              </a:defRPr>
            </a:pPr>
            <a:r>
              <a:t>3. Risk management is proactive, not reactive. Identify, analyze, treat, and monitor risks continuously. Opportunities too. Don't leave outcomes to chance.</a:t>
            </a:r>
          </a:p>
          <a:p>
            <a:pPr>
              <a:spcAft>
                <a:spcPts val="1000"/>
              </a:spcAft>
              <a:defRPr sz="1800">
                <a:solidFill>
                  <a:srgbClr val="333333"/>
                </a:solidFill>
              </a:defRPr>
            </a:pPr>
            <a:r>
              <a:t>4. Reserves are acknowledgment of reality. Contingency for known risks, management reserve for unknowns. Projects without reserves are fantasies.</a:t>
            </a:r>
          </a:p>
          <a:p>
            <a:pPr>
              <a:spcAft>
                <a:spcPts val="1000"/>
              </a:spcAft>
              <a:defRPr sz="1800">
                <a:solidFill>
                  <a:srgbClr val="333333"/>
                </a:solidFill>
              </a:defRPr>
            </a:pPr>
            <a:r>
              <a:t>5. Automotive programs integrate SE into APQP/VDA frameworks. Everything you learned maps directly to real vehicle development.</a:t>
            </a:r>
          </a:p>
          <a:p>
            <a:pPr>
              <a:spcAft>
                <a:spcPts val="1000"/>
              </a:spcAft>
              <a:defRPr sz="1800">
                <a:solidFill>
                  <a:srgbClr val="333333"/>
                </a:solidFill>
              </a:defRPr>
            </a:pPr>
            <a:r>
              <a:t>6. Prevention is far cheaper than correction. Mars Orbiter: $165K mitigation vs $327M loss. Risk management has extraordinary ROI.</a:t>
            </a:r>
          </a:p>
          <a:p>
            <a:pPr>
              <a:spcAft>
                <a:spcPts val="1000"/>
              </a:spcAft>
              <a:defRPr sz="1800">
                <a:solidFill>
                  <a:srgbClr val="333333"/>
                </a:solidFill>
              </a:defRPr>
            </a:pPr>
            <a:r>
              <a:t>Master these practices, and you'll be a complete systems engineer—technical excellence with management discipline.</a:t>
            </a:r>
          </a:p>
          <a:p>
            <a:pPr>
              <a:spcAft>
                <a:spcPts val="1000"/>
              </a:spcAft>
              <a:defRPr sz="1800">
                <a:solidFill>
                  <a:srgbClr val="333333"/>
                </a:solidFill>
              </a:defRPr>
            </a:pPr>
            <a:r>
              <a:t>PPT Content:</a:t>
            </a:r>
          </a:p>
          <a:p>
            <a:pPr>
              <a:defRPr sz="1400">
                <a:solidFill>
                  <a:srgbClr val="787878"/>
                </a:solidFill>
                <a:latin typeface="Consolas"/>
              </a:defRPr>
            </a:pPr>
            <a:r>
              <a:t>KEY TAKEAWAYS - SESSION 9</a:t>
            </a:r>
            <a:br/>
            <a:br/>
            <a:r>
              <a:t>1. TECHNICAL MANAGEMENT IS SYSTEMS ENGINEERING</a:t>
            </a:r>
            <a:br/>
            <a:r>
              <a:t>   • Planning, assessment, risk management ARE SE processes</a:t>
            </a:r>
            <a:br/>
            <a:r>
              <a:t>   • Not overhead; essential for execution</a:t>
            </a:r>
            <a:br/>
            <a:r>
              <a:t>   • ISO/IEC 15288 Technical Management Processes</a:t>
            </a:r>
            <a:br/>
            <a:br/>
            <a:r>
              <a:t>2. PROJECT PLANNING PROVIDES STRUCTURE</a:t>
            </a:r>
            <a:br/>
            <a:r>
              <a:t>   • WBS aligned with system architecture</a:t>
            </a:r>
            <a:br/>
            <a:r>
              <a:t>   • Schedule with dependencies and critical path</a:t>
            </a:r>
            <a:br/>
            <a:r>
              <a:t>   • Resource allocation (people, budget, tools)</a:t>
            </a:r>
            <a:br/>
            <a:r>
              <a:t>   • Plans are living documents, updated continuously</a:t>
            </a:r>
            <a:br/>
            <a:br/>
            <a:r>
              <a:t>3. RISK MANAGEMENT IS PROACTIVE</a:t>
            </a:r>
            <a:br/>
            <a:r>
              <a:t>   • Identify risks and opportunities continuously</a:t>
            </a:r>
            <a:br/>
            <a:r>
              <a:t>   • Analyze probability and impact; prioritize</a:t>
            </a:r>
            <a:br/>
            <a:r>
              <a:t>   • Treat with appropriate strategies (Avoid/Mitigate/Transfer/Accept)</a:t>
            </a:r>
            <a:br/>
            <a:r>
              <a:t>   • Monitor and control throughout lifecycle</a:t>
            </a:r>
            <a:br/>
            <a:r>
              <a:t>   • Risk register is essential tool</a:t>
            </a:r>
            <a:br/>
            <a:br/>
            <a:r>
              <a:t>4. RESERVES ACKNOWLEDGE REALITY</a:t>
            </a:r>
            <a:br/>
            <a:r>
              <a:t>   • Contingency reserve for known risks</a:t>
            </a:r>
            <a:br/>
            <a:r>
              <a:t>   • Management reserve for unknown risks</a:t>
            </a:r>
            <a:br/>
            <a:r>
              <a:t>   • Risk-based allocation, controlled use</a:t>
            </a:r>
            <a:br/>
            <a:r>
              <a:t>   • Projects without reserves are unrealistic</a:t>
            </a:r>
            <a:br/>
            <a:br/>
            <a:r>
              <a:t>5. RESILIENCE COMPLEMENTS RISK MANAGEMENT</a:t>
            </a:r>
            <a:br/>
            <a:r>
              <a:t>   • Risk management: Predict and prevent</a:t>
            </a:r>
            <a:br/>
            <a:r>
              <a:t>   • Resilience: Adapt and continue despite unexpected</a:t>
            </a:r>
            <a:br/>
            <a:r>
              <a:t>   • Build diversity, modularity, redundancy, adaptability</a:t>
            </a:r>
            <a:br/>
            <a:br/>
            <a:r>
              <a:t>6. AUTOMOTIVE INTEGRATION</a:t>
            </a:r>
            <a:br/>
            <a:r>
              <a:t>   • SE planning integrates with APQP/VDA</a:t>
            </a:r>
            <a:br/>
            <a:r>
              <a:t>   • Risk management throughout vehicle development</a:t>
            </a:r>
            <a:br/>
            <a:r>
              <a:t>   • Functional safety (ISO 26262) is specialized risk management</a:t>
            </a:r>
            <a:br/>
            <a:r>
              <a:t>   • Real programs use these practices daily</a:t>
            </a:r>
            <a:br/>
            <a:br/>
            <a:r>
              <a:t>7. PREVENTION &gt;&gt; CORRECTION</a:t>
            </a:r>
            <a:br/>
            <a:r>
              <a:t>   • Mars Orbiter: $165K mitigation vs $327M loss</a:t>
            </a:r>
            <a:br/>
            <a:r>
              <a:t>   • Early planning prevents late chaos</a:t>
            </a:r>
            <a:br/>
            <a:r>
              <a:t>   • Risk management has extraordinary ROI</a:t>
            </a:r>
            <a:br/>
            <a:r>
              <a:t>   • Management discipline prevents technical disasters</a:t>
            </a:r>
            <a:br/>
            <a:br/>
            <a:r>
              <a:t>→ You are now equipped for technical project and risk management</a:t>
            </a:r>
          </a:p>
          <a:p>
            <a:pPr>
              <a:spcAft>
                <a:spcPts val="1000"/>
              </a:spcAft>
              <a:defRPr sz="1800">
                <a:solidFill>
                  <a:srgbClr val="333333"/>
                </a:solidFill>
              </a:defRPr>
            </a:pPr>
            <a:r>
              <a:t>Learning Outcomes: LO1, LO2, LO3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Practical Application - Starting Your Risk Register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I want you to leave today ready to apply this. Here's a practical exercise:</a:t>
            </a:r>
          </a:p>
          <a:p>
            <a:pPr>
              <a:spcAft>
                <a:spcPts val="1000"/>
              </a:spcAft>
              <a:defRPr sz="1800">
                <a:solidFill>
                  <a:srgbClr val="333333"/>
                </a:solidFill>
              </a:defRPr>
            </a:pPr>
            <a:r>
              <a:t>For your next project—class project, thesis, or at work—create a risk register. Spend 30 minutes brainstorming risks. Use the risk breakdown structure. Identify 10-20 risks.</a:t>
            </a:r>
          </a:p>
          <a:p>
            <a:pPr>
              <a:spcAft>
                <a:spcPts val="1000"/>
              </a:spcAft>
              <a:defRPr sz="1800">
                <a:solidFill>
                  <a:srgbClr val="333333"/>
                </a:solidFill>
              </a:defRPr>
            </a:pPr>
            <a:r>
              <a:t>For each risk:</a:t>
            </a:r>
          </a:p>
          <a:p>
            <a:pPr>
              <a:spcAft>
                <a:spcPts val="600"/>
              </a:spcAft>
              <a:defRPr sz="1800">
                <a:solidFill>
                  <a:srgbClr val="333333"/>
                </a:solidFill>
              </a:defRPr>
            </a:pPr>
            <a:r>
              <a:t>Write a clear description</a:t>
            </a:r>
          </a:p>
          <a:p>
            <a:pPr>
              <a:spcAft>
                <a:spcPts val="600"/>
              </a:spcAft>
              <a:defRPr sz="1800">
                <a:solidFill>
                  <a:srgbClr val="333333"/>
                </a:solidFill>
              </a:defRPr>
            </a:pPr>
            <a:r>
              <a:t>Assess probability and impact</a:t>
            </a:r>
          </a:p>
          <a:p>
            <a:pPr>
              <a:spcAft>
                <a:spcPts val="600"/>
              </a:spcAft>
              <a:defRPr sz="1800">
                <a:solidFill>
                  <a:srgbClr val="333333"/>
                </a:solidFill>
              </a:defRPr>
            </a:pPr>
            <a:r>
              <a:t>Calculate risk score</a:t>
            </a:r>
          </a:p>
          <a:p>
            <a:pPr>
              <a:spcAft>
                <a:spcPts val="600"/>
              </a:spcAft>
              <a:defRPr sz="1800">
                <a:solidFill>
                  <a:srgbClr val="333333"/>
                </a:solidFill>
              </a:defRPr>
            </a:pPr>
            <a:r>
              <a:t>Identify the owner (who's responsible)</a:t>
            </a:r>
          </a:p>
          <a:p>
            <a:pPr>
              <a:spcAft>
                <a:spcPts val="600"/>
              </a:spcAft>
              <a:defRPr sz="1800">
                <a:solidFill>
                  <a:srgbClr val="333333"/>
                </a:solidFill>
              </a:defRPr>
            </a:pPr>
            <a:r>
              <a:t>Document at least one treatment action</a:t>
            </a:r>
          </a:p>
          <a:p>
            <a:pPr>
              <a:spcAft>
                <a:spcPts val="1000"/>
              </a:spcAft>
              <a:defRPr sz="1800">
                <a:solidFill>
                  <a:srgbClr val="333333"/>
                </a:solidFill>
              </a:defRPr>
            </a:pPr>
            <a:r>
              <a:t>Then review your risk register weekly. Add new risks. Update scores. Track mitigation progress. This simple practice will transform how you manage projects.</a:t>
            </a:r>
          </a:p>
          <a:p>
            <a:pPr>
              <a:spcAft>
                <a:spcPts val="1000"/>
              </a:spcAft>
              <a:defRPr sz="1800">
                <a:solidFill>
                  <a:srgbClr val="333333"/>
                </a:solidFill>
              </a:defRPr>
            </a:pPr>
            <a:r>
              <a:t>I guarantee: If you consistently use a risk register, you'll avoid 80% of project surprises. Most failures come from risks that were identifiable but not managed. Don't be that project.</a:t>
            </a:r>
          </a:p>
          <a:p>
            <a:pPr>
              <a:spcAft>
                <a:spcPts val="1000"/>
              </a:spcAft>
              <a:defRPr sz="1800">
                <a:solidFill>
                  <a:srgbClr val="333333"/>
                </a:solidFill>
              </a:defRPr>
            </a:pPr>
            <a:r>
              <a:t>PPT Content:</a:t>
            </a:r>
          </a:p>
          <a:p>
            <a:pPr>
              <a:defRPr sz="1400">
                <a:solidFill>
                  <a:srgbClr val="787878"/>
                </a:solidFill>
                <a:latin typeface="Consolas"/>
              </a:defRPr>
            </a:pPr>
            <a:r>
              <a:t>PRACTICAL APPLICATION: Your First Risk Register</a:t>
            </a:r>
            <a:br/>
            <a:br/>
            <a:r>
              <a:t>EXERCISE: Create a Risk Register</a:t>
            </a:r>
            <a:br/>
            <a:br/>
            <a:r>
              <a:t>For your next project (class, thesis, work):</a:t>
            </a:r>
            <a:br/>
            <a:br/>
            <a:r>
              <a:t>STEP 1: IDENTIFY RISKS (30 minutes)</a:t>
            </a:r>
            <a:br/>
            <a:r>
              <a:t>Brainstorm using Risk Breakdown Structure:</a:t>
            </a:r>
            <a:br/>
            <a:r>
              <a:t>• Technical risks (5-10 risks)</a:t>
            </a:r>
            <a:br/>
            <a:r>
              <a:t>• Schedule risks (2-5 risks)</a:t>
            </a:r>
            <a:br/>
            <a:r>
              <a:t>• Resource risks (2-5 risks)</a:t>
            </a:r>
            <a:br/>
            <a:r>
              <a:t>• External risks (2-5 risks)</a:t>
            </a:r>
            <a:br/>
            <a:br/>
            <a:r>
              <a:t>Target: 10-20 risks to start</a:t>
            </a:r>
            <a:br/>
            <a:br/>
            <a:r>
              <a:t>STEP 2: ANALYZE EACH RISK</a:t>
            </a:r>
            <a:br/>
            <a:r>
              <a:t>For each risk:</a:t>
            </a:r>
            <a:br/>
            <a:r>
              <a:t>• Probability: Rare/Unlikely/Possible/Likely/Almost Certain (1-5)</a:t>
            </a:r>
            <a:br/>
            <a:r>
              <a:t>• Impact: Negligible/Minor/Moderate/Major/Catastrophic (1-5)</a:t>
            </a:r>
            <a:br/>
            <a:r>
              <a:t>• Risk Score: Probability × Impact</a:t>
            </a:r>
            <a:br/>
            <a:r>
              <a:t>• Priority: High (15-25), Medium (6-14), Low (1-5)</a:t>
            </a:r>
            <a:br/>
            <a:br/>
            <a:r>
              <a:t>STEP 3: DOCUMENT RISK REGISTER</a:t>
            </a:r>
            <a:br/>
            <a:r>
              <a:t>Use simple spreadsheet or table:</a:t>
            </a:r>
            <a:br/>
            <a:br/>
            <a:r>
              <a:t>| ID  | Risk Description | Category | Prob | Impact | Score | Owner | Treatment Strategy | Actions | Status |</a:t>
            </a:r>
            <a:br/>
            <a:r>
              <a:t>|-----|------------------|----------|------|--------|-------|-------|-------------------|---------|--------|</a:t>
            </a:r>
            <a:br/>
            <a:r>
              <a:t>| R-01| Requirements unstable | Technical | 3 | 4 | 12 | SE Lead | Mitigate | Early stakeholder engagement, baseline control | Open |</a:t>
            </a:r>
            <a:br/>
            <a:r>
              <a:t>| R-02| Test equipment delay | Schedule | 2 | 3 | 6 | Test Eng | Mitigate | Order early, backup plan | Open |</a:t>
            </a:r>
            <a:br/>
            <a:br/>
            <a:r>
              <a:t>STEP 4: DEVELOP TREATMENT PLANS</a:t>
            </a:r>
            <a:br/>
            <a:r>
              <a:t>For HIGH risks (score &gt;12):</a:t>
            </a:r>
            <a:br/>
            <a:r>
              <a:t>• Define specific mitigation actions</a:t>
            </a:r>
            <a:br/>
            <a:r>
              <a:t>• Assign owners and deadlines</a:t>
            </a:r>
            <a:br/>
            <a:r>
              <a:t>• Allocate resources (time, budget)</a:t>
            </a:r>
            <a:br/>
            <a:br/>
            <a:r>
              <a:t>For MEDIUM risks (score 6-12):</a:t>
            </a:r>
            <a:br/>
            <a:r>
              <a:t>• Identify treatment strategy</a:t>
            </a:r>
            <a:br/>
            <a:r>
              <a:t>• Monitor triggers</a:t>
            </a:r>
            <a:br/>
            <a:br/>
            <a:r>
              <a:t>For LOW risks (score &lt;6):</a:t>
            </a:r>
            <a:br/>
            <a:r>
              <a:t>• Accept or monitor</a:t>
            </a:r>
            <a:br/>
            <a:br/>
            <a:r>
              <a:t>STEP 5: REVIEW WEEKLY</a:t>
            </a:r>
            <a:br/>
            <a:r>
              <a:t>• 15-minute risk review each week</a:t>
            </a:r>
            <a:br/>
            <a:r>
              <a:t>• Add new risks identified</a:t>
            </a:r>
            <a:br/>
            <a:r>
              <a:t>• Update probability/impact as info improves</a:t>
            </a:r>
            <a:br/>
            <a:r>
              <a:t>• Mark completed mitigations</a:t>
            </a:r>
            <a:br/>
            <a:r>
              <a:t>• Close resolved risks</a:t>
            </a:r>
            <a:br/>
            <a:br/>
            <a:r>
              <a:t>EXAMPLE RISK REGISTER FOR STUDENT PROJECT:</a:t>
            </a:r>
            <a:br/>
            <a:br/>
            <a:r>
              <a:t>R-01: Requirements Unstable</a:t>
            </a:r>
            <a:br/>
            <a:r>
              <a:t>• Description: Customer may change requirements mid-project</a:t>
            </a:r>
            <a:br/>
            <a:r>
              <a:t>• Category: Technical - Requirements</a:t>
            </a:r>
            <a:br/>
            <a:r>
              <a:t>• Probability: Possible (3)</a:t>
            </a:r>
            <a:br/>
            <a:r>
              <a:t>• Impact: Major (4) - rework, schedule delay</a:t>
            </a:r>
            <a:br/>
            <a:r>
              <a:t>• Score: 12 (High)</a:t>
            </a:r>
            <a:br/>
            <a:r>
              <a:t>• Owner: Project Lead</a:t>
            </a:r>
            <a:br/>
            <a:r>
              <a:t>• Treatment: Mitigate</a:t>
            </a:r>
            <a:br/>
            <a:r>
              <a:t>  - Action 1: Baseline requirements at Week 3, change control after</a:t>
            </a:r>
            <a:br/>
            <a:r>
              <a:t>  - Action 2: Weekly stakeholder check-ins to catch changes early</a:t>
            </a:r>
            <a:br/>
            <a:r>
              <a:t>  - Action 3: Allocate 20% schedule buffer for requirement changes</a:t>
            </a:r>
            <a:br/>
            <a:r>
              <a:t>• Status: Open - Actions in progress</a:t>
            </a:r>
            <a:br/>
            <a:br/>
            <a:r>
              <a:t>R-02: Team Member Unavailable</a:t>
            </a:r>
            <a:br/>
            <a:r>
              <a:t>• Description: Team member may have competing commitments (other classes, work)</a:t>
            </a:r>
            <a:br/>
            <a:r>
              <a:t>• Category: Resource</a:t>
            </a:r>
            <a:br/>
            <a:r>
              <a:t>• Probability: Likely (4)</a:t>
            </a:r>
            <a:br/>
            <a:r>
              <a:t>• Impact: Moderate (3) - work redistribution needed</a:t>
            </a:r>
            <a:br/>
            <a:r>
              <a:t>• Score: 12 (High)</a:t>
            </a:r>
            <a:br/>
            <a:r>
              <a:t>• Owner: Team Lead</a:t>
            </a:r>
            <a:br/>
            <a:r>
              <a:t>• Treatment: Mitigate</a:t>
            </a:r>
            <a:br/>
            <a:r>
              <a:t>  - Action 1: Cross-train team members (each knows 2+ work areas)</a:t>
            </a:r>
            <a:br/>
            <a:r>
              <a:t>  - Action 2: Modular work packages (can reassign easily)</a:t>
            </a:r>
            <a:br/>
            <a:r>
              <a:t>  - Action 3: Weekly availability check with team</a:t>
            </a:r>
            <a:br/>
            <a:r>
              <a:t>• Status: Open</a:t>
            </a:r>
            <a:br/>
            <a:br/>
            <a:r>
              <a:t>R-03: Software Tool Learning Curve</a:t>
            </a:r>
            <a:br/>
            <a:r>
              <a:t>• Description: Team unfamiliar with SysML tool, may take time to learn</a:t>
            </a:r>
            <a:br/>
            <a:r>
              <a:t>• Category: Technical - Tools</a:t>
            </a:r>
            <a:br/>
            <a:r>
              <a:t>• Probability: Possible (3)</a:t>
            </a:r>
            <a:br/>
            <a:r>
              <a:t>• Impact: Minor (2) - slight schedule impact</a:t>
            </a:r>
            <a:br/>
            <a:r>
              <a:t>• Score: 6 (Medium)</a:t>
            </a:r>
            <a:br/>
            <a:r>
              <a:t>• Owner: Systems Engineer</a:t>
            </a:r>
            <a:br/>
            <a:r>
              <a:t>• Treatment: Mitigate</a:t>
            </a:r>
            <a:br/>
            <a:r>
              <a:t>  - Action 1: Complete online tutorial (Week 1)</a:t>
            </a:r>
            <a:br/>
            <a:r>
              <a:t>  - Action 2: Practice model in Week 2 before real work</a:t>
            </a:r>
            <a:br/>
            <a:r>
              <a:t>• Status: Open</a:t>
            </a:r>
            <a:br/>
            <a:br/>
            <a:r>
              <a:t>BENEFITS YOU'LL SEE:</a:t>
            </a:r>
            <a:br/>
            <a:r>
              <a:t>✓ Fewer surprises (anticipated risks)</a:t>
            </a:r>
            <a:br/>
            <a:r>
              <a:t>✓ Proactive instead of reactive</a:t>
            </a:r>
            <a:br/>
            <a:r>
              <a:t>✓ Clear communication of challenges</a:t>
            </a:r>
            <a:br/>
            <a:r>
              <a:t>✓ Documented decision-making</a:t>
            </a:r>
            <a:br/>
            <a:r>
              <a:t>✓ Reduced stress (know what could go wrong, have a plan)</a:t>
            </a:r>
            <a:br/>
            <a:br/>
            <a:r>
              <a:t>TOOLS:</a:t>
            </a:r>
            <a:br/>
            <a:r>
              <a:t>• Simple spreadsheet (Excel, Google Sheets)</a:t>
            </a:r>
            <a:br/>
            <a:r>
              <a:t>• Project management tools (MS Project, Jira, etc.)</a:t>
            </a:r>
            <a:br/>
            <a:r>
              <a:t>• Specialized risk management software (for large programs)</a:t>
            </a:r>
            <a:br/>
            <a:br/>
            <a:r>
              <a:t>START SIMPLE. GROW AS NEEDED.</a:t>
            </a:r>
            <a:br/>
            <a:br/>
            <a:r>
              <a:t>→ Risk register is the single most valuable PM tool you can use</a:t>
            </a:r>
          </a:p>
          <a:p>
            <a:pPr>
              <a:spcAft>
                <a:spcPts val="1000"/>
              </a:spcAft>
              <a:defRPr sz="1800">
                <a:solidFill>
                  <a:srgbClr val="333333"/>
                </a:solidFill>
              </a:defRPr>
            </a:pPr>
            <a:r>
              <a:t>Learning Outcomes: LO2 - Practical application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Connection to Next Session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Today we covered three of the four Technical Management Processes: Project Planning, Project Assessment and Control, and Risk Management.</a:t>
            </a:r>
          </a:p>
          <a:p>
            <a:pPr>
              <a:spcAft>
                <a:spcPts val="1000"/>
              </a:spcAft>
              <a:defRPr sz="1800">
                <a:solidFill>
                  <a:srgbClr val="333333"/>
                </a:solidFill>
              </a:defRPr>
            </a:pPr>
            <a:r>
              <a:t>Next session, we complete the picture with Decision Management and Quality Management.</a:t>
            </a:r>
          </a:p>
          <a:p>
            <a:pPr>
              <a:spcAft>
                <a:spcPts val="1000"/>
              </a:spcAft>
              <a:defRPr sz="1800">
                <a:solidFill>
                  <a:srgbClr val="333333"/>
                </a:solidFill>
              </a:defRPr>
            </a:pPr>
            <a:r>
              <a:t>You'll learn how to make informed technical decisions systematically—not by gut feel, but by structured analysis. We'll cover decision analysis techniques, trade studies, and multi-criteria decision methods.</a:t>
            </a:r>
          </a:p>
          <a:p>
            <a:pPr>
              <a:spcAft>
                <a:spcPts val="1000"/>
              </a:spcAft>
              <a:defRPr sz="1800">
                <a:solidFill>
                  <a:srgbClr val="333333"/>
                </a:solidFill>
              </a:defRPr>
            </a:pPr>
            <a:r>
              <a:t>And we'll explore Quality Management—how to ensure your SE work produces high-quality deliverables. Quality planning, quality assurance, quality control. The difference between verification (built it right) and validation (built the right thing).</a:t>
            </a:r>
          </a:p>
          <a:p>
            <a:pPr>
              <a:spcAft>
                <a:spcPts val="1000"/>
              </a:spcAft>
              <a:defRPr sz="1800">
                <a:solidFill>
                  <a:srgbClr val="333333"/>
                </a:solidFill>
              </a:defRPr>
            </a:pPr>
            <a:r>
              <a:t>Together, Sessions 9 and 10 give you the complete technical management toolkit. You'll be able to plan SE work, manage risks, make decisions, and ensure quality. That's professional systems engineering.</a:t>
            </a:r>
          </a:p>
          <a:p>
            <a:pPr>
              <a:spcAft>
                <a:spcPts val="1000"/>
              </a:spcAft>
              <a:defRPr sz="1800">
                <a:solidFill>
                  <a:srgbClr val="333333"/>
                </a:solidFill>
              </a:defRPr>
            </a:pPr>
            <a:r>
              <a:t>See you next session!</a:t>
            </a:r>
          </a:p>
          <a:p>
            <a:pPr>
              <a:spcAft>
                <a:spcPts val="1000"/>
              </a:spcAft>
              <a:defRPr sz="1800">
                <a:solidFill>
                  <a:srgbClr val="333333"/>
                </a:solidFill>
              </a:defRPr>
            </a:pPr>
            <a:r>
              <a:t>PPT Content:</a:t>
            </a:r>
          </a:p>
          <a:p>
            <a:pPr>
              <a:defRPr sz="1400">
                <a:solidFill>
                  <a:srgbClr val="787878"/>
                </a:solidFill>
                <a:latin typeface="Consolas"/>
              </a:defRPr>
            </a:pPr>
            <a:r>
              <a:t>NEXT SESSION: DECISION AND QUALITY MANAGEMENT</a:t>
            </a:r>
            <a:br/>
            <a:br/>
            <a:r>
              <a:t>SESSION 10 PREVIEW:</a:t>
            </a:r>
            <a:br/>
            <a:br/>
            <a:r>
              <a:t>DECISION MANAGEMENT PROCESS:</a:t>
            </a:r>
            <a:br/>
            <a:r>
              <a:t>• Systematic decision-making</a:t>
            </a:r>
            <a:br/>
            <a:r>
              <a:t>• Trade studies and alternatives analysis</a:t>
            </a:r>
            <a:br/>
            <a:r>
              <a:t>• Multi-criteria decision analysis (MCDA)</a:t>
            </a:r>
            <a:br/>
            <a:r>
              <a:t>• Pugh matrices, AHP (Analytic Hierarchy Process)</a:t>
            </a:r>
            <a:br/>
            <a:r>
              <a:t>• Decision documentation and traceability</a:t>
            </a:r>
            <a:br/>
            <a:r>
              <a:t>• Automotive decision examples (architecture, supplier selection, technology)</a:t>
            </a:r>
            <a:br/>
            <a:br/>
            <a:r>
              <a:t>QUALITY MANAGEMENT PROCESS:</a:t>
            </a:r>
            <a:br/>
            <a:r>
              <a:t>• Quality planning (what quality means for SE)</a:t>
            </a:r>
            <a:br/>
            <a:r>
              <a:t>• Quality assurance (process compliance)</a:t>
            </a:r>
            <a:br/>
            <a:r>
              <a:t>• Quality control (deliverable verification)</a:t>
            </a:r>
            <a:br/>
            <a:r>
              <a:t>• Reviews and audits</a:t>
            </a:r>
            <a:br/>
            <a:r>
              <a:t>• Lessons learned and continuous improvement</a:t>
            </a:r>
            <a:br/>
            <a:br/>
            <a:r>
              <a:t>INTEGRATION:</a:t>
            </a:r>
            <a:br/>
            <a:r>
              <a:t>How decision and quality management integrate with:</a:t>
            </a:r>
            <a:br/>
            <a:r>
              <a:t>• Project planning (from today)</a:t>
            </a:r>
            <a:br/>
            <a:r>
              <a:t>• Risk management (from today)</a:t>
            </a:r>
            <a:br/>
            <a:r>
              <a:t>• Requirements engineering (Session 4)</a:t>
            </a:r>
            <a:br/>
            <a:r>
              <a:t>• Verification and validation (Session 8)</a:t>
            </a:r>
            <a:br/>
            <a:br/>
            <a:r>
              <a:t>AUTOMOTIVE APPLICATIONS:</a:t>
            </a:r>
            <a:br/>
            <a:r>
              <a:t>• Design reviews (PDR, CDR)</a:t>
            </a:r>
            <a:br/>
            <a:r>
              <a:t>• Trade studies in vehicle development</a:t>
            </a:r>
            <a:br/>
            <a:r>
              <a:t>• Quality gates in APQP</a:t>
            </a:r>
            <a:br/>
            <a:r>
              <a:t>• Supplier quality management</a:t>
            </a:r>
            <a:br/>
            <a:br/>
            <a:r>
              <a:t>COMPLETE TECHNICAL MANAGEMENT:</a:t>
            </a:r>
            <a:br/>
            <a:r>
              <a:t>Session 9 + Session 10 = Full technical management capability</a:t>
            </a:r>
            <a:br/>
            <a:r>
              <a:t>• Plan → Assess &amp; Control → Manage Risks → Make Decisions → Ensure Quality</a:t>
            </a:r>
            <a:br/>
            <a:br/>
            <a:r>
              <a:t>PREPARATION FOR SESSION 10:</a:t>
            </a:r>
            <a:br/>
            <a:r>
              <a:t>• Review: Requirements engineering (Session 4)</a:t>
            </a:r>
            <a:br/>
            <a:r>
              <a:t>• Review: Verification &amp; Validation (Session 8)</a:t>
            </a:r>
            <a:br/>
            <a:r>
              <a:t>• Think about: Decisions you've made in projects - how did you choose?</a:t>
            </a:r>
            <a:br/>
            <a:r>
              <a:t>• Read: ISO/IEC 15288 Decision Management and Quality Management sections</a:t>
            </a:r>
            <a:br/>
            <a:br/>
            <a:r>
              <a:t>→ Two sessions to master SE management</a:t>
            </a:r>
          </a:p>
          <a:p>
            <a:pPr>
              <a:spcAft>
                <a:spcPts val="1000"/>
              </a:spcAft>
              <a:defRPr sz="1800">
                <a:solidFill>
                  <a:srgbClr val="333333"/>
                </a:solidFill>
              </a:defRPr>
            </a:pPr>
            <a:r>
              <a:t>Learning Outcomes: LO1 - Course continuity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Q&amp;A and Discussion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 have about 15 minutes for questions and discussion. Here are some topics we can explore:</a:t>
            </a:r>
          </a:p>
          <a:p>
            <a:pPr>
              <a:spcAft>
                <a:spcPts val="600"/>
              </a:spcAft>
              <a:defRPr sz="1800">
                <a:solidFill>
                  <a:srgbClr val="333333"/>
                </a:solidFill>
              </a:defRPr>
            </a:pPr>
            <a:r>
              <a:t>How to apply project planning to your specific projects</a:t>
            </a:r>
          </a:p>
          <a:p>
            <a:pPr>
              <a:spcAft>
                <a:spcPts val="600"/>
              </a:spcAft>
              <a:defRPr sz="1800">
                <a:solidFill>
                  <a:srgbClr val="333333"/>
                </a:solidFill>
              </a:defRPr>
            </a:pPr>
            <a:r>
              <a:t>Risk identification techniques—what works in practice</a:t>
            </a:r>
          </a:p>
          <a:p>
            <a:pPr>
              <a:spcAft>
                <a:spcPts val="600"/>
              </a:spcAft>
              <a:defRPr sz="1800">
                <a:solidFill>
                  <a:srgbClr val="333333"/>
                </a:solidFill>
              </a:defRPr>
            </a:pPr>
            <a:r>
              <a:t>How to convince teams/managers to invest in risk management</a:t>
            </a:r>
          </a:p>
          <a:p>
            <a:pPr>
              <a:spcAft>
                <a:spcPts val="600"/>
              </a:spcAft>
              <a:defRPr sz="1800">
                <a:solidFill>
                  <a:srgbClr val="333333"/>
                </a:solidFill>
              </a:defRPr>
            </a:pPr>
            <a:r>
              <a:t>Automotive examples from your experience or interests</a:t>
            </a:r>
          </a:p>
          <a:p>
            <a:pPr>
              <a:spcAft>
                <a:spcPts val="600"/>
              </a:spcAft>
              <a:defRPr sz="1800">
                <a:solidFill>
                  <a:srgbClr val="333333"/>
                </a:solidFill>
              </a:defRPr>
            </a:pPr>
            <a:r>
              <a:t>Integration of SE planning with agile or iterative development</a:t>
            </a:r>
          </a:p>
          <a:p>
            <a:pPr>
              <a:spcAft>
                <a:spcPts val="600"/>
              </a:spcAft>
              <a:defRPr sz="1800">
                <a:solidFill>
                  <a:srgbClr val="333333"/>
                </a:solidFill>
              </a:defRPr>
            </a:pPr>
            <a:r>
              <a:t>How to start building these practices if your organization doesn't use them</a:t>
            </a:r>
          </a:p>
          <a:p>
            <a:pPr>
              <a:spcAft>
                <a:spcPts val="1000"/>
              </a:spcAft>
              <a:defRPr sz="1800">
                <a:solidFill>
                  <a:srgbClr val="333333"/>
                </a:solidFill>
              </a:defRPr>
            </a:pPr>
            <a:r>
              <a:t>What questions do you have?</a:t>
            </a:r>
          </a:p>
          <a:p>
            <a:pPr>
              <a:spcAft>
                <a:spcPts val="1000"/>
              </a:spcAft>
              <a:defRPr sz="1800">
                <a:solidFill>
                  <a:srgbClr val="333333"/>
                </a:solidFill>
              </a:defRPr>
            </a:pPr>
            <a:r>
              <a:t>PPT Content:</a:t>
            </a:r>
          </a:p>
          <a:p>
            <a:pPr>
              <a:defRPr sz="1400">
                <a:solidFill>
                  <a:srgbClr val="787878"/>
                </a:solidFill>
                <a:latin typeface="Consolas"/>
              </a:defRPr>
            </a:pPr>
            <a:r>
              <a:t>Q&amp;A / DISCUSSION</a:t>
            </a:r>
            <a:br/>
            <a:br/>
            <a:r>
              <a:t>Open Questions:</a:t>
            </a:r>
            <a:br/>
            <a:br/>
            <a:r>
              <a:t>1. PROJECT PLANNING</a:t>
            </a:r>
            <a:br/>
            <a:r>
              <a:t>   • How detailed should a WBS be?</a:t>
            </a:r>
            <a:br/>
            <a:r>
              <a:t>   • How to estimate task durations realistically?</a:t>
            </a:r>
            <a:br/>
            <a:r>
              <a:t>   • Agile/Scrum vs traditional planning for SE?</a:t>
            </a:r>
            <a:br/>
            <a:br/>
            <a:r>
              <a:t>2. RISK MANAGEMENT</a:t>
            </a:r>
            <a:br/>
            <a:r>
              <a:t>   • How to identify risks you don't know about?</a:t>
            </a:r>
            <a:br/>
            <a:r>
              <a:t>   • How to get team buy-in for risk management?</a:t>
            </a:r>
            <a:br/>
            <a:r>
              <a:t>   • When is risk management "enough"?</a:t>
            </a:r>
            <a:br/>
            <a:br/>
            <a:r>
              <a:t>3. AUTOMOTIVE APPLICATIONS</a:t>
            </a:r>
            <a:br/>
            <a:r>
              <a:t>   • Specific vehicle program experiences?</a:t>
            </a:r>
            <a:br/>
            <a:r>
              <a:t>   • How do Tier 1 suppliers manage these processes?</a:t>
            </a:r>
            <a:br/>
            <a:r>
              <a:t>   • Startup vs established OEM approaches?</a:t>
            </a:r>
            <a:br/>
            <a:br/>
            <a:r>
              <a:t>4. PRACTICAL IMPLEMENTATION</a:t>
            </a:r>
            <a:br/>
            <a:r>
              <a:t>   • Starting risk management in an organization that doesn't do it?</a:t>
            </a:r>
            <a:br/>
            <a:r>
              <a:t>   • Tools and templates—what's recommended?</a:t>
            </a:r>
            <a:br/>
            <a:r>
              <a:t>   • How much time to spend on planning vs doing?</a:t>
            </a:r>
            <a:br/>
            <a:br/>
            <a:r>
              <a:t>5. ADVANCED TOPICS</a:t>
            </a:r>
            <a:br/>
            <a:r>
              <a:t>   • Quantitative risk analysis (Monte Carlo, etc.)</a:t>
            </a:r>
            <a:br/>
            <a:r>
              <a:t>   • Earned Value Management (EVM) for large programs</a:t>
            </a:r>
            <a:br/>
            <a:r>
              <a:t>   • Risk in agile/iterative development</a:t>
            </a:r>
            <a:br/>
            <a:r>
              <a:t>   • AI/ML for project and risk management</a:t>
            </a:r>
            <a:br/>
            <a:br/>
            <a:r>
              <a:t>6. CAREER &amp; SKILLS</a:t>
            </a:r>
            <a:br/>
            <a:r>
              <a:t>   • What makes a good project/risk manager?</a:t>
            </a:r>
            <a:br/>
            <a:r>
              <a:t>   • Certifications (PMP, PMI-RMP)?</a:t>
            </a:r>
            <a:br/>
            <a:r>
              <a:t>   • How much management vs technical work for SE role?</a:t>
            </a:r>
            <a:br/>
            <a:br/>
            <a:r>
              <a:t>What questions do you have?</a:t>
            </a:r>
          </a:p>
          <a:p>
            <a:pPr>
              <a:spcAft>
                <a:spcPts val="1000"/>
              </a:spcAft>
              <a:defRPr sz="1800">
                <a:solidFill>
                  <a:srgbClr val="333333"/>
                </a:solidFill>
              </a:defRPr>
            </a:pPr>
            <a:r>
              <a:t>Learning Outcomes: Discussion and deeper understanding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PPT DESIGN GUIDANCE</a:t>
            </a:r>
          </a:p>
        </p:txBody>
      </p:sp>
      <p:sp>
        <p:nvSpPr>
          <p:cNvPr id="3" name="Content Placeholder 2"/>
          <p:cNvSpPr>
            <a:spLocks noGrp="1"/>
          </p:cNvSpPr>
          <p:nvPr>
            <p:ph idx="1"/>
          </p:nvPr>
        </p:nvSpPr>
        <p:spPr/>
        <p:txBody>
          <a:bodyPr/>
          <a:lstStyle/>
          <a:p>
            <a:pPr>
              <a:defRPr sz="2400" b="1">
                <a:solidFill>
                  <a:srgbClr val="2E5090"/>
                </a:solidFill>
              </a:defRPr>
            </a:pPr>
            <a:r>
              <a:t>Technical Diagrams:</a:t>
            </a:r>
          </a:p>
          <a:p>
            <a:pPr>
              <a:spcAft>
                <a:spcPts val="600"/>
              </a:spcAft>
              <a:defRPr sz="1800">
                <a:solidFill>
                  <a:srgbClr val="333333"/>
                </a:solidFill>
              </a:defRPr>
            </a:pPr>
            <a:r>
              <a:t>Professional engineering aesthetic: Clean, modern layouts</a:t>
            </a:r>
          </a:p>
          <a:p>
            <a:pPr>
              <a:spcAft>
                <a:spcPts val="600"/>
              </a:spcAft>
              <a:defRPr sz="1800">
                <a:solidFill>
                  <a:srgbClr val="333333"/>
                </a:solidFill>
              </a:defRPr>
            </a:pPr>
            <a:r>
              <a:t>Color scheme:</a:t>
            </a:r>
          </a:p>
          <a:p>
            <a:pPr>
              <a:spcAft>
                <a:spcPts val="600"/>
              </a:spcAft>
              <a:defRPr sz="1800">
                <a:solidFill>
                  <a:srgbClr val="333333"/>
                </a:solidFill>
              </a:defRPr>
            </a:pPr>
            <a:r>
              <a:t>Primary: Deep blue (trust, engineering)</a:t>
            </a:r>
          </a:p>
          <a:p>
            <a:pPr>
              <a:spcAft>
                <a:spcPts val="600"/>
              </a:spcAft>
              <a:defRPr sz="1800">
                <a:solidFill>
                  <a:srgbClr val="333333"/>
                </a:solidFill>
              </a:defRPr>
            </a:pPr>
            <a:r>
              <a:t>Secondary: Gray/silver (technical, structured)</a:t>
            </a:r>
          </a:p>
          <a:p>
            <a:pPr>
              <a:spcAft>
                <a:spcPts val="600"/>
              </a:spcAft>
              <a:defRPr sz="1800">
                <a:solidFill>
                  <a:srgbClr val="333333"/>
                </a:solidFill>
              </a:defRPr>
            </a:pPr>
            <a:r>
              <a:t>Accent: Orange/red for risks, green for opportunities</a:t>
            </a:r>
          </a:p>
          <a:p>
            <a:pPr>
              <a:spcAft>
                <a:spcPts val="600"/>
              </a:spcAft>
              <a:defRPr sz="1800">
                <a:solidFill>
                  <a:srgbClr val="333333"/>
                </a:solidFill>
              </a:defRPr>
            </a:pPr>
            <a:r>
              <a:t>Yellow for caution/medium priority</a:t>
            </a:r>
          </a:p>
          <a:p>
            <a:pPr>
              <a:spcAft>
                <a:spcPts val="600"/>
              </a:spcAft>
              <a:defRPr sz="1800">
                <a:solidFill>
                  <a:srgbClr val="333333"/>
                </a:solidFill>
              </a:defRPr>
            </a:pPr>
            <a:r>
              <a:t>Typography: Sans-serif, highly readable</a:t>
            </a:r>
          </a:p>
          <a:p>
            <a:pPr>
              <a:spcAft>
                <a:spcPts val="600"/>
              </a:spcAft>
              <a:defRPr sz="1800">
                <a:solidFill>
                  <a:srgbClr val="333333"/>
                </a:solidFill>
              </a:defRPr>
            </a:pPr>
            <a:r>
              <a:t>Consistent template with slide numbering</a:t>
            </a:r>
          </a:p>
          <a:p>
            <a:pPr>
              <a:spcAft>
                <a:spcPts val="600"/>
              </a:spcAft>
              <a:defRPr sz="1800">
                <a:solidFill>
                  <a:srgbClr val="333333"/>
                </a:solidFill>
              </a:defRPr>
            </a:pPr>
            <a:r>
              <a:t>Slide 3 (Mars Orbiter) - Compelling failure story</a:t>
            </a:r>
          </a:p>
          <a:p>
            <a:pPr>
              <a:spcAft>
                <a:spcPts val="600"/>
              </a:spcAft>
              <a:defRPr sz="1800">
                <a:solidFill>
                  <a:srgbClr val="333333"/>
                </a:solidFill>
              </a:defRPr>
            </a:pPr>
            <a:r>
              <a:t>Slide 10 (WBS) - Clear hierarchical diagram</a:t>
            </a:r>
          </a:p>
          <a:p>
            <a:pPr>
              <a:spcAft>
                <a:spcPts val="600"/>
              </a:spcAft>
              <a:defRPr sz="1800">
                <a:solidFill>
                  <a:srgbClr val="333333"/>
                </a:solidFill>
              </a:defRPr>
            </a:pPr>
            <a:r>
              <a:t>Slide 11 (Scheduling) - Gantt chart with critical path highlighted</a:t>
            </a:r>
          </a:p>
          <a:p>
            <a:pPr>
              <a:spcAft>
                <a:spcPts val="600"/>
              </a:spcAft>
              <a:defRPr sz="1800">
                <a:solidFill>
                  <a:srgbClr val="333333"/>
                </a:solidFill>
              </a:defRPr>
            </a:pPr>
            <a:r>
              <a:t>Slide 17 (Risk Matrix) - Visual risk plotting</a:t>
            </a:r>
          </a:p>
          <a:p>
            <a:pPr>
              <a:spcAft>
                <a:spcPts val="600"/>
              </a:spcAft>
              <a:defRPr sz="1800">
                <a:solidFill>
                  <a:srgbClr val="333333"/>
                </a:solidFill>
              </a:defRPr>
            </a:pPr>
            <a:r>
              <a:t>Slide 26 (Case Study Integration) - Comprehensive analysis</a:t>
            </a:r>
          </a:p>
          <a:p>
            <a:pPr>
              <a:spcAft>
                <a:spcPts val="600"/>
              </a:spcAft>
              <a:defRPr sz="1800">
                <a:solidFill>
                  <a:srgbClr val="333333"/>
                </a:solidFill>
              </a:defRPr>
            </a:pPr>
            <a:r>
              <a:t>Slide 27 (Key Takeaways) - Students will photograph this</a:t>
            </a:r>
          </a:p>
          <a:p>
            <a:pPr>
              <a:spcAft>
                <a:spcPts val="600"/>
              </a:spcAft>
              <a:defRPr sz="1800">
                <a:solidFill>
                  <a:srgbClr val="333333"/>
                </a:solidFill>
              </a:defRPr>
            </a:pPr>
            <a:r>
              <a:t>Minimal and professional — Use build animations for:</a:t>
            </a:r>
          </a:p>
          <a:p>
            <a:pPr>
              <a:spcAft>
                <a:spcPts val="600"/>
              </a:spcAft>
              <a:defRPr sz="1800">
                <a:solidFill>
                  <a:srgbClr val="333333"/>
                </a:solidFill>
              </a:defRPr>
            </a:pPr>
            <a:r>
              <a:t>WBS hierarchy (reveal levels)</a:t>
            </a:r>
          </a:p>
          <a:p>
            <a:pPr>
              <a:spcAft>
                <a:spcPts val="600"/>
              </a:spcAft>
              <a:defRPr sz="1800">
                <a:solidFill>
                  <a:srgbClr val="333333"/>
                </a:solidFill>
              </a:defRPr>
            </a:pPr>
            <a:r>
              <a:t>Risk matrix (plot risks one by one)</a:t>
            </a:r>
          </a:p>
          <a:p>
            <a:pPr>
              <a:spcAft>
                <a:spcPts val="600"/>
              </a:spcAft>
              <a:defRPr sz="1800">
                <a:solidFill>
                  <a:srgbClr val="333333"/>
                </a:solidFill>
              </a:defRPr>
            </a:pPr>
            <a:r>
              <a:t>Process flows (step-by-step)</a:t>
            </a:r>
          </a:p>
          <a:p>
            <a:pPr>
              <a:spcAft>
                <a:spcPts val="600"/>
              </a:spcAft>
              <a:defRPr sz="1800">
                <a:solidFill>
                  <a:srgbClr val="333333"/>
                </a:solidFill>
              </a:defRPr>
            </a:pPr>
            <a:r>
              <a:t>Highlight/emphasis for key terms</a:t>
            </a:r>
          </a:p>
          <a:p>
            <a:pPr>
              <a:spcAft>
                <a:spcPts val="600"/>
              </a:spcAft>
              <a:defRPr sz="1800">
                <a:solidFill>
                  <a:srgbClr val="333333"/>
                </a:solidFill>
              </a:defRPr>
            </a:pPr>
            <a:r>
              <a:t>Process diagrams: Clear flowcharts for PM and RM processes</a:t>
            </a:r>
          </a:p>
          <a:p>
            <a:pPr>
              <a:spcAft>
                <a:spcPts val="600"/>
              </a:spcAft>
              <a:defRPr sz="1800">
                <a:solidFill>
                  <a:srgbClr val="333333"/>
                </a:solidFill>
              </a:defRPr>
            </a:pPr>
            <a:r>
              <a:t>Gantt charts: Professional timeline visualization</a:t>
            </a:r>
          </a:p>
          <a:p>
            <a:pPr>
              <a:spcAft>
                <a:spcPts val="600"/>
              </a:spcAft>
              <a:defRPr sz="1800">
                <a:solidFill>
                  <a:srgbClr val="333333"/>
                </a:solidFill>
              </a:defRPr>
            </a:pPr>
            <a:r>
              <a:t>Risk matrices: Color-coded (red/yellow/green zones)</a:t>
            </a:r>
          </a:p>
          <a:p>
            <a:pPr>
              <a:spcAft>
                <a:spcPts val="600"/>
              </a:spcAft>
              <a:defRPr sz="1800">
                <a:solidFill>
                  <a:srgbClr val="333333"/>
                </a:solidFill>
              </a:defRPr>
            </a:pPr>
            <a:r>
              <a:t>Organizational charts: Showing WBS structure</a:t>
            </a:r>
          </a:p>
          <a:p>
            <a:pPr>
              <a:spcAft>
                <a:spcPts val="600"/>
              </a:spcAft>
              <a:defRPr sz="1800">
                <a:solidFill>
                  <a:srgbClr val="333333"/>
                </a:solidFill>
              </a:defRPr>
            </a:pPr>
            <a:r>
              <a:t>Example documents: Risk register, SEMP table of contents</a:t>
            </a:r>
          </a:p>
          <a:p>
            <a:pPr>
              <a:spcAft>
                <a:spcPts val="600"/>
              </a:spcAft>
              <a:defRPr sz="1800">
                <a:solidFill>
                  <a:srgbClr val="333333"/>
                </a:solidFill>
              </a:defRPr>
            </a:pPr>
            <a:r>
              <a:t>Clear WBS hierarchies (tree structure or indented list)</a:t>
            </a:r>
          </a:p>
          <a:p>
            <a:pPr>
              <a:spcAft>
                <a:spcPts val="600"/>
              </a:spcAft>
              <a:defRPr sz="1800">
                <a:solidFill>
                  <a:srgbClr val="333333"/>
                </a:solidFill>
              </a:defRPr>
            </a:pPr>
            <a:r>
              <a:t>Network diagrams for scheduling (critical path highlighted)</a:t>
            </a:r>
          </a:p>
          <a:p>
            <a:pPr>
              <a:spcAft>
                <a:spcPts val="600"/>
              </a:spcAft>
              <a:defRPr sz="1800">
                <a:solidFill>
                  <a:srgbClr val="333333"/>
                </a:solidFill>
              </a:defRPr>
            </a:pPr>
            <a:r>
              <a:t>Risk breakdown structure (categorical tree)</a:t>
            </a:r>
          </a:p>
          <a:p>
            <a:pPr>
              <a:spcAft>
                <a:spcPts val="600"/>
              </a:spcAft>
              <a:defRPr sz="1800">
                <a:solidFill>
                  <a:srgbClr val="333333"/>
                </a:solidFill>
              </a:defRPr>
            </a:pPr>
            <a:r>
              <a:t>Integration diagrams showing how PM/RM connect to technical processes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defRPr sz="2400" b="1">
                <a:solidFill>
                  <a:srgbClr val="2E5090"/>
                </a:solidFill>
              </a:defRPr>
            </a:pPr>
            <a:r>
              <a:t>Flexibility Options:</a:t>
            </a:r>
          </a:p>
          <a:p>
            <a:pPr>
              <a:spcAft>
                <a:spcPts val="1000"/>
              </a:spcAft>
              <a:defRPr sz="1800">
                <a:solidFill>
                  <a:srgbClr val="333333"/>
                </a:solidFill>
              </a:defRPr>
            </a:pPr>
            <a:r>
              <a:t>This session uses Case-Based Learning with Structured Frameworks to:</a:t>
            </a:r>
          </a:p>
          <a:p>
            <a:pPr>
              <a:spcAft>
                <a:spcPts val="600"/>
              </a:spcAft>
              <a:defRPr sz="1800">
                <a:solidFill>
                  <a:srgbClr val="333333"/>
                </a:solidFill>
              </a:defRPr>
            </a:pPr>
            <a:r>
              <a:t>Motivate with failure (Mars Orbiter) → Why management matters</a:t>
            </a:r>
          </a:p>
          <a:p>
            <a:pPr>
              <a:spcAft>
                <a:spcPts val="600"/>
              </a:spcAft>
              <a:defRPr sz="1800">
                <a:solidFill>
                  <a:srgbClr val="333333"/>
                </a:solidFill>
              </a:defRPr>
            </a:pPr>
            <a:r>
              <a:t>Build systematic knowledge (ISO 15288 processes) → How to do it right</a:t>
            </a:r>
          </a:p>
          <a:p>
            <a:pPr>
              <a:spcAft>
                <a:spcPts val="600"/>
              </a:spcAft>
              <a:defRPr sz="1800">
                <a:solidFill>
                  <a:srgbClr val="333333"/>
                </a:solidFill>
              </a:defRPr>
            </a:pPr>
            <a:r>
              <a:t>Provide practical tools (WBS, risk register) → What to use</a:t>
            </a:r>
          </a:p>
          <a:p>
            <a:pPr>
              <a:spcAft>
                <a:spcPts val="600"/>
              </a:spcAft>
              <a:defRPr sz="1800">
                <a:solidFill>
                  <a:srgbClr val="333333"/>
                </a:solidFill>
              </a:defRPr>
            </a:pPr>
            <a:r>
              <a:t>Apply to automotive (APQP, ISO 26262) → Where it's used</a:t>
            </a:r>
          </a:p>
          <a:p>
            <a:pPr>
              <a:spcAft>
                <a:spcPts val="600"/>
              </a:spcAft>
              <a:defRPr sz="1800">
                <a:solidFill>
                  <a:srgbClr val="333333"/>
                </a:solidFill>
              </a:defRPr>
            </a:pPr>
            <a:r>
              <a:t>Integrate with case study (Mars Orbiter revisited) → Synthesis</a:t>
            </a:r>
          </a:p>
          <a:p>
            <a:pPr>
              <a:spcAft>
                <a:spcPts val="600"/>
              </a:spcAft>
              <a:defRPr sz="1800">
                <a:solidFill>
                  <a:srgbClr val="333333"/>
                </a:solidFill>
              </a:defRPr>
            </a:pPr>
            <a:r>
              <a:t>Setup (Slides 1-8): 20 minutes - Motivation and framework</a:t>
            </a:r>
          </a:p>
          <a:p>
            <a:pPr>
              <a:spcAft>
                <a:spcPts val="600"/>
              </a:spcAft>
              <a:defRPr sz="1800">
                <a:solidFill>
                  <a:srgbClr val="333333"/>
                </a:solidFill>
              </a:defRPr>
            </a:pPr>
            <a:r>
              <a:t>Trigger (Slides 9-14): 25 minutes - Project Planning Process</a:t>
            </a:r>
          </a:p>
          <a:p>
            <a:pPr>
              <a:spcAft>
                <a:spcPts val="600"/>
              </a:spcAft>
              <a:defRPr sz="1800">
                <a:solidFill>
                  <a:srgbClr val="333333"/>
                </a:solidFill>
              </a:defRPr>
            </a:pPr>
            <a:r>
              <a:t>Rising Action (Slides 15-22): 30 minutes - Risk Management Process</a:t>
            </a:r>
          </a:p>
          <a:p>
            <a:pPr>
              <a:spcAft>
                <a:spcPts val="600"/>
              </a:spcAft>
              <a:defRPr sz="1800">
                <a:solidFill>
                  <a:srgbClr val="333333"/>
                </a:solidFill>
              </a:defRPr>
            </a:pPr>
            <a:r>
              <a:t>Climax (Slides 23-26): 15 minutes - Automotive Applications</a:t>
            </a:r>
          </a:p>
          <a:p>
            <a:pPr>
              <a:spcAft>
                <a:spcPts val="600"/>
              </a:spcAft>
              <a:defRPr sz="1800">
                <a:solidFill>
                  <a:srgbClr val="333333"/>
                </a:solidFill>
              </a:defRPr>
            </a:pPr>
            <a:r>
              <a:t>Resolution (Slides 27-30): 15 minutes - Takeaways and Q&amp;A</a:t>
            </a:r>
          </a:p>
          <a:p>
            <a:pPr>
              <a:spcAft>
                <a:spcPts val="600"/>
              </a:spcAft>
              <a:defRPr sz="1800">
                <a:solidFill>
                  <a:srgbClr val="333333"/>
                </a:solidFill>
              </a:defRPr>
            </a:pPr>
            <a:r>
              <a:t>Buffer: 15 minutes for questions/flexibility</a:t>
            </a:r>
          </a:p>
          <a:p>
            <a:pPr>
              <a:spcAft>
                <a:spcPts val="1000"/>
              </a:spcAft>
              <a:defRPr sz="1800">
                <a:solidFill>
                  <a:srgbClr val="333333"/>
                </a:solidFill>
              </a:defRPr>
            </a:pPr>
            <a:r>
              <a:t>Q: "This seems like a lot of process. Do we really need all this?"</a:t>
            </a:r>
          </a:p>
          <a:p>
            <a:pPr>
              <a:spcAft>
                <a:spcPts val="1000"/>
              </a:spcAft>
              <a:defRPr sz="1800">
                <a:solidFill>
                  <a:srgbClr val="333333"/>
                </a:solidFill>
              </a:defRPr>
            </a:pPr>
            <a:r>
              <a:t>A: Tailor to project complexity. Small project = lightweight. Large automotive program = rigorous. But the thinking and key practices always apply.</a:t>
            </a:r>
          </a:p>
          <a:p>
            <a:pPr>
              <a:spcAft>
                <a:spcPts val="1000"/>
              </a:spcAft>
              <a:defRPr sz="1800">
                <a:solidFill>
                  <a:srgbClr val="333333"/>
                </a:solidFill>
              </a:defRPr>
            </a:pPr>
            <a:r>
              <a:t>Q: "What if management doesn't support risk management?"</a:t>
            </a:r>
          </a:p>
          <a:p>
            <a:pPr>
              <a:spcAft>
                <a:spcPts val="1000"/>
              </a:spcAft>
              <a:defRPr sz="1800">
                <a:solidFill>
                  <a:srgbClr val="333333"/>
                </a:solidFill>
              </a:defRPr>
            </a:pPr>
            <a:r>
              <a:t>A: Start small—personal risk register for your work. Demonstrate value with prevented issues. Build credibility. Management supports what works.</a:t>
            </a:r>
          </a:p>
          <a:p>
            <a:pPr>
              <a:spcAft>
                <a:spcPts val="1000"/>
              </a:spcAft>
              <a:defRPr sz="1800">
                <a:solidFill>
                  <a:srgbClr val="333333"/>
                </a:solidFill>
              </a:defRPr>
            </a:pPr>
            <a:r>
              <a:t>Q: "How do I estimate probability and impact accurately?"</a:t>
            </a:r>
          </a:p>
          <a:p>
            <a:pPr>
              <a:spcAft>
                <a:spcPts val="1000"/>
              </a:spcAft>
              <a:defRPr sz="1800">
                <a:solidFill>
                  <a:srgbClr val="333333"/>
                </a:solidFill>
              </a:defRPr>
            </a:pPr>
            <a:r>
              <a:t>A: Use historical data when available, expert judgment otherwise. Precision is less important than thoughtful analysis and consistent application. Improve estimates as you learn.</a:t>
            </a:r>
          </a:p>
          <a:p>
            <a:pPr>
              <a:spcAft>
                <a:spcPts val="1000"/>
              </a:spcAft>
              <a:defRPr sz="1800">
                <a:solidFill>
                  <a:srgbClr val="333333"/>
                </a:solidFill>
              </a:defRPr>
            </a:pPr>
            <a:r>
              <a:t>Q: "Isn't this just for project managers, not engineers?"</a:t>
            </a:r>
          </a:p>
          <a:p>
            <a:pPr>
              <a:spcAft>
                <a:spcPts val="1000"/>
              </a:spcAft>
              <a:defRPr sz="1800">
                <a:solidFill>
                  <a:srgbClr val="333333"/>
                </a:solidFill>
              </a:defRPr>
            </a:pPr>
            <a:r>
              <a:t>A: No—systems engineers must integrate technical and management work. You're not just designing; you're leading technical work. These are SE processes, not just PM processes.</a:t>
            </a:r>
          </a:p>
          <a:p>
            <a:pPr>
              <a:spcAft>
                <a:spcPts val="600"/>
              </a:spcAft>
              <a:defRPr sz="1800">
                <a:solidFill>
                  <a:srgbClr val="333333"/>
                </a:solidFill>
              </a:defRPr>
            </a:pPr>
            <a:r>
              <a:t>During planning (Slides 9-14):</a:t>
            </a:r>
          </a:p>
          <a:p>
            <a:pPr>
              <a:spcAft>
                <a:spcPts val="600"/>
              </a:spcAft>
              <a:defRPr sz="1800">
                <a:solidFill>
                  <a:srgbClr val="333333"/>
                </a:solidFill>
              </a:defRPr>
            </a:pPr>
            <a:r>
              <a:t>Ask students to sketch a WBS for a familiar system (their phone, laptop)</a:t>
            </a:r>
          </a:p>
          <a:p>
            <a:pPr>
              <a:spcAft>
                <a:spcPts val="600"/>
              </a:spcAft>
              <a:defRPr sz="1800">
                <a:solidFill>
                  <a:srgbClr val="333333"/>
                </a:solidFill>
              </a:defRPr>
            </a:pPr>
            <a:r>
              <a:t>Identify dependencies in a simple project</a:t>
            </a:r>
          </a:p>
          <a:p>
            <a:pPr>
              <a:spcAft>
                <a:spcPts val="600"/>
              </a:spcAft>
              <a:defRPr sz="1800">
                <a:solidFill>
                  <a:srgbClr val="333333"/>
                </a:solidFill>
              </a:defRPr>
            </a:pPr>
            <a:r>
              <a:t>Estimate durations for a class project</a:t>
            </a:r>
          </a:p>
          <a:p>
            <a:pPr>
              <a:spcAft>
                <a:spcPts val="600"/>
              </a:spcAft>
              <a:defRPr sz="1800">
                <a:solidFill>
                  <a:srgbClr val="333333"/>
                </a:solidFill>
              </a:defRPr>
            </a:pPr>
            <a:r>
              <a:t>During risk management (Slides 15-22):</a:t>
            </a:r>
          </a:p>
          <a:p>
            <a:pPr>
              <a:spcAft>
                <a:spcPts val="600"/>
              </a:spcAft>
              <a:defRPr sz="1800">
                <a:solidFill>
                  <a:srgbClr val="333333"/>
                </a:solidFill>
              </a:defRPr>
            </a:pPr>
            <a:r>
              <a:t>Brainstorm risks for a hypothetical EV development program (5 min)</a:t>
            </a:r>
          </a:p>
          <a:p>
            <a:pPr>
              <a:spcAft>
                <a:spcPts val="600"/>
              </a:spcAft>
              <a:defRPr sz="1800">
                <a:solidFill>
                  <a:srgbClr val="333333"/>
                </a:solidFill>
              </a:defRPr>
            </a:pPr>
            <a:r>
              <a:t>Plot 2-3 risks on a risk matrix</a:t>
            </a:r>
          </a:p>
          <a:p>
            <a:pPr>
              <a:spcAft>
                <a:spcPts val="600"/>
              </a:spcAft>
              <a:defRPr sz="1800">
                <a:solidFill>
                  <a:srgbClr val="333333"/>
                </a:solidFill>
              </a:defRPr>
            </a:pPr>
            <a:r>
              <a:t>Identify treatment strategies for student-generated risks</a:t>
            </a:r>
          </a:p>
          <a:p>
            <a:pPr>
              <a:spcAft>
                <a:spcPts val="600"/>
              </a:spcAft>
              <a:defRPr sz="1800">
                <a:solidFill>
                  <a:srgbClr val="333333"/>
                </a:solidFill>
              </a:defRPr>
            </a:pPr>
            <a:r>
              <a:t>During automotive application (Slides 23-26):</a:t>
            </a:r>
          </a:p>
          <a:p>
            <a:pPr>
              <a:spcAft>
                <a:spcPts val="600"/>
              </a:spcAft>
              <a:defRPr sz="1800">
                <a:solidFill>
                  <a:srgbClr val="333333"/>
                </a:solidFill>
              </a:defRPr>
            </a:pPr>
            <a:r>
              <a:t>Ask students with industry experience to share risk examples</a:t>
            </a:r>
          </a:p>
          <a:p>
            <a:pPr>
              <a:spcAft>
                <a:spcPts val="600"/>
              </a:spcAft>
              <a:defRPr sz="1800">
                <a:solidFill>
                  <a:srgbClr val="333333"/>
                </a:solidFill>
              </a:defRPr>
            </a:pPr>
            <a:r>
              <a:t>Discuss how their organizations handle PM/RM (if applicable)</a:t>
            </a:r>
          </a:p>
          <a:p>
            <a:pPr>
              <a:spcAft>
                <a:spcPts val="600"/>
              </a:spcAft>
              <a:defRPr sz="1800">
                <a:solidFill>
                  <a:srgbClr val="333333"/>
                </a:solidFill>
              </a:defRPr>
            </a:pPr>
            <a:r>
              <a:t>Mars Orbiter: "What would YOU have done differently?</a:t>
            </a:r>
          </a:p>
          <a:p>
            <a:pPr>
              <a:spcAft>
                <a:spcPts val="1000"/>
              </a:spcAft>
              <a:defRPr sz="1800">
                <a:solidFill>
                  <a:srgbClr val="333333"/>
                </a:solidFill>
              </a:defRPr>
            </a:pPr>
            <a:r>
              <a:t>If running SHORT (need to finish in 100 minutes): — Reduce risk monitoring detail (Slide 19)</a:t>
            </a:r>
          </a:p>
          <a:p>
            <a:pPr>
              <a:spcAft>
                <a:spcPts val="600"/>
              </a:spcAft>
              <a:defRPr sz="1800">
                <a:solidFill>
                  <a:srgbClr val="333333"/>
                </a:solidFill>
              </a:defRPr>
            </a:pPr>
            <a:r>
              <a:t>Shorten automotive integration (fewer examples)</a:t>
            </a:r>
          </a:p>
          <a:p>
            <a:pPr>
              <a:spcAft>
                <a:spcPts val="600"/>
              </a:spcAft>
              <a:defRPr sz="1800">
                <a:solidFill>
                  <a:srgbClr val="333333"/>
                </a:solidFill>
              </a:defRPr>
            </a:pPr>
            <a:r>
              <a:t>Reduce Q&amp;A time</a:t>
            </a:r>
          </a:p>
          <a:p>
            <a:pPr>
              <a:spcAft>
                <a:spcPts val="1000"/>
              </a:spcAft>
              <a:defRPr sz="1800">
                <a:solidFill>
                  <a:srgbClr val="333333"/>
                </a:solidFill>
              </a:defRPr>
            </a:pPr>
            <a:r>
              <a:t>If running LONG (have 140 minutes): — Deep dive into EVM (earned value management)</a:t>
            </a:r>
          </a:p>
          <a:p>
            <a:pPr>
              <a:spcAft>
                <a:spcPts val="600"/>
              </a:spcAft>
              <a:defRPr sz="1800">
                <a:solidFill>
                  <a:srgbClr val="333333"/>
                </a:solidFill>
              </a:defRPr>
            </a:pPr>
            <a:r>
              <a:t>Additional automotive risk examples</a:t>
            </a:r>
          </a:p>
          <a:p>
            <a:pPr>
              <a:spcAft>
                <a:spcPts val="600"/>
              </a:spcAft>
              <a:defRPr sz="1800">
                <a:solidFill>
                  <a:srgbClr val="333333"/>
                </a:solidFill>
              </a:defRPr>
            </a:pPr>
            <a:r>
              <a:t>Hands-on risk register exercise (breakout groups)</a:t>
            </a:r>
          </a:p>
          <a:p>
            <a:pPr>
              <a:spcAft>
                <a:spcPts val="600"/>
              </a:spcAft>
              <a:defRPr sz="1800">
                <a:solidFill>
                  <a:srgbClr val="333333"/>
                </a:solidFill>
              </a:defRPr>
            </a:pPr>
            <a:r>
              <a:t>Extended case study discussion</a:t>
            </a:r>
          </a:p>
          <a:p>
            <a:pPr>
              <a:spcAft>
                <a:spcPts val="1000"/>
              </a:spcAft>
              <a:defRPr sz="1800">
                <a:solidFill>
                  <a:srgbClr val="333333"/>
                </a:solidFill>
              </a:defRPr>
            </a:pPr>
            <a:r>
              <a:t>Core Content (Must Cover): — ISO/IEC 15288 Technical Management Processes (Slide 7)</a:t>
            </a:r>
          </a:p>
          <a:p>
            <a:pPr>
              <a:spcAft>
                <a:spcPts val="600"/>
              </a:spcAft>
              <a:defRPr sz="1800">
                <a:solidFill>
                  <a:srgbClr val="333333"/>
                </a:solidFill>
              </a:defRPr>
            </a:pPr>
            <a:r>
              <a:t>WBS and scheduling (Slides 10-11)</a:t>
            </a:r>
          </a:p>
          <a:p>
            <a:pPr>
              <a:spcAft>
                <a:spcPts val="600"/>
              </a:spcAft>
              <a:defRPr sz="1800">
                <a:solidFill>
                  <a:srgbClr val="333333"/>
                </a:solidFill>
              </a:defRPr>
            </a:pPr>
            <a:r>
              <a:t>Risk identification, analysis, treatment, monitoring (Slides 16-19)</a:t>
            </a:r>
          </a:p>
          <a:p>
            <a:pPr>
              <a:spcAft>
                <a:spcPts val="600"/>
              </a:spcAft>
              <a:defRPr sz="1800">
                <a:solidFill>
                  <a:srgbClr val="333333"/>
                </a:solidFill>
              </a:defRPr>
            </a:pPr>
            <a:r>
              <a:t>Automotive integration (Slide 23-24)</a:t>
            </a:r>
          </a:p>
          <a:p>
            <a:pPr>
              <a:spcAft>
                <a:spcPts val="600"/>
              </a:spcAft>
              <a:defRPr sz="1800">
                <a:solidFill>
                  <a:srgbClr val="333333"/>
                </a:solidFill>
              </a:defRPr>
            </a:pPr>
            <a:r>
              <a:t>Mars Orbiter lessons (Slide 26)</a:t>
            </a:r>
          </a:p>
          <a:p>
            <a:pPr>
              <a:spcAft>
                <a:spcPts val="600"/>
              </a:spcAft>
              <a:defRPr sz="1800">
                <a:solidFill>
                  <a:srgbClr val="333333"/>
                </a:solidFill>
              </a:defRPr>
            </a:pPr>
            <a:r>
              <a:t>Key takeaways (Slide 27)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Success Criteria</a:t>
            </a:r>
          </a:p>
        </p:txBody>
      </p:sp>
      <p:sp>
        <p:nvSpPr>
          <p:cNvPr id="3" name="Content Placeholder 2"/>
          <p:cNvSpPr>
            <a:spLocks noGrp="1"/>
          </p:cNvSpPr>
          <p:nvPr>
            <p:ph idx="1"/>
          </p:nvPr>
        </p:nvSpPr>
        <p:spPr/>
        <p:txBody>
          <a:bodyPr/>
          <a:lstStyle/>
          <a:p>
            <a:pPr>
              <a:defRPr sz="2400" b="1">
                <a:solidFill>
                  <a:srgbClr val="2E5090"/>
                </a:solidFill>
              </a:defRPr>
            </a:pPr>
            <a:r>
              <a:t>Mindset Shift Achieved:</a:t>
            </a:r>
          </a:p>
          <a:p>
            <a:pPr>
              <a:spcAft>
                <a:spcPts val="1000"/>
              </a:spcAft>
              <a:defRPr sz="1800">
                <a:solidFill>
                  <a:srgbClr val="333333"/>
                </a:solidFill>
              </a:defRPr>
            </a:pPr>
            <a:r>
              <a:t>Students leave able to:</a:t>
            </a:r>
          </a:p>
          <a:p>
            <a:pPr>
              <a:spcAft>
                <a:spcPts val="600"/>
              </a:spcAft>
              <a:defRPr sz="1800">
                <a:solidFill>
                  <a:srgbClr val="333333"/>
                </a:solidFill>
              </a:defRPr>
            </a:pPr>
            <a:r>
              <a:t>✓ Explain the four Technical Management Processes of ISO/IEC 15288</a:t>
            </a:r>
          </a:p>
          <a:p>
            <a:pPr>
              <a:spcAft>
                <a:spcPts val="600"/>
              </a:spcAft>
              <a:defRPr sz="1800">
                <a:solidFill>
                  <a:srgbClr val="333333"/>
                </a:solidFill>
              </a:defRPr>
            </a:pPr>
            <a:r>
              <a:t>✓ Develop a work breakdown structure aligned with system architecture</a:t>
            </a:r>
          </a:p>
          <a:p>
            <a:pPr>
              <a:spcAft>
                <a:spcPts val="600"/>
              </a:spcAft>
              <a:defRPr sz="1800">
                <a:solidFill>
                  <a:srgbClr val="333333"/>
                </a:solidFill>
              </a:defRPr>
            </a:pPr>
            <a:r>
              <a:t>✓ Create project schedules with dependencies and critical path</a:t>
            </a:r>
          </a:p>
          <a:p>
            <a:pPr>
              <a:spcAft>
                <a:spcPts val="600"/>
              </a:spcAft>
              <a:defRPr sz="1800">
                <a:solidFill>
                  <a:srgbClr val="333333"/>
                </a:solidFill>
              </a:defRPr>
            </a:pPr>
            <a:r>
              <a:t>✓ Identify, analyze, and treat risks systematically</a:t>
            </a:r>
          </a:p>
          <a:p>
            <a:pPr>
              <a:spcAft>
                <a:spcPts val="600"/>
              </a:spcAft>
              <a:defRPr sz="1800">
                <a:solidFill>
                  <a:srgbClr val="333333"/>
                </a:solidFill>
              </a:defRPr>
            </a:pPr>
            <a:r>
              <a:t>✓ Maintain a risk register for their projects</a:t>
            </a:r>
          </a:p>
          <a:p>
            <a:pPr>
              <a:spcAft>
                <a:spcPts val="600"/>
              </a:spcAft>
              <a:defRPr sz="1800">
                <a:solidFill>
                  <a:srgbClr val="333333"/>
                </a:solidFill>
              </a:defRPr>
            </a:pPr>
            <a:r>
              <a:t>✓ Understand integration of SE planning with automotive programs (APQP)</a:t>
            </a:r>
          </a:p>
          <a:p>
            <a:pPr>
              <a:spcAft>
                <a:spcPts val="600"/>
              </a:spcAft>
              <a:defRPr sz="1800">
                <a:solidFill>
                  <a:srgbClr val="333333"/>
                </a:solidFill>
              </a:defRPr>
            </a:pPr>
            <a:r>
              <a:t>✓ Recognize that management discipline prevents technical disasters</a:t>
            </a:r>
          </a:p>
          <a:p>
            <a:pPr>
              <a:spcAft>
                <a:spcPts val="1000"/>
              </a:spcAft>
              <a:defRPr sz="1800">
                <a:solidFill>
                  <a:srgbClr val="333333"/>
                </a:solidFill>
              </a:defRPr>
            </a:pPr>
            <a:r>
              <a:t>Most importantly: Students understand that technical management IS systems engineering, not overhead. They can plan SE work and manage risks proactively.</a:t>
            </a:r>
          </a:p>
          <a:p>
            <a:pPr>
              <a:spcAft>
                <a:spcPts val="1000"/>
              </a:spcAft>
              <a:defRPr sz="1800">
                <a:solidFill>
                  <a:srgbClr val="333333"/>
                </a:solidFill>
              </a:defRPr>
            </a:pPr>
            <a:r>
              <a:t>From: "Project and risk management is PM work, not engineering work</a:t>
            </a:r>
          </a:p>
          <a:p>
            <a:pPr>
              <a:spcAft>
                <a:spcPts val="1000"/>
              </a:spcAft>
              <a:defRPr sz="1800">
                <a:solidFill>
                  <a:srgbClr val="333333"/>
                </a:solidFill>
              </a:defRPr>
            </a:pPr>
            <a:r>
              <a:t>To: "Technical management is essential SE practice; I must master both technical and management skills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Bridge to Session 10</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Setup for Next Session:</a:t>
            </a:r>
          </a:p>
          <a:p>
            <a:pPr>
              <a:spcAft>
                <a:spcPts val="1000"/>
              </a:spcAft>
              <a:defRPr sz="1800">
                <a:solidFill>
                  <a:srgbClr val="333333"/>
                </a:solidFill>
              </a:defRPr>
            </a:pPr>
            <a:r>
              <a:t>Today you learned to plan SE work and manage risks—essential for project success. Next session, we complete technical management with Decision Management and Quality Management. You'll learn to make technical decisions systematically and ensure the quality of your SE deliverables. Together, these give you the complete management toolkit for systems engineering. See you next time.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Framework</a:t>
            </a:r>
          </a:p>
          <a:p>
            <a:pPr>
              <a:spcAft>
                <a:spcPts val="1000"/>
              </a:spcAft>
              <a:defRPr sz="1800">
                <a:solidFill>
                  <a:srgbClr val="333333"/>
                </a:solidFill>
              </a:defRPr>
            </a:pPr>
            <a:r>
              <a:t>Framework Summary: — Total Slides: 30</a:t>
            </a:r>
          </a:p>
          <a:p>
            <a:pPr>
              <a:spcAft>
                <a:spcPts val="600"/>
              </a:spcAft>
              <a:defRPr sz="1800">
                <a:solidFill>
                  <a:srgbClr val="333333"/>
                </a:solidFill>
              </a:defRPr>
            </a:pPr>
            <a:r>
              <a:t>Story Arc: Complete - Setup (motivation) → Trigger (planning) → Rising Action (risk) → Climax (automotive) → Resolution (synthesis)</a:t>
            </a:r>
          </a:p>
          <a:p>
            <a:pPr>
              <a:spcAft>
                <a:spcPts val="600"/>
              </a:spcAft>
              <a:defRPr sz="1800">
                <a:solidFill>
                  <a:srgbClr val="333333"/>
                </a:solidFill>
              </a:defRPr>
            </a:pPr>
            <a:r>
              <a:t>Engagement: High - Case study, practical tools, exercises</a:t>
            </a:r>
          </a:p>
          <a:p>
            <a:pPr>
              <a:spcAft>
                <a:spcPts val="600"/>
              </a:spcAft>
              <a:defRPr sz="1800">
                <a:solidFill>
                  <a:srgbClr val="333333"/>
                </a:solidFill>
              </a:defRPr>
            </a:pPr>
            <a:r>
              <a:t>Learning Outcomes: LO1, LO2, LO3 thoroughly addressed</a:t>
            </a:r>
          </a:p>
          <a:p>
            <a:pPr>
              <a:spcAft>
                <a:spcPts val="600"/>
              </a:spcAft>
              <a:defRPr sz="1800">
                <a:solidFill>
                  <a:srgbClr val="333333"/>
                </a:solidFill>
              </a:defRPr>
            </a:pPr>
            <a:r>
              <a:t>Automotive Context: Strong - APQP integration, ISO 26262, real risks</a:t>
            </a:r>
          </a:p>
          <a:p>
            <a:pPr>
              <a:spcAft>
                <a:spcPts val="1000"/>
              </a:spcAft>
              <a:defRPr sz="1800">
                <a:solidFill>
                  <a:srgbClr val="333333"/>
                </a:solidFill>
              </a:defRPr>
            </a:pPr>
            <a:r>
              <a:t>Next Step: Instructor develops PowerPoint slides using this framework, inserting appropriate visuals and adapting for classroom dynamics.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