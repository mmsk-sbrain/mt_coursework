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4: Requirements Engineering'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Requirements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4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4. Today we tackle what many consider the MOST critical process in systems engineering: Requirements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Get requirements wrong, and everything that follows is built on a faulty foundation. Get them right, and you've set yourself up for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connect the journey we've been 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We learned WHY systems engineering matters through failure cases. Poor requirements were at the root of many disasters.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We learned the SE framework - ISO/IEC 15288 technical processes. The FIRST technical process? Stakeholder needs and requirements definition.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We explored Traditional vs MBSE approaches. Both start with the same thing: defining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focus: How do we actually DO requirements engineering in practice?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Requirements Engineering Is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some sobering data from the Standish Group's CHAOS Report: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causes of project failure: — 37% - Incomplete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28% - Lack of user involvement (stakeholder engagement)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19% - Lack of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16% - Unrealistic expectations (poor requirements management)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 65% of failures trace back to requirements issues.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automotive systems: — Average cost to fix a requirements defect found in design: $1,000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cost if found in testing: $10,000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cost if found after production: $100,000+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Recalls due to requirements failures: Millions of dollars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we spend today mastering this discipline.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Example - The Mars Climate Orbiter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this from Session 1? The $327 million Mars Climate Orbiter lost because one team used metric units, another used imperial.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failure analysis: — Root cause: Interface requirement didn't specify units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was missing: 'The navigation software shall output thrust values in Newtons (N)'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was assumed: Teams made different assumptions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single missing word - the UNIT of measurement - destroyed the mission.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power and precision requirements engineering demands.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 Deceptively Simple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a challenge. Your manager says: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'Design a cruise control system for our new vehicle.'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Sounds simple, right? Let me show you what happens when you skip requirements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1 - Engineering student approach: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'Okay, cruise control maintains constant speed. I'll write code that keeps throttle position constant.'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Vehicle slows down on hills, speeds up downhill. FAILED.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2 - Better attempt: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'Cruise control maintains speed using feedback control. I'll adjust throttle based on speed sensor.'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Works on flat roads. But what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hits brake? (Should cruise disengage)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Steep downhill? (Should engine brake be used?)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 limit changes? (Should there be limits?)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Sudden obstacle? (How does it interact with collision avoidance?)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pressed? (Manual transmission considerations)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Suddenly, 'simple' cruise control has dozens of requirements across multiple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Who Are the Stakeholders?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First principle: A system serves stakeholders. We must know who they are and what they need.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our cruise control system, who are the stakeholders?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[Pause - let students think]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complete list: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Primary Stakeholders: — Drivers: Want convenient speed control, ease of use,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OEM: Wants reliability, cost-effectiveness, regulatory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engineers: Want fail-safe operation, no unintended acceleration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Secondary Stakeholders: — Service technicians: Want diagnosability, easy calibration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Regulators: Want compliance with FMVSS, ISO 26262 (functional 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ECU teams: Integration with powertrain, brakes,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 team: Want verifiable, testable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Marketing: Want competitive features (adaptive cruise, traffic assist)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Tertiary Stakeholders: — Insurance companies: Want proven safety record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Fleet operators: Want fuel efficiency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End-of-life recyclers: Want material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Notice: It's not just 'the customer.' Each group has DIFFERENT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Stakeholder Analysis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analyze stakeholders systematically using this matrix: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Stakeholder | Interest | Influence | Priority | Engagement Strategy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|-------------|----------|-----------|----------|---------------------|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Driver | High | Medium | Critical | User studies, focus groups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Safety Engineer | High | High | Critical | Requirements reviews, FMEA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Regulator | Medium | High | High | Standards compliance verification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Service Tech | Medium | Low | Medium | Service manual, diagnostics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Interest: How much does the system affect them?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Influence: How much power do they have over the system?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Priority: How important are they to success?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Engagement: How do we gather their input?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Real case: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 initially ignored service technician stakeholders when designing Model S battery packs. Result: Battery replacement required lifting entire vehicle, 6+ hour procedure. Later redesigned after technician feedback.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Lesson: Identify ALL stakeholders 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Eliciting Stakeholder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we extract what stakeholders actually need? Six proven techniques: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Interviews (One-on-one or small groups)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Deep understanding, clarification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Interview experienced drivers about cruise control usage patterns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Surveys (Questionnaires)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Quantitative data from many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'How often do you use cruise control?' (Daily/Weekly/Rarely/Never)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Observation (Watch users in context)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Understanding actual behavior vs stated preferences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Observe drivers on highway to see when they engage/disengage cruise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Workshops (Facilitated group sessions)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Resolving conflicts, building consensus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Joint session with powertrain, brakes, and safety teams to define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Prototyping (Show early concepts)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Getting concrete feedback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Simulator with cruise control to test driver reactions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Document Analysis (Review existing systems, standards)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for: Baseline requirements, regulatory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Analyze FMVSS 126 (Electronic Stability Control) for related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Best practice: Use MULTIPLE techniques. Different stakeholders respond to different approaches.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From Stakeholder Needs to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 express NEEDS in their language. We must transform these into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transformation: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need (in their words):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'I want cruise control that doesn't freak out when I'm going downhill and makes me speed.'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Translation process: — Implied need: System should not allow speed to exceed set speed significantly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requirement: 'The cruise control system shall maintain vehicle speed within ±3 km/h of the set speed under grade conditions from -10% to +10%.'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Another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engineer need: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'The system must be safe even if sensors fail.'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(multiple): — REQ-CC-001: 'The system shall detect wheel speed sensor failures within 100ms.'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REQ-CC-002: 'Upon detection of sensor failure, the system shall transition to fail-safe state (cruise disabled) within 200ms.'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REQ-CC-003: 'The system shall alert the driver of cruise control unavailability via dashboard indicator.'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One stakeholder need often generates MULTIPLE technical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translation is the art and science of requirements engineering.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Needs vs Requirements - The Critical Distinction (Slides 12-14, ~8 minutes)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Understanding the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foundational: Needs and requirements are NOT the same thing.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NEEDS: — Stakeholder desires and goals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Expressed in stakeholder language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Often vague, subjective, negotiable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Answer: 'What problem are we solving?'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'I need a comfortable driving experience on long trips'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REQUIREMENTS: — Specific, measurable system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Expressed in engineering language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Precise, objective, verifiable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Answer: 'What must the system do?'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'The cruise control system shall maintain speed with maximum throttle variation of ±5% when operating on grades ≤8%'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V-Model connection (from Session 2):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Left side top: Stakeholder NEEDS →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side top: Validation tests verify we met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side lower: Verification tests verify we met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Needs define SUCCESS. Requirements define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Requirements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exist at multiple levels. Understanding this hierarchy is critical: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1 - Stakeholder Requirements (SR) — High-level capabilities from stakeholder perspective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'SR-001: The vehicle shall provide driver-assisted speed control on highways'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2 - System Requirements (SysR) — System-level functional and performance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'SysR-CC-015: The cruise control system shall maintain set speed within ±2 km/h in steady-state conditions'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3 - Subsystem Requirements (SSR) — Allocated to specific subsystems/components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'SSR-CC-ECU-042: The cruise control ECU shall read wheel speed sensor data at minimum 50 Hz'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4 - Component Requirements (CR) — Detailed design requirements for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'CR-CC-SW-128: The speed calculation algorithm shall use floating-point arithmetic with minimum 32-bit precision'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Traceability flows DOWN (allocation): SR → SysR → SSR → CR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 flows UP: Component test → Subsystem test → System test →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left side of the V-Model in practice.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Automotive Industry Standard - Requirements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automotive, we follow additional structure from ISO 26262 (Functional Safety):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Customer Requirements (Market)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Level Requirements (Vehicle attributes)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Requirements (e.g., Cruise Control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Hardware/Software Requirements (ECU, sensors, actuators)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 Requirements (Microcontroller, algorithms)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 - Adaptive Cruise Control (ACC): — Customer: 'I want hands-free highway driving'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Vehicle: 'Vehicle shall provide Level 2 autonomous capability per SAE J3016'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System: 'ACC system shall maintain time gap of 1.0-2.5 seconds to lead vehicle'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HW/SW: 'Radar sensor shall detect vehicles up to 150m with ±0.5m range accuracy'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Component: 'Radar processing FPGA shall execute object tracking algorithm at 20 Hz'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level adds specificity and enables different teams to work in parallel.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Types of Requirements (Slides 15-18, ~12 minutes)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Three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requirements fall into three categories. Master these and you'll capture complete system behavior.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Functional Requirements (FR) — WHAT the system shall 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Describes behavior, inputs, outputs, operations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'The system shall activate cruise control when driver presses SET button'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Non-Functional Requirements (NFR) — HOW WELL the system shall perform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attributes, performance, reliability, usability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'The system shall respond to SET button within 200ms'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Constraints (CON) — Design restrictions and boundaries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Technology, standards, regulations,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'The system shall comply with ISO 26262 ASIL-B requirements'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mistake: Forgetting non-functional requirements. A system that does everything functionally but is too slow, unreliable, or unusable is still a failure.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detailed examples from automotive cruise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Functional Requirements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Requirements define system behavior. Here are real examples: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Basic Control Functions: — FR-CC-001: 'The system shall engage cruise control when driver presses SET button while vehicle speed is between 30-180 km/h'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FR-CC-002: 'The system shall set target speed to current vehicle speed when SET button is pressed'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FR-CC-003: 'The system shall increase target speed by 1 km/h for each RES+ button press'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FR-CC-004: 'The system shall decrease target speed by 1 km/h for each SET- button press'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Deactivation Functions: — FR-CC-010: 'The system shall disengage cruise control when driver presses CANCEL button'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FR-CC-011: 'The system shall disengage cruise control when brake pedal is depressed &gt;10%'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FR-CC-012: 'The system shall disengage cruise control when clutch pedal is depressed (manual transmission)'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Speed Maintenance: — FR-CC-020: 'The system shall modulate throttle position to maintain target speed'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FR-CC-021: 'The system shall request engine torque reduction when speed exceeds target by &gt;5 km/h on descents'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 the structure: Each requirement specifies a clear input condition and system response. No ambiguity.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Non-Functional Requirements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Non-Functional Requirements define quality attributes. These are often forgotten but equally critical.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Performance: — NFR-CC-001: 'The system shall achieve steady-state speed accuracy within ±2 km/h within 5 seconds of engagement'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NFR-CC-002: 'The control loop shall execute at minimum 20 Hz update rate'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Reliability: — NFR-CC-010: 'The system shall achieve ASIL-B rating per ISO 26262'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NFR-CC-011: 'The system shall have failure rate &lt;10 FIT (Failures In Time per billion hours)'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Usability: — NFR-CC-020: 'Driver shall be able to engage cruise control with single button press (no menu navigation)'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NFR-CC-021: 'System status shall be visible on instrument cluster within driver's primary field of view'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Maintainability: — NFR-CC-030: 'The system shall log fault codes per SAE J1979 OBD-II standard'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NFR-CC-031: 'Calibration parameters shall be modifiable via diagnostic tool without ECU replacement'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Safety: — NFR-CC-040: 'The system shall transition to safe state within 200ms upon detection of critical sensor failure'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Environmental: — NFR-CC-050: 'The ECU shall operate in temperature range -40°C to +85°C'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are often harder to specify but critical to user satisfaction and system success.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Constraints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Constraints limit design freedom. They come from regulations, standards, existing architecture, and business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Regulatory Constraints: — CON-CC-001: 'The system shall comply with FMVSS 126 (Electronic Stability Control)'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CON-CC-002: 'The system shall meet Euro NCAP 5-star safety assessment requirements'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Constraints: — CON-CC-010: 'The system shall implement ISO 26262 safety life cycle processes'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CON-CC-011: 'Communication shall use CAN 2.0B protocol per ISO 11898'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Constraints: — CON-CC-020: 'The system shall interface with existing vehicle CAN bus (500 kbps)'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CON-CC-021: 'The system shall use existing steering wheel switch inputs (resistive ladder, 0-5V)'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Technology Constraints: — CON-CC-030: 'The ECU shall use existing platform microcontroller (Infineon AURIX TC39x)'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CON-CC-031: 'Software shall be written in MISRA C:2012 compliant code'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Business Constraints: — CON-CC-040: 'ECU unit cost shall not exceed $45 at 100k volume'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CON-CC-041: 'Development shall reuse existing powertrain control algorithms (≥70% reuse)'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Constraints often drive architecture decisions. You design AROUND constraints; you design TO requirements.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Requirements Attributes - What Makes a Good Requirement? (Slides 19-21, ~10 minutes)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Quality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requirement can be technically correct but still be useless. Why? Because it lacks critical quality attributes.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GOOD requirement 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— Unambiguous, single interpretation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Concise — Succinct, no unnecessary words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Verifiable — Can be tested/proven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Feasible — Technically and economically achievable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Traceable — Linked to source (needs) and destination (tests)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Necessary — Actually needed (not nice-to-have masquerading as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Complete — Includes all needed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Consistent — Doesn't contradict other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Unambiguous — Only ONE possible interpretation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good vs bad examples for each attribute.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Good vs Bad Requirements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analyze requirements through these quality attributes: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BAD: Ambiguous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'The cruise control system shall be fast'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'fast'? Response time? Processing speed? Acceleration?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GOOD: Clear and Verifiable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'The cruise control system shall engage within 500ms of SET button press'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Specific metric, testable, no ambiguity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BAD: Not Verifiable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'The system shall be user-friendly'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you test 'user-friendly'? Subjective.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GOOD: Verifiable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'The system shall enable driver to set target speed with maximum 3 button presses'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Countable actions, testable, objective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BAD: Contains Design (Should Be Requirement)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'The system shall use PID controller with Kp=0.5, Ki=0.1, Kd=0.05 to maintain speed'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design solution, not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GOOD: Design-Free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'The system shall maintain speed within ±2 km/h with settling time ≤5 seconds'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Specifies WHAT, not HOW. Allows engineers to choose best controller.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BAD: Incomplete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'The system shall disengage when driver brakes'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Missing: How much brake pressure? What's the timing?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GOOD: Complete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'The system shall disengage cruise control within 100ms when brake pedal is depressed &gt;10% of travel'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Includes threshold and timing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BAD: Multiple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'The system shall maintain speed and disengage on brake press and display status'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Three requirements in one (violates 'atomic' principle)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GOOD: Atomic (Single Requirement)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Split into three: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'The system shall maintain target speed within ±2 km/h'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'The system shall disengage when brake pedal is depressed &gt;10%'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'The system shall display engagement status on instrument cluster'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can be verified independently.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Requirements Writing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Professional requirements follow standard structure. Here's the template: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 Structure: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'[System] shall [action] [object] [qualifier] [condition]'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Examples: — 'The cruise control system shall maintain vehicle speed within ±2 km/h when operating on grades ≤8%'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System: cruise control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maintain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Object: vehicle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Qualifier: within ±2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Condition: when operating on grades ≤8%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writing rules: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'shall' for requirements — 'shall' = mandatory requirement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'should' = guidance/goal (not a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'will' = statement of fact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'may' = permission/option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Avoid weak words: 'adequate', 'sufficient', 'good', 'user-friendly', 'fast', 'reliable'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Replace with specific, measurable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 specific about conditions: Don't say 'when appropriate' or 'as needed'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Specify exact conditions: 'when vehicle speed exceeds 30 km/h'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Quantify everything possible: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Not: 'quickly' → 'within 500ms'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Not: 'accurately' → 'with ±2% error'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Not: 'most of the time' → '99.9% of operational time'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One requirement per statement (atomic)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you can split it with 'and', it's probably multiple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 reference: Many companies use IEEE 29148 (Requirements Engineering) or EARS (Easy Approach to Requirements Syntax).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Requirements Traceability (Slides 22-23, ~8 minutes)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Traceability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Traceability is the ability to follow a requirement through the entire life cycle.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it's critical: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Analysis: If a stakeholder need changes, what requirements are affected? What components? What tests?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Coverage: Are all requirements tested? Are there orphan tests (tests with no requirement)?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Compliance: ISO 26262, ASPICE, DO-178C all REQUIRE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Management: Understanding ripple effects of changes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Visibility: What's implemented? What's tested? What's validated?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Traceability links: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Forward traceability (downstream):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 Need → System Requirement → Subsystem Requirement → Design Element → Code Module → Test Case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Backward traceability (upstream):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Result → Test Case → Requirement → Stakeholder Need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Bi-directional traceability: Ability to navigate both directions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how we implement this.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Requirements Traceability Matrix (RTM)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primary tool is the Requirements Traceability Matrix (RTM).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RTM for Cruise Control: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Stakeholder Need | System Req | Subsystem Req | Design | Implementation | Test Case | Status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|------------------|------------|---------------|--------|----------------|-----------|--------|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SN-001: Driver wants hands-free highway speed control | SR-CC-001 | SSR-CC-ECU-010, SSR-CC-SW-005 | DD-CC-SpeedControl | SW-Module-CC-001 | TC-CC-045 | Verified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SN-002: System must be safe even with sensor failures | SR-CC-020 | SSR-CC-ECU-025, SSR-CC-Diag-003 | DD-CC-FailSafe | SW-Module-CC-FailSafe | TC-CC-078, TC-CC-079 | Verified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this shows: — Every stakeholder need maps to one or more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 decompose to subsystem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elements implement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cases verify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 tracking: Not Started / In Progress / Implemented / Verified / Validated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Red flags the RTM catches: — Orphan requirements: Requirement with no test case (Can't verify!)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Orphan tests: Test with no requirement (Testing what?)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Uncovered needs: Stakeholder need with no requirements (Gap!)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Unimplemented requirements: Requirement with no design element (Missed!)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support: IBM DOORS, Jama, PTC Integrity, Siemens Polarion, or even Excel for small projects.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reality: On a complete vehicle program, RTMs have 10,000+ rows. Tool support is essential.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6: Requirements Management Tools and Processes (Slides 24, ~4 minutes)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Seven Deadly Sins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most common requirements engineering failures. Learn to recognize these anti-patterns.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#1: Ambiguity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Example: 'The system shall provide adequate performance'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'adequate'? Different stakeholders have different interpretations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'The system shall accelerate from 50-100 km/h in ≤8 seconds'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#2: Gold Plating (Unnecessary Features)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Example: 'The cruise control shall display average fuel economy'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Nice feature, but is it NEEDED for cruise control? (Instrument cluster does this)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Adds cost, complexity, testing burden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Challenge every requirement - trace to stakeholder need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#3: Scope Creep — Requirements continuously added without formal change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Mid-development: 'Oh, let's also add traffic sign recognition'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Schedule delays, budget overruns, quality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Formal change control board, impact analysis before accepting changes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#4: Implementation Bias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Example: 'The system shall use a Kalman filter to estimate vehicle speed'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specifies HOW (Kalman filter) not WHAT (accurate speed estimation)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'The system shall estimate vehicle speed with ±1 km/h accuracy'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Let designers choose the best algorithm (might be Kalman, might not)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#5: Missing Non-Functionals — Specifying all functional behavior but forgetting performance, safety, reliability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Having 100 functional requirements but zero reliability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System works but is unusable (too slow, unreliable, unsafe)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Systematically review NFR categories (performance, reliability, safety, usability, maintainability, security)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#6: Inconsistency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REQ-001: 'System shall operate in -20°C to +70°C'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REQ-045: 'Display shall use LCD screen' (LCDs typically fail below -10°C)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Requirements review, consistency checking (tools help)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 #7: Weak Traceability — Can't answer: 'Which test verifies REQ-CC-042?'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Can't answer: 'If we change this need, what's impacted?'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Requirements not verified, changes cause unintended consequences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Maintain RTM religiously, use tools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project I've seen fail had at least 3 of these sins.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 Automotive Example - Unintended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apply what we've learned to a real disaster: Toyota unintended acceleration (2009-2011).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Background: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89 deaths, millions of vehicles recalled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$1.2B settlement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Root cause: Software failures in Electronic Throttle Control System (ETCS)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Engineering Failures: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Incomplete Safety Requirements — Missing requirement: 'System shall prevent simultaneous conflicting commands (accelerator + brake)'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Missing requirement: 'System shall default to brake priority in conflict scenarios'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Inadequate Failure Mode Requirements — Didn't specify behavior for all sensor failure combinations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Didn't require testing of bit-flip errors in memory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Poor Traceability — NASA analysis found: Many safety requirements were NOT traced to test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Orphan code: Functions that weren't tied to any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Ambiguous Requirements — Example found in investigation: 'Throttle shall respond appropriately to pedal input'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'appropriately'? Different interpretations led to unsafe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Missing Non-Functional Requirements — No requirement for maximum task blocking time in RTOS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requirement for stack overflow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Software tasks could block critical safety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proper requirements engineering would have prevented: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Requirements (missing): — FR-ETCS-SAFE-001: 'If brake pedal is depressed &gt;20% while accelerator is &gt;50%, system shall reduce throttle to idle within 100ms'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Non-Functional Requirements (missing): — NFR-ETCS-SAFE-010: 'Maximum task blocking time shall not exceed 10ms'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NFR-ETCS-SAFE-011: 'System shall detect and respond to stack overflow within one task cycle'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Constraints (missing): — CON-ETCS-SAFE-020: 'Software shall comply with MISRA C safety guidelines'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Lessons learned: — Safety requirements need extra rigor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to tests is non-negotiable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Non-functional requirements are NOT optional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External review of requirements catches gaps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cost 89 lives and $1.2B. Requirements engineering is not bureaucracy - it's life-saving discipline.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what you've learned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Stakeholder-Driven Process — Systems serve stakeholders - identify them ALL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Elicit needs systematically (interviews, observation, workshops)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Transform needs into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Needs ≠ Requirements — Needs: Stakeholder desires (why)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Requirements: System capabilities (what)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Design: Implementation solution (how)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Three Requirement Types — Functional: What system does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Non-functional: How well it performs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Constraints: Design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Quality Attributes — Clear, concise, verifiable, traceable, complete, consistent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'shall' structure with quantification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Avoid ambiguity and design bias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Traceability is Essential — Needs → Requirements → Design → Implementation → Tests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RTM and tools (DOORS, Jama,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Ensures nothing falls through cracks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Common Pitfalls to Avoid — Ambiguity, gold plating, scope creep, implementation bias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Missing non-functionals, inconsistency, weak traceability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Remember: Poor requirements are the #1 cause of project failure. Master this, and you're already ahead of most engineers.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V-Model and Next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place today's learning in the bigger systems engineering context.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(Session 4): We're at the TOP LEFT of the V-Model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and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the FOUNDATION of everything else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comes next: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5 - System Design and Architecture: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transform requirements into architecture?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allocate requirements to subsystems?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define interfaces?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Moving down the left side of the 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7 - Operational and Functional Analysis: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analyze operational scenarios?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allocate requirements to functions?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flow block diagrams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8 - Integration, Verification &amp; Validation: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side of the V-Model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verify requirements? (Did we build it right?)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validate against needs? (Did we build the right thing?)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traceability to tests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thread: — Session 4: Define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Architect the 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Analyze functions and operations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Verify requirements are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connection: The requirements you write today MUST be verifiable in Session 8. Always write requirements with testing in mind.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3, we learned MBSE. In MBSE tools (SysML), requirements are embedded directly in models, enabling automatic traceability and consistency checking. Same principles, different representation.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Real Examples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Practical Exercise (Due before Session 5):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are the systems engineer for an Automatic Emergency Braking (AEB) system for a passenger vehicle.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Stakeholder Analysis (30%)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at least 6 stakeholder groups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stakeholder analysis matrix (Interest, Influence, Priority, Engagement Strategy)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List 2-3 needs per stakeholder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Requirements Development (50%)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Write at least 15 system-level requirements: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Minimum 8 functional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Minimum 4 non-functional requirements (including performance, safety, usability)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Minimum 3 constraints (regulatory, interface, technology)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requirement must: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Follow 'shall'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 clear, verifiable, and complete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unique identifier (REQ-AEB-XXX)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 traceable to a stakeholder need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Traceability Matrix (20%)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RTM mapping stakeholder needs →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at least one test approach for each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Grading Criteria: — Completeness of stakeholder identification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of requirements (clear, verifiable, unambiguous)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Proper categorization (FR/NFR/CON)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formatting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Submission: 1-page stakeholder analysis + 2-page requirements list + 1-page RTM (4 pages total)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Tips: — Research real AEB systems (Euro NCAP requirements, SAE standards)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Think about failure modes and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regulatory requirements (UN R152, FMVSS)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Don't specify implementation (no 'use radar' - instead specify detection requirements)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Questions: — How would requirements differ for AEB in a passenger car vs a heavy truck?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ethical requirements for AEB? (e.g., prioritizing pedestrians vs occupants)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you handle conflicting stakeholder needs?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engineering aesthetic: Clean, technical, data-driven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Blue for Functional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Non-Functional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Constraints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anti-patterns and warnings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real automotive examples: Photos of actual cruise control systems, driver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Diagrams: Professional process flows, RTM tables, stakeholder networks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 (Why Requirements Engineering Is Critical) - Statistics that grab attention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 (Needs → Requirements transformation) - Core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 (Three requirement types) - Fundamental categorization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 (Good vs Bad requirements) - Practical examples students will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(RTM) - Industry-standard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 (Toyota case study) - Real-world consequences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(Summary) -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7: Animate system context diagram connections appearing one by one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Animate transformation from need → requirement with visual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Build requirements hierarchy pyramid from bottom to top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Highlight RTM traceability links with animated arrows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Timeline animation showing Toyota unintended acceleration investigation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Stakeholder analysis matrix (use real cruise control example)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20: Good vs bad requirements comparison 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Full RTM example (6-8 rows minimum for clarity)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Tool comparison matrix with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actual automotive requirements from public sources (SAE standards, Euro NCAP, FMVSS)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Screenshots of DOORS or Jama (if licensing permits, otherwise mockups)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cruise control system diagrams from service manuals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requirements statements from ISO 26262 examples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Assessment Opportunities: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concrete (cruise control), expand abstract (principles), return concrete (exercise) — Use real failure case (Toyota) to drive home consequences — Emphasize practical skills: Students should be able to write requirements after today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Industry-standard terminology: Use same terms as INCOSE, IEEE, ISO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exposure: Show actual tools, not just theory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can't we just say 'make it work well'?"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Slide 4 (Mars Climate Orbiter) - ambiguity costs $327M. Show Slide 20 - translate vague statement to verifiable requirement. Emphasize: If you can't test it, it's not a requirement.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"Non-functional requirements seem less important than functional"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examples: A car that drives (functional) but catches fire (reliability NFR failure) is useless. A system that works but takes 5 minutes to respond (performance NFR failure) won't be used. NFRs define QUALITY.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"This seems like a lot of bureaucracy"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Slide 3 statistics - 65% of projects fail due to requirements issues. Show Slide 26 - Toyota's $1.2B lesson. Ask: "Is traceability bureaucracy or insurance?" Frame requirements engineering as RISK REDUCTION.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"How do I know when I have enough requirements?"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Coverage criteria: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stakeholder need has ≥1 requirement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operational scenario is covered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interfaces defined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failure modes addressed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regulatory requirements mapped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requirement is verifiable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reviews and checklists (Slide 27)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"What if stakeholders want contradictory things?"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This is NORMAL. Systems engineering is about trade-offs. Example: Marketing wants 200 km/h top speed, Safety wants governor at 180 km/h. Solution: Negotiate, analyze risk, escalate to decision authority. Document rationale. This leads to Session 10 (Decision Management).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10 (elicitation techniques) - brief overview, details in reading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Slide 24 (tools) to 2-3 tools only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some good/bad examples from Slide 20 to backup slides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Extend Slide 26 (Toyota case) with more forensic details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 interactive exercise: Give students a vague requirement, have them improve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live demo of DOORS or Jama tool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 - non-negotiable): — Slides 8-11 (stakeholders and needs)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12-14 (needs vs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15-18 (requirement types)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19-21 (quality attributes and writing)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22-23 (traceability and RTM)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 (Toyota case study)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(summary)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6: Interactive - pause after showing cruise control challenge. Ask: "What could go wrong if we don't specify requirements?" Let students call out scenarios.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11: Work through transformation together - show a raw stakeholder quote, have students help translate to requirement.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20: For each bad requirement, ask students: "What's wrong with this?" before revealing the answer.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23: Walk through RTM together - trace one requirement from need to test.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26: This should be a mini-case study discussion. Ask: "What specific requirement would have prevented this?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Poll (Slide 3): "How many have worked on projects that failed due to unclear requirements?" (Show of hands - normalizes the problem)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Pair Exercise (Slide 21): Give pairs 3 minutes to write one requirement for "vehicle shall have good fuel economy." Then critique together using quality attributes.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Case Analysis (Slide 26): Small groups discuss: "If you were the requirements engineer, what would you have done differently?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Real RTM example (anonymized from industry project if possible)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Screenshots or demo of DOORS/Jama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Printed requirement quality checklist (1-page handout)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Case study materials for Toyota unintended acceleration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Exercise assignment handout with rubric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Handouts: — [ ] Requirements writing template (Slide 21 format)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Quality attributes checklist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Stakeholder analysis matrix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RTM template (Excel)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List of automotive standards (ISO 26262, ASPICE, FMVSS, Euro NCAP)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exercise assignment with due date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requirements writing template and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links to IEEE 29148, INCOSE requirements guide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Create discussion forum: "Share a bad requirement you've encountered and how to fix 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lecture: — Quick quiz (Slide 14): "What's the difference between a need and a requirement?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quiz (Slide 18): "Classify this requirement: FR, NFR, or CON?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Exercise assessment criteria: — Stakeholder completeness (Did they identify non-obvious stakeholders?)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 quality (Verifiable? Clear? Properly structured?)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(Is RTM complete and consistent?)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formatting (Industry-standard presentation?)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student mistakes to watch for: — Writing implementation as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Forgetting non-functional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Ambiguous language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Missing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Copy-pasting requirements from internet without understanding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stakeholders systematically for automotive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Distinguish between stakeholder needs and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Categorize requirements as functional, non-functional, or constraints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Write clear, verifiable, traceable requirements using standard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Recognize good vs bad requirements using quality attributes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Create and interpret requirements traceability matrices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common requirements engineering pitfalls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tool landscape for requirements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can write professional-quality requirements for an automotive system and understand that requirements engineering is a systematic discipline with proven methods, not ad-hoc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Evidence of success: — Student can take a vague stakeholder statement and convert it to a verifiable requirement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critique a requirement using quality attributes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understands traceability chain from need to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explain why Toyota unintended acceleration was a requirements failure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Additional Resources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and Guidelines: — IEEE 29148-2018: Systems and Software Engineering - Life Cycle Processes - Requirements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ISO/IEC/IEEE 15288:2015: Systems and Software Engineering - System Life Cycle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INCOSE Systems Engineering Handbook, Chapter 4: Requirements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EARS (Easy Approach to Requirements Syntax) - Rolls-Royce method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Automotive-Specific: — ISO 26262-8:2018: Road Vehicles - Functional Safety - Part 8: Supporting Processes (Requirements specification)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 SPICE (ASPICE) v3.1: SYS.3 System Requirements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J3061: Cybersecurity Guidebook for Cyber-Physical Vehicle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Books: — "Requirements Engineering Fundamentals" by Klaus Pohl &amp; Chris Rupp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"Writing Effective Use Cases" by Alistair Cockburn (for scenario-based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"Software Requirements" by Karl Wiegers (applicable to systems too)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Online Tools and Templates: — Jama Software: Free requirements training modules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IBM DOORS tutorials (YouTube)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ReqIF format specification (for tool interoperability)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Failures often traced to requirements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Requirements definition is first technical process in ISO/IEC 15288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MBSE embeds requirements in models (SysML requirements diagrams)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5: How do we transform requirements into architecture and design?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How do we allocate requirements to functions using operational analysis?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How do we verify requirements? (Right side of V-Model -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How do we manage requirements changes? (Change control, configuration management)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12: How do we specify safety requirements? (ISO 26262 safety requirements)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2: WHAT is systems engineering? (Framework)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HOW do we implement it? (Traditional vs MBSE)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HOW do we capture requirements? (This session)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HOW do we design solutions? (Architecture)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HOW do we verify we met requirements? (V&amp;V)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traceability appears in: — Session 8 (test traceability)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 (configuration management)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 (safety requirements traceability per ISO 26262)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 (measurement and traceability metrics)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🎬 Opening and Closing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Closing (Last 2 minutes):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Start with the Mars Climate Orbiter image on screen as students enter. Begin: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start, I want you to look at this image. This is a $327 million spacecraft that was destroyed because of a single missing word in a requirement. One. Word.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we're going to learn how to write requirements so precisely, so carefully, that this never happens on your projects. Because in automotive, instead of losing a spacecraft, we could lose lives.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4: Requirements Engineering - the most critical skill in systems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Return to the opening image: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started with a $327 million failure caused by poor requirements. You now have the knowledge to prevent this: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identify stakeholders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write clear, verifiable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build traceability from needs to tests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know the pitfalls and how to avoid them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exercise I've given you is your chance to practice these skills. Treat it seriously - imagine you're the requirements engineer and 89 lives depend on your work. Because someday, they might.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you in Session 5, where we'll transform these requirements into system architecture.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📈 Learning Objectives Mapping to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Session Objective | Assessment Method | Success Criteria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|-------------------|-------------------|------------------|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Distinguish needs from requirements | Exercise Part 2 | Correctly categorizes stakeholder statements as needs; derives requirements from them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Identify and analyze stakeholders | Exercise Part 1 | Identifies ≥6 diverse stakeholder groups; complete analysis matrix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Classify requirement types | Exercise Part 2 | Correctly labels ≥8 FR, ≥4 NFR, ≥3 CON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Apply quality attributes | Exercise Part 2 | All requirements follow 'shall' structure, are verifiable, clear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Create traceability matrix | Exercise Part 3 | Complete RTM with needs→reqs→tests mappings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Recognize pitfalls | In-class discussion + exercise quality | Avoids ambiguity, design bias, missing NFRs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Select tools | Knowledge check (Q&amp;A) | Can name 2-3 tools and their use cases |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4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5 (System Design and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