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6: Case Study 1 - Boeing 737 MAX MCAS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Case Study 1 - Boeing 737 MAX MCAS System</a:t>
            </a:r>
          </a:p>
        </p:txBody>
      </p:sp>
      <p:sp>
        <p:nvSpPr>
          <p:cNvPr id="3" name="Subtitle 2"/>
          <p:cNvSpPr>
            <a:spLocks noGrp="1"/>
          </p:cNvSpPr>
          <p:nvPr>
            <p:ph type="subTitle" idx="1"/>
          </p:nvPr>
        </p:nvSpPr>
        <p:spPr/>
        <p:txBody>
          <a:bodyPr/>
          <a:lstStyle/>
          <a:p>
            <a:pPr>
              <a:defRPr sz="2000">
                <a:solidFill>
                  <a:srgbClr val="FFFFFF"/>
                </a:solidFill>
              </a:defRPr>
            </a:pPr>
            <a:r>
              <a:t>Session 6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Session 6. Today's session is different. We're not learning new concepts. Instead, we're applying everything you've learned in Sessions 1-5 to analyze one of the most significant aerospace engineering failures of the 21st century.</a:t>
            </a:r>
          </a:p>
          <a:p>
            <a:pPr>
              <a:spcAft>
                <a:spcPts val="1000"/>
              </a:spcAft>
              <a:defRPr sz="1800">
                <a:solidFill>
                  <a:srgbClr val="333333"/>
                </a:solidFill>
              </a:defRPr>
            </a:pPr>
            <a:r>
              <a:t>The Boeing 737 MAX MCAS system failure resulted in 346 deaths across two crashes. This is not an academic exercise - these were real people. As engineers, we have a profound responsibility to learn from this tragedy so it never happens again.</a:t>
            </a:r>
          </a:p>
          <a:p>
            <a:pPr>
              <a:spcAft>
                <a:spcPts val="1000"/>
              </a:spcAft>
              <a:defRPr sz="1800">
                <a:solidFill>
                  <a:srgbClr val="333333"/>
                </a:solidFill>
              </a:defRPr>
            </a:pPr>
            <a:r>
              <a:t>Today, we honor those lives by understanding EXACTLY what went wrong from a systems engineering perspective.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Your Learning Journey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Over the past five sessions, you've built a comprehensive systems engineering toolkit:</a:t>
            </a:r>
          </a:p>
          <a:p>
            <a:pPr>
              <a:spcAft>
                <a:spcPts val="1000"/>
              </a:spcAft>
              <a:defRPr sz="1800">
                <a:solidFill>
                  <a:srgbClr val="333333"/>
                </a:solidFill>
              </a:defRPr>
            </a:pPr>
            <a:r>
              <a:t>✓ Session 1: Why SE matters - we saw failures in hindsight</a:t>
            </a:r>
          </a:p>
          <a:p>
            <a:pPr>
              <a:spcAft>
                <a:spcPts val="1000"/>
              </a:spcAft>
              <a:defRPr sz="1800">
                <a:solidFill>
                  <a:srgbClr val="333333"/>
                </a:solidFill>
              </a:defRPr>
            </a:pPr>
            <a:r>
              <a:t>✓ Session 2: SE processes and the V-model framework</a:t>
            </a:r>
          </a:p>
          <a:p>
            <a:pPr>
              <a:spcAft>
                <a:spcPts val="1000"/>
              </a:spcAft>
              <a:defRPr sz="1800">
                <a:solidFill>
                  <a:srgbClr val="333333"/>
                </a:solidFill>
              </a:defRPr>
            </a:pPr>
            <a:r>
              <a:t>✓ Session 3: MBSE and managing complexity</a:t>
            </a:r>
          </a:p>
          <a:p>
            <a:pPr>
              <a:spcAft>
                <a:spcPts val="1000"/>
              </a:spcAft>
              <a:defRPr sz="1800">
                <a:solidFill>
                  <a:srgbClr val="333333"/>
                </a:solidFill>
              </a:defRPr>
            </a:pPr>
            <a:r>
              <a:t>✓ Session 4: Requirements engineering fundamentals</a:t>
            </a:r>
          </a:p>
          <a:p>
            <a:pPr>
              <a:spcAft>
                <a:spcPts val="1000"/>
              </a:spcAft>
              <a:defRPr sz="1800">
                <a:solidFill>
                  <a:srgbClr val="333333"/>
                </a:solidFill>
              </a:defRPr>
            </a:pPr>
            <a:r>
              <a:t>✓ Session 5: System architecture and design principles</a:t>
            </a:r>
          </a:p>
          <a:p>
            <a:pPr>
              <a:spcAft>
                <a:spcPts val="1000"/>
              </a:spcAft>
              <a:defRPr sz="1800">
                <a:solidFill>
                  <a:srgbClr val="333333"/>
                </a:solidFill>
              </a:defRPr>
            </a:pPr>
            <a:r>
              <a:t>Today: You'll use EVERY one of these tools to conduct a professional-grade failure analysis.</a:t>
            </a:r>
          </a:p>
          <a:p>
            <a:pPr>
              <a:spcAft>
                <a:spcPts val="1000"/>
              </a:spcAft>
              <a:defRPr sz="1800">
                <a:solidFill>
                  <a:srgbClr val="333333"/>
                </a:solidFill>
              </a:defRPr>
            </a:pPr>
            <a:r>
              <a:t>By the end of this session, you'll understand how systems engineering principles - properly applied - could have prevented this disaster. More importantly, you'll develop the critical thinking skills to recognize similar risks in your own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Overview - The Facts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 are the facts we'll be analyzing:</a:t>
            </a:r>
          </a:p>
          <a:p>
            <a:pPr>
              <a:spcAft>
                <a:spcPts val="1000"/>
              </a:spcAft>
              <a:defRPr sz="1800">
                <a:solidFill>
                  <a:srgbClr val="333333"/>
                </a:solidFill>
              </a:defRPr>
            </a:pPr>
            <a:r>
              <a:t>October 29, 2018 - Lion Air Flight 610 — Boeing 737 MAX 8, 13 minutes after takeoff</a:t>
            </a:r>
          </a:p>
          <a:p>
            <a:pPr>
              <a:spcAft>
                <a:spcPts val="600"/>
              </a:spcAft>
              <a:defRPr sz="1800">
                <a:solidFill>
                  <a:srgbClr val="333333"/>
                </a:solidFill>
              </a:defRPr>
            </a:pPr>
            <a:r>
              <a:t>Crashed into Java Sea, Indonesia</a:t>
            </a:r>
          </a:p>
          <a:p>
            <a:pPr>
              <a:spcAft>
                <a:spcPts val="600"/>
              </a:spcAft>
              <a:defRPr sz="1800">
                <a:solidFill>
                  <a:srgbClr val="333333"/>
                </a:solidFill>
              </a:defRPr>
            </a:pPr>
            <a:r>
              <a:t>189 fatalities (all aboard)</a:t>
            </a:r>
          </a:p>
          <a:p>
            <a:pPr>
              <a:spcAft>
                <a:spcPts val="1000"/>
              </a:spcAft>
              <a:defRPr sz="1800">
                <a:solidFill>
                  <a:srgbClr val="333333"/>
                </a:solidFill>
              </a:defRPr>
            </a:pPr>
            <a:r>
              <a:t>March 10, 2019 - Ethiopian Airlines Flight 302 — Boeing 737 MAX 8, 6 minutes after takeoff</a:t>
            </a:r>
          </a:p>
          <a:p>
            <a:pPr>
              <a:spcAft>
                <a:spcPts val="600"/>
              </a:spcAft>
              <a:defRPr sz="1800">
                <a:solidFill>
                  <a:srgbClr val="333333"/>
                </a:solidFill>
              </a:defRPr>
            </a:pPr>
            <a:r>
              <a:t>Crashed near Bishoftu, Ethiopia</a:t>
            </a:r>
          </a:p>
          <a:p>
            <a:pPr>
              <a:spcAft>
                <a:spcPts val="600"/>
              </a:spcAft>
              <a:defRPr sz="1800">
                <a:solidFill>
                  <a:srgbClr val="333333"/>
                </a:solidFill>
              </a:defRPr>
            </a:pPr>
            <a:r>
              <a:t>157 fatalities (all aboard)</a:t>
            </a:r>
          </a:p>
          <a:p>
            <a:pPr>
              <a:spcAft>
                <a:spcPts val="1000"/>
              </a:spcAft>
              <a:defRPr sz="1800">
                <a:solidFill>
                  <a:srgbClr val="333333"/>
                </a:solidFill>
              </a:defRPr>
            </a:pPr>
            <a:r>
              <a:t>March 13, 2019 - Global Grounding — All 737 MAX aircraft grounded worldwide</a:t>
            </a:r>
          </a:p>
          <a:p>
            <a:pPr>
              <a:spcAft>
                <a:spcPts val="600"/>
              </a:spcAft>
              <a:defRPr sz="1800">
                <a:solidFill>
                  <a:srgbClr val="333333"/>
                </a:solidFill>
              </a:defRPr>
            </a:pPr>
            <a:r>
              <a:t>Grounding lasted 20 months (lifted Dec 2020)</a:t>
            </a:r>
          </a:p>
          <a:p>
            <a:pPr>
              <a:spcAft>
                <a:spcPts val="1000"/>
              </a:spcAft>
              <a:defRPr sz="1800">
                <a:solidFill>
                  <a:srgbClr val="333333"/>
                </a:solidFill>
              </a:defRPr>
            </a:pPr>
            <a:r>
              <a:t>Investigations identified: — MCAS (Maneuvering Characteristics Augmentation System) as primary cause</a:t>
            </a:r>
          </a:p>
          <a:p>
            <a:pPr>
              <a:spcAft>
                <a:spcPts val="600"/>
              </a:spcAft>
              <a:defRPr sz="1800">
                <a:solidFill>
                  <a:srgbClr val="333333"/>
                </a:solidFill>
              </a:defRPr>
            </a:pPr>
            <a:r>
              <a:t>Multiple systems engineering process failures</a:t>
            </a:r>
          </a:p>
          <a:p>
            <a:pPr>
              <a:spcAft>
                <a:spcPts val="600"/>
              </a:spcAft>
              <a:defRPr sz="1800">
                <a:solidFill>
                  <a:srgbClr val="333333"/>
                </a:solidFill>
              </a:defRPr>
            </a:pPr>
            <a:r>
              <a:t>Organizational and regulatory failures</a:t>
            </a:r>
          </a:p>
          <a:p>
            <a:pPr>
              <a:spcAft>
                <a:spcPts val="1000"/>
              </a:spcAft>
              <a:defRPr sz="1800">
                <a:solidFill>
                  <a:srgbClr val="333333"/>
                </a:solidFill>
              </a:defRPr>
            </a:pPr>
            <a:r>
              <a:t>Total impact: — 346 lives lost</a:t>
            </a:r>
          </a:p>
          <a:p>
            <a:pPr>
              <a:spcAft>
                <a:spcPts val="600"/>
              </a:spcAft>
              <a:defRPr sz="1800">
                <a:solidFill>
                  <a:srgbClr val="333333"/>
                </a:solidFill>
              </a:defRPr>
            </a:pPr>
            <a:r>
              <a:t>$20+ billion in costs to Boeing</a:t>
            </a:r>
          </a:p>
          <a:p>
            <a:pPr>
              <a:spcAft>
                <a:spcPts val="600"/>
              </a:spcAft>
              <a:defRPr sz="1800">
                <a:solidFill>
                  <a:srgbClr val="333333"/>
                </a:solidFill>
              </a:defRPr>
            </a:pPr>
            <a:r>
              <a:t>Criminal charges against Boeing</a:t>
            </a:r>
          </a:p>
          <a:p>
            <a:pPr>
              <a:spcAft>
                <a:spcPts val="600"/>
              </a:spcAft>
              <a:defRPr sz="1800">
                <a:solidFill>
                  <a:srgbClr val="333333"/>
                </a:solidFill>
              </a:defRPr>
            </a:pPr>
            <a:r>
              <a:t>FAA certification process reforms</a:t>
            </a:r>
          </a:p>
          <a:p>
            <a:pPr>
              <a:spcAft>
                <a:spcPts val="600"/>
              </a:spcAft>
              <a:defRPr sz="1800">
                <a:solidFill>
                  <a:srgbClr val="333333"/>
                </a:solidFill>
              </a:defRPr>
            </a:pPr>
            <a:r>
              <a:t>Permanent damage to Boeing's reputation</a:t>
            </a:r>
          </a:p>
          <a:p>
            <a:pPr>
              <a:spcAft>
                <a:spcPts val="1000"/>
              </a:spcAft>
              <a:defRPr sz="1800">
                <a:solidFill>
                  <a:srgbClr val="333333"/>
                </a:solidFill>
              </a:defRPr>
            </a:pPr>
            <a:r>
              <a:t>Our mission today: Understand the SE failures that led to this tragedy.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Learning Approach for Today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Today's session is structured differently. This is an ACTIVE learning experience:</a:t>
            </a:r>
          </a:p>
          <a:p>
            <a:pPr>
              <a:spcAft>
                <a:spcPts val="1000"/>
              </a:spcAft>
              <a:defRPr sz="1800">
                <a:solidFill>
                  <a:srgbClr val="333333"/>
                </a:solidFill>
              </a:defRPr>
            </a:pPr>
            <a:r>
              <a:t>Part 1 (Slides 1-12): I'll present the case - technical background, what happened, initial facts</a:t>
            </a:r>
          </a:p>
          <a:p>
            <a:pPr>
              <a:spcAft>
                <a:spcPts val="1000"/>
              </a:spcAft>
              <a:defRPr sz="1800">
                <a:solidFill>
                  <a:srgbClr val="333333"/>
                </a:solidFill>
              </a:defRPr>
            </a:pPr>
            <a:r>
              <a:t>Part 2 (Slides 13-20): Guided analysis - We'll systematically analyze failures using SE frameworks you've learned</a:t>
            </a:r>
          </a:p>
          <a:p>
            <a:pPr>
              <a:spcAft>
                <a:spcPts val="1000"/>
              </a:spcAft>
              <a:defRPr sz="1800">
                <a:solidFill>
                  <a:srgbClr val="333333"/>
                </a:solidFill>
              </a:defRPr>
            </a:pPr>
            <a:r>
              <a:t>Part 3 (Slides 21-24): Group work (30 min) - You'll work in teams to analyze specific aspects</a:t>
            </a:r>
          </a:p>
          <a:p>
            <a:pPr>
              <a:spcAft>
                <a:spcPts val="1000"/>
              </a:spcAft>
              <a:defRPr sz="1800">
                <a:solidFill>
                  <a:srgbClr val="333333"/>
                </a:solidFill>
              </a:defRPr>
            </a:pPr>
            <a:r>
              <a:t>Part 4 (Slides 25-28): Group presentations and synthesis - Teams share findings</a:t>
            </a:r>
          </a:p>
          <a:p>
            <a:pPr>
              <a:spcAft>
                <a:spcPts val="1000"/>
              </a:spcAft>
              <a:defRPr sz="1800">
                <a:solidFill>
                  <a:srgbClr val="333333"/>
                </a:solidFill>
              </a:defRPr>
            </a:pPr>
            <a:r>
              <a:t>Part 5 (Slides 29-30): Lessons learned - What this means for your career</a:t>
            </a:r>
          </a:p>
          <a:p>
            <a:pPr>
              <a:spcAft>
                <a:spcPts val="1000"/>
              </a:spcAft>
              <a:defRPr sz="1800">
                <a:solidFill>
                  <a:srgbClr val="333333"/>
                </a:solidFill>
              </a:defRPr>
            </a:pPr>
            <a:r>
              <a:t>You will need: Your notes from Sessions 1-5, pen and paper, critical thinking caps on.</a:t>
            </a:r>
          </a:p>
          <a:p>
            <a:pPr>
              <a:spcAft>
                <a:spcPts val="1000"/>
              </a:spcAft>
              <a:defRPr sz="1800">
                <a:solidFill>
                  <a:srgbClr val="333333"/>
                </a:solidFill>
              </a:defRPr>
            </a:pPr>
            <a:r>
              <a:t>Ground rules: — This is a technical analysis, conducted with respect for victims</a:t>
            </a:r>
          </a:p>
          <a:p>
            <a:pPr>
              <a:spcAft>
                <a:spcPts val="600"/>
              </a:spcAft>
              <a:defRPr sz="1800">
                <a:solidFill>
                  <a:srgbClr val="333333"/>
                </a:solidFill>
              </a:defRPr>
            </a:pPr>
            <a:r>
              <a:t>Focus on SYSTEMS FAILURES, not individual blame</a:t>
            </a:r>
          </a:p>
          <a:p>
            <a:pPr>
              <a:spcAft>
                <a:spcPts val="600"/>
              </a:spcAft>
              <a:defRPr sz="1800">
                <a:solidFill>
                  <a:srgbClr val="333333"/>
                </a:solidFill>
              </a:defRPr>
            </a:pPr>
            <a:r>
              <a:t>Use SE frameworks we've learned</a:t>
            </a:r>
          </a:p>
          <a:p>
            <a:pPr>
              <a:spcAft>
                <a:spcPts val="600"/>
              </a:spcAft>
              <a:defRPr sz="1800">
                <a:solidFill>
                  <a:srgbClr val="333333"/>
                </a:solidFill>
              </a:defRPr>
            </a:pPr>
            <a:r>
              <a:t>Ask questions anytime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Technical Background - The 737 MAX Design Challenge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 understand what went wrong, we need to understand the engineering problem Boeing faced.</a:t>
            </a:r>
          </a:p>
          <a:p>
            <a:pPr>
              <a:spcAft>
                <a:spcPts val="1000"/>
              </a:spcAft>
              <a:defRPr sz="1800">
                <a:solidFill>
                  <a:srgbClr val="333333"/>
                </a:solidFill>
              </a:defRPr>
            </a:pPr>
            <a:r>
              <a:t>The Business Context: — 2010: Airbus launches A320neo with more efficient engines → threatens Boeing's market share</a:t>
            </a:r>
          </a:p>
          <a:p>
            <a:pPr>
              <a:spcAft>
                <a:spcPts val="600"/>
              </a:spcAft>
              <a:defRPr sz="1800">
                <a:solidFill>
                  <a:srgbClr val="333333"/>
                </a:solidFill>
              </a:defRPr>
            </a:pPr>
            <a:r>
              <a:t>Boeing's options:</a:t>
            </a:r>
          </a:p>
          <a:p>
            <a:pPr>
              <a:spcAft>
                <a:spcPts val="600"/>
              </a:spcAft>
              <a:defRPr sz="1800">
                <a:solidFill>
                  <a:srgbClr val="333333"/>
                </a:solidFill>
              </a:defRPr>
            </a:pPr>
            <a:r>
              <a:t>Option 1: Design clean-sheet new aircraft (10+ years, $15+ billion)</a:t>
            </a:r>
          </a:p>
          <a:p>
            <a:pPr>
              <a:spcAft>
                <a:spcPts val="600"/>
              </a:spcAft>
              <a:defRPr sz="1800">
                <a:solidFill>
                  <a:srgbClr val="333333"/>
                </a:solidFill>
              </a:defRPr>
            </a:pPr>
            <a:r>
              <a:t>Option 2: Re-engine existing 737 with modern engines (4-5 years, $2-3 billion)</a:t>
            </a:r>
          </a:p>
          <a:p>
            <a:pPr>
              <a:spcAft>
                <a:spcPts val="1000"/>
              </a:spcAft>
              <a:defRPr sz="1800">
                <a:solidFill>
                  <a:srgbClr val="333333"/>
                </a:solidFill>
              </a:defRPr>
            </a:pPr>
            <a:r>
              <a:t>Boeing chose Option 2: The 737 MAX</a:t>
            </a:r>
          </a:p>
          <a:p>
            <a:pPr>
              <a:spcAft>
                <a:spcPts val="1000"/>
              </a:spcAft>
              <a:defRPr sz="1800">
                <a:solidFill>
                  <a:srgbClr val="333333"/>
                </a:solidFill>
              </a:defRPr>
            </a:pPr>
            <a:r>
              <a:t>The Engineering Challenge:</a:t>
            </a:r>
          </a:p>
          <a:p>
            <a:pPr>
              <a:spcAft>
                <a:spcPts val="1000"/>
              </a:spcAft>
              <a:defRPr sz="1800">
                <a:solidFill>
                  <a:srgbClr val="333333"/>
                </a:solidFill>
              </a:defRPr>
            </a:pPr>
            <a:r>
              <a:t>The new LEAP-1B engines were larger and more efficient, but created a physical problem:</a:t>
            </a:r>
          </a:p>
          <a:p>
            <a:pPr>
              <a:spcAft>
                <a:spcPts val="600"/>
              </a:spcAft>
              <a:defRPr sz="1800">
                <a:solidFill>
                  <a:srgbClr val="333333"/>
                </a:solidFill>
              </a:defRPr>
            </a:pPr>
            <a:r>
              <a:t>New engines: 69.4 inches diameter (vs 61.6 inches on 737 NG)</a:t>
            </a:r>
          </a:p>
          <a:p>
            <a:pPr>
              <a:spcAft>
                <a:spcPts val="600"/>
              </a:spcAft>
              <a:defRPr sz="1800">
                <a:solidFill>
                  <a:srgbClr val="333333"/>
                </a:solidFill>
              </a:defRPr>
            </a:pPr>
            <a:r>
              <a:t>Ground clearance issue: Engines had to be mounted further forward and higher</a:t>
            </a:r>
          </a:p>
          <a:p>
            <a:pPr>
              <a:spcAft>
                <a:spcPts val="600"/>
              </a:spcAft>
              <a:defRPr sz="1800">
                <a:solidFill>
                  <a:srgbClr val="333333"/>
                </a:solidFill>
              </a:defRPr>
            </a:pPr>
            <a:r>
              <a:t>Consequence: Changed aircraft aerodynamics and pitch behavior</a:t>
            </a:r>
          </a:p>
          <a:p>
            <a:pPr>
              <a:spcAft>
                <a:spcPts val="1000"/>
              </a:spcAft>
              <a:defRPr sz="1800">
                <a:solidFill>
                  <a:srgbClr val="333333"/>
                </a:solidFill>
              </a:defRPr>
            </a:pPr>
            <a:r>
              <a:t>Specific aerodynamic change: — At high angles of attack (nose-up attitude), the forward engine placement created additional LIFT at the engine nacelles</a:t>
            </a:r>
          </a:p>
          <a:p>
            <a:pPr>
              <a:spcAft>
                <a:spcPts val="600"/>
              </a:spcAft>
              <a:defRPr sz="1800">
                <a:solidFill>
                  <a:srgbClr val="333333"/>
                </a:solidFill>
              </a:defRPr>
            </a:pPr>
            <a:r>
              <a:t>This additional lift created nose-UP pitching moment</a:t>
            </a:r>
          </a:p>
          <a:p>
            <a:pPr>
              <a:spcAft>
                <a:spcPts val="600"/>
              </a:spcAft>
              <a:defRPr sz="1800">
                <a:solidFill>
                  <a:srgbClr val="333333"/>
                </a:solidFill>
              </a:defRPr>
            </a:pPr>
            <a:r>
              <a:t>Result: Aircraft had tendency to pitch nose-up more aggressively at high angles of attack</a:t>
            </a:r>
          </a:p>
          <a:p>
            <a:pPr>
              <a:spcAft>
                <a:spcPts val="600"/>
              </a:spcAft>
              <a:defRPr sz="1800">
                <a:solidFill>
                  <a:srgbClr val="333333"/>
                </a:solidFill>
              </a:defRPr>
            </a:pPr>
            <a:r>
              <a:t>This violated FAA certification requirements for handling characteristics similar to previous 737 variants</a:t>
            </a:r>
          </a:p>
          <a:p>
            <a:pPr>
              <a:spcAft>
                <a:spcPts val="1000"/>
              </a:spcAft>
              <a:defRPr sz="1800">
                <a:solidFill>
                  <a:srgbClr val="333333"/>
                </a:solidFill>
              </a:defRPr>
            </a:pPr>
            <a:r>
              <a:t>Boeing's solution: MCAS - Maneuvering Characteristics Augmentation System</a:t>
            </a:r>
          </a:p>
          <a:p>
            <a:pPr>
              <a:spcAft>
                <a:spcPts val="1000"/>
              </a:spcAft>
              <a:defRPr sz="1800">
                <a:solidFill>
                  <a:srgbClr val="333333"/>
                </a:solidFill>
              </a:defRPr>
            </a:pPr>
            <a:r>
              <a:t>Critical decision: Make MCAS transparent to pilots so MAX could be certified as variant, not new aircraft (avoiding expensive pilot retraining)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MCAS? - System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explain what MCAS actually does:</a:t>
            </a:r>
          </a:p>
          <a:p>
            <a:pPr>
              <a:spcAft>
                <a:spcPts val="1000"/>
              </a:spcAft>
              <a:defRPr sz="1800">
                <a:solidFill>
                  <a:srgbClr val="333333"/>
                </a:solidFill>
              </a:defRPr>
            </a:pPr>
            <a:r>
              <a:t>MCAS Purpose (Official):</a:t>
            </a:r>
          </a:p>
          <a:p>
            <a:pPr>
              <a:spcAft>
                <a:spcPts val="1000"/>
              </a:spcAft>
              <a:defRPr sz="1800">
                <a:solidFill>
                  <a:srgbClr val="333333"/>
                </a:solidFill>
              </a:defRPr>
            </a:pPr>
            <a:r>
              <a:t>'Provide pitch stability augmentation to meet regulatory requirements for handling characteristics'</a:t>
            </a:r>
          </a:p>
          <a:p>
            <a:pPr>
              <a:spcAft>
                <a:spcPts val="1000"/>
              </a:spcAft>
              <a:defRPr sz="1800">
                <a:solidFill>
                  <a:srgbClr val="333333"/>
                </a:solidFill>
              </a:defRPr>
            </a:pPr>
            <a:r>
              <a:t>MCAS Function (Plain English):</a:t>
            </a:r>
          </a:p>
          <a:p>
            <a:pPr>
              <a:spcAft>
                <a:spcPts val="1000"/>
              </a:spcAft>
              <a:defRPr sz="1800">
                <a:solidFill>
                  <a:srgbClr val="333333"/>
                </a:solidFill>
              </a:defRPr>
            </a:pPr>
            <a:r>
              <a:t>When aircraft nose is too high (high angle of attack), automatically push nose down to prevent stall</a:t>
            </a:r>
          </a:p>
          <a:p>
            <a:pPr>
              <a:spcAft>
                <a:spcPts val="1000"/>
              </a:spcAft>
              <a:defRPr sz="1800">
                <a:solidFill>
                  <a:srgbClr val="333333"/>
                </a:solidFill>
              </a:defRPr>
            </a:pPr>
            <a:r>
              <a:t>MCAS System Architecture:</a:t>
            </a:r>
          </a:p>
          <a:p>
            <a:pPr>
              <a:spcAft>
                <a:spcPts val="1000"/>
              </a:spcAft>
              <a:defRPr sz="1800">
                <a:solidFill>
                  <a:srgbClr val="333333"/>
                </a:solidFill>
              </a:defRPr>
            </a:pPr>
            <a:r>
              <a:t>Inputs: — Angle of Attack (AOA) sensor (measures how high nose is relative to airflow)</a:t>
            </a:r>
          </a:p>
          <a:p>
            <a:pPr>
              <a:spcAft>
                <a:spcPts val="600"/>
              </a:spcAft>
              <a:defRPr sz="1800">
                <a:solidFill>
                  <a:srgbClr val="333333"/>
                </a:solidFill>
              </a:defRPr>
            </a:pPr>
            <a:r>
              <a:t>Flaps position (MCAS only active when flaps up = cruise configuration)</a:t>
            </a:r>
          </a:p>
          <a:p>
            <a:pPr>
              <a:spcAft>
                <a:spcPts val="600"/>
              </a:spcAft>
              <a:defRPr sz="1800">
                <a:solidFill>
                  <a:srgbClr val="333333"/>
                </a:solidFill>
              </a:defRPr>
            </a:pPr>
            <a:r>
              <a:t>Airspeed</a:t>
            </a:r>
          </a:p>
          <a:p>
            <a:pPr>
              <a:spcAft>
                <a:spcPts val="600"/>
              </a:spcAft>
              <a:defRPr sz="1800">
                <a:solidFill>
                  <a:srgbClr val="333333"/>
                </a:solidFill>
              </a:defRPr>
            </a:pPr>
            <a:r>
              <a:t>Altitude</a:t>
            </a:r>
          </a:p>
          <a:p>
            <a:pPr>
              <a:spcAft>
                <a:spcPts val="1000"/>
              </a:spcAft>
              <a:defRPr sz="1800">
                <a:solidFill>
                  <a:srgbClr val="333333"/>
                </a:solidFill>
              </a:defRPr>
            </a:pPr>
            <a:r>
              <a:t>Processing: — Flight Control Computer (FCC)</a:t>
            </a:r>
          </a:p>
          <a:p>
            <a:pPr>
              <a:spcAft>
                <a:spcPts val="600"/>
              </a:spcAft>
              <a:defRPr sz="1800">
                <a:solidFill>
                  <a:srgbClr val="333333"/>
                </a:solidFill>
              </a:defRPr>
            </a:pPr>
            <a:r>
              <a:t>MCAS software algorithm</a:t>
            </a:r>
          </a:p>
          <a:p>
            <a:pPr>
              <a:spcAft>
                <a:spcPts val="1000"/>
              </a:spcAft>
              <a:defRPr sz="1800">
                <a:solidFill>
                  <a:srgbClr val="333333"/>
                </a:solidFill>
              </a:defRPr>
            </a:pPr>
            <a:r>
              <a:t>Output: — Horizontal stabilizer trim commands (pushes nose down)</a:t>
            </a:r>
          </a:p>
          <a:p>
            <a:pPr>
              <a:spcAft>
                <a:spcPts val="1000"/>
              </a:spcAft>
              <a:defRPr sz="1800">
                <a:solidFill>
                  <a:srgbClr val="333333"/>
                </a:solidFill>
              </a:defRPr>
            </a:pPr>
            <a:r>
              <a:t>Design Parameters (as originally certified): — Activation threshold: AOA &gt; specific value (depends on speed/altitude)</a:t>
            </a:r>
          </a:p>
          <a:p>
            <a:pPr>
              <a:spcAft>
                <a:spcPts val="600"/>
              </a:spcAft>
              <a:defRPr sz="1800">
                <a:solidFill>
                  <a:srgbClr val="333333"/>
                </a:solidFill>
              </a:defRPr>
            </a:pPr>
            <a:r>
              <a:t>Authority: 0.6 degrees of stabilizer movement</a:t>
            </a:r>
          </a:p>
          <a:p>
            <a:pPr>
              <a:spcAft>
                <a:spcPts val="600"/>
              </a:spcAft>
              <a:defRPr sz="1800">
                <a:solidFill>
                  <a:srgbClr val="333333"/>
                </a:solidFill>
              </a:defRPr>
            </a:pPr>
            <a:r>
              <a:t>Activation: One time per high-AOA event</a:t>
            </a:r>
          </a:p>
          <a:p>
            <a:pPr>
              <a:spcAft>
                <a:spcPts val="600"/>
              </a:spcAft>
              <a:defRPr sz="1800">
                <a:solidFill>
                  <a:srgbClr val="333333"/>
                </a:solidFill>
              </a:defRPr>
            </a:pPr>
            <a:r>
              <a:t>Pilot override: Trim switches</a:t>
            </a:r>
          </a:p>
          <a:p>
            <a:pPr>
              <a:spcAft>
                <a:spcPts val="1000"/>
              </a:spcAft>
              <a:defRPr sz="1800">
                <a:solidFill>
                  <a:srgbClr val="333333"/>
                </a:solidFill>
              </a:defRPr>
            </a:pPr>
            <a:r>
              <a:t>This sounds reasonable, right? So what went catastrophically wrong?</a:t>
            </a:r>
          </a:p>
          <a:p>
            <a:pPr>
              <a:spcAft>
                <a:spcPts val="1000"/>
              </a:spcAft>
              <a:defRPr sz="1800">
                <a:solidFill>
                  <a:srgbClr val="333333"/>
                </a:solidFill>
              </a:defRPr>
            </a:pPr>
            <a:r>
              <a:t>Let's look at what ACTUALLY shipped on the aircraft.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Fatal Design Changes - What Actually Shipped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where the systems engineering failures begin. Compare original MCAS design to what actually flew:</a:t>
            </a:r>
          </a:p>
          <a:p>
            <a:pPr>
              <a:spcAft>
                <a:spcPts val="1000"/>
              </a:spcAft>
              <a:defRPr sz="1800">
                <a:solidFill>
                  <a:srgbClr val="333333"/>
                </a:solidFill>
              </a:defRPr>
            </a:pPr>
            <a:r>
              <a:t>| Design Aspect | Original Certification | Final Production Version | Impact |</a:t>
            </a:r>
          </a:p>
          <a:p>
            <a:pPr>
              <a:spcAft>
                <a:spcPts val="1000"/>
              </a:spcAft>
              <a:defRPr sz="1800">
                <a:solidFill>
                  <a:srgbClr val="333333"/>
                </a:solidFill>
              </a:defRPr>
            </a:pPr>
            <a:r>
              <a:t>|---------------|----------------------|-------------------------|---------|</a:t>
            </a:r>
          </a:p>
          <a:p>
            <a:pPr>
              <a:spcAft>
                <a:spcPts val="1000"/>
              </a:spcAft>
              <a:defRPr sz="1800">
                <a:solidFill>
                  <a:srgbClr val="333333"/>
                </a:solidFill>
              </a:defRPr>
            </a:pPr>
            <a:r>
              <a:t>| Authority (movement range) | 0.6 degrees | 2.5 degrees (4x increase) | Can overpower pilot inputs |</a:t>
            </a:r>
          </a:p>
          <a:p>
            <a:pPr>
              <a:spcAft>
                <a:spcPts val="1000"/>
              </a:spcAft>
              <a:defRPr sz="1800">
                <a:solidFill>
                  <a:srgbClr val="333333"/>
                </a:solidFill>
              </a:defRPr>
            </a:pPr>
            <a:r>
              <a:t>| Activation frequency | Once per event | Repeatedly (every 5 seconds) | Relentless nose-down commands |</a:t>
            </a:r>
          </a:p>
          <a:p>
            <a:pPr>
              <a:spcAft>
                <a:spcPts val="1000"/>
              </a:spcAft>
              <a:defRPr sz="1800">
                <a:solidFill>
                  <a:srgbClr val="333333"/>
                </a:solidFill>
              </a:defRPr>
            </a:pPr>
            <a:r>
              <a:t>| AOA sensors used | Designed for two | Single sensor (no redundancy) | Single point of failure |</a:t>
            </a:r>
          </a:p>
          <a:p>
            <a:pPr>
              <a:spcAft>
                <a:spcPts val="1000"/>
              </a:spcAft>
              <a:defRPr sz="1800">
                <a:solidFill>
                  <a:srgbClr val="333333"/>
                </a:solidFill>
              </a:defRPr>
            </a:pPr>
            <a:r>
              <a:t>| Pilot training | Comprehensive | None (not in manual) | Pilots unaware of system |</a:t>
            </a:r>
          </a:p>
          <a:p>
            <a:pPr>
              <a:spcAft>
                <a:spcPts val="1000"/>
              </a:spcAft>
              <a:defRPr sz="1800">
                <a:solidFill>
                  <a:srgbClr val="333333"/>
                </a:solidFill>
              </a:defRPr>
            </a:pPr>
            <a:r>
              <a:t>| Pilot notification | AOA disagree alert | Optional extra ($80,000 feature) | Pilots flew blind to sensor failure |</a:t>
            </a:r>
          </a:p>
          <a:p>
            <a:pPr>
              <a:spcAft>
                <a:spcPts val="1000"/>
              </a:spcAft>
              <a:defRPr sz="1800">
                <a:solidFill>
                  <a:srgbClr val="333333"/>
                </a:solidFill>
              </a:defRPr>
            </a:pPr>
            <a:r>
              <a:t>| V&amp;V testing | Full envelope | Limited scenarios | Didn't catch failure modes |</a:t>
            </a:r>
          </a:p>
          <a:p>
            <a:pPr>
              <a:spcAft>
                <a:spcPts val="1000"/>
              </a:spcAft>
              <a:defRPr sz="1800">
                <a:solidFill>
                  <a:srgbClr val="333333"/>
                </a:solidFill>
              </a:defRPr>
            </a:pPr>
            <a:r>
              <a:t>Read that table again carefully.</a:t>
            </a:r>
          </a:p>
          <a:p>
            <a:pPr>
              <a:spcAft>
                <a:spcPts val="1000"/>
              </a:spcAft>
              <a:defRPr sz="1800">
                <a:solidFill>
                  <a:srgbClr val="333333"/>
                </a:solidFill>
              </a:defRPr>
            </a:pPr>
            <a:r>
              <a:t>Key observation: The system that crashed two aircraft was FUNDAMENTALLY DIFFERENT from the system that was originally certified. These changes happened incrementally during development.</a:t>
            </a:r>
          </a:p>
          <a:p>
            <a:pPr>
              <a:spcAft>
                <a:spcPts val="1000"/>
              </a:spcAft>
              <a:defRPr sz="1800">
                <a:solidFill>
                  <a:srgbClr val="333333"/>
                </a:solidFill>
              </a:defRPr>
            </a:pPr>
            <a:r>
              <a:t>Systems engineering question: How did these changes get approved without triggering re-certification or safety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Framework for Our Analysis - The SE Lens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we're going to put on our systems engineering analyst hat. I'll guide you through a systematic analysis using the frameworks you learned in Sessions 1-5.</a:t>
            </a:r>
          </a:p>
          <a:p>
            <a:pPr>
              <a:spcAft>
                <a:spcPts val="1000"/>
              </a:spcAft>
              <a:defRPr sz="1800">
                <a:solidFill>
                  <a:srgbClr val="333333"/>
                </a:solidFill>
              </a:defRPr>
            </a:pPr>
            <a:r>
              <a:t>Our Analysis Framework:</a:t>
            </a:r>
          </a:p>
          <a:p>
            <a:pPr>
              <a:spcAft>
                <a:spcPts val="1000"/>
              </a:spcAft>
              <a:defRPr sz="1800">
                <a:solidFill>
                  <a:srgbClr val="333333"/>
                </a:solidFill>
              </a:defRPr>
            </a:pPr>
            <a:r>
              <a:t>1. Stakeholder Analysis (Session 4)</a:t>
            </a:r>
          </a:p>
          <a:p>
            <a:pPr>
              <a:spcAft>
                <a:spcPts val="600"/>
              </a:spcAft>
              <a:defRPr sz="1800">
                <a:solidFill>
                  <a:srgbClr val="333333"/>
                </a:solidFill>
              </a:defRPr>
            </a:pPr>
            <a:r>
              <a:t>Who were the stakeholders?</a:t>
            </a:r>
          </a:p>
          <a:p>
            <a:pPr>
              <a:spcAft>
                <a:spcPts val="600"/>
              </a:spcAft>
              <a:defRPr sz="1800">
                <a:solidFill>
                  <a:srgbClr val="333333"/>
                </a:solidFill>
              </a:defRPr>
            </a:pPr>
            <a:r>
              <a:t>Whose needs were prioritized?</a:t>
            </a:r>
          </a:p>
          <a:p>
            <a:pPr>
              <a:spcAft>
                <a:spcPts val="600"/>
              </a:spcAft>
              <a:defRPr sz="1800">
                <a:solidFill>
                  <a:srgbClr val="333333"/>
                </a:solidFill>
              </a:defRPr>
            </a:pPr>
            <a:r>
              <a:t>Whose needs were ignored?</a:t>
            </a:r>
          </a:p>
          <a:p>
            <a:pPr>
              <a:spcAft>
                <a:spcPts val="1000"/>
              </a:spcAft>
              <a:defRPr sz="1800">
                <a:solidFill>
                  <a:srgbClr val="333333"/>
                </a:solidFill>
              </a:defRPr>
            </a:pPr>
            <a:r>
              <a:t>2. Requirements Engineering Failures (Session 4)</a:t>
            </a:r>
          </a:p>
          <a:p>
            <a:pPr>
              <a:spcAft>
                <a:spcPts val="600"/>
              </a:spcAft>
              <a:defRPr sz="1800">
                <a:solidFill>
                  <a:srgbClr val="333333"/>
                </a:solidFill>
              </a:defRPr>
            </a:pPr>
            <a:r>
              <a:t>What requirements existed?</a:t>
            </a:r>
          </a:p>
          <a:p>
            <a:pPr>
              <a:spcAft>
                <a:spcPts val="600"/>
              </a:spcAft>
              <a:defRPr sz="1800">
                <a:solidFill>
                  <a:srgbClr val="333333"/>
                </a:solidFill>
              </a:defRPr>
            </a:pPr>
            <a:r>
              <a:t>What requirements were missing?</a:t>
            </a:r>
          </a:p>
          <a:p>
            <a:pPr>
              <a:spcAft>
                <a:spcPts val="600"/>
              </a:spcAft>
              <a:defRPr sz="1800">
                <a:solidFill>
                  <a:srgbClr val="333333"/>
                </a:solidFill>
              </a:defRPr>
            </a:pPr>
            <a:r>
              <a:t>Were requirements verifiable, traceable, complete?</a:t>
            </a:r>
          </a:p>
          <a:p>
            <a:pPr>
              <a:spcAft>
                <a:spcPts val="1000"/>
              </a:spcAft>
              <a:defRPr sz="1800">
                <a:solidFill>
                  <a:srgbClr val="333333"/>
                </a:solidFill>
              </a:defRPr>
            </a:pPr>
            <a:r>
              <a:t>3. System Architecture &amp; Design Failures (Session 5)</a:t>
            </a:r>
          </a:p>
          <a:p>
            <a:pPr>
              <a:spcAft>
                <a:spcPts val="600"/>
              </a:spcAft>
              <a:defRPr sz="1800">
                <a:solidFill>
                  <a:srgbClr val="333333"/>
                </a:solidFill>
              </a:defRPr>
            </a:pPr>
            <a:r>
              <a:t>Single points of failure</a:t>
            </a:r>
          </a:p>
          <a:p>
            <a:pPr>
              <a:spcAft>
                <a:spcPts val="600"/>
              </a:spcAft>
              <a:defRPr sz="1800">
                <a:solidFill>
                  <a:srgbClr val="333333"/>
                </a:solidFill>
              </a:defRPr>
            </a:pPr>
            <a:r>
              <a:t>Design principles violated</a:t>
            </a:r>
          </a:p>
          <a:p>
            <a:pPr>
              <a:spcAft>
                <a:spcPts val="600"/>
              </a:spcAft>
              <a:defRPr sz="1800">
                <a:solidFill>
                  <a:srgbClr val="333333"/>
                </a:solidFill>
              </a:defRPr>
            </a:pPr>
            <a:r>
              <a:t>Trade study failures</a:t>
            </a:r>
          </a:p>
          <a:p>
            <a:pPr>
              <a:spcAft>
                <a:spcPts val="1000"/>
              </a:spcAft>
              <a:defRPr sz="1800">
                <a:solidFill>
                  <a:srgbClr val="333333"/>
                </a:solidFill>
              </a:defRPr>
            </a:pPr>
            <a:r>
              <a:t>4. Verification &amp; Validation Failures (Session 2)</a:t>
            </a:r>
          </a:p>
          <a:p>
            <a:pPr>
              <a:spcAft>
                <a:spcPts val="600"/>
              </a:spcAft>
              <a:defRPr sz="1800">
                <a:solidFill>
                  <a:srgbClr val="333333"/>
                </a:solidFill>
              </a:defRPr>
            </a:pPr>
            <a:r>
              <a:t>What testing was done?</a:t>
            </a:r>
          </a:p>
          <a:p>
            <a:pPr>
              <a:spcAft>
                <a:spcPts val="600"/>
              </a:spcAft>
              <a:defRPr sz="1800">
                <a:solidFill>
                  <a:srgbClr val="333333"/>
                </a:solidFill>
              </a:defRPr>
            </a:pPr>
            <a:r>
              <a:t>What testing was missed?</a:t>
            </a:r>
          </a:p>
          <a:p>
            <a:pPr>
              <a:spcAft>
                <a:spcPts val="600"/>
              </a:spcAft>
              <a:defRPr sz="1800">
                <a:solidFill>
                  <a:srgbClr val="333333"/>
                </a:solidFill>
              </a:defRPr>
            </a:pPr>
            <a:r>
              <a:t>V-model process breakdowns</a:t>
            </a:r>
          </a:p>
          <a:p>
            <a:pPr>
              <a:spcAft>
                <a:spcPts val="1000"/>
              </a:spcAft>
              <a:defRPr sz="1800">
                <a:solidFill>
                  <a:srgbClr val="333333"/>
                </a:solidFill>
              </a:defRPr>
            </a:pPr>
            <a:r>
              <a:t>5. Systems Thinking Failures (Session 1-2)</a:t>
            </a:r>
          </a:p>
          <a:p>
            <a:pPr>
              <a:spcAft>
                <a:spcPts val="600"/>
              </a:spcAft>
              <a:defRPr sz="1800">
                <a:solidFill>
                  <a:srgbClr val="333333"/>
                </a:solidFill>
              </a:defRPr>
            </a:pPr>
            <a:r>
              <a:t>Component vs system optimization</a:t>
            </a:r>
          </a:p>
          <a:p>
            <a:pPr>
              <a:spcAft>
                <a:spcPts val="600"/>
              </a:spcAft>
              <a:defRPr sz="1800">
                <a:solidFill>
                  <a:srgbClr val="333333"/>
                </a:solidFill>
              </a:defRPr>
            </a:pPr>
            <a:r>
              <a:t>Emergent behavior not anticipated</a:t>
            </a:r>
          </a:p>
          <a:p>
            <a:pPr>
              <a:spcAft>
                <a:spcPts val="600"/>
              </a:spcAft>
              <a:defRPr sz="1800">
                <a:solidFill>
                  <a:srgbClr val="333333"/>
                </a:solidFill>
              </a:defRPr>
            </a:pPr>
            <a:r>
              <a:t>Organizational boundaries affecting technical decisions</a:t>
            </a:r>
          </a:p>
          <a:p>
            <a:pPr>
              <a:spcAft>
                <a:spcPts val="1000"/>
              </a:spcAft>
              <a:defRPr sz="1800">
                <a:solidFill>
                  <a:srgbClr val="333333"/>
                </a:solidFill>
              </a:defRPr>
            </a:pPr>
            <a:r>
              <a:t>Let's work through each systematically.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Part 1 - Stakeholder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start with stakeholder analysis, exactly as we learned in Session 4.</a:t>
            </a:r>
          </a:p>
          <a:p>
            <a:pPr>
              <a:spcAft>
                <a:spcPts val="1000"/>
              </a:spcAft>
              <a:defRPr sz="1800">
                <a:solidFill>
                  <a:srgbClr val="333333"/>
                </a:solidFill>
              </a:defRPr>
            </a:pPr>
            <a:r>
              <a:t>Stakeholders in 737 MAX Development:</a:t>
            </a:r>
          </a:p>
          <a:p>
            <a:pPr>
              <a:spcAft>
                <a:spcPts val="1000"/>
              </a:spcAft>
              <a:defRPr sz="1800">
                <a:solidFill>
                  <a:srgbClr val="333333"/>
                </a:solidFill>
              </a:defRPr>
            </a:pPr>
            <a:r>
              <a:t>| Stakeholder | Needs/Interests | Power/Influence | How They Were Treated |</a:t>
            </a:r>
          </a:p>
          <a:p>
            <a:pPr>
              <a:spcAft>
                <a:spcPts val="1000"/>
              </a:spcAft>
              <a:defRPr sz="1800">
                <a:solidFill>
                  <a:srgbClr val="333333"/>
                </a:solidFill>
              </a:defRPr>
            </a:pPr>
            <a:r>
              <a:t>|-------------|-----------------|-----------------|----------------------|</a:t>
            </a:r>
          </a:p>
          <a:p>
            <a:pPr>
              <a:spcAft>
                <a:spcPts val="1000"/>
              </a:spcAft>
              <a:defRPr sz="1800">
                <a:solidFill>
                  <a:srgbClr val="333333"/>
                </a:solidFill>
              </a:defRPr>
            </a:pPr>
            <a:r>
              <a:t>| Passengers | Safety, survival | Low (indirect) | ❌ IGNORED — Never consulted, needs deprioritized |</a:t>
            </a:r>
          </a:p>
          <a:p>
            <a:pPr>
              <a:spcAft>
                <a:spcPts val="1000"/>
              </a:spcAft>
              <a:defRPr sz="1800">
                <a:solidFill>
                  <a:srgbClr val="333333"/>
                </a:solidFill>
              </a:defRPr>
            </a:pPr>
            <a:r>
              <a:t>| Pilots | Situational awareness, controllability, training | Medium | ❌ EXCLUDED — Not told about MCAS, no training |</a:t>
            </a:r>
          </a:p>
          <a:p>
            <a:pPr>
              <a:spcAft>
                <a:spcPts val="1000"/>
              </a:spcAft>
              <a:defRPr sz="1800">
                <a:solidFill>
                  <a:srgbClr val="333333"/>
                </a:solidFill>
              </a:defRPr>
            </a:pPr>
            <a:r>
              <a:t>| Airlines | Low training costs, fleet commonality | HIGH | ✅ PRIORITIZED — Got what they wanted (no retraining) |</a:t>
            </a:r>
          </a:p>
          <a:p>
            <a:pPr>
              <a:spcAft>
                <a:spcPts val="1000"/>
              </a:spcAft>
              <a:defRPr sz="1800">
                <a:solidFill>
                  <a:srgbClr val="333333"/>
                </a:solidFill>
              </a:defRPr>
            </a:pPr>
            <a:r>
              <a:t>| Boeing shareholders | Profit, market share, fast delivery | HIGH | ✅ PRIORITIZED — Fast to market, low cost |</a:t>
            </a:r>
          </a:p>
          <a:p>
            <a:pPr>
              <a:spcAft>
                <a:spcPts val="1000"/>
              </a:spcAft>
              <a:defRPr sz="1800">
                <a:solidFill>
                  <a:srgbClr val="333333"/>
                </a:solidFill>
              </a:defRPr>
            </a:pPr>
            <a:r>
              <a:t>| FAA (regulator) | Safety, regulatory compliance | HIGH | ⚠️ COMPROMISED — Delegated authority to Boeing |</a:t>
            </a:r>
          </a:p>
          <a:p>
            <a:pPr>
              <a:spcAft>
                <a:spcPts val="1000"/>
              </a:spcAft>
              <a:defRPr sz="1800">
                <a:solidFill>
                  <a:srgbClr val="333333"/>
                </a:solidFill>
              </a:defRPr>
            </a:pPr>
            <a:r>
              <a:t>| Maintenance crews | Diagnosability, safety alerts | Low | ❌ IGNORED — AOA disagree alert was optional |</a:t>
            </a:r>
          </a:p>
          <a:p>
            <a:pPr>
              <a:spcAft>
                <a:spcPts val="1000"/>
              </a:spcAft>
              <a:defRPr sz="1800">
                <a:solidFill>
                  <a:srgbClr val="333333"/>
                </a:solidFill>
              </a:defRPr>
            </a:pPr>
            <a:r>
              <a:t>Systems Engineering Principle Violated:</a:t>
            </a:r>
          </a:p>
          <a:p>
            <a:pPr>
              <a:spcAft>
                <a:spcPts val="1000"/>
              </a:spcAft>
              <a:defRPr sz="1800">
                <a:solidFill>
                  <a:srgbClr val="333333"/>
                </a:solidFill>
              </a:defRPr>
            </a:pPr>
            <a:r>
              <a:t>'A system must balance the needs of ALL stakeholders, with safety-critical stakeholders having priority.'</a:t>
            </a:r>
          </a:p>
          <a:p>
            <a:pPr>
              <a:spcAft>
                <a:spcPts val="1000"/>
              </a:spcAft>
              <a:defRPr sz="1800">
                <a:solidFill>
                  <a:srgbClr val="333333"/>
                </a:solidFill>
              </a:defRPr>
            </a:pPr>
            <a:r>
              <a:t>What Actually Happened:</a:t>
            </a:r>
          </a:p>
          <a:p>
            <a:pPr>
              <a:spcAft>
                <a:spcPts val="1000"/>
              </a:spcAft>
              <a:defRPr sz="1800">
                <a:solidFill>
                  <a:srgbClr val="333333"/>
                </a:solidFill>
              </a:defRPr>
            </a:pPr>
            <a:r>
              <a:t>Commercial interests (airlines, shareholders) were prioritized over safety-critical stakeholders (passengers, pilots).</a:t>
            </a:r>
          </a:p>
          <a:p>
            <a:pPr>
              <a:spcAft>
                <a:spcPts val="1000"/>
              </a:spcAft>
              <a:defRPr sz="1800">
                <a:solidFill>
                  <a:srgbClr val="333333"/>
                </a:solidFill>
              </a:defRPr>
            </a:pPr>
            <a:r>
              <a:t>Key Decision Point:</a:t>
            </a:r>
          </a:p>
          <a:p>
            <a:pPr>
              <a:spcAft>
                <a:spcPts val="1000"/>
              </a:spcAft>
              <a:defRPr sz="1800">
                <a:solidFill>
                  <a:srgbClr val="333333"/>
                </a:solidFill>
              </a:defRPr>
            </a:pPr>
            <a:r>
              <a:t>The decision to hide MCAS from pilots was driven by airline customer demand to avoid pilot retraining costs ($1M+ per airline). This saved airlines money but removed pilot awareness of a critical system.</a:t>
            </a:r>
          </a:p>
          <a:p>
            <a:pPr>
              <a:spcAft>
                <a:spcPts val="1000"/>
              </a:spcAft>
              <a:defRPr sz="1800">
                <a:solidFill>
                  <a:srgbClr val="333333"/>
                </a:solidFill>
              </a:defRPr>
            </a:pPr>
            <a:r>
              <a:t>Question for reflection: Who should have been at the requirements review meetings but wasn't?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Part 2 - Requirements Engineering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let's analyze this through a requirements engineering lens - Session 4 material.</a:t>
            </a:r>
          </a:p>
          <a:p>
            <a:pPr>
              <a:spcAft>
                <a:spcPts val="1000"/>
              </a:spcAft>
              <a:defRPr sz="1800">
                <a:solidFill>
                  <a:srgbClr val="333333"/>
                </a:solidFill>
              </a:defRPr>
            </a:pPr>
            <a:r>
              <a:t>Critical Requirements That Should Have Existed:</a:t>
            </a:r>
          </a:p>
          <a:p>
            <a:pPr>
              <a:spcAft>
                <a:spcPts val="1000"/>
              </a:spcAft>
              <a:defRPr sz="1800">
                <a:solidFill>
                  <a:srgbClr val="333333"/>
                </a:solidFill>
              </a:defRPr>
            </a:pPr>
            <a:r>
              <a:t>Safety Requirements (Missing or Inadequate):</a:t>
            </a:r>
          </a:p>
          <a:p>
            <a:pPr>
              <a:spcAft>
                <a:spcPts val="1000"/>
              </a:spcAft>
              <a:defRPr sz="1800">
                <a:solidFill>
                  <a:srgbClr val="333333"/>
                </a:solidFill>
              </a:defRPr>
            </a:pPr>
            <a:r>
              <a:t>❌ SR-1: 'MCAS shall use redundant AOA sensors with disagree logic'</a:t>
            </a:r>
          </a:p>
          <a:p>
            <a:pPr>
              <a:spcAft>
                <a:spcPts val="600"/>
              </a:spcAft>
              <a:defRPr sz="1800">
                <a:solidFill>
                  <a:srgbClr val="333333"/>
                </a:solidFill>
              </a:defRPr>
            </a:pPr>
            <a:r>
              <a:t>What existed: Used single sensor</a:t>
            </a:r>
          </a:p>
          <a:p>
            <a:pPr>
              <a:spcAft>
                <a:spcPts val="600"/>
              </a:spcAft>
              <a:defRPr sz="1800">
                <a:solidFill>
                  <a:srgbClr val="333333"/>
                </a:solidFill>
              </a:defRPr>
            </a:pPr>
            <a:r>
              <a:t>Consequence: Single point of failure</a:t>
            </a:r>
          </a:p>
          <a:p>
            <a:pPr>
              <a:spcAft>
                <a:spcPts val="1000"/>
              </a:spcAft>
              <a:defRPr sz="1800">
                <a:solidFill>
                  <a:srgbClr val="333333"/>
                </a:solidFill>
              </a:defRPr>
            </a:pPr>
            <a:r>
              <a:t>❌ SR-2: 'MCAS authority shall be limited such that pilots can override with normal control inputs'</a:t>
            </a:r>
          </a:p>
          <a:p>
            <a:pPr>
              <a:spcAft>
                <a:spcPts val="600"/>
              </a:spcAft>
              <a:defRPr sz="1800">
                <a:solidFill>
                  <a:srgbClr val="333333"/>
                </a:solidFill>
              </a:defRPr>
            </a:pPr>
            <a:r>
              <a:t>What existed: 2.5° authority could overpower pilots</a:t>
            </a:r>
          </a:p>
          <a:p>
            <a:pPr>
              <a:spcAft>
                <a:spcPts val="600"/>
              </a:spcAft>
              <a:defRPr sz="1800">
                <a:solidFill>
                  <a:srgbClr val="333333"/>
                </a:solidFill>
              </a:defRPr>
            </a:pPr>
            <a:r>
              <a:t>Consequence: Pilots couldn't override</a:t>
            </a:r>
          </a:p>
          <a:p>
            <a:pPr>
              <a:spcAft>
                <a:spcPts val="1000"/>
              </a:spcAft>
              <a:defRPr sz="1800">
                <a:solidFill>
                  <a:srgbClr val="333333"/>
                </a:solidFill>
              </a:defRPr>
            </a:pPr>
            <a:r>
              <a:t>❌ SR-3: 'MCAS shall activate maximum once per high-AOA event'</a:t>
            </a:r>
          </a:p>
          <a:p>
            <a:pPr>
              <a:spcAft>
                <a:spcPts val="600"/>
              </a:spcAft>
              <a:defRPr sz="1800">
                <a:solidFill>
                  <a:srgbClr val="333333"/>
                </a:solidFill>
              </a:defRPr>
            </a:pPr>
            <a:r>
              <a:t>What existed: Repeated activation every 5 seconds</a:t>
            </a:r>
          </a:p>
          <a:p>
            <a:pPr>
              <a:spcAft>
                <a:spcPts val="600"/>
              </a:spcAft>
              <a:defRPr sz="1800">
                <a:solidFill>
                  <a:srgbClr val="333333"/>
                </a:solidFill>
              </a:defRPr>
            </a:pPr>
            <a:r>
              <a:t>Consequence: Relentless nose-down commands</a:t>
            </a:r>
          </a:p>
          <a:p>
            <a:pPr>
              <a:spcAft>
                <a:spcPts val="1000"/>
              </a:spcAft>
              <a:defRPr sz="1800">
                <a:solidFill>
                  <a:srgbClr val="333333"/>
                </a:solidFill>
              </a:defRPr>
            </a:pPr>
            <a:r>
              <a:t>❌ SR-4: 'Pilots shall be alerted to AOA sensor disagreement'</a:t>
            </a:r>
          </a:p>
          <a:p>
            <a:pPr>
              <a:spcAft>
                <a:spcPts val="600"/>
              </a:spcAft>
              <a:defRPr sz="1800">
                <a:solidFill>
                  <a:srgbClr val="333333"/>
                </a:solidFill>
              </a:defRPr>
            </a:pPr>
            <a:r>
              <a:t>What existed: Alert was optional extra feature</a:t>
            </a:r>
          </a:p>
          <a:p>
            <a:pPr>
              <a:spcAft>
                <a:spcPts val="600"/>
              </a:spcAft>
              <a:defRPr sz="1800">
                <a:solidFill>
                  <a:srgbClr val="333333"/>
                </a:solidFill>
              </a:defRPr>
            </a:pPr>
            <a:r>
              <a:t>Consequence: Pilots unaware of sensor failure</a:t>
            </a:r>
          </a:p>
          <a:p>
            <a:pPr>
              <a:spcAft>
                <a:spcPts val="1000"/>
              </a:spcAft>
              <a:defRPr sz="1800">
                <a:solidFill>
                  <a:srgbClr val="333333"/>
                </a:solidFill>
              </a:defRPr>
            </a:pPr>
            <a:r>
              <a:t>❌ SR-5: 'MCAS operation shall be documented in pilot training materials'</a:t>
            </a:r>
          </a:p>
          <a:p>
            <a:pPr>
              <a:spcAft>
                <a:spcPts val="600"/>
              </a:spcAft>
              <a:defRPr sz="1800">
                <a:solidFill>
                  <a:srgbClr val="333333"/>
                </a:solidFill>
              </a:defRPr>
            </a:pPr>
            <a:r>
              <a:t>What existed: Not mentioned in manuals</a:t>
            </a:r>
          </a:p>
          <a:p>
            <a:pPr>
              <a:spcAft>
                <a:spcPts val="600"/>
              </a:spcAft>
              <a:defRPr sz="1800">
                <a:solidFill>
                  <a:srgbClr val="333333"/>
                </a:solidFill>
              </a:defRPr>
            </a:pPr>
            <a:r>
              <a:t>Consequence: Pilots couldn't diagnose or respond</a:t>
            </a:r>
          </a:p>
          <a:p>
            <a:pPr>
              <a:spcAft>
                <a:spcPts val="1000"/>
              </a:spcAft>
              <a:defRPr sz="1800">
                <a:solidFill>
                  <a:srgbClr val="333333"/>
                </a:solidFill>
              </a:defRPr>
            </a:pPr>
            <a:r>
              <a:t>Requirements Quality Failures:</a:t>
            </a:r>
          </a:p>
          <a:p>
            <a:pPr>
              <a:spcAft>
                <a:spcPts val="1000"/>
              </a:spcAft>
              <a:defRPr sz="1800">
                <a:solidFill>
                  <a:srgbClr val="333333"/>
                </a:solidFill>
              </a:defRPr>
            </a:pPr>
            <a:r>
              <a:t>Let's evaluate existing requirements against attributes from Session 4:</a:t>
            </a:r>
          </a:p>
          <a:p>
            <a:pPr>
              <a:spcAft>
                <a:spcPts val="1000"/>
              </a:spcAft>
              <a:defRPr sz="1800">
                <a:solidFill>
                  <a:srgbClr val="333333"/>
                </a:solidFill>
              </a:defRPr>
            </a:pPr>
            <a:r>
              <a:t>| Requirement Attribute | Status | Evidence |</a:t>
            </a:r>
          </a:p>
          <a:p>
            <a:pPr>
              <a:spcAft>
                <a:spcPts val="1000"/>
              </a:spcAft>
              <a:defRPr sz="1800">
                <a:solidFill>
                  <a:srgbClr val="333333"/>
                </a:solidFill>
              </a:defRPr>
            </a:pPr>
            <a:r>
              <a:t>|----------------------|--------|----------|</a:t>
            </a:r>
          </a:p>
          <a:p>
            <a:pPr>
              <a:spcAft>
                <a:spcPts val="1000"/>
              </a:spcAft>
              <a:defRPr sz="1800">
                <a:solidFill>
                  <a:srgbClr val="333333"/>
                </a:solidFill>
              </a:defRPr>
            </a:pPr>
            <a:r>
              <a:t>| Complete | ❌ FAILED | Missing redundancy, pilot notification, authority limits |</a:t>
            </a:r>
          </a:p>
          <a:p>
            <a:pPr>
              <a:spcAft>
                <a:spcPts val="1000"/>
              </a:spcAft>
              <a:defRPr sz="1800">
                <a:solidFill>
                  <a:srgbClr val="333333"/>
                </a:solidFill>
              </a:defRPr>
            </a:pPr>
            <a:r>
              <a:t>| Verifiable | ❌ FAILED | No verification that pilots could handle MCAS failures |</a:t>
            </a:r>
          </a:p>
          <a:p>
            <a:pPr>
              <a:spcAft>
                <a:spcPts val="1000"/>
              </a:spcAft>
              <a:defRPr sz="1800">
                <a:solidFill>
                  <a:srgbClr val="333333"/>
                </a:solidFill>
              </a:defRPr>
            </a:pPr>
            <a:r>
              <a:t>| Traceable | ❌ FAILED | Changes to MCAS authority not traced to safety analysis |</a:t>
            </a:r>
          </a:p>
          <a:p>
            <a:pPr>
              <a:spcAft>
                <a:spcPts val="1000"/>
              </a:spcAft>
              <a:defRPr sz="1800">
                <a:solidFill>
                  <a:srgbClr val="333333"/>
                </a:solidFill>
              </a:defRPr>
            </a:pPr>
            <a:r>
              <a:t>| Unambiguous | ⚠️ PARTIAL | Authority limits were ambiguous during development |</a:t>
            </a:r>
          </a:p>
          <a:p>
            <a:pPr>
              <a:spcAft>
                <a:spcPts val="1000"/>
              </a:spcAft>
              <a:defRPr sz="1800">
                <a:solidFill>
                  <a:srgbClr val="333333"/>
                </a:solidFill>
              </a:defRPr>
            </a:pPr>
            <a:r>
              <a:t>| Consistent | ❌ FAILED | MCAS contradicted principle that pilots are final authority |</a:t>
            </a:r>
          </a:p>
          <a:p>
            <a:pPr>
              <a:spcAft>
                <a:spcPts val="1000"/>
              </a:spcAft>
              <a:defRPr sz="1800">
                <a:solidFill>
                  <a:srgbClr val="333333"/>
                </a:solidFill>
              </a:defRPr>
            </a:pPr>
            <a:r>
              <a:t>The Traceability Failure:</a:t>
            </a:r>
          </a:p>
          <a:p>
            <a:pPr>
              <a:spcAft>
                <a:spcPts val="1000"/>
              </a:spcAft>
              <a:defRPr sz="1800">
                <a:solidFill>
                  <a:srgbClr val="333333"/>
                </a:solidFill>
              </a:defRPr>
            </a:pPr>
            <a:r>
              <a:t>When MCAS authority was increased from 0.6° to 2.5°, this change was NOT traced back to:</a:t>
            </a:r>
          </a:p>
          <a:p>
            <a:pPr>
              <a:spcAft>
                <a:spcPts val="600"/>
              </a:spcAft>
              <a:defRPr sz="1800">
                <a:solidFill>
                  <a:srgbClr val="333333"/>
                </a:solidFill>
              </a:defRPr>
            </a:pPr>
            <a:r>
              <a:t>Safety requirements</a:t>
            </a:r>
          </a:p>
          <a:p>
            <a:pPr>
              <a:spcAft>
                <a:spcPts val="600"/>
              </a:spcAft>
              <a:defRPr sz="1800">
                <a:solidFill>
                  <a:srgbClr val="333333"/>
                </a:solidFill>
              </a:defRPr>
            </a:pPr>
            <a:r>
              <a:t>Hazard analysis (FMEA, FTA)</a:t>
            </a:r>
          </a:p>
          <a:p>
            <a:pPr>
              <a:spcAft>
                <a:spcPts val="600"/>
              </a:spcAft>
              <a:defRPr sz="1800">
                <a:solidFill>
                  <a:srgbClr val="333333"/>
                </a:solidFill>
              </a:defRPr>
            </a:pPr>
            <a:r>
              <a:t>Pilot training materials</a:t>
            </a:r>
          </a:p>
          <a:p>
            <a:pPr>
              <a:spcAft>
                <a:spcPts val="600"/>
              </a:spcAft>
              <a:defRPr sz="1800">
                <a:solidFill>
                  <a:srgbClr val="333333"/>
                </a:solidFill>
              </a:defRPr>
            </a:pPr>
            <a:r>
              <a:t>Certification basis</a:t>
            </a:r>
          </a:p>
          <a:p>
            <a:pPr>
              <a:spcAft>
                <a:spcPts val="1000"/>
              </a:spcAft>
              <a:defRPr sz="1800">
                <a:solidFill>
                  <a:srgbClr val="333333"/>
                </a:solidFill>
              </a:defRPr>
            </a:pPr>
            <a:r>
              <a:t>This is a TEXTBOOK requirements traceability failure.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Part 3 - System Architecture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let's look at system architecture - Session 5 concepts.</a:t>
            </a:r>
          </a:p>
          <a:p>
            <a:pPr>
              <a:spcAft>
                <a:spcPts val="1000"/>
              </a:spcAft>
              <a:defRPr sz="1800">
                <a:solidFill>
                  <a:srgbClr val="333333"/>
                </a:solidFill>
              </a:defRPr>
            </a:pPr>
            <a:r>
              <a:t>Architecture Principle from Session 5:</a:t>
            </a:r>
          </a:p>
          <a:p>
            <a:pPr>
              <a:spcAft>
                <a:spcPts val="1000"/>
              </a:spcAft>
              <a:defRPr sz="1800">
                <a:solidFill>
                  <a:srgbClr val="333333"/>
                </a:solidFill>
              </a:defRPr>
            </a:pPr>
            <a:r>
              <a:t>'Safety-critical systems require redundancy to eliminate single points of failure'</a:t>
            </a:r>
          </a:p>
          <a:p>
            <a:pPr>
              <a:spcAft>
                <a:spcPts val="1000"/>
              </a:spcAft>
              <a:defRPr sz="1800">
                <a:solidFill>
                  <a:srgbClr val="333333"/>
                </a:solidFill>
              </a:defRPr>
            </a:pPr>
            <a:r>
              <a:t>737 MAX MCAS Architecture - Single Points of Failure:</a:t>
            </a:r>
          </a:p>
          <a:p>
            <a:pPr>
              <a:spcAft>
                <a:spcPts val="1000"/>
              </a:spcAft>
              <a:defRPr sz="1800">
                <a:solidFill>
                  <a:srgbClr val="333333"/>
                </a:solidFill>
              </a:defRPr>
            </a:pPr>
            <a:r>
              <a:t>1. AOA Sensor - SINGLE POINT OF FAILURE — 737 MAX has TWO AOA sensors (left and right)</a:t>
            </a:r>
          </a:p>
          <a:p>
            <a:pPr>
              <a:spcAft>
                <a:spcPts val="600"/>
              </a:spcAft>
              <a:defRPr sz="1800">
                <a:solidFill>
                  <a:srgbClr val="333333"/>
                </a:solidFill>
              </a:defRPr>
            </a:pPr>
            <a:r>
              <a:t>MCAS used input from ONLY ONE (alternated per flight)</a:t>
            </a:r>
          </a:p>
          <a:p>
            <a:pPr>
              <a:spcAft>
                <a:spcPts val="600"/>
              </a:spcAft>
              <a:defRPr sz="1800">
                <a:solidFill>
                  <a:srgbClr val="333333"/>
                </a:solidFill>
              </a:defRPr>
            </a:pPr>
            <a:r>
              <a:t>No comparison logic between sensors</a:t>
            </a:r>
          </a:p>
          <a:p>
            <a:pPr>
              <a:spcAft>
                <a:spcPts val="600"/>
              </a:spcAft>
              <a:defRPr sz="1800">
                <a:solidFill>
                  <a:srgbClr val="333333"/>
                </a:solidFill>
              </a:defRPr>
            </a:pPr>
            <a:r>
              <a:t>Why this is catastrophic: If active sensor fails, MCAS gets false data with no way to detect error</a:t>
            </a:r>
          </a:p>
          <a:p>
            <a:pPr>
              <a:spcAft>
                <a:spcPts val="1000"/>
              </a:spcAft>
              <a:defRPr sz="1800">
                <a:solidFill>
                  <a:srgbClr val="333333"/>
                </a:solidFill>
              </a:defRPr>
            </a:pPr>
            <a:r>
              <a:t>Compare to industry standard: — Airbus A320: Uses 3 AOA sensors, voting logic</a:t>
            </a:r>
          </a:p>
          <a:p>
            <a:pPr>
              <a:spcAft>
                <a:spcPts val="600"/>
              </a:spcAft>
              <a:defRPr sz="1800">
                <a:solidFill>
                  <a:srgbClr val="333333"/>
                </a:solidFill>
              </a:defRPr>
            </a:pPr>
            <a:r>
              <a:t>Boeing 777: Uses 2 AOA sensors, disagree logic</a:t>
            </a:r>
          </a:p>
          <a:p>
            <a:pPr>
              <a:spcAft>
                <a:spcPts val="600"/>
              </a:spcAft>
              <a:defRPr sz="1800">
                <a:solidFill>
                  <a:srgbClr val="333333"/>
                </a:solidFill>
              </a:defRPr>
            </a:pPr>
            <a:r>
              <a:t>737 MAX MCAS: Used 1 sensor - UNPRECEDENTED for critical flight control</a:t>
            </a:r>
          </a:p>
          <a:p>
            <a:pPr>
              <a:spcAft>
                <a:spcPts val="1000"/>
              </a:spcAft>
              <a:defRPr sz="1800">
                <a:solidFill>
                  <a:srgbClr val="333333"/>
                </a:solidFill>
              </a:defRPr>
            </a:pPr>
            <a:r>
              <a:t>2. MCAS Software - SINGLE POINT OF FAILURE — No independent verification of MCAS logic</a:t>
            </a:r>
          </a:p>
          <a:p>
            <a:pPr>
              <a:spcAft>
                <a:spcPts val="600"/>
              </a:spcAft>
              <a:defRPr sz="1800">
                <a:solidFill>
                  <a:srgbClr val="333333"/>
                </a:solidFill>
              </a:defRPr>
            </a:pPr>
            <a:r>
              <a:t>No backup mode if MCAS malfunctions</a:t>
            </a:r>
          </a:p>
          <a:p>
            <a:pPr>
              <a:spcAft>
                <a:spcPts val="600"/>
              </a:spcAft>
              <a:defRPr sz="1800">
                <a:solidFill>
                  <a:srgbClr val="333333"/>
                </a:solidFill>
              </a:defRPr>
            </a:pPr>
            <a:r>
              <a:t>Disabling electric trim also disabled pilot's electric trim (needed at high speed)</a:t>
            </a:r>
          </a:p>
          <a:p>
            <a:pPr>
              <a:spcAft>
                <a:spcPts val="1000"/>
              </a:spcAft>
              <a:defRPr sz="1800">
                <a:solidFill>
                  <a:srgbClr val="333333"/>
                </a:solidFill>
              </a:defRPr>
            </a:pPr>
            <a:r>
              <a:t>3. Pilot Awareness - SINGLE POINT OF FAILURE — Only one way for pilots to know about MCAS: read about 'runaway stabilizer' in emergency procedures</a:t>
            </a:r>
          </a:p>
          <a:p>
            <a:pPr>
              <a:spcAft>
                <a:spcPts val="600"/>
              </a:spcAft>
              <a:defRPr sz="1800">
                <a:solidFill>
                  <a:srgbClr val="333333"/>
                </a:solidFill>
              </a:defRPr>
            </a:pPr>
            <a:r>
              <a:t>No dedicated MCAS warning</a:t>
            </a:r>
          </a:p>
          <a:p>
            <a:pPr>
              <a:spcAft>
                <a:spcPts val="600"/>
              </a:spcAft>
              <a:defRPr sz="1800">
                <a:solidFill>
                  <a:srgbClr val="333333"/>
                </a:solidFill>
              </a:defRPr>
            </a:pPr>
            <a:r>
              <a:t>No indication that MCAS was active</a:t>
            </a:r>
          </a:p>
          <a:p>
            <a:pPr>
              <a:spcAft>
                <a:spcPts val="1000"/>
              </a:spcAft>
              <a:defRPr sz="1800">
                <a:solidFill>
                  <a:srgbClr val="333333"/>
                </a:solidFill>
              </a:defRPr>
            </a:pPr>
            <a:r>
              <a:t>Architecture Principles Violated:</a:t>
            </a:r>
          </a:p>
          <a:p>
            <a:pPr>
              <a:spcAft>
                <a:spcPts val="1000"/>
              </a:spcAft>
              <a:defRPr sz="1800">
                <a:solidFill>
                  <a:srgbClr val="333333"/>
                </a:solidFill>
              </a:defRPr>
            </a:pPr>
            <a:r>
              <a:t>❌ Defense in Depth: No multiple layers of protection</a:t>
            </a:r>
          </a:p>
          <a:p>
            <a:pPr>
              <a:spcAft>
                <a:spcPts val="1000"/>
              </a:spcAft>
              <a:defRPr sz="1800">
                <a:solidFill>
                  <a:srgbClr val="333333"/>
                </a:solidFill>
              </a:defRPr>
            </a:pPr>
            <a:r>
              <a:t>❌ Redundancy: Critical sensors not redundant</a:t>
            </a:r>
          </a:p>
          <a:p>
            <a:pPr>
              <a:spcAft>
                <a:spcPts val="1000"/>
              </a:spcAft>
              <a:defRPr sz="1800">
                <a:solidFill>
                  <a:srgbClr val="333333"/>
                </a:solidFill>
              </a:defRPr>
            </a:pPr>
            <a:r>
              <a:t>❌ Fail-Safe Design: Failures led to catastrophic outcomes, not safe states</a:t>
            </a:r>
          </a:p>
          <a:p>
            <a:pPr>
              <a:spcAft>
                <a:spcPts val="1000"/>
              </a:spcAft>
              <a:defRPr sz="1800">
                <a:solidFill>
                  <a:srgbClr val="333333"/>
                </a:solidFill>
              </a:defRPr>
            </a:pPr>
            <a:r>
              <a:t>❌ Human-Centered Design: Pilots excluded from system awareness</a:t>
            </a:r>
          </a:p>
          <a:p>
            <a:pPr>
              <a:spcAft>
                <a:spcPts val="1000"/>
              </a:spcAft>
              <a:defRPr sz="1800">
                <a:solidFill>
                  <a:srgbClr val="333333"/>
                </a:solidFill>
              </a:defRPr>
            </a:pPr>
            <a:r>
              <a:t>The Design Trade-Off Failure:</a:t>
            </a:r>
          </a:p>
          <a:p>
            <a:pPr>
              <a:spcAft>
                <a:spcPts val="1000"/>
              </a:spcAft>
              <a:defRPr sz="1800">
                <a:solidFill>
                  <a:srgbClr val="333333"/>
                </a:solidFill>
              </a:defRPr>
            </a:pPr>
            <a:r>
              <a:t>Boeing made a conscious trade-off:</a:t>
            </a:r>
          </a:p>
          <a:p>
            <a:pPr>
              <a:spcAft>
                <a:spcPts val="600"/>
              </a:spcAft>
              <a:defRPr sz="1800">
                <a:solidFill>
                  <a:srgbClr val="333333"/>
                </a:solidFill>
              </a:defRPr>
            </a:pPr>
            <a:r>
              <a:t>Benefit: Avoid pilot retraining (save airlines money, faster certification)</a:t>
            </a:r>
          </a:p>
          <a:p>
            <a:pPr>
              <a:spcAft>
                <a:spcPts val="600"/>
              </a:spcAft>
              <a:defRPr sz="1800">
                <a:solidFill>
                  <a:srgbClr val="333333"/>
                </a:solidFill>
              </a:defRPr>
            </a:pPr>
            <a:r>
              <a:t>Cost: Reduced pilot awareness and control authority</a:t>
            </a:r>
          </a:p>
          <a:p>
            <a:pPr>
              <a:spcAft>
                <a:spcPts val="1000"/>
              </a:spcAft>
              <a:defRPr sz="1800">
                <a:solidFill>
                  <a:srgbClr val="333333"/>
                </a:solidFill>
              </a:defRPr>
            </a:pPr>
            <a:r>
              <a:t>Question: Was there a proper trade study? Was safety quantified? Were alternatives analyzed?</a:t>
            </a:r>
          </a:p>
          <a:p>
            <a:pPr>
              <a:spcAft>
                <a:spcPts val="1000"/>
              </a:spcAft>
              <a:defRPr sz="1800">
                <a:solidFill>
                  <a:srgbClr val="333333"/>
                </a:solidFill>
              </a:defRPr>
            </a:pPr>
            <a:r>
              <a:t>Answer: No evidence of systematic trade study using methods from Session 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Part 4 - Verification &amp; Validation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analyze through the V-model lens from Session 2.</a:t>
            </a:r>
          </a:p>
          <a:p>
            <a:pPr>
              <a:spcAft>
                <a:spcPts val="1000"/>
              </a:spcAft>
              <a:defRPr sz="1800">
                <a:solidFill>
                  <a:srgbClr val="333333"/>
                </a:solidFill>
              </a:defRPr>
            </a:pPr>
            <a:r>
              <a:t>Recall the V-Model: — Left side: Requirements → Design → Implementation</a:t>
            </a:r>
          </a:p>
          <a:p>
            <a:pPr>
              <a:spcAft>
                <a:spcPts val="600"/>
              </a:spcAft>
              <a:defRPr sz="1800">
                <a:solidFill>
                  <a:srgbClr val="333333"/>
                </a:solidFill>
              </a:defRPr>
            </a:pPr>
            <a:r>
              <a:t>Right side: Unit testing → Integration testing → System testing → Validation</a:t>
            </a:r>
          </a:p>
          <a:p>
            <a:pPr>
              <a:spcAft>
                <a:spcPts val="600"/>
              </a:spcAft>
              <a:defRPr sz="1800">
                <a:solidFill>
                  <a:srgbClr val="333333"/>
                </a:solidFill>
              </a:defRPr>
            </a:pPr>
            <a:r>
              <a:t>Critical principle: Each level on left must be VERIFIED by corresponding level on right</a:t>
            </a:r>
          </a:p>
          <a:p>
            <a:pPr>
              <a:spcAft>
                <a:spcPts val="1000"/>
              </a:spcAft>
              <a:defRPr sz="1800">
                <a:solidFill>
                  <a:srgbClr val="333333"/>
                </a:solidFill>
              </a:defRPr>
            </a:pPr>
            <a:r>
              <a:t>MCAS V&amp;V Failures:</a:t>
            </a:r>
          </a:p>
          <a:p>
            <a:pPr>
              <a:spcAft>
                <a:spcPts val="1000"/>
              </a:spcAft>
              <a:defRPr sz="1800">
                <a:solidFill>
                  <a:srgbClr val="333333"/>
                </a:solidFill>
              </a:defRPr>
            </a:pPr>
            <a:r>
              <a:t>1. Requirements Verification - FAILED — Question: Did testing verify that pilots could safely handle MCAS failures?</a:t>
            </a:r>
          </a:p>
          <a:p>
            <a:pPr>
              <a:spcAft>
                <a:spcPts val="600"/>
              </a:spcAft>
              <a:defRPr sz="1800">
                <a:solidFill>
                  <a:srgbClr val="333333"/>
                </a:solidFill>
              </a:defRPr>
            </a:pPr>
            <a:r>
              <a:t>Answer: No. Failure scenarios with faulty AOA sensor were not thoroughly tested with pilots</a:t>
            </a:r>
          </a:p>
          <a:p>
            <a:pPr>
              <a:spcAft>
                <a:spcPts val="1000"/>
              </a:spcAft>
              <a:defRPr sz="1800">
                <a:solidFill>
                  <a:srgbClr val="333333"/>
                </a:solidFill>
              </a:defRPr>
            </a:pPr>
            <a:r>
              <a:t>2. Integration Testing - FAILED — Question: Was MCAS tested integrated with all conditions (high speed, low altitude, pilot actions)?</a:t>
            </a:r>
          </a:p>
          <a:p>
            <a:pPr>
              <a:spcAft>
                <a:spcPts val="600"/>
              </a:spcAft>
              <a:defRPr sz="1800">
                <a:solidFill>
                  <a:srgbClr val="333333"/>
                </a:solidFill>
              </a:defRPr>
            </a:pPr>
            <a:r>
              <a:t>Answer: Limited. Testing focused on normal operations, not edge cases</a:t>
            </a:r>
          </a:p>
          <a:p>
            <a:pPr>
              <a:spcAft>
                <a:spcPts val="1000"/>
              </a:spcAft>
              <a:defRPr sz="1800">
                <a:solidFill>
                  <a:srgbClr val="333333"/>
                </a:solidFill>
              </a:defRPr>
            </a:pPr>
            <a:r>
              <a:t>3. System Testing - FAILED — Question: Were failure modes tested in realistic operational scenarios?</a:t>
            </a:r>
          </a:p>
          <a:p>
            <a:pPr>
              <a:spcAft>
                <a:spcPts val="600"/>
              </a:spcAft>
              <a:defRPr sz="1800">
                <a:solidFill>
                  <a:srgbClr val="333333"/>
                </a:solidFill>
              </a:defRPr>
            </a:pPr>
            <a:r>
              <a:t>Answer: No. The scenario of 'repeated MCAS activation with pilots fighting it' was not tested in simulator</a:t>
            </a:r>
          </a:p>
          <a:p>
            <a:pPr>
              <a:spcAft>
                <a:spcPts val="1000"/>
              </a:spcAft>
              <a:defRPr sz="1800">
                <a:solidFill>
                  <a:srgbClr val="333333"/>
                </a:solidFill>
              </a:defRPr>
            </a:pPr>
            <a:r>
              <a:t>4. Validation - CATASTROPHICALLY FAILED — Question: Did the system meet stakeholder needs (pilots, passengers)?</a:t>
            </a:r>
          </a:p>
          <a:p>
            <a:pPr>
              <a:spcAft>
                <a:spcPts val="600"/>
              </a:spcAft>
              <a:defRPr sz="1800">
                <a:solidFill>
                  <a:srgbClr val="333333"/>
                </a:solidFill>
              </a:defRPr>
            </a:pPr>
            <a:r>
              <a:t>Answer: No pilots were asked 'Can you safely handle this failure mode?'</a:t>
            </a:r>
          </a:p>
          <a:p>
            <a:pPr>
              <a:spcAft>
                <a:spcPts val="1000"/>
              </a:spcAft>
              <a:defRPr sz="1800">
                <a:solidFill>
                  <a:srgbClr val="333333"/>
                </a:solidFill>
              </a:defRPr>
            </a:pPr>
            <a:r>
              <a:t>Specific V&amp;V Gaps:</a:t>
            </a:r>
          </a:p>
          <a:p>
            <a:pPr>
              <a:spcAft>
                <a:spcPts val="1000"/>
              </a:spcAft>
              <a:defRPr sz="1800">
                <a:solidFill>
                  <a:srgbClr val="333333"/>
                </a:solidFill>
              </a:defRPr>
            </a:pPr>
            <a:r>
              <a:t>| V&amp;V Activity | What Should Have Happened | What Actually Happened | Consequence |</a:t>
            </a:r>
          </a:p>
          <a:p>
            <a:pPr>
              <a:spcAft>
                <a:spcPts val="1000"/>
              </a:spcAft>
              <a:defRPr sz="1800">
                <a:solidFill>
                  <a:srgbClr val="333333"/>
                </a:solidFill>
              </a:defRPr>
            </a:pPr>
            <a:r>
              <a:t>|--------------|---------------------------|------------------------|-------------|</a:t>
            </a:r>
          </a:p>
          <a:p>
            <a:pPr>
              <a:spcAft>
                <a:spcPts val="1000"/>
              </a:spcAft>
              <a:defRPr sz="1800">
                <a:solidFill>
                  <a:srgbClr val="333333"/>
                </a:solidFill>
              </a:defRPr>
            </a:pPr>
            <a:r>
              <a:t>| Hazard Analysis | Identify 'AOA sensor failure' as critical hazard | Categorized as less severe | Insufficient mitigations |</a:t>
            </a:r>
          </a:p>
          <a:p>
            <a:pPr>
              <a:spcAft>
                <a:spcPts val="1000"/>
              </a:spcAft>
              <a:defRPr sz="1800">
                <a:solidFill>
                  <a:srgbClr val="333333"/>
                </a:solidFill>
              </a:defRPr>
            </a:pPr>
            <a:r>
              <a:t>| Failure Modes Testing | Test repeated MCAS activation with pilots | Not tested in realistic scenarios | Failure mode undiscovered |</a:t>
            </a:r>
          </a:p>
          <a:p>
            <a:pPr>
              <a:spcAft>
                <a:spcPts val="1000"/>
              </a:spcAft>
              <a:defRPr sz="1800">
                <a:solidFill>
                  <a:srgbClr val="333333"/>
                </a:solidFill>
              </a:defRPr>
            </a:pPr>
            <a:r>
              <a:t>| Pilot-in-Loop Testing | Pilots test MCAS failures in simulator | Limited pilot testing of failures | Pilots couldn't respond |</a:t>
            </a:r>
          </a:p>
          <a:p>
            <a:pPr>
              <a:spcAft>
                <a:spcPts val="1000"/>
              </a:spcAft>
              <a:defRPr sz="1800">
                <a:solidFill>
                  <a:srgbClr val="333333"/>
                </a:solidFill>
              </a:defRPr>
            </a:pPr>
            <a:r>
              <a:t>| Certification Testing | Independent FAA testing | FAA delegated to Boeing (self-certification) | Conflict of interest |</a:t>
            </a:r>
          </a:p>
          <a:p>
            <a:pPr>
              <a:spcAft>
                <a:spcPts val="1000"/>
              </a:spcAft>
              <a:defRPr sz="1800">
                <a:solidFill>
                  <a:srgbClr val="333333"/>
                </a:solidFill>
              </a:defRPr>
            </a:pPr>
            <a:r>
              <a:t>The Self-Certification Problem:</a:t>
            </a:r>
          </a:p>
          <a:p>
            <a:pPr>
              <a:spcAft>
                <a:spcPts val="1000"/>
              </a:spcAft>
              <a:defRPr sz="1800">
                <a:solidFill>
                  <a:srgbClr val="333333"/>
                </a:solidFill>
              </a:defRPr>
            </a:pPr>
            <a:r>
              <a:t>FAA had delegated certification authority to Boeing through ODA (Organization Designation Authorization) program.</a:t>
            </a:r>
          </a:p>
          <a:p>
            <a:pPr>
              <a:spcAft>
                <a:spcPts val="1000"/>
              </a:spcAft>
              <a:defRPr sz="1800">
                <a:solidFill>
                  <a:srgbClr val="333333"/>
                </a:solidFill>
              </a:defRPr>
            </a:pPr>
            <a:r>
              <a:t>Result: Boeing employees, under schedule and cost pressure, certified their own design.</a:t>
            </a:r>
          </a:p>
          <a:p>
            <a:pPr>
              <a:spcAft>
                <a:spcPts val="1000"/>
              </a:spcAft>
              <a:defRPr sz="1800">
                <a:solidFill>
                  <a:srgbClr val="333333"/>
                </a:solidFill>
              </a:defRPr>
            </a:pPr>
            <a:r>
              <a:t>Systems Engineering Question: What verification principle does this violate?</a:t>
            </a:r>
          </a:p>
          <a:p>
            <a:pPr>
              <a:spcAft>
                <a:spcPts val="1000"/>
              </a:spcAft>
              <a:defRPr sz="1800">
                <a:solidFill>
                  <a:srgbClr val="333333"/>
                </a:solidFill>
              </a:defRPr>
            </a:pPr>
            <a:r>
              <a:t>Answer: Independence of verification - 'Test your own homework' doesn't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Part 5 - Systems Thinking Failures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Finally, let's examine this through systems thinking - the overarching framework from Sessions 1 and 2.</a:t>
            </a:r>
          </a:p>
          <a:p>
            <a:pPr>
              <a:spcAft>
                <a:spcPts val="1000"/>
              </a:spcAft>
              <a:defRPr sz="1800">
                <a:solidFill>
                  <a:srgbClr val="333333"/>
                </a:solidFill>
              </a:defRPr>
            </a:pPr>
            <a:r>
              <a:t>Systems Thinking Principle:</a:t>
            </a:r>
          </a:p>
          <a:p>
            <a:pPr>
              <a:spcAft>
                <a:spcPts val="1000"/>
              </a:spcAft>
              <a:defRPr sz="1800">
                <a:solidFill>
                  <a:srgbClr val="333333"/>
                </a:solidFill>
              </a:defRPr>
            </a:pPr>
            <a:r>
              <a:t>'The system is more than the sum of its parts. Optimizing components individually can harm overall system performance.'</a:t>
            </a:r>
          </a:p>
          <a:p>
            <a:pPr>
              <a:spcAft>
                <a:spcPts val="1000"/>
              </a:spcAft>
              <a:defRPr sz="1800">
                <a:solidFill>
                  <a:srgbClr val="333333"/>
                </a:solidFill>
              </a:defRPr>
            </a:pPr>
            <a:r>
              <a:t>How This Manifests in 737 MAX:</a:t>
            </a:r>
          </a:p>
          <a:p>
            <a:pPr>
              <a:spcAft>
                <a:spcPts val="1000"/>
              </a:spcAft>
              <a:defRPr sz="1800">
                <a:solidFill>
                  <a:srgbClr val="333333"/>
                </a:solidFill>
              </a:defRPr>
            </a:pPr>
            <a:r>
              <a:t>Component-Level Optimization (Locally Optimal):</a:t>
            </a:r>
          </a:p>
          <a:p>
            <a:pPr>
              <a:spcAft>
                <a:spcPts val="1000"/>
              </a:spcAft>
              <a:defRPr sz="1800">
                <a:solidFill>
                  <a:srgbClr val="333333"/>
                </a:solidFill>
              </a:defRPr>
            </a:pPr>
            <a:r>
              <a:t>✓ Engineering: MCAS solved aerodynamic issue elegantly with software</a:t>
            </a:r>
          </a:p>
          <a:p>
            <a:pPr>
              <a:spcAft>
                <a:spcPts val="1000"/>
              </a:spcAft>
              <a:defRPr sz="1800">
                <a:solidFill>
                  <a:srgbClr val="333333"/>
                </a:solidFill>
              </a:defRPr>
            </a:pPr>
            <a:r>
              <a:t>✓ Certification: Avoided lengthy recertification as 'new aircraft'</a:t>
            </a:r>
          </a:p>
          <a:p>
            <a:pPr>
              <a:spcAft>
                <a:spcPts val="1000"/>
              </a:spcAft>
              <a:defRPr sz="1800">
                <a:solidFill>
                  <a:srgbClr val="333333"/>
                </a:solidFill>
              </a:defRPr>
            </a:pPr>
            <a:r>
              <a:t>✓ Training: No pilot retraining required</a:t>
            </a:r>
          </a:p>
          <a:p>
            <a:pPr>
              <a:spcAft>
                <a:spcPts val="1000"/>
              </a:spcAft>
              <a:defRPr sz="1800">
                <a:solidFill>
                  <a:srgbClr val="333333"/>
                </a:solidFill>
              </a:defRPr>
            </a:pPr>
            <a:r>
              <a:t>✓ Manufacturing: Minimal changes to production line</a:t>
            </a:r>
          </a:p>
          <a:p>
            <a:pPr>
              <a:spcAft>
                <a:spcPts val="1000"/>
              </a:spcAft>
              <a:defRPr sz="1800">
                <a:solidFill>
                  <a:srgbClr val="333333"/>
                </a:solidFill>
              </a:defRPr>
            </a:pPr>
            <a:r>
              <a:t>✓ Sales: Fast to market, beat Airbus competition</a:t>
            </a:r>
          </a:p>
          <a:p>
            <a:pPr>
              <a:spcAft>
                <a:spcPts val="1000"/>
              </a:spcAft>
              <a:defRPr sz="1800">
                <a:solidFill>
                  <a:srgbClr val="333333"/>
                </a:solidFill>
              </a:defRPr>
            </a:pPr>
            <a:r>
              <a:t>✓ Cost: Saved billions vs clean-sheet design</a:t>
            </a:r>
          </a:p>
          <a:p>
            <a:pPr>
              <a:spcAft>
                <a:spcPts val="1000"/>
              </a:spcAft>
              <a:defRPr sz="1800">
                <a:solidFill>
                  <a:srgbClr val="333333"/>
                </a:solidFill>
              </a:defRPr>
            </a:pPr>
            <a:r>
              <a:t>System-Level Result (Globally Catastrophic):</a:t>
            </a:r>
          </a:p>
          <a:p>
            <a:pPr>
              <a:spcAft>
                <a:spcPts val="1000"/>
              </a:spcAft>
              <a:defRPr sz="1800">
                <a:solidFill>
                  <a:srgbClr val="333333"/>
                </a:solidFill>
              </a:defRPr>
            </a:pPr>
            <a:r>
              <a:t>❌ Safety: Introduced single-point-of-failure in critical flight control</a:t>
            </a:r>
          </a:p>
          <a:p>
            <a:pPr>
              <a:spcAft>
                <a:spcPts val="1000"/>
              </a:spcAft>
              <a:defRPr sz="1800">
                <a:solidFill>
                  <a:srgbClr val="333333"/>
                </a:solidFill>
              </a:defRPr>
            </a:pPr>
            <a:r>
              <a:t>❌ Resilience: Pilots couldn't diagnose or recover from failures</a:t>
            </a:r>
          </a:p>
          <a:p>
            <a:pPr>
              <a:spcAft>
                <a:spcPts val="1000"/>
              </a:spcAft>
              <a:defRPr sz="1800">
                <a:solidFill>
                  <a:srgbClr val="333333"/>
                </a:solidFill>
              </a:defRPr>
            </a:pPr>
            <a:r>
              <a:t>❌ Robustness: System fragile to sensor failures (common occurrence)</a:t>
            </a:r>
          </a:p>
          <a:p>
            <a:pPr>
              <a:spcAft>
                <a:spcPts val="1000"/>
              </a:spcAft>
              <a:defRPr sz="1800">
                <a:solidFill>
                  <a:srgbClr val="333333"/>
                </a:solidFill>
              </a:defRPr>
            </a:pPr>
            <a:r>
              <a:t>❌ Transparency: Pilots unaware of system fighting them</a:t>
            </a:r>
          </a:p>
          <a:p>
            <a:pPr>
              <a:spcAft>
                <a:spcPts val="1000"/>
              </a:spcAft>
              <a:defRPr sz="1800">
                <a:solidFill>
                  <a:srgbClr val="333333"/>
                </a:solidFill>
              </a:defRPr>
            </a:pPr>
            <a:r>
              <a:t>❌ Outcome: 346 deaths, 20-month grounding, $20B+ cost</a:t>
            </a:r>
          </a:p>
          <a:p>
            <a:pPr>
              <a:spcAft>
                <a:spcPts val="1000"/>
              </a:spcAft>
              <a:defRPr sz="1800">
                <a:solidFill>
                  <a:srgbClr val="333333"/>
                </a:solidFill>
              </a:defRPr>
            </a:pPr>
            <a:r>
              <a:t>Each department optimized their part: — Engineering optimized for technical elegance</a:t>
            </a:r>
          </a:p>
          <a:p>
            <a:pPr>
              <a:spcAft>
                <a:spcPts val="600"/>
              </a:spcAft>
              <a:defRPr sz="1800">
                <a:solidFill>
                  <a:srgbClr val="333333"/>
                </a:solidFill>
              </a:defRPr>
            </a:pPr>
            <a:r>
              <a:t>Certification optimized for speed</a:t>
            </a:r>
          </a:p>
          <a:p>
            <a:pPr>
              <a:spcAft>
                <a:spcPts val="600"/>
              </a:spcAft>
              <a:defRPr sz="1800">
                <a:solidFill>
                  <a:srgbClr val="333333"/>
                </a:solidFill>
              </a:defRPr>
            </a:pPr>
            <a:r>
              <a:t>Training optimized for cost</a:t>
            </a:r>
          </a:p>
          <a:p>
            <a:pPr>
              <a:spcAft>
                <a:spcPts val="600"/>
              </a:spcAft>
              <a:defRPr sz="1800">
                <a:solidFill>
                  <a:srgbClr val="333333"/>
                </a:solidFill>
              </a:defRPr>
            </a:pPr>
            <a:r>
              <a:t>Management optimized for profit</a:t>
            </a:r>
          </a:p>
          <a:p>
            <a:pPr>
              <a:spcAft>
                <a:spcPts val="1000"/>
              </a:spcAft>
              <a:defRPr sz="1800">
                <a:solidFill>
                  <a:srgbClr val="333333"/>
                </a:solidFill>
              </a:defRPr>
            </a:pPr>
            <a:r>
              <a:t>But no one optimized for SYSTEM SAFETY.</a:t>
            </a:r>
          </a:p>
          <a:p>
            <a:pPr>
              <a:spcAft>
                <a:spcPts val="1000"/>
              </a:spcAft>
              <a:defRPr sz="1800">
                <a:solidFill>
                  <a:srgbClr val="333333"/>
                </a:solidFill>
              </a:defRPr>
            </a:pPr>
            <a:r>
              <a:t>The Organizational Systems Failure:</a:t>
            </a:r>
          </a:p>
          <a:p>
            <a:pPr>
              <a:spcAft>
                <a:spcPts val="1000"/>
              </a:spcAft>
              <a:defRPr sz="1800">
                <a:solidFill>
                  <a:srgbClr val="333333"/>
                </a:solidFill>
              </a:defRPr>
            </a:pPr>
            <a:r>
              <a:t>Organizational boundaries became technical boundaries:</a:t>
            </a:r>
          </a:p>
          <a:p>
            <a:pPr>
              <a:spcAft>
                <a:spcPts val="600"/>
              </a:spcAft>
              <a:defRPr sz="1800">
                <a:solidFill>
                  <a:srgbClr val="333333"/>
                </a:solidFill>
              </a:defRPr>
            </a:pPr>
            <a:r>
              <a:t>Flight controls team: Designed MCAS, focused on handling characteristics</a:t>
            </a:r>
          </a:p>
          <a:p>
            <a:pPr>
              <a:spcAft>
                <a:spcPts val="600"/>
              </a:spcAft>
              <a:defRPr sz="1800">
                <a:solidFill>
                  <a:srgbClr val="333333"/>
                </a:solidFill>
              </a:defRPr>
            </a:pPr>
            <a:r>
              <a:t>Training team: Developed pilot materials, wasn't told about MCAS scope</a:t>
            </a:r>
          </a:p>
          <a:p>
            <a:pPr>
              <a:spcAft>
                <a:spcPts val="600"/>
              </a:spcAft>
              <a:defRPr sz="1800">
                <a:solidFill>
                  <a:srgbClr val="333333"/>
                </a:solidFill>
              </a:defRPr>
            </a:pPr>
            <a:r>
              <a:t>Certification team: Certified based on incomplete hazard analysis</a:t>
            </a:r>
          </a:p>
          <a:p>
            <a:pPr>
              <a:spcAft>
                <a:spcPts val="600"/>
              </a:spcAft>
              <a:defRPr sz="1800">
                <a:solidFill>
                  <a:srgbClr val="333333"/>
                </a:solidFill>
              </a:defRPr>
            </a:pPr>
            <a:r>
              <a:t>Safety team: Relied on data from flight controls team</a:t>
            </a:r>
          </a:p>
          <a:p>
            <a:pPr>
              <a:spcAft>
                <a:spcPts val="1000"/>
              </a:spcAft>
              <a:defRPr sz="1800">
                <a:solidFill>
                  <a:srgbClr val="333333"/>
                </a:solidFill>
              </a:defRPr>
            </a:pPr>
            <a:r>
              <a:t>No one had complete system picture.</a:t>
            </a:r>
          </a:p>
          <a:p>
            <a:pPr>
              <a:spcAft>
                <a:spcPts val="1000"/>
              </a:spcAft>
              <a:defRPr sz="1800">
                <a:solidFill>
                  <a:srgbClr val="333333"/>
                </a:solidFill>
              </a:defRPr>
            </a:pPr>
            <a:r>
              <a:t>This is why we study systems engineering: To see the WHOLE system, not just our component.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Root Cause - Synthesis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synthesize our analysis. Using a fishbone diagram, we can map root causes:</a:t>
            </a:r>
          </a:p>
          <a:p>
            <a:pPr>
              <a:spcAft>
                <a:spcPts val="1000"/>
              </a:spcAft>
              <a:defRPr sz="1800">
                <a:solidFill>
                  <a:srgbClr val="333333"/>
                </a:solidFill>
              </a:defRPr>
            </a:pPr>
            <a:r>
              <a:t>EFFECT: 346 Deaths, Two 737 MAX Crashes</a:t>
            </a:r>
          </a:p>
          <a:p>
            <a:pPr>
              <a:spcAft>
                <a:spcPts val="1000"/>
              </a:spcAft>
              <a:defRPr sz="1800">
                <a:solidFill>
                  <a:srgbClr val="333333"/>
                </a:solidFill>
              </a:defRPr>
            </a:pPr>
            <a:r>
              <a:t>ROOT CAUSES (Categories):</a:t>
            </a:r>
          </a:p>
          <a:p>
            <a:pPr>
              <a:spcAft>
                <a:spcPts val="1000"/>
              </a:spcAft>
              <a:defRPr sz="1800">
                <a:solidFill>
                  <a:srgbClr val="333333"/>
                </a:solidFill>
              </a:defRPr>
            </a:pPr>
            <a:r>
              <a:t>1. TECHNICAL DESIGN: — Single AOA sensor dependency</a:t>
            </a:r>
          </a:p>
          <a:p>
            <a:pPr>
              <a:spcAft>
                <a:spcPts val="600"/>
              </a:spcAft>
              <a:defRPr sz="1800">
                <a:solidFill>
                  <a:srgbClr val="333333"/>
                </a:solidFill>
              </a:defRPr>
            </a:pPr>
            <a:r>
              <a:t>Excessive MCAS authority (2.5°)</a:t>
            </a:r>
          </a:p>
          <a:p>
            <a:pPr>
              <a:spcAft>
                <a:spcPts val="600"/>
              </a:spcAft>
              <a:defRPr sz="1800">
                <a:solidFill>
                  <a:srgbClr val="333333"/>
                </a:solidFill>
              </a:defRPr>
            </a:pPr>
            <a:r>
              <a:t>Repeated activation design</a:t>
            </a:r>
          </a:p>
          <a:p>
            <a:pPr>
              <a:spcAft>
                <a:spcPts val="600"/>
              </a:spcAft>
              <a:defRPr sz="1800">
                <a:solidFill>
                  <a:srgbClr val="333333"/>
                </a:solidFill>
              </a:defRPr>
            </a:pPr>
            <a:r>
              <a:t>No pilot notification</a:t>
            </a:r>
          </a:p>
          <a:p>
            <a:pPr>
              <a:spcAft>
                <a:spcPts val="1000"/>
              </a:spcAft>
              <a:defRPr sz="1800">
                <a:solidFill>
                  <a:srgbClr val="333333"/>
                </a:solidFill>
              </a:defRPr>
            </a:pPr>
            <a:r>
              <a:t>2. REQUIREMENTS ENGINEERING: — Incomplete safety requirements</a:t>
            </a:r>
          </a:p>
          <a:p>
            <a:pPr>
              <a:spcAft>
                <a:spcPts val="600"/>
              </a:spcAft>
              <a:defRPr sz="1800">
                <a:solidFill>
                  <a:srgbClr val="333333"/>
                </a:solidFill>
              </a:defRPr>
            </a:pPr>
            <a:r>
              <a:t>Missing redundancy requirements</a:t>
            </a:r>
          </a:p>
          <a:p>
            <a:pPr>
              <a:spcAft>
                <a:spcPts val="600"/>
              </a:spcAft>
              <a:defRPr sz="1800">
                <a:solidFill>
                  <a:srgbClr val="333333"/>
                </a:solidFill>
              </a:defRPr>
            </a:pPr>
            <a:r>
              <a:t>No pilot awareness requirements</a:t>
            </a:r>
          </a:p>
          <a:p>
            <a:pPr>
              <a:spcAft>
                <a:spcPts val="600"/>
              </a:spcAft>
              <a:defRPr sz="1800">
                <a:solidFill>
                  <a:srgbClr val="333333"/>
                </a:solidFill>
              </a:defRPr>
            </a:pPr>
            <a:r>
              <a:t>Failed traceability when design changed</a:t>
            </a:r>
          </a:p>
          <a:p>
            <a:pPr>
              <a:spcAft>
                <a:spcPts val="1000"/>
              </a:spcAft>
              <a:defRPr sz="1800">
                <a:solidFill>
                  <a:srgbClr val="333333"/>
                </a:solidFill>
              </a:defRPr>
            </a:pPr>
            <a:r>
              <a:t>3. VERIFICATION &amp; VALIDATION: — Inadequate failure mode testing</a:t>
            </a:r>
          </a:p>
          <a:p>
            <a:pPr>
              <a:spcAft>
                <a:spcPts val="600"/>
              </a:spcAft>
              <a:defRPr sz="1800">
                <a:solidFill>
                  <a:srgbClr val="333333"/>
                </a:solidFill>
              </a:defRPr>
            </a:pPr>
            <a:r>
              <a:t>No pilot-in-loop testing of failures</a:t>
            </a:r>
          </a:p>
          <a:p>
            <a:pPr>
              <a:spcAft>
                <a:spcPts val="600"/>
              </a:spcAft>
              <a:defRPr sz="1800">
                <a:solidFill>
                  <a:srgbClr val="333333"/>
                </a:solidFill>
              </a:defRPr>
            </a:pPr>
            <a:r>
              <a:t>Self-certification conflict of interest</a:t>
            </a:r>
          </a:p>
          <a:p>
            <a:pPr>
              <a:spcAft>
                <a:spcPts val="600"/>
              </a:spcAft>
              <a:defRPr sz="1800">
                <a:solidFill>
                  <a:srgbClr val="333333"/>
                </a:solidFill>
              </a:defRPr>
            </a:pPr>
            <a:r>
              <a:t>Hazard analysis underestimated severity</a:t>
            </a:r>
          </a:p>
          <a:p>
            <a:pPr>
              <a:spcAft>
                <a:spcPts val="1000"/>
              </a:spcAft>
              <a:defRPr sz="1800">
                <a:solidFill>
                  <a:srgbClr val="333333"/>
                </a:solidFill>
              </a:defRPr>
            </a:pPr>
            <a:r>
              <a:t>4. SYSTEMS THINKING: — Component optimization over system safety</a:t>
            </a:r>
          </a:p>
          <a:p>
            <a:pPr>
              <a:spcAft>
                <a:spcPts val="600"/>
              </a:spcAft>
              <a:defRPr sz="1800">
                <a:solidFill>
                  <a:srgbClr val="333333"/>
                </a:solidFill>
              </a:defRPr>
            </a:pPr>
            <a:r>
              <a:t>Organizational silos</a:t>
            </a:r>
          </a:p>
          <a:p>
            <a:pPr>
              <a:spcAft>
                <a:spcPts val="600"/>
              </a:spcAft>
              <a:defRPr sz="1800">
                <a:solidFill>
                  <a:srgbClr val="333333"/>
                </a:solidFill>
              </a:defRPr>
            </a:pPr>
            <a:r>
              <a:t>No one owned complete system safety</a:t>
            </a:r>
          </a:p>
          <a:p>
            <a:pPr>
              <a:spcAft>
                <a:spcPts val="1000"/>
              </a:spcAft>
              <a:defRPr sz="1800">
                <a:solidFill>
                  <a:srgbClr val="333333"/>
                </a:solidFill>
              </a:defRPr>
            </a:pPr>
            <a:r>
              <a:t>5. STAKEHOLDER MANAGEMENT: — Commercial interests prioritized over safety</a:t>
            </a:r>
          </a:p>
          <a:p>
            <a:pPr>
              <a:spcAft>
                <a:spcPts val="600"/>
              </a:spcAft>
              <a:defRPr sz="1800">
                <a:solidFill>
                  <a:srgbClr val="333333"/>
                </a:solidFill>
              </a:defRPr>
            </a:pPr>
            <a:r>
              <a:t>Pilots excluded from design decisions</a:t>
            </a:r>
          </a:p>
          <a:p>
            <a:pPr>
              <a:spcAft>
                <a:spcPts val="600"/>
              </a:spcAft>
              <a:defRPr sz="1800">
                <a:solidFill>
                  <a:srgbClr val="333333"/>
                </a:solidFill>
              </a:defRPr>
            </a:pPr>
            <a:r>
              <a:t>Passengers never considered</a:t>
            </a:r>
          </a:p>
          <a:p>
            <a:pPr>
              <a:spcAft>
                <a:spcPts val="1000"/>
              </a:spcAft>
              <a:defRPr sz="1800">
                <a:solidFill>
                  <a:srgbClr val="333333"/>
                </a:solidFill>
              </a:defRPr>
            </a:pPr>
            <a:r>
              <a:t>6. ORGANIZATIONAL/CULTURAL: — Schedule pressure (beat Airbus to market)</a:t>
            </a:r>
          </a:p>
          <a:p>
            <a:pPr>
              <a:spcAft>
                <a:spcPts val="600"/>
              </a:spcAft>
              <a:defRPr sz="1800">
                <a:solidFill>
                  <a:srgbClr val="333333"/>
                </a:solidFill>
              </a:defRPr>
            </a:pPr>
            <a:r>
              <a:t>Cost pressure (avoid expensive retraining)</a:t>
            </a:r>
          </a:p>
          <a:p>
            <a:pPr>
              <a:spcAft>
                <a:spcPts val="600"/>
              </a:spcAft>
              <a:defRPr sz="1800">
                <a:solidFill>
                  <a:srgbClr val="333333"/>
                </a:solidFill>
              </a:defRPr>
            </a:pPr>
            <a:r>
              <a:t>Culture shift from 'engineering first' to 'profit first'</a:t>
            </a:r>
          </a:p>
          <a:p>
            <a:pPr>
              <a:spcAft>
                <a:spcPts val="600"/>
              </a:spcAft>
              <a:defRPr sz="1800">
                <a:solidFill>
                  <a:srgbClr val="333333"/>
                </a:solidFill>
              </a:defRPr>
            </a:pPr>
            <a:r>
              <a:t>Management override of engineering concerns</a:t>
            </a:r>
          </a:p>
          <a:p>
            <a:pPr>
              <a:spcAft>
                <a:spcPts val="1000"/>
              </a:spcAft>
              <a:defRPr sz="1800">
                <a:solidFill>
                  <a:srgbClr val="333333"/>
                </a:solidFill>
              </a:defRPr>
            </a:pPr>
            <a:r>
              <a:t>THE FUNDAMENTAL ROOT CAUSE:</a:t>
            </a:r>
          </a:p>
          <a:p>
            <a:pPr>
              <a:spcAft>
                <a:spcPts val="1000"/>
              </a:spcAft>
              <a:defRPr sz="1800">
                <a:solidFill>
                  <a:srgbClr val="333333"/>
                </a:solidFill>
              </a:defRPr>
            </a:pPr>
            <a:r>
              <a:t>Systems engineering processes existed at Boeing. They weren't followed or were deliberately circumvented when they conflicted with schedule and cost goals.</a:t>
            </a:r>
          </a:p>
          <a:p>
            <a:pPr>
              <a:spcAft>
                <a:spcPts val="1000"/>
              </a:spcAft>
              <a:defRPr sz="1800">
                <a:solidFill>
                  <a:srgbClr val="333333"/>
                </a:solidFill>
              </a:defRPr>
            </a:pPr>
            <a:r>
              <a:t>This is a failure of engineering integrity and organizational culture, enabled by inadequate regulatory oversight.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Could Have Prevented This? - Counterfactual Analysis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do a thought experiment: What systems engineering practices could have prevented these crashes?</a:t>
            </a:r>
          </a:p>
          <a:p>
            <a:pPr>
              <a:spcAft>
                <a:spcPts val="1000"/>
              </a:spcAft>
              <a:defRPr sz="1800">
                <a:solidFill>
                  <a:srgbClr val="333333"/>
                </a:solidFill>
              </a:defRPr>
            </a:pPr>
            <a:r>
              <a:t>Preventive Measure #1: Proper Requirements Engineering</a:t>
            </a:r>
          </a:p>
          <a:p>
            <a:pPr>
              <a:spcAft>
                <a:spcPts val="1000"/>
              </a:spcAft>
              <a:defRPr sz="1800">
                <a:solidFill>
                  <a:srgbClr val="333333"/>
                </a:solidFill>
              </a:defRPr>
            </a:pPr>
            <a:r>
              <a:t>IF Boeing had written complete safety requirements:</a:t>
            </a:r>
          </a:p>
          <a:p>
            <a:pPr>
              <a:spcAft>
                <a:spcPts val="600"/>
              </a:spcAft>
              <a:defRPr sz="1800">
                <a:solidFill>
                  <a:srgbClr val="333333"/>
                </a:solidFill>
              </a:defRPr>
            </a:pPr>
            <a:r>
              <a:t>Requirement: 'Flight critical systems shall use redundant sensors with disagree logic'</a:t>
            </a:r>
          </a:p>
          <a:p>
            <a:pPr>
              <a:spcAft>
                <a:spcPts val="600"/>
              </a:spcAft>
              <a:defRPr sz="1800">
                <a:solidFill>
                  <a:srgbClr val="333333"/>
                </a:solidFill>
              </a:defRPr>
            </a:pPr>
            <a:r>
              <a:t>Verification: Design review would catch single-sensor MCAS</a:t>
            </a:r>
          </a:p>
          <a:p>
            <a:pPr>
              <a:spcAft>
                <a:spcPts val="600"/>
              </a:spcAft>
              <a:defRPr sz="1800">
                <a:solidFill>
                  <a:srgbClr val="333333"/>
                </a:solidFill>
              </a:defRPr>
            </a:pPr>
            <a:r>
              <a:t>Result: MCAS redesigned with dual-sensor voting logic</a:t>
            </a:r>
          </a:p>
          <a:p>
            <a:pPr>
              <a:spcAft>
                <a:spcPts val="600"/>
              </a:spcAft>
              <a:defRPr sz="1800">
                <a:solidFill>
                  <a:srgbClr val="333333"/>
                </a:solidFill>
              </a:defRPr>
            </a:pPr>
            <a:r>
              <a:t>Outcome: Sensor failures detected, MCAS doesn't activate on false data → Crashes prevented ✓</a:t>
            </a:r>
          </a:p>
          <a:p>
            <a:pPr>
              <a:spcAft>
                <a:spcPts val="1000"/>
              </a:spcAft>
              <a:defRPr sz="1800">
                <a:solidFill>
                  <a:srgbClr val="333333"/>
                </a:solidFill>
              </a:defRPr>
            </a:pPr>
            <a:r>
              <a:t>Preventive Measure #2: Independent Verification</a:t>
            </a:r>
          </a:p>
          <a:p>
            <a:pPr>
              <a:spcAft>
                <a:spcPts val="1000"/>
              </a:spcAft>
              <a:defRPr sz="1800">
                <a:solidFill>
                  <a:srgbClr val="333333"/>
                </a:solidFill>
              </a:defRPr>
            </a:pPr>
            <a:r>
              <a:t>IF FAA had not delegated certification to Boeing:</a:t>
            </a:r>
          </a:p>
          <a:p>
            <a:pPr>
              <a:spcAft>
                <a:spcPts val="600"/>
              </a:spcAft>
              <a:defRPr sz="1800">
                <a:solidFill>
                  <a:srgbClr val="333333"/>
                </a:solidFill>
              </a:defRPr>
            </a:pPr>
            <a:r>
              <a:t>Independent FAA test pilots test MCAS failures in simulator</a:t>
            </a:r>
          </a:p>
          <a:p>
            <a:pPr>
              <a:spcAft>
                <a:spcPts val="600"/>
              </a:spcAft>
              <a:defRPr sz="1800">
                <a:solidFill>
                  <a:srgbClr val="333333"/>
                </a:solidFill>
              </a:defRPr>
            </a:pPr>
            <a:r>
              <a:t>They discover pilots can't recover from repeated MCAS activation</a:t>
            </a:r>
          </a:p>
          <a:p>
            <a:pPr>
              <a:spcAft>
                <a:spcPts val="600"/>
              </a:spcAft>
              <a:defRPr sz="1800">
                <a:solidFill>
                  <a:srgbClr val="333333"/>
                </a:solidFill>
              </a:defRPr>
            </a:pPr>
            <a:r>
              <a:t>Design changes required before certification</a:t>
            </a:r>
          </a:p>
          <a:p>
            <a:pPr>
              <a:spcAft>
                <a:spcPts val="600"/>
              </a:spcAft>
              <a:defRPr sz="1800">
                <a:solidFill>
                  <a:srgbClr val="333333"/>
                </a:solidFill>
              </a:defRPr>
            </a:pPr>
            <a:r>
              <a:t>Outcome: Unsafe design caught before production → Crashes prevented ✓</a:t>
            </a:r>
          </a:p>
          <a:p>
            <a:pPr>
              <a:spcAft>
                <a:spcPts val="1000"/>
              </a:spcAft>
              <a:defRPr sz="1800">
                <a:solidFill>
                  <a:srgbClr val="333333"/>
                </a:solidFill>
              </a:defRPr>
            </a:pPr>
            <a:r>
              <a:t>Preventive Measure #3: Pilot Training</a:t>
            </a:r>
          </a:p>
          <a:p>
            <a:pPr>
              <a:spcAft>
                <a:spcPts val="1000"/>
              </a:spcAft>
              <a:defRPr sz="1800">
                <a:solidFill>
                  <a:srgbClr val="333333"/>
                </a:solidFill>
              </a:defRPr>
            </a:pPr>
            <a:r>
              <a:t>IF pilots had been trained on MCAS:</a:t>
            </a:r>
          </a:p>
          <a:p>
            <a:pPr>
              <a:spcAft>
                <a:spcPts val="600"/>
              </a:spcAft>
              <a:defRPr sz="1800">
                <a:solidFill>
                  <a:srgbClr val="333333"/>
                </a:solidFill>
              </a:defRPr>
            </a:pPr>
            <a:r>
              <a:t>Pilots understand system behavior</a:t>
            </a:r>
          </a:p>
          <a:p>
            <a:pPr>
              <a:spcAft>
                <a:spcPts val="600"/>
              </a:spcAft>
              <a:defRPr sz="1800">
                <a:solidFill>
                  <a:srgbClr val="333333"/>
                </a:solidFill>
              </a:defRPr>
            </a:pPr>
            <a:r>
              <a:t>Emergency procedures specifically address MCAS failures</a:t>
            </a:r>
          </a:p>
          <a:p>
            <a:pPr>
              <a:spcAft>
                <a:spcPts val="600"/>
              </a:spcAft>
              <a:defRPr sz="1800">
                <a:solidFill>
                  <a:srgbClr val="333333"/>
                </a:solidFill>
              </a:defRPr>
            </a:pPr>
            <a:r>
              <a:t>Pilots recognize symptoms immediately</a:t>
            </a:r>
          </a:p>
          <a:p>
            <a:pPr>
              <a:spcAft>
                <a:spcPts val="600"/>
              </a:spcAft>
              <a:defRPr sz="1800">
                <a:solidFill>
                  <a:srgbClr val="333333"/>
                </a:solidFill>
              </a:defRPr>
            </a:pPr>
            <a:r>
              <a:t>Outcome: Even with design flaws, pilots could have recovered → Crashes likely prevented ✓</a:t>
            </a:r>
          </a:p>
          <a:p>
            <a:pPr>
              <a:spcAft>
                <a:spcPts val="1000"/>
              </a:spcAft>
              <a:defRPr sz="1800">
                <a:solidFill>
                  <a:srgbClr val="333333"/>
                </a:solidFill>
              </a:defRPr>
            </a:pPr>
            <a:r>
              <a:t>Preventive Measure #4: Proper Trade Study</a:t>
            </a:r>
          </a:p>
          <a:p>
            <a:pPr>
              <a:spcAft>
                <a:spcPts val="1000"/>
              </a:spcAft>
              <a:defRPr sz="1800">
                <a:solidFill>
                  <a:srgbClr val="333333"/>
                </a:solidFill>
              </a:defRPr>
            </a:pPr>
            <a:r>
              <a:t>IF Boeing had conducted systematic trade study (Session 5):</a:t>
            </a:r>
          </a:p>
          <a:p>
            <a:pPr>
              <a:spcAft>
                <a:spcPts val="600"/>
              </a:spcAft>
              <a:defRPr sz="1800">
                <a:solidFill>
                  <a:srgbClr val="333333"/>
                </a:solidFill>
              </a:defRPr>
            </a:pPr>
            <a:r>
              <a:t>Alternative A: Hide MCAS from pilots (chosen path)</a:t>
            </a:r>
          </a:p>
          <a:p>
            <a:pPr>
              <a:spcAft>
                <a:spcPts val="600"/>
              </a:spcAft>
              <a:defRPr sz="1800">
                <a:solidFill>
                  <a:srgbClr val="333333"/>
                </a:solidFill>
              </a:defRPr>
            </a:pPr>
            <a:r>
              <a:t>Alternative B: Train pilots on MCAS (rejected due to cost)</a:t>
            </a:r>
          </a:p>
          <a:p>
            <a:pPr>
              <a:spcAft>
                <a:spcPts val="600"/>
              </a:spcAft>
              <a:defRPr sz="1800">
                <a:solidFill>
                  <a:srgbClr val="333333"/>
                </a:solidFill>
              </a:defRPr>
            </a:pPr>
            <a:r>
              <a:t>Alternative C: Redesign aircraft physically (rejected due to cost/schedule)</a:t>
            </a:r>
          </a:p>
          <a:p>
            <a:pPr>
              <a:spcAft>
                <a:spcPts val="1000"/>
              </a:spcAft>
              <a:defRPr sz="1800">
                <a:solidFill>
                  <a:srgbClr val="333333"/>
                </a:solidFill>
              </a:defRPr>
            </a:pPr>
            <a:r>
              <a:t>Trade study would quantify safety risk:</a:t>
            </a:r>
          </a:p>
          <a:p>
            <a:pPr>
              <a:spcAft>
                <a:spcPts val="600"/>
              </a:spcAft>
              <a:defRPr sz="1800">
                <a:solidFill>
                  <a:srgbClr val="333333"/>
                </a:solidFill>
              </a:defRPr>
            </a:pPr>
            <a:r>
              <a:t>Alternative A: Risk = P(sensor failure) × P(pilot can't recover) = HIGH</a:t>
            </a:r>
          </a:p>
          <a:p>
            <a:pPr>
              <a:spcAft>
                <a:spcPts val="600"/>
              </a:spcAft>
              <a:defRPr sz="1800">
                <a:solidFill>
                  <a:srgbClr val="333333"/>
                </a:solidFill>
              </a:defRPr>
            </a:pPr>
            <a:r>
              <a:t>Alternative B: Risk = P(sensor failure) × P(trained pilot can't recover) = LOW</a:t>
            </a:r>
          </a:p>
          <a:p>
            <a:pPr>
              <a:spcAft>
                <a:spcPts val="600"/>
              </a:spcAft>
              <a:defRPr sz="1800">
                <a:solidFill>
                  <a:srgbClr val="333333"/>
                </a:solidFill>
              </a:defRPr>
            </a:pPr>
            <a:r>
              <a:t>Outcome: Alternative B selected → Crashes prevented ✓</a:t>
            </a:r>
          </a:p>
          <a:p>
            <a:pPr>
              <a:spcAft>
                <a:spcPts val="1000"/>
              </a:spcAft>
              <a:defRPr sz="1800">
                <a:solidFill>
                  <a:srgbClr val="333333"/>
                </a:solidFill>
              </a:defRPr>
            </a:pPr>
            <a:r>
              <a:t>Preventive Measure #5: Systems Thinking Culture</a:t>
            </a:r>
          </a:p>
          <a:p>
            <a:pPr>
              <a:spcAft>
                <a:spcPts val="1000"/>
              </a:spcAft>
              <a:defRPr sz="1800">
                <a:solidFill>
                  <a:srgbClr val="333333"/>
                </a:solidFill>
              </a:defRPr>
            </a:pPr>
            <a:r>
              <a:t>IF Boeing had maintained systems-level safety review:</a:t>
            </a:r>
          </a:p>
          <a:p>
            <a:pPr>
              <a:spcAft>
                <a:spcPts val="600"/>
              </a:spcAft>
              <a:defRPr sz="1800">
                <a:solidFill>
                  <a:srgbClr val="333333"/>
                </a:solidFill>
              </a:defRPr>
            </a:pPr>
            <a:r>
              <a:t>Chief Systems Engineer reviews complete system</a:t>
            </a:r>
          </a:p>
          <a:p>
            <a:pPr>
              <a:spcAft>
                <a:spcPts val="600"/>
              </a:spcAft>
              <a:defRPr sz="1800">
                <a:solidFill>
                  <a:srgbClr val="333333"/>
                </a:solidFill>
              </a:defRPr>
            </a:pPr>
            <a:r>
              <a:t>Asks: 'What happens if AOA sensor fails?'</a:t>
            </a:r>
          </a:p>
          <a:p>
            <a:pPr>
              <a:spcAft>
                <a:spcPts val="600"/>
              </a:spcAft>
              <a:defRPr sz="1800">
                <a:solidFill>
                  <a:srgbClr val="333333"/>
                </a:solidFill>
              </a:defRPr>
            </a:pPr>
            <a:r>
              <a:t>Simulation shows catastrophic outcome</a:t>
            </a:r>
          </a:p>
          <a:p>
            <a:pPr>
              <a:spcAft>
                <a:spcPts val="600"/>
              </a:spcAft>
              <a:defRPr sz="1800">
                <a:solidFill>
                  <a:srgbClr val="333333"/>
                </a:solidFill>
              </a:defRPr>
            </a:pPr>
            <a:r>
              <a:t>Design change mandated</a:t>
            </a:r>
          </a:p>
          <a:p>
            <a:pPr>
              <a:spcAft>
                <a:spcPts val="600"/>
              </a:spcAft>
              <a:defRPr sz="1800">
                <a:solidFill>
                  <a:srgbClr val="333333"/>
                </a:solidFill>
              </a:defRPr>
            </a:pPr>
            <a:r>
              <a:t>Outcome: System-level hazard identified → Crashes prevented ✓</a:t>
            </a:r>
          </a:p>
          <a:p>
            <a:pPr>
              <a:spcAft>
                <a:spcPts val="1000"/>
              </a:spcAft>
              <a:defRPr sz="1800">
                <a:solidFill>
                  <a:srgbClr val="333333"/>
                </a:solidFill>
              </a:defRPr>
            </a:pPr>
            <a:r>
              <a:t>The Tragic Reality:</a:t>
            </a:r>
          </a:p>
          <a:p>
            <a:pPr>
              <a:spcAft>
                <a:spcPts val="1000"/>
              </a:spcAft>
              <a:defRPr sz="1800">
                <a:solidFill>
                  <a:srgbClr val="333333"/>
                </a:solidFill>
              </a:defRPr>
            </a:pPr>
            <a:r>
              <a:t>Any ONE of these standard systems engineering practices, properly applied, could have prevented 346 deaths.</a:t>
            </a:r>
          </a:p>
          <a:p>
            <a:pPr>
              <a:spcAft>
                <a:spcPts val="1000"/>
              </a:spcAft>
              <a:defRPr sz="1800">
                <a:solidFill>
                  <a:srgbClr val="333333"/>
                </a:solidFill>
              </a:defRPr>
            </a:pPr>
            <a:r>
              <a:t>All of them were skipped or compromised.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Lessons Learned - For Your Career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What can you, as future automotive systems engineers, learn from this tragedy?</a:t>
            </a:r>
          </a:p>
          <a:p>
            <a:pPr>
              <a:spcAft>
                <a:spcPts val="1000"/>
              </a:spcAft>
              <a:defRPr sz="1800">
                <a:solidFill>
                  <a:srgbClr val="333333"/>
                </a:solidFill>
              </a:defRPr>
            </a:pPr>
            <a:r>
              <a:t>LESSON 1: Requirements Are Non-Negotiable — Never skip requirements phase, even under schedule pressure</a:t>
            </a:r>
          </a:p>
          <a:p>
            <a:pPr>
              <a:spcAft>
                <a:spcPts val="600"/>
              </a:spcAft>
              <a:defRPr sz="1800">
                <a:solidFill>
                  <a:srgbClr val="333333"/>
                </a:solidFill>
              </a:defRPr>
            </a:pPr>
            <a:r>
              <a:t>Safety requirements must be complete, verified, traced</a:t>
            </a:r>
          </a:p>
          <a:p>
            <a:pPr>
              <a:spcAft>
                <a:spcPts val="600"/>
              </a:spcAft>
              <a:defRPr sz="1800">
                <a:solidFill>
                  <a:srgbClr val="333333"/>
                </a:solidFill>
              </a:defRPr>
            </a:pPr>
            <a:r>
              <a:t>When design changes, update requirements and re-verify</a:t>
            </a:r>
          </a:p>
          <a:p>
            <a:pPr>
              <a:spcAft>
                <a:spcPts val="600"/>
              </a:spcAft>
              <a:defRPr sz="1800">
                <a:solidFill>
                  <a:srgbClr val="333333"/>
                </a:solidFill>
              </a:defRPr>
            </a:pPr>
            <a:r>
              <a:t>Action: Always ask 'What are the safety requirements?' before designing</a:t>
            </a:r>
          </a:p>
          <a:p>
            <a:pPr>
              <a:spcAft>
                <a:spcPts val="1000"/>
              </a:spcAft>
              <a:defRPr sz="1800">
                <a:solidFill>
                  <a:srgbClr val="333333"/>
                </a:solidFill>
              </a:defRPr>
            </a:pPr>
            <a:r>
              <a:t>LESSON 2: Redundancy Is Not Optional for Safety-Critical Systems — Single points of failure are NEVER acceptable in safety-critical functions</a:t>
            </a:r>
          </a:p>
          <a:p>
            <a:pPr>
              <a:spcAft>
                <a:spcPts val="600"/>
              </a:spcAft>
              <a:defRPr sz="1800">
                <a:solidFill>
                  <a:srgbClr val="333333"/>
                </a:solidFill>
              </a:defRPr>
            </a:pPr>
            <a:r>
              <a:t>If your design has SPOF, redesign or add mitigations</a:t>
            </a:r>
          </a:p>
          <a:p>
            <a:pPr>
              <a:spcAft>
                <a:spcPts val="600"/>
              </a:spcAft>
              <a:defRPr sz="1800">
                <a:solidFill>
                  <a:srgbClr val="333333"/>
                </a:solidFill>
              </a:defRPr>
            </a:pPr>
            <a:r>
              <a:t>Action: In your designs, identify all SPOFs and eliminate them</a:t>
            </a:r>
          </a:p>
          <a:p>
            <a:pPr>
              <a:spcAft>
                <a:spcPts val="1000"/>
              </a:spcAft>
              <a:defRPr sz="1800">
                <a:solidFill>
                  <a:srgbClr val="333333"/>
                </a:solidFill>
              </a:defRPr>
            </a:pPr>
            <a:r>
              <a:t>LESSON 3: Testing Must Include Failure Modes — Testing happy paths is not enough</a:t>
            </a:r>
          </a:p>
          <a:p>
            <a:pPr>
              <a:spcAft>
                <a:spcPts val="600"/>
              </a:spcAft>
              <a:defRPr sz="1800">
                <a:solidFill>
                  <a:srgbClr val="333333"/>
                </a:solidFill>
              </a:defRPr>
            </a:pPr>
            <a:r>
              <a:t>Must test: What happens when things break?</a:t>
            </a:r>
          </a:p>
          <a:p>
            <a:pPr>
              <a:spcAft>
                <a:spcPts val="600"/>
              </a:spcAft>
              <a:defRPr sz="1800">
                <a:solidFill>
                  <a:srgbClr val="333333"/>
                </a:solidFill>
              </a:defRPr>
            </a:pPr>
            <a:r>
              <a:t>Use FMEA, FTA systematically</a:t>
            </a:r>
          </a:p>
          <a:p>
            <a:pPr>
              <a:spcAft>
                <a:spcPts val="600"/>
              </a:spcAft>
              <a:defRPr sz="1800">
                <a:solidFill>
                  <a:srgbClr val="333333"/>
                </a:solidFill>
              </a:defRPr>
            </a:pPr>
            <a:r>
              <a:t>Action: For every sensor, ask 'What if this fails?'</a:t>
            </a:r>
          </a:p>
          <a:p>
            <a:pPr>
              <a:spcAft>
                <a:spcPts val="1000"/>
              </a:spcAft>
              <a:defRPr sz="1800">
                <a:solidFill>
                  <a:srgbClr val="333333"/>
                </a:solidFill>
              </a:defRPr>
            </a:pPr>
            <a:r>
              <a:t>LESSON 4: Humans Are Part of the System — Never design systems that fight the human operator</a:t>
            </a:r>
          </a:p>
          <a:p>
            <a:pPr>
              <a:spcAft>
                <a:spcPts val="600"/>
              </a:spcAft>
              <a:defRPr sz="1800">
                <a:solidFill>
                  <a:srgbClr val="333333"/>
                </a:solidFill>
              </a:defRPr>
            </a:pPr>
            <a:r>
              <a:t>Pilots/drivers must understand what automation is doing</a:t>
            </a:r>
          </a:p>
          <a:p>
            <a:pPr>
              <a:spcAft>
                <a:spcPts val="600"/>
              </a:spcAft>
              <a:defRPr sz="1800">
                <a:solidFill>
                  <a:srgbClr val="333333"/>
                </a:solidFill>
              </a:defRPr>
            </a:pPr>
            <a:r>
              <a:t>Situational awareness is a requirement, not a nice-to-have</a:t>
            </a:r>
          </a:p>
          <a:p>
            <a:pPr>
              <a:spcAft>
                <a:spcPts val="600"/>
              </a:spcAft>
              <a:defRPr sz="1800">
                <a:solidFill>
                  <a:srgbClr val="333333"/>
                </a:solidFill>
              </a:defRPr>
            </a:pPr>
            <a:r>
              <a:t>Action: Include human factors in requirements from day 1</a:t>
            </a:r>
          </a:p>
          <a:p>
            <a:pPr>
              <a:spcAft>
                <a:spcPts val="1000"/>
              </a:spcAft>
              <a:defRPr sz="1800">
                <a:solidFill>
                  <a:srgbClr val="333333"/>
                </a:solidFill>
              </a:defRPr>
            </a:pPr>
            <a:r>
              <a:t>LESSON 5: Stakeholder Prioritization Matters — Commercial pressures exist, but safety stakeholders must have priority</a:t>
            </a:r>
          </a:p>
          <a:p>
            <a:pPr>
              <a:spcAft>
                <a:spcPts val="600"/>
              </a:spcAft>
              <a:defRPr sz="1800">
                <a:solidFill>
                  <a:srgbClr val="333333"/>
                </a:solidFill>
              </a:defRPr>
            </a:pPr>
            <a:r>
              <a:t>When business goals conflict with safety, safety wins</a:t>
            </a:r>
          </a:p>
          <a:p>
            <a:pPr>
              <a:spcAft>
                <a:spcPts val="600"/>
              </a:spcAft>
              <a:defRPr sz="1800">
                <a:solidFill>
                  <a:srgbClr val="333333"/>
                </a:solidFill>
              </a:defRPr>
            </a:pPr>
            <a:r>
              <a:t>Action: If asked to compromise safety for cost/schedule, document your concerns</a:t>
            </a:r>
          </a:p>
          <a:p>
            <a:pPr>
              <a:spcAft>
                <a:spcPts val="1000"/>
              </a:spcAft>
              <a:defRPr sz="1800">
                <a:solidFill>
                  <a:srgbClr val="333333"/>
                </a:solidFill>
              </a:defRPr>
            </a:pPr>
            <a:r>
              <a:t>LESSON 6: Independence of Verification Is Critical — You cannot objectively verify your own design</a:t>
            </a:r>
          </a:p>
          <a:p>
            <a:pPr>
              <a:spcAft>
                <a:spcPts val="600"/>
              </a:spcAft>
              <a:defRPr sz="1800">
                <a:solidFill>
                  <a:srgbClr val="333333"/>
                </a:solidFill>
              </a:defRPr>
            </a:pPr>
            <a:r>
              <a:t>Independent review is not bureaucracy - it's essential</a:t>
            </a:r>
          </a:p>
          <a:p>
            <a:pPr>
              <a:spcAft>
                <a:spcPts val="600"/>
              </a:spcAft>
              <a:defRPr sz="1800">
                <a:solidFill>
                  <a:srgbClr val="333333"/>
                </a:solidFill>
              </a:defRPr>
            </a:pPr>
            <a:r>
              <a:t>Action: Seek independent review, even informally</a:t>
            </a:r>
          </a:p>
          <a:p>
            <a:pPr>
              <a:spcAft>
                <a:spcPts val="1000"/>
              </a:spcAft>
              <a:defRPr sz="1800">
                <a:solidFill>
                  <a:srgbClr val="333333"/>
                </a:solidFill>
              </a:defRPr>
            </a:pPr>
            <a:r>
              <a:t>LESSON 7: Systems Thinking Prevents Emergent Failures — Optimizing parts doesn't optimize the system</a:t>
            </a:r>
          </a:p>
          <a:p>
            <a:pPr>
              <a:spcAft>
                <a:spcPts val="600"/>
              </a:spcAft>
              <a:defRPr sz="1800">
                <a:solidFill>
                  <a:srgbClr val="333333"/>
                </a:solidFill>
              </a:defRPr>
            </a:pPr>
            <a:r>
              <a:t>Someone must own complete system safety</a:t>
            </a:r>
          </a:p>
          <a:p>
            <a:pPr>
              <a:spcAft>
                <a:spcPts val="600"/>
              </a:spcAft>
              <a:defRPr sz="1800">
                <a:solidFill>
                  <a:srgbClr val="333333"/>
                </a:solidFill>
              </a:defRPr>
            </a:pPr>
            <a:r>
              <a:t>Action: Always ask 'How does my component affect the total system?'</a:t>
            </a:r>
          </a:p>
          <a:p>
            <a:pPr>
              <a:spcAft>
                <a:spcPts val="1000"/>
              </a:spcAft>
              <a:defRPr sz="1800">
                <a:solidFill>
                  <a:srgbClr val="333333"/>
                </a:solidFill>
              </a:defRPr>
            </a:pPr>
            <a:r>
              <a:t>LESSON 8: Engineering Integrity Is Your Professional Responsibility — You will face pressure to cut corners</a:t>
            </a:r>
          </a:p>
          <a:p>
            <a:pPr>
              <a:spcAft>
                <a:spcPts val="600"/>
              </a:spcAft>
              <a:defRPr sz="1800">
                <a:solidFill>
                  <a:srgbClr val="333333"/>
                </a:solidFill>
              </a:defRPr>
            </a:pPr>
            <a:r>
              <a:t>Your job is to speak up when safety is compromised</a:t>
            </a:r>
          </a:p>
          <a:p>
            <a:pPr>
              <a:spcAft>
                <a:spcPts val="600"/>
              </a:spcAft>
              <a:defRPr sz="1800">
                <a:solidFill>
                  <a:srgbClr val="333333"/>
                </a:solidFill>
              </a:defRPr>
            </a:pPr>
            <a:r>
              <a:t>346 people died because engineers didn't say 'no'</a:t>
            </a:r>
          </a:p>
          <a:p>
            <a:pPr>
              <a:spcAft>
                <a:spcPts val="600"/>
              </a:spcAft>
              <a:defRPr sz="1800">
                <a:solidFill>
                  <a:srgbClr val="333333"/>
                </a:solidFill>
              </a:defRPr>
            </a:pPr>
            <a:r>
              <a:t>Action: Be prepared to escalate safety concerns, even if unpopular</a:t>
            </a:r>
          </a:p>
          <a:p>
            <a:pPr>
              <a:spcAft>
                <a:spcPts val="1000"/>
              </a:spcAft>
              <a:defRPr sz="1800">
                <a:solidFill>
                  <a:srgbClr val="333333"/>
                </a:solidFill>
              </a:defRPr>
            </a:pPr>
            <a:r>
              <a:t>The Bottom Line:</a:t>
            </a:r>
          </a:p>
          <a:p>
            <a:pPr>
              <a:spcAft>
                <a:spcPts val="1000"/>
              </a:spcAft>
              <a:defRPr sz="1800">
                <a:solidFill>
                  <a:srgbClr val="333333"/>
                </a:solidFill>
              </a:defRPr>
            </a:pPr>
            <a:r>
              <a:t>Systems engineering processes exist to prevent tragedies like this. When we skip them, people die. When we follow them, we save lives.</a:t>
            </a:r>
          </a:p>
          <a:p>
            <a:pPr>
              <a:spcAft>
                <a:spcPts val="1000"/>
              </a:spcAft>
              <a:defRPr sz="1800">
                <a:solidFill>
                  <a:srgbClr val="333333"/>
                </a:solidFill>
              </a:defRPr>
            </a:pPr>
            <a:r>
              <a:t>That's why you're learning this.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Regulatory and Industry Changes - What Changed After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This disaster did result in significant changes. Let's see what the industry and regulators learned:</a:t>
            </a:r>
          </a:p>
          <a:p>
            <a:pPr>
              <a:spcAft>
                <a:spcPts val="1000"/>
              </a:spcAft>
              <a:defRPr sz="1800">
                <a:solidFill>
                  <a:srgbClr val="333333"/>
                </a:solidFill>
              </a:defRPr>
            </a:pPr>
            <a:r>
              <a:t>FAA Reforms:</a:t>
            </a:r>
          </a:p>
          <a:p>
            <a:pPr>
              <a:spcAft>
                <a:spcPts val="1000"/>
              </a:spcAft>
              <a:defRPr sz="1800">
                <a:solidFill>
                  <a:srgbClr val="333333"/>
                </a:solidFill>
              </a:defRPr>
            </a:pPr>
            <a:r>
              <a:t>✓ Reduced delegation: Critical systems no longer self-certified by manufacturers</a:t>
            </a:r>
          </a:p>
          <a:p>
            <a:pPr>
              <a:spcAft>
                <a:spcPts val="1000"/>
              </a:spcAft>
              <a:defRPr sz="1800">
                <a:solidFill>
                  <a:srgbClr val="333333"/>
                </a:solidFill>
              </a:defRPr>
            </a:pPr>
            <a:r>
              <a:t>✓ Human factors review: Mandatory pilot review of automation systems</a:t>
            </a:r>
          </a:p>
          <a:p>
            <a:pPr>
              <a:spcAft>
                <a:spcPts val="1000"/>
              </a:spcAft>
              <a:defRPr sz="1800">
                <a:solidFill>
                  <a:srgbClr val="333333"/>
                </a:solidFill>
              </a:defRPr>
            </a:pPr>
            <a:r>
              <a:t>✓ Safety assessment changes: More rigorous hazard analysis required</a:t>
            </a:r>
          </a:p>
          <a:p>
            <a:pPr>
              <a:spcAft>
                <a:spcPts val="1000"/>
              </a:spcAft>
              <a:defRPr sz="1800">
                <a:solidFill>
                  <a:srgbClr val="333333"/>
                </a:solidFill>
              </a:defRPr>
            </a:pPr>
            <a:r>
              <a:t>✓ Whistleblower protection: Engineers can report safety concerns without retaliation</a:t>
            </a:r>
          </a:p>
          <a:p>
            <a:pPr>
              <a:spcAft>
                <a:spcPts val="1000"/>
              </a:spcAft>
              <a:defRPr sz="1800">
                <a:solidFill>
                  <a:srgbClr val="333333"/>
                </a:solidFill>
              </a:defRPr>
            </a:pPr>
            <a:r>
              <a:t>Boeing Changes (Mandated):</a:t>
            </a:r>
          </a:p>
          <a:p>
            <a:pPr>
              <a:spcAft>
                <a:spcPts val="1000"/>
              </a:spcAft>
              <a:defRPr sz="1800">
                <a:solidFill>
                  <a:srgbClr val="333333"/>
                </a:solidFill>
              </a:defRPr>
            </a:pPr>
            <a:r>
              <a:t>✓ MCAS redesign: Now uses dual AOA sensors with disagree logic</a:t>
            </a:r>
          </a:p>
          <a:p>
            <a:pPr>
              <a:spcAft>
                <a:spcPts val="1000"/>
              </a:spcAft>
              <a:defRPr sz="1800">
                <a:solidFill>
                  <a:srgbClr val="333333"/>
                </a:solidFill>
              </a:defRPr>
            </a:pPr>
            <a:r>
              <a:t>✓ MCAS authority limited: Cannot override pilot inputs</a:t>
            </a:r>
          </a:p>
          <a:p>
            <a:pPr>
              <a:spcAft>
                <a:spcPts val="1000"/>
              </a:spcAft>
              <a:defRPr sz="1800">
                <a:solidFill>
                  <a:srgbClr val="333333"/>
                </a:solidFill>
              </a:defRPr>
            </a:pPr>
            <a:r>
              <a:t>✓ MCAS activation: Single activation per event, not repeated</a:t>
            </a:r>
          </a:p>
          <a:p>
            <a:pPr>
              <a:spcAft>
                <a:spcPts val="1000"/>
              </a:spcAft>
              <a:defRPr sz="1800">
                <a:solidFill>
                  <a:srgbClr val="333333"/>
                </a:solidFill>
              </a:defRPr>
            </a:pPr>
            <a:r>
              <a:t>✓ Pilot training: Mandatory training on MCAS for all 737 MAX pilots</a:t>
            </a:r>
          </a:p>
          <a:p>
            <a:pPr>
              <a:spcAft>
                <a:spcPts val="1000"/>
              </a:spcAft>
              <a:defRPr sz="1800">
                <a:solidFill>
                  <a:srgbClr val="333333"/>
                </a:solidFill>
              </a:defRPr>
            </a:pPr>
            <a:r>
              <a:t>✓ Alerts: AOA disagree alert now standard, not optional</a:t>
            </a:r>
          </a:p>
          <a:p>
            <a:pPr>
              <a:spcAft>
                <a:spcPts val="1000"/>
              </a:spcAft>
              <a:defRPr sz="1800">
                <a:solidFill>
                  <a:srgbClr val="333333"/>
                </a:solidFill>
              </a:defRPr>
            </a:pPr>
            <a:r>
              <a:t>✓ Transparency: Complete documentation of flight control systems</a:t>
            </a:r>
          </a:p>
          <a:p>
            <a:pPr>
              <a:spcAft>
                <a:spcPts val="1000"/>
              </a:spcAft>
              <a:defRPr sz="1800">
                <a:solidFill>
                  <a:srgbClr val="333333"/>
                </a:solidFill>
              </a:defRPr>
            </a:pPr>
            <a:r>
              <a:t>Industry-Wide Changes:</a:t>
            </a:r>
          </a:p>
          <a:p>
            <a:pPr>
              <a:spcAft>
                <a:spcPts val="1000"/>
              </a:spcAft>
              <a:defRPr sz="1800">
                <a:solidFill>
                  <a:srgbClr val="333333"/>
                </a:solidFill>
              </a:defRPr>
            </a:pPr>
            <a:r>
              <a:t>✓ EASA (Europe): Independent certification, doesn't automatically accept FAA certification</a:t>
            </a:r>
          </a:p>
          <a:p>
            <a:pPr>
              <a:spcAft>
                <a:spcPts val="1000"/>
              </a:spcAft>
              <a:defRPr sz="1800">
                <a:solidFill>
                  <a:srgbClr val="333333"/>
                </a:solidFill>
              </a:defRPr>
            </a:pPr>
            <a:r>
              <a:t>✓ Other manufacturers: Review of automation vs pilot authority principles</a:t>
            </a:r>
          </a:p>
          <a:p>
            <a:pPr>
              <a:spcAft>
                <a:spcPts val="1000"/>
              </a:spcAft>
              <a:defRPr sz="1800">
                <a:solidFill>
                  <a:srgbClr val="333333"/>
                </a:solidFill>
              </a:defRPr>
            </a:pPr>
            <a:r>
              <a:t>✓ Systems engineering focus: Renewed emphasis on SE processes in aerospace</a:t>
            </a:r>
          </a:p>
          <a:p>
            <a:pPr>
              <a:spcAft>
                <a:spcPts val="1000"/>
              </a:spcAft>
              <a:defRPr sz="1800">
                <a:solidFill>
                  <a:srgbClr val="333333"/>
                </a:solidFill>
              </a:defRPr>
            </a:pPr>
            <a:r>
              <a:t>What This Means for Automotive:</a:t>
            </a:r>
          </a:p>
          <a:p>
            <a:pPr>
              <a:spcAft>
                <a:spcPts val="1000"/>
              </a:spcAft>
              <a:defRPr sz="1800">
                <a:solidFill>
                  <a:srgbClr val="333333"/>
                </a:solidFill>
              </a:defRPr>
            </a:pPr>
            <a:r>
              <a:t>The same pressures exist in automotive:</a:t>
            </a:r>
          </a:p>
          <a:p>
            <a:pPr>
              <a:spcAft>
                <a:spcPts val="600"/>
              </a:spcAft>
              <a:defRPr sz="1800">
                <a:solidFill>
                  <a:srgbClr val="333333"/>
                </a:solidFill>
              </a:defRPr>
            </a:pPr>
            <a:r>
              <a:t>Time to market pressure</a:t>
            </a:r>
          </a:p>
          <a:p>
            <a:pPr>
              <a:spcAft>
                <a:spcPts val="600"/>
              </a:spcAft>
              <a:defRPr sz="1800">
                <a:solidFill>
                  <a:srgbClr val="333333"/>
                </a:solidFill>
              </a:defRPr>
            </a:pPr>
            <a:r>
              <a:t>Cost optimization pressure</a:t>
            </a:r>
          </a:p>
          <a:p>
            <a:pPr>
              <a:spcAft>
                <a:spcPts val="600"/>
              </a:spcAft>
              <a:defRPr sz="1800">
                <a:solidFill>
                  <a:srgbClr val="333333"/>
                </a:solidFill>
              </a:defRPr>
            </a:pPr>
            <a:r>
              <a:t>Complexity of systems (ADAS, autonomous driving)</a:t>
            </a:r>
          </a:p>
          <a:p>
            <a:pPr>
              <a:spcAft>
                <a:spcPts val="600"/>
              </a:spcAft>
              <a:defRPr sz="1800">
                <a:solidFill>
                  <a:srgbClr val="333333"/>
                </a:solidFill>
              </a:defRPr>
            </a:pPr>
            <a:r>
              <a:t>Software-driven functionality</a:t>
            </a:r>
          </a:p>
          <a:p>
            <a:pPr>
              <a:spcAft>
                <a:spcPts val="1000"/>
              </a:spcAft>
              <a:defRPr sz="1800">
                <a:solidFill>
                  <a:srgbClr val="333333"/>
                </a:solidFill>
              </a:defRPr>
            </a:pPr>
            <a:r>
              <a:t>ISO 26262 (Automotive Functional Safety) exists to prevent this in cars.</a:t>
            </a:r>
          </a:p>
          <a:p>
            <a:pPr>
              <a:spcAft>
                <a:spcPts val="1000"/>
              </a:spcAft>
              <a:defRPr sz="1800">
                <a:solidFill>
                  <a:srgbClr val="333333"/>
                </a:solidFill>
              </a:defRPr>
            </a:pPr>
            <a:r>
              <a:t>Your responsibility: Ensure automotive industry doesn't repeat aerospace mistakes as vehicles become more automated.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Group Work Instructions -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Here's how the next 30 minutes will work:</a:t>
            </a:r>
          </a:p>
          <a:p>
            <a:pPr>
              <a:spcAft>
                <a:spcPts val="1000"/>
              </a:spcAft>
              <a:defRPr sz="1800">
                <a:solidFill>
                  <a:srgbClr val="333333"/>
                </a:solidFill>
              </a:defRPr>
            </a:pPr>
            <a:r>
              <a:t>Step 1: Form Groups (2 minutes) — Groups of 4-5 students</a:t>
            </a:r>
          </a:p>
          <a:p>
            <a:pPr>
              <a:spcAft>
                <a:spcPts val="600"/>
              </a:spcAft>
              <a:defRPr sz="1800">
                <a:solidFill>
                  <a:srgbClr val="333333"/>
                </a:solidFill>
              </a:defRPr>
            </a:pPr>
            <a:r>
              <a:t>Choose a group leader (presents findings)</a:t>
            </a:r>
          </a:p>
          <a:p>
            <a:pPr>
              <a:spcAft>
                <a:spcPts val="1000"/>
              </a:spcAft>
              <a:defRPr sz="1800">
                <a:solidFill>
                  <a:srgbClr val="333333"/>
                </a:solidFill>
              </a:defRPr>
            </a:pPr>
            <a:r>
              <a:t>Step 2: Select Topic (3 minutes) — Each group chooses ONE analysis topic (next slide)</a:t>
            </a:r>
          </a:p>
          <a:p>
            <a:pPr>
              <a:spcAft>
                <a:spcPts val="600"/>
              </a:spcAft>
              <a:defRPr sz="1800">
                <a:solidFill>
                  <a:srgbClr val="333333"/>
                </a:solidFill>
              </a:defRPr>
            </a:pPr>
            <a:r>
              <a:t>No two groups should choose same topic</a:t>
            </a:r>
          </a:p>
          <a:p>
            <a:pPr>
              <a:spcAft>
                <a:spcPts val="1000"/>
              </a:spcAft>
              <a:defRPr sz="1800">
                <a:solidFill>
                  <a:srgbClr val="333333"/>
                </a:solidFill>
              </a:defRPr>
            </a:pPr>
            <a:r>
              <a:t>Step 3: Analysis (20 minutes) — Use frameworks from Sessions 1-5</a:t>
            </a:r>
          </a:p>
          <a:p>
            <a:pPr>
              <a:spcAft>
                <a:spcPts val="600"/>
              </a:spcAft>
              <a:defRPr sz="1800">
                <a:solidFill>
                  <a:srgbClr val="333333"/>
                </a:solidFill>
              </a:defRPr>
            </a:pPr>
            <a:r>
              <a:t>Answer specific questions for your topic</a:t>
            </a:r>
          </a:p>
          <a:p>
            <a:pPr>
              <a:spcAft>
                <a:spcPts val="600"/>
              </a:spcAft>
              <a:defRPr sz="1800">
                <a:solidFill>
                  <a:srgbClr val="333333"/>
                </a:solidFill>
              </a:defRPr>
            </a:pPr>
            <a:r>
              <a:t>Prepare 3-minute presentation</a:t>
            </a:r>
          </a:p>
          <a:p>
            <a:pPr>
              <a:spcAft>
                <a:spcPts val="1000"/>
              </a:spcAft>
              <a:defRPr sz="1800">
                <a:solidFill>
                  <a:srgbClr val="333333"/>
                </a:solidFill>
              </a:defRPr>
            </a:pPr>
            <a:r>
              <a:t>Step 4: Presentation (5 minutes) — Each group presents findings (3 min)</a:t>
            </a:r>
          </a:p>
          <a:p>
            <a:pPr>
              <a:spcAft>
                <a:spcPts val="600"/>
              </a:spcAft>
              <a:defRPr sz="1800">
                <a:solidFill>
                  <a:srgbClr val="333333"/>
                </a:solidFill>
              </a:defRPr>
            </a:pPr>
            <a:r>
              <a:t>Class discussion (2 min)</a:t>
            </a:r>
          </a:p>
          <a:p>
            <a:pPr>
              <a:spcAft>
                <a:spcPts val="1000"/>
              </a:spcAft>
              <a:defRPr sz="1800">
                <a:solidFill>
                  <a:srgbClr val="333333"/>
                </a:solidFill>
              </a:defRPr>
            </a:pPr>
            <a:r>
              <a:t>Deliverable: — Key findings (3-5 points)</a:t>
            </a:r>
          </a:p>
          <a:p>
            <a:pPr>
              <a:spcAft>
                <a:spcPts val="600"/>
              </a:spcAft>
              <a:defRPr sz="1800">
                <a:solidFill>
                  <a:srgbClr val="333333"/>
                </a:solidFill>
              </a:defRPr>
            </a:pPr>
            <a:r>
              <a:t>Systems engineering principles that were violated</a:t>
            </a:r>
          </a:p>
          <a:p>
            <a:pPr>
              <a:spcAft>
                <a:spcPts val="600"/>
              </a:spcAft>
              <a:defRPr sz="1800">
                <a:solidFill>
                  <a:srgbClr val="333333"/>
                </a:solidFill>
              </a:defRPr>
            </a:pPr>
            <a:r>
              <a:t>Specific recommendations that could have prevented failure</a:t>
            </a:r>
          </a:p>
          <a:p>
            <a:pPr>
              <a:spcAft>
                <a:spcPts val="1000"/>
              </a:spcAft>
              <a:defRPr sz="1800">
                <a:solidFill>
                  <a:srgbClr val="333333"/>
                </a:solidFill>
              </a:defRPr>
            </a:pPr>
            <a:r>
              <a:t>You may use: — Your notes from Sessions 1-5</a:t>
            </a:r>
          </a:p>
          <a:p>
            <a:pPr>
              <a:spcAft>
                <a:spcPts val="600"/>
              </a:spcAft>
              <a:defRPr sz="1800">
                <a:solidFill>
                  <a:srgbClr val="333333"/>
                </a:solidFill>
              </a:defRPr>
            </a:pPr>
            <a:r>
              <a:t>Course textbooks</a:t>
            </a:r>
          </a:p>
          <a:p>
            <a:pPr>
              <a:spcAft>
                <a:spcPts val="600"/>
              </a:spcAft>
              <a:defRPr sz="1800">
                <a:solidFill>
                  <a:srgbClr val="333333"/>
                </a:solidFill>
              </a:defRPr>
            </a:pPr>
            <a:r>
              <a:t>Discussion with your group</a:t>
            </a:r>
          </a:p>
          <a:p>
            <a:pPr>
              <a:spcAft>
                <a:spcPts val="1000"/>
              </a:spcAft>
              <a:defRPr sz="1800">
                <a:solidFill>
                  <a:srgbClr val="333333"/>
                </a:solidFill>
              </a:defRPr>
            </a:pPr>
            <a:r>
              <a:t>Let's see the topics.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Group Work Topics - Choose One Per Group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 are the six analysis topics. Each group chooses one:</a:t>
            </a:r>
          </a:p>
          <a:p>
            <a:pPr>
              <a:spcAft>
                <a:spcPts val="1000"/>
              </a:spcAft>
              <a:defRPr sz="1800">
                <a:solidFill>
                  <a:srgbClr val="333333"/>
                </a:solidFill>
              </a:defRPr>
            </a:pPr>
            <a:r>
              <a:t>TOPIC 1: Stakeholder Analysis Deep Dive — Create complete stakeholder map for 737 MAX development</a:t>
            </a:r>
          </a:p>
          <a:p>
            <a:pPr>
              <a:spcAft>
                <a:spcPts val="600"/>
              </a:spcAft>
              <a:defRPr sz="1800">
                <a:solidFill>
                  <a:srgbClr val="333333"/>
                </a:solidFill>
              </a:defRPr>
            </a:pPr>
            <a:r>
              <a:t>Identify stakeholder conflicts (whose needs conflicted?)</a:t>
            </a:r>
          </a:p>
          <a:p>
            <a:pPr>
              <a:spcAft>
                <a:spcPts val="600"/>
              </a:spcAft>
              <a:defRPr sz="1800">
                <a:solidFill>
                  <a:srgbClr val="333333"/>
                </a:solidFill>
              </a:defRPr>
            </a:pPr>
            <a:r>
              <a:t>Propose stakeholder engagement strategy that would have surfaced safety concerns</a:t>
            </a:r>
          </a:p>
          <a:p>
            <a:pPr>
              <a:spcAft>
                <a:spcPts val="600"/>
              </a:spcAft>
              <a:defRPr sz="1800">
                <a:solidFill>
                  <a:srgbClr val="333333"/>
                </a:solidFill>
              </a:defRPr>
            </a:pPr>
            <a:r>
              <a:t>Use: Session 4 stakeholder analysis framework</a:t>
            </a:r>
          </a:p>
          <a:p>
            <a:pPr>
              <a:spcAft>
                <a:spcPts val="1000"/>
              </a:spcAft>
              <a:defRPr sz="1800">
                <a:solidFill>
                  <a:srgbClr val="333333"/>
                </a:solidFill>
              </a:defRPr>
            </a:pPr>
            <a:r>
              <a:t>TOPIC 2: Requirements Engineering Failure Analysis — Write 5 safety requirements that should have existed for MCAS</a:t>
            </a:r>
          </a:p>
          <a:p>
            <a:pPr>
              <a:spcAft>
                <a:spcPts val="600"/>
              </a:spcAft>
              <a:defRPr sz="1800">
                <a:solidFill>
                  <a:srgbClr val="333333"/>
                </a:solidFill>
              </a:defRPr>
            </a:pPr>
            <a:r>
              <a:t>Evaluate each requirement using quality attributes (complete, verifiable, traceable, etc.)</a:t>
            </a:r>
          </a:p>
          <a:p>
            <a:pPr>
              <a:spcAft>
                <a:spcPts val="600"/>
              </a:spcAft>
              <a:defRPr sz="1800">
                <a:solidFill>
                  <a:srgbClr val="333333"/>
                </a:solidFill>
              </a:defRPr>
            </a:pPr>
            <a:r>
              <a:t>Create requirements traceability matrix showing requirements → design → verification</a:t>
            </a:r>
          </a:p>
          <a:p>
            <a:pPr>
              <a:spcAft>
                <a:spcPts val="600"/>
              </a:spcAft>
              <a:defRPr sz="1800">
                <a:solidFill>
                  <a:srgbClr val="333333"/>
                </a:solidFill>
              </a:defRPr>
            </a:pPr>
            <a:r>
              <a:t>Use: Session 4 requirements engineering framework</a:t>
            </a:r>
          </a:p>
          <a:p>
            <a:pPr>
              <a:spcAft>
                <a:spcPts val="1000"/>
              </a:spcAft>
              <a:defRPr sz="1800">
                <a:solidFill>
                  <a:srgbClr val="333333"/>
                </a:solidFill>
              </a:defRPr>
            </a:pPr>
            <a:r>
              <a:t>TOPIC 3: System Architecture Redesign — Identify all single points of failure in MCAS architecture</a:t>
            </a:r>
          </a:p>
          <a:p>
            <a:pPr>
              <a:spcAft>
                <a:spcPts val="600"/>
              </a:spcAft>
              <a:defRPr sz="1800">
                <a:solidFill>
                  <a:srgbClr val="333333"/>
                </a:solidFill>
              </a:defRPr>
            </a:pPr>
            <a:r>
              <a:t>Propose redundant architecture design using aerospace standards</a:t>
            </a:r>
          </a:p>
          <a:p>
            <a:pPr>
              <a:spcAft>
                <a:spcPts val="600"/>
              </a:spcAft>
              <a:defRPr sz="1800">
                <a:solidFill>
                  <a:srgbClr val="333333"/>
                </a:solidFill>
              </a:defRPr>
            </a:pPr>
            <a:r>
              <a:t>Create system architecture diagram showing your proposed design</a:t>
            </a:r>
          </a:p>
          <a:p>
            <a:pPr>
              <a:spcAft>
                <a:spcPts val="600"/>
              </a:spcAft>
              <a:defRPr sz="1800">
                <a:solidFill>
                  <a:srgbClr val="333333"/>
                </a:solidFill>
              </a:defRPr>
            </a:pPr>
            <a:r>
              <a:t>Use: Session 5 architecture principles</a:t>
            </a:r>
          </a:p>
          <a:p>
            <a:pPr>
              <a:spcAft>
                <a:spcPts val="1000"/>
              </a:spcAft>
              <a:defRPr sz="1800">
                <a:solidFill>
                  <a:srgbClr val="333333"/>
                </a:solidFill>
              </a:defRPr>
            </a:pPr>
            <a:r>
              <a:t>TOPIC 4: Verification &amp; Validation Plan — Create V&amp;V plan for MCAS using V-model</a:t>
            </a:r>
          </a:p>
          <a:p>
            <a:pPr>
              <a:spcAft>
                <a:spcPts val="600"/>
              </a:spcAft>
              <a:defRPr sz="1800">
                <a:solidFill>
                  <a:srgbClr val="333333"/>
                </a:solidFill>
              </a:defRPr>
            </a:pPr>
            <a:r>
              <a:t>Identify specific test cases for failure modes (at least 5)</a:t>
            </a:r>
          </a:p>
          <a:p>
            <a:pPr>
              <a:spcAft>
                <a:spcPts val="600"/>
              </a:spcAft>
              <a:defRPr sz="1800">
                <a:solidFill>
                  <a:srgbClr val="333333"/>
                </a:solidFill>
              </a:defRPr>
            </a:pPr>
            <a:r>
              <a:t>Propose independent verification approach</a:t>
            </a:r>
          </a:p>
          <a:p>
            <a:pPr>
              <a:spcAft>
                <a:spcPts val="600"/>
              </a:spcAft>
              <a:defRPr sz="1800">
                <a:solidFill>
                  <a:srgbClr val="333333"/>
                </a:solidFill>
              </a:defRPr>
            </a:pPr>
            <a:r>
              <a:t>Use: Session 2 V-model, Session 8 preview (V&amp;V methods)</a:t>
            </a:r>
          </a:p>
          <a:p>
            <a:pPr>
              <a:spcAft>
                <a:spcPts val="1000"/>
              </a:spcAft>
              <a:defRPr sz="1800">
                <a:solidFill>
                  <a:srgbClr val="333333"/>
                </a:solidFill>
              </a:defRPr>
            </a:pPr>
            <a:r>
              <a:t>TOPIC 5: Human Factors Analysis — Analyze human-system interaction failures</a:t>
            </a:r>
          </a:p>
          <a:p>
            <a:pPr>
              <a:spcAft>
                <a:spcPts val="600"/>
              </a:spcAft>
              <a:defRPr sz="1800">
                <a:solidFill>
                  <a:srgbClr val="333333"/>
                </a:solidFill>
              </a:defRPr>
            </a:pPr>
            <a:r>
              <a:t>Propose pilot training requirements</a:t>
            </a:r>
          </a:p>
          <a:p>
            <a:pPr>
              <a:spcAft>
                <a:spcPts val="600"/>
              </a:spcAft>
              <a:defRPr sz="1800">
                <a:solidFill>
                  <a:srgbClr val="333333"/>
                </a:solidFill>
              </a:defRPr>
            </a:pPr>
            <a:r>
              <a:t>Design cockpit alerts/indications that would have helped pilots</a:t>
            </a:r>
          </a:p>
          <a:p>
            <a:pPr>
              <a:spcAft>
                <a:spcPts val="600"/>
              </a:spcAft>
              <a:defRPr sz="1800">
                <a:solidFill>
                  <a:srgbClr val="333333"/>
                </a:solidFill>
              </a:defRPr>
            </a:pPr>
            <a:r>
              <a:t>Use: Systems thinking from Session 1-2, human-centered design principles</a:t>
            </a:r>
          </a:p>
          <a:p>
            <a:pPr>
              <a:spcAft>
                <a:spcPts val="1000"/>
              </a:spcAft>
              <a:defRPr sz="1800">
                <a:solidFill>
                  <a:srgbClr val="333333"/>
                </a:solidFill>
              </a:defRPr>
            </a:pPr>
            <a:r>
              <a:t>TOPIC 6: Trade Study - Alternative Solutions — Conduct trade study comparing 3 alternatives for handling 737 MAX aerodynamics</a:t>
            </a:r>
          </a:p>
          <a:p>
            <a:pPr>
              <a:spcAft>
                <a:spcPts val="600"/>
              </a:spcAft>
              <a:defRPr sz="1800">
                <a:solidFill>
                  <a:srgbClr val="333333"/>
                </a:solidFill>
              </a:defRPr>
            </a:pPr>
            <a:r>
              <a:t>Alternative 1: MCAS as designed (what happened)</a:t>
            </a:r>
          </a:p>
          <a:p>
            <a:pPr>
              <a:spcAft>
                <a:spcPts val="600"/>
              </a:spcAft>
              <a:defRPr sz="1800">
                <a:solidFill>
                  <a:srgbClr val="333333"/>
                </a:solidFill>
              </a:defRPr>
            </a:pPr>
            <a:r>
              <a:t>Alternative 2: MCAS with full pilot training</a:t>
            </a:r>
          </a:p>
          <a:p>
            <a:pPr>
              <a:spcAft>
                <a:spcPts val="600"/>
              </a:spcAft>
              <a:defRPr sz="1800">
                <a:solidFill>
                  <a:srgbClr val="333333"/>
                </a:solidFill>
              </a:defRPr>
            </a:pPr>
            <a:r>
              <a:t>Alternative 3: Physical redesign (no MCAS)</a:t>
            </a:r>
          </a:p>
          <a:p>
            <a:pPr>
              <a:spcAft>
                <a:spcPts val="600"/>
              </a:spcAft>
              <a:defRPr sz="1800">
                <a:solidFill>
                  <a:srgbClr val="333333"/>
                </a:solidFill>
              </a:defRPr>
            </a:pPr>
            <a:r>
              <a:t>Use trade study methodology: criteria, weighting, scoring</a:t>
            </a:r>
          </a:p>
          <a:p>
            <a:pPr>
              <a:spcAft>
                <a:spcPts val="600"/>
              </a:spcAft>
              <a:defRPr sz="1800">
                <a:solidFill>
                  <a:srgbClr val="333333"/>
                </a:solidFill>
              </a:defRPr>
            </a:pPr>
            <a:r>
              <a:t>Use: Session 5 trade study methods</a:t>
            </a:r>
          </a:p>
          <a:p>
            <a:pPr>
              <a:spcAft>
                <a:spcPts val="1000"/>
              </a:spcAft>
              <a:defRPr sz="1800">
                <a:solidFill>
                  <a:srgbClr val="333333"/>
                </a:solidFill>
              </a:defRPr>
            </a:pPr>
            <a:r>
              <a:t>Choose your topic now and begin analysis!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Analysis Guidance - Key Questions for Each Topic</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Here are specific questions to guide each topic:</a:t>
            </a:r>
          </a:p>
          <a:p>
            <a:pPr>
              <a:spcAft>
                <a:spcPts val="1000"/>
              </a:spcAft>
              <a:defRPr sz="1800">
                <a:solidFill>
                  <a:srgbClr val="333333"/>
                </a:solidFill>
              </a:defRPr>
            </a:pPr>
            <a:r>
              <a:t>For All Topics: — What systems engineering principles were violated?</a:t>
            </a:r>
          </a:p>
          <a:p>
            <a:pPr>
              <a:spcAft>
                <a:spcPts val="600"/>
              </a:spcAft>
              <a:defRPr sz="1800">
                <a:solidFill>
                  <a:srgbClr val="333333"/>
                </a:solidFill>
              </a:defRPr>
            </a:pPr>
            <a:r>
              <a:t>What specific practices could have prevented the failures?</a:t>
            </a:r>
          </a:p>
          <a:p>
            <a:pPr>
              <a:spcAft>
                <a:spcPts val="600"/>
              </a:spcAft>
              <a:defRPr sz="1800">
                <a:solidFill>
                  <a:srgbClr val="333333"/>
                </a:solidFill>
              </a:defRPr>
            </a:pPr>
            <a:r>
              <a:t>How would you verify your recommendations work?</a:t>
            </a:r>
          </a:p>
          <a:p>
            <a:pPr>
              <a:spcAft>
                <a:spcPts val="1000"/>
              </a:spcAft>
              <a:defRPr sz="1800">
                <a:solidFill>
                  <a:srgbClr val="333333"/>
                </a:solidFill>
              </a:defRPr>
            </a:pPr>
            <a:r>
              <a:t>TOPIC 1 (Stakeholder) - Specific Questions: — Which stakeholders had their needs prioritized? Which were ignored?</a:t>
            </a:r>
          </a:p>
          <a:p>
            <a:pPr>
              <a:spcAft>
                <a:spcPts val="600"/>
              </a:spcAft>
              <a:defRPr sz="1800">
                <a:solidFill>
                  <a:srgbClr val="333333"/>
                </a:solidFill>
              </a:defRPr>
            </a:pPr>
            <a:r>
              <a:t>What conflicts existed between stakeholder groups?</a:t>
            </a:r>
          </a:p>
          <a:p>
            <a:pPr>
              <a:spcAft>
                <a:spcPts val="600"/>
              </a:spcAft>
              <a:defRPr sz="1800">
                <a:solidFill>
                  <a:srgbClr val="333333"/>
                </a:solidFill>
              </a:defRPr>
            </a:pPr>
            <a:r>
              <a:t>How would you resolve these conflicts using SE methods?</a:t>
            </a:r>
          </a:p>
          <a:p>
            <a:pPr>
              <a:spcAft>
                <a:spcPts val="1000"/>
              </a:spcAft>
              <a:defRPr sz="1800">
                <a:solidFill>
                  <a:srgbClr val="333333"/>
                </a:solidFill>
              </a:defRPr>
            </a:pPr>
            <a:r>
              <a:t>TOPIC 2 (Requirements) - Specific Questions: — For each requirement you write, identify verification method</a:t>
            </a:r>
          </a:p>
          <a:p>
            <a:pPr>
              <a:spcAft>
                <a:spcPts val="600"/>
              </a:spcAft>
              <a:defRPr sz="1800">
                <a:solidFill>
                  <a:srgbClr val="333333"/>
                </a:solidFill>
              </a:defRPr>
            </a:pPr>
            <a:r>
              <a:t>How would requirements traceability have caught authority increase (0.6° → 2.5°)?</a:t>
            </a:r>
          </a:p>
          <a:p>
            <a:pPr>
              <a:spcAft>
                <a:spcPts val="600"/>
              </a:spcAft>
              <a:defRPr sz="1800">
                <a:solidFill>
                  <a:srgbClr val="333333"/>
                </a:solidFill>
              </a:defRPr>
            </a:pPr>
            <a:r>
              <a:t>What requirements attributes were violated in actual MCAS requirements?</a:t>
            </a:r>
          </a:p>
          <a:p>
            <a:pPr>
              <a:spcAft>
                <a:spcPts val="1000"/>
              </a:spcAft>
              <a:defRPr sz="1800">
                <a:solidFill>
                  <a:srgbClr val="333333"/>
                </a:solidFill>
              </a:defRPr>
            </a:pPr>
            <a:r>
              <a:t>TOPIC 3 (Architecture) - Specific Questions: — How many single points of failure can you identify?</a:t>
            </a:r>
          </a:p>
          <a:p>
            <a:pPr>
              <a:spcAft>
                <a:spcPts val="600"/>
              </a:spcAft>
              <a:defRPr sz="1800">
                <a:solidFill>
                  <a:srgbClr val="333333"/>
                </a:solidFill>
              </a:defRPr>
            </a:pPr>
            <a:r>
              <a:t>What redundancy approach would you use (voting, backup, fail-safe)?</a:t>
            </a:r>
          </a:p>
          <a:p>
            <a:pPr>
              <a:spcAft>
                <a:spcPts val="600"/>
              </a:spcAft>
              <a:defRPr sz="1800">
                <a:solidFill>
                  <a:srgbClr val="333333"/>
                </a:solidFill>
              </a:defRPr>
            </a:pPr>
            <a:r>
              <a:t>How does your architecture handle sensor failures gracefully?</a:t>
            </a:r>
          </a:p>
          <a:p>
            <a:pPr>
              <a:spcAft>
                <a:spcPts val="1000"/>
              </a:spcAft>
              <a:defRPr sz="1800">
                <a:solidFill>
                  <a:srgbClr val="333333"/>
                </a:solidFill>
              </a:defRPr>
            </a:pPr>
            <a:r>
              <a:t>TOPIC 4 (V&amp;V) - Specific Questions: — What failure modes should have been tested?</a:t>
            </a:r>
          </a:p>
          <a:p>
            <a:pPr>
              <a:spcAft>
                <a:spcPts val="600"/>
              </a:spcAft>
              <a:defRPr sz="1800">
                <a:solidFill>
                  <a:srgbClr val="333333"/>
                </a:solidFill>
              </a:defRPr>
            </a:pPr>
            <a:r>
              <a:t>What verification methods would you use (test, analysis, inspection, demo)?</a:t>
            </a:r>
          </a:p>
          <a:p>
            <a:pPr>
              <a:spcAft>
                <a:spcPts val="600"/>
              </a:spcAft>
              <a:defRPr sz="1800">
                <a:solidFill>
                  <a:srgbClr val="333333"/>
                </a:solidFill>
              </a:defRPr>
            </a:pPr>
            <a:r>
              <a:t>How would you ensure independence of verification?</a:t>
            </a:r>
          </a:p>
          <a:p>
            <a:pPr>
              <a:spcAft>
                <a:spcPts val="1000"/>
              </a:spcAft>
              <a:defRPr sz="1800">
                <a:solidFill>
                  <a:srgbClr val="333333"/>
                </a:solidFill>
              </a:defRPr>
            </a:pPr>
            <a:r>
              <a:t>TOPIC 5 (Human Factors) - Specific Questions: — What information did pilots need but didn't have?</a:t>
            </a:r>
          </a:p>
          <a:p>
            <a:pPr>
              <a:spcAft>
                <a:spcPts val="600"/>
              </a:spcAft>
              <a:defRPr sz="1800">
                <a:solidFill>
                  <a:srgbClr val="333333"/>
                </a:solidFill>
              </a:defRPr>
            </a:pPr>
            <a:r>
              <a:t>How would you design pilot-automation interaction?</a:t>
            </a:r>
          </a:p>
          <a:p>
            <a:pPr>
              <a:spcAft>
                <a:spcPts val="600"/>
              </a:spcAft>
              <a:defRPr sz="1800">
                <a:solidFill>
                  <a:srgbClr val="333333"/>
                </a:solidFill>
              </a:defRPr>
            </a:pPr>
            <a:r>
              <a:t>What training would enable pilots to handle failures?</a:t>
            </a:r>
          </a:p>
          <a:p>
            <a:pPr>
              <a:spcAft>
                <a:spcPts val="1000"/>
              </a:spcAft>
              <a:defRPr sz="1800">
                <a:solidFill>
                  <a:srgbClr val="333333"/>
                </a:solidFill>
              </a:defRPr>
            </a:pPr>
            <a:r>
              <a:t>TOPIC 6 (Trade Study) - Specific Questions: — What criteria matter for this decision (safety, cost, schedule, etc.)?</a:t>
            </a:r>
          </a:p>
          <a:p>
            <a:pPr>
              <a:spcAft>
                <a:spcPts val="600"/>
              </a:spcAft>
              <a:defRPr sz="1800">
                <a:solidFill>
                  <a:srgbClr val="333333"/>
                </a:solidFill>
              </a:defRPr>
            </a:pPr>
            <a:r>
              <a:t>How would you weight safety vs. commercial criteria?</a:t>
            </a:r>
          </a:p>
          <a:p>
            <a:pPr>
              <a:spcAft>
                <a:spcPts val="600"/>
              </a:spcAft>
              <a:defRPr sz="1800">
                <a:solidFill>
                  <a:srgbClr val="333333"/>
                </a:solidFill>
              </a:defRPr>
            </a:pPr>
            <a:r>
              <a:t>What would a proper trade study have revealed?</a:t>
            </a:r>
          </a:p>
          <a:p>
            <a:pPr>
              <a:spcAft>
                <a:spcPts val="1000"/>
              </a:spcAft>
              <a:defRPr sz="1800">
                <a:solidFill>
                  <a:srgbClr val="333333"/>
                </a:solidFill>
              </a:defRPr>
            </a:pPr>
            <a:r>
              <a:t>You have 20 minutes. Use your SE tools!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Group Presentations - Share Your Findings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hear what you've discovered. Each group gets 3 minutes to present, then 2 minutes for class questions.</a:t>
            </a:r>
          </a:p>
          <a:p>
            <a:pPr>
              <a:spcAft>
                <a:spcPts val="1000"/>
              </a:spcAft>
              <a:defRPr sz="1800">
                <a:solidFill>
                  <a:srgbClr val="333333"/>
                </a:solidFill>
              </a:defRPr>
            </a:pPr>
            <a:r>
              <a:t>Presentation Format:</a:t>
            </a:r>
          </a:p>
          <a:p>
            <a:pPr>
              <a:spcAft>
                <a:spcPts val="600"/>
              </a:spcAft>
              <a:defRPr sz="1800">
                <a:solidFill>
                  <a:srgbClr val="333333"/>
                </a:solidFill>
              </a:defRPr>
            </a:pPr>
            <a:r>
              <a:t>State your topic and key question</a:t>
            </a:r>
          </a:p>
          <a:p>
            <a:pPr>
              <a:spcAft>
                <a:spcPts val="600"/>
              </a:spcAft>
              <a:defRPr sz="1800">
                <a:solidFill>
                  <a:srgbClr val="333333"/>
                </a:solidFill>
              </a:defRPr>
            </a:pPr>
            <a:r>
              <a:t>Present 3-5 key findings</a:t>
            </a:r>
          </a:p>
          <a:p>
            <a:pPr>
              <a:spcAft>
                <a:spcPts val="600"/>
              </a:spcAft>
              <a:defRPr sz="1800">
                <a:solidFill>
                  <a:srgbClr val="333333"/>
                </a:solidFill>
              </a:defRPr>
            </a:pPr>
            <a:r>
              <a:t>Explain SE principles involved</a:t>
            </a:r>
          </a:p>
          <a:p>
            <a:pPr>
              <a:spcAft>
                <a:spcPts val="600"/>
              </a:spcAft>
              <a:defRPr sz="1800">
                <a:solidFill>
                  <a:srgbClr val="333333"/>
                </a:solidFill>
              </a:defRPr>
            </a:pPr>
            <a:r>
              <a:t>Give specific recommendations</a:t>
            </a:r>
          </a:p>
          <a:p>
            <a:pPr>
              <a:spcAft>
                <a:spcPts val="1000"/>
              </a:spcAft>
              <a:defRPr sz="1800">
                <a:solidFill>
                  <a:srgbClr val="333333"/>
                </a:solidFill>
              </a:defRPr>
            </a:pPr>
            <a:r>
              <a:t>Class: Listen critically. Think about how each analysis connects to others.</a:t>
            </a:r>
          </a:p>
          <a:p>
            <a:pPr>
              <a:spcAft>
                <a:spcPts val="1000"/>
              </a:spcAft>
              <a:defRPr sz="1800">
                <a:solidFill>
                  <a:srgbClr val="333333"/>
                </a:solidFill>
              </a:defRPr>
            </a:pPr>
            <a:r>
              <a:t>Let's begin with Topic 1: Stakeholder Analysis.</a:t>
            </a:r>
          </a:p>
          <a:p>
            <a:pPr>
              <a:spcAft>
                <a:spcPts val="1000"/>
              </a:spcAft>
              <a:defRPr sz="1800">
                <a:solidFill>
                  <a:srgbClr val="333333"/>
                </a:solidFill>
              </a:defRPr>
            </a:pPr>
            <a:r>
              <a:t>[Instructor facilitates presentations]</a:t>
            </a:r>
          </a:p>
          <a:p>
            <a:pPr>
              <a:spcAft>
                <a:spcPts val="1000"/>
              </a:spcAft>
              <a:defRPr sz="1800">
                <a:solidFill>
                  <a:srgbClr val="333333"/>
                </a:solidFill>
              </a:defRPr>
            </a:pPr>
            <a:r>
              <a:t>After each presentation, instructor provides bridging commentary:</a:t>
            </a:r>
          </a:p>
          <a:p>
            <a:pPr>
              <a:spcAft>
                <a:spcPts val="1000"/>
              </a:spcAft>
              <a:defRPr sz="1800">
                <a:solidFill>
                  <a:srgbClr val="333333"/>
                </a:solidFill>
              </a:defRPr>
            </a:pPr>
            <a:r>
              <a:t>Excellent analysis. Notice how [Group X's] findings about [topic] connect directly to [previous group's] findings about [other topic]. This is systems thinking - everything is interconnected.</a:t>
            </a:r>
          </a:p>
          <a:p>
            <a:pPr>
              <a:spcAft>
                <a:spcPts val="1000"/>
              </a:spcAft>
              <a:defRPr sz="1800">
                <a:solidFill>
                  <a:srgbClr val="333333"/>
                </a:solidFill>
              </a:defRPr>
            </a:pPr>
            <a:r>
              <a:t>After all presentations:</a:t>
            </a:r>
          </a:p>
          <a:p>
            <a:pPr>
              <a:spcAft>
                <a:spcPts val="1000"/>
              </a:spcAft>
              <a:defRPr sz="1800">
                <a:solidFill>
                  <a:srgbClr val="333333"/>
                </a:solidFill>
              </a:defRPr>
            </a:pPr>
            <a:r>
              <a:t>Let's look at what we've learned collectively.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Synthesis - Connecting the Analyses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Look at what you've discovered as groups. Let me show you how it all connects:</a:t>
            </a:r>
          </a:p>
          <a:p>
            <a:pPr>
              <a:spcAft>
                <a:spcPts val="1000"/>
              </a:spcAft>
              <a:defRPr sz="1800">
                <a:solidFill>
                  <a:srgbClr val="333333"/>
                </a:solidFill>
              </a:defRPr>
            </a:pPr>
            <a:r>
              <a:t>From Stakeholder Analysis (Topic 1):</a:t>
            </a:r>
          </a:p>
          <a:p>
            <a:pPr>
              <a:spcAft>
                <a:spcPts val="1000"/>
              </a:spcAft>
              <a:defRPr sz="1800">
                <a:solidFill>
                  <a:srgbClr val="333333"/>
                </a:solidFill>
              </a:defRPr>
            </a:pPr>
            <a:r>
              <a:t>You identified that commercial stakeholders were prioritized over safety stakeholders.</a:t>
            </a:r>
          </a:p>
          <a:p>
            <a:pPr>
              <a:spcAft>
                <a:spcPts val="1000"/>
              </a:spcAft>
              <a:defRPr sz="1800">
                <a:solidFill>
                  <a:srgbClr val="333333"/>
                </a:solidFill>
              </a:defRPr>
            </a:pPr>
            <a:r>
              <a:t>This led to Requirements Failures (Topic 2):</a:t>
            </a:r>
          </a:p>
          <a:p>
            <a:pPr>
              <a:spcAft>
                <a:spcPts val="1000"/>
              </a:spcAft>
              <a:defRPr sz="1800">
                <a:solidFill>
                  <a:srgbClr val="333333"/>
                </a:solidFill>
              </a:defRPr>
            </a:pPr>
            <a:r>
              <a:t>Because safety stakeholders (pilots, passengers) weren't involved, critical safety requirements weren't written.</a:t>
            </a:r>
          </a:p>
          <a:p>
            <a:pPr>
              <a:spcAft>
                <a:spcPts val="1000"/>
              </a:spcAft>
              <a:defRPr sz="1800">
                <a:solidFill>
                  <a:srgbClr val="333333"/>
                </a:solidFill>
              </a:defRPr>
            </a:pPr>
            <a:r>
              <a:t>Which resulted in Architecture Failures (Topic 3):</a:t>
            </a:r>
          </a:p>
          <a:p>
            <a:pPr>
              <a:spcAft>
                <a:spcPts val="1000"/>
              </a:spcAft>
              <a:defRPr sz="1800">
                <a:solidFill>
                  <a:srgbClr val="333333"/>
                </a:solidFill>
              </a:defRPr>
            </a:pPr>
            <a:r>
              <a:t>Without proper safety requirements, the architecture had single points of failure.</a:t>
            </a:r>
          </a:p>
          <a:p>
            <a:pPr>
              <a:spcAft>
                <a:spcPts val="1000"/>
              </a:spcAft>
              <a:defRPr sz="1800">
                <a:solidFill>
                  <a:srgbClr val="333333"/>
                </a:solidFill>
              </a:defRPr>
            </a:pPr>
            <a:r>
              <a:t>Which V&amp;V couldn't catch (Topic 4):</a:t>
            </a:r>
          </a:p>
          <a:p>
            <a:pPr>
              <a:spcAft>
                <a:spcPts val="1000"/>
              </a:spcAft>
              <a:defRPr sz="1800">
                <a:solidFill>
                  <a:srgbClr val="333333"/>
                </a:solidFill>
              </a:defRPr>
            </a:pPr>
            <a:r>
              <a:t>Because requirements didn't exist, there was nothing to verify against. Self-certification had conflict of interest.</a:t>
            </a:r>
          </a:p>
          <a:p>
            <a:pPr>
              <a:spcAft>
                <a:spcPts val="1000"/>
              </a:spcAft>
              <a:defRPr sz="1800">
                <a:solidFill>
                  <a:srgbClr val="333333"/>
                </a:solidFill>
              </a:defRPr>
            </a:pPr>
            <a:r>
              <a:t>Creating Human Factors Disasters (Topic 5):</a:t>
            </a:r>
          </a:p>
          <a:p>
            <a:pPr>
              <a:spcAft>
                <a:spcPts val="1000"/>
              </a:spcAft>
              <a:defRPr sz="1800">
                <a:solidFill>
                  <a:srgbClr val="333333"/>
                </a:solidFill>
              </a:defRPr>
            </a:pPr>
            <a:r>
              <a:t>Pilots fighting an undocumented system they didn't understand.</a:t>
            </a:r>
          </a:p>
          <a:p>
            <a:pPr>
              <a:spcAft>
                <a:spcPts val="1000"/>
              </a:spcAft>
              <a:defRPr sz="1800">
                <a:solidFill>
                  <a:srgbClr val="333333"/>
                </a:solidFill>
              </a:defRPr>
            </a:pPr>
            <a:r>
              <a:t>Which a proper Trade Study would have revealed (Topic 6):</a:t>
            </a:r>
          </a:p>
          <a:p>
            <a:pPr>
              <a:spcAft>
                <a:spcPts val="1000"/>
              </a:spcAft>
              <a:defRPr sz="1800">
                <a:solidFill>
                  <a:srgbClr val="333333"/>
                </a:solidFill>
              </a:defRPr>
            </a:pPr>
            <a:r>
              <a:t>Systematic analysis would have shown the safety risks outweighed schedule/cost benefits.</a:t>
            </a:r>
          </a:p>
          <a:p>
            <a:pPr>
              <a:spcAft>
                <a:spcPts val="1000"/>
              </a:spcAft>
              <a:defRPr sz="1800">
                <a:solidFill>
                  <a:srgbClr val="333333"/>
                </a:solidFill>
              </a:defRPr>
            </a:pPr>
            <a:r>
              <a:t>This is SYSTEMS THINKING:</a:t>
            </a:r>
          </a:p>
          <a:p>
            <a:pPr>
              <a:spcAft>
                <a:spcPts val="1000"/>
              </a:spcAft>
              <a:defRPr sz="1800">
                <a:solidFill>
                  <a:srgbClr val="333333"/>
                </a:solidFill>
              </a:defRPr>
            </a:pPr>
            <a:r>
              <a:t>You cannot fix one part in isolation. Failures cascade through the system. Similarly, applying SE principles at any point could have broken the failure chain.</a:t>
            </a:r>
          </a:p>
          <a:p>
            <a:pPr>
              <a:spcAft>
                <a:spcPts val="1000"/>
              </a:spcAft>
              <a:defRPr sz="1800">
                <a:solidFill>
                  <a:srgbClr val="333333"/>
                </a:solidFill>
              </a:defRPr>
            </a:pPr>
            <a:r>
              <a:t>This is why we study systems engineering as an integrated discipline, not separate topics.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Professional Imperative - Your Responsibility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Before we close, I want to talk about professional responsibility.</a:t>
            </a:r>
          </a:p>
          <a:p>
            <a:pPr>
              <a:spcAft>
                <a:spcPts val="1000"/>
              </a:spcAft>
              <a:defRPr sz="1800">
                <a:solidFill>
                  <a:srgbClr val="333333"/>
                </a:solidFill>
              </a:defRPr>
            </a:pPr>
            <a:r>
              <a:t>Boeing had systems engineers. They had SE processes. They had safety engineers.</a:t>
            </a:r>
          </a:p>
          <a:p>
            <a:pPr>
              <a:spcAft>
                <a:spcPts val="1000"/>
              </a:spcAft>
              <a:defRPr sz="1800">
                <a:solidFill>
                  <a:srgbClr val="333333"/>
                </a:solidFill>
              </a:defRPr>
            </a:pPr>
            <a:r>
              <a:t>So why did 346 people die?</a:t>
            </a:r>
          </a:p>
          <a:p>
            <a:pPr>
              <a:spcAft>
                <a:spcPts val="1000"/>
              </a:spcAft>
              <a:defRPr sz="1800">
                <a:solidFill>
                  <a:srgbClr val="333333"/>
                </a:solidFill>
              </a:defRPr>
            </a:pPr>
            <a:r>
              <a:t>Because when those engineers raised concerns, they were overruled by schedule and cost pressures. Some engineers did speak up. They were ignored.</a:t>
            </a:r>
          </a:p>
          <a:p>
            <a:pPr>
              <a:spcAft>
                <a:spcPts val="1000"/>
              </a:spcAft>
              <a:defRPr sz="1800">
                <a:solidFill>
                  <a:srgbClr val="333333"/>
                </a:solidFill>
              </a:defRPr>
            </a:pPr>
            <a:r>
              <a:t>From Congressional testimony and investigations: — Boeing engineers raised concerns about MCAS design → management proceeded anyway</a:t>
            </a:r>
          </a:p>
          <a:p>
            <a:pPr>
              <a:spcAft>
                <a:spcPts val="600"/>
              </a:spcAft>
              <a:defRPr sz="1800">
                <a:solidFill>
                  <a:srgbClr val="333333"/>
                </a:solidFill>
              </a:defRPr>
            </a:pPr>
            <a:r>
              <a:t>Test pilots noted MCAS was 'egregious' → concerns not addressed</a:t>
            </a:r>
          </a:p>
          <a:p>
            <a:pPr>
              <a:spcAft>
                <a:spcPts val="600"/>
              </a:spcAft>
              <a:defRPr sz="1800">
                <a:solidFill>
                  <a:srgbClr val="333333"/>
                </a:solidFill>
              </a:defRPr>
            </a:pPr>
            <a:r>
              <a:t>FAA engineers questioned certification approach → were sidelined</a:t>
            </a:r>
          </a:p>
          <a:p>
            <a:pPr>
              <a:spcAft>
                <a:spcPts val="1000"/>
              </a:spcAft>
              <a:defRPr sz="1800">
                <a:solidFill>
                  <a:srgbClr val="333333"/>
                </a:solidFill>
              </a:defRPr>
            </a:pPr>
            <a:r>
              <a:t>The lesson: Having SE knowledge is not enough. You must have the courage to use it.</a:t>
            </a:r>
          </a:p>
          <a:p>
            <a:pPr>
              <a:spcAft>
                <a:spcPts val="1000"/>
              </a:spcAft>
              <a:defRPr sz="1800">
                <a:solidFill>
                  <a:srgbClr val="333333"/>
                </a:solidFill>
              </a:defRPr>
            </a:pPr>
            <a:r>
              <a:t>Your Professional Responsibility (From Engineering Codes of Ethics):</a:t>
            </a:r>
          </a:p>
          <a:p>
            <a:pPr>
              <a:spcAft>
                <a:spcPts val="600"/>
              </a:spcAft>
              <a:defRPr sz="1800">
                <a:solidFill>
                  <a:srgbClr val="333333"/>
                </a:solidFill>
              </a:defRPr>
            </a:pPr>
            <a:r>
              <a:t>Hold paramount the safety and welfare of the public</a:t>
            </a:r>
          </a:p>
          <a:p>
            <a:pPr>
              <a:spcAft>
                <a:spcPts val="600"/>
              </a:spcAft>
              <a:defRPr sz="1800">
                <a:solidFill>
                  <a:srgbClr val="333333"/>
                </a:solidFill>
              </a:defRPr>
            </a:pPr>
            <a:r>
              <a:t>Perform services only in areas of competence</a:t>
            </a:r>
          </a:p>
          <a:p>
            <a:pPr>
              <a:spcAft>
                <a:spcPts val="600"/>
              </a:spcAft>
              <a:defRPr sz="1800">
                <a:solidFill>
                  <a:srgbClr val="333333"/>
                </a:solidFill>
              </a:defRPr>
            </a:pPr>
            <a:r>
              <a:t>Issue public statements only in objective and truthful manner</a:t>
            </a:r>
          </a:p>
          <a:p>
            <a:pPr>
              <a:spcAft>
                <a:spcPts val="600"/>
              </a:spcAft>
              <a:defRPr sz="1800">
                <a:solidFill>
                  <a:srgbClr val="333333"/>
                </a:solidFill>
              </a:defRPr>
            </a:pPr>
            <a:r>
              <a:t>Act for each employer as faithful agents or trustees</a:t>
            </a:r>
          </a:p>
          <a:p>
            <a:pPr>
              <a:spcAft>
                <a:spcPts val="600"/>
              </a:spcAft>
              <a:defRPr sz="1800">
                <a:solidFill>
                  <a:srgbClr val="333333"/>
                </a:solidFill>
              </a:defRPr>
            </a:pPr>
            <a:r>
              <a:t>Avoid deceptive acts</a:t>
            </a:r>
          </a:p>
          <a:p>
            <a:pPr>
              <a:spcAft>
                <a:spcPts val="600"/>
              </a:spcAft>
              <a:defRPr sz="1800">
                <a:solidFill>
                  <a:srgbClr val="333333"/>
                </a:solidFill>
              </a:defRPr>
            </a:pPr>
            <a:r>
              <a:t>Conduct themselves honorably and ethically</a:t>
            </a:r>
          </a:p>
          <a:p>
            <a:pPr>
              <a:spcAft>
                <a:spcPts val="1000"/>
              </a:spcAft>
              <a:defRPr sz="1800">
                <a:solidFill>
                  <a:srgbClr val="333333"/>
                </a:solidFill>
              </a:defRPr>
            </a:pPr>
            <a:r>
              <a:t>When safety conflicts with business goals, safety must win.</a:t>
            </a:r>
          </a:p>
          <a:p>
            <a:pPr>
              <a:spcAft>
                <a:spcPts val="1000"/>
              </a:spcAft>
              <a:defRPr sz="1800">
                <a:solidFill>
                  <a:srgbClr val="333333"/>
                </a:solidFill>
              </a:defRPr>
            </a:pPr>
            <a:r>
              <a:t>In the automotive industry, you'll face similar pressures: — Launch deadlines for new models</a:t>
            </a:r>
          </a:p>
          <a:p>
            <a:pPr>
              <a:spcAft>
                <a:spcPts val="600"/>
              </a:spcAft>
              <a:defRPr sz="1800">
                <a:solidFill>
                  <a:srgbClr val="333333"/>
                </a:solidFill>
              </a:defRPr>
            </a:pPr>
            <a:r>
              <a:t>Cost targets that squeeze safety margins</a:t>
            </a:r>
          </a:p>
          <a:p>
            <a:pPr>
              <a:spcAft>
                <a:spcPts val="600"/>
              </a:spcAft>
              <a:defRPr sz="1800">
                <a:solidFill>
                  <a:srgbClr val="333333"/>
                </a:solidFill>
              </a:defRPr>
            </a:pPr>
            <a:r>
              <a:t>Pressure to 'just ship it'</a:t>
            </a:r>
          </a:p>
          <a:p>
            <a:pPr>
              <a:spcAft>
                <a:spcPts val="1000"/>
              </a:spcAft>
              <a:defRPr sz="1800">
                <a:solidFill>
                  <a:srgbClr val="333333"/>
                </a:solidFill>
              </a:defRPr>
            </a:pPr>
            <a:r>
              <a:t>Your job is to be the voice for the people who will depend on your system working safely.</a:t>
            </a:r>
          </a:p>
          <a:p>
            <a:pPr>
              <a:spcAft>
                <a:spcPts val="1000"/>
              </a:spcAft>
              <a:defRPr sz="1800">
                <a:solidFill>
                  <a:srgbClr val="333333"/>
                </a:solidFill>
              </a:defRPr>
            </a:pPr>
            <a:r>
              <a:t>346 people are dead because engineers didn't have the final say on safety.</a:t>
            </a:r>
          </a:p>
          <a:p>
            <a:pPr>
              <a:spcAft>
                <a:spcPts val="1000"/>
              </a:spcAft>
              <a:defRPr sz="1800">
                <a:solidFill>
                  <a:srgbClr val="333333"/>
                </a:solidFill>
              </a:defRPr>
            </a:pPr>
            <a:r>
              <a:t>Don't let that be you.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Moving Forward - Applying This to Automotive SE</a:t>
            </a:r>
          </a:p>
        </p:txBody>
      </p:sp>
      <p:sp>
        <p:nvSpPr>
          <p:cNvPr id="3" name="Content Placeholder 2"/>
          <p:cNvSpPr>
            <a:spLocks noGrp="1"/>
          </p:cNvSpPr>
          <p:nvPr>
            <p:ph idx="1"/>
          </p:nvPr>
        </p:nvSpPr>
        <p:spPr/>
        <p:txBody>
          <a:bodyPr/>
          <a:lstStyle/>
          <a:p>
            <a:pPr>
              <a:defRPr sz="2400" b="1">
                <a:solidFill>
                  <a:srgbClr val="2E5090"/>
                </a:solidFill>
              </a:defRPr>
            </a:pPr>
            <a:r>
              <a:t>CONCLUSION: Takeaways and Next Steps (Slides 29-30, ~5 minutes)</a:t>
            </a:r>
          </a:p>
          <a:p>
            <a:pPr>
              <a:spcAft>
                <a:spcPts val="1000"/>
              </a:spcAft>
              <a:defRPr sz="1800">
                <a:solidFill>
                  <a:srgbClr val="333333"/>
                </a:solidFill>
              </a:defRPr>
            </a:pPr>
            <a:r>
              <a:t>Let's bring this home to automotive systems engineering.</a:t>
            </a:r>
          </a:p>
          <a:p>
            <a:pPr>
              <a:spcAft>
                <a:spcPts val="1000"/>
              </a:spcAft>
              <a:defRPr sz="1800">
                <a:solidFill>
                  <a:srgbClr val="333333"/>
                </a:solidFill>
              </a:defRPr>
            </a:pPr>
            <a:r>
              <a:t>Automotive Systems with Similar Risks:</a:t>
            </a:r>
          </a:p>
          <a:p>
            <a:pPr>
              <a:spcAft>
                <a:spcPts val="1000"/>
              </a:spcAft>
              <a:defRPr sz="1800">
                <a:solidFill>
                  <a:srgbClr val="333333"/>
                </a:solidFill>
              </a:defRPr>
            </a:pPr>
            <a:r>
              <a:t>Autonomous Emergency Braking (AEB): — Like MCAS, can override driver</a:t>
            </a:r>
          </a:p>
          <a:p>
            <a:pPr>
              <a:spcAft>
                <a:spcPts val="600"/>
              </a:spcAft>
              <a:defRPr sz="1800">
                <a:solidFill>
                  <a:srgbClr val="333333"/>
                </a:solidFill>
              </a:defRPr>
            </a:pPr>
            <a:r>
              <a:t>What if sensor fails and brakes activate unnecessarily?</a:t>
            </a:r>
          </a:p>
          <a:p>
            <a:pPr>
              <a:spcAft>
                <a:spcPts val="600"/>
              </a:spcAft>
              <a:defRPr sz="1800">
                <a:solidFill>
                  <a:srgbClr val="333333"/>
                </a:solidFill>
              </a:defRPr>
            </a:pPr>
            <a:r>
              <a:t>Do drivers understand when/how system intervenes?</a:t>
            </a:r>
          </a:p>
          <a:p>
            <a:pPr>
              <a:spcAft>
                <a:spcPts val="1000"/>
              </a:spcAft>
              <a:defRPr sz="1800">
                <a:solidFill>
                  <a:srgbClr val="333333"/>
                </a:solidFill>
              </a:defRPr>
            </a:pPr>
            <a:r>
              <a:t>Adaptive Cruise Control (ACC): — Can accelerate/decelerate automatically</a:t>
            </a:r>
          </a:p>
          <a:p>
            <a:pPr>
              <a:spcAft>
                <a:spcPts val="600"/>
              </a:spcAft>
              <a:defRPr sz="1800">
                <a:solidFill>
                  <a:srgbClr val="333333"/>
                </a:solidFill>
              </a:defRPr>
            </a:pPr>
            <a:r>
              <a:t>What if radar sensor fails?</a:t>
            </a:r>
          </a:p>
          <a:p>
            <a:pPr>
              <a:spcAft>
                <a:spcPts val="600"/>
              </a:spcAft>
              <a:defRPr sz="1800">
                <a:solidFill>
                  <a:srgbClr val="333333"/>
                </a:solidFill>
              </a:defRPr>
            </a:pPr>
            <a:r>
              <a:t>Are there redundant sensors with voting logic?</a:t>
            </a:r>
          </a:p>
          <a:p>
            <a:pPr>
              <a:spcAft>
                <a:spcPts val="1000"/>
              </a:spcAft>
              <a:defRPr sz="1800">
                <a:solidFill>
                  <a:srgbClr val="333333"/>
                </a:solidFill>
              </a:defRPr>
            </a:pPr>
            <a:r>
              <a:t>Lane Keeping Assist (LKA): — Can steer vehicle</a:t>
            </a:r>
          </a:p>
          <a:p>
            <a:pPr>
              <a:spcAft>
                <a:spcPts val="600"/>
              </a:spcAft>
              <a:defRPr sz="1800">
                <a:solidFill>
                  <a:srgbClr val="333333"/>
                </a:solidFill>
              </a:defRPr>
            </a:pPr>
            <a:r>
              <a:t>What if camera misreads lane markings?</a:t>
            </a:r>
          </a:p>
          <a:p>
            <a:pPr>
              <a:spcAft>
                <a:spcPts val="600"/>
              </a:spcAft>
              <a:defRPr sz="1800">
                <a:solidFill>
                  <a:srgbClr val="333333"/>
                </a:solidFill>
              </a:defRPr>
            </a:pPr>
            <a:r>
              <a:t>Can driver override? Is override authority always available?</a:t>
            </a:r>
          </a:p>
          <a:p>
            <a:pPr>
              <a:spcAft>
                <a:spcPts val="1000"/>
              </a:spcAft>
              <a:defRPr sz="1800">
                <a:solidFill>
                  <a:srgbClr val="333333"/>
                </a:solidFill>
              </a:defRPr>
            </a:pPr>
            <a:r>
              <a:t>Battery Management System (BMS) in EVs: — Controls high-voltage systems</a:t>
            </a:r>
          </a:p>
          <a:p>
            <a:pPr>
              <a:spcAft>
                <a:spcPts val="600"/>
              </a:spcAft>
              <a:defRPr sz="1800">
                <a:solidFill>
                  <a:srgbClr val="333333"/>
                </a:solidFill>
              </a:defRPr>
            </a:pPr>
            <a:r>
              <a:t>What if temperature sensor fails?</a:t>
            </a:r>
          </a:p>
          <a:p>
            <a:pPr>
              <a:spcAft>
                <a:spcPts val="600"/>
              </a:spcAft>
              <a:defRPr sz="1800">
                <a:solidFill>
                  <a:srgbClr val="333333"/>
                </a:solidFill>
              </a:defRPr>
            </a:pPr>
            <a:r>
              <a:t>Single point of failure could cause thermal runaway</a:t>
            </a:r>
          </a:p>
          <a:p>
            <a:pPr>
              <a:spcAft>
                <a:spcPts val="1000"/>
              </a:spcAft>
              <a:defRPr sz="1800">
                <a:solidFill>
                  <a:srgbClr val="333333"/>
                </a:solidFill>
              </a:defRPr>
            </a:pPr>
            <a:r>
              <a:t>Autonomous Driving Systems: — Highest complexity, highest stakes</a:t>
            </a:r>
          </a:p>
          <a:p>
            <a:pPr>
              <a:spcAft>
                <a:spcPts val="600"/>
              </a:spcAft>
              <a:defRPr sz="1800">
                <a:solidFill>
                  <a:srgbClr val="333333"/>
                </a:solidFill>
              </a:defRPr>
            </a:pPr>
            <a:r>
              <a:t>Multiple sensors, multiple failure modes</a:t>
            </a:r>
          </a:p>
          <a:p>
            <a:pPr>
              <a:spcAft>
                <a:spcPts val="600"/>
              </a:spcAft>
              <a:defRPr sz="1800">
                <a:solidFill>
                  <a:srgbClr val="333333"/>
                </a:solidFill>
              </a:defRPr>
            </a:pPr>
            <a:r>
              <a:t>Human handover challenges (like MCAS, pilots fighting automation)</a:t>
            </a:r>
          </a:p>
          <a:p>
            <a:pPr>
              <a:spcAft>
                <a:spcPts val="1000"/>
              </a:spcAft>
              <a:defRPr sz="1800">
                <a:solidFill>
                  <a:srgbClr val="333333"/>
                </a:solidFill>
              </a:defRPr>
            </a:pPr>
            <a:r>
              <a:t>For Each of These, Ask the MCAS Questions:</a:t>
            </a:r>
          </a:p>
          <a:p>
            <a:pPr>
              <a:spcAft>
                <a:spcPts val="600"/>
              </a:spcAft>
              <a:defRPr sz="1800">
                <a:solidFill>
                  <a:srgbClr val="333333"/>
                </a:solidFill>
              </a:defRPr>
            </a:pPr>
            <a:r>
              <a:t>✓ Are safety requirements complete?</a:t>
            </a:r>
          </a:p>
          <a:p>
            <a:pPr>
              <a:spcAft>
                <a:spcPts val="600"/>
              </a:spcAft>
              <a:defRPr sz="1800">
                <a:solidFill>
                  <a:srgbClr val="333333"/>
                </a:solidFill>
              </a:defRPr>
            </a:pPr>
            <a:r>
              <a:t>✓ Are critical sensors redundant?</a:t>
            </a:r>
          </a:p>
          <a:p>
            <a:pPr>
              <a:spcAft>
                <a:spcPts val="600"/>
              </a:spcAft>
              <a:defRPr sz="1800">
                <a:solidFill>
                  <a:srgbClr val="333333"/>
                </a:solidFill>
              </a:defRPr>
            </a:pPr>
            <a:r>
              <a:t>✓ Are failure modes thoroughly tested?</a:t>
            </a:r>
          </a:p>
          <a:p>
            <a:pPr>
              <a:spcAft>
                <a:spcPts val="600"/>
              </a:spcAft>
              <a:defRPr sz="1800">
                <a:solidFill>
                  <a:srgbClr val="333333"/>
                </a:solidFill>
              </a:defRPr>
            </a:pPr>
            <a:r>
              <a:t>✓ Do human operators understand system behavior?</a:t>
            </a:r>
          </a:p>
          <a:p>
            <a:pPr>
              <a:spcAft>
                <a:spcPts val="600"/>
              </a:spcAft>
              <a:defRPr sz="1800">
                <a:solidFill>
                  <a:srgbClr val="333333"/>
                </a:solidFill>
              </a:defRPr>
            </a:pPr>
            <a:r>
              <a:t>✓ Can humans override when necessary?</a:t>
            </a:r>
          </a:p>
          <a:p>
            <a:pPr>
              <a:spcAft>
                <a:spcPts val="600"/>
              </a:spcAft>
              <a:defRPr sz="1800">
                <a:solidFill>
                  <a:srgbClr val="333333"/>
                </a:solidFill>
              </a:defRPr>
            </a:pPr>
            <a:r>
              <a:t>✓ Is verification independent?</a:t>
            </a:r>
          </a:p>
          <a:p>
            <a:pPr>
              <a:spcAft>
                <a:spcPts val="600"/>
              </a:spcAft>
              <a:defRPr sz="1800">
                <a:solidFill>
                  <a:srgbClr val="333333"/>
                </a:solidFill>
              </a:defRPr>
            </a:pPr>
            <a:r>
              <a:t>✓ Are all stakeholders considered?</a:t>
            </a:r>
          </a:p>
          <a:p>
            <a:pPr>
              <a:spcAft>
                <a:spcPts val="1000"/>
              </a:spcAft>
              <a:defRPr sz="1800">
                <a:solidFill>
                  <a:srgbClr val="333333"/>
                </a:solidFill>
              </a:defRPr>
            </a:pPr>
            <a:r>
              <a:t>If you can't answer 'yes' to all seven questions, you have SE work to do.</a:t>
            </a:r>
          </a:p>
          <a:p>
            <a:pPr>
              <a:spcAft>
                <a:spcPts val="1000"/>
              </a:spcAft>
              <a:defRPr sz="1800">
                <a:solidFill>
                  <a:srgbClr val="333333"/>
                </a:solidFill>
              </a:defRPr>
            </a:pPr>
            <a:r>
              <a:t>ISO 26262 exists to prevent automotive MCAS disasters. Learn it. Use it. Insist on it.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 - What You've Learned Today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summarize what you've accomplished today:</a:t>
            </a:r>
          </a:p>
          <a:p>
            <a:pPr>
              <a:spcAft>
                <a:spcPts val="1000"/>
              </a:spcAft>
              <a:defRPr sz="1800">
                <a:solidFill>
                  <a:srgbClr val="333333"/>
                </a:solidFill>
              </a:defRPr>
            </a:pPr>
            <a:r>
              <a:t>✓ Knowledge: You can now analyze complex system failures using SE frameworks</a:t>
            </a:r>
          </a:p>
          <a:p>
            <a:pPr>
              <a:spcAft>
                <a:spcPts val="1000"/>
              </a:spcAft>
              <a:defRPr sz="1800">
                <a:solidFill>
                  <a:srgbClr val="333333"/>
                </a:solidFill>
              </a:defRPr>
            </a:pPr>
            <a:r>
              <a:t>✓ Skills: You've practiced:</a:t>
            </a:r>
          </a:p>
          <a:p>
            <a:pPr>
              <a:spcAft>
                <a:spcPts val="600"/>
              </a:spcAft>
              <a:defRPr sz="1800">
                <a:solidFill>
                  <a:srgbClr val="333333"/>
                </a:solidFill>
              </a:defRPr>
            </a:pPr>
            <a:r>
              <a:t>Stakeholder analysis</a:t>
            </a:r>
          </a:p>
          <a:p>
            <a:pPr>
              <a:spcAft>
                <a:spcPts val="600"/>
              </a:spcAft>
              <a:defRPr sz="1800">
                <a:solidFill>
                  <a:srgbClr val="333333"/>
                </a:solidFill>
              </a:defRPr>
            </a:pPr>
            <a:r>
              <a:t>Requirements failure analysis</a:t>
            </a:r>
          </a:p>
          <a:p>
            <a:pPr>
              <a:spcAft>
                <a:spcPts val="600"/>
              </a:spcAft>
              <a:defRPr sz="1800">
                <a:solidFill>
                  <a:srgbClr val="333333"/>
                </a:solidFill>
              </a:defRPr>
            </a:pPr>
            <a:r>
              <a:t>Architecture evaluation</a:t>
            </a:r>
          </a:p>
          <a:p>
            <a:pPr>
              <a:spcAft>
                <a:spcPts val="600"/>
              </a:spcAft>
              <a:defRPr sz="1800">
                <a:solidFill>
                  <a:srgbClr val="333333"/>
                </a:solidFill>
              </a:defRPr>
            </a:pPr>
            <a:r>
              <a:t>V&amp;V gap analysis</a:t>
            </a:r>
          </a:p>
          <a:p>
            <a:pPr>
              <a:spcAft>
                <a:spcPts val="600"/>
              </a:spcAft>
              <a:defRPr sz="1800">
                <a:solidFill>
                  <a:srgbClr val="333333"/>
                </a:solidFill>
              </a:defRPr>
            </a:pPr>
            <a:r>
              <a:t>Root cause analysis</a:t>
            </a:r>
          </a:p>
          <a:p>
            <a:pPr>
              <a:spcAft>
                <a:spcPts val="600"/>
              </a:spcAft>
              <a:defRPr sz="1800">
                <a:solidFill>
                  <a:srgbClr val="333333"/>
                </a:solidFill>
              </a:defRPr>
            </a:pPr>
            <a:r>
              <a:t>Systems thinking</a:t>
            </a:r>
          </a:p>
          <a:p>
            <a:pPr>
              <a:spcAft>
                <a:spcPts val="1000"/>
              </a:spcAft>
              <a:defRPr sz="1800">
                <a:solidFill>
                  <a:srgbClr val="333333"/>
                </a:solidFill>
              </a:defRPr>
            </a:pPr>
            <a:r>
              <a:t>✓ Application: You can apply these same methods to automotive systems</a:t>
            </a:r>
          </a:p>
          <a:p>
            <a:pPr>
              <a:spcAft>
                <a:spcPts val="1000"/>
              </a:spcAft>
              <a:defRPr sz="1800">
                <a:solidFill>
                  <a:srgbClr val="333333"/>
                </a:solidFill>
              </a:defRPr>
            </a:pPr>
            <a:r>
              <a:t>✓ Professional Development: You understand engineering responsibility and ethics</a:t>
            </a:r>
          </a:p>
          <a:p>
            <a:pPr>
              <a:spcAft>
                <a:spcPts val="1000"/>
              </a:spcAft>
              <a:defRPr sz="1800">
                <a:solidFill>
                  <a:srgbClr val="333333"/>
                </a:solidFill>
              </a:defRPr>
            </a:pPr>
            <a:r>
              <a:t>Most Importantly:</a:t>
            </a:r>
          </a:p>
          <a:p>
            <a:pPr>
              <a:spcAft>
                <a:spcPts val="1000"/>
              </a:spcAft>
              <a:defRPr sz="1800">
                <a:solidFill>
                  <a:srgbClr val="333333"/>
                </a:solidFill>
              </a:defRPr>
            </a:pPr>
            <a:r>
              <a:t>You've seen what happens when systems engineering principles are ignored. 346 people died because:</a:t>
            </a:r>
          </a:p>
          <a:p>
            <a:pPr>
              <a:spcAft>
                <a:spcPts val="600"/>
              </a:spcAft>
              <a:defRPr sz="1800">
                <a:solidFill>
                  <a:srgbClr val="333333"/>
                </a:solidFill>
              </a:defRPr>
            </a:pPr>
            <a:r>
              <a:t>Requirements were incomplete</a:t>
            </a:r>
          </a:p>
          <a:p>
            <a:pPr>
              <a:spcAft>
                <a:spcPts val="600"/>
              </a:spcAft>
              <a:defRPr sz="1800">
                <a:solidFill>
                  <a:srgbClr val="333333"/>
                </a:solidFill>
              </a:defRPr>
            </a:pPr>
            <a:r>
              <a:t>Stakeholders were ignored</a:t>
            </a:r>
          </a:p>
          <a:p>
            <a:pPr>
              <a:spcAft>
                <a:spcPts val="600"/>
              </a:spcAft>
              <a:defRPr sz="1800">
                <a:solidFill>
                  <a:srgbClr val="333333"/>
                </a:solidFill>
              </a:defRPr>
            </a:pPr>
            <a:r>
              <a:t>Single points of failure existed</a:t>
            </a:r>
          </a:p>
          <a:p>
            <a:pPr>
              <a:spcAft>
                <a:spcPts val="600"/>
              </a:spcAft>
              <a:defRPr sz="1800">
                <a:solidFill>
                  <a:srgbClr val="333333"/>
                </a:solidFill>
              </a:defRPr>
            </a:pPr>
            <a:r>
              <a:t>Verification was inadequate</a:t>
            </a:r>
          </a:p>
          <a:p>
            <a:pPr>
              <a:spcAft>
                <a:spcPts val="600"/>
              </a:spcAft>
              <a:defRPr sz="1800">
                <a:solidFill>
                  <a:srgbClr val="333333"/>
                </a:solidFill>
              </a:defRPr>
            </a:pPr>
            <a:r>
              <a:t>Systems thinking was absent</a:t>
            </a:r>
          </a:p>
          <a:p>
            <a:pPr>
              <a:spcAft>
                <a:spcPts val="600"/>
              </a:spcAft>
              <a:defRPr sz="1800">
                <a:solidFill>
                  <a:srgbClr val="333333"/>
                </a:solidFill>
              </a:defRPr>
            </a:pPr>
            <a:r>
              <a:t>Business pressure overruled safety</a:t>
            </a:r>
          </a:p>
          <a:p>
            <a:pPr>
              <a:spcAft>
                <a:spcPts val="1000"/>
              </a:spcAft>
              <a:defRPr sz="1800">
                <a:solidFill>
                  <a:srgbClr val="333333"/>
                </a:solidFill>
              </a:defRPr>
            </a:pPr>
            <a:r>
              <a:t>Every one of these failures violated principles you learned in Sessions 1-5.</a:t>
            </a:r>
          </a:p>
          <a:p>
            <a:pPr>
              <a:spcAft>
                <a:spcPts val="1000"/>
              </a:spcAft>
              <a:defRPr sz="1800">
                <a:solidFill>
                  <a:srgbClr val="333333"/>
                </a:solidFill>
              </a:defRPr>
            </a:pPr>
            <a:r>
              <a:t>Going Forward:</a:t>
            </a:r>
          </a:p>
          <a:p>
            <a:pPr>
              <a:spcAft>
                <a:spcPts val="1000"/>
              </a:spcAft>
              <a:defRPr sz="1800">
                <a:solidFill>
                  <a:srgbClr val="333333"/>
                </a:solidFill>
              </a:defRPr>
            </a:pPr>
            <a:r>
              <a:t>When you're designing automotive systems:</a:t>
            </a:r>
          </a:p>
          <a:p>
            <a:pPr>
              <a:spcAft>
                <a:spcPts val="600"/>
              </a:spcAft>
              <a:defRPr sz="1800">
                <a:solidFill>
                  <a:srgbClr val="333333"/>
                </a:solidFill>
              </a:defRPr>
            </a:pPr>
            <a:r>
              <a:t>Remember MCAS</a:t>
            </a:r>
          </a:p>
          <a:p>
            <a:pPr>
              <a:spcAft>
                <a:spcPts val="600"/>
              </a:spcAft>
              <a:defRPr sz="1800">
                <a:solidFill>
                  <a:srgbClr val="333333"/>
                </a:solidFill>
              </a:defRPr>
            </a:pPr>
            <a:r>
              <a:t>Apply SE principles rigorously</a:t>
            </a:r>
          </a:p>
          <a:p>
            <a:pPr>
              <a:spcAft>
                <a:spcPts val="600"/>
              </a:spcAft>
              <a:defRPr sz="1800">
                <a:solidFill>
                  <a:srgbClr val="333333"/>
                </a:solidFill>
              </a:defRPr>
            </a:pPr>
            <a:r>
              <a:t>Speak up when you see safety compromised</a:t>
            </a:r>
          </a:p>
          <a:p>
            <a:pPr>
              <a:spcAft>
                <a:spcPts val="600"/>
              </a:spcAft>
              <a:defRPr sz="1800">
                <a:solidFill>
                  <a:srgbClr val="333333"/>
                </a:solidFill>
              </a:defRPr>
            </a:pPr>
            <a:r>
              <a:t>Be the systems engineer who prevents the next disaster</a:t>
            </a:r>
          </a:p>
          <a:p>
            <a:pPr>
              <a:spcAft>
                <a:spcPts val="1000"/>
              </a:spcAft>
              <a:defRPr sz="1800">
                <a:solidFill>
                  <a:srgbClr val="333333"/>
                </a:solidFill>
              </a:defRPr>
            </a:pPr>
            <a:r>
              <a:t>That's why you're here. That's why this matters.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Group Work Materials:</a:t>
            </a:r>
          </a:p>
          <a:p>
            <a:pPr>
              <a:spcAft>
                <a:spcPts val="1000"/>
              </a:spcAft>
              <a:defRPr sz="1800">
                <a:solidFill>
                  <a:srgbClr val="333333"/>
                </a:solidFill>
              </a:defRPr>
            </a:pPr>
            <a:r>
              <a:t>Next Session (Session 7): Operational and Functional Analysis</a:t>
            </a:r>
          </a:p>
          <a:p>
            <a:pPr>
              <a:spcAft>
                <a:spcPts val="1000"/>
              </a:spcAft>
              <a:defRPr sz="1800">
                <a:solidFill>
                  <a:srgbClr val="333333"/>
                </a:solidFill>
              </a:defRPr>
            </a:pPr>
            <a:r>
              <a:t>We'll learn systematic methods for:</a:t>
            </a:r>
          </a:p>
          <a:p>
            <a:pPr>
              <a:spcAft>
                <a:spcPts val="600"/>
              </a:spcAft>
              <a:defRPr sz="1800">
                <a:solidFill>
                  <a:srgbClr val="333333"/>
                </a:solidFill>
              </a:defRPr>
            </a:pPr>
            <a:r>
              <a:t>Operational scenarios and use cases</a:t>
            </a:r>
          </a:p>
          <a:p>
            <a:pPr>
              <a:spcAft>
                <a:spcPts val="600"/>
              </a:spcAft>
              <a:defRPr sz="1800">
                <a:solidFill>
                  <a:srgbClr val="333333"/>
                </a:solidFill>
              </a:defRPr>
            </a:pPr>
            <a:r>
              <a:t>Functional decomposition</a:t>
            </a:r>
          </a:p>
          <a:p>
            <a:pPr>
              <a:spcAft>
                <a:spcPts val="600"/>
              </a:spcAft>
              <a:defRPr sz="1800">
                <a:solidFill>
                  <a:srgbClr val="333333"/>
                </a:solidFill>
              </a:defRPr>
            </a:pPr>
            <a:r>
              <a:t>Functional flow block diagrams (FFBD)</a:t>
            </a:r>
          </a:p>
          <a:p>
            <a:pPr>
              <a:spcAft>
                <a:spcPts val="600"/>
              </a:spcAft>
              <a:defRPr sz="1800">
                <a:solidFill>
                  <a:srgbClr val="333333"/>
                </a:solidFill>
              </a:defRPr>
            </a:pPr>
            <a:r>
              <a:t>Requirements allocation to functions</a:t>
            </a:r>
          </a:p>
          <a:p>
            <a:pPr>
              <a:spcAft>
                <a:spcPts val="1000"/>
              </a:spcAft>
              <a:defRPr sz="1800">
                <a:solidFill>
                  <a:srgbClr val="333333"/>
                </a:solidFill>
              </a:defRPr>
            </a:pPr>
            <a:r>
              <a:t>This is how you prevent the requirements and architecture failures we saw today.</a:t>
            </a:r>
          </a:p>
          <a:p>
            <a:pPr>
              <a:spcAft>
                <a:spcPts val="1000"/>
              </a:spcAft>
              <a:defRPr sz="1800">
                <a:solidFill>
                  <a:srgbClr val="333333"/>
                </a:solidFill>
              </a:defRPr>
            </a:pPr>
            <a:r>
              <a:t>Assignment for Next Class:</a:t>
            </a:r>
          </a:p>
          <a:p>
            <a:pPr>
              <a:spcAft>
                <a:spcPts val="1000"/>
              </a:spcAft>
              <a:defRPr sz="1800">
                <a:solidFill>
                  <a:srgbClr val="333333"/>
                </a:solidFill>
              </a:defRPr>
            </a:pPr>
            <a:r>
              <a:t>Individual Written Analysis (Due before Session 7):</a:t>
            </a:r>
          </a:p>
          <a:p>
            <a:pPr>
              <a:spcAft>
                <a:spcPts val="1000"/>
              </a:spcAft>
              <a:defRPr sz="1800">
                <a:solidFill>
                  <a:srgbClr val="333333"/>
                </a:solidFill>
              </a:defRPr>
            </a:pPr>
            <a:r>
              <a:t>Choose ONE of the following automotive systems:</a:t>
            </a:r>
          </a:p>
          <a:p>
            <a:pPr>
              <a:spcAft>
                <a:spcPts val="600"/>
              </a:spcAft>
              <a:defRPr sz="1800">
                <a:solidFill>
                  <a:srgbClr val="333333"/>
                </a:solidFill>
              </a:defRPr>
            </a:pPr>
            <a:r>
              <a:t>Adaptive Cruise Control (ACC)</a:t>
            </a:r>
          </a:p>
          <a:p>
            <a:pPr>
              <a:spcAft>
                <a:spcPts val="600"/>
              </a:spcAft>
              <a:defRPr sz="1800">
                <a:solidFill>
                  <a:srgbClr val="333333"/>
                </a:solidFill>
              </a:defRPr>
            </a:pPr>
            <a:r>
              <a:t>Automatic Emergency Braking (AEB)</a:t>
            </a:r>
          </a:p>
          <a:p>
            <a:pPr>
              <a:spcAft>
                <a:spcPts val="600"/>
              </a:spcAft>
              <a:defRPr sz="1800">
                <a:solidFill>
                  <a:srgbClr val="333333"/>
                </a:solidFill>
              </a:defRPr>
            </a:pPr>
            <a:r>
              <a:t>Battery Management System (BMS) for EV</a:t>
            </a:r>
          </a:p>
          <a:p>
            <a:pPr>
              <a:spcAft>
                <a:spcPts val="600"/>
              </a:spcAft>
              <a:defRPr sz="1800">
                <a:solidFill>
                  <a:srgbClr val="333333"/>
                </a:solidFill>
              </a:defRPr>
            </a:pPr>
            <a:r>
              <a:t>Electronic Stability Control (ESC)</a:t>
            </a:r>
          </a:p>
          <a:p>
            <a:pPr>
              <a:spcAft>
                <a:spcPts val="1000"/>
              </a:spcAft>
              <a:defRPr sz="1800">
                <a:solidFill>
                  <a:srgbClr val="333333"/>
                </a:solidFill>
              </a:defRPr>
            </a:pPr>
            <a:r>
              <a:t>Your task:</a:t>
            </a:r>
          </a:p>
          <a:p>
            <a:pPr>
              <a:spcAft>
                <a:spcPts val="1000"/>
              </a:spcAft>
              <a:defRPr sz="1800">
                <a:solidFill>
                  <a:srgbClr val="333333"/>
                </a:solidFill>
              </a:defRPr>
            </a:pPr>
            <a:r>
              <a:t>Conduct a MCAS-style failure analysis:</a:t>
            </a:r>
          </a:p>
          <a:p>
            <a:pPr>
              <a:spcAft>
                <a:spcPts val="1000"/>
              </a:spcAft>
              <a:defRPr sz="1800">
                <a:solidFill>
                  <a:srgbClr val="333333"/>
                </a:solidFill>
              </a:defRPr>
            </a:pPr>
            <a:r>
              <a:t>Part 1: Identify potential failure modes (what could go wrong?)</a:t>
            </a:r>
          </a:p>
          <a:p>
            <a:pPr>
              <a:spcAft>
                <a:spcPts val="1000"/>
              </a:spcAft>
              <a:defRPr sz="1800">
                <a:solidFill>
                  <a:srgbClr val="333333"/>
                </a:solidFill>
              </a:defRPr>
            </a:pPr>
            <a:r>
              <a:t>Part 2: Analyze using SE frameworks:</a:t>
            </a:r>
          </a:p>
          <a:p>
            <a:pPr>
              <a:spcAft>
                <a:spcPts val="600"/>
              </a:spcAft>
              <a:defRPr sz="1800">
                <a:solidFill>
                  <a:srgbClr val="333333"/>
                </a:solidFill>
              </a:defRPr>
            </a:pPr>
            <a:r>
              <a:t>Stakeholder impact</a:t>
            </a:r>
          </a:p>
          <a:p>
            <a:pPr>
              <a:spcAft>
                <a:spcPts val="600"/>
              </a:spcAft>
              <a:defRPr sz="1800">
                <a:solidFill>
                  <a:srgbClr val="333333"/>
                </a:solidFill>
              </a:defRPr>
            </a:pPr>
            <a:r>
              <a:t>Requirements that should exist</a:t>
            </a:r>
          </a:p>
          <a:p>
            <a:pPr>
              <a:spcAft>
                <a:spcPts val="600"/>
              </a:spcAft>
              <a:defRPr sz="1800">
                <a:solidFill>
                  <a:srgbClr val="333333"/>
                </a:solidFill>
              </a:defRPr>
            </a:pPr>
            <a:r>
              <a:t>Architecture considerations (redundancy, fail-safe)</a:t>
            </a:r>
          </a:p>
          <a:p>
            <a:pPr>
              <a:spcAft>
                <a:spcPts val="600"/>
              </a:spcAft>
              <a:defRPr sz="1800">
                <a:solidFill>
                  <a:srgbClr val="333333"/>
                </a:solidFill>
              </a:defRPr>
            </a:pPr>
            <a:r>
              <a:t>V&amp;V approaches to catch failures</a:t>
            </a:r>
          </a:p>
          <a:p>
            <a:pPr>
              <a:spcAft>
                <a:spcPts val="1000"/>
              </a:spcAft>
              <a:defRPr sz="1800">
                <a:solidFill>
                  <a:srgbClr val="333333"/>
                </a:solidFill>
              </a:defRPr>
            </a:pPr>
            <a:r>
              <a:t>Part 3: Propose design safeguards to prevent failures</a:t>
            </a:r>
          </a:p>
          <a:p>
            <a:pPr>
              <a:spcAft>
                <a:spcPts val="1000"/>
              </a:spcAft>
              <a:defRPr sz="1800">
                <a:solidFill>
                  <a:srgbClr val="333333"/>
                </a:solidFill>
              </a:defRPr>
            </a:pPr>
            <a:r>
              <a:t>Format: 3-4 pages, use SE frameworks from Sessions 1-5</a:t>
            </a:r>
          </a:p>
          <a:p>
            <a:pPr>
              <a:spcAft>
                <a:spcPts val="1000"/>
              </a:spcAft>
              <a:defRPr sz="1800">
                <a:solidFill>
                  <a:srgbClr val="333333"/>
                </a:solidFill>
              </a:defRPr>
            </a:pPr>
            <a:r>
              <a:t>Purpose: Apply today's lessons to automotive systems</a:t>
            </a:r>
          </a:p>
          <a:p>
            <a:pPr>
              <a:spcAft>
                <a:spcPts val="1000"/>
              </a:spcAft>
              <a:defRPr sz="1800">
                <a:solidFill>
                  <a:srgbClr val="333333"/>
                </a:solidFill>
              </a:defRPr>
            </a:pPr>
            <a:r>
              <a:t>Grading criteria: — Systematic application of SE frameworks (40%)</a:t>
            </a:r>
          </a:p>
          <a:p>
            <a:pPr>
              <a:spcAft>
                <a:spcPts val="600"/>
              </a:spcAft>
              <a:defRPr sz="1800">
                <a:solidFill>
                  <a:srgbClr val="333333"/>
                </a:solidFill>
              </a:defRPr>
            </a:pPr>
            <a:r>
              <a:t>Depth of failure analysis (30%)</a:t>
            </a:r>
          </a:p>
          <a:p>
            <a:pPr>
              <a:spcAft>
                <a:spcPts val="600"/>
              </a:spcAft>
              <a:defRPr sz="1800">
                <a:solidFill>
                  <a:srgbClr val="333333"/>
                </a:solidFill>
              </a:defRPr>
            </a:pPr>
            <a:r>
              <a:t>Practical recommendations (20%)</a:t>
            </a:r>
          </a:p>
          <a:p>
            <a:pPr>
              <a:spcAft>
                <a:spcPts val="600"/>
              </a:spcAft>
              <a:defRPr sz="1800">
                <a:solidFill>
                  <a:srgbClr val="333333"/>
                </a:solidFill>
              </a:defRPr>
            </a:pPr>
            <a:r>
              <a:t>Professional presentation (10%)</a:t>
            </a:r>
          </a:p>
          <a:p>
            <a:pPr>
              <a:spcAft>
                <a:spcPts val="1000"/>
              </a:spcAft>
              <a:defRPr sz="1800">
                <a:solidFill>
                  <a:srgbClr val="333333"/>
                </a:solidFill>
              </a:defRPr>
            </a:pPr>
            <a:r>
              <a:t>This is your chance to demonstrate you can think like a systems safety engineer.</a:t>
            </a:r>
          </a:p>
          <a:p>
            <a:pPr>
              <a:spcAft>
                <a:spcPts val="1000"/>
              </a:spcAft>
              <a:defRPr sz="1800">
                <a:solidFill>
                  <a:srgbClr val="333333"/>
                </a:solidFill>
              </a:defRPr>
            </a:pPr>
            <a:r>
              <a:t>Questions about the assignment or today's session?</a:t>
            </a:r>
          </a:p>
          <a:p>
            <a:pPr>
              <a:spcAft>
                <a:spcPts val="1000"/>
              </a:spcAft>
              <a:defRPr sz="1800">
                <a:solidFill>
                  <a:srgbClr val="333333"/>
                </a:solidFill>
              </a:defRPr>
            </a:pPr>
            <a:r>
              <a:t>We have time for final Q&amp;A. —--</a:t>
            </a:r>
          </a:p>
          <a:p>
            <a:pPr>
              <a:spcAft>
                <a:spcPts val="600"/>
              </a:spcAft>
              <a:defRPr sz="1800">
                <a:solidFill>
                  <a:srgbClr val="333333"/>
                </a:solidFill>
              </a:defRPr>
            </a:pPr>
            <a:r>
              <a:t>Professional and Respectful: This is about a real tragedy - avoid sensationalism</a:t>
            </a:r>
          </a:p>
          <a:p>
            <a:pPr>
              <a:spcAft>
                <a:spcPts val="600"/>
              </a:spcAft>
              <a:defRPr sz="1800">
                <a:solidFill>
                  <a:srgbClr val="333333"/>
                </a:solidFill>
              </a:defRPr>
            </a:pPr>
            <a:r>
              <a:t>Color Scheme: — Blues and grays (professional, trustworthy)</a:t>
            </a:r>
          </a:p>
          <a:p>
            <a:pPr>
              <a:spcAft>
                <a:spcPts val="600"/>
              </a:spcAft>
              <a:defRPr sz="1800">
                <a:solidFill>
                  <a:srgbClr val="333333"/>
                </a:solidFill>
              </a:defRPr>
            </a:pPr>
            <a:r>
              <a:t>Red for failures/warnings</a:t>
            </a:r>
          </a:p>
          <a:p>
            <a:pPr>
              <a:spcAft>
                <a:spcPts val="600"/>
              </a:spcAft>
              <a:defRPr sz="1800">
                <a:solidFill>
                  <a:srgbClr val="333333"/>
                </a:solidFill>
              </a:defRPr>
            </a:pPr>
            <a:r>
              <a:t>Green for corrections/lessons learned</a:t>
            </a:r>
          </a:p>
          <a:p>
            <a:pPr>
              <a:spcAft>
                <a:spcPts val="600"/>
              </a:spcAft>
              <a:defRPr sz="1800">
                <a:solidFill>
                  <a:srgbClr val="333333"/>
                </a:solidFill>
              </a:defRPr>
            </a:pPr>
            <a:r>
              <a:t>Imagery: Use aircraft images respectfully, technical diagrams, avoid graphic crash imagery</a:t>
            </a:r>
          </a:p>
          <a:p>
            <a:pPr>
              <a:spcAft>
                <a:spcPts val="600"/>
              </a:spcAft>
              <a:defRPr sz="1800">
                <a:solidFill>
                  <a:srgbClr val="333333"/>
                </a:solidFill>
              </a:defRPr>
            </a:pPr>
            <a:r>
              <a:t>Slide 3 (Timeline of facts) - Set factual foundation</a:t>
            </a:r>
          </a:p>
          <a:p>
            <a:pPr>
              <a:spcAft>
                <a:spcPts val="600"/>
              </a:spcAft>
              <a:defRPr sz="1800">
                <a:solidFill>
                  <a:srgbClr val="333333"/>
                </a:solidFill>
              </a:defRPr>
            </a:pPr>
            <a:r>
              <a:t>Slide 8 (Design changes table) - The critical evidence</a:t>
            </a:r>
          </a:p>
          <a:p>
            <a:pPr>
              <a:spcAft>
                <a:spcPts val="600"/>
              </a:spcAft>
              <a:defRPr sz="1800">
                <a:solidFill>
                  <a:srgbClr val="333333"/>
                </a:solidFill>
              </a:defRPr>
            </a:pPr>
            <a:r>
              <a:t>Slide 12 (Requirements failures) - Core SE lesson</a:t>
            </a:r>
          </a:p>
          <a:p>
            <a:pPr>
              <a:spcAft>
                <a:spcPts val="600"/>
              </a:spcAft>
              <a:defRPr sz="1800">
                <a:solidFill>
                  <a:srgbClr val="333333"/>
                </a:solidFill>
              </a:defRPr>
            </a:pPr>
            <a:r>
              <a:t>Slide 16 (Root cause synthesis) - The "aha" moment</a:t>
            </a:r>
          </a:p>
          <a:p>
            <a:pPr>
              <a:spcAft>
                <a:spcPts val="600"/>
              </a:spcAft>
              <a:defRPr sz="1800">
                <a:solidFill>
                  <a:srgbClr val="333333"/>
                </a:solidFill>
              </a:defRPr>
            </a:pPr>
            <a:r>
              <a:t>Slide 18 (Lessons learned) - What matters for their careers</a:t>
            </a:r>
          </a:p>
          <a:p>
            <a:pPr>
              <a:spcAft>
                <a:spcPts val="600"/>
              </a:spcAft>
              <a:defRPr sz="1800">
                <a:solidFill>
                  <a:srgbClr val="333333"/>
                </a:solidFill>
              </a:defRPr>
            </a:pPr>
            <a:r>
              <a:t>Slide 27 (Professional responsibility) - Ethical foundation</a:t>
            </a:r>
          </a:p>
          <a:p>
            <a:pPr>
              <a:spcAft>
                <a:spcPts val="600"/>
              </a:spcAft>
              <a:defRPr sz="1800">
                <a:solidFill>
                  <a:srgbClr val="333333"/>
                </a:solidFill>
              </a:defRPr>
            </a:pPr>
            <a:r>
              <a:t>Use builds to reveal information progressively</a:t>
            </a:r>
          </a:p>
          <a:p>
            <a:pPr>
              <a:spcAft>
                <a:spcPts val="600"/>
              </a:spcAft>
              <a:defRPr sz="1800">
                <a:solidFill>
                  <a:srgbClr val="333333"/>
                </a:solidFill>
              </a:defRPr>
            </a:pPr>
            <a:r>
              <a:t>Highlight connections between concepts</a:t>
            </a:r>
          </a:p>
          <a:p>
            <a:pPr>
              <a:spcAft>
                <a:spcPts val="600"/>
              </a:spcAft>
              <a:defRPr sz="1800">
                <a:solidFill>
                  <a:srgbClr val="333333"/>
                </a:solidFill>
              </a:defRPr>
            </a:pPr>
            <a:r>
              <a:t>In comparison tables, highlight differences</a:t>
            </a:r>
          </a:p>
          <a:p>
            <a:pPr>
              <a:spcAft>
                <a:spcPts val="600"/>
              </a:spcAft>
              <a:defRPr sz="1800">
                <a:solidFill>
                  <a:srgbClr val="333333"/>
                </a:solidFill>
              </a:defRPr>
            </a:pPr>
            <a:r>
              <a:t>For failure sequences, use timeline animations</a:t>
            </a:r>
          </a:p>
          <a:p>
            <a:pPr>
              <a:spcAft>
                <a:spcPts val="600"/>
              </a:spcAft>
              <a:defRPr sz="1800">
                <a:solidFill>
                  <a:srgbClr val="333333"/>
                </a:solidFill>
              </a:defRPr>
            </a:pPr>
            <a:r>
              <a:t>MCAS system architecture (inputs/processing/outputs)</a:t>
            </a:r>
          </a:p>
          <a:p>
            <a:pPr>
              <a:spcAft>
                <a:spcPts val="600"/>
              </a:spcAft>
              <a:defRPr sz="1800">
                <a:solidFill>
                  <a:srgbClr val="333333"/>
                </a:solidFill>
              </a:defRPr>
            </a:pPr>
            <a:r>
              <a:t>737 MAX vs 737 NG physical differences</a:t>
            </a:r>
          </a:p>
          <a:p>
            <a:pPr>
              <a:spcAft>
                <a:spcPts val="600"/>
              </a:spcAft>
              <a:defRPr sz="1800">
                <a:solidFill>
                  <a:srgbClr val="333333"/>
                </a:solidFill>
              </a:defRPr>
            </a:pPr>
            <a:r>
              <a:t>V-model showing V&amp;V failures</a:t>
            </a:r>
          </a:p>
          <a:p>
            <a:pPr>
              <a:spcAft>
                <a:spcPts val="600"/>
              </a:spcAft>
              <a:defRPr sz="1800">
                <a:solidFill>
                  <a:srgbClr val="333333"/>
                </a:solidFill>
              </a:defRPr>
            </a:pPr>
            <a:r>
              <a:t>Stakeholder map</a:t>
            </a:r>
          </a:p>
          <a:p>
            <a:pPr>
              <a:spcAft>
                <a:spcPts val="600"/>
              </a:spcAft>
              <a:defRPr sz="1800">
                <a:solidFill>
                  <a:srgbClr val="333333"/>
                </a:solidFill>
              </a:defRPr>
            </a:pPr>
            <a:r>
              <a:t>Root cause fishbone diagram</a:t>
            </a:r>
          </a:p>
          <a:p>
            <a:pPr>
              <a:spcAft>
                <a:spcPts val="600"/>
              </a:spcAft>
              <a:defRPr sz="1800">
                <a:solidFill>
                  <a:srgbClr val="333333"/>
                </a:solidFill>
              </a:defRPr>
            </a:pPr>
            <a:r>
              <a:t>Requirements traceability matrix example</a:t>
            </a:r>
          </a:p>
          <a:p>
            <a:pPr>
              <a:spcAft>
                <a:spcPts val="600"/>
              </a:spcAft>
              <a:defRPr sz="1800">
                <a:solidFill>
                  <a:srgbClr val="333333"/>
                </a:solidFill>
              </a:defRPr>
            </a:pPr>
            <a:r>
              <a:t>Provide handout with topic details, questions, frameworks</a:t>
            </a:r>
          </a:p>
          <a:p>
            <a:pPr>
              <a:spcAft>
                <a:spcPts val="600"/>
              </a:spcAft>
              <a:defRPr sz="1800">
                <a:solidFill>
                  <a:srgbClr val="333333"/>
                </a:solidFill>
              </a:defRPr>
            </a:pPr>
            <a:r>
              <a:t>Include reference to Sessions 1-5 materials</a:t>
            </a:r>
          </a:p>
          <a:p>
            <a:pPr>
              <a:spcAft>
                <a:spcPts val="600"/>
              </a:spcAft>
              <a:defRPr sz="1800">
                <a:solidFill>
                  <a:srgbClr val="333333"/>
                </a:solidFill>
              </a:defRPr>
            </a:pPr>
            <a:r>
              <a:t>Provide template for presentations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Managing Sensitive Discussion:</a:t>
            </a:r>
          </a:p>
          <a:p>
            <a:pPr>
              <a:spcAft>
                <a:spcPts val="1000"/>
              </a:spcAft>
              <a:defRPr sz="1800">
                <a:solidFill>
                  <a:srgbClr val="333333"/>
                </a:solidFill>
              </a:defRPr>
            </a:pPr>
            <a:r>
              <a:t>This session uses Case-Study Interactive Learning to:</a:t>
            </a:r>
          </a:p>
          <a:p>
            <a:pPr>
              <a:spcAft>
                <a:spcPts val="600"/>
              </a:spcAft>
              <a:defRPr sz="1800">
                <a:solidFill>
                  <a:srgbClr val="333333"/>
                </a:solidFill>
              </a:defRPr>
            </a:pPr>
            <a:r>
              <a:t>Apply knowledge: Students use all tools from Sessions 1-5</a:t>
            </a:r>
          </a:p>
          <a:p>
            <a:pPr>
              <a:spcAft>
                <a:spcPts val="600"/>
              </a:spcAft>
              <a:defRPr sz="1800">
                <a:solidFill>
                  <a:srgbClr val="333333"/>
                </a:solidFill>
              </a:defRPr>
            </a:pPr>
            <a:r>
              <a:t>Develop critical thinking: Analyze complex real-world failure</a:t>
            </a:r>
          </a:p>
          <a:p>
            <a:pPr>
              <a:spcAft>
                <a:spcPts val="600"/>
              </a:spcAft>
              <a:defRPr sz="1800">
                <a:solidFill>
                  <a:srgbClr val="333333"/>
                </a:solidFill>
              </a:defRPr>
            </a:pPr>
            <a:r>
              <a:t>Practice collaboration: Group work simulates real engineering</a:t>
            </a:r>
          </a:p>
          <a:p>
            <a:pPr>
              <a:spcAft>
                <a:spcPts val="600"/>
              </a:spcAft>
              <a:defRPr sz="1800">
                <a:solidFill>
                  <a:srgbClr val="333333"/>
                </a:solidFill>
              </a:defRPr>
            </a:pPr>
            <a:r>
              <a:t>Build professional identity: Understand ethical responsibilities</a:t>
            </a:r>
          </a:p>
          <a:p>
            <a:pPr>
              <a:spcAft>
                <a:spcPts val="600"/>
              </a:spcAft>
              <a:defRPr sz="1800">
                <a:solidFill>
                  <a:srgbClr val="333333"/>
                </a:solidFill>
              </a:defRPr>
            </a:pPr>
            <a:r>
              <a:t>This is a real tragedy: Maintain respectful tone throughout</a:t>
            </a:r>
          </a:p>
          <a:p>
            <a:pPr>
              <a:spcAft>
                <a:spcPts val="600"/>
              </a:spcAft>
              <a:defRPr sz="1800">
                <a:solidFill>
                  <a:srgbClr val="333333"/>
                </a:solidFill>
              </a:defRPr>
            </a:pPr>
            <a:r>
              <a:t>Students may be emotionally affected: Acknowledge the human cost</a:t>
            </a:r>
          </a:p>
          <a:p>
            <a:pPr>
              <a:spcAft>
                <a:spcPts val="600"/>
              </a:spcAft>
              <a:defRPr sz="1800">
                <a:solidFill>
                  <a:srgbClr val="333333"/>
                </a:solidFill>
              </a:defRPr>
            </a:pPr>
            <a:r>
              <a:t>Focus on learning, not blame: Emphasize systems failures, not individuals</a:t>
            </a:r>
          </a:p>
          <a:p>
            <a:pPr>
              <a:spcAft>
                <a:spcPts val="600"/>
              </a:spcAft>
              <a:defRPr sz="1800">
                <a:solidFill>
                  <a:srgbClr val="333333"/>
                </a:solidFill>
              </a:defRPr>
            </a:pPr>
            <a:r>
              <a:t>Empower students: They can prevent future tragedies</a:t>
            </a:r>
          </a:p>
          <a:p>
            <a:pPr>
              <a:spcAft>
                <a:spcPts val="600"/>
              </a:spcAft>
              <a:defRPr sz="1800">
                <a:solidFill>
                  <a:srgbClr val="333333"/>
                </a:solidFill>
              </a:defRPr>
            </a:pPr>
            <a:r>
              <a:t>"Was this criminal?" → Yes, Boeing faced criminal charges, paid $2.5B settlement</a:t>
            </a:r>
          </a:p>
          <a:p>
            <a:pPr>
              <a:spcAft>
                <a:spcPts val="600"/>
              </a:spcAft>
              <a:defRPr sz="1800">
                <a:solidFill>
                  <a:srgbClr val="333333"/>
                </a:solidFill>
              </a:defRPr>
            </a:pPr>
            <a:r>
              <a:t>"Why didn't engineers stop it?" → Some tried, were overruled - discuss engineering culture</a:t>
            </a:r>
          </a:p>
          <a:p>
            <a:pPr>
              <a:spcAft>
                <a:spcPts val="600"/>
              </a:spcAft>
              <a:defRPr sz="1800">
                <a:solidFill>
                  <a:srgbClr val="333333"/>
                </a:solidFill>
              </a:defRPr>
            </a:pPr>
            <a:r>
              <a:t>"Is 737 MAX safe now?" → After redesign and training, yes (explain changes)</a:t>
            </a:r>
          </a:p>
          <a:p>
            <a:pPr>
              <a:spcAft>
                <a:spcPts val="600"/>
              </a:spcAft>
              <a:defRPr sz="1800">
                <a:solidFill>
                  <a:srgbClr val="333333"/>
                </a:solidFill>
              </a:defRPr>
            </a:pPr>
            <a:r>
              <a:t>"Could this happen in automotive?" → Yes, if SE principles ignored - that's why we study this</a:t>
            </a:r>
          </a:p>
          <a:p>
            <a:pPr>
              <a:spcAft>
                <a:spcPts val="600"/>
              </a:spcAft>
              <a:defRPr sz="1800">
                <a:solidFill>
                  <a:srgbClr val="333333"/>
                </a:solidFill>
              </a:defRPr>
            </a:pPr>
            <a:r>
              <a:t>"What happened to the people responsible?" → CEO resigned, some engineers testified in Congress</a:t>
            </a:r>
          </a:p>
          <a:p>
            <a:pPr>
              <a:spcAft>
                <a:spcPts val="600"/>
              </a:spcAft>
              <a:defRPr sz="1800">
                <a:solidFill>
                  <a:srgbClr val="333333"/>
                </a:solidFill>
              </a:defRPr>
            </a:pPr>
            <a:r>
              <a:t>Core content (Slides 1-20): ~57 minutes - MUST COVER</a:t>
            </a:r>
          </a:p>
          <a:p>
            <a:pPr>
              <a:spcAft>
                <a:spcPts val="600"/>
              </a:spcAft>
              <a:defRPr sz="1800">
                <a:solidFill>
                  <a:srgbClr val="333333"/>
                </a:solidFill>
              </a:defRPr>
            </a:pPr>
            <a:r>
              <a:t>Group work: 30 minutes - DO NOT SKIP (essential learning)</a:t>
            </a:r>
          </a:p>
          <a:p>
            <a:pPr>
              <a:spcAft>
                <a:spcPts val="600"/>
              </a:spcAft>
              <a:defRPr sz="1800">
                <a:solidFill>
                  <a:srgbClr val="333333"/>
                </a:solidFill>
              </a:defRPr>
            </a:pPr>
            <a:r>
              <a:t>Presentations: Strictly enforce 3 min per group</a:t>
            </a:r>
          </a:p>
          <a:p>
            <a:pPr>
              <a:spcAft>
                <a:spcPts val="600"/>
              </a:spcAft>
              <a:defRPr sz="1800">
                <a:solidFill>
                  <a:srgbClr val="333333"/>
                </a:solidFill>
              </a:defRPr>
            </a:pPr>
            <a:r>
              <a:t>If running short: Reduce instructor analysis depth, keep group work</a:t>
            </a:r>
          </a:p>
          <a:p>
            <a:pPr>
              <a:spcAft>
                <a:spcPts val="600"/>
              </a:spcAft>
              <a:defRPr sz="1800">
                <a:solidFill>
                  <a:srgbClr val="333333"/>
                </a:solidFill>
              </a:defRPr>
            </a:pPr>
            <a:r>
              <a:t>If running long: Reduce some technical details in Slides 10-15</a:t>
            </a:r>
          </a:p>
          <a:p>
            <a:pPr>
              <a:spcAft>
                <a:spcPts val="600"/>
              </a:spcAft>
              <a:defRPr sz="1800">
                <a:solidFill>
                  <a:srgbClr val="333333"/>
                </a:solidFill>
              </a:defRPr>
            </a:pPr>
            <a:r>
              <a:t>Circulate actively: Visit each group, ask probing questions</a:t>
            </a:r>
          </a:p>
          <a:p>
            <a:pPr>
              <a:spcAft>
                <a:spcPts val="600"/>
              </a:spcAft>
              <a:defRPr sz="1800">
                <a:solidFill>
                  <a:srgbClr val="333333"/>
                </a:solidFill>
              </a:defRPr>
            </a:pPr>
            <a:r>
              <a:t>Guide, don't solve: Help them apply frameworks, don't give answers</a:t>
            </a:r>
          </a:p>
          <a:p>
            <a:pPr>
              <a:spcAft>
                <a:spcPts val="600"/>
              </a:spcAft>
              <a:defRPr sz="1800">
                <a:solidFill>
                  <a:srgbClr val="333333"/>
                </a:solidFill>
              </a:defRPr>
            </a:pPr>
            <a:r>
              <a:t>Watch for struggles: If group is stuck, provide example to get them started</a:t>
            </a:r>
          </a:p>
          <a:p>
            <a:pPr>
              <a:spcAft>
                <a:spcPts val="600"/>
              </a:spcAft>
              <a:defRPr sz="1800">
                <a:solidFill>
                  <a:srgbClr val="333333"/>
                </a:solidFill>
              </a:defRPr>
            </a:pPr>
            <a:r>
              <a:t>Encourage depth: Push beyond surface-level analysis</a:t>
            </a:r>
          </a:p>
          <a:p>
            <a:pPr>
              <a:spcAft>
                <a:spcPts val="600"/>
              </a:spcAft>
              <a:defRPr sz="1800">
                <a:solidFill>
                  <a:srgbClr val="333333"/>
                </a:solidFill>
              </a:defRPr>
            </a:pPr>
            <a:r>
              <a:t>Connect to course materials: Remind them of specific Sessions/frameworks</a:t>
            </a:r>
          </a:p>
          <a:p>
            <a:pPr>
              <a:spcAft>
                <a:spcPts val="600"/>
              </a:spcAft>
              <a:defRPr sz="1800">
                <a:solidFill>
                  <a:srgbClr val="333333"/>
                </a:solidFill>
              </a:defRPr>
            </a:pPr>
            <a:r>
              <a:t>Observe group discussions: Are they using SE terminology correctly?</a:t>
            </a:r>
          </a:p>
          <a:p>
            <a:pPr>
              <a:spcAft>
                <a:spcPts val="600"/>
              </a:spcAft>
              <a:defRPr sz="1800">
                <a:solidFill>
                  <a:srgbClr val="333333"/>
                </a:solidFill>
              </a:defRPr>
            </a:pPr>
            <a:r>
              <a:t>Listen to presentations: Do they demonstrate understanding?</a:t>
            </a:r>
          </a:p>
          <a:p>
            <a:pPr>
              <a:spcAft>
                <a:spcPts val="600"/>
              </a:spcAft>
              <a:defRPr sz="1800">
                <a:solidFill>
                  <a:srgbClr val="333333"/>
                </a:solidFill>
              </a:defRPr>
            </a:pPr>
            <a:r>
              <a:t>Note quality of questions: Insightful questions indicate engagement</a:t>
            </a:r>
          </a:p>
          <a:p>
            <a:pPr>
              <a:spcAft>
                <a:spcPts val="600"/>
              </a:spcAft>
              <a:defRPr sz="1800">
                <a:solidFill>
                  <a:srgbClr val="333333"/>
                </a:solidFill>
              </a:defRPr>
            </a:pPr>
            <a:r>
              <a:t>This informs future sessions: Adjust if concepts aren't landing</a:t>
            </a:r>
          </a:p>
          <a:p>
            <a:pPr>
              <a:spcAft>
                <a:spcPts val="600"/>
              </a:spcAft>
              <a:defRPr sz="1800">
                <a:solidFill>
                  <a:srgbClr val="333333"/>
                </a:solidFill>
              </a:defRPr>
            </a:pPr>
            <a:r>
              <a:t>If students become upset: Acknowledge emotions are valid, refocus on learning</a:t>
            </a:r>
          </a:p>
          <a:p>
            <a:pPr>
              <a:spcAft>
                <a:spcPts val="600"/>
              </a:spcAft>
              <a:defRPr sz="1800">
                <a:solidFill>
                  <a:srgbClr val="333333"/>
                </a:solidFill>
              </a:defRPr>
            </a:pPr>
            <a:r>
              <a:t>If debate gets heated: Redirect to evidence-based SE analysis</a:t>
            </a:r>
          </a:p>
          <a:p>
            <a:pPr>
              <a:spcAft>
                <a:spcPts val="600"/>
              </a:spcAft>
              <a:defRPr sz="1800">
                <a:solidFill>
                  <a:srgbClr val="333333"/>
                </a:solidFill>
              </a:defRPr>
            </a:pPr>
            <a:r>
              <a:t>If blame-focused: Emphasize systems thinking, not individual fault</a:t>
            </a:r>
          </a:p>
          <a:p>
            <a:pPr>
              <a:spcAft>
                <a:spcPts val="600"/>
              </a:spcAft>
              <a:defRPr sz="1800">
                <a:solidFill>
                  <a:srgbClr val="333333"/>
                </a:solidFill>
              </a:defRPr>
            </a:pPr>
            <a:r>
              <a:t>Keep it professional: Technical analysis with empathy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Conduct systematic failure analysis using SE frameworks</a:t>
            </a:r>
          </a:p>
          <a:p>
            <a:pPr>
              <a:spcAft>
                <a:spcPts val="600"/>
              </a:spcAft>
              <a:defRPr sz="1800">
                <a:solidFill>
                  <a:srgbClr val="333333"/>
                </a:solidFill>
              </a:defRPr>
            </a:pPr>
            <a:r>
              <a:t>✓ Identify stakeholder, requirements, architecture, V&amp;V failures in complex systems</a:t>
            </a:r>
          </a:p>
          <a:p>
            <a:pPr>
              <a:spcAft>
                <a:spcPts val="600"/>
              </a:spcAft>
              <a:defRPr sz="1800">
                <a:solidFill>
                  <a:srgbClr val="333333"/>
                </a:solidFill>
              </a:defRPr>
            </a:pPr>
            <a:r>
              <a:t>✓ Apply root cause analysis to real-world engineering failures</a:t>
            </a:r>
          </a:p>
          <a:p>
            <a:pPr>
              <a:spcAft>
                <a:spcPts val="600"/>
              </a:spcAft>
              <a:defRPr sz="1800">
                <a:solidFill>
                  <a:srgbClr val="333333"/>
                </a:solidFill>
              </a:defRPr>
            </a:pPr>
            <a:r>
              <a:t>✓ Connect technical decisions to safety outcomes</a:t>
            </a:r>
          </a:p>
          <a:p>
            <a:pPr>
              <a:spcAft>
                <a:spcPts val="600"/>
              </a:spcAft>
              <a:defRPr sz="1800">
                <a:solidFill>
                  <a:srgbClr val="333333"/>
                </a:solidFill>
              </a:defRPr>
            </a:pPr>
            <a:r>
              <a:t>✓ Recognize similar risks in automotive systems</a:t>
            </a:r>
          </a:p>
          <a:p>
            <a:pPr>
              <a:spcAft>
                <a:spcPts val="600"/>
              </a:spcAft>
              <a:defRPr sz="1800">
                <a:solidFill>
                  <a:srgbClr val="333333"/>
                </a:solidFill>
              </a:defRPr>
            </a:pPr>
            <a:r>
              <a:t>✓ Understand professional and ethical responsibilities</a:t>
            </a:r>
          </a:p>
          <a:p>
            <a:pPr>
              <a:spcAft>
                <a:spcPts val="600"/>
              </a:spcAft>
              <a:defRPr sz="1800">
                <a:solidFill>
                  <a:srgbClr val="333333"/>
                </a:solidFill>
              </a:defRPr>
            </a:pPr>
            <a:r>
              <a:t>✓ Work collaboratively on complex technical analysis</a:t>
            </a:r>
          </a:p>
          <a:p>
            <a:pPr>
              <a:spcAft>
                <a:spcPts val="1000"/>
              </a:spcAft>
              <a:defRPr sz="1800">
                <a:solidFill>
                  <a:srgbClr val="333333"/>
                </a:solidFill>
              </a:defRPr>
            </a:pPr>
            <a:r>
              <a:t>Most Importantly:</a:t>
            </a:r>
          </a:p>
          <a:p>
            <a:pPr>
              <a:spcAft>
                <a:spcPts val="1000"/>
              </a:spcAft>
              <a:defRPr sz="1800">
                <a:solidFill>
                  <a:srgbClr val="333333"/>
                </a:solidFill>
              </a:defRPr>
            </a:pPr>
            <a:r>
              <a:t>Students internalize that systems engineering is not academic theory - it's life-and-death practice. When we skip SE processes, people die. When we apply them rigorously, we save lives.</a:t>
            </a:r>
          </a:p>
          <a:p>
            <a:pPr>
              <a:spcAft>
                <a:spcPts val="1000"/>
              </a:spcAft>
              <a:defRPr sz="1800">
                <a:solidFill>
                  <a:srgbClr val="333333"/>
                </a:solidFill>
              </a:defRPr>
            </a:pPr>
            <a:r>
              <a:t>Behavioral Outcome:</a:t>
            </a:r>
          </a:p>
          <a:p>
            <a:pPr>
              <a:spcAft>
                <a:spcPts val="1000"/>
              </a:spcAft>
              <a:defRPr sz="1800">
                <a:solidFill>
                  <a:srgbClr val="333333"/>
                </a:solidFill>
              </a:defRPr>
            </a:pPr>
            <a:r>
              <a:t>In future work, when facing pressure to cut corners, students remember 346 people who died and choose to do engineering right.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Additional Resources for Instructor</a:t>
            </a:r>
          </a:p>
        </p:txBody>
      </p:sp>
      <p:sp>
        <p:nvSpPr>
          <p:cNvPr id="3" name="Content Placeholder 2"/>
          <p:cNvSpPr>
            <a:spLocks noGrp="1"/>
          </p:cNvSpPr>
          <p:nvPr>
            <p:ph idx="1"/>
          </p:nvPr>
        </p:nvSpPr>
        <p:spPr/>
        <p:txBody>
          <a:bodyPr/>
          <a:lstStyle/>
          <a:p>
            <a:pPr>
              <a:defRPr sz="2400" b="1">
                <a:solidFill>
                  <a:srgbClr val="2E5090"/>
                </a:solidFill>
              </a:defRPr>
            </a:pPr>
            <a:r>
              <a:t>Video Resources (if time permits):</a:t>
            </a:r>
          </a:p>
          <a:p>
            <a:pPr>
              <a:spcAft>
                <a:spcPts val="600"/>
              </a:spcAft>
              <a:defRPr sz="1800">
                <a:solidFill>
                  <a:srgbClr val="333333"/>
                </a:solidFill>
              </a:defRPr>
            </a:pPr>
            <a:r>
              <a:t>"Flying Blind" by Peter Robison (detailed Boeing culture investigation)</a:t>
            </a:r>
          </a:p>
          <a:p>
            <a:pPr>
              <a:spcAft>
                <a:spcPts val="600"/>
              </a:spcAft>
              <a:defRPr sz="1800">
                <a:solidFill>
                  <a:srgbClr val="333333"/>
                </a:solidFill>
              </a:defRPr>
            </a:pPr>
            <a:r>
              <a:t>House Committee Report: "The Boeing 737 MAX: Examining the Federal Aviation Administration's Oversight of the Aircraft's Certification" (Sept 2020)</a:t>
            </a:r>
          </a:p>
          <a:p>
            <a:pPr>
              <a:spcAft>
                <a:spcPts val="600"/>
              </a:spcAft>
              <a:defRPr sz="1800">
                <a:solidFill>
                  <a:srgbClr val="333333"/>
                </a:solidFill>
              </a:defRPr>
            </a:pPr>
            <a:r>
              <a:t>JATR Report: Joint Authorities Technical Review of Boeing 737 MAX (Oct 2019)</a:t>
            </a:r>
          </a:p>
          <a:p>
            <a:pPr>
              <a:spcAft>
                <a:spcPts val="600"/>
              </a:spcAft>
              <a:defRPr sz="1800">
                <a:solidFill>
                  <a:srgbClr val="333333"/>
                </a:solidFill>
              </a:defRPr>
            </a:pPr>
            <a:r>
              <a:t>Indonesian KNKT Report: Aircraft Accident Investigation Report, Lion Air Flight 610</a:t>
            </a:r>
          </a:p>
          <a:p>
            <a:pPr>
              <a:spcAft>
                <a:spcPts val="600"/>
              </a:spcAft>
              <a:defRPr sz="1800">
                <a:solidFill>
                  <a:srgbClr val="333333"/>
                </a:solidFill>
              </a:defRPr>
            </a:pPr>
            <a:r>
              <a:t>Ethiopian AAIC Report: Aircraft Accident Investigation Bureau Interim Report, Ethiopian Airlines Flight 302</a:t>
            </a:r>
          </a:p>
          <a:p>
            <a:pPr>
              <a:spcAft>
                <a:spcPts val="600"/>
              </a:spcAft>
              <a:defRPr sz="1800">
                <a:solidFill>
                  <a:srgbClr val="333333"/>
                </a:solidFill>
              </a:defRPr>
            </a:pPr>
            <a:r>
              <a:t>ISO/IEC 15288: Systems and software engineering - System life cycle processes</a:t>
            </a:r>
          </a:p>
          <a:p>
            <a:pPr>
              <a:spcAft>
                <a:spcPts val="600"/>
              </a:spcAft>
              <a:defRPr sz="1800">
                <a:solidFill>
                  <a:srgbClr val="333333"/>
                </a:solidFill>
              </a:defRPr>
            </a:pPr>
            <a:r>
              <a:t>SAE ARP4754A: Guidelines for Development of Civil Aircraft and Systems</a:t>
            </a:r>
          </a:p>
          <a:p>
            <a:pPr>
              <a:spcAft>
                <a:spcPts val="600"/>
              </a:spcAft>
              <a:defRPr sz="1800">
                <a:solidFill>
                  <a:srgbClr val="333333"/>
                </a:solidFill>
              </a:defRPr>
            </a:pPr>
            <a:r>
              <a:t>ISO 26262: Road vehicles - Functional safety (automotive parallel)</a:t>
            </a:r>
          </a:p>
          <a:p>
            <a:pPr>
              <a:spcAft>
                <a:spcPts val="600"/>
              </a:spcAft>
              <a:defRPr sz="1800">
                <a:solidFill>
                  <a:srgbClr val="333333"/>
                </a:solidFill>
              </a:defRPr>
            </a:pPr>
            <a:r>
              <a:t>FAA AC 25.1309-1A: System Design and Analysis</a:t>
            </a:r>
          </a:p>
          <a:p>
            <a:pPr>
              <a:spcAft>
                <a:spcPts val="600"/>
              </a:spcAft>
              <a:defRPr sz="1800">
                <a:solidFill>
                  <a:srgbClr val="333333"/>
                </a:solidFill>
              </a:defRPr>
            </a:pPr>
            <a:r>
              <a:t>Congressional testimony excerpts (powerful for showing real-world impact)</a:t>
            </a:r>
          </a:p>
          <a:p>
            <a:pPr>
              <a:spcAft>
                <a:spcPts val="600"/>
              </a:spcAft>
              <a:defRPr sz="1800">
                <a:solidFill>
                  <a:srgbClr val="333333"/>
                </a:solidFill>
              </a:defRPr>
            </a:pPr>
            <a:r>
              <a:t>Simulator recreation of accidents (if used, brief and respectful)</a:t>
            </a:r>
          </a:p>
          <a:p>
            <a:pPr>
              <a:spcAft>
                <a:spcPts val="600"/>
              </a:spcAft>
              <a:defRPr sz="1800">
                <a:solidFill>
                  <a:srgbClr val="333333"/>
                </a:solidFill>
              </a:defRPr>
            </a:pPr>
            <a:r>
              <a:t>60 Minutes investigation (search "Boeing 737 MAX 60 Minutes")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Connection to Future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This case study will be referenced in: — Session 7 (Operational/Functional Analysis): "How functional decomposition could have revealed MCAS risks</a:t>
            </a:r>
          </a:p>
          <a:p>
            <a:pPr>
              <a:spcAft>
                <a:spcPts val="600"/>
              </a:spcAft>
              <a:defRPr sz="1800">
                <a:solidFill>
                  <a:srgbClr val="333333"/>
                </a:solidFill>
              </a:defRPr>
            </a:pPr>
            <a:r>
              <a:t>Session 8 (Integration, V&amp;V): "V&amp;V methods that should have been applied to MCAS</a:t>
            </a:r>
          </a:p>
          <a:p>
            <a:pPr>
              <a:spcAft>
                <a:spcPts val="600"/>
              </a:spcAft>
              <a:defRPr sz="1800">
                <a:solidFill>
                  <a:srgbClr val="333333"/>
                </a:solidFill>
              </a:defRPr>
            </a:pPr>
            <a:r>
              <a:t>Session 9 (Risk Management): "FMEA/FTA analysis of MCAS failure modes</a:t>
            </a:r>
          </a:p>
          <a:p>
            <a:pPr>
              <a:spcAft>
                <a:spcPts val="600"/>
              </a:spcAft>
              <a:defRPr sz="1800">
                <a:solidFill>
                  <a:srgbClr val="333333"/>
                </a:solidFill>
              </a:defRPr>
            </a:pPr>
            <a:r>
              <a:t>Session 12 (Safety &amp; Security): "ISO 26262 ASIL ratings and how they apply</a:t>
            </a:r>
          </a:p>
          <a:p>
            <a:pPr>
              <a:spcAft>
                <a:spcPts val="600"/>
              </a:spcAft>
              <a:defRPr sz="1800">
                <a:solidFill>
                  <a:srgbClr val="333333"/>
                </a:solidFill>
              </a:defRPr>
            </a:pPr>
            <a:r>
              <a:t>Session 14 (Case Study 2): "Compare/contrast automotive case study to aerospace</a:t>
            </a:r>
          </a:p>
          <a:p>
            <a:pPr>
              <a:spcAft>
                <a:spcPts val="1000"/>
              </a:spcAft>
              <a:defRPr sz="1800">
                <a:solidFill>
                  <a:srgbClr val="333333"/>
                </a:solidFill>
              </a:defRPr>
            </a:pPr>
            <a:r>
              <a:t>Encourage students to reference MCAS throughout course: "What would the MCAS engineers have done differently if they'd used [this session's topic]?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Framework</a:t>
            </a:r>
          </a:p>
          <a:p>
            <a:pPr>
              <a:spcAft>
                <a:spcPts val="1000"/>
              </a:spcAft>
              <a:defRPr sz="1800">
                <a:solidFill>
                  <a:srgbClr val="333333"/>
                </a:solidFill>
              </a:defRPr>
            </a:pPr>
            <a:r>
              <a:t>Instructor Final Note: This is the most emotionally challenging session in the course. It's also potentially the most impactful. Students will remember this session for the rest of their careers. Deliver it with the gravity and professionalism it deserves. You're teaching them to save lives.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Next: Generate framework for Session 7 (Operational and Functional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