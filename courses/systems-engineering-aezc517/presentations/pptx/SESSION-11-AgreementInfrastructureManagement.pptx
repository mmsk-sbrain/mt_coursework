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11: Agreement and Infrastructure Management'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Agreement and Infrastructure Management</a:t>
            </a:r>
          </a:p>
        </p:txBody>
      </p:sp>
      <p:sp>
        <p:nvSpPr>
          <p:cNvPr id="3" name="Subtitle 2"/>
          <p:cNvSpPr>
            <a:spLocks noGrp="1"/>
          </p:cNvSpPr>
          <p:nvPr>
            <p:ph type="subTitle" idx="1"/>
          </p:nvPr>
        </p:nvSpPr>
        <p:spPr/>
        <p:txBody>
          <a:bodyPr/>
          <a:lstStyle/>
          <a:p>
            <a:pPr>
              <a:defRPr sz="2000">
                <a:solidFill>
                  <a:srgbClr val="FFFFFF"/>
                </a:solidFill>
              </a:defRPr>
            </a:pPr>
            <a:r>
              <a:t>Session 11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Title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Welcome to Session 11. Today we explore what I call the 'hidden half' of systems engineering: Agreement and Infrastructure Management.</a:t>
            </a:r>
          </a:p>
          <a:p>
            <a:pPr>
              <a:spcAft>
                <a:spcPts val="1000"/>
              </a:spcAft>
              <a:defRPr sz="1800">
                <a:solidFill>
                  <a:srgbClr val="333333"/>
                </a:solidFill>
              </a:defRPr>
            </a:pPr>
            <a:r>
              <a:t>So far, we've focused on the technical core - requirements, design, verification. But here's reality: No automotive OEM builds 100% of their vehicle in-house.</a:t>
            </a:r>
          </a:p>
          <a:p>
            <a:pPr>
              <a:spcAft>
                <a:spcPts val="1000"/>
              </a:spcAft>
              <a:defRPr sz="1800">
                <a:solidFill>
                  <a:srgbClr val="333333"/>
                </a:solidFill>
              </a:defRPr>
            </a:pPr>
            <a:r>
              <a:t>Today, we learn how to engineer the business and organizational relationships that make complex systems possible.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Connection to Previous Sessions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connect this to our journey:</a:t>
            </a:r>
          </a:p>
          <a:p>
            <a:pPr>
              <a:spcAft>
                <a:spcPts val="1000"/>
              </a:spcAft>
              <a:defRPr sz="1800">
                <a:solidFill>
                  <a:srgbClr val="333333"/>
                </a:solidFill>
              </a:defRPr>
            </a:pPr>
            <a:r>
              <a:t>Session 9 (Project and Risk Management): We learned to plan and manage projects. But those projects involve SUPPLIERS and INFRASTRUCTURE.</a:t>
            </a:r>
          </a:p>
          <a:p>
            <a:pPr>
              <a:spcAft>
                <a:spcPts val="1000"/>
              </a:spcAft>
              <a:defRPr sz="1800">
                <a:solidFill>
                  <a:srgbClr val="333333"/>
                </a:solidFill>
              </a:defRPr>
            </a:pPr>
            <a:r>
              <a:t>Session 10 (Decision and Quality Management): We learned decision-making frameworks. Today's biggest decision? MAKE vs BUY.</a:t>
            </a:r>
          </a:p>
          <a:p>
            <a:pPr>
              <a:spcAft>
                <a:spcPts val="1000"/>
              </a:spcAft>
              <a:defRPr sz="1800">
                <a:solidFill>
                  <a:srgbClr val="333333"/>
                </a:solidFill>
              </a:defRPr>
            </a:pPr>
            <a:r>
              <a:t>Today (Session 11): How do we manage the supplier agreements and infrastructure that enable our systems?</a:t>
            </a:r>
          </a:p>
          <a:p>
            <a:pPr>
              <a:spcAft>
                <a:spcPts val="1000"/>
              </a:spcAft>
              <a:defRPr sz="1800">
                <a:solidFill>
                  <a:srgbClr val="333333"/>
                </a:solidFill>
              </a:defRPr>
            </a:pPr>
            <a:r>
              <a:t>Session 12 (Safety &amp; Security): Safety and security requirements flow down to suppliers through agreements we'll discuss today.</a:t>
            </a:r>
          </a:p>
          <a:p>
            <a:pPr>
              <a:spcAft>
                <a:spcPts val="1000"/>
              </a:spcAft>
              <a:defRPr sz="1800">
                <a:solidFill>
                  <a:srgbClr val="333333"/>
                </a:solidFill>
              </a:defRPr>
            </a:pPr>
            <a:r>
              <a:t>The integration: Technical excellence means nothing if you can't execute through suppliers, contracts, and infrastructure.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Why This Matters - The Modern Automotive Reality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 me give you the numbers that define modern automotive engineering:</a:t>
            </a:r>
          </a:p>
          <a:p>
            <a:pPr>
              <a:spcAft>
                <a:spcPts val="1000"/>
              </a:spcAft>
              <a:defRPr sz="1800">
                <a:solidFill>
                  <a:srgbClr val="333333"/>
                </a:solidFill>
              </a:defRPr>
            </a:pPr>
            <a:r>
              <a:t>Industry Statistics: — Average vehicle has 30,000+ parts — Typical OEM manufactures only 20-30% in-house — Modern vehicle involves 250-400 Tier 1 suppliers — Tier 2 and Tier 3 suppliers: 2,000-3,000 companies — OEM R&amp;D spending: 30% in-house, 70% through suppliers</a:t>
            </a:r>
          </a:p>
          <a:p>
            <a:pPr>
              <a:spcAft>
                <a:spcPts val="1000"/>
              </a:spcAft>
              <a:defRPr sz="1800">
                <a:solidFill>
                  <a:srgbClr val="333333"/>
                </a:solidFill>
              </a:defRPr>
            </a:pPr>
            <a:r>
              <a:t>Examples: — Tesla Model 3:</a:t>
            </a:r>
          </a:p>
          <a:p>
            <a:pPr>
              <a:spcAft>
                <a:spcPts val="600"/>
              </a:spcAft>
              <a:defRPr sz="1800">
                <a:solidFill>
                  <a:srgbClr val="333333"/>
                </a:solidFill>
              </a:defRPr>
            </a:pPr>
            <a:r>
              <a:t>Battery: Panasonic/LG/CATL (suppliers)</a:t>
            </a:r>
          </a:p>
          <a:p>
            <a:pPr>
              <a:spcAft>
                <a:spcPts val="600"/>
              </a:spcAft>
              <a:defRPr sz="1800">
                <a:solidFill>
                  <a:srgbClr val="333333"/>
                </a:solidFill>
              </a:defRPr>
            </a:pPr>
            <a:r>
              <a:t>Infotainment: AMD chips (supplier)</a:t>
            </a:r>
          </a:p>
          <a:p>
            <a:pPr>
              <a:spcAft>
                <a:spcPts val="600"/>
              </a:spcAft>
              <a:defRPr sz="1800">
                <a:solidFill>
                  <a:srgbClr val="333333"/>
                </a:solidFill>
              </a:defRPr>
            </a:pPr>
            <a:r>
              <a:t>Cameras/sensors: Multiple suppliers</a:t>
            </a:r>
          </a:p>
          <a:p>
            <a:pPr>
              <a:spcAft>
                <a:spcPts val="600"/>
              </a:spcAft>
              <a:defRPr sz="1800">
                <a:solidFill>
                  <a:srgbClr val="333333"/>
                </a:solidFill>
              </a:defRPr>
            </a:pPr>
            <a:r>
              <a:t>Motors: Tesla in-house (strategic make decision)</a:t>
            </a:r>
          </a:p>
          <a:p>
            <a:pPr>
              <a:spcAft>
                <a:spcPts val="600"/>
              </a:spcAft>
              <a:defRPr sz="1800">
                <a:solidFill>
                  <a:srgbClr val="333333"/>
                </a:solidFill>
              </a:defRPr>
            </a:pPr>
            <a:r>
              <a:t>Toyota Prius:</a:t>
            </a:r>
          </a:p>
          <a:p>
            <a:pPr>
              <a:spcAft>
                <a:spcPts val="600"/>
              </a:spcAft>
              <a:defRPr sz="1800">
                <a:solidFill>
                  <a:srgbClr val="333333"/>
                </a:solidFill>
              </a:defRPr>
            </a:pPr>
            <a:r>
              <a:t>Hybrid system: Toyota + Denso collaboration</a:t>
            </a:r>
          </a:p>
          <a:p>
            <a:pPr>
              <a:spcAft>
                <a:spcPts val="600"/>
              </a:spcAft>
              <a:defRPr sz="1800">
                <a:solidFill>
                  <a:srgbClr val="333333"/>
                </a:solidFill>
              </a:defRPr>
            </a:pPr>
            <a:r>
              <a:t>Electronics: Denso, Bosch (suppliers)</a:t>
            </a:r>
          </a:p>
          <a:p>
            <a:pPr>
              <a:spcAft>
                <a:spcPts val="600"/>
              </a:spcAft>
              <a:defRPr sz="1800">
                <a:solidFill>
                  <a:srgbClr val="333333"/>
                </a:solidFill>
              </a:defRPr>
            </a:pPr>
            <a:r>
              <a:t>Manufacturing equipment: Fanuc, KUKA (infrastructure)</a:t>
            </a:r>
          </a:p>
          <a:p>
            <a:pPr>
              <a:spcAft>
                <a:spcPts val="1000"/>
              </a:spcAft>
              <a:defRPr sz="1800">
                <a:solidFill>
                  <a:srgbClr val="333333"/>
                </a:solidFill>
              </a:defRPr>
            </a:pPr>
            <a:r>
              <a:t>The reality: You're not just engineering a system. You're engineering a SUPPLY CHAIN and INFRASTRUCTURE ECOSYSTEM.</a:t>
            </a:r>
          </a:p>
          <a:p>
            <a:pPr>
              <a:spcAft>
                <a:spcPts val="1000"/>
              </a:spcAft>
              <a:defRPr sz="1800">
                <a:solidFill>
                  <a:srgbClr val="333333"/>
                </a:solidFill>
              </a:defRPr>
            </a:pPr>
            <a:r>
              <a:t>Today I'll show you how professionals manage this complexity.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Real-World Example - The Semiconductor Crisis (2021-2023)</a:t>
            </a:r>
          </a:p>
        </p:txBody>
      </p:sp>
      <p:sp>
        <p:nvSpPr>
          <p:cNvPr id="3" name="Content Placeholder 2"/>
          <p:cNvSpPr>
            <a:spLocks noGrp="1"/>
          </p:cNvSpPr>
          <p:nvPr>
            <p:ph idx="1"/>
          </p:nvPr>
        </p:nvSpPr>
        <p:spPr/>
        <p:txBody>
          <a:bodyPr/>
          <a:lstStyle/>
          <a:p>
            <a:pPr>
              <a:spcAft>
                <a:spcPts val="1000"/>
              </a:spcAft>
              <a:defRPr sz="1800">
                <a:solidFill>
                  <a:srgbClr val="333333"/>
                </a:solidFill>
              </a:defRPr>
            </a:pPr>
            <a:r>
              <a:t>Remember the 2021-2023 chip shortage? Perfect case study for today's topics.</a:t>
            </a:r>
          </a:p>
          <a:p>
            <a:pPr>
              <a:spcAft>
                <a:spcPts val="1000"/>
              </a:spcAft>
              <a:defRPr sz="1800">
                <a:solidFill>
                  <a:srgbClr val="333333"/>
                </a:solidFill>
              </a:defRPr>
            </a:pPr>
            <a:r>
              <a:t>What happened: — COVID-19 disrupted semiconductor production</a:t>
            </a:r>
          </a:p>
          <a:p>
            <a:pPr>
              <a:spcAft>
                <a:spcPts val="600"/>
              </a:spcAft>
              <a:defRPr sz="1800">
                <a:solidFill>
                  <a:srgbClr val="333333"/>
                </a:solidFill>
              </a:defRPr>
            </a:pPr>
            <a:r>
              <a:t>Automotive industry couldn't get chips</a:t>
            </a:r>
          </a:p>
          <a:p>
            <a:pPr>
              <a:spcAft>
                <a:spcPts val="600"/>
              </a:spcAft>
              <a:defRPr sz="1800">
                <a:solidFill>
                  <a:srgbClr val="333333"/>
                </a:solidFill>
              </a:defRPr>
            </a:pPr>
            <a:r>
              <a:t>Global vehicle production down 10 million units</a:t>
            </a:r>
          </a:p>
          <a:p>
            <a:pPr>
              <a:spcAft>
                <a:spcPts val="600"/>
              </a:spcAft>
              <a:defRPr sz="1800">
                <a:solidFill>
                  <a:srgbClr val="333333"/>
                </a:solidFill>
              </a:defRPr>
            </a:pPr>
            <a:r>
              <a:t>$210 billion in lost revenue</a:t>
            </a:r>
          </a:p>
          <a:p>
            <a:pPr>
              <a:spcAft>
                <a:spcPts val="1000"/>
              </a:spcAft>
              <a:defRPr sz="1800">
                <a:solidFill>
                  <a:srgbClr val="333333"/>
                </a:solidFill>
              </a:defRPr>
            </a:pPr>
            <a:r>
              <a:t>Agreement Management Failures: — OEMs had just-in-time contracts with chip suppliers</a:t>
            </a:r>
          </a:p>
          <a:p>
            <a:pPr>
              <a:spcAft>
                <a:spcPts val="600"/>
              </a:spcAft>
              <a:defRPr sz="1800">
                <a:solidFill>
                  <a:srgbClr val="333333"/>
                </a:solidFill>
              </a:defRPr>
            </a:pPr>
            <a:r>
              <a:t>No guaranteed allocation clauses</a:t>
            </a:r>
          </a:p>
          <a:p>
            <a:pPr>
              <a:spcAft>
                <a:spcPts val="600"/>
              </a:spcAft>
              <a:defRPr sz="1800">
                <a:solidFill>
                  <a:srgbClr val="333333"/>
                </a:solidFill>
              </a:defRPr>
            </a:pPr>
            <a:r>
              <a:t>Consumer electronics outbid automotive (higher margins)</a:t>
            </a:r>
          </a:p>
          <a:p>
            <a:pPr>
              <a:spcAft>
                <a:spcPts val="600"/>
              </a:spcAft>
              <a:defRPr sz="1800">
                <a:solidFill>
                  <a:srgbClr val="333333"/>
                </a:solidFill>
              </a:defRPr>
            </a:pPr>
            <a:r>
              <a:t>Automotive lost priority</a:t>
            </a:r>
          </a:p>
          <a:p>
            <a:pPr>
              <a:spcAft>
                <a:spcPts val="1000"/>
              </a:spcAft>
              <a:defRPr sz="1800">
                <a:solidFill>
                  <a:srgbClr val="333333"/>
                </a:solidFill>
              </a:defRPr>
            </a:pPr>
            <a:r>
              <a:t>Infrastructure Management Failures: — No redundancy in supplier base (single source dependencies)</a:t>
            </a:r>
          </a:p>
          <a:p>
            <a:pPr>
              <a:spcAft>
                <a:spcPts val="600"/>
              </a:spcAft>
              <a:defRPr sz="1800">
                <a:solidFill>
                  <a:srgbClr val="333333"/>
                </a:solidFill>
              </a:defRPr>
            </a:pPr>
            <a:r>
              <a:t>No buffer inventory (lean manufacturing gone too far)</a:t>
            </a:r>
          </a:p>
          <a:p>
            <a:pPr>
              <a:spcAft>
                <a:spcPts val="600"/>
              </a:spcAft>
              <a:defRPr sz="1800">
                <a:solidFill>
                  <a:srgbClr val="333333"/>
                </a:solidFill>
              </a:defRPr>
            </a:pPr>
            <a:r>
              <a:t>No alternative sourcing strategy</a:t>
            </a:r>
          </a:p>
          <a:p>
            <a:pPr>
              <a:spcAft>
                <a:spcPts val="1000"/>
              </a:spcAft>
              <a:defRPr sz="1800">
                <a:solidFill>
                  <a:srgbClr val="333333"/>
                </a:solidFill>
              </a:defRPr>
            </a:pPr>
            <a:r>
              <a:t>Who survived better? — Toyota: Had 2-4 month chip inventory (infrastructure planning)</a:t>
            </a:r>
          </a:p>
          <a:p>
            <a:pPr>
              <a:spcAft>
                <a:spcPts val="600"/>
              </a:spcAft>
              <a:defRPr sz="1800">
                <a:solidFill>
                  <a:srgbClr val="333333"/>
                </a:solidFill>
              </a:defRPr>
            </a:pPr>
            <a:r>
              <a:t>Tesla: Direct relationships with chip makers, flexible architecture (supplier engagement)</a:t>
            </a:r>
          </a:p>
          <a:p>
            <a:pPr>
              <a:spcAft>
                <a:spcPts val="600"/>
              </a:spcAft>
              <a:defRPr sz="1800">
                <a:solidFill>
                  <a:srgbClr val="333333"/>
                </a:solidFill>
              </a:defRPr>
            </a:pPr>
            <a:r>
              <a:t>Others: Production halted for months</a:t>
            </a:r>
          </a:p>
          <a:p>
            <a:pPr>
              <a:spcAft>
                <a:spcPts val="1000"/>
              </a:spcAft>
              <a:defRPr sz="1800">
                <a:solidFill>
                  <a:srgbClr val="333333"/>
                </a:solidFill>
              </a:defRPr>
            </a:pPr>
            <a:r>
              <a:t>Lessons: — Agreements aren't just legal documents - they're strategic risk management</a:t>
            </a:r>
          </a:p>
          <a:p>
            <a:pPr>
              <a:spcAft>
                <a:spcPts val="600"/>
              </a:spcAft>
              <a:defRPr sz="1800">
                <a:solidFill>
                  <a:srgbClr val="333333"/>
                </a:solidFill>
              </a:defRPr>
            </a:pPr>
            <a:r>
              <a:t>Infrastructure isn't overhead - it's resilience</a:t>
            </a:r>
          </a:p>
          <a:p>
            <a:pPr>
              <a:spcAft>
                <a:spcPts val="600"/>
              </a:spcAft>
              <a:defRPr sz="1800">
                <a:solidFill>
                  <a:srgbClr val="333333"/>
                </a:solidFill>
              </a:defRPr>
            </a:pPr>
            <a:r>
              <a:t>Make vs buy decisions have long-term consequences</a:t>
            </a:r>
          </a:p>
          <a:p>
            <a:pPr>
              <a:spcAft>
                <a:spcPts val="1000"/>
              </a:spcAft>
              <a:defRPr sz="1800">
                <a:solidFill>
                  <a:srgbClr val="333333"/>
                </a:solidFill>
              </a:defRPr>
            </a:pPr>
            <a:r>
              <a:t>This is what we're learning today: How to avoid being the next cautionary tale.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 Real Engineering Decision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 me put you in a real scenario. You're the systems engineer for a new electric vehicle program.</a:t>
            </a:r>
          </a:p>
          <a:p>
            <a:pPr>
              <a:spcAft>
                <a:spcPts val="1000"/>
              </a:spcAft>
              <a:defRPr sz="1800">
                <a:solidFill>
                  <a:srgbClr val="333333"/>
                </a:solidFill>
              </a:defRPr>
            </a:pPr>
            <a:r>
              <a:t>Your manager asks: 'Should we develop the battery management system (BMS) in-house or buy it from a supplier?'</a:t>
            </a:r>
          </a:p>
          <a:p>
            <a:pPr>
              <a:spcAft>
                <a:spcPts val="1000"/>
              </a:spcAft>
              <a:defRPr sz="1800">
                <a:solidFill>
                  <a:srgbClr val="333333"/>
                </a:solidFill>
              </a:defRPr>
            </a:pPr>
            <a:r>
              <a:t>Sounds simple, right? Let's see what happens with different approaches:</a:t>
            </a:r>
          </a:p>
          <a:p>
            <a:pPr>
              <a:spcAft>
                <a:spcPts val="1000"/>
              </a:spcAft>
              <a:defRPr sz="1800">
                <a:solidFill>
                  <a:srgbClr val="333333"/>
                </a:solidFill>
              </a:defRPr>
            </a:pPr>
            <a:r>
              <a:t>Scenario 1 - Quick decision (no analysis):</a:t>
            </a:r>
          </a:p>
          <a:p>
            <a:pPr>
              <a:spcAft>
                <a:spcPts val="1000"/>
              </a:spcAft>
              <a:defRPr sz="1800">
                <a:solidFill>
                  <a:srgbClr val="333333"/>
                </a:solidFill>
              </a:defRPr>
            </a:pPr>
            <a:r>
              <a:t>'Let's build it in-house. We want control.'</a:t>
            </a:r>
          </a:p>
          <a:p>
            <a:pPr>
              <a:spcAft>
                <a:spcPts val="1000"/>
              </a:spcAft>
              <a:defRPr sz="1800">
                <a:solidFill>
                  <a:srgbClr val="333333"/>
                </a:solidFill>
              </a:defRPr>
            </a:pPr>
            <a:r>
              <a:t>Result: 3 years later, you're 18 months behind schedule, $50M over budget, and the BMS still doesn't meet safety certification. Your competitor bought from an established supplier and launched 2 years earlier.</a:t>
            </a:r>
          </a:p>
          <a:p>
            <a:pPr>
              <a:spcAft>
                <a:spcPts val="1000"/>
              </a:spcAft>
              <a:defRPr sz="1800">
                <a:solidFill>
                  <a:srgbClr val="333333"/>
                </a:solidFill>
              </a:defRPr>
            </a:pPr>
            <a:r>
              <a:t>Scenario 2 - Opposite quick decision:</a:t>
            </a:r>
          </a:p>
          <a:p>
            <a:pPr>
              <a:spcAft>
                <a:spcPts val="1000"/>
              </a:spcAft>
              <a:defRPr sz="1800">
                <a:solidFill>
                  <a:srgbClr val="333333"/>
                </a:solidFill>
              </a:defRPr>
            </a:pPr>
            <a:r>
              <a:t>'Let's buy from the cheapest supplier.'</a:t>
            </a:r>
          </a:p>
          <a:p>
            <a:pPr>
              <a:spcAft>
                <a:spcPts val="1000"/>
              </a:spcAft>
              <a:defRPr sz="1800">
                <a:solidFill>
                  <a:srgbClr val="333333"/>
                </a:solidFill>
              </a:defRPr>
            </a:pPr>
            <a:r>
              <a:t>Result: Supplier delivers on time, but BMS doesn't integrate well with your vehicle architecture. Requires expensive re-work. Supplier owns the IP - you can't modify or improve it. You're locked in.</a:t>
            </a:r>
          </a:p>
          <a:p>
            <a:pPr>
              <a:spcAft>
                <a:spcPts val="1000"/>
              </a:spcAft>
              <a:defRPr sz="1800">
                <a:solidFill>
                  <a:srgbClr val="333333"/>
                </a:solidFill>
              </a:defRPr>
            </a:pPr>
            <a:r>
              <a:t>Scenario 3 - Rushing supplier selection:</a:t>
            </a:r>
          </a:p>
          <a:p>
            <a:pPr>
              <a:spcAft>
                <a:spcPts val="1000"/>
              </a:spcAft>
              <a:defRPr sz="1800">
                <a:solidFill>
                  <a:srgbClr val="333333"/>
                </a:solidFill>
              </a:defRPr>
            </a:pPr>
            <a:r>
              <a:t>'This supplier has good brochures and low prices.'</a:t>
            </a:r>
          </a:p>
          <a:p>
            <a:pPr>
              <a:spcAft>
                <a:spcPts val="1000"/>
              </a:spcAft>
              <a:defRPr sz="1800">
                <a:solidFill>
                  <a:srgbClr val="333333"/>
                </a:solidFill>
              </a:defRPr>
            </a:pPr>
            <a:r>
              <a:t>Result: After production starts, supplier can't meet volume requirements. Quality issues emerge. They go bankrupt, leaving you with no source for critical components.</a:t>
            </a:r>
          </a:p>
          <a:p>
            <a:pPr>
              <a:spcAft>
                <a:spcPts val="1000"/>
              </a:spcAft>
              <a:defRPr sz="1800">
                <a:solidFill>
                  <a:srgbClr val="333333"/>
                </a:solidFill>
              </a:defRPr>
            </a:pPr>
            <a:r>
              <a:t>The reality: These aren't hypothetical - these scenarios happen constantly in automotive.</a:t>
            </a:r>
          </a:p>
          <a:p>
            <a:pPr>
              <a:spcAft>
                <a:spcPts val="1000"/>
              </a:spcAft>
              <a:defRPr sz="1800">
                <a:solidFill>
                  <a:srgbClr val="333333"/>
                </a:solidFill>
              </a:defRPr>
            </a:pPr>
            <a:r>
              <a:t>Today I'll show you the systematic approach that prevents these failures.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Strategic Supplier Relationships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First principle: Not all suppliers are equal. Different relationships require different engagement strategies.</a:t>
            </a:r>
          </a:p>
          <a:p>
            <a:pPr>
              <a:spcAft>
                <a:spcPts val="1000"/>
              </a:spcAft>
              <a:defRPr sz="1800">
                <a:solidFill>
                  <a:srgbClr val="333333"/>
                </a:solidFill>
              </a:defRPr>
            </a:pPr>
            <a:r>
              <a:t>Supplier Relationship Tiers:</a:t>
            </a:r>
          </a:p>
          <a:p>
            <a:pPr>
              <a:spcAft>
                <a:spcPts val="1000"/>
              </a:spcAft>
              <a:defRPr sz="1800">
                <a:solidFill>
                  <a:srgbClr val="333333"/>
                </a:solidFill>
              </a:defRPr>
            </a:pPr>
            <a:r>
              <a:t>Tier 1 - Strategic Partners (5-10% of suppliers, 60-70% of value)</a:t>
            </a:r>
          </a:p>
          <a:p>
            <a:pPr>
              <a:spcAft>
                <a:spcPts val="600"/>
              </a:spcAft>
              <a:defRPr sz="1800">
                <a:solidFill>
                  <a:srgbClr val="333333"/>
                </a:solidFill>
              </a:defRPr>
            </a:pPr>
            <a:r>
              <a:t>Long-term relationships (10+ years)</a:t>
            </a:r>
          </a:p>
          <a:p>
            <a:pPr>
              <a:spcAft>
                <a:spcPts val="600"/>
              </a:spcAft>
              <a:defRPr sz="1800">
                <a:solidFill>
                  <a:srgbClr val="333333"/>
                </a:solidFill>
              </a:defRPr>
            </a:pPr>
            <a:r>
              <a:t>Co-development partnerships</a:t>
            </a:r>
          </a:p>
          <a:p>
            <a:pPr>
              <a:spcAft>
                <a:spcPts val="600"/>
              </a:spcAft>
              <a:defRPr sz="1800">
                <a:solidFill>
                  <a:srgbClr val="333333"/>
                </a:solidFill>
              </a:defRPr>
            </a:pPr>
            <a:r>
              <a:t>Shared technology roadmaps</a:t>
            </a:r>
          </a:p>
          <a:p>
            <a:pPr>
              <a:spcAft>
                <a:spcPts val="600"/>
              </a:spcAft>
              <a:defRPr sz="1800">
                <a:solidFill>
                  <a:srgbClr val="333333"/>
                </a:solidFill>
              </a:defRPr>
            </a:pPr>
            <a:r>
              <a:t>Example: Bosch (powertrain), Denso (hybrid systems), Continental (ADAS)</a:t>
            </a:r>
          </a:p>
          <a:p>
            <a:pPr>
              <a:spcAft>
                <a:spcPts val="600"/>
              </a:spcAft>
              <a:defRPr sz="1800">
                <a:solidFill>
                  <a:srgbClr val="333333"/>
                </a:solidFill>
              </a:defRPr>
            </a:pPr>
            <a:r>
              <a:t>Engagement: Joint engineering teams, executive sponsorship, technology sharing</a:t>
            </a:r>
          </a:p>
          <a:p>
            <a:pPr>
              <a:spcAft>
                <a:spcPts val="1000"/>
              </a:spcAft>
              <a:defRPr sz="1800">
                <a:solidFill>
                  <a:srgbClr val="333333"/>
                </a:solidFill>
              </a:defRPr>
            </a:pPr>
            <a:r>
              <a:t>Tier 2 - Preferred Suppliers (20-30% of suppliers, 25-35% of value)</a:t>
            </a:r>
          </a:p>
          <a:p>
            <a:pPr>
              <a:spcAft>
                <a:spcPts val="600"/>
              </a:spcAft>
              <a:defRPr sz="1800">
                <a:solidFill>
                  <a:srgbClr val="333333"/>
                </a:solidFill>
              </a:defRPr>
            </a:pPr>
            <a:r>
              <a:t>Multi-year contracts</a:t>
            </a:r>
          </a:p>
          <a:p>
            <a:pPr>
              <a:spcAft>
                <a:spcPts val="600"/>
              </a:spcAft>
              <a:defRPr sz="1800">
                <a:solidFill>
                  <a:srgbClr val="333333"/>
                </a:solidFill>
              </a:defRPr>
            </a:pPr>
            <a:r>
              <a:t>Proven performance</a:t>
            </a:r>
          </a:p>
          <a:p>
            <a:pPr>
              <a:spcAft>
                <a:spcPts val="600"/>
              </a:spcAft>
              <a:defRPr sz="1800">
                <a:solidFill>
                  <a:srgbClr val="333333"/>
                </a:solidFill>
              </a:defRPr>
            </a:pPr>
            <a:r>
              <a:t>Moderate technical complexity</a:t>
            </a:r>
          </a:p>
          <a:p>
            <a:pPr>
              <a:spcAft>
                <a:spcPts val="600"/>
              </a:spcAft>
              <a:defRPr sz="1800">
                <a:solidFill>
                  <a:srgbClr val="333333"/>
                </a:solidFill>
              </a:defRPr>
            </a:pPr>
            <a:r>
              <a:t>Example: Seat manufacturers, lighting systems, HVAC</a:t>
            </a:r>
          </a:p>
          <a:p>
            <a:pPr>
              <a:spcAft>
                <a:spcPts val="600"/>
              </a:spcAft>
              <a:defRPr sz="1800">
                <a:solidFill>
                  <a:srgbClr val="333333"/>
                </a:solidFill>
              </a:defRPr>
            </a:pPr>
            <a:r>
              <a:t>Engagement: Regular business reviews, performance metrics, quality partnerships</a:t>
            </a:r>
          </a:p>
          <a:p>
            <a:pPr>
              <a:spcAft>
                <a:spcPts val="1000"/>
              </a:spcAft>
              <a:defRPr sz="1800">
                <a:solidFill>
                  <a:srgbClr val="333333"/>
                </a:solidFill>
              </a:defRPr>
            </a:pPr>
            <a:r>
              <a:t>Tier 3 - Transactional Suppliers (60-70% of suppliers, 5-10% of value)</a:t>
            </a:r>
          </a:p>
          <a:p>
            <a:pPr>
              <a:spcAft>
                <a:spcPts val="600"/>
              </a:spcAft>
              <a:defRPr sz="1800">
                <a:solidFill>
                  <a:srgbClr val="333333"/>
                </a:solidFill>
              </a:defRPr>
            </a:pPr>
            <a:r>
              <a:t>Commodity components</a:t>
            </a:r>
          </a:p>
          <a:p>
            <a:pPr>
              <a:spcAft>
                <a:spcPts val="600"/>
              </a:spcAft>
              <a:defRPr sz="1800">
                <a:solidFill>
                  <a:srgbClr val="333333"/>
                </a:solidFill>
              </a:defRPr>
            </a:pPr>
            <a:r>
              <a:t>Short-term contracts</a:t>
            </a:r>
          </a:p>
          <a:p>
            <a:pPr>
              <a:spcAft>
                <a:spcPts val="600"/>
              </a:spcAft>
              <a:defRPr sz="1800">
                <a:solidFill>
                  <a:srgbClr val="333333"/>
                </a:solidFill>
              </a:defRPr>
            </a:pPr>
            <a:r>
              <a:t>Price-driven selection</a:t>
            </a:r>
          </a:p>
          <a:p>
            <a:pPr>
              <a:spcAft>
                <a:spcPts val="600"/>
              </a:spcAft>
              <a:defRPr sz="1800">
                <a:solidFill>
                  <a:srgbClr val="333333"/>
                </a:solidFill>
              </a:defRPr>
            </a:pPr>
            <a:r>
              <a:t>Example: Fasteners, basic wiring, standard connectors</a:t>
            </a:r>
          </a:p>
          <a:p>
            <a:pPr>
              <a:spcAft>
                <a:spcPts val="600"/>
              </a:spcAft>
              <a:defRPr sz="1800">
                <a:solidFill>
                  <a:srgbClr val="333333"/>
                </a:solidFill>
              </a:defRPr>
            </a:pPr>
            <a:r>
              <a:t>Engagement: Competitive bidding, price negotiation, quality inspection</a:t>
            </a:r>
          </a:p>
          <a:p>
            <a:pPr>
              <a:spcAft>
                <a:spcPts val="1000"/>
              </a:spcAft>
              <a:defRPr sz="1800">
                <a:solidFill>
                  <a:srgbClr val="333333"/>
                </a:solidFill>
              </a:defRPr>
            </a:pPr>
            <a:r>
              <a:t>Key insight: You can't have 400 strategic partners. You must segment and apply appropriate engagement level.</a:t>
            </a:r>
          </a:p>
          <a:p>
            <a:pPr>
              <a:spcAft>
                <a:spcPts val="1000"/>
              </a:spcAft>
              <a:defRPr sz="1800">
                <a:solidFill>
                  <a:srgbClr val="333333"/>
                </a:solidFill>
              </a:defRPr>
            </a:pPr>
            <a:r>
              <a:t>Automotive example: — Toyota treats Denso as Tier 1 strategic partner (partially owned, co-developed hybrid system)</a:t>
            </a:r>
          </a:p>
          <a:p>
            <a:pPr>
              <a:spcAft>
                <a:spcPts val="600"/>
              </a:spcAft>
              <a:defRPr sz="1800">
                <a:solidFill>
                  <a:srgbClr val="333333"/>
                </a:solidFill>
              </a:defRPr>
            </a:pPr>
            <a:r>
              <a:t>Ford treats Bosch similarly for powertrains</a:t>
            </a:r>
          </a:p>
          <a:p>
            <a:pPr>
              <a:spcAft>
                <a:spcPts val="600"/>
              </a:spcAft>
              <a:defRPr sz="1800">
                <a:solidFill>
                  <a:srgbClr val="333333"/>
                </a:solidFill>
              </a:defRPr>
            </a:pPr>
            <a:r>
              <a:t>But fastener suppliers? Tier 3 - competitive bidding every year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Supplier Development and Collaboration Models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For strategic suppliers, engagement goes beyond transactions. We use structured collaboration models.</a:t>
            </a:r>
          </a:p>
          <a:p>
            <a:pPr>
              <a:spcAft>
                <a:spcPts val="1000"/>
              </a:spcAft>
              <a:defRPr sz="1800">
                <a:solidFill>
                  <a:srgbClr val="333333"/>
                </a:solidFill>
              </a:defRPr>
            </a:pPr>
            <a:r>
              <a:t>1. Black Box Approach (Supplier responsible for complete solution)</a:t>
            </a:r>
          </a:p>
          <a:p>
            <a:pPr>
              <a:spcAft>
                <a:spcPts val="600"/>
              </a:spcAft>
              <a:defRPr sz="1800">
                <a:solidFill>
                  <a:srgbClr val="333333"/>
                </a:solidFill>
              </a:defRPr>
            </a:pPr>
            <a:r>
              <a:t>OEM provides: Functional requirements, interface specifications, validation criteria</a:t>
            </a:r>
          </a:p>
          <a:p>
            <a:pPr>
              <a:spcAft>
                <a:spcPts val="600"/>
              </a:spcAft>
              <a:defRPr sz="1800">
                <a:solidFill>
                  <a:srgbClr val="333333"/>
                </a:solidFill>
              </a:defRPr>
            </a:pPr>
            <a:r>
              <a:t>Supplier delivers: Complete subsystem design, testing, documentation</a:t>
            </a:r>
          </a:p>
          <a:p>
            <a:pPr>
              <a:spcAft>
                <a:spcPts val="600"/>
              </a:spcAft>
              <a:defRPr sz="1800">
                <a:solidFill>
                  <a:srgbClr val="333333"/>
                </a:solidFill>
              </a:defRPr>
            </a:pPr>
            <a:r>
              <a:t>Example: Infotainment system - specify features and interfaces, supplier designs everything</a:t>
            </a:r>
          </a:p>
          <a:p>
            <a:pPr>
              <a:spcAft>
                <a:spcPts val="600"/>
              </a:spcAft>
              <a:defRPr sz="1800">
                <a:solidFill>
                  <a:srgbClr val="333333"/>
                </a:solidFill>
              </a:defRPr>
            </a:pPr>
            <a:r>
              <a:t>Pros: Leverages supplier expertise, reduces OEM workload</a:t>
            </a:r>
          </a:p>
          <a:p>
            <a:pPr>
              <a:spcAft>
                <a:spcPts val="600"/>
              </a:spcAft>
              <a:defRPr sz="1800">
                <a:solidFill>
                  <a:srgbClr val="333333"/>
                </a:solidFill>
              </a:defRPr>
            </a:pPr>
            <a:r>
              <a:t>Cons: Less control, dependency on supplier, potential IP limitations</a:t>
            </a:r>
          </a:p>
          <a:p>
            <a:pPr>
              <a:spcAft>
                <a:spcPts val="1000"/>
              </a:spcAft>
              <a:defRPr sz="1800">
                <a:solidFill>
                  <a:srgbClr val="333333"/>
                </a:solidFill>
              </a:defRPr>
            </a:pPr>
            <a:r>
              <a:t>2. Gray Box Approach (Shared responsibility)</a:t>
            </a:r>
          </a:p>
          <a:p>
            <a:pPr>
              <a:spcAft>
                <a:spcPts val="600"/>
              </a:spcAft>
              <a:defRPr sz="1800">
                <a:solidFill>
                  <a:srgbClr val="333333"/>
                </a:solidFill>
              </a:defRPr>
            </a:pPr>
            <a:r>
              <a:t>OEM provides: Architecture, key requirements, some design constraints</a:t>
            </a:r>
          </a:p>
          <a:p>
            <a:pPr>
              <a:spcAft>
                <a:spcPts val="600"/>
              </a:spcAft>
              <a:defRPr sz="1800">
                <a:solidFill>
                  <a:srgbClr val="333333"/>
                </a:solidFill>
              </a:defRPr>
            </a:pPr>
            <a:r>
              <a:t>Supplier contributes: Detailed design, manufacturing process, component selection</a:t>
            </a:r>
          </a:p>
          <a:p>
            <a:pPr>
              <a:spcAft>
                <a:spcPts val="600"/>
              </a:spcAft>
              <a:defRPr sz="1800">
                <a:solidFill>
                  <a:srgbClr val="333333"/>
                </a:solidFill>
              </a:defRPr>
            </a:pPr>
            <a:r>
              <a:t>Joint activities: Design reviews, testing, validation</a:t>
            </a:r>
          </a:p>
          <a:p>
            <a:pPr>
              <a:spcAft>
                <a:spcPts val="600"/>
              </a:spcAft>
              <a:defRPr sz="1800">
                <a:solidFill>
                  <a:srgbClr val="333333"/>
                </a:solidFill>
              </a:defRPr>
            </a:pPr>
            <a:r>
              <a:t>Example: Electric motor - OEM defines performance curves and mounting, supplier designs internals</a:t>
            </a:r>
          </a:p>
          <a:p>
            <a:pPr>
              <a:spcAft>
                <a:spcPts val="600"/>
              </a:spcAft>
              <a:defRPr sz="1800">
                <a:solidFill>
                  <a:srgbClr val="333333"/>
                </a:solidFill>
              </a:defRPr>
            </a:pPr>
            <a:r>
              <a:t>Pros: Balanced control and expertise utilization</a:t>
            </a:r>
          </a:p>
          <a:p>
            <a:pPr>
              <a:spcAft>
                <a:spcPts val="600"/>
              </a:spcAft>
              <a:defRPr sz="1800">
                <a:solidFill>
                  <a:srgbClr val="333333"/>
                </a:solidFill>
              </a:defRPr>
            </a:pPr>
            <a:r>
              <a:t>Cons: Requires tight coordination, clear interface definitions</a:t>
            </a:r>
          </a:p>
          <a:p>
            <a:pPr>
              <a:spcAft>
                <a:spcPts val="1000"/>
              </a:spcAft>
              <a:defRPr sz="1800">
                <a:solidFill>
                  <a:srgbClr val="333333"/>
                </a:solidFill>
              </a:defRPr>
            </a:pPr>
            <a:r>
              <a:t>3. White Box Approach (OEM-led design)</a:t>
            </a:r>
          </a:p>
          <a:p>
            <a:pPr>
              <a:spcAft>
                <a:spcPts val="600"/>
              </a:spcAft>
              <a:defRPr sz="1800">
                <a:solidFill>
                  <a:srgbClr val="333333"/>
                </a:solidFill>
              </a:defRPr>
            </a:pPr>
            <a:r>
              <a:t>OEM provides: Complete design specifications, potentially reference design</a:t>
            </a:r>
          </a:p>
          <a:p>
            <a:pPr>
              <a:spcAft>
                <a:spcPts val="600"/>
              </a:spcAft>
              <a:defRPr sz="1800">
                <a:solidFill>
                  <a:srgbClr val="333333"/>
                </a:solidFill>
              </a:defRPr>
            </a:pPr>
            <a:r>
              <a:t>Supplier provides: Manufacturing capability, process expertise</a:t>
            </a:r>
          </a:p>
          <a:p>
            <a:pPr>
              <a:spcAft>
                <a:spcPts val="600"/>
              </a:spcAft>
              <a:defRPr sz="1800">
                <a:solidFill>
                  <a:srgbClr val="333333"/>
                </a:solidFill>
              </a:defRPr>
            </a:pPr>
            <a:r>
              <a:t>Example: Proprietary ECU - OEM designs, supplier manufactures</a:t>
            </a:r>
          </a:p>
          <a:p>
            <a:pPr>
              <a:spcAft>
                <a:spcPts val="600"/>
              </a:spcAft>
              <a:defRPr sz="1800">
                <a:solidFill>
                  <a:srgbClr val="333333"/>
                </a:solidFill>
              </a:defRPr>
            </a:pPr>
            <a:r>
              <a:t>Pros: Full control, IP ownership</a:t>
            </a:r>
          </a:p>
          <a:p>
            <a:pPr>
              <a:spcAft>
                <a:spcPts val="600"/>
              </a:spcAft>
              <a:defRPr sz="1800">
                <a:solidFill>
                  <a:srgbClr val="333333"/>
                </a:solidFill>
              </a:defRPr>
            </a:pPr>
            <a:r>
              <a:t>Cons: Requires OEM expertise, higher engineering burden</a:t>
            </a:r>
          </a:p>
          <a:p>
            <a:pPr>
              <a:spcAft>
                <a:spcPts val="1000"/>
              </a:spcAft>
              <a:defRPr sz="1800">
                <a:solidFill>
                  <a:srgbClr val="333333"/>
                </a:solidFill>
              </a:defRPr>
            </a:pPr>
            <a:r>
              <a:t>Hybrid Model - Most Common in Automotive: — Strategic components: Gray/White box (e.g., battery packs, safety systems)</a:t>
            </a:r>
          </a:p>
          <a:p>
            <a:pPr>
              <a:spcAft>
                <a:spcPts val="600"/>
              </a:spcAft>
              <a:defRPr sz="1800">
                <a:solidFill>
                  <a:srgbClr val="333333"/>
                </a:solidFill>
              </a:defRPr>
            </a:pPr>
            <a:r>
              <a:t>Standard components: Black box (e.g., seat heaters, mirrors)</a:t>
            </a:r>
          </a:p>
          <a:p>
            <a:pPr>
              <a:spcAft>
                <a:spcPts val="600"/>
              </a:spcAft>
              <a:defRPr sz="1800">
                <a:solidFill>
                  <a:srgbClr val="333333"/>
                </a:solidFill>
              </a:defRPr>
            </a:pPr>
            <a:r>
              <a:t>Critical safety: White box (e.g., brake ECU design)</a:t>
            </a:r>
          </a:p>
          <a:p>
            <a:pPr>
              <a:spcAft>
                <a:spcPts val="1000"/>
              </a:spcAft>
              <a:defRPr sz="1800">
                <a:solidFill>
                  <a:srgbClr val="333333"/>
                </a:solidFill>
              </a:defRPr>
            </a:pPr>
            <a:r>
              <a:t>Selection criteria: Technology maturity, competitive differentiation, IP strategy, capability gaps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Supplier Performance Management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Engagement isn't one-time - it's ongoing performance management. Here's how professionals do it:</a:t>
            </a:r>
          </a:p>
          <a:p>
            <a:pPr>
              <a:spcAft>
                <a:spcPts val="1000"/>
              </a:spcAft>
              <a:defRPr sz="1800">
                <a:solidFill>
                  <a:srgbClr val="333333"/>
                </a:solidFill>
              </a:defRPr>
            </a:pPr>
            <a:r>
              <a:t>Supplier Scorecard - Key Performance Indicators (KPIs):</a:t>
            </a:r>
          </a:p>
          <a:p>
            <a:pPr>
              <a:spcAft>
                <a:spcPts val="1000"/>
              </a:spcAft>
              <a:defRPr sz="1800">
                <a:solidFill>
                  <a:srgbClr val="333333"/>
                </a:solidFill>
              </a:defRPr>
            </a:pPr>
            <a:r>
              <a:t>Quality Metrics (40% weight): — PPM (Parts Per Million defect rate): Target &lt;50 PPM</a:t>
            </a:r>
          </a:p>
          <a:p>
            <a:pPr>
              <a:spcAft>
                <a:spcPts val="600"/>
              </a:spcAft>
              <a:defRPr sz="1800">
                <a:solidFill>
                  <a:srgbClr val="333333"/>
                </a:solidFill>
              </a:defRPr>
            </a:pPr>
            <a:r>
              <a:t>Field failure rate: Target &lt;10 failures per 10,000 vehicles</a:t>
            </a:r>
          </a:p>
          <a:p>
            <a:pPr>
              <a:spcAft>
                <a:spcPts val="600"/>
              </a:spcAft>
              <a:defRPr sz="1800">
                <a:solidFill>
                  <a:srgbClr val="333333"/>
                </a:solidFill>
              </a:defRPr>
            </a:pPr>
            <a:r>
              <a:t>Warranty cost per vehicle: Target &lt;$5</a:t>
            </a:r>
          </a:p>
          <a:p>
            <a:pPr>
              <a:spcAft>
                <a:spcPts val="600"/>
              </a:spcAft>
              <a:defRPr sz="1800">
                <a:solidFill>
                  <a:srgbClr val="333333"/>
                </a:solidFill>
              </a:defRPr>
            </a:pPr>
            <a:r>
              <a:t>First-time quality pass rate: Target &gt;99%</a:t>
            </a:r>
          </a:p>
          <a:p>
            <a:pPr>
              <a:spcAft>
                <a:spcPts val="1000"/>
              </a:spcAft>
              <a:defRPr sz="1800">
                <a:solidFill>
                  <a:srgbClr val="333333"/>
                </a:solidFill>
              </a:defRPr>
            </a:pPr>
            <a:r>
              <a:t>Delivery Metrics (30% weight): — On-time delivery: Target &gt;98%</a:t>
            </a:r>
          </a:p>
          <a:p>
            <a:pPr>
              <a:spcAft>
                <a:spcPts val="600"/>
              </a:spcAft>
              <a:defRPr sz="1800">
                <a:solidFill>
                  <a:srgbClr val="333333"/>
                </a:solidFill>
              </a:defRPr>
            </a:pPr>
            <a:r>
              <a:t>Schedule adherence: Deviation &lt;±1 week</a:t>
            </a:r>
          </a:p>
          <a:p>
            <a:pPr>
              <a:spcAft>
                <a:spcPts val="600"/>
              </a:spcAft>
              <a:defRPr sz="1800">
                <a:solidFill>
                  <a:srgbClr val="333333"/>
                </a:solidFill>
              </a:defRPr>
            </a:pPr>
            <a:r>
              <a:t>Volume flexibility: Ability to adjust ±20% on 4-week notice</a:t>
            </a:r>
          </a:p>
          <a:p>
            <a:pPr>
              <a:spcAft>
                <a:spcPts val="1000"/>
              </a:spcAft>
              <a:defRPr sz="1800">
                <a:solidFill>
                  <a:srgbClr val="333333"/>
                </a:solidFill>
              </a:defRPr>
            </a:pPr>
            <a:r>
              <a:t>Cost Metrics (15% weight): — Year-over-year cost reduction: Target 3-5% annually</a:t>
            </a:r>
          </a:p>
          <a:p>
            <a:pPr>
              <a:spcAft>
                <a:spcPts val="600"/>
              </a:spcAft>
              <a:defRPr sz="1800">
                <a:solidFill>
                  <a:srgbClr val="333333"/>
                </a:solidFill>
              </a:defRPr>
            </a:pPr>
            <a:r>
              <a:t>Total cost of ownership (not just piece price)</a:t>
            </a:r>
          </a:p>
          <a:p>
            <a:pPr>
              <a:spcAft>
                <a:spcPts val="600"/>
              </a:spcAft>
              <a:defRPr sz="1800">
                <a:solidFill>
                  <a:srgbClr val="333333"/>
                </a:solidFill>
              </a:defRPr>
            </a:pPr>
            <a:r>
              <a:t>Value engineering contributions</a:t>
            </a:r>
          </a:p>
          <a:p>
            <a:pPr>
              <a:spcAft>
                <a:spcPts val="1000"/>
              </a:spcAft>
              <a:defRPr sz="1800">
                <a:solidFill>
                  <a:srgbClr val="333333"/>
                </a:solidFill>
              </a:defRPr>
            </a:pPr>
            <a:r>
              <a:t>Development Metrics (10% weight): — Engineering change request response time</a:t>
            </a:r>
          </a:p>
          <a:p>
            <a:pPr>
              <a:spcAft>
                <a:spcPts val="600"/>
              </a:spcAft>
              <a:defRPr sz="1800">
                <a:solidFill>
                  <a:srgbClr val="333333"/>
                </a:solidFill>
              </a:defRPr>
            </a:pPr>
            <a:r>
              <a:t>Design validation completion on schedule</a:t>
            </a:r>
          </a:p>
          <a:p>
            <a:pPr>
              <a:spcAft>
                <a:spcPts val="600"/>
              </a:spcAft>
              <a:defRPr sz="1800">
                <a:solidFill>
                  <a:srgbClr val="333333"/>
                </a:solidFill>
              </a:defRPr>
            </a:pPr>
            <a:r>
              <a:t>Innovation proposals submitted</a:t>
            </a:r>
          </a:p>
          <a:p>
            <a:pPr>
              <a:spcAft>
                <a:spcPts val="1000"/>
              </a:spcAft>
              <a:defRPr sz="1800">
                <a:solidFill>
                  <a:srgbClr val="333333"/>
                </a:solidFill>
              </a:defRPr>
            </a:pPr>
            <a:r>
              <a:t>Responsiveness Metrics (5% weight): — Issue resolution time</a:t>
            </a:r>
          </a:p>
          <a:p>
            <a:pPr>
              <a:spcAft>
                <a:spcPts val="600"/>
              </a:spcAft>
              <a:defRPr sz="1800">
                <a:solidFill>
                  <a:srgbClr val="333333"/>
                </a:solidFill>
              </a:defRPr>
            </a:pPr>
            <a:r>
              <a:t>Communication effectiveness</a:t>
            </a:r>
          </a:p>
          <a:p>
            <a:pPr>
              <a:spcAft>
                <a:spcPts val="600"/>
              </a:spcAft>
              <a:defRPr sz="1800">
                <a:solidFill>
                  <a:srgbClr val="333333"/>
                </a:solidFill>
              </a:defRPr>
            </a:pPr>
            <a:r>
              <a:t>Management engagement</a:t>
            </a:r>
          </a:p>
          <a:p>
            <a:pPr>
              <a:spcAft>
                <a:spcPts val="1000"/>
              </a:spcAft>
              <a:defRPr sz="1800">
                <a:solidFill>
                  <a:srgbClr val="333333"/>
                </a:solidFill>
              </a:defRPr>
            </a:pPr>
            <a:r>
              <a:t>Scoring System: — 90-100: Excellent (Strategic partner candidates)</a:t>
            </a:r>
          </a:p>
          <a:p>
            <a:pPr>
              <a:spcAft>
                <a:spcPts val="600"/>
              </a:spcAft>
              <a:defRPr sz="1800">
                <a:solidFill>
                  <a:srgbClr val="333333"/>
                </a:solidFill>
              </a:defRPr>
            </a:pPr>
            <a:r>
              <a:t>70-89: Good (Maintain relationship)</a:t>
            </a:r>
          </a:p>
          <a:p>
            <a:pPr>
              <a:spcAft>
                <a:spcPts val="600"/>
              </a:spcAft>
              <a:defRPr sz="1800">
                <a:solidFill>
                  <a:srgbClr val="333333"/>
                </a:solidFill>
              </a:defRPr>
            </a:pPr>
            <a:r>
              <a:t>50-69: Needs improvement (Performance plan required)</a:t>
            </a:r>
          </a:p>
          <a:p>
            <a:pPr>
              <a:spcAft>
                <a:spcPts val="600"/>
              </a:spcAft>
              <a:defRPr sz="1800">
                <a:solidFill>
                  <a:srgbClr val="333333"/>
                </a:solidFill>
              </a:defRPr>
            </a:pPr>
            <a:r>
              <a:t>&lt;50: Unacceptable (Consider replacement)</a:t>
            </a:r>
          </a:p>
          <a:p>
            <a:pPr>
              <a:spcAft>
                <a:spcPts val="1000"/>
              </a:spcAft>
              <a:defRPr sz="1800">
                <a:solidFill>
                  <a:srgbClr val="333333"/>
                </a:solidFill>
              </a:defRPr>
            </a:pPr>
            <a:r>
              <a:t>Real example - Toyota Supplier Management: — Quarterly scorecards sent to all Tier 1 suppliers</a:t>
            </a:r>
          </a:p>
          <a:p>
            <a:pPr>
              <a:spcAft>
                <a:spcPts val="600"/>
              </a:spcAft>
              <a:defRPr sz="1800">
                <a:solidFill>
                  <a:srgbClr val="333333"/>
                </a:solidFill>
              </a:defRPr>
            </a:pPr>
            <a:r>
              <a:t>Annual supplier convention - top performers recognized</a:t>
            </a:r>
          </a:p>
          <a:p>
            <a:pPr>
              <a:spcAft>
                <a:spcPts val="600"/>
              </a:spcAft>
              <a:defRPr sz="1800">
                <a:solidFill>
                  <a:srgbClr val="333333"/>
                </a:solidFill>
              </a:defRPr>
            </a:pPr>
            <a:r>
              <a:t>Low performers: Joint improvement teams (kaizen events)</a:t>
            </a:r>
          </a:p>
          <a:p>
            <a:pPr>
              <a:spcAft>
                <a:spcPts val="600"/>
              </a:spcAft>
              <a:defRPr sz="1800">
                <a:solidFill>
                  <a:srgbClr val="333333"/>
                </a:solidFill>
              </a:defRPr>
            </a:pPr>
            <a:r>
              <a:t>Persistent low performers: Phased replacement</a:t>
            </a:r>
          </a:p>
          <a:p>
            <a:pPr>
              <a:spcAft>
                <a:spcPts val="1000"/>
              </a:spcAft>
              <a:defRPr sz="1800">
                <a:solidFill>
                  <a:srgbClr val="333333"/>
                </a:solidFill>
              </a:defRPr>
            </a:pPr>
            <a:r>
              <a:t>Best practice: Make metrics transparent. Supplier should know score before you do (self-assessment).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Early Supplier Involvement (ESI)</a:t>
            </a:r>
          </a:p>
        </p:txBody>
      </p:sp>
      <p:sp>
        <p:nvSpPr>
          <p:cNvPr id="3" name="Content Placeholder 2"/>
          <p:cNvSpPr>
            <a:spLocks noGrp="1"/>
          </p:cNvSpPr>
          <p:nvPr>
            <p:ph idx="1"/>
          </p:nvPr>
        </p:nvSpPr>
        <p:spPr/>
        <p:txBody>
          <a:bodyPr/>
          <a:lstStyle/>
          <a:p>
            <a:pPr>
              <a:spcAft>
                <a:spcPts val="1000"/>
              </a:spcAft>
              <a:defRPr sz="1800">
                <a:solidFill>
                  <a:srgbClr val="333333"/>
                </a:solidFill>
              </a:defRPr>
            </a:pPr>
            <a:r>
              <a:t>One of the most powerful strategies: involve suppliers EARLY in development.</a:t>
            </a:r>
          </a:p>
          <a:p>
            <a:pPr>
              <a:spcAft>
                <a:spcPts val="1000"/>
              </a:spcAft>
              <a:defRPr sz="1800">
                <a:solidFill>
                  <a:srgbClr val="333333"/>
                </a:solidFill>
              </a:defRPr>
            </a:pPr>
            <a:r>
              <a:t>Traditional Approach (Waterfall):</a:t>
            </a:r>
          </a:p>
          <a:p>
            <a:pPr>
              <a:spcAft>
                <a:spcPts val="600"/>
              </a:spcAft>
              <a:defRPr sz="1800">
                <a:solidFill>
                  <a:srgbClr val="333333"/>
                </a:solidFill>
              </a:defRPr>
            </a:pPr>
            <a:r>
              <a:t>OEM completes design (18 months)</a:t>
            </a:r>
          </a:p>
          <a:p>
            <a:pPr>
              <a:spcAft>
                <a:spcPts val="600"/>
              </a:spcAft>
              <a:defRPr sz="1800">
                <a:solidFill>
                  <a:srgbClr val="333333"/>
                </a:solidFill>
              </a:defRPr>
            </a:pPr>
            <a:r>
              <a:t>OEM creates specifications</a:t>
            </a:r>
          </a:p>
          <a:p>
            <a:pPr>
              <a:spcAft>
                <a:spcPts val="600"/>
              </a:spcAft>
              <a:defRPr sz="1800">
                <a:solidFill>
                  <a:srgbClr val="333333"/>
                </a:solidFill>
              </a:defRPr>
            </a:pPr>
            <a:r>
              <a:t>OEM sends RFQ (Request for Quote) to suppliers</a:t>
            </a:r>
          </a:p>
          <a:p>
            <a:pPr>
              <a:spcAft>
                <a:spcPts val="600"/>
              </a:spcAft>
              <a:defRPr sz="1800">
                <a:solidFill>
                  <a:srgbClr val="333333"/>
                </a:solidFill>
              </a:defRPr>
            </a:pPr>
            <a:r>
              <a:t>Suppliers bid (3 months)</a:t>
            </a:r>
          </a:p>
          <a:p>
            <a:pPr>
              <a:spcAft>
                <a:spcPts val="600"/>
              </a:spcAft>
              <a:defRPr sz="1800">
                <a:solidFill>
                  <a:srgbClr val="333333"/>
                </a:solidFill>
              </a:defRPr>
            </a:pPr>
            <a:r>
              <a:t>OEM selects supplier</a:t>
            </a:r>
          </a:p>
          <a:p>
            <a:pPr>
              <a:spcAft>
                <a:spcPts val="600"/>
              </a:spcAft>
              <a:defRPr sz="1800">
                <a:solidFill>
                  <a:srgbClr val="333333"/>
                </a:solidFill>
              </a:defRPr>
            </a:pPr>
            <a:r>
              <a:t>Supplier discovers design is difficult/expensive to manufacture</a:t>
            </a:r>
          </a:p>
          <a:p>
            <a:pPr>
              <a:spcAft>
                <a:spcPts val="600"/>
              </a:spcAft>
              <a:defRPr sz="1800">
                <a:solidFill>
                  <a:srgbClr val="333333"/>
                </a:solidFill>
              </a:defRPr>
            </a:pPr>
            <a:r>
              <a:t>Extensive rework required (6-12 months delay)</a:t>
            </a:r>
          </a:p>
          <a:p>
            <a:pPr>
              <a:spcAft>
                <a:spcPts val="1000"/>
              </a:spcAft>
              <a:defRPr sz="1800">
                <a:solidFill>
                  <a:srgbClr val="333333"/>
                </a:solidFill>
              </a:defRPr>
            </a:pPr>
            <a:r>
              <a:t>Total time: 27-30 months + delays</a:t>
            </a:r>
          </a:p>
          <a:p>
            <a:pPr>
              <a:spcAft>
                <a:spcPts val="1000"/>
              </a:spcAft>
              <a:defRPr sz="1800">
                <a:solidFill>
                  <a:srgbClr val="333333"/>
                </a:solidFill>
              </a:defRPr>
            </a:pPr>
            <a:r>
              <a:t>Early Supplier Involvement (ESI) Approach:</a:t>
            </a:r>
          </a:p>
          <a:p>
            <a:pPr>
              <a:spcAft>
                <a:spcPts val="600"/>
              </a:spcAft>
              <a:defRPr sz="1800">
                <a:solidFill>
                  <a:srgbClr val="333333"/>
                </a:solidFill>
              </a:defRPr>
            </a:pPr>
            <a:r>
              <a:t>OEM defines concept and high-level requirements</a:t>
            </a:r>
          </a:p>
          <a:p>
            <a:pPr>
              <a:spcAft>
                <a:spcPts val="600"/>
              </a:spcAft>
              <a:defRPr sz="1800">
                <a:solidFill>
                  <a:srgbClr val="333333"/>
                </a:solidFill>
              </a:defRPr>
            </a:pPr>
            <a:r>
              <a:t>OEM invites strategic suppliers to co-develop (Month 3)</a:t>
            </a:r>
          </a:p>
          <a:p>
            <a:pPr>
              <a:spcAft>
                <a:spcPts val="600"/>
              </a:spcAft>
              <a:defRPr sz="1800">
                <a:solidFill>
                  <a:srgbClr val="333333"/>
                </a:solidFill>
              </a:defRPr>
            </a:pPr>
            <a:r>
              <a:t>Joint engineering teams design for manufacturability</a:t>
            </a:r>
          </a:p>
          <a:p>
            <a:pPr>
              <a:spcAft>
                <a:spcPts val="600"/>
              </a:spcAft>
              <a:defRPr sz="1800">
                <a:solidFill>
                  <a:srgbClr val="333333"/>
                </a:solidFill>
              </a:defRPr>
            </a:pPr>
            <a:r>
              <a:t>Supplier input on cost optimization, process capability</a:t>
            </a:r>
          </a:p>
          <a:p>
            <a:pPr>
              <a:spcAft>
                <a:spcPts val="600"/>
              </a:spcAft>
              <a:defRPr sz="1800">
                <a:solidFill>
                  <a:srgbClr val="333333"/>
                </a:solidFill>
              </a:defRPr>
            </a:pPr>
            <a:r>
              <a:t>Design validated with supplier's manufacturing process</a:t>
            </a:r>
          </a:p>
          <a:p>
            <a:pPr>
              <a:spcAft>
                <a:spcPts val="600"/>
              </a:spcAft>
              <a:defRPr sz="1800">
                <a:solidFill>
                  <a:srgbClr val="333333"/>
                </a:solidFill>
              </a:defRPr>
            </a:pPr>
            <a:r>
              <a:t>Smooth transition to production</a:t>
            </a:r>
          </a:p>
          <a:p>
            <a:pPr>
              <a:spcAft>
                <a:spcPts val="1000"/>
              </a:spcAft>
              <a:defRPr sz="1800">
                <a:solidFill>
                  <a:srgbClr val="333333"/>
                </a:solidFill>
              </a:defRPr>
            </a:pPr>
            <a:r>
              <a:t>Total time: 20-24 months, fewer surprises</a:t>
            </a:r>
          </a:p>
          <a:p>
            <a:pPr>
              <a:spcAft>
                <a:spcPts val="1000"/>
              </a:spcAft>
              <a:defRPr sz="1800">
                <a:solidFill>
                  <a:srgbClr val="333333"/>
                </a:solidFill>
              </a:defRPr>
            </a:pPr>
            <a:r>
              <a:t>ESI Benefits: — Design for Manufacturing (DFM): Supplier brings manufacturing expertise early</a:t>
            </a:r>
          </a:p>
          <a:p>
            <a:pPr>
              <a:spcAft>
                <a:spcPts val="600"/>
              </a:spcAft>
              <a:defRPr sz="1800">
                <a:solidFill>
                  <a:srgbClr val="333333"/>
                </a:solidFill>
              </a:defRPr>
            </a:pPr>
            <a:r>
              <a:t>Cost optimization: Avoid expensive features with marginal value</a:t>
            </a:r>
          </a:p>
          <a:p>
            <a:pPr>
              <a:spcAft>
                <a:spcPts val="600"/>
              </a:spcAft>
              <a:defRPr sz="1800">
                <a:solidFill>
                  <a:srgbClr val="333333"/>
                </a:solidFill>
              </a:defRPr>
            </a:pPr>
            <a:r>
              <a:t>Risk reduction: Manufacturing issues caught in design phase, not production</a:t>
            </a:r>
          </a:p>
          <a:p>
            <a:pPr>
              <a:spcAft>
                <a:spcPts val="600"/>
              </a:spcAft>
              <a:defRPr sz="1800">
                <a:solidFill>
                  <a:srgbClr val="333333"/>
                </a:solidFill>
              </a:defRPr>
            </a:pPr>
            <a:r>
              <a:t>Faster time-to-market: Parallel development, no rework loops</a:t>
            </a:r>
          </a:p>
          <a:p>
            <a:pPr>
              <a:spcAft>
                <a:spcPts val="600"/>
              </a:spcAft>
              <a:defRPr sz="1800">
                <a:solidFill>
                  <a:srgbClr val="333333"/>
                </a:solidFill>
              </a:defRPr>
            </a:pPr>
            <a:r>
              <a:t>Innovation: Supplier brings latest technologies and ideas</a:t>
            </a:r>
          </a:p>
          <a:p>
            <a:pPr>
              <a:spcAft>
                <a:spcPts val="1000"/>
              </a:spcAft>
              <a:defRPr sz="1800">
                <a:solidFill>
                  <a:srgbClr val="333333"/>
                </a:solidFill>
              </a:defRPr>
            </a:pPr>
            <a:r>
              <a:t>ESI Challenges: — IP concerns: Sharing designs before supplier selection finalized</a:t>
            </a:r>
          </a:p>
          <a:p>
            <a:pPr>
              <a:spcAft>
                <a:spcPts val="600"/>
              </a:spcAft>
              <a:defRPr sz="1800">
                <a:solidFill>
                  <a:srgbClr val="333333"/>
                </a:solidFill>
              </a:defRPr>
            </a:pPr>
            <a:r>
              <a:t>Multiple supplier management: Can't involve all bidders (too many)</a:t>
            </a:r>
          </a:p>
          <a:p>
            <a:pPr>
              <a:spcAft>
                <a:spcPts val="600"/>
              </a:spcAft>
              <a:defRPr sz="1800">
                <a:solidFill>
                  <a:srgbClr val="333333"/>
                </a:solidFill>
              </a:defRPr>
            </a:pPr>
            <a:r>
              <a:t>Commitment risk: Supplier invests time before contract awarded</a:t>
            </a:r>
          </a:p>
          <a:p>
            <a:pPr>
              <a:spcAft>
                <a:spcPts val="1000"/>
              </a:spcAft>
              <a:defRPr sz="1800">
                <a:solidFill>
                  <a:srgbClr val="333333"/>
                </a:solidFill>
              </a:defRPr>
            </a:pPr>
            <a:r>
              <a:t>Solutions: — Use NDAs and limited technical disclosure</a:t>
            </a:r>
          </a:p>
          <a:p>
            <a:pPr>
              <a:spcAft>
                <a:spcPts val="600"/>
              </a:spcAft>
              <a:defRPr sz="1800">
                <a:solidFill>
                  <a:srgbClr val="333333"/>
                </a:solidFill>
              </a:defRPr>
            </a:pPr>
            <a:r>
              <a:t>Involve 2-3 pre-selected suppliers (competitive ESI)</a:t>
            </a:r>
          </a:p>
          <a:p>
            <a:pPr>
              <a:spcAft>
                <a:spcPts val="600"/>
              </a:spcAft>
              <a:defRPr sz="1800">
                <a:solidFill>
                  <a:srgbClr val="333333"/>
                </a:solidFill>
              </a:defRPr>
            </a:pPr>
            <a:r>
              <a:t>Compensate suppliers for ESI participation (development fees)</a:t>
            </a:r>
          </a:p>
          <a:p>
            <a:pPr>
              <a:spcAft>
                <a:spcPts val="600"/>
              </a:spcAft>
              <a:defRPr sz="1800">
                <a:solidFill>
                  <a:srgbClr val="333333"/>
                </a:solidFill>
              </a:defRPr>
            </a:pPr>
            <a:r>
              <a:t>Clear communication on selection criteria</a:t>
            </a:r>
          </a:p>
          <a:p>
            <a:pPr>
              <a:spcAft>
                <a:spcPts val="1000"/>
              </a:spcAft>
              <a:defRPr sz="1800">
                <a:solidFill>
                  <a:srgbClr val="333333"/>
                </a:solidFill>
              </a:defRPr>
            </a:pPr>
            <a:r>
              <a:t>Automotive examples: — Tesla + Panasonic: Co-developed Gigafactory battery technology</a:t>
            </a:r>
          </a:p>
          <a:p>
            <a:pPr>
              <a:spcAft>
                <a:spcPts val="600"/>
              </a:spcAft>
              <a:defRPr sz="1800">
                <a:solidFill>
                  <a:srgbClr val="333333"/>
                </a:solidFill>
              </a:defRPr>
            </a:pPr>
            <a:r>
              <a:t>GM + LG: Joint development of Ultium battery platform</a:t>
            </a:r>
          </a:p>
          <a:p>
            <a:pPr>
              <a:spcAft>
                <a:spcPts val="600"/>
              </a:spcAft>
              <a:defRPr sz="1800">
                <a:solidFill>
                  <a:srgbClr val="333333"/>
                </a:solidFill>
              </a:defRPr>
            </a:pPr>
            <a:r>
              <a:t>Ford + Bosch: Co-development of electric drive units</a:t>
            </a:r>
          </a:p>
          <a:p>
            <a:pPr>
              <a:spcAft>
                <a:spcPts val="1000"/>
              </a:spcAft>
              <a:defRPr sz="1800">
                <a:solidFill>
                  <a:srgbClr val="333333"/>
                </a:solidFill>
              </a:defRPr>
            </a:pPr>
            <a:r>
              <a:t>Recommendation: For complex, strategic components, ESI is no longer optional - it's competitive necessity.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 Part 2: Contract Management (Slides 12-14, ~8 minutes)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Types of Contracts in Automotive Systems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Contracts are the legal framework for agreements. Choose wrong contract type, and you're exposed to risk.</a:t>
            </a:r>
          </a:p>
          <a:p>
            <a:pPr>
              <a:spcAft>
                <a:spcPts val="1000"/>
              </a:spcAft>
              <a:defRPr sz="1800">
                <a:solidFill>
                  <a:srgbClr val="333333"/>
                </a:solidFill>
              </a:defRPr>
            </a:pPr>
            <a:r>
              <a:t>1. Fixed-Price Contracts (Firm Fixed Price - FFP) — Description: Supplier agrees to deliver for fixed price, regardless of costs</a:t>
            </a:r>
          </a:p>
          <a:p>
            <a:pPr>
              <a:spcAft>
                <a:spcPts val="600"/>
              </a:spcAft>
              <a:defRPr sz="1800">
                <a:solidFill>
                  <a:srgbClr val="333333"/>
                </a:solidFill>
              </a:defRPr>
            </a:pPr>
            <a:r>
              <a:t>When to use: Well-defined scope, mature technology, low risk</a:t>
            </a:r>
          </a:p>
          <a:p>
            <a:pPr>
              <a:spcAft>
                <a:spcPts val="600"/>
              </a:spcAft>
              <a:defRPr sz="1800">
                <a:solidFill>
                  <a:srgbClr val="333333"/>
                </a:solidFill>
              </a:defRPr>
            </a:pPr>
            <a:r>
              <a:t>Risk allocation: Supplier bears cost risk</a:t>
            </a:r>
          </a:p>
          <a:p>
            <a:pPr>
              <a:spcAft>
                <a:spcPts val="600"/>
              </a:spcAft>
              <a:defRPr sz="1800">
                <a:solidFill>
                  <a:srgbClr val="333333"/>
                </a:solidFill>
              </a:defRPr>
            </a:pPr>
            <a:r>
              <a:t>Example: Commodity components (fasteners, standard connectors)</a:t>
            </a:r>
          </a:p>
          <a:p>
            <a:pPr>
              <a:spcAft>
                <a:spcPts val="600"/>
              </a:spcAft>
              <a:defRPr sz="1800">
                <a:solidFill>
                  <a:srgbClr val="333333"/>
                </a:solidFill>
              </a:defRPr>
            </a:pPr>
            <a:r>
              <a:t>Pros: Predictable cost, supplier incentivized to be efficient</a:t>
            </a:r>
          </a:p>
          <a:p>
            <a:pPr>
              <a:spcAft>
                <a:spcPts val="600"/>
              </a:spcAft>
              <a:defRPr sz="1800">
                <a:solidFill>
                  <a:srgbClr val="333333"/>
                </a:solidFill>
              </a:defRPr>
            </a:pPr>
            <a:r>
              <a:t>Cons: Supplier may cut corners on quality to preserve margin</a:t>
            </a:r>
          </a:p>
          <a:p>
            <a:pPr>
              <a:spcAft>
                <a:spcPts val="1000"/>
              </a:spcAft>
              <a:defRPr sz="1800">
                <a:solidFill>
                  <a:srgbClr val="333333"/>
                </a:solidFill>
              </a:defRPr>
            </a:pPr>
            <a:r>
              <a:t>2. Cost-Plus Contracts (Cost Plus Fixed Fee - CPFF) — Description: OEM reimburses supplier's costs + fixed fee/margin</a:t>
            </a:r>
          </a:p>
          <a:p>
            <a:pPr>
              <a:spcAft>
                <a:spcPts val="600"/>
              </a:spcAft>
              <a:defRPr sz="1800">
                <a:solidFill>
                  <a:srgbClr val="333333"/>
                </a:solidFill>
              </a:defRPr>
            </a:pPr>
            <a:r>
              <a:t>When to use: Uncertain scope, new technology, high development risk</a:t>
            </a:r>
          </a:p>
          <a:p>
            <a:pPr>
              <a:spcAft>
                <a:spcPts val="600"/>
              </a:spcAft>
              <a:defRPr sz="1800">
                <a:solidFill>
                  <a:srgbClr val="333333"/>
                </a:solidFill>
              </a:defRPr>
            </a:pPr>
            <a:r>
              <a:t>Risk allocation: OEM bears cost risk</a:t>
            </a:r>
          </a:p>
          <a:p>
            <a:pPr>
              <a:spcAft>
                <a:spcPts val="600"/>
              </a:spcAft>
              <a:defRPr sz="1800">
                <a:solidFill>
                  <a:srgbClr val="333333"/>
                </a:solidFill>
              </a:defRPr>
            </a:pPr>
            <a:r>
              <a:t>Example: First-of-kind autonomous driving sensor development</a:t>
            </a:r>
          </a:p>
          <a:p>
            <a:pPr>
              <a:spcAft>
                <a:spcPts val="600"/>
              </a:spcAft>
              <a:defRPr sz="1800">
                <a:solidFill>
                  <a:srgbClr val="333333"/>
                </a:solidFill>
              </a:defRPr>
            </a:pPr>
            <a:r>
              <a:t>Pros: Encourages innovation, doesn't penalize supplier for unknowns</a:t>
            </a:r>
          </a:p>
          <a:p>
            <a:pPr>
              <a:spcAft>
                <a:spcPts val="600"/>
              </a:spcAft>
              <a:defRPr sz="1800">
                <a:solidFill>
                  <a:srgbClr val="333333"/>
                </a:solidFill>
              </a:defRPr>
            </a:pPr>
            <a:r>
              <a:t>Cons: No cost control, supplier has limited incentive to optimize</a:t>
            </a:r>
          </a:p>
          <a:p>
            <a:pPr>
              <a:spcAft>
                <a:spcPts val="1000"/>
              </a:spcAft>
              <a:defRPr sz="1800">
                <a:solidFill>
                  <a:srgbClr val="333333"/>
                </a:solidFill>
              </a:defRPr>
            </a:pPr>
            <a:r>
              <a:t>3. Cost-Plus-Incentive Fee (CPIF) — Description: Reimbursement + performance-based incentives</a:t>
            </a:r>
          </a:p>
          <a:p>
            <a:pPr>
              <a:spcAft>
                <a:spcPts val="600"/>
              </a:spcAft>
              <a:defRPr sz="1800">
                <a:solidFill>
                  <a:srgbClr val="333333"/>
                </a:solidFill>
              </a:defRPr>
            </a:pPr>
            <a:r>
              <a:t>When to use: Development with measurable objectives</a:t>
            </a:r>
          </a:p>
          <a:p>
            <a:pPr>
              <a:spcAft>
                <a:spcPts val="600"/>
              </a:spcAft>
              <a:defRPr sz="1800">
                <a:solidFill>
                  <a:srgbClr val="333333"/>
                </a:solidFill>
              </a:defRPr>
            </a:pPr>
            <a:r>
              <a:t>Risk allocation: Shared</a:t>
            </a:r>
          </a:p>
          <a:p>
            <a:pPr>
              <a:spcAft>
                <a:spcPts val="600"/>
              </a:spcAft>
              <a:defRPr sz="1800">
                <a:solidFill>
                  <a:srgbClr val="333333"/>
                </a:solidFill>
              </a:defRPr>
            </a:pPr>
            <a:r>
              <a:t>Example: Battery development with range targets (bonus for exceeding targets)</a:t>
            </a:r>
          </a:p>
          <a:p>
            <a:pPr>
              <a:spcAft>
                <a:spcPts val="600"/>
              </a:spcAft>
              <a:defRPr sz="1800">
                <a:solidFill>
                  <a:srgbClr val="333333"/>
                </a:solidFill>
              </a:defRPr>
            </a:pPr>
            <a:r>
              <a:t>Pros: Aligns incentives, rewards performance</a:t>
            </a:r>
          </a:p>
          <a:p>
            <a:pPr>
              <a:spcAft>
                <a:spcPts val="600"/>
              </a:spcAft>
              <a:defRPr sz="1800">
                <a:solidFill>
                  <a:srgbClr val="333333"/>
                </a:solidFill>
              </a:defRPr>
            </a:pPr>
            <a:r>
              <a:t>Cons: Complex to administer, requires clear metrics</a:t>
            </a:r>
          </a:p>
          <a:p>
            <a:pPr>
              <a:spcAft>
                <a:spcPts val="1000"/>
              </a:spcAft>
              <a:defRPr sz="1800">
                <a:solidFill>
                  <a:srgbClr val="333333"/>
                </a:solidFill>
              </a:defRPr>
            </a:pPr>
            <a:r>
              <a:t>4. Time &amp; Materials (T&amp;M) — Description: Pay for labor hours and materials at agreed rates</a:t>
            </a:r>
          </a:p>
          <a:p>
            <a:pPr>
              <a:spcAft>
                <a:spcPts val="600"/>
              </a:spcAft>
              <a:defRPr sz="1800">
                <a:solidFill>
                  <a:srgbClr val="333333"/>
                </a:solidFill>
              </a:defRPr>
            </a:pPr>
            <a:r>
              <a:t>When to use: Scope cannot be defined, consulting/support services</a:t>
            </a:r>
          </a:p>
          <a:p>
            <a:pPr>
              <a:spcAft>
                <a:spcPts val="600"/>
              </a:spcAft>
              <a:defRPr sz="1800">
                <a:solidFill>
                  <a:srgbClr val="333333"/>
                </a:solidFill>
              </a:defRPr>
            </a:pPr>
            <a:r>
              <a:t>Risk allocation: OEM bears risk of hours expanding</a:t>
            </a:r>
          </a:p>
          <a:p>
            <a:pPr>
              <a:spcAft>
                <a:spcPts val="600"/>
              </a:spcAft>
              <a:defRPr sz="1800">
                <a:solidFill>
                  <a:srgbClr val="333333"/>
                </a:solidFill>
              </a:defRPr>
            </a:pPr>
            <a:r>
              <a:t>Example: Software debugging support, prototype development</a:t>
            </a:r>
          </a:p>
          <a:p>
            <a:pPr>
              <a:spcAft>
                <a:spcPts val="600"/>
              </a:spcAft>
              <a:defRPr sz="1800">
                <a:solidFill>
                  <a:srgbClr val="333333"/>
                </a:solidFill>
              </a:defRPr>
            </a:pPr>
            <a:r>
              <a:t>Pros: Flexibility, easy to start</a:t>
            </a:r>
          </a:p>
          <a:p>
            <a:pPr>
              <a:spcAft>
                <a:spcPts val="600"/>
              </a:spcAft>
              <a:defRPr sz="1800">
                <a:solidFill>
                  <a:srgbClr val="333333"/>
                </a:solidFill>
              </a:defRPr>
            </a:pPr>
            <a:r>
              <a:t>Cons: Open-ended cost, requires close monitoring</a:t>
            </a:r>
          </a:p>
          <a:p>
            <a:pPr>
              <a:spcAft>
                <a:spcPts val="1000"/>
              </a:spcAft>
              <a:defRPr sz="1800">
                <a:solidFill>
                  <a:srgbClr val="333333"/>
                </a:solidFill>
              </a:defRPr>
            </a:pPr>
            <a:r>
              <a:t>5. Licensing Agreements — Description: Pay for right to use technology/IP</a:t>
            </a:r>
          </a:p>
          <a:p>
            <a:pPr>
              <a:spcAft>
                <a:spcPts val="600"/>
              </a:spcAft>
              <a:defRPr sz="1800">
                <a:solidFill>
                  <a:srgbClr val="333333"/>
                </a:solidFill>
              </a:defRPr>
            </a:pPr>
            <a:r>
              <a:t>Forms: Per-unit royalty, lump-sum, subscription</a:t>
            </a:r>
          </a:p>
          <a:p>
            <a:pPr>
              <a:spcAft>
                <a:spcPts val="600"/>
              </a:spcAft>
              <a:defRPr sz="1800">
                <a:solidFill>
                  <a:srgbClr val="333333"/>
                </a:solidFill>
              </a:defRPr>
            </a:pPr>
            <a:r>
              <a:t>Example: Qualcomm chips (per-vehicle license), AUTOSAR licenses</a:t>
            </a:r>
          </a:p>
          <a:p>
            <a:pPr>
              <a:spcAft>
                <a:spcPts val="1000"/>
              </a:spcAft>
              <a:defRPr sz="1800">
                <a:solidFill>
                  <a:srgbClr val="333333"/>
                </a:solidFill>
              </a:defRPr>
            </a:pPr>
            <a:r>
              <a:t>Automotive standard practice: — Development phase: Cost-plus or T&amp;M (uncertainty high)</a:t>
            </a:r>
          </a:p>
          <a:p>
            <a:pPr>
              <a:spcAft>
                <a:spcPts val="600"/>
              </a:spcAft>
              <a:defRPr sz="1800">
                <a:solidFill>
                  <a:srgbClr val="333333"/>
                </a:solidFill>
              </a:defRPr>
            </a:pPr>
            <a:r>
              <a:t>Production phase: Fixed price (volume known, mature design)</a:t>
            </a:r>
          </a:p>
          <a:p>
            <a:pPr>
              <a:spcAft>
                <a:spcPts val="600"/>
              </a:spcAft>
              <a:defRPr sz="1800">
                <a:solidFill>
                  <a:srgbClr val="333333"/>
                </a:solidFill>
              </a:defRPr>
            </a:pPr>
            <a:r>
              <a:t>Transition: Move from cost-plus to fixed price as uncertainty reduces</a:t>
            </a:r>
          </a:p>
          <a:p>
            <a:pPr>
              <a:spcAft>
                <a:spcPts val="1000"/>
              </a:spcAft>
              <a:defRPr sz="1800">
                <a:solidFill>
                  <a:srgbClr val="333333"/>
                </a:solidFill>
              </a:defRPr>
            </a:pPr>
            <a:r>
              <a:t>Risk management: Contract type is a systems engineering decision, not just procurement.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Critical Contract Clauses for Systems Engineers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As systems engineers, you'll work with contracts departments, but YOU must ensure these technical clauses are included:</a:t>
            </a:r>
          </a:p>
          <a:p>
            <a:pPr>
              <a:spcAft>
                <a:spcPts val="1000"/>
              </a:spcAft>
              <a:defRPr sz="1800">
                <a:solidFill>
                  <a:srgbClr val="333333"/>
                </a:solidFill>
              </a:defRPr>
            </a:pPr>
            <a:r>
              <a:t>1. Technical Requirements and Specifications — Reference to requirements documents (with version control)</a:t>
            </a:r>
          </a:p>
          <a:p>
            <a:pPr>
              <a:spcAft>
                <a:spcPts val="600"/>
              </a:spcAft>
              <a:defRPr sz="1800">
                <a:solidFill>
                  <a:srgbClr val="333333"/>
                </a:solidFill>
              </a:defRPr>
            </a:pPr>
            <a:r>
              <a:t>Performance criteria and acceptance tests</a:t>
            </a:r>
          </a:p>
          <a:p>
            <a:pPr>
              <a:spcAft>
                <a:spcPts val="600"/>
              </a:spcAft>
              <a:defRPr sz="1800">
                <a:solidFill>
                  <a:srgbClr val="333333"/>
                </a:solidFill>
              </a:defRPr>
            </a:pPr>
            <a:r>
              <a:t>Compliance with standards (ISO 26262, ASPICE, etc.)</a:t>
            </a:r>
          </a:p>
          <a:p>
            <a:pPr>
              <a:spcAft>
                <a:spcPts val="600"/>
              </a:spcAft>
              <a:defRPr sz="1800">
                <a:solidFill>
                  <a:srgbClr val="333333"/>
                </a:solidFill>
              </a:defRPr>
            </a:pPr>
            <a:r>
              <a:t>Why it matters: These are YOUR requirements - verify they're correctly captured</a:t>
            </a:r>
          </a:p>
          <a:p>
            <a:pPr>
              <a:spcAft>
                <a:spcPts val="1000"/>
              </a:spcAft>
              <a:defRPr sz="1800">
                <a:solidFill>
                  <a:srgbClr val="333333"/>
                </a:solidFill>
              </a:defRPr>
            </a:pPr>
            <a:r>
              <a:t>2. Intellectual Property (IP) Ownership — Background IP: What supplier brings (they own)</a:t>
            </a:r>
          </a:p>
          <a:p>
            <a:pPr>
              <a:spcAft>
                <a:spcPts val="600"/>
              </a:spcAft>
              <a:defRPr sz="1800">
                <a:solidFill>
                  <a:srgbClr val="333333"/>
                </a:solidFill>
              </a:defRPr>
            </a:pPr>
            <a:r>
              <a:t>Foreground IP: What's developed under contract (negotiated ownership)</a:t>
            </a:r>
          </a:p>
          <a:p>
            <a:pPr>
              <a:spcAft>
                <a:spcPts val="600"/>
              </a:spcAft>
              <a:defRPr sz="1800">
                <a:solidFill>
                  <a:srgbClr val="333333"/>
                </a:solidFill>
              </a:defRPr>
            </a:pPr>
            <a:r>
              <a:t>License rights: Can OEM modify? Share with other suppliers?</a:t>
            </a:r>
          </a:p>
          <a:p>
            <a:pPr>
              <a:spcAft>
                <a:spcPts val="600"/>
              </a:spcAft>
              <a:defRPr sz="1800">
                <a:solidFill>
                  <a:srgbClr val="333333"/>
                </a:solidFill>
              </a:defRPr>
            </a:pPr>
            <a:r>
              <a:t>Example clause: 'OEM owns all IP developed specifically for this project. Supplier retains IP on standard platform components but grants OEM perpetual license.'</a:t>
            </a:r>
          </a:p>
          <a:p>
            <a:pPr>
              <a:spcAft>
                <a:spcPts val="600"/>
              </a:spcAft>
              <a:defRPr sz="1800">
                <a:solidFill>
                  <a:srgbClr val="333333"/>
                </a:solidFill>
              </a:defRPr>
            </a:pPr>
            <a:r>
              <a:t>Why it matters: Affects your ability to change suppliers, modify designs, reuse across programs</a:t>
            </a:r>
          </a:p>
          <a:p>
            <a:pPr>
              <a:spcAft>
                <a:spcPts val="1000"/>
              </a:spcAft>
              <a:defRPr sz="1800">
                <a:solidFill>
                  <a:srgbClr val="333333"/>
                </a:solidFill>
              </a:defRPr>
            </a:pPr>
            <a:r>
              <a:t>3. Change Control Process — Engineering Change Order (ECO) procedure</a:t>
            </a:r>
          </a:p>
          <a:p>
            <a:pPr>
              <a:spcAft>
                <a:spcPts val="600"/>
              </a:spcAft>
              <a:defRPr sz="1800">
                <a:solidFill>
                  <a:srgbClr val="333333"/>
                </a:solidFill>
              </a:defRPr>
            </a:pPr>
            <a:r>
              <a:t>Who can authorize changes? What's the approval process?</a:t>
            </a:r>
          </a:p>
          <a:p>
            <a:pPr>
              <a:spcAft>
                <a:spcPts val="600"/>
              </a:spcAft>
              <a:defRPr sz="1800">
                <a:solidFill>
                  <a:srgbClr val="333333"/>
                </a:solidFill>
              </a:defRPr>
            </a:pPr>
            <a:r>
              <a:t>Cost and schedule impact assessment required</a:t>
            </a:r>
          </a:p>
          <a:p>
            <a:pPr>
              <a:spcAft>
                <a:spcPts val="600"/>
              </a:spcAft>
              <a:defRPr sz="1800">
                <a:solidFill>
                  <a:srgbClr val="333333"/>
                </a:solidFill>
              </a:defRPr>
            </a:pPr>
            <a:r>
              <a:t>Why it matters: Prevents scope creep, ensures traceable changes</a:t>
            </a:r>
          </a:p>
          <a:p>
            <a:pPr>
              <a:spcAft>
                <a:spcPts val="1000"/>
              </a:spcAft>
              <a:defRPr sz="1800">
                <a:solidFill>
                  <a:srgbClr val="333333"/>
                </a:solidFill>
              </a:defRPr>
            </a:pPr>
            <a:r>
              <a:t>4. Quality and Inspection Rights — Quality standards and acceptance criteria (e.g., PPAP - Production Part Approval Process)</a:t>
            </a:r>
          </a:p>
          <a:p>
            <a:pPr>
              <a:spcAft>
                <a:spcPts val="600"/>
              </a:spcAft>
              <a:defRPr sz="1800">
                <a:solidFill>
                  <a:srgbClr val="333333"/>
                </a:solidFill>
              </a:defRPr>
            </a:pPr>
            <a:r>
              <a:t>OEM right to audit supplier facilities</a:t>
            </a:r>
          </a:p>
          <a:p>
            <a:pPr>
              <a:spcAft>
                <a:spcPts val="600"/>
              </a:spcAft>
              <a:defRPr sz="1800">
                <a:solidFill>
                  <a:srgbClr val="333333"/>
                </a:solidFill>
              </a:defRPr>
            </a:pPr>
            <a:r>
              <a:t>First article inspection requirements</a:t>
            </a:r>
          </a:p>
          <a:p>
            <a:pPr>
              <a:spcAft>
                <a:spcPts val="600"/>
              </a:spcAft>
              <a:defRPr sz="1800">
                <a:solidFill>
                  <a:srgbClr val="333333"/>
                </a:solidFill>
              </a:defRPr>
            </a:pPr>
            <a:r>
              <a:t>Corrective action process (8D methodology)</a:t>
            </a:r>
          </a:p>
          <a:p>
            <a:pPr>
              <a:spcAft>
                <a:spcPts val="600"/>
              </a:spcAft>
              <a:defRPr sz="1800">
                <a:solidFill>
                  <a:srgbClr val="333333"/>
                </a:solidFill>
              </a:defRPr>
            </a:pPr>
            <a:r>
              <a:t>Why it matters: Your verification and validation plans depend on this</a:t>
            </a:r>
          </a:p>
          <a:p>
            <a:pPr>
              <a:spcAft>
                <a:spcPts val="1000"/>
              </a:spcAft>
              <a:defRPr sz="1800">
                <a:solidFill>
                  <a:srgbClr val="333333"/>
                </a:solidFill>
              </a:defRPr>
            </a:pPr>
            <a:r>
              <a:t>5. Delivery and Performance Schedules — Milestone dates with deliverables defined</a:t>
            </a:r>
          </a:p>
          <a:p>
            <a:pPr>
              <a:spcAft>
                <a:spcPts val="600"/>
              </a:spcAft>
              <a:defRPr sz="1800">
                <a:solidFill>
                  <a:srgbClr val="333333"/>
                </a:solidFill>
              </a:defRPr>
            </a:pPr>
            <a:r>
              <a:t>Penalties for late delivery (liquidated damages)</a:t>
            </a:r>
          </a:p>
          <a:p>
            <a:pPr>
              <a:spcAft>
                <a:spcPts val="600"/>
              </a:spcAft>
              <a:defRPr sz="1800">
                <a:solidFill>
                  <a:srgbClr val="333333"/>
                </a:solidFill>
              </a:defRPr>
            </a:pPr>
            <a:r>
              <a:t>Early delivery incentives</a:t>
            </a:r>
          </a:p>
          <a:p>
            <a:pPr>
              <a:spcAft>
                <a:spcPts val="600"/>
              </a:spcAft>
              <a:defRPr sz="1800">
                <a:solidFill>
                  <a:srgbClr val="333333"/>
                </a:solidFill>
              </a:defRPr>
            </a:pPr>
            <a:r>
              <a:t>Force majeure clauses (what happens in crisis like chip shortage?)</a:t>
            </a:r>
          </a:p>
          <a:p>
            <a:pPr>
              <a:spcAft>
                <a:spcPts val="1000"/>
              </a:spcAft>
              <a:defRPr sz="1800">
                <a:solidFill>
                  <a:srgbClr val="333333"/>
                </a:solidFill>
              </a:defRPr>
            </a:pPr>
            <a:r>
              <a:t>6. Warranty and Liability — Warranty period (typically 3-5 years automotive)</a:t>
            </a:r>
          </a:p>
          <a:p>
            <a:pPr>
              <a:spcAft>
                <a:spcPts val="600"/>
              </a:spcAft>
              <a:defRPr sz="1800">
                <a:solidFill>
                  <a:srgbClr val="333333"/>
                </a:solidFill>
              </a:defRPr>
            </a:pPr>
            <a:r>
              <a:t>Defect correction obligations</a:t>
            </a:r>
          </a:p>
          <a:p>
            <a:pPr>
              <a:spcAft>
                <a:spcPts val="600"/>
              </a:spcAft>
              <a:defRPr sz="1800">
                <a:solidFill>
                  <a:srgbClr val="333333"/>
                </a:solidFill>
              </a:defRPr>
            </a:pPr>
            <a:r>
              <a:t>Liability caps and indemnification</a:t>
            </a:r>
          </a:p>
          <a:p>
            <a:pPr>
              <a:spcAft>
                <a:spcPts val="600"/>
              </a:spcAft>
              <a:defRPr sz="1800">
                <a:solidFill>
                  <a:srgbClr val="333333"/>
                </a:solidFill>
              </a:defRPr>
            </a:pPr>
            <a:r>
              <a:t>Recall cost sharing (critical in automotive!)</a:t>
            </a:r>
          </a:p>
          <a:p>
            <a:pPr>
              <a:spcAft>
                <a:spcPts val="600"/>
              </a:spcAft>
              <a:defRPr sz="1800">
                <a:solidFill>
                  <a:srgbClr val="333333"/>
                </a:solidFill>
              </a:defRPr>
            </a:pPr>
            <a:r>
              <a:t>Example: 'Supplier warrants components will be free from defects for 5 years/100,000 km. In event of recall due to supplier defect, supplier bears 70% of recall costs up to $10M.'</a:t>
            </a:r>
          </a:p>
          <a:p>
            <a:pPr>
              <a:spcAft>
                <a:spcPts val="1000"/>
              </a:spcAft>
              <a:defRPr sz="1800">
                <a:solidFill>
                  <a:srgbClr val="333333"/>
                </a:solidFill>
              </a:defRPr>
            </a:pPr>
            <a:r>
              <a:t>7. Transition and Exit Provisions — What happens at end of contract or if supplier is replaced?</a:t>
            </a:r>
          </a:p>
          <a:p>
            <a:pPr>
              <a:spcAft>
                <a:spcPts val="600"/>
              </a:spcAft>
              <a:defRPr sz="1800">
                <a:solidFill>
                  <a:srgbClr val="333333"/>
                </a:solidFill>
              </a:defRPr>
            </a:pPr>
            <a:r>
              <a:t>Transition assistance required</a:t>
            </a:r>
          </a:p>
          <a:p>
            <a:pPr>
              <a:spcAft>
                <a:spcPts val="600"/>
              </a:spcAft>
              <a:defRPr sz="1800">
                <a:solidFill>
                  <a:srgbClr val="333333"/>
                </a:solidFill>
              </a:defRPr>
            </a:pPr>
            <a:r>
              <a:t>Documentation and tooling handover</a:t>
            </a:r>
          </a:p>
          <a:p>
            <a:pPr>
              <a:spcAft>
                <a:spcPts val="600"/>
              </a:spcAft>
              <a:defRPr sz="1800">
                <a:solidFill>
                  <a:srgbClr val="333333"/>
                </a:solidFill>
              </a:defRPr>
            </a:pPr>
            <a:r>
              <a:t>Why it matters: Ensures business continuity</a:t>
            </a:r>
          </a:p>
          <a:p>
            <a:pPr>
              <a:spcAft>
                <a:spcPts val="1000"/>
              </a:spcAft>
              <a:defRPr sz="1800">
                <a:solidFill>
                  <a:srgbClr val="333333"/>
                </a:solidFill>
              </a:defRPr>
            </a:pPr>
            <a:r>
              <a:t>8. Cybersecurity and Data Protection (Increasingly Critical) — Security requirements compliance (ISO 21434, SAE J3061)</a:t>
            </a:r>
          </a:p>
          <a:p>
            <a:pPr>
              <a:spcAft>
                <a:spcPts val="600"/>
              </a:spcAft>
              <a:defRPr sz="1800">
                <a:solidFill>
                  <a:srgbClr val="333333"/>
                </a:solidFill>
              </a:defRPr>
            </a:pPr>
            <a:r>
              <a:t>Data ownership and protection</a:t>
            </a:r>
          </a:p>
          <a:p>
            <a:pPr>
              <a:spcAft>
                <a:spcPts val="600"/>
              </a:spcAft>
              <a:defRPr sz="1800">
                <a:solidFill>
                  <a:srgbClr val="333333"/>
                </a:solidFill>
              </a:defRPr>
            </a:pPr>
            <a:r>
              <a:t>Incident reporting and response</a:t>
            </a:r>
          </a:p>
          <a:p>
            <a:pPr>
              <a:spcAft>
                <a:spcPts val="1000"/>
              </a:spcAft>
              <a:defRPr sz="1800">
                <a:solidFill>
                  <a:srgbClr val="333333"/>
                </a:solidFill>
              </a:defRPr>
            </a:pPr>
            <a:r>
              <a:t>9. Continuous Improvement — Year-over-year cost reduction commitments</a:t>
            </a:r>
          </a:p>
          <a:p>
            <a:pPr>
              <a:spcAft>
                <a:spcPts val="600"/>
              </a:spcAft>
              <a:defRPr sz="1800">
                <a:solidFill>
                  <a:srgbClr val="333333"/>
                </a:solidFill>
              </a:defRPr>
            </a:pPr>
            <a:r>
              <a:t>Value engineering participation</a:t>
            </a:r>
          </a:p>
          <a:p>
            <a:pPr>
              <a:spcAft>
                <a:spcPts val="600"/>
              </a:spcAft>
              <a:defRPr sz="1800">
                <a:solidFill>
                  <a:srgbClr val="333333"/>
                </a:solidFill>
              </a:defRPr>
            </a:pPr>
            <a:r>
              <a:t>Technology roadmap alignment</a:t>
            </a:r>
          </a:p>
          <a:p>
            <a:pPr>
              <a:spcAft>
                <a:spcPts val="1000"/>
              </a:spcAft>
              <a:defRPr sz="1800">
                <a:solidFill>
                  <a:srgbClr val="333333"/>
                </a:solidFill>
              </a:defRPr>
            </a:pPr>
            <a:r>
              <a:t>Red flags to watch for: — Vague technical specifications ('industry standard quality')</a:t>
            </a:r>
          </a:p>
          <a:p>
            <a:pPr>
              <a:spcAft>
                <a:spcPts val="600"/>
              </a:spcAft>
              <a:defRPr sz="1800">
                <a:solidFill>
                  <a:srgbClr val="333333"/>
                </a:solidFill>
              </a:defRPr>
            </a:pPr>
            <a:r>
              <a:t>No IP clarity (disputes later)</a:t>
            </a:r>
          </a:p>
          <a:p>
            <a:pPr>
              <a:spcAft>
                <a:spcPts val="600"/>
              </a:spcAft>
              <a:defRPr sz="1800">
                <a:solidFill>
                  <a:srgbClr val="333333"/>
                </a:solidFill>
              </a:defRPr>
            </a:pPr>
            <a:r>
              <a:t>No change control (chaos)</a:t>
            </a:r>
          </a:p>
          <a:p>
            <a:pPr>
              <a:spcAft>
                <a:spcPts val="600"/>
              </a:spcAft>
              <a:defRPr sz="1800">
                <a:solidFill>
                  <a:srgbClr val="333333"/>
                </a:solidFill>
              </a:defRPr>
            </a:pPr>
            <a:r>
              <a:t>Unlimited supplier liability (supplier won't sign) or zero liability (OEM fully exposed)</a:t>
            </a:r>
          </a:p>
          <a:p>
            <a:pPr>
              <a:spcAft>
                <a:spcPts val="1000"/>
              </a:spcAft>
              <a:defRPr sz="1800">
                <a:solidFill>
                  <a:srgbClr val="333333"/>
                </a:solidFill>
              </a:defRPr>
            </a:pPr>
            <a:r>
              <a:t>Best practice: Systems engineers should review contracts BEFORE signature to ensure technical feasibility and requirement coverage.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Contract Monitoring and Performance Tracking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Signing contract is just the beginning. Active management is essential.</a:t>
            </a:r>
          </a:p>
          <a:p>
            <a:pPr>
              <a:spcAft>
                <a:spcPts val="1000"/>
              </a:spcAft>
              <a:defRPr sz="1800">
                <a:solidFill>
                  <a:srgbClr val="333333"/>
                </a:solidFill>
              </a:defRPr>
            </a:pPr>
            <a:r>
              <a:t>Contract Health Dashboard - Key Indicators:</a:t>
            </a:r>
          </a:p>
          <a:p>
            <a:pPr>
              <a:spcAft>
                <a:spcPts val="1000"/>
              </a:spcAft>
              <a:defRPr sz="1800">
                <a:solidFill>
                  <a:srgbClr val="333333"/>
                </a:solidFill>
              </a:defRPr>
            </a:pPr>
            <a:r>
              <a:t>1. Schedule Performance Index (SPI) — Formula: SPI = Earned Value / Planned Value</a:t>
            </a:r>
          </a:p>
          <a:p>
            <a:pPr>
              <a:spcAft>
                <a:spcPts val="600"/>
              </a:spcAft>
              <a:defRPr sz="1800">
                <a:solidFill>
                  <a:srgbClr val="333333"/>
                </a:solidFill>
              </a:defRPr>
            </a:pPr>
            <a:r>
              <a:t>SPI &lt; 1.0: Behind schedule</a:t>
            </a:r>
          </a:p>
          <a:p>
            <a:pPr>
              <a:spcAft>
                <a:spcPts val="600"/>
              </a:spcAft>
              <a:defRPr sz="1800">
                <a:solidFill>
                  <a:srgbClr val="333333"/>
                </a:solidFill>
              </a:defRPr>
            </a:pPr>
            <a:r>
              <a:t>Action trigger: SPI &lt; 0.9 → escalate to management</a:t>
            </a:r>
          </a:p>
          <a:p>
            <a:pPr>
              <a:spcAft>
                <a:spcPts val="1000"/>
              </a:spcAft>
              <a:defRPr sz="1800">
                <a:solidFill>
                  <a:srgbClr val="333333"/>
                </a:solidFill>
              </a:defRPr>
            </a:pPr>
            <a:r>
              <a:t>2. Cost Performance Index (CPI) — Formula: CPI = Earned Value / Actual Cost</a:t>
            </a:r>
          </a:p>
          <a:p>
            <a:pPr>
              <a:spcAft>
                <a:spcPts val="600"/>
              </a:spcAft>
              <a:defRPr sz="1800">
                <a:solidFill>
                  <a:srgbClr val="333333"/>
                </a:solidFill>
              </a:defRPr>
            </a:pPr>
            <a:r>
              <a:t>CPI &lt; 1.0: Over budget</a:t>
            </a:r>
          </a:p>
          <a:p>
            <a:pPr>
              <a:spcAft>
                <a:spcPts val="600"/>
              </a:spcAft>
              <a:defRPr sz="1800">
                <a:solidFill>
                  <a:srgbClr val="333333"/>
                </a:solidFill>
              </a:defRPr>
            </a:pPr>
            <a:r>
              <a:t>Action trigger: CPI &lt; 0.95 → review cost drivers</a:t>
            </a:r>
          </a:p>
          <a:p>
            <a:pPr>
              <a:spcAft>
                <a:spcPts val="1000"/>
              </a:spcAft>
              <a:defRPr sz="1800">
                <a:solidFill>
                  <a:srgbClr val="333333"/>
                </a:solidFill>
              </a:defRPr>
            </a:pPr>
            <a:r>
              <a:t>3. Requirements Compliance Rate — % of requirements verified and passing</a:t>
            </a:r>
          </a:p>
          <a:p>
            <a:pPr>
              <a:spcAft>
                <a:spcPts val="600"/>
              </a:spcAft>
              <a:defRPr sz="1800">
                <a:solidFill>
                  <a:srgbClr val="333333"/>
                </a:solidFill>
              </a:defRPr>
            </a:pPr>
            <a:r>
              <a:t>Target: &gt;95% at major milestones</a:t>
            </a:r>
          </a:p>
          <a:p>
            <a:pPr>
              <a:spcAft>
                <a:spcPts val="600"/>
              </a:spcAft>
              <a:defRPr sz="1800">
                <a:solidFill>
                  <a:srgbClr val="333333"/>
                </a:solidFill>
              </a:defRPr>
            </a:pPr>
            <a:r>
              <a:t>Action trigger: &lt;90% → root cause analysis</a:t>
            </a:r>
          </a:p>
          <a:p>
            <a:pPr>
              <a:spcAft>
                <a:spcPts val="1000"/>
              </a:spcAft>
              <a:defRPr sz="1800">
                <a:solidFill>
                  <a:srgbClr val="333333"/>
                </a:solidFill>
              </a:defRPr>
            </a:pPr>
            <a:r>
              <a:t>4. Change Request Volume — Number of ECOs per month</a:t>
            </a:r>
          </a:p>
          <a:p>
            <a:pPr>
              <a:spcAft>
                <a:spcPts val="600"/>
              </a:spcAft>
              <a:defRPr sz="1800">
                <a:solidFill>
                  <a:srgbClr val="333333"/>
                </a:solidFill>
              </a:defRPr>
            </a:pPr>
            <a:r>
              <a:t>High volume indicates poor initial requirements or scope creep</a:t>
            </a:r>
          </a:p>
          <a:p>
            <a:pPr>
              <a:spcAft>
                <a:spcPts val="600"/>
              </a:spcAft>
              <a:defRPr sz="1800">
                <a:solidFill>
                  <a:srgbClr val="333333"/>
                </a:solidFill>
              </a:defRPr>
            </a:pPr>
            <a:r>
              <a:t>Action trigger: &gt;10% change rate → process review</a:t>
            </a:r>
          </a:p>
          <a:p>
            <a:pPr>
              <a:spcAft>
                <a:spcPts val="1000"/>
              </a:spcAft>
              <a:defRPr sz="1800">
                <a:solidFill>
                  <a:srgbClr val="333333"/>
                </a:solidFill>
              </a:defRPr>
            </a:pPr>
            <a:r>
              <a:t>5. Risk Status — Number of open risks and trends</a:t>
            </a:r>
          </a:p>
          <a:p>
            <a:pPr>
              <a:spcAft>
                <a:spcPts val="600"/>
              </a:spcAft>
              <a:defRPr sz="1800">
                <a:solidFill>
                  <a:srgbClr val="333333"/>
                </a:solidFill>
              </a:defRPr>
            </a:pPr>
            <a:r>
              <a:t>Risk exposure (probability × impact)</a:t>
            </a:r>
          </a:p>
          <a:p>
            <a:pPr>
              <a:spcAft>
                <a:spcPts val="600"/>
              </a:spcAft>
              <a:defRPr sz="1800">
                <a:solidFill>
                  <a:srgbClr val="333333"/>
                </a:solidFill>
              </a:defRPr>
            </a:pPr>
            <a:r>
              <a:t>Action trigger: High risks not mitigated → escalation</a:t>
            </a:r>
          </a:p>
          <a:p>
            <a:pPr>
              <a:spcAft>
                <a:spcPts val="1000"/>
              </a:spcAft>
              <a:defRPr sz="1800">
                <a:solidFill>
                  <a:srgbClr val="333333"/>
                </a:solidFill>
              </a:defRPr>
            </a:pPr>
            <a:r>
              <a:t>6. Payment Status — Milestone payments vs deliverables completed</a:t>
            </a:r>
          </a:p>
          <a:p>
            <a:pPr>
              <a:spcAft>
                <a:spcPts val="600"/>
              </a:spcAft>
              <a:defRPr sz="1800">
                <a:solidFill>
                  <a:srgbClr val="333333"/>
                </a:solidFill>
              </a:defRPr>
            </a:pPr>
            <a:r>
              <a:t>Ensures payment tied to verified delivery</a:t>
            </a:r>
          </a:p>
          <a:p>
            <a:pPr>
              <a:spcAft>
                <a:spcPts val="1000"/>
              </a:spcAft>
              <a:defRPr sz="1800">
                <a:solidFill>
                  <a:srgbClr val="333333"/>
                </a:solidFill>
              </a:defRPr>
            </a:pPr>
            <a:r>
              <a:t>Review Cadence: — Weekly: Working-level team (technical progress)</a:t>
            </a:r>
          </a:p>
          <a:p>
            <a:pPr>
              <a:spcAft>
                <a:spcPts val="600"/>
              </a:spcAft>
              <a:defRPr sz="1800">
                <a:solidFill>
                  <a:srgbClr val="333333"/>
                </a:solidFill>
              </a:defRPr>
            </a:pPr>
            <a:r>
              <a:t>Monthly: Management review (schedule, cost, risks)</a:t>
            </a:r>
          </a:p>
          <a:p>
            <a:pPr>
              <a:spcAft>
                <a:spcPts val="600"/>
              </a:spcAft>
              <a:defRPr sz="1800">
                <a:solidFill>
                  <a:srgbClr val="333333"/>
                </a:solidFill>
              </a:defRPr>
            </a:pPr>
            <a:r>
              <a:t>Quarterly: Executive business review (strategic alignment, scorecard)</a:t>
            </a:r>
          </a:p>
          <a:p>
            <a:pPr>
              <a:spcAft>
                <a:spcPts val="600"/>
              </a:spcAft>
              <a:defRPr sz="1800">
                <a:solidFill>
                  <a:srgbClr val="333333"/>
                </a:solidFill>
              </a:defRPr>
            </a:pPr>
            <a:r>
              <a:t>Ad-hoc: Triggered by red indicators</a:t>
            </a:r>
          </a:p>
          <a:p>
            <a:pPr>
              <a:spcAft>
                <a:spcPts val="1000"/>
              </a:spcAft>
              <a:defRPr sz="1800">
                <a:solidFill>
                  <a:srgbClr val="333333"/>
                </a:solidFill>
              </a:defRPr>
            </a:pPr>
            <a:r>
              <a:t>Real example - Automotive Program: — Supplier contracted to deliver ADAS camera module</a:t>
            </a:r>
          </a:p>
          <a:p>
            <a:pPr>
              <a:spcAft>
                <a:spcPts val="600"/>
              </a:spcAft>
              <a:defRPr sz="1800">
                <a:solidFill>
                  <a:srgbClr val="333333"/>
                </a:solidFill>
              </a:defRPr>
            </a:pPr>
            <a:r>
              <a:t>Monthly reviews showed SPI declining (1.0 → 0.85 over 6 months)</a:t>
            </a:r>
          </a:p>
          <a:p>
            <a:pPr>
              <a:spcAft>
                <a:spcPts val="600"/>
              </a:spcAft>
              <a:defRPr sz="1800">
                <a:solidFill>
                  <a:srgbClr val="333333"/>
                </a:solidFill>
              </a:defRPr>
            </a:pPr>
            <a:r>
              <a:t>Root cause: Supplier underestimated software complexity</a:t>
            </a:r>
          </a:p>
          <a:p>
            <a:pPr>
              <a:spcAft>
                <a:spcPts val="600"/>
              </a:spcAft>
              <a:defRPr sz="1800">
                <a:solidFill>
                  <a:srgbClr val="333333"/>
                </a:solidFill>
              </a:defRPr>
            </a:pPr>
            <a:r>
              <a:t>Action: Moved from fixed-price to T&amp;M for software completion + added resource</a:t>
            </a:r>
          </a:p>
          <a:p>
            <a:pPr>
              <a:spcAft>
                <a:spcPts val="600"/>
              </a:spcAft>
              <a:defRPr sz="1800">
                <a:solidFill>
                  <a:srgbClr val="333333"/>
                </a:solidFill>
              </a:defRPr>
            </a:pPr>
            <a:r>
              <a:t>Outcome: Recovered schedule, but cost increased 15%</a:t>
            </a:r>
          </a:p>
          <a:p>
            <a:pPr>
              <a:spcAft>
                <a:spcPts val="600"/>
              </a:spcAft>
              <a:defRPr sz="1800">
                <a:solidFill>
                  <a:srgbClr val="333333"/>
                </a:solidFill>
              </a:defRPr>
            </a:pPr>
            <a:r>
              <a:t>Lesson: Early detection through monitoring prevented complete failure</a:t>
            </a:r>
          </a:p>
          <a:p>
            <a:pPr>
              <a:spcAft>
                <a:spcPts val="1000"/>
              </a:spcAft>
              <a:defRPr sz="1800">
                <a:solidFill>
                  <a:srgbClr val="333333"/>
                </a:solidFill>
              </a:defRPr>
            </a:pPr>
            <a:r>
              <a:t>Governance structure: Clear roles - who monitors, who escalates, who decides on corrective actions.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 Part 3: Vendor Selection Criteria and Process (Slides 15-17, ~10 minutes)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Systematic Vendor Selection Process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Vendor selection is a structured process, not a popularity contest or 'who has the best brochure.'</a:t>
            </a:r>
          </a:p>
          <a:p>
            <a:pPr>
              <a:spcAft>
                <a:spcPts val="1000"/>
              </a:spcAft>
              <a:defRPr sz="1800">
                <a:solidFill>
                  <a:srgbClr val="333333"/>
                </a:solidFill>
              </a:defRPr>
            </a:pPr>
            <a:r>
              <a:t>Phase 1: Market Research and RFI (Request for Information) (2-4 weeks)</a:t>
            </a:r>
          </a:p>
          <a:p>
            <a:pPr>
              <a:spcAft>
                <a:spcPts val="600"/>
              </a:spcAft>
              <a:defRPr sz="1800">
                <a:solidFill>
                  <a:srgbClr val="333333"/>
                </a:solidFill>
              </a:defRPr>
            </a:pPr>
            <a:r>
              <a:t>Identify potential suppliers through market research</a:t>
            </a:r>
          </a:p>
          <a:p>
            <a:pPr>
              <a:spcAft>
                <a:spcPts val="600"/>
              </a:spcAft>
              <a:defRPr sz="1800">
                <a:solidFill>
                  <a:srgbClr val="333333"/>
                </a:solidFill>
              </a:defRPr>
            </a:pPr>
            <a:r>
              <a:t>Send RFI to 8-12 candidates requesting:</a:t>
            </a:r>
          </a:p>
          <a:p>
            <a:pPr>
              <a:spcAft>
                <a:spcPts val="600"/>
              </a:spcAft>
              <a:defRPr sz="1800">
                <a:solidFill>
                  <a:srgbClr val="333333"/>
                </a:solidFill>
              </a:defRPr>
            </a:pPr>
            <a:r>
              <a:t>Company background and financial stability</a:t>
            </a:r>
          </a:p>
          <a:p>
            <a:pPr>
              <a:spcAft>
                <a:spcPts val="600"/>
              </a:spcAft>
              <a:defRPr sz="1800">
                <a:solidFill>
                  <a:srgbClr val="333333"/>
                </a:solidFill>
              </a:defRPr>
            </a:pPr>
            <a:r>
              <a:t>Relevant experience and references</a:t>
            </a:r>
          </a:p>
          <a:p>
            <a:pPr>
              <a:spcAft>
                <a:spcPts val="600"/>
              </a:spcAft>
              <a:defRPr sz="1800">
                <a:solidFill>
                  <a:srgbClr val="333333"/>
                </a:solidFill>
              </a:defRPr>
            </a:pPr>
            <a:r>
              <a:t>Technical capabilities and capacity</a:t>
            </a:r>
          </a:p>
          <a:p>
            <a:pPr>
              <a:spcAft>
                <a:spcPts val="600"/>
              </a:spcAft>
              <a:defRPr sz="1800">
                <a:solidFill>
                  <a:srgbClr val="333333"/>
                </a:solidFill>
              </a:defRPr>
            </a:pPr>
            <a:r>
              <a:t>Quality certifications (IATF 16949, ISO 9001)</a:t>
            </a:r>
          </a:p>
          <a:p>
            <a:pPr>
              <a:spcAft>
                <a:spcPts val="600"/>
              </a:spcAft>
              <a:defRPr sz="1800">
                <a:solidFill>
                  <a:srgbClr val="333333"/>
                </a:solidFill>
              </a:defRPr>
            </a:pPr>
            <a:r>
              <a:t>Output: Shortlist of 4-6 qualified candidates</a:t>
            </a:r>
          </a:p>
          <a:p>
            <a:pPr>
              <a:spcAft>
                <a:spcPts val="1000"/>
              </a:spcAft>
              <a:defRPr sz="1800">
                <a:solidFill>
                  <a:srgbClr val="333333"/>
                </a:solidFill>
              </a:defRPr>
            </a:pPr>
            <a:r>
              <a:t>Phase 2: RFP/RFQ (Request for Proposal/Quote) (6-8 weeks)</a:t>
            </a:r>
          </a:p>
          <a:p>
            <a:pPr>
              <a:spcAft>
                <a:spcPts val="600"/>
              </a:spcAft>
              <a:defRPr sz="1800">
                <a:solidFill>
                  <a:srgbClr val="333333"/>
                </a:solidFill>
              </a:defRPr>
            </a:pPr>
            <a:r>
              <a:t>Send detailed requirements and specifications to shortlist</a:t>
            </a:r>
          </a:p>
          <a:p>
            <a:pPr>
              <a:spcAft>
                <a:spcPts val="600"/>
              </a:spcAft>
              <a:defRPr sz="1800">
                <a:solidFill>
                  <a:srgbClr val="333333"/>
                </a:solidFill>
              </a:defRPr>
            </a:pPr>
            <a:r>
              <a:t>Request:</a:t>
            </a:r>
          </a:p>
          <a:p>
            <a:pPr>
              <a:spcAft>
                <a:spcPts val="600"/>
              </a:spcAft>
              <a:defRPr sz="1800">
                <a:solidFill>
                  <a:srgbClr val="333333"/>
                </a:solidFill>
              </a:defRPr>
            </a:pPr>
            <a:r>
              <a:t>Technical approach and proposed solution</a:t>
            </a:r>
          </a:p>
          <a:p>
            <a:pPr>
              <a:spcAft>
                <a:spcPts val="600"/>
              </a:spcAft>
              <a:defRPr sz="1800">
                <a:solidFill>
                  <a:srgbClr val="333333"/>
                </a:solidFill>
              </a:defRPr>
            </a:pPr>
            <a:r>
              <a:t>Project plan and timeline</a:t>
            </a:r>
          </a:p>
          <a:p>
            <a:pPr>
              <a:spcAft>
                <a:spcPts val="600"/>
              </a:spcAft>
              <a:defRPr sz="1800">
                <a:solidFill>
                  <a:srgbClr val="333333"/>
                </a:solidFill>
              </a:defRPr>
            </a:pPr>
            <a:r>
              <a:t>Detailed pricing (development + production)</a:t>
            </a:r>
          </a:p>
          <a:p>
            <a:pPr>
              <a:spcAft>
                <a:spcPts val="600"/>
              </a:spcAft>
              <a:defRPr sz="1800">
                <a:solidFill>
                  <a:srgbClr val="333333"/>
                </a:solidFill>
              </a:defRPr>
            </a:pPr>
            <a:r>
              <a:t>Quality plan and test strategy</a:t>
            </a:r>
          </a:p>
          <a:p>
            <a:pPr>
              <a:spcAft>
                <a:spcPts val="600"/>
              </a:spcAft>
              <a:defRPr sz="1800">
                <a:solidFill>
                  <a:srgbClr val="333333"/>
                </a:solidFill>
              </a:defRPr>
            </a:pPr>
            <a:r>
              <a:t>Risk assessment</a:t>
            </a:r>
          </a:p>
          <a:p>
            <a:pPr>
              <a:spcAft>
                <a:spcPts val="600"/>
              </a:spcAft>
              <a:defRPr sz="1800">
                <a:solidFill>
                  <a:srgbClr val="333333"/>
                </a:solidFill>
              </a:defRPr>
            </a:pPr>
            <a:r>
              <a:t>Output: Detailed proposals from each candidate</a:t>
            </a:r>
          </a:p>
          <a:p>
            <a:pPr>
              <a:spcAft>
                <a:spcPts val="1000"/>
              </a:spcAft>
              <a:defRPr sz="1800">
                <a:solidFill>
                  <a:srgbClr val="333333"/>
                </a:solidFill>
              </a:defRPr>
            </a:pPr>
            <a:r>
              <a:t>Phase 3: Evaluation and Scoring (4-6 weeks)</a:t>
            </a:r>
          </a:p>
          <a:p>
            <a:pPr>
              <a:spcAft>
                <a:spcPts val="600"/>
              </a:spcAft>
              <a:defRPr sz="1800">
                <a:solidFill>
                  <a:srgbClr val="333333"/>
                </a:solidFill>
              </a:defRPr>
            </a:pPr>
            <a:r>
              <a:t>Cross-functional evaluation team (engineering, quality, procurement, manufacturing)</a:t>
            </a:r>
          </a:p>
          <a:p>
            <a:pPr>
              <a:spcAft>
                <a:spcPts val="600"/>
              </a:spcAft>
              <a:defRPr sz="1800">
                <a:solidFill>
                  <a:srgbClr val="333333"/>
                </a:solidFill>
              </a:defRPr>
            </a:pPr>
            <a:r>
              <a:t>Systematic scoring against weighted criteria (see next slide)</a:t>
            </a:r>
          </a:p>
          <a:p>
            <a:pPr>
              <a:spcAft>
                <a:spcPts val="600"/>
              </a:spcAft>
              <a:defRPr sz="1800">
                <a:solidFill>
                  <a:srgbClr val="333333"/>
                </a:solidFill>
              </a:defRPr>
            </a:pPr>
            <a:r>
              <a:t>Supplier presentations: Allow suppliers to present and answer questions</a:t>
            </a:r>
          </a:p>
          <a:p>
            <a:pPr>
              <a:spcAft>
                <a:spcPts val="600"/>
              </a:spcAft>
              <a:defRPr sz="1800">
                <a:solidFill>
                  <a:srgbClr val="333333"/>
                </a:solidFill>
              </a:defRPr>
            </a:pPr>
            <a:r>
              <a:t>Site visits: Visit supplier facilities (critical for high-value contracts)</a:t>
            </a:r>
          </a:p>
          <a:p>
            <a:pPr>
              <a:spcAft>
                <a:spcPts val="600"/>
              </a:spcAft>
              <a:defRPr sz="1800">
                <a:solidFill>
                  <a:srgbClr val="333333"/>
                </a:solidFill>
              </a:defRPr>
            </a:pPr>
            <a:r>
              <a:t>Reference checks: Contact other OEM customers</a:t>
            </a:r>
          </a:p>
          <a:p>
            <a:pPr>
              <a:spcAft>
                <a:spcPts val="600"/>
              </a:spcAft>
              <a:defRPr sz="1800">
                <a:solidFill>
                  <a:srgbClr val="333333"/>
                </a:solidFill>
              </a:defRPr>
            </a:pPr>
            <a:r>
              <a:t>Output: Scored comparison matrix</a:t>
            </a:r>
          </a:p>
          <a:p>
            <a:pPr>
              <a:spcAft>
                <a:spcPts val="1000"/>
              </a:spcAft>
              <a:defRPr sz="1800">
                <a:solidFill>
                  <a:srgbClr val="333333"/>
                </a:solidFill>
              </a:defRPr>
            </a:pPr>
            <a:r>
              <a:t>Phase 4: Negotiation and Selection (3-4 weeks)</a:t>
            </a:r>
          </a:p>
          <a:p>
            <a:pPr>
              <a:spcAft>
                <a:spcPts val="600"/>
              </a:spcAft>
              <a:defRPr sz="1800">
                <a:solidFill>
                  <a:srgbClr val="333333"/>
                </a:solidFill>
              </a:defRPr>
            </a:pPr>
            <a:r>
              <a:t>Negotiate with top 2-3 candidates</a:t>
            </a:r>
          </a:p>
          <a:p>
            <a:pPr>
              <a:spcAft>
                <a:spcPts val="600"/>
              </a:spcAft>
              <a:defRPr sz="1800">
                <a:solidFill>
                  <a:srgbClr val="333333"/>
                </a:solidFill>
              </a:defRPr>
            </a:pPr>
            <a:r>
              <a:t>Clarify technical details, pricing, terms</a:t>
            </a:r>
          </a:p>
          <a:p>
            <a:pPr>
              <a:spcAft>
                <a:spcPts val="600"/>
              </a:spcAft>
              <a:defRPr sz="1800">
                <a:solidFill>
                  <a:srgbClr val="333333"/>
                </a:solidFill>
              </a:defRPr>
            </a:pPr>
            <a:r>
              <a:t>Final business case comparison</a:t>
            </a:r>
          </a:p>
          <a:p>
            <a:pPr>
              <a:spcAft>
                <a:spcPts val="600"/>
              </a:spcAft>
              <a:defRPr sz="1800">
                <a:solidFill>
                  <a:srgbClr val="333333"/>
                </a:solidFill>
              </a:defRPr>
            </a:pPr>
            <a:r>
              <a:t>Decision: Select supplier or split award (multiple sources for risk mitigation)</a:t>
            </a:r>
          </a:p>
          <a:p>
            <a:pPr>
              <a:spcAft>
                <a:spcPts val="1000"/>
              </a:spcAft>
              <a:defRPr sz="1800">
                <a:solidFill>
                  <a:srgbClr val="333333"/>
                </a:solidFill>
              </a:defRPr>
            </a:pPr>
            <a:r>
              <a:t>Phase 5: Contract Award and Kick-off (2 weeks)</a:t>
            </a:r>
          </a:p>
          <a:p>
            <a:pPr>
              <a:spcAft>
                <a:spcPts val="600"/>
              </a:spcAft>
              <a:defRPr sz="1800">
                <a:solidFill>
                  <a:srgbClr val="333333"/>
                </a:solidFill>
              </a:defRPr>
            </a:pPr>
            <a:r>
              <a:t>Execute contract</a:t>
            </a:r>
          </a:p>
          <a:p>
            <a:pPr>
              <a:spcAft>
                <a:spcPts val="600"/>
              </a:spcAft>
              <a:defRPr sz="1800">
                <a:solidFill>
                  <a:srgbClr val="333333"/>
                </a:solidFill>
              </a:defRPr>
            </a:pPr>
            <a:r>
              <a:t>Kick-off meeting with supplier</a:t>
            </a:r>
          </a:p>
          <a:p>
            <a:pPr>
              <a:spcAft>
                <a:spcPts val="600"/>
              </a:spcAft>
              <a:defRPr sz="1800">
                <a:solidFill>
                  <a:srgbClr val="333333"/>
                </a:solidFill>
              </a:defRPr>
            </a:pPr>
            <a:r>
              <a:t>Establish governance structure</a:t>
            </a:r>
          </a:p>
          <a:p>
            <a:pPr>
              <a:spcAft>
                <a:spcPts val="600"/>
              </a:spcAft>
              <a:defRPr sz="1800">
                <a:solidFill>
                  <a:srgbClr val="333333"/>
                </a:solidFill>
              </a:defRPr>
            </a:pPr>
            <a:r>
              <a:t>Output: Active contract with defined working relationships</a:t>
            </a:r>
          </a:p>
          <a:p>
            <a:pPr>
              <a:spcAft>
                <a:spcPts val="1000"/>
              </a:spcAft>
              <a:defRPr sz="1800">
                <a:solidFill>
                  <a:srgbClr val="333333"/>
                </a:solidFill>
              </a:defRPr>
            </a:pPr>
            <a:r>
              <a:t>Total timeline: 4-6 months for strategic components</a:t>
            </a:r>
          </a:p>
          <a:p>
            <a:pPr>
              <a:spcAft>
                <a:spcPts val="1000"/>
              </a:spcAft>
              <a:defRPr sz="1800">
                <a:solidFill>
                  <a:srgbClr val="333333"/>
                </a:solidFill>
              </a:defRPr>
            </a:pPr>
            <a:r>
              <a:t>Automotive example: — New EV program needs battery pack supplier</a:t>
            </a:r>
          </a:p>
          <a:p>
            <a:pPr>
              <a:spcAft>
                <a:spcPts val="600"/>
              </a:spcAft>
              <a:defRPr sz="1800">
                <a:solidFill>
                  <a:srgbClr val="333333"/>
                </a:solidFill>
              </a:defRPr>
            </a:pPr>
            <a:r>
              <a:t>RFI sent to 12 battery manufacturers</a:t>
            </a:r>
          </a:p>
          <a:p>
            <a:pPr>
              <a:spcAft>
                <a:spcPts val="600"/>
              </a:spcAft>
              <a:defRPr sz="1800">
                <a:solidFill>
                  <a:srgbClr val="333333"/>
                </a:solidFill>
              </a:defRPr>
            </a:pPr>
            <a:r>
              <a:t>Shortlist: 5 companies (based on capacity, safety record, technology)</a:t>
            </a:r>
          </a:p>
          <a:p>
            <a:pPr>
              <a:spcAft>
                <a:spcPts val="600"/>
              </a:spcAft>
              <a:defRPr sz="1800">
                <a:solidFill>
                  <a:srgbClr val="333333"/>
                </a:solidFill>
              </a:defRPr>
            </a:pPr>
            <a:r>
              <a:t>RFP with detailed specs (energy density, safety, cost targets)</a:t>
            </a:r>
          </a:p>
          <a:p>
            <a:pPr>
              <a:spcAft>
                <a:spcPts val="600"/>
              </a:spcAft>
              <a:defRPr sz="1800">
                <a:solidFill>
                  <a:srgbClr val="333333"/>
                </a:solidFill>
              </a:defRPr>
            </a:pPr>
            <a:r>
              <a:t>Evaluation: Technical, cost, production readiness</a:t>
            </a:r>
          </a:p>
          <a:p>
            <a:pPr>
              <a:spcAft>
                <a:spcPts val="600"/>
              </a:spcAft>
              <a:defRPr sz="1800">
                <a:solidFill>
                  <a:srgbClr val="333333"/>
                </a:solidFill>
              </a:defRPr>
            </a:pPr>
            <a:r>
              <a:t>Final negotiation with top 2</a:t>
            </a:r>
          </a:p>
          <a:p>
            <a:pPr>
              <a:spcAft>
                <a:spcPts val="600"/>
              </a:spcAft>
              <a:defRPr sz="1800">
                <a:solidFill>
                  <a:srgbClr val="333333"/>
                </a:solidFill>
              </a:defRPr>
            </a:pPr>
            <a:r>
              <a:t>Decision: Dual source (70% primary, 30% secondary for risk mitigation)</a:t>
            </a:r>
          </a:p>
          <a:p>
            <a:pPr>
              <a:spcAft>
                <a:spcPts val="1000"/>
              </a:spcAft>
              <a:defRPr sz="1800">
                <a:solidFill>
                  <a:srgbClr val="333333"/>
                </a:solidFill>
              </a:defRPr>
            </a:pPr>
            <a:r>
              <a:t>Critical success factor: Defined criteria BEFORE receiving proposals (prevents bias).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Vendor Evaluation Criteria and Scoring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How do you compare vendors objectively? Use weighted multi-criteria scoring.</a:t>
            </a:r>
          </a:p>
          <a:p>
            <a:pPr>
              <a:spcAft>
                <a:spcPts val="1000"/>
              </a:spcAft>
              <a:defRPr sz="1800">
                <a:solidFill>
                  <a:srgbClr val="333333"/>
                </a:solidFill>
              </a:defRPr>
            </a:pPr>
            <a:r>
              <a:t>Evaluation Criteria Framework:</a:t>
            </a:r>
          </a:p>
          <a:p>
            <a:pPr>
              <a:spcAft>
                <a:spcPts val="1000"/>
              </a:spcAft>
              <a:defRPr sz="1800">
                <a:solidFill>
                  <a:srgbClr val="333333"/>
                </a:solidFill>
              </a:defRPr>
            </a:pPr>
            <a:r>
              <a:t>Technical Capability (35% weight): — Solution meets requirements (10 points)</a:t>
            </a:r>
          </a:p>
          <a:p>
            <a:pPr>
              <a:spcAft>
                <a:spcPts val="600"/>
              </a:spcAft>
              <a:defRPr sz="1800">
                <a:solidFill>
                  <a:srgbClr val="333333"/>
                </a:solidFill>
              </a:defRPr>
            </a:pPr>
            <a:r>
              <a:t>Technical maturity/readiness level (8 points)</a:t>
            </a:r>
          </a:p>
          <a:p>
            <a:pPr>
              <a:spcAft>
                <a:spcPts val="600"/>
              </a:spcAft>
              <a:defRPr sz="1800">
                <a:solidFill>
                  <a:srgbClr val="333333"/>
                </a:solidFill>
              </a:defRPr>
            </a:pPr>
            <a:r>
              <a:t>Innovation and value-add (5 points)</a:t>
            </a:r>
          </a:p>
          <a:p>
            <a:pPr>
              <a:spcAft>
                <a:spcPts val="600"/>
              </a:spcAft>
              <a:defRPr sz="1800">
                <a:solidFill>
                  <a:srgbClr val="333333"/>
                </a:solidFill>
              </a:defRPr>
            </a:pPr>
            <a:r>
              <a:t>Compliance with standards (ISO 26262, ASPICE) (7 points)</a:t>
            </a:r>
          </a:p>
          <a:p>
            <a:pPr>
              <a:spcAft>
                <a:spcPts val="600"/>
              </a:spcAft>
              <a:defRPr sz="1800">
                <a:solidFill>
                  <a:srgbClr val="333333"/>
                </a:solidFill>
              </a:defRPr>
            </a:pPr>
            <a:r>
              <a:t>Scalability and future-proofing (5 points)</a:t>
            </a:r>
          </a:p>
          <a:p>
            <a:pPr>
              <a:spcAft>
                <a:spcPts val="600"/>
              </a:spcAft>
              <a:defRPr sz="1800">
                <a:solidFill>
                  <a:srgbClr val="333333"/>
                </a:solidFill>
              </a:defRPr>
            </a:pPr>
            <a:r>
              <a:t>Subtotal: 35 points</a:t>
            </a:r>
          </a:p>
          <a:p>
            <a:pPr>
              <a:spcAft>
                <a:spcPts val="1000"/>
              </a:spcAft>
              <a:defRPr sz="1800">
                <a:solidFill>
                  <a:srgbClr val="333333"/>
                </a:solidFill>
              </a:defRPr>
            </a:pPr>
            <a:r>
              <a:t>Quality and Reliability (25% weight): — Quality certifications (IATF 16949, ISO 9001) (5 points)</a:t>
            </a:r>
          </a:p>
          <a:p>
            <a:pPr>
              <a:spcAft>
                <a:spcPts val="600"/>
              </a:spcAft>
              <a:defRPr sz="1800">
                <a:solidFill>
                  <a:srgbClr val="333333"/>
                </a:solidFill>
              </a:defRPr>
            </a:pPr>
            <a:r>
              <a:t>Historical quality metrics (PPM, field failures) (8 points)</a:t>
            </a:r>
          </a:p>
          <a:p>
            <a:pPr>
              <a:spcAft>
                <a:spcPts val="600"/>
              </a:spcAft>
              <a:defRPr sz="1800">
                <a:solidFill>
                  <a:srgbClr val="333333"/>
                </a:solidFill>
              </a:defRPr>
            </a:pPr>
            <a:r>
              <a:t>Quality management processes (7 points)</a:t>
            </a:r>
          </a:p>
          <a:p>
            <a:pPr>
              <a:spcAft>
                <a:spcPts val="600"/>
              </a:spcAft>
              <a:defRPr sz="1800">
                <a:solidFill>
                  <a:srgbClr val="333333"/>
                </a:solidFill>
              </a:defRPr>
            </a:pPr>
            <a:r>
              <a:t>Warranty and support terms (5 points)</a:t>
            </a:r>
          </a:p>
          <a:p>
            <a:pPr>
              <a:spcAft>
                <a:spcPts val="600"/>
              </a:spcAft>
              <a:defRPr sz="1800">
                <a:solidFill>
                  <a:srgbClr val="333333"/>
                </a:solidFill>
              </a:defRPr>
            </a:pPr>
            <a:r>
              <a:t>Subtotal: 25 points</a:t>
            </a:r>
          </a:p>
          <a:p>
            <a:pPr>
              <a:spcAft>
                <a:spcPts val="1000"/>
              </a:spcAft>
              <a:defRPr sz="1800">
                <a:solidFill>
                  <a:srgbClr val="333333"/>
                </a:solidFill>
              </a:defRPr>
            </a:pPr>
            <a:r>
              <a:t>Cost and Commercial (20% weight): — Total cost of ownership (not just piece price) (10 points)</a:t>
            </a:r>
          </a:p>
          <a:p>
            <a:pPr>
              <a:spcAft>
                <a:spcPts val="600"/>
              </a:spcAft>
              <a:defRPr sz="1800">
                <a:solidFill>
                  <a:srgbClr val="333333"/>
                </a:solidFill>
              </a:defRPr>
            </a:pPr>
            <a:r>
              <a:t>Development cost and payment terms (5 points)</a:t>
            </a:r>
          </a:p>
          <a:p>
            <a:pPr>
              <a:spcAft>
                <a:spcPts val="600"/>
              </a:spcAft>
              <a:defRPr sz="1800">
                <a:solidFill>
                  <a:srgbClr val="333333"/>
                </a:solidFill>
              </a:defRPr>
            </a:pPr>
            <a:r>
              <a:t>Cost reduction roadmap (3 points)</a:t>
            </a:r>
          </a:p>
          <a:p>
            <a:pPr>
              <a:spcAft>
                <a:spcPts val="600"/>
              </a:spcAft>
              <a:defRPr sz="1800">
                <a:solidFill>
                  <a:srgbClr val="333333"/>
                </a:solidFill>
              </a:defRPr>
            </a:pPr>
            <a:r>
              <a:t>Commercial terms favorability (2 points)</a:t>
            </a:r>
          </a:p>
          <a:p>
            <a:pPr>
              <a:spcAft>
                <a:spcPts val="600"/>
              </a:spcAft>
              <a:defRPr sz="1800">
                <a:solidFill>
                  <a:srgbClr val="333333"/>
                </a:solidFill>
              </a:defRPr>
            </a:pPr>
            <a:r>
              <a:t>Subtotal: 20 points</a:t>
            </a:r>
          </a:p>
          <a:p>
            <a:pPr>
              <a:spcAft>
                <a:spcPts val="1000"/>
              </a:spcAft>
              <a:defRPr sz="1800">
                <a:solidFill>
                  <a:srgbClr val="333333"/>
                </a:solidFill>
              </a:defRPr>
            </a:pPr>
            <a:r>
              <a:t>Delivery and Capacity (15% weight): — Production capacity and scalability (6 points)</a:t>
            </a:r>
          </a:p>
          <a:p>
            <a:pPr>
              <a:spcAft>
                <a:spcPts val="600"/>
              </a:spcAft>
              <a:defRPr sz="1800">
                <a:solidFill>
                  <a:srgbClr val="333333"/>
                </a:solidFill>
              </a:defRPr>
            </a:pPr>
            <a:r>
              <a:t>Timeline and schedule confidence (5 points)</a:t>
            </a:r>
          </a:p>
          <a:p>
            <a:pPr>
              <a:spcAft>
                <a:spcPts val="600"/>
              </a:spcAft>
              <a:defRPr sz="1800">
                <a:solidFill>
                  <a:srgbClr val="333333"/>
                </a:solidFill>
              </a:defRPr>
            </a:pPr>
            <a:r>
              <a:t>Supply chain robustness (4 points)</a:t>
            </a:r>
          </a:p>
          <a:p>
            <a:pPr>
              <a:spcAft>
                <a:spcPts val="600"/>
              </a:spcAft>
              <a:defRPr sz="1800">
                <a:solidFill>
                  <a:srgbClr val="333333"/>
                </a:solidFill>
              </a:defRPr>
            </a:pPr>
            <a:r>
              <a:t>Subtotal: 15 points</a:t>
            </a:r>
          </a:p>
          <a:p>
            <a:pPr>
              <a:spcAft>
                <a:spcPts val="1000"/>
              </a:spcAft>
              <a:defRPr sz="1800">
                <a:solidFill>
                  <a:srgbClr val="333333"/>
                </a:solidFill>
              </a:defRPr>
            </a:pPr>
            <a:r>
              <a:t>Business and Relationship (5% weight): — Financial stability (Dun &amp; Bradstreet rating) (2 points)</a:t>
            </a:r>
          </a:p>
          <a:p>
            <a:pPr>
              <a:spcAft>
                <a:spcPts val="600"/>
              </a:spcAft>
              <a:defRPr sz="1800">
                <a:solidFill>
                  <a:srgbClr val="333333"/>
                </a:solidFill>
              </a:defRPr>
            </a:pPr>
            <a:r>
              <a:t>Geographic presence and localization (1 point)</a:t>
            </a:r>
          </a:p>
          <a:p>
            <a:pPr>
              <a:spcAft>
                <a:spcPts val="600"/>
              </a:spcAft>
              <a:defRPr sz="1800">
                <a:solidFill>
                  <a:srgbClr val="333333"/>
                </a:solidFill>
              </a:defRPr>
            </a:pPr>
            <a:r>
              <a:t>Relationship and cultural fit (1 point)</a:t>
            </a:r>
          </a:p>
          <a:p>
            <a:pPr>
              <a:spcAft>
                <a:spcPts val="600"/>
              </a:spcAft>
              <a:defRPr sz="1800">
                <a:solidFill>
                  <a:srgbClr val="333333"/>
                </a:solidFill>
              </a:defRPr>
            </a:pPr>
            <a:r>
              <a:t>Sustainability and ESG performance (1 point)</a:t>
            </a:r>
          </a:p>
          <a:p>
            <a:pPr>
              <a:spcAft>
                <a:spcPts val="600"/>
              </a:spcAft>
              <a:defRPr sz="1800">
                <a:solidFill>
                  <a:srgbClr val="333333"/>
                </a:solidFill>
              </a:defRPr>
            </a:pPr>
            <a:r>
              <a:t>Subtotal: 5 points</a:t>
            </a:r>
          </a:p>
          <a:p>
            <a:pPr>
              <a:spcAft>
                <a:spcPts val="1000"/>
              </a:spcAft>
              <a:defRPr sz="1800">
                <a:solidFill>
                  <a:srgbClr val="333333"/>
                </a:solidFill>
              </a:defRPr>
            </a:pPr>
            <a:r>
              <a:t>Total possible: 100 points</a:t>
            </a:r>
          </a:p>
          <a:p>
            <a:pPr>
              <a:spcAft>
                <a:spcPts val="1000"/>
              </a:spcAft>
              <a:defRPr sz="1800">
                <a:solidFill>
                  <a:srgbClr val="333333"/>
                </a:solidFill>
              </a:defRPr>
            </a:pPr>
            <a:r>
              <a:t>Example Scoring - Battery Supplier Selection:</a:t>
            </a:r>
          </a:p>
          <a:p>
            <a:pPr>
              <a:spcAft>
                <a:spcPts val="1000"/>
              </a:spcAft>
              <a:defRPr sz="1800">
                <a:solidFill>
                  <a:srgbClr val="333333"/>
                </a:solidFill>
              </a:defRPr>
            </a:pPr>
            <a:r>
              <a:t>| Criteria | Weight | Supplier A | Supplier B | Supplier C |</a:t>
            </a:r>
          </a:p>
          <a:p>
            <a:pPr>
              <a:spcAft>
                <a:spcPts val="1000"/>
              </a:spcAft>
              <a:defRPr sz="1800">
                <a:solidFill>
                  <a:srgbClr val="333333"/>
                </a:solidFill>
              </a:defRPr>
            </a:pPr>
            <a:r>
              <a:t>|----------|--------|------------|------------|------------|</a:t>
            </a:r>
          </a:p>
          <a:p>
            <a:pPr>
              <a:spcAft>
                <a:spcPts val="1000"/>
              </a:spcAft>
              <a:defRPr sz="1800">
                <a:solidFill>
                  <a:srgbClr val="333333"/>
                </a:solidFill>
              </a:defRPr>
            </a:pPr>
            <a:r>
              <a:t>| Technical | 35% | 30/35 (86%) | 33/35 (94%) | 28/35 (80%) |</a:t>
            </a:r>
          </a:p>
          <a:p>
            <a:pPr>
              <a:spcAft>
                <a:spcPts val="1000"/>
              </a:spcAft>
              <a:defRPr sz="1800">
                <a:solidFill>
                  <a:srgbClr val="333333"/>
                </a:solidFill>
              </a:defRPr>
            </a:pPr>
            <a:r>
              <a:t>| Quality | 25% | 22/25 (88%) | 20/25 (80%) | 24/25 (96%) |</a:t>
            </a:r>
          </a:p>
          <a:p>
            <a:pPr>
              <a:spcAft>
                <a:spcPts val="1000"/>
              </a:spcAft>
              <a:defRPr sz="1800">
                <a:solidFill>
                  <a:srgbClr val="333333"/>
                </a:solidFill>
              </a:defRPr>
            </a:pPr>
            <a:r>
              <a:t>| Cost | 20% | 18/20 (90%) | 15/20 (75%) | 16/20 (80%) |</a:t>
            </a:r>
          </a:p>
          <a:p>
            <a:pPr>
              <a:spcAft>
                <a:spcPts val="1000"/>
              </a:spcAft>
              <a:defRPr sz="1800">
                <a:solidFill>
                  <a:srgbClr val="333333"/>
                </a:solidFill>
              </a:defRPr>
            </a:pPr>
            <a:r>
              <a:t>| Delivery | 15% | 12/15 (80%) | 14/15 (93%) | 13/15 (87%) |</a:t>
            </a:r>
          </a:p>
          <a:p>
            <a:pPr>
              <a:spcAft>
                <a:spcPts val="1000"/>
              </a:spcAft>
              <a:defRPr sz="1800">
                <a:solidFill>
                  <a:srgbClr val="333333"/>
                </a:solidFill>
              </a:defRPr>
            </a:pPr>
            <a:r>
              <a:t>| Business | 5% | 4/5 (80%) | 5/5 (100%) | 3/5 (60%) |</a:t>
            </a:r>
          </a:p>
          <a:p>
            <a:pPr>
              <a:spcAft>
                <a:spcPts val="1000"/>
              </a:spcAft>
              <a:defRPr sz="1800">
                <a:solidFill>
                  <a:srgbClr val="333333"/>
                </a:solidFill>
              </a:defRPr>
            </a:pPr>
            <a:r>
              <a:t>| TOTAL | 100% | 86/100 | 87/100 | 84/100 |</a:t>
            </a:r>
          </a:p>
          <a:p>
            <a:pPr>
              <a:spcAft>
                <a:spcPts val="1000"/>
              </a:spcAft>
              <a:defRPr sz="1800">
                <a:solidFill>
                  <a:srgbClr val="333333"/>
                </a:solidFill>
              </a:defRPr>
            </a:pPr>
            <a:r>
              <a:t>Analysis: — Supplier B: Highest overall score (87) - strong technical, excellent delivery</a:t>
            </a:r>
          </a:p>
          <a:p>
            <a:pPr>
              <a:spcAft>
                <a:spcPts val="600"/>
              </a:spcAft>
              <a:defRPr sz="1800">
                <a:solidFill>
                  <a:srgbClr val="333333"/>
                </a:solidFill>
              </a:defRPr>
            </a:pPr>
            <a:r>
              <a:t>Supplier C: Highest quality, but weaker business stability</a:t>
            </a:r>
          </a:p>
          <a:p>
            <a:pPr>
              <a:spcAft>
                <a:spcPts val="600"/>
              </a:spcAft>
              <a:defRPr sz="1800">
                <a:solidFill>
                  <a:srgbClr val="333333"/>
                </a:solidFill>
              </a:defRPr>
            </a:pPr>
            <a:r>
              <a:t>Supplier A: Balanced, strong cost position</a:t>
            </a:r>
          </a:p>
          <a:p>
            <a:pPr>
              <a:spcAft>
                <a:spcPts val="1000"/>
              </a:spcAft>
              <a:defRPr sz="1800">
                <a:solidFill>
                  <a:srgbClr val="333333"/>
                </a:solidFill>
              </a:defRPr>
            </a:pPr>
            <a:r>
              <a:t>Decision considerations: — If quality is paramount: Supplier C (despite lower total)</a:t>
            </a:r>
          </a:p>
          <a:p>
            <a:pPr>
              <a:spcAft>
                <a:spcPts val="600"/>
              </a:spcAft>
              <a:defRPr sz="1800">
                <a:solidFill>
                  <a:srgbClr val="333333"/>
                </a:solidFill>
              </a:defRPr>
            </a:pPr>
            <a:r>
              <a:t>If cost-sensitive: Supplier A</a:t>
            </a:r>
          </a:p>
          <a:p>
            <a:pPr>
              <a:spcAft>
                <a:spcPts val="600"/>
              </a:spcAft>
              <a:defRPr sz="1800">
                <a:solidFill>
                  <a:srgbClr val="333333"/>
                </a:solidFill>
              </a:defRPr>
            </a:pPr>
            <a:r>
              <a:t>If balanced risk: Supplier B</a:t>
            </a:r>
          </a:p>
          <a:p>
            <a:pPr>
              <a:spcAft>
                <a:spcPts val="600"/>
              </a:spcAft>
              <a:defRPr sz="1800">
                <a:solidFill>
                  <a:srgbClr val="333333"/>
                </a:solidFill>
              </a:defRPr>
            </a:pPr>
            <a:r>
              <a:t>Dual source option: B (primary, 70%) + C (secondary, 30% for quality benchmark)</a:t>
            </a:r>
          </a:p>
          <a:p>
            <a:pPr>
              <a:spcAft>
                <a:spcPts val="1000"/>
              </a:spcAft>
              <a:defRPr sz="1800">
                <a:solidFill>
                  <a:srgbClr val="333333"/>
                </a:solidFill>
              </a:defRPr>
            </a:pPr>
            <a:r>
              <a:t>Key principles: — Weights reflect program priorities (safety-critical = higher quality weight)</a:t>
            </a:r>
          </a:p>
          <a:p>
            <a:pPr>
              <a:spcAft>
                <a:spcPts val="600"/>
              </a:spcAft>
              <a:defRPr sz="1800">
                <a:solidFill>
                  <a:srgbClr val="333333"/>
                </a:solidFill>
              </a:defRPr>
            </a:pPr>
            <a:r>
              <a:t>Score with cross-functional team (not engineering alone)</a:t>
            </a:r>
          </a:p>
          <a:p>
            <a:pPr>
              <a:spcAft>
                <a:spcPts val="600"/>
              </a:spcAft>
              <a:defRPr sz="1800">
                <a:solidFill>
                  <a:srgbClr val="333333"/>
                </a:solidFill>
              </a:defRPr>
            </a:pPr>
            <a:r>
              <a:t>Document rationale for scores (auditable)</a:t>
            </a:r>
          </a:p>
          <a:p>
            <a:pPr>
              <a:spcAft>
                <a:spcPts val="600"/>
              </a:spcAft>
              <a:defRPr sz="1800">
                <a:solidFill>
                  <a:srgbClr val="333333"/>
                </a:solidFill>
              </a:defRPr>
            </a:pPr>
            <a:r>
              <a:t>Use same criteria for all vendors (fairness)</a:t>
            </a:r>
          </a:p>
          <a:p>
            <a:pPr>
              <a:spcAft>
                <a:spcPts val="1000"/>
              </a:spcAft>
              <a:defRPr sz="1800">
                <a:solidFill>
                  <a:srgbClr val="333333"/>
                </a:solidFill>
              </a:defRPr>
            </a:pPr>
            <a:r>
              <a:t>Common mistake: Choosing based on cost alone. Remember: 'Bitterness of poor quality lasts long after sweetness of low price is forgotten.'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Due Diligence and Risk Assessment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Before finalizing selection, conduct thorough due diligence. Suppliers can look good on paper but fail in reality.</a:t>
            </a:r>
          </a:p>
          <a:p>
            <a:pPr>
              <a:spcAft>
                <a:spcPts val="1000"/>
              </a:spcAft>
              <a:defRPr sz="1800">
                <a:solidFill>
                  <a:srgbClr val="333333"/>
                </a:solidFill>
              </a:defRPr>
            </a:pPr>
            <a:r>
              <a:t>Technical Due Diligence:</a:t>
            </a:r>
          </a:p>
          <a:p>
            <a:pPr>
              <a:spcAft>
                <a:spcPts val="1000"/>
              </a:spcAft>
              <a:defRPr sz="1800">
                <a:solidFill>
                  <a:srgbClr val="333333"/>
                </a:solidFill>
              </a:defRPr>
            </a:pPr>
            <a:r>
              <a:t>1. Facility Visit and Audit — Manufacturing capability (equipment, processes)</a:t>
            </a:r>
          </a:p>
          <a:p>
            <a:pPr>
              <a:spcAft>
                <a:spcPts val="600"/>
              </a:spcAft>
              <a:defRPr sz="1800">
                <a:solidFill>
                  <a:srgbClr val="333333"/>
                </a:solidFill>
              </a:defRPr>
            </a:pPr>
            <a:r>
              <a:t>Quality systems (inspection, testing, calibration)</a:t>
            </a:r>
          </a:p>
          <a:p>
            <a:pPr>
              <a:spcAft>
                <a:spcPts val="600"/>
              </a:spcAft>
              <a:defRPr sz="1800">
                <a:solidFill>
                  <a:srgbClr val="333333"/>
                </a:solidFill>
              </a:defRPr>
            </a:pPr>
            <a:r>
              <a:t>Engineering capability (design tools, staff expertise)</a:t>
            </a:r>
          </a:p>
          <a:p>
            <a:pPr>
              <a:spcAft>
                <a:spcPts val="600"/>
              </a:spcAft>
              <a:defRPr sz="1800">
                <a:solidFill>
                  <a:srgbClr val="333333"/>
                </a:solidFill>
              </a:defRPr>
            </a:pPr>
            <a:r>
              <a:t>Cleanliness and organization (5S methodology)</a:t>
            </a:r>
          </a:p>
          <a:p>
            <a:pPr>
              <a:spcAft>
                <a:spcPts val="600"/>
              </a:spcAft>
              <a:defRPr sz="1800">
                <a:solidFill>
                  <a:srgbClr val="333333"/>
                </a:solidFill>
              </a:defRPr>
            </a:pPr>
            <a:r>
              <a:t>Red flags: Outdated equipment, poor housekeeping, undertrained staff</a:t>
            </a:r>
          </a:p>
          <a:p>
            <a:pPr>
              <a:spcAft>
                <a:spcPts val="1000"/>
              </a:spcAft>
              <a:defRPr sz="1800">
                <a:solidFill>
                  <a:srgbClr val="333333"/>
                </a:solidFill>
              </a:defRPr>
            </a:pPr>
            <a:r>
              <a:t>2. Reference Checks — Contact 3-5 existing customers</a:t>
            </a:r>
          </a:p>
          <a:p>
            <a:pPr>
              <a:spcAft>
                <a:spcPts val="600"/>
              </a:spcAft>
              <a:defRPr sz="1800">
                <a:solidFill>
                  <a:srgbClr val="333333"/>
                </a:solidFill>
              </a:defRPr>
            </a:pPr>
            <a:r>
              <a:t>Questions:</a:t>
            </a:r>
          </a:p>
          <a:p>
            <a:pPr>
              <a:spcAft>
                <a:spcPts val="600"/>
              </a:spcAft>
              <a:defRPr sz="1800">
                <a:solidFill>
                  <a:srgbClr val="333333"/>
                </a:solidFill>
              </a:defRPr>
            </a:pPr>
            <a:r>
              <a:t>Quality performance (PPM rates)</a:t>
            </a:r>
          </a:p>
          <a:p>
            <a:pPr>
              <a:spcAft>
                <a:spcPts val="600"/>
              </a:spcAft>
              <a:defRPr sz="1800">
                <a:solidFill>
                  <a:srgbClr val="333333"/>
                </a:solidFill>
              </a:defRPr>
            </a:pPr>
            <a:r>
              <a:t>Delivery reliability</a:t>
            </a:r>
          </a:p>
          <a:p>
            <a:pPr>
              <a:spcAft>
                <a:spcPts val="600"/>
              </a:spcAft>
              <a:defRPr sz="1800">
                <a:solidFill>
                  <a:srgbClr val="333333"/>
                </a:solidFill>
              </a:defRPr>
            </a:pPr>
            <a:r>
              <a:t>Responsiveness to issues</a:t>
            </a:r>
          </a:p>
          <a:p>
            <a:pPr>
              <a:spcAft>
                <a:spcPts val="600"/>
              </a:spcAft>
              <a:defRPr sz="1800">
                <a:solidFill>
                  <a:srgbClr val="333333"/>
                </a:solidFill>
              </a:defRPr>
            </a:pPr>
            <a:r>
              <a:t>Would you use them again?</a:t>
            </a:r>
          </a:p>
          <a:p>
            <a:pPr>
              <a:spcAft>
                <a:spcPts val="600"/>
              </a:spcAft>
              <a:defRPr sz="1800">
                <a:solidFill>
                  <a:srgbClr val="333333"/>
                </a:solidFill>
              </a:defRPr>
            </a:pPr>
            <a:r>
              <a:t>Red flag: Reluctance to provide references or references are lukewarm</a:t>
            </a:r>
          </a:p>
          <a:p>
            <a:pPr>
              <a:spcAft>
                <a:spcPts val="1000"/>
              </a:spcAft>
              <a:defRPr sz="1800">
                <a:solidFill>
                  <a:srgbClr val="333333"/>
                </a:solidFill>
              </a:defRPr>
            </a:pPr>
            <a:r>
              <a:t>3. Technology Demonstration — Request working prototype or proof-of-concept</a:t>
            </a:r>
          </a:p>
          <a:p>
            <a:pPr>
              <a:spcAft>
                <a:spcPts val="600"/>
              </a:spcAft>
              <a:defRPr sz="1800">
                <a:solidFill>
                  <a:srgbClr val="333333"/>
                </a:solidFill>
              </a:defRPr>
            </a:pPr>
            <a:r>
              <a:t>Test against key requirements</a:t>
            </a:r>
          </a:p>
          <a:p>
            <a:pPr>
              <a:spcAft>
                <a:spcPts val="600"/>
              </a:spcAft>
              <a:defRPr sz="1800">
                <a:solidFill>
                  <a:srgbClr val="333333"/>
                </a:solidFill>
              </a:defRPr>
            </a:pPr>
            <a:r>
              <a:t>Validate claims made in proposal</a:t>
            </a:r>
          </a:p>
          <a:p>
            <a:pPr>
              <a:spcAft>
                <a:spcPts val="600"/>
              </a:spcAft>
              <a:defRPr sz="1800">
                <a:solidFill>
                  <a:srgbClr val="333333"/>
                </a:solidFill>
              </a:defRPr>
            </a:pPr>
            <a:r>
              <a:t>Red flag: Inability to demonstrate claimed capabilities</a:t>
            </a:r>
          </a:p>
          <a:p>
            <a:pPr>
              <a:spcAft>
                <a:spcPts val="1000"/>
              </a:spcAft>
              <a:defRPr sz="1800">
                <a:solidFill>
                  <a:srgbClr val="333333"/>
                </a:solidFill>
              </a:defRPr>
            </a:pPr>
            <a:r>
              <a:t>Financial Due Diligence:</a:t>
            </a:r>
          </a:p>
          <a:p>
            <a:pPr>
              <a:spcAft>
                <a:spcPts val="1000"/>
              </a:spcAft>
              <a:defRPr sz="1800">
                <a:solidFill>
                  <a:srgbClr val="333333"/>
                </a:solidFill>
              </a:defRPr>
            </a:pPr>
            <a:r>
              <a:t>1. Financial Health Assessment — Review financial statements (balance sheet, cash flow)</a:t>
            </a:r>
          </a:p>
          <a:p>
            <a:pPr>
              <a:spcAft>
                <a:spcPts val="600"/>
              </a:spcAft>
              <a:defRPr sz="1800">
                <a:solidFill>
                  <a:srgbClr val="333333"/>
                </a:solidFill>
              </a:defRPr>
            </a:pPr>
            <a:r>
              <a:t>Dun &amp; Bradstreet credit rating</a:t>
            </a:r>
          </a:p>
          <a:p>
            <a:pPr>
              <a:spcAft>
                <a:spcPts val="600"/>
              </a:spcAft>
              <a:defRPr sz="1800">
                <a:solidFill>
                  <a:srgbClr val="333333"/>
                </a:solidFill>
              </a:defRPr>
            </a:pPr>
            <a:r>
              <a:t>Debt-to-equity ratio (high debt = risk)</a:t>
            </a:r>
          </a:p>
          <a:p>
            <a:pPr>
              <a:spcAft>
                <a:spcPts val="600"/>
              </a:spcAft>
              <a:defRPr sz="1800">
                <a:solidFill>
                  <a:srgbClr val="333333"/>
                </a:solidFill>
              </a:defRPr>
            </a:pPr>
            <a:r>
              <a:t>Red flags: Negative cash flow, declining revenue, high debt</a:t>
            </a:r>
          </a:p>
          <a:p>
            <a:pPr>
              <a:spcAft>
                <a:spcPts val="1000"/>
              </a:spcAft>
              <a:defRPr sz="1800">
                <a:solidFill>
                  <a:srgbClr val="333333"/>
                </a:solidFill>
              </a:defRPr>
            </a:pPr>
            <a:r>
              <a:t>2. Supply Chain Assessment — Are they dependent on single sources?</a:t>
            </a:r>
          </a:p>
          <a:p>
            <a:pPr>
              <a:spcAft>
                <a:spcPts val="600"/>
              </a:spcAft>
              <a:defRPr sz="1800">
                <a:solidFill>
                  <a:srgbClr val="333333"/>
                </a:solidFill>
              </a:defRPr>
            </a:pPr>
            <a:r>
              <a:t>Do they have inventory buffers?</a:t>
            </a:r>
          </a:p>
          <a:p>
            <a:pPr>
              <a:spcAft>
                <a:spcPts val="600"/>
              </a:spcAft>
              <a:defRPr sz="1800">
                <a:solidFill>
                  <a:srgbClr val="333333"/>
                </a:solidFill>
              </a:defRPr>
            </a:pPr>
            <a:r>
              <a:t>Geographic concentration risk (e.g., all in one country)</a:t>
            </a:r>
          </a:p>
          <a:p>
            <a:pPr>
              <a:spcAft>
                <a:spcPts val="600"/>
              </a:spcAft>
              <a:defRPr sz="1800">
                <a:solidFill>
                  <a:srgbClr val="333333"/>
                </a:solidFill>
              </a:defRPr>
            </a:pPr>
            <a:r>
              <a:t>Red flag: Brittle supply chain (learned from chip shortage)</a:t>
            </a:r>
          </a:p>
          <a:p>
            <a:pPr>
              <a:spcAft>
                <a:spcPts val="1000"/>
              </a:spcAft>
              <a:defRPr sz="1800">
                <a:solidFill>
                  <a:srgbClr val="333333"/>
                </a:solidFill>
              </a:defRPr>
            </a:pPr>
            <a:r>
              <a:t>3. Business Continuity Planning — Disaster recovery plans</a:t>
            </a:r>
          </a:p>
          <a:p>
            <a:pPr>
              <a:spcAft>
                <a:spcPts val="600"/>
              </a:spcAft>
              <a:defRPr sz="1800">
                <a:solidFill>
                  <a:srgbClr val="333333"/>
                </a:solidFill>
              </a:defRPr>
            </a:pPr>
            <a:r>
              <a:t>Backup production capacity</a:t>
            </a:r>
          </a:p>
          <a:p>
            <a:pPr>
              <a:spcAft>
                <a:spcPts val="600"/>
              </a:spcAft>
              <a:defRPr sz="1800">
                <a:solidFill>
                  <a:srgbClr val="333333"/>
                </a:solidFill>
              </a:defRPr>
            </a:pPr>
            <a:r>
              <a:t>Insurance coverage (product liability, recall)</a:t>
            </a:r>
          </a:p>
          <a:p>
            <a:pPr>
              <a:spcAft>
                <a:spcPts val="1000"/>
              </a:spcAft>
              <a:defRPr sz="1800">
                <a:solidFill>
                  <a:srgbClr val="333333"/>
                </a:solidFill>
              </a:defRPr>
            </a:pPr>
            <a:r>
              <a:t>Legal and Compliance Due Diligence: — Litigation history (being sued by other customers?)</a:t>
            </a:r>
          </a:p>
          <a:p>
            <a:pPr>
              <a:spcAft>
                <a:spcPts val="600"/>
              </a:spcAft>
              <a:defRPr sz="1800">
                <a:solidFill>
                  <a:srgbClr val="333333"/>
                </a:solidFill>
              </a:defRPr>
            </a:pPr>
            <a:r>
              <a:t>Regulatory compliance (environmental, labor)</a:t>
            </a:r>
          </a:p>
          <a:p>
            <a:pPr>
              <a:spcAft>
                <a:spcPts val="600"/>
              </a:spcAft>
              <a:defRPr sz="1800">
                <a:solidFill>
                  <a:srgbClr val="333333"/>
                </a:solidFill>
              </a:defRPr>
            </a:pPr>
            <a:r>
              <a:t>Cybersecurity posture (ISO 27001, incident history)</a:t>
            </a:r>
          </a:p>
          <a:p>
            <a:pPr>
              <a:spcAft>
                <a:spcPts val="600"/>
              </a:spcAft>
              <a:defRPr sz="1800">
                <a:solidFill>
                  <a:srgbClr val="333333"/>
                </a:solidFill>
              </a:defRPr>
            </a:pPr>
            <a:r>
              <a:t>IP ownership clarity (do they own what they claim?)</a:t>
            </a:r>
          </a:p>
          <a:p>
            <a:pPr>
              <a:spcAft>
                <a:spcPts val="1000"/>
              </a:spcAft>
              <a:defRPr sz="1800">
                <a:solidFill>
                  <a:srgbClr val="333333"/>
                </a:solidFill>
              </a:defRPr>
            </a:pPr>
            <a:r>
              <a:t>Risk Assessment Matrix:</a:t>
            </a:r>
          </a:p>
          <a:p>
            <a:pPr>
              <a:spcAft>
                <a:spcPts val="1000"/>
              </a:spcAft>
              <a:defRPr sz="1800">
                <a:solidFill>
                  <a:srgbClr val="333333"/>
                </a:solidFill>
              </a:defRPr>
            </a:pPr>
            <a:r>
              <a:t>| Risk Category | Example | Probability | Impact | Mitigation |</a:t>
            </a:r>
          </a:p>
          <a:p>
            <a:pPr>
              <a:spcAft>
                <a:spcPts val="1000"/>
              </a:spcAft>
              <a:defRPr sz="1800">
                <a:solidFill>
                  <a:srgbClr val="333333"/>
                </a:solidFill>
              </a:defRPr>
            </a:pPr>
            <a:r>
              <a:t>|---------------|---------|-------------|--------|------------|</a:t>
            </a:r>
          </a:p>
          <a:p>
            <a:pPr>
              <a:spcAft>
                <a:spcPts val="1000"/>
              </a:spcAft>
              <a:defRPr sz="1800">
                <a:solidFill>
                  <a:srgbClr val="333333"/>
                </a:solidFill>
              </a:defRPr>
            </a:pPr>
            <a:r>
              <a:t>| Technical | Cannot meet performance specs | Medium | High | Require proof-of-concept before award |</a:t>
            </a:r>
          </a:p>
          <a:p>
            <a:pPr>
              <a:spcAft>
                <a:spcPts val="1000"/>
              </a:spcAft>
              <a:defRPr sz="1800">
                <a:solidFill>
                  <a:srgbClr val="333333"/>
                </a:solidFill>
              </a:defRPr>
            </a:pPr>
            <a:r>
              <a:t>| Financial | Supplier bankruptcy | Low | Critical | Financial monitoring, dual source |</a:t>
            </a:r>
          </a:p>
          <a:p>
            <a:pPr>
              <a:spcAft>
                <a:spcPts val="1000"/>
              </a:spcAft>
              <a:defRPr sz="1800">
                <a:solidFill>
                  <a:srgbClr val="333333"/>
                </a:solidFill>
              </a:defRPr>
            </a:pPr>
            <a:r>
              <a:t>| Supply Chain | Sub-tier shortage | High | High | Require supply chain transparency, buffer inventory |</a:t>
            </a:r>
          </a:p>
          <a:p>
            <a:pPr>
              <a:spcAft>
                <a:spcPts val="1000"/>
              </a:spcAft>
              <a:defRPr sz="1800">
                <a:solidFill>
                  <a:srgbClr val="333333"/>
                </a:solidFill>
              </a:defRPr>
            </a:pPr>
            <a:r>
              <a:t>| Quality | High defect rates | Medium | High | Enhanced quality agreement, resident engineer |</a:t>
            </a:r>
          </a:p>
          <a:p>
            <a:pPr>
              <a:spcAft>
                <a:spcPts val="1000"/>
              </a:spcAft>
              <a:defRPr sz="1800">
                <a:solidFill>
                  <a:srgbClr val="333333"/>
                </a:solidFill>
              </a:defRPr>
            </a:pPr>
            <a:r>
              <a:t>| Capacity | Cannot scale to volume | Medium | Medium | Validate capacity plan, backup supplier |</a:t>
            </a:r>
          </a:p>
          <a:p>
            <a:pPr>
              <a:spcAft>
                <a:spcPts val="1000"/>
              </a:spcAft>
              <a:defRPr sz="1800">
                <a:solidFill>
                  <a:srgbClr val="333333"/>
                </a:solidFill>
              </a:defRPr>
            </a:pPr>
            <a:r>
              <a:t>Real example - Automotive Supplier Failure: — OEM selected low-cost supplier for safety sensors</a:t>
            </a:r>
          </a:p>
          <a:p>
            <a:pPr>
              <a:spcAft>
                <a:spcPts val="600"/>
              </a:spcAft>
              <a:defRPr sz="1800">
                <a:solidFill>
                  <a:srgbClr val="333333"/>
                </a:solidFill>
              </a:defRPr>
            </a:pPr>
            <a:r>
              <a:t>Due diligence was minimal (cost-driven decision)</a:t>
            </a:r>
          </a:p>
          <a:p>
            <a:pPr>
              <a:spcAft>
                <a:spcPts val="600"/>
              </a:spcAft>
              <a:defRPr sz="1800">
                <a:solidFill>
                  <a:srgbClr val="333333"/>
                </a:solidFill>
              </a:defRPr>
            </a:pPr>
            <a:r>
              <a:t>6 months into production: supplier quality collapsed (PPM &gt;5000)</a:t>
            </a:r>
          </a:p>
          <a:p>
            <a:pPr>
              <a:spcAft>
                <a:spcPts val="600"/>
              </a:spcAft>
              <a:defRPr sz="1800">
                <a:solidFill>
                  <a:srgbClr val="333333"/>
                </a:solidFill>
              </a:defRPr>
            </a:pPr>
            <a:r>
              <a:t>Root cause: Supplier took on too many customers, overextended capacity</a:t>
            </a:r>
          </a:p>
          <a:p>
            <a:pPr>
              <a:spcAft>
                <a:spcPts val="600"/>
              </a:spcAft>
              <a:defRPr sz="1800">
                <a:solidFill>
                  <a:srgbClr val="333333"/>
                </a:solidFill>
              </a:defRPr>
            </a:pPr>
            <a:r>
              <a:t>Result: OEM had to qualify new supplier mid-production ($20M cost, 4-month delay)</a:t>
            </a:r>
          </a:p>
          <a:p>
            <a:pPr>
              <a:spcAft>
                <a:spcPts val="600"/>
              </a:spcAft>
              <a:defRPr sz="1800">
                <a:solidFill>
                  <a:srgbClr val="333333"/>
                </a:solidFill>
              </a:defRPr>
            </a:pPr>
            <a:r>
              <a:t>Lesson: Thorough due diligence prevents costly surprises</a:t>
            </a:r>
          </a:p>
          <a:p>
            <a:pPr>
              <a:spcAft>
                <a:spcPts val="1000"/>
              </a:spcAft>
              <a:defRPr sz="1800">
                <a:solidFill>
                  <a:srgbClr val="333333"/>
                </a:solidFill>
              </a:defRPr>
            </a:pPr>
            <a:r>
              <a:t>Decision rule: If due diligence uncovers major red flags, do not proceed regardless of score. No supplier is worth program failure.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 Part 4: Make vs Buy Decision Analysis (Slides 18-20, ~10 minutes)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Make vs Buy Decision Framework</a:t>
            </a:r>
          </a:p>
        </p:txBody>
      </p:sp>
      <p:sp>
        <p:nvSpPr>
          <p:cNvPr id="3" name="Content Placeholder 2"/>
          <p:cNvSpPr>
            <a:spLocks noGrp="1"/>
          </p:cNvSpPr>
          <p:nvPr>
            <p:ph idx="1"/>
          </p:nvPr>
        </p:nvSpPr>
        <p:spPr/>
        <p:txBody>
          <a:bodyPr/>
          <a:lstStyle/>
          <a:p>
            <a:pPr>
              <a:spcAft>
                <a:spcPts val="1000"/>
              </a:spcAft>
              <a:defRPr sz="1800">
                <a:solidFill>
                  <a:srgbClr val="333333"/>
                </a:solidFill>
              </a:defRPr>
            </a:pPr>
            <a:r>
              <a:t>One of the most strategic decisions in systems engineering: Should we make this in-house or buy from supplier?</a:t>
            </a:r>
          </a:p>
          <a:p>
            <a:pPr>
              <a:spcAft>
                <a:spcPts val="1000"/>
              </a:spcAft>
              <a:defRPr sz="1800">
                <a:solidFill>
                  <a:srgbClr val="333333"/>
                </a:solidFill>
              </a:defRPr>
            </a:pPr>
            <a:r>
              <a:t>This isn't just about cost — it's about strategy, capability, risk, and competitive advantage.</a:t>
            </a:r>
          </a:p>
          <a:p>
            <a:pPr>
              <a:spcAft>
                <a:spcPts val="1000"/>
              </a:spcAft>
              <a:defRPr sz="1800">
                <a:solidFill>
                  <a:srgbClr val="333333"/>
                </a:solidFill>
              </a:defRPr>
            </a:pPr>
            <a:r>
              <a:t>Framework for Make vs Buy Analysis:</a:t>
            </a:r>
          </a:p>
          <a:p>
            <a:pPr>
              <a:spcAft>
                <a:spcPts val="1000"/>
              </a:spcAft>
              <a:defRPr sz="1800">
                <a:solidFill>
                  <a:srgbClr val="333333"/>
                </a:solidFill>
              </a:defRPr>
            </a:pPr>
            <a:r>
              <a:t>1. Strategic Importance — Core competency? Is this technology central to our competitive differentiation?</a:t>
            </a:r>
          </a:p>
          <a:p>
            <a:pPr>
              <a:spcAft>
                <a:spcPts val="600"/>
              </a:spcAft>
              <a:defRPr sz="1800">
                <a:solidFill>
                  <a:srgbClr val="333333"/>
                </a:solidFill>
              </a:defRPr>
            </a:pPr>
            <a:r>
              <a:t>IP value? Do we need to own the intellectual property?</a:t>
            </a:r>
          </a:p>
          <a:p>
            <a:pPr>
              <a:spcAft>
                <a:spcPts val="600"/>
              </a:spcAft>
              <a:defRPr sz="1800">
                <a:solidFill>
                  <a:srgbClr val="333333"/>
                </a:solidFill>
              </a:defRPr>
            </a:pPr>
            <a:r>
              <a:t>Customer visibility? Do customers care who makes this?</a:t>
            </a:r>
          </a:p>
          <a:p>
            <a:pPr>
              <a:spcAft>
                <a:spcPts val="1000"/>
              </a:spcAft>
              <a:defRPr sz="1800">
                <a:solidFill>
                  <a:srgbClr val="333333"/>
                </a:solidFill>
              </a:defRPr>
            </a:pPr>
            <a:r>
              <a:t>Decision guidance: — Strategic/Core: Bias toward MAKE</a:t>
            </a:r>
          </a:p>
          <a:p>
            <a:pPr>
              <a:spcAft>
                <a:spcPts val="600"/>
              </a:spcAft>
              <a:defRPr sz="1800">
                <a:solidFill>
                  <a:srgbClr val="333333"/>
                </a:solidFill>
              </a:defRPr>
            </a:pPr>
            <a:r>
              <a:t>Non-strategic/Commodity: Bias toward BUY</a:t>
            </a:r>
          </a:p>
          <a:p>
            <a:pPr>
              <a:spcAft>
                <a:spcPts val="1000"/>
              </a:spcAft>
              <a:defRPr sz="1800">
                <a:solidFill>
                  <a:srgbClr val="333333"/>
                </a:solidFill>
              </a:defRPr>
            </a:pPr>
            <a:r>
              <a:t>Examples: — Tesla: MAKE battery management, autonomous driving algorithms (core differentiation)</a:t>
            </a:r>
          </a:p>
          <a:p>
            <a:pPr>
              <a:spcAft>
                <a:spcPts val="600"/>
              </a:spcAft>
              <a:defRPr sz="1800">
                <a:solidFill>
                  <a:srgbClr val="333333"/>
                </a:solidFill>
              </a:defRPr>
            </a:pPr>
            <a:r>
              <a:t>Tesla: BUY seats, lighting, fasteners (commodity, no differentiation)</a:t>
            </a:r>
          </a:p>
          <a:p>
            <a:pPr>
              <a:spcAft>
                <a:spcPts val="1000"/>
              </a:spcAft>
              <a:defRPr sz="1800">
                <a:solidFill>
                  <a:srgbClr val="333333"/>
                </a:solidFill>
              </a:defRPr>
            </a:pPr>
            <a:r>
              <a:t>2. Technical Capability — Do we have expertise? In-house engineering capability and experience</a:t>
            </a:r>
          </a:p>
          <a:p>
            <a:pPr>
              <a:spcAft>
                <a:spcPts val="600"/>
              </a:spcAft>
              <a:defRPr sz="1800">
                <a:solidFill>
                  <a:srgbClr val="333333"/>
                </a:solidFill>
              </a:defRPr>
            </a:pPr>
            <a:r>
              <a:t>Can we acquire expertise? Time and cost to build capability</a:t>
            </a:r>
          </a:p>
          <a:p>
            <a:pPr>
              <a:spcAft>
                <a:spcPts val="600"/>
              </a:spcAft>
              <a:defRPr sz="1800">
                <a:solidFill>
                  <a:srgbClr val="333333"/>
                </a:solidFill>
              </a:defRPr>
            </a:pPr>
            <a:r>
              <a:t>Supplier expertise? Are suppliers more capable than we could become?</a:t>
            </a:r>
          </a:p>
          <a:p>
            <a:pPr>
              <a:spcAft>
                <a:spcPts val="1000"/>
              </a:spcAft>
              <a:defRPr sz="1800">
                <a:solidFill>
                  <a:srgbClr val="333333"/>
                </a:solidFill>
              </a:defRPr>
            </a:pPr>
            <a:r>
              <a:t>Decision guidance: — Have capability: MAKE feasible</a:t>
            </a:r>
          </a:p>
          <a:p>
            <a:pPr>
              <a:spcAft>
                <a:spcPts val="600"/>
              </a:spcAft>
              <a:defRPr sz="1800">
                <a:solidFill>
                  <a:srgbClr val="333333"/>
                </a:solidFill>
              </a:defRPr>
            </a:pPr>
            <a:r>
              <a:t>Capability gap + long time to acquire: BUY</a:t>
            </a:r>
          </a:p>
          <a:p>
            <a:pPr>
              <a:spcAft>
                <a:spcPts val="600"/>
              </a:spcAft>
              <a:defRPr sz="1800">
                <a:solidFill>
                  <a:srgbClr val="333333"/>
                </a:solidFill>
              </a:defRPr>
            </a:pPr>
            <a:r>
              <a:t>Capability gap + strategic: Acquire/develop + MAKE</a:t>
            </a:r>
          </a:p>
          <a:p>
            <a:pPr>
              <a:spcAft>
                <a:spcPts val="1000"/>
              </a:spcAft>
              <a:defRPr sz="1800">
                <a:solidFill>
                  <a:srgbClr val="333333"/>
                </a:solidFill>
              </a:defRPr>
            </a:pPr>
            <a:r>
              <a:t>Example: — Traditional OEM entering EV market lacks battery expertise</a:t>
            </a:r>
          </a:p>
          <a:p>
            <a:pPr>
              <a:spcAft>
                <a:spcPts val="600"/>
              </a:spcAft>
              <a:defRPr sz="1800">
                <a:solidFill>
                  <a:srgbClr val="333333"/>
                </a:solidFill>
              </a:defRPr>
            </a:pPr>
            <a:r>
              <a:t>Short-term: BUY battery packs from LG/CATL (faster time-to-market)</a:t>
            </a:r>
          </a:p>
          <a:p>
            <a:pPr>
              <a:spcAft>
                <a:spcPts val="600"/>
              </a:spcAft>
              <a:defRPr sz="1800">
                <a:solidFill>
                  <a:srgbClr val="333333"/>
                </a:solidFill>
              </a:defRPr>
            </a:pPr>
            <a:r>
              <a:t>Long-term: Develop in-house expertise (strategic importance)</a:t>
            </a:r>
          </a:p>
          <a:p>
            <a:pPr>
              <a:spcAft>
                <a:spcPts val="600"/>
              </a:spcAft>
              <a:defRPr sz="1800">
                <a:solidFill>
                  <a:srgbClr val="333333"/>
                </a:solidFill>
              </a:defRPr>
            </a:pPr>
            <a:r>
              <a:t>Transition: Move from BUY to MAKE over 5-7 years</a:t>
            </a:r>
          </a:p>
          <a:p>
            <a:pPr>
              <a:spcAft>
                <a:spcPts val="1000"/>
              </a:spcAft>
              <a:defRPr sz="1800">
                <a:solidFill>
                  <a:srgbClr val="333333"/>
                </a:solidFill>
              </a:defRPr>
            </a:pPr>
            <a:r>
              <a:t>3. Capacity and Scale — Production volume? Do we have volume to justify investment?</a:t>
            </a:r>
          </a:p>
          <a:p>
            <a:pPr>
              <a:spcAft>
                <a:spcPts val="600"/>
              </a:spcAft>
              <a:defRPr sz="1800">
                <a:solidFill>
                  <a:srgbClr val="333333"/>
                </a:solidFill>
              </a:defRPr>
            </a:pPr>
            <a:r>
              <a:t>Utilization? Will our facilities run efficiently?</a:t>
            </a:r>
          </a:p>
          <a:p>
            <a:pPr>
              <a:spcAft>
                <a:spcPts val="600"/>
              </a:spcAft>
              <a:defRPr sz="1800">
                <a:solidFill>
                  <a:srgbClr val="333333"/>
                </a:solidFill>
              </a:defRPr>
            </a:pPr>
            <a:r>
              <a:t>Scalability? Can we scale up/down with demand?</a:t>
            </a:r>
          </a:p>
          <a:p>
            <a:pPr>
              <a:spcAft>
                <a:spcPts val="1000"/>
              </a:spcAft>
              <a:defRPr sz="1800">
                <a:solidFill>
                  <a:srgbClr val="333333"/>
                </a:solidFill>
              </a:defRPr>
            </a:pPr>
            <a:r>
              <a:t>Decision guidance: — High volume + stable demand: MAKE (economies of scale)</a:t>
            </a:r>
          </a:p>
          <a:p>
            <a:pPr>
              <a:spcAft>
                <a:spcPts val="600"/>
              </a:spcAft>
              <a:defRPr sz="1800">
                <a:solidFill>
                  <a:srgbClr val="333333"/>
                </a:solidFill>
              </a:defRPr>
            </a:pPr>
            <a:r>
              <a:t>Low volume + variable demand: BUY (supplier spreads costs across customers)</a:t>
            </a:r>
          </a:p>
          <a:p>
            <a:pPr>
              <a:spcAft>
                <a:spcPts val="1000"/>
              </a:spcAft>
              <a:defRPr sz="1800">
                <a:solidFill>
                  <a:srgbClr val="333333"/>
                </a:solidFill>
              </a:defRPr>
            </a:pPr>
            <a:r>
              <a:t>Example: — Tesla Gigafactory produces millions of battery cells → MAKE justified</a:t>
            </a:r>
          </a:p>
          <a:p>
            <a:pPr>
              <a:spcAft>
                <a:spcPts val="600"/>
              </a:spcAft>
              <a:defRPr sz="1800">
                <a:solidFill>
                  <a:srgbClr val="333333"/>
                </a:solidFill>
              </a:defRPr>
            </a:pPr>
            <a:r>
              <a:t>Low-volume supercar (1000 units/year) → BUY from supplier</a:t>
            </a:r>
          </a:p>
          <a:p>
            <a:pPr>
              <a:spcAft>
                <a:spcPts val="1000"/>
              </a:spcAft>
              <a:defRPr sz="1800">
                <a:solidFill>
                  <a:srgbClr val="333333"/>
                </a:solidFill>
              </a:defRPr>
            </a:pPr>
            <a:r>
              <a:t>4. Cost Analysis (Total Cost of Ownership) — Make costs: R&amp;D, tooling, facilities, labor, materials, overhead, opportunity cost</a:t>
            </a:r>
          </a:p>
          <a:p>
            <a:pPr>
              <a:spcAft>
                <a:spcPts val="600"/>
              </a:spcAft>
              <a:defRPr sz="1800">
                <a:solidFill>
                  <a:srgbClr val="333333"/>
                </a:solidFill>
              </a:defRPr>
            </a:pPr>
            <a:r>
              <a:t>Buy costs: Supplier price, transaction costs, quality assurance, management overhead</a:t>
            </a:r>
          </a:p>
          <a:p>
            <a:pPr>
              <a:spcAft>
                <a:spcPts val="600"/>
              </a:spcAft>
              <a:defRPr sz="1800">
                <a:solidFill>
                  <a:srgbClr val="333333"/>
                </a:solidFill>
              </a:defRPr>
            </a:pPr>
            <a:r>
              <a:t>Hidden costs: Both sides have hidden costs!</a:t>
            </a:r>
          </a:p>
          <a:p>
            <a:pPr>
              <a:spcAft>
                <a:spcPts val="1000"/>
              </a:spcAft>
              <a:defRPr sz="1800">
                <a:solidFill>
                  <a:srgbClr val="333333"/>
                </a:solidFill>
              </a:defRPr>
            </a:pPr>
            <a:r>
              <a:t>Decision guidance: — If MAKE cost &lt; BUY cost by &gt;20%: MAKE</a:t>
            </a:r>
          </a:p>
          <a:p>
            <a:pPr>
              <a:spcAft>
                <a:spcPts val="600"/>
              </a:spcAft>
              <a:defRPr sz="1800">
                <a:solidFill>
                  <a:srgbClr val="333333"/>
                </a:solidFill>
              </a:defRPr>
            </a:pPr>
            <a:r>
              <a:t>If BUY cost &lt; MAKE cost by &gt;20%: BUY</a:t>
            </a:r>
          </a:p>
          <a:p>
            <a:pPr>
              <a:spcAft>
                <a:spcPts val="600"/>
              </a:spcAft>
              <a:defRPr sz="1800">
                <a:solidFill>
                  <a:srgbClr val="333333"/>
                </a:solidFill>
              </a:defRPr>
            </a:pPr>
            <a:r>
              <a:t>If within 20%: Decide based on strategic factors</a:t>
            </a:r>
          </a:p>
          <a:p>
            <a:pPr>
              <a:spcAft>
                <a:spcPts val="1000"/>
              </a:spcAft>
              <a:defRPr sz="1800">
                <a:solidFill>
                  <a:srgbClr val="333333"/>
                </a:solidFill>
              </a:defRPr>
            </a:pPr>
            <a:r>
              <a:t>5. Risk Assessment — Supply risk: What if supplier fails, raises prices, or becomes competitor?</a:t>
            </a:r>
          </a:p>
          <a:p>
            <a:pPr>
              <a:spcAft>
                <a:spcPts val="600"/>
              </a:spcAft>
              <a:defRPr sz="1800">
                <a:solidFill>
                  <a:srgbClr val="333333"/>
                </a:solidFill>
              </a:defRPr>
            </a:pPr>
            <a:r>
              <a:t>Technology risk: What if we invest in making but technology changes?</a:t>
            </a:r>
          </a:p>
          <a:p>
            <a:pPr>
              <a:spcAft>
                <a:spcPts val="600"/>
              </a:spcAft>
              <a:defRPr sz="1800">
                <a:solidFill>
                  <a:srgbClr val="333333"/>
                </a:solidFill>
              </a:defRPr>
            </a:pPr>
            <a:r>
              <a:t>Quality risk: Where is quality more controllable?</a:t>
            </a:r>
          </a:p>
          <a:p>
            <a:pPr>
              <a:spcAft>
                <a:spcPts val="600"/>
              </a:spcAft>
              <a:defRPr sz="1800">
                <a:solidFill>
                  <a:srgbClr val="333333"/>
                </a:solidFill>
              </a:defRPr>
            </a:pPr>
            <a:r>
              <a:t>Flexibility risk: Which option preserves future options?</a:t>
            </a:r>
          </a:p>
          <a:p>
            <a:pPr>
              <a:spcAft>
                <a:spcPts val="1000"/>
              </a:spcAft>
              <a:defRPr sz="1800">
                <a:solidFill>
                  <a:srgbClr val="333333"/>
                </a:solidFill>
              </a:defRPr>
            </a:pPr>
            <a:r>
              <a:t>Decision guidance: — High supply risk (e.g., single source): MAKE</a:t>
            </a:r>
          </a:p>
          <a:p>
            <a:pPr>
              <a:spcAft>
                <a:spcPts val="600"/>
              </a:spcAft>
              <a:defRPr sz="1800">
                <a:solidFill>
                  <a:srgbClr val="333333"/>
                </a:solidFill>
              </a:defRPr>
            </a:pPr>
            <a:r>
              <a:t>High technology risk (rapidly evolving): BUY (avoid obsolete investment)</a:t>
            </a:r>
          </a:p>
          <a:p>
            <a:pPr>
              <a:spcAft>
                <a:spcPts val="600"/>
              </a:spcAft>
              <a:defRPr sz="1800">
                <a:solidFill>
                  <a:srgbClr val="333333"/>
                </a:solidFill>
              </a:defRPr>
            </a:pPr>
            <a:r>
              <a:t>Critical quality: MAKE (more control)</a:t>
            </a:r>
          </a:p>
          <a:p>
            <a:pPr>
              <a:spcAft>
                <a:spcPts val="1000"/>
              </a:spcAft>
              <a:defRPr sz="1800">
                <a:solidFill>
                  <a:srgbClr val="333333"/>
                </a:solidFill>
              </a:defRPr>
            </a:pPr>
            <a:r>
              <a:t>6. Time to Market — How quickly do we need this? — Make timeline: Facility build, equipment procurement, ramp-up (2-4 years)</a:t>
            </a:r>
          </a:p>
          <a:p>
            <a:pPr>
              <a:spcAft>
                <a:spcPts val="600"/>
              </a:spcAft>
              <a:defRPr sz="1800">
                <a:solidFill>
                  <a:srgbClr val="333333"/>
                </a:solidFill>
              </a:defRPr>
            </a:pPr>
            <a:r>
              <a:t>Buy timeline: Supplier selection, development, production (6-18 months)</a:t>
            </a:r>
          </a:p>
          <a:p>
            <a:pPr>
              <a:spcAft>
                <a:spcPts val="1000"/>
              </a:spcAft>
              <a:defRPr sz="1800">
                <a:solidFill>
                  <a:srgbClr val="333333"/>
                </a:solidFill>
              </a:defRPr>
            </a:pPr>
            <a:r>
              <a:t>Decision guidance: — Urgent: BUY (faster)</a:t>
            </a:r>
          </a:p>
          <a:p>
            <a:pPr>
              <a:spcAft>
                <a:spcPts val="600"/>
              </a:spcAft>
              <a:defRPr sz="1800">
                <a:solidFill>
                  <a:srgbClr val="333333"/>
                </a:solidFill>
              </a:defRPr>
            </a:pPr>
            <a:r>
              <a:t>Long-term roadmap: MAKE (if strategic)</a:t>
            </a:r>
          </a:p>
          <a:p>
            <a:pPr>
              <a:spcAft>
                <a:spcPts val="1000"/>
              </a:spcAft>
              <a:defRPr sz="1800">
                <a:solidFill>
                  <a:srgbClr val="333333"/>
                </a:solidFill>
              </a:defRPr>
            </a:pPr>
            <a:r>
              <a:t>Recommendation: Evaluate ALL factors, not just one. Use weighted decision matrix (from Session 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Make vs Buy Decision Matrix Example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work through a real example: Should an automotive OEM make or buy electric motor for new EV?</a:t>
            </a:r>
          </a:p>
          <a:p>
            <a:pPr>
              <a:spcAft>
                <a:spcPts val="1000"/>
              </a:spcAft>
              <a:defRPr sz="1800">
                <a:solidFill>
                  <a:srgbClr val="333333"/>
                </a:solidFill>
              </a:defRPr>
            </a:pPr>
            <a:r>
              <a:t>Component: Electric Traction Motor (250 kW for midsize EV)</a:t>
            </a:r>
          </a:p>
          <a:p>
            <a:pPr>
              <a:spcAft>
                <a:spcPts val="1000"/>
              </a:spcAft>
              <a:defRPr sz="1800">
                <a:solidFill>
                  <a:srgbClr val="333333"/>
                </a:solidFill>
              </a:defRPr>
            </a:pPr>
            <a:r>
              <a:t>Evaluation Criteria and Scoring:</a:t>
            </a:r>
          </a:p>
          <a:p>
            <a:pPr>
              <a:spcAft>
                <a:spcPts val="1000"/>
              </a:spcAft>
              <a:defRPr sz="1800">
                <a:solidFill>
                  <a:srgbClr val="333333"/>
                </a:solidFill>
              </a:defRPr>
            </a:pPr>
            <a:r>
              <a:t>| Criterion | Weight | MAKE Score | BUY Score | MAKE Weighted | BUY Weighted |</a:t>
            </a:r>
          </a:p>
          <a:p>
            <a:pPr>
              <a:spcAft>
                <a:spcPts val="1000"/>
              </a:spcAft>
              <a:defRPr sz="1800">
                <a:solidFill>
                  <a:srgbClr val="333333"/>
                </a:solidFill>
              </a:defRPr>
            </a:pPr>
            <a:r>
              <a:t>|-----------|--------|------------|-----------|---------------|--------------|</a:t>
            </a:r>
          </a:p>
          <a:p>
            <a:pPr>
              <a:spcAft>
                <a:spcPts val="1000"/>
              </a:spcAft>
              <a:defRPr sz="1800">
                <a:solidFill>
                  <a:srgbClr val="333333"/>
                </a:solidFill>
              </a:defRPr>
            </a:pPr>
            <a:r>
              <a:t>| Strategic Importance | 25% | 8/10 (Important for EV differentiation) | 4/10 (Commodity from supplier) | 2.0 | 1.0 |</a:t>
            </a:r>
          </a:p>
          <a:p>
            <a:pPr>
              <a:spcAft>
                <a:spcPts val="1000"/>
              </a:spcAft>
              <a:defRPr sz="1800">
                <a:solidFill>
                  <a:srgbClr val="333333"/>
                </a:solidFill>
              </a:defRPr>
            </a:pPr>
            <a:r>
              <a:t>| Technical Capability | 20% | 5/10 (Limited experience, would need to acquire) | 9/10 (Suppliers very capable) | 1.0 | 1.8 |</a:t>
            </a:r>
          </a:p>
          <a:p>
            <a:pPr>
              <a:spcAft>
                <a:spcPts val="1000"/>
              </a:spcAft>
              <a:defRPr sz="1800">
                <a:solidFill>
                  <a:srgbClr val="333333"/>
                </a:solidFill>
              </a:defRPr>
            </a:pPr>
            <a:r>
              <a:t>| Cost | 20% | 6/10 (High initial investment, lower long-term) | 7/10 (No upfront, but ongoing supplier margin) | 1.2 | 1.4 |</a:t>
            </a:r>
          </a:p>
          <a:p>
            <a:pPr>
              <a:spcAft>
                <a:spcPts val="1000"/>
              </a:spcAft>
              <a:defRPr sz="1800">
                <a:solidFill>
                  <a:srgbClr val="333333"/>
                </a:solidFill>
              </a:defRPr>
            </a:pPr>
            <a:r>
              <a:t>| Quality &amp; Reliability | 15% | 7/10 (Full control once established) | 8/10 (Suppliers proven track record) | 1.05 | 1.2 |</a:t>
            </a:r>
          </a:p>
          <a:p>
            <a:pPr>
              <a:spcAft>
                <a:spcPts val="1000"/>
              </a:spcAft>
              <a:defRPr sz="1800">
                <a:solidFill>
                  <a:srgbClr val="333333"/>
                </a:solidFill>
              </a:defRPr>
            </a:pPr>
            <a:r>
              <a:t>| Time to Market | 10% | 3/10 (3-4 years to build capability) | 9/10 (Supplier ready in 12-18 months) | 0.3 | 0.9 |</a:t>
            </a:r>
          </a:p>
          <a:p>
            <a:pPr>
              <a:spcAft>
                <a:spcPts val="1000"/>
              </a:spcAft>
              <a:defRPr sz="1800">
                <a:solidFill>
                  <a:srgbClr val="333333"/>
                </a:solidFill>
              </a:defRPr>
            </a:pPr>
            <a:r>
              <a:t>| Risk | 10% | 7/10 (Technology risk, but supply chain secure) | 5/10 (Supply risk, price risk) | 0.7 | 0.5 |</a:t>
            </a:r>
          </a:p>
          <a:p>
            <a:pPr>
              <a:spcAft>
                <a:spcPts val="1000"/>
              </a:spcAft>
              <a:defRPr sz="1800">
                <a:solidFill>
                  <a:srgbClr val="333333"/>
                </a:solidFill>
              </a:defRPr>
            </a:pPr>
            <a:r>
              <a:t>| Total | 100% | - | - | 6.25/10 | 6.8/10 |</a:t>
            </a:r>
          </a:p>
          <a:p>
            <a:pPr>
              <a:spcAft>
                <a:spcPts val="1000"/>
              </a:spcAft>
              <a:defRPr sz="1800">
                <a:solidFill>
                  <a:srgbClr val="333333"/>
                </a:solidFill>
              </a:defRPr>
            </a:pPr>
            <a:r>
              <a:t>Analysis: — BUY scores higher (6.8 vs 6.25) — but it's close!</a:t>
            </a:r>
          </a:p>
          <a:p>
            <a:pPr>
              <a:spcAft>
                <a:spcPts val="600"/>
              </a:spcAft>
              <a:defRPr sz="1800">
                <a:solidFill>
                  <a:srgbClr val="333333"/>
                </a:solidFill>
              </a:defRPr>
            </a:pPr>
            <a:r>
              <a:t>MAKE strengths: Strategic control, long-term cost, supply chain security</a:t>
            </a:r>
          </a:p>
          <a:p>
            <a:pPr>
              <a:spcAft>
                <a:spcPts val="600"/>
              </a:spcAft>
              <a:defRPr sz="1800">
                <a:solidFill>
                  <a:srgbClr val="333333"/>
                </a:solidFill>
              </a:defRPr>
            </a:pPr>
            <a:r>
              <a:t>BUY strengths: Technical capability, time to market, immediate quality</a:t>
            </a:r>
          </a:p>
          <a:p>
            <a:pPr>
              <a:spcAft>
                <a:spcPts val="1000"/>
              </a:spcAft>
              <a:defRPr sz="1800">
                <a:solidFill>
                  <a:srgbClr val="333333"/>
                </a:solidFill>
              </a:defRPr>
            </a:pPr>
            <a:r>
              <a:t>Decision factors to consider:</a:t>
            </a:r>
          </a:p>
          <a:p>
            <a:pPr>
              <a:spcAft>
                <a:spcPts val="1000"/>
              </a:spcAft>
              <a:defRPr sz="1800">
                <a:solidFill>
                  <a:srgbClr val="333333"/>
                </a:solidFill>
              </a:defRPr>
            </a:pPr>
            <a:r>
              <a:t>If OEM chooses BUY: — Faster to market (competitive advantage in fast-moving EV market)</a:t>
            </a:r>
          </a:p>
          <a:p>
            <a:pPr>
              <a:spcAft>
                <a:spcPts val="600"/>
              </a:spcAft>
              <a:defRPr sz="1800">
                <a:solidFill>
                  <a:srgbClr val="333333"/>
                </a:solidFill>
              </a:defRPr>
            </a:pPr>
            <a:r>
              <a:t>Leverage supplier expertise</a:t>
            </a:r>
          </a:p>
          <a:p>
            <a:pPr>
              <a:spcAft>
                <a:spcPts val="600"/>
              </a:spcAft>
              <a:defRPr sz="1800">
                <a:solidFill>
                  <a:srgbClr val="333333"/>
                </a:solidFill>
              </a:defRPr>
            </a:pPr>
            <a:r>
              <a:t>Lower upfront investment</a:t>
            </a:r>
          </a:p>
          <a:p>
            <a:pPr>
              <a:spcAft>
                <a:spcPts val="600"/>
              </a:spcAft>
              <a:defRPr sz="1800">
                <a:solidFill>
                  <a:srgbClr val="333333"/>
                </a:solidFill>
              </a:defRPr>
            </a:pPr>
            <a:r>
              <a:t>Risk: Dependent on supplier, less differentiation, ongoing costs</a:t>
            </a:r>
          </a:p>
          <a:p>
            <a:pPr>
              <a:spcAft>
                <a:spcPts val="600"/>
              </a:spcAft>
              <a:defRPr sz="1800">
                <a:solidFill>
                  <a:srgbClr val="333333"/>
                </a:solidFill>
              </a:defRPr>
            </a:pPr>
            <a:r>
              <a:t>Strategy: Dual-source motors to mitigate supply risk</a:t>
            </a:r>
          </a:p>
          <a:p>
            <a:pPr>
              <a:spcAft>
                <a:spcPts val="1000"/>
              </a:spcAft>
              <a:defRPr sz="1800">
                <a:solidFill>
                  <a:srgbClr val="333333"/>
                </a:solidFill>
              </a:defRPr>
            </a:pPr>
            <a:r>
              <a:t>If OEM chooses MAKE: — Long-term cost advantage (if volume &gt;100k units/year)</a:t>
            </a:r>
          </a:p>
          <a:p>
            <a:pPr>
              <a:spcAft>
                <a:spcPts val="600"/>
              </a:spcAft>
              <a:defRPr sz="1800">
                <a:solidFill>
                  <a:srgbClr val="333333"/>
                </a:solidFill>
              </a:defRPr>
            </a:pPr>
            <a:r>
              <a:t>Technology ownership and differentiation</a:t>
            </a:r>
          </a:p>
          <a:p>
            <a:pPr>
              <a:spcAft>
                <a:spcPts val="600"/>
              </a:spcAft>
              <a:defRPr sz="1800">
                <a:solidFill>
                  <a:srgbClr val="333333"/>
                </a:solidFill>
              </a:defRPr>
            </a:pPr>
            <a:r>
              <a:t>Complete control over roadmap</a:t>
            </a:r>
          </a:p>
          <a:p>
            <a:pPr>
              <a:spcAft>
                <a:spcPts val="600"/>
              </a:spcAft>
              <a:defRPr sz="1800">
                <a:solidFill>
                  <a:srgbClr val="333333"/>
                </a:solidFill>
              </a:defRPr>
            </a:pPr>
            <a:r>
              <a:t>Risk: 3-4 year delay, need to acquire expertise</a:t>
            </a:r>
          </a:p>
          <a:p>
            <a:pPr>
              <a:spcAft>
                <a:spcPts val="600"/>
              </a:spcAft>
              <a:defRPr sz="1800">
                <a:solidFill>
                  <a:srgbClr val="333333"/>
                </a:solidFill>
              </a:defRPr>
            </a:pPr>
            <a:r>
              <a:t>Strategy: Partner with motor specialist initially, bring in-house over time</a:t>
            </a:r>
          </a:p>
          <a:p>
            <a:pPr>
              <a:spcAft>
                <a:spcPts val="1000"/>
              </a:spcAft>
              <a:defRPr sz="1800">
                <a:solidFill>
                  <a:srgbClr val="333333"/>
                </a:solidFill>
              </a:defRPr>
            </a:pPr>
            <a:r>
              <a:t>Actual industry examples:</a:t>
            </a:r>
          </a:p>
          <a:p>
            <a:pPr>
              <a:spcAft>
                <a:spcPts val="1000"/>
              </a:spcAft>
              <a:defRPr sz="1800">
                <a:solidFill>
                  <a:srgbClr val="333333"/>
                </a:solidFill>
              </a:defRPr>
            </a:pPr>
            <a:r>
              <a:t>Tesla - MAKE decision: — Designed proprietary motor (permanent magnet synchronous motor)</a:t>
            </a:r>
          </a:p>
          <a:p>
            <a:pPr>
              <a:spcAft>
                <a:spcPts val="600"/>
              </a:spcAft>
              <a:defRPr sz="1800">
                <a:solidFill>
                  <a:srgbClr val="333333"/>
                </a:solidFill>
              </a:defRPr>
            </a:pPr>
            <a:r>
              <a:t>Rationale: Core differentiation, high volume (500k+ units/year), vertical integration strategy</a:t>
            </a:r>
          </a:p>
          <a:p>
            <a:pPr>
              <a:spcAft>
                <a:spcPts val="600"/>
              </a:spcAft>
              <a:defRPr sz="1800">
                <a:solidFill>
                  <a:srgbClr val="333333"/>
                </a:solidFill>
              </a:defRPr>
            </a:pPr>
            <a:r>
              <a:t>Built in-house motor production at Gigafactories</a:t>
            </a:r>
          </a:p>
          <a:p>
            <a:pPr>
              <a:spcAft>
                <a:spcPts val="1000"/>
              </a:spcAft>
              <a:defRPr sz="1800">
                <a:solidFill>
                  <a:srgbClr val="333333"/>
                </a:solidFill>
              </a:defRPr>
            </a:pPr>
            <a:r>
              <a:t>Ford - BUY decision: — Sources motors from suppliers (e.g., BorgWarner, Hitachi)</a:t>
            </a:r>
          </a:p>
          <a:p>
            <a:pPr>
              <a:spcAft>
                <a:spcPts val="600"/>
              </a:spcAft>
              <a:defRPr sz="1800">
                <a:solidFill>
                  <a:srgbClr val="333333"/>
                </a:solidFill>
              </a:defRPr>
            </a:pPr>
            <a:r>
              <a:t>Rationale: Faster to market, leverage supplier expertise, lower volume per model</a:t>
            </a:r>
          </a:p>
          <a:p>
            <a:pPr>
              <a:spcAft>
                <a:spcPts val="600"/>
              </a:spcAft>
              <a:defRPr sz="1800">
                <a:solidFill>
                  <a:srgbClr val="333333"/>
                </a:solidFill>
              </a:defRPr>
            </a:pPr>
            <a:r>
              <a:t>Focus internal resources on battery and software (higher strategic value)</a:t>
            </a:r>
          </a:p>
          <a:p>
            <a:pPr>
              <a:spcAft>
                <a:spcPts val="1000"/>
              </a:spcAft>
              <a:defRPr sz="1800">
                <a:solidFill>
                  <a:srgbClr val="333333"/>
                </a:solidFill>
              </a:defRPr>
            </a:pPr>
            <a:r>
              <a:t>Hybrid approach - GM: — Initially bought motors (Volt, Bolt)</a:t>
            </a:r>
          </a:p>
          <a:p>
            <a:pPr>
              <a:spcAft>
                <a:spcPts val="600"/>
              </a:spcAft>
              <a:defRPr sz="1800">
                <a:solidFill>
                  <a:srgbClr val="333333"/>
                </a:solidFill>
              </a:defRPr>
            </a:pPr>
            <a:r>
              <a:t>Developed in-house motor expertise over time</a:t>
            </a:r>
          </a:p>
          <a:p>
            <a:pPr>
              <a:spcAft>
                <a:spcPts val="600"/>
              </a:spcAft>
              <a:defRPr sz="1800">
                <a:solidFill>
                  <a:srgbClr val="333333"/>
                </a:solidFill>
              </a:defRPr>
            </a:pPr>
            <a:r>
              <a:t>Now manufactures Ultium platform motors in-house (high volume, strategic)</a:t>
            </a:r>
          </a:p>
          <a:p>
            <a:pPr>
              <a:spcAft>
                <a:spcPts val="1000"/>
              </a:spcAft>
              <a:defRPr sz="1800">
                <a:solidFill>
                  <a:srgbClr val="333333"/>
                </a:solidFill>
              </a:defRPr>
            </a:pPr>
            <a:r>
              <a:t>Key insight: Make vs Buy is NOT permanent. Can transition over time as volumes, capabilities, and strategies evolve.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Make vs Buy Special Considerations in Automotive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Automotive industry has unique factors that influence make vs buy decisions:</a:t>
            </a:r>
          </a:p>
          <a:p>
            <a:pPr>
              <a:spcAft>
                <a:spcPts val="1000"/>
              </a:spcAft>
              <a:defRPr sz="1800">
                <a:solidFill>
                  <a:srgbClr val="333333"/>
                </a:solidFill>
              </a:defRPr>
            </a:pPr>
            <a:r>
              <a:t>1. Safety Certification Requirements (ISO 26262) — Safety-critical components require ASIL certification</a:t>
            </a:r>
          </a:p>
          <a:p>
            <a:pPr>
              <a:spcAft>
                <a:spcPts val="600"/>
              </a:spcAft>
              <a:defRPr sz="1800">
                <a:solidFill>
                  <a:srgbClr val="333333"/>
                </a:solidFill>
              </a:defRPr>
            </a:pPr>
            <a:r>
              <a:t>Make: Full control over safety process, but need internal ASIL capability</a:t>
            </a:r>
          </a:p>
          <a:p>
            <a:pPr>
              <a:spcAft>
                <a:spcPts val="600"/>
              </a:spcAft>
              <a:defRPr sz="1800">
                <a:solidFill>
                  <a:srgbClr val="333333"/>
                </a:solidFill>
              </a:defRPr>
            </a:pPr>
            <a:r>
              <a:t>Buy: Supplier responsible for ASIL certification, but OEM still liable</a:t>
            </a:r>
          </a:p>
          <a:p>
            <a:pPr>
              <a:spcAft>
                <a:spcPts val="600"/>
              </a:spcAft>
              <a:defRPr sz="1800">
                <a:solidFill>
                  <a:srgbClr val="333333"/>
                </a:solidFill>
              </a:defRPr>
            </a:pPr>
            <a:r>
              <a:t>Example: Brake systems typically bought from certified suppliers (Bosch, Continental) - they have decades of ASIL expertise</a:t>
            </a:r>
          </a:p>
          <a:p>
            <a:pPr>
              <a:spcAft>
                <a:spcPts val="1000"/>
              </a:spcAft>
              <a:defRPr sz="1800">
                <a:solidFill>
                  <a:srgbClr val="333333"/>
                </a:solidFill>
              </a:defRPr>
            </a:pPr>
            <a:r>
              <a:t>2. Recall Liability — OEM is ultimately responsible for recalls, even if supplier defect</a:t>
            </a:r>
          </a:p>
          <a:p>
            <a:pPr>
              <a:spcAft>
                <a:spcPts val="600"/>
              </a:spcAft>
              <a:defRPr sz="1800">
                <a:solidFill>
                  <a:srgbClr val="333333"/>
                </a:solidFill>
              </a:defRPr>
            </a:pPr>
            <a:r>
              <a:t>Make: Direct control over root cause and fix</a:t>
            </a:r>
          </a:p>
          <a:p>
            <a:pPr>
              <a:spcAft>
                <a:spcPts val="600"/>
              </a:spcAft>
              <a:defRPr sz="1800">
                <a:solidFill>
                  <a:srgbClr val="333333"/>
                </a:solidFill>
              </a:defRPr>
            </a:pPr>
            <a:r>
              <a:t>Buy: Dependent on supplier for corrective action, but OEM faces public blame</a:t>
            </a:r>
          </a:p>
          <a:p>
            <a:pPr>
              <a:spcAft>
                <a:spcPts val="600"/>
              </a:spcAft>
              <a:defRPr sz="1800">
                <a:solidFill>
                  <a:srgbClr val="333333"/>
                </a:solidFill>
              </a:defRPr>
            </a:pPr>
            <a:r>
              <a:t>Strategy: Critical safety items often made in-house or dual-sourced to mitigate risk</a:t>
            </a:r>
          </a:p>
          <a:p>
            <a:pPr>
              <a:spcAft>
                <a:spcPts val="1000"/>
              </a:spcAft>
              <a:defRPr sz="1800">
                <a:solidFill>
                  <a:srgbClr val="333333"/>
                </a:solidFill>
              </a:defRPr>
            </a:pPr>
            <a:r>
              <a:t>3. Regulatory and Homologation — Vehicles must be certified in each market (FMVSS in US, ECE in Europe, etc.)</a:t>
            </a:r>
          </a:p>
          <a:p>
            <a:pPr>
              <a:spcAft>
                <a:spcPts val="600"/>
              </a:spcAft>
              <a:defRPr sz="1800">
                <a:solidFill>
                  <a:srgbClr val="333333"/>
                </a:solidFill>
              </a:defRPr>
            </a:pPr>
            <a:r>
              <a:t>Make: OEM manages entire certification</a:t>
            </a:r>
          </a:p>
          <a:p>
            <a:pPr>
              <a:spcAft>
                <a:spcPts val="600"/>
              </a:spcAft>
              <a:defRPr sz="1800">
                <a:solidFill>
                  <a:srgbClr val="333333"/>
                </a:solidFill>
              </a:defRPr>
            </a:pPr>
            <a:r>
              <a:t>Buy: Supplier provides compliance documentation, OEM integrates</a:t>
            </a:r>
          </a:p>
          <a:p>
            <a:pPr>
              <a:spcAft>
                <a:spcPts val="600"/>
              </a:spcAft>
              <a:defRPr sz="1800">
                <a:solidFill>
                  <a:srgbClr val="333333"/>
                </a:solidFill>
              </a:defRPr>
            </a:pPr>
            <a:r>
              <a:t>Complexity: Global OEMs sell in 100+ countries - homologation is massive effort</a:t>
            </a:r>
          </a:p>
          <a:p>
            <a:pPr>
              <a:spcAft>
                <a:spcPts val="1000"/>
              </a:spcAft>
              <a:defRPr sz="1800">
                <a:solidFill>
                  <a:srgbClr val="333333"/>
                </a:solidFill>
              </a:defRPr>
            </a:pPr>
            <a:r>
              <a:t>4. Platform Sharing and Economies of Scale — Modern OEMs share platforms across multiple vehicle models</a:t>
            </a:r>
          </a:p>
          <a:p>
            <a:pPr>
              <a:spcAft>
                <a:spcPts val="600"/>
              </a:spcAft>
              <a:defRPr sz="1800">
                <a:solidFill>
                  <a:srgbClr val="333333"/>
                </a:solidFill>
              </a:defRPr>
            </a:pPr>
            <a:r>
              <a:t>Make: Easier to standardize across platform (design once, use everywhere)</a:t>
            </a:r>
          </a:p>
          <a:p>
            <a:pPr>
              <a:spcAft>
                <a:spcPts val="600"/>
              </a:spcAft>
              <a:defRPr sz="1800">
                <a:solidFill>
                  <a:srgbClr val="333333"/>
                </a:solidFill>
              </a:defRPr>
            </a:pPr>
            <a:r>
              <a:t>Buy: Can still standardize by using same supplier part across models</a:t>
            </a:r>
          </a:p>
          <a:p>
            <a:pPr>
              <a:spcAft>
                <a:spcPts val="600"/>
              </a:spcAft>
              <a:defRPr sz="1800">
                <a:solidFill>
                  <a:srgbClr val="333333"/>
                </a:solidFill>
              </a:defRPr>
            </a:pPr>
            <a:r>
              <a:t>Example: VW Group MQB platform - shared components across VW, Audi, Skoda, Seat</a:t>
            </a:r>
          </a:p>
          <a:p>
            <a:pPr>
              <a:spcAft>
                <a:spcPts val="600"/>
              </a:spcAft>
              <a:defRPr sz="1800">
                <a:solidFill>
                  <a:srgbClr val="333333"/>
                </a:solidFill>
              </a:defRPr>
            </a:pPr>
            <a:r>
              <a:t>Decision: Platform components often made in-house for maximum reuse</a:t>
            </a:r>
          </a:p>
          <a:p>
            <a:pPr>
              <a:spcAft>
                <a:spcPts val="1000"/>
              </a:spcAft>
              <a:defRPr sz="1800">
                <a:solidFill>
                  <a:srgbClr val="333333"/>
                </a:solidFill>
              </a:defRPr>
            </a:pPr>
            <a:r>
              <a:t>5. Technology Lifecycle (Automotive is Long) — Vehicles have 10-15 year production lifecycle</a:t>
            </a:r>
          </a:p>
          <a:p>
            <a:pPr>
              <a:spcAft>
                <a:spcPts val="600"/>
              </a:spcAft>
              <a:defRPr sz="1800">
                <a:solidFill>
                  <a:srgbClr val="333333"/>
                </a:solidFill>
              </a:defRPr>
            </a:pPr>
            <a:r>
              <a:t>Component must be available for production + 10-15 years service parts</a:t>
            </a:r>
          </a:p>
          <a:p>
            <a:pPr>
              <a:spcAft>
                <a:spcPts val="600"/>
              </a:spcAft>
              <a:defRPr sz="1800">
                <a:solidFill>
                  <a:srgbClr val="333333"/>
                </a:solidFill>
              </a:defRPr>
            </a:pPr>
            <a:r>
              <a:t>Make: Full control over obsolescence management</a:t>
            </a:r>
          </a:p>
          <a:p>
            <a:pPr>
              <a:spcAft>
                <a:spcPts val="600"/>
              </a:spcAft>
              <a:defRPr sz="1800">
                <a:solidFill>
                  <a:srgbClr val="333333"/>
                </a:solidFill>
              </a:defRPr>
            </a:pPr>
            <a:r>
              <a:t>Buy: Require supplier to commit to 25-year availability (challenge for electronics)</a:t>
            </a:r>
          </a:p>
          <a:p>
            <a:pPr>
              <a:spcAft>
                <a:spcPts val="600"/>
              </a:spcAft>
              <a:defRPr sz="1800">
                <a:solidFill>
                  <a:srgbClr val="333333"/>
                </a:solidFill>
              </a:defRPr>
            </a:pPr>
            <a:r>
              <a:t>Risk: Suppliers discontinue components, forcing costly redesigns</a:t>
            </a:r>
          </a:p>
          <a:p>
            <a:pPr>
              <a:spcAft>
                <a:spcPts val="600"/>
              </a:spcAft>
              <a:defRPr sz="1800">
                <a:solidFill>
                  <a:srgbClr val="333333"/>
                </a:solidFill>
              </a:defRPr>
            </a:pPr>
            <a:r>
              <a:t>Strategy: End-of-life buy agreements, escrow of designs/tooling</a:t>
            </a:r>
          </a:p>
          <a:p>
            <a:pPr>
              <a:spcAft>
                <a:spcPts val="1000"/>
              </a:spcAft>
              <a:defRPr sz="1800">
                <a:solidFill>
                  <a:srgbClr val="333333"/>
                </a:solidFill>
              </a:defRPr>
            </a:pPr>
            <a:r>
              <a:t>6. Competitive Dynamics — If you BUY from supplier, do they also sell to your competitors?</a:t>
            </a:r>
          </a:p>
          <a:p>
            <a:pPr>
              <a:spcAft>
                <a:spcPts val="600"/>
              </a:spcAft>
              <a:defRPr sz="1800">
                <a:solidFill>
                  <a:srgbClr val="333333"/>
                </a:solidFill>
              </a:defRPr>
            </a:pPr>
            <a:r>
              <a:t>Risk: No differentiation, supplier gains leverage</a:t>
            </a:r>
          </a:p>
          <a:p>
            <a:pPr>
              <a:spcAft>
                <a:spcPts val="600"/>
              </a:spcAft>
              <a:defRPr sz="1800">
                <a:solidFill>
                  <a:srgbClr val="333333"/>
                </a:solidFill>
              </a:defRPr>
            </a:pPr>
            <a:r>
              <a:t>Example: Multiple OEMs use same Bosch radar sensors → limited differentiation</a:t>
            </a:r>
          </a:p>
          <a:p>
            <a:pPr>
              <a:spcAft>
                <a:spcPts val="600"/>
              </a:spcAft>
              <a:defRPr sz="1800">
                <a:solidFill>
                  <a:srgbClr val="333333"/>
                </a:solidFill>
              </a:defRPr>
            </a:pPr>
            <a:r>
              <a:t>Strategy: Exclusive agreements (costly), or MAKE for differentiation</a:t>
            </a:r>
          </a:p>
          <a:p>
            <a:pPr>
              <a:spcAft>
                <a:spcPts val="1000"/>
              </a:spcAft>
              <a:defRPr sz="1800">
                <a:solidFill>
                  <a:srgbClr val="333333"/>
                </a:solidFill>
              </a:defRPr>
            </a:pPr>
            <a:r>
              <a:t>7. Vertical Integration Trends — Traditional OEMs: Low vertical integration (20-30%) - focus on assembly, powertrain</a:t>
            </a:r>
          </a:p>
          <a:p>
            <a:pPr>
              <a:spcAft>
                <a:spcPts val="600"/>
              </a:spcAft>
              <a:defRPr sz="1800">
                <a:solidFill>
                  <a:srgbClr val="333333"/>
                </a:solidFill>
              </a:defRPr>
            </a:pPr>
            <a:r>
              <a:t>Tesla model: High vertical integration (50%+) - batteries, motors, software, even seats</a:t>
            </a:r>
          </a:p>
          <a:p>
            <a:pPr>
              <a:spcAft>
                <a:spcPts val="600"/>
              </a:spcAft>
              <a:defRPr sz="1800">
                <a:solidFill>
                  <a:srgbClr val="333333"/>
                </a:solidFill>
              </a:defRPr>
            </a:pPr>
            <a:r>
              <a:t>Rationale:</a:t>
            </a:r>
          </a:p>
          <a:p>
            <a:pPr>
              <a:spcAft>
                <a:spcPts val="600"/>
              </a:spcAft>
              <a:defRPr sz="1800">
                <a:solidFill>
                  <a:srgbClr val="333333"/>
                </a:solidFill>
              </a:defRPr>
            </a:pPr>
            <a:r>
              <a:t>Tesla: Speed, cost control, vertical integration = competitive advantage</a:t>
            </a:r>
          </a:p>
          <a:p>
            <a:pPr>
              <a:spcAft>
                <a:spcPts val="600"/>
              </a:spcAft>
              <a:defRPr sz="1800">
                <a:solidFill>
                  <a:srgbClr val="333333"/>
                </a:solidFill>
              </a:defRPr>
            </a:pPr>
            <a:r>
              <a:t>Traditional: Flexibility, asset-light, focus on brand/distribution</a:t>
            </a:r>
          </a:p>
          <a:p>
            <a:pPr>
              <a:spcAft>
                <a:spcPts val="600"/>
              </a:spcAft>
              <a:defRPr sz="1800">
                <a:solidFill>
                  <a:srgbClr val="333333"/>
                </a:solidFill>
              </a:defRPr>
            </a:pPr>
            <a:r>
              <a:t>No universal answer — depends on company strategy</a:t>
            </a:r>
          </a:p>
          <a:p>
            <a:pPr>
              <a:spcAft>
                <a:spcPts val="1000"/>
              </a:spcAft>
              <a:defRPr sz="1800">
                <a:solidFill>
                  <a:srgbClr val="333333"/>
                </a:solidFill>
              </a:defRPr>
            </a:pPr>
            <a:r>
              <a:t>8. Software-Defined Vehicles (Emerging Factor) — Modern vehicles are 'computers on wheels' - software is differentiator</a:t>
            </a:r>
          </a:p>
          <a:p>
            <a:pPr>
              <a:spcAft>
                <a:spcPts val="600"/>
              </a:spcAft>
              <a:defRPr sz="1800">
                <a:solidFill>
                  <a:srgbClr val="333333"/>
                </a:solidFill>
              </a:defRPr>
            </a:pPr>
            <a:r>
              <a:t>MAKE decision increasingly common for software: In-house control over updates, features, user experience</a:t>
            </a:r>
          </a:p>
          <a:p>
            <a:pPr>
              <a:spcAft>
                <a:spcPts val="600"/>
              </a:spcAft>
              <a:defRPr sz="1800">
                <a:solidFill>
                  <a:srgbClr val="333333"/>
                </a:solidFill>
              </a:defRPr>
            </a:pPr>
            <a:r>
              <a:t>BUY for hardware, MAKE for software: Hybrid approach</a:t>
            </a:r>
          </a:p>
          <a:p>
            <a:pPr>
              <a:spcAft>
                <a:spcPts val="600"/>
              </a:spcAft>
              <a:defRPr sz="1800">
                <a:solidFill>
                  <a:srgbClr val="333333"/>
                </a:solidFill>
              </a:defRPr>
            </a:pPr>
            <a:r>
              <a:t>Example: OEMs buy hardware from suppliers but develop software stacks in-house</a:t>
            </a:r>
          </a:p>
          <a:p>
            <a:pPr>
              <a:spcAft>
                <a:spcPts val="1000"/>
              </a:spcAft>
              <a:defRPr sz="1800">
                <a:solidFill>
                  <a:srgbClr val="333333"/>
                </a:solidFill>
              </a:defRPr>
            </a:pPr>
            <a:r>
              <a:t>Decision framework summary:</a:t>
            </a:r>
          </a:p>
          <a:p>
            <a:pPr>
              <a:spcAft>
                <a:spcPts val="1000"/>
              </a:spcAft>
              <a:defRPr sz="1800">
                <a:solidFill>
                  <a:srgbClr val="333333"/>
                </a:solidFill>
              </a:defRPr>
            </a:pPr>
            <a:r>
              <a:t>MAKE when: — Strategic/core technology</a:t>
            </a:r>
          </a:p>
          <a:p>
            <a:pPr>
              <a:spcAft>
                <a:spcPts val="600"/>
              </a:spcAft>
              <a:defRPr sz="1800">
                <a:solidFill>
                  <a:srgbClr val="333333"/>
                </a:solidFill>
              </a:defRPr>
            </a:pPr>
            <a:r>
              <a:t>High volume (&gt;100k units/year)</a:t>
            </a:r>
          </a:p>
          <a:p>
            <a:pPr>
              <a:spcAft>
                <a:spcPts val="600"/>
              </a:spcAft>
              <a:defRPr sz="1800">
                <a:solidFill>
                  <a:srgbClr val="333333"/>
                </a:solidFill>
              </a:defRPr>
            </a:pPr>
            <a:r>
              <a:t>Critical safety/quality control needed</a:t>
            </a:r>
          </a:p>
          <a:p>
            <a:pPr>
              <a:spcAft>
                <a:spcPts val="600"/>
              </a:spcAft>
              <a:defRPr sz="1800">
                <a:solidFill>
                  <a:srgbClr val="333333"/>
                </a:solidFill>
              </a:defRPr>
            </a:pPr>
            <a:r>
              <a:t>IP ownership essential</a:t>
            </a:r>
          </a:p>
          <a:p>
            <a:pPr>
              <a:spcAft>
                <a:spcPts val="600"/>
              </a:spcAft>
              <a:defRPr sz="1800">
                <a:solidFill>
                  <a:srgbClr val="333333"/>
                </a:solidFill>
              </a:defRPr>
            </a:pPr>
            <a:r>
              <a:t>Long-term cost advantage clear</a:t>
            </a:r>
          </a:p>
          <a:p>
            <a:pPr>
              <a:spcAft>
                <a:spcPts val="1000"/>
              </a:spcAft>
              <a:defRPr sz="1800">
                <a:solidFill>
                  <a:srgbClr val="333333"/>
                </a:solidFill>
              </a:defRPr>
            </a:pPr>
            <a:r>
              <a:t>BUY when: — Commodity/non-differentiating</a:t>
            </a:r>
          </a:p>
          <a:p>
            <a:pPr>
              <a:spcAft>
                <a:spcPts val="600"/>
              </a:spcAft>
              <a:defRPr sz="1800">
                <a:solidFill>
                  <a:srgbClr val="333333"/>
                </a:solidFill>
              </a:defRPr>
            </a:pPr>
            <a:r>
              <a:t>Low volume or variable demand</a:t>
            </a:r>
          </a:p>
          <a:p>
            <a:pPr>
              <a:spcAft>
                <a:spcPts val="600"/>
              </a:spcAft>
              <a:defRPr sz="1800">
                <a:solidFill>
                  <a:srgbClr val="333333"/>
                </a:solidFill>
              </a:defRPr>
            </a:pPr>
            <a:r>
              <a:t>Supplier has superior expertise</a:t>
            </a:r>
          </a:p>
          <a:p>
            <a:pPr>
              <a:spcAft>
                <a:spcPts val="600"/>
              </a:spcAft>
              <a:defRPr sz="1800">
                <a:solidFill>
                  <a:srgbClr val="333333"/>
                </a:solidFill>
              </a:defRPr>
            </a:pPr>
            <a:r>
              <a:t>Time to market critical</a:t>
            </a:r>
          </a:p>
          <a:p>
            <a:pPr>
              <a:spcAft>
                <a:spcPts val="600"/>
              </a:spcAft>
              <a:defRPr sz="1800">
                <a:solidFill>
                  <a:srgbClr val="333333"/>
                </a:solidFill>
              </a:defRPr>
            </a:pPr>
            <a:r>
              <a:t>Technology rapidly evolving (avoid obsolete investment)</a:t>
            </a:r>
          </a:p>
          <a:p>
            <a:pPr>
              <a:spcAft>
                <a:spcPts val="1000"/>
              </a:spcAft>
              <a:defRPr sz="1800">
                <a:solidFill>
                  <a:srgbClr val="333333"/>
                </a:solidFill>
              </a:defRPr>
            </a:pPr>
            <a:r>
              <a:t>HYBRID (Partner/Co-develop) when: — Strategic but capability gap exists</a:t>
            </a:r>
          </a:p>
          <a:p>
            <a:pPr>
              <a:spcAft>
                <a:spcPts val="600"/>
              </a:spcAft>
              <a:defRPr sz="1800">
                <a:solidFill>
                  <a:srgbClr val="333333"/>
                </a:solidFill>
              </a:defRPr>
            </a:pPr>
            <a:r>
              <a:t>Shared risk/investment makes sense</a:t>
            </a:r>
          </a:p>
          <a:p>
            <a:pPr>
              <a:spcAft>
                <a:spcPts val="600"/>
              </a:spcAft>
              <a:defRPr sz="1800">
                <a:solidFill>
                  <a:srgbClr val="333333"/>
                </a:solidFill>
              </a:defRPr>
            </a:pPr>
            <a:r>
              <a:t>Want to develop in-house expertise over time</a:t>
            </a:r>
          </a:p>
          <a:p>
            <a:pPr>
              <a:spcAft>
                <a:spcPts val="1000"/>
              </a:spcAft>
              <a:defRPr sz="1800">
                <a:solidFill>
                  <a:srgbClr val="333333"/>
                </a:solidFill>
              </a:defRPr>
            </a:pPr>
            <a:r>
              <a:t>Remember: This is a strategic decision that should involve executive leadership, not just engineering.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 Part 5: Infrastructure Requirements Planning (Slides 21-22, ~6 minutes)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Infrastructure Lifecycle Support Requirements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Systems don't exist in isolation - they require infrastructure throughout their lifecycle. Often overlooked until it's too late.</a:t>
            </a:r>
          </a:p>
          <a:p>
            <a:pPr>
              <a:spcAft>
                <a:spcPts val="1000"/>
              </a:spcAft>
              <a:defRPr sz="1800">
                <a:solidFill>
                  <a:srgbClr val="333333"/>
                </a:solidFill>
              </a:defRPr>
            </a:pPr>
            <a:r>
              <a:t>Infrastructure Categories:</a:t>
            </a:r>
          </a:p>
          <a:p>
            <a:pPr>
              <a:spcAft>
                <a:spcPts val="1000"/>
              </a:spcAft>
              <a:defRPr sz="1800">
                <a:solidFill>
                  <a:srgbClr val="333333"/>
                </a:solidFill>
              </a:defRPr>
            </a:pPr>
            <a:r>
              <a:t>1. Development Infrastructure</a:t>
            </a:r>
          </a:p>
          <a:p>
            <a:pPr>
              <a:spcAft>
                <a:spcPts val="1000"/>
              </a:spcAft>
              <a:defRPr sz="1800">
                <a:solidFill>
                  <a:srgbClr val="333333"/>
                </a:solidFill>
              </a:defRPr>
            </a:pPr>
            <a:r>
              <a:t>Engineering Tools: — CAD/CAE software (CATIA, Siemens NX)</a:t>
            </a:r>
          </a:p>
          <a:p>
            <a:pPr>
              <a:spcAft>
                <a:spcPts val="600"/>
              </a:spcAft>
              <a:defRPr sz="1800">
                <a:solidFill>
                  <a:srgbClr val="333333"/>
                </a:solidFill>
              </a:defRPr>
            </a:pPr>
            <a:r>
              <a:t>Simulation tools (MATLAB/Simulink, ANSYS)</a:t>
            </a:r>
          </a:p>
          <a:p>
            <a:pPr>
              <a:spcAft>
                <a:spcPts val="600"/>
              </a:spcAft>
              <a:defRPr sz="1800">
                <a:solidFill>
                  <a:srgbClr val="333333"/>
                </a:solidFill>
              </a:defRPr>
            </a:pPr>
            <a:r>
              <a:t>Requirements management (DOORS, Jama)</a:t>
            </a:r>
          </a:p>
          <a:p>
            <a:pPr>
              <a:spcAft>
                <a:spcPts val="600"/>
              </a:spcAft>
              <a:defRPr sz="1800">
                <a:solidFill>
                  <a:srgbClr val="333333"/>
                </a:solidFill>
              </a:defRPr>
            </a:pPr>
            <a:r>
              <a:t>Model-based systems engineering (SysML tools)</a:t>
            </a:r>
          </a:p>
          <a:p>
            <a:pPr>
              <a:spcAft>
                <a:spcPts val="600"/>
              </a:spcAft>
              <a:defRPr sz="1800">
                <a:solidFill>
                  <a:srgbClr val="333333"/>
                </a:solidFill>
              </a:defRPr>
            </a:pPr>
            <a:r>
              <a:t>Requirements: Licenses, training, IT support, interoperability</a:t>
            </a:r>
          </a:p>
          <a:p>
            <a:pPr>
              <a:spcAft>
                <a:spcPts val="1000"/>
              </a:spcAft>
              <a:defRPr sz="1800">
                <a:solidFill>
                  <a:srgbClr val="333333"/>
                </a:solidFill>
              </a:defRPr>
            </a:pPr>
            <a:r>
              <a:t>Testing Equipment: — Hardware-in-the-loop (HIL) test systems</a:t>
            </a:r>
          </a:p>
          <a:p>
            <a:pPr>
              <a:spcAft>
                <a:spcPts val="600"/>
              </a:spcAft>
              <a:defRPr sz="1800">
                <a:solidFill>
                  <a:srgbClr val="333333"/>
                </a:solidFill>
              </a:defRPr>
            </a:pPr>
            <a:r>
              <a:t>Environmental chambers (temperature, humidity, vibration)</a:t>
            </a:r>
          </a:p>
          <a:p>
            <a:pPr>
              <a:spcAft>
                <a:spcPts val="600"/>
              </a:spcAft>
              <a:defRPr sz="1800">
                <a:solidFill>
                  <a:srgbClr val="333333"/>
                </a:solidFill>
              </a:defRPr>
            </a:pPr>
            <a:r>
              <a:t>Electromagnetic compatibility (EMC) test chambers</a:t>
            </a:r>
          </a:p>
          <a:p>
            <a:pPr>
              <a:spcAft>
                <a:spcPts val="600"/>
              </a:spcAft>
              <a:defRPr sz="1800">
                <a:solidFill>
                  <a:srgbClr val="333333"/>
                </a:solidFill>
              </a:defRPr>
            </a:pPr>
            <a:r>
              <a:t>Dynamometers (powertrain testing)</a:t>
            </a:r>
          </a:p>
          <a:p>
            <a:pPr>
              <a:spcAft>
                <a:spcPts val="600"/>
              </a:spcAft>
              <a:defRPr sz="1800">
                <a:solidFill>
                  <a:srgbClr val="333333"/>
                </a:solidFill>
              </a:defRPr>
            </a:pPr>
            <a:r>
              <a:t>Crash test facilities</a:t>
            </a:r>
          </a:p>
          <a:p>
            <a:pPr>
              <a:spcAft>
                <a:spcPts val="600"/>
              </a:spcAft>
              <a:defRPr sz="1800">
                <a:solidFill>
                  <a:srgbClr val="333333"/>
                </a:solidFill>
              </a:defRPr>
            </a:pPr>
            <a:r>
              <a:t>Requirements: Calibration schedules, maintenance, operator training</a:t>
            </a:r>
          </a:p>
          <a:p>
            <a:pPr>
              <a:spcAft>
                <a:spcPts val="1000"/>
              </a:spcAft>
              <a:defRPr sz="1800">
                <a:solidFill>
                  <a:srgbClr val="333333"/>
                </a:solidFill>
              </a:defRPr>
            </a:pPr>
            <a:r>
              <a:t>IT Infrastructure: — PLM (Product Lifecycle Management) systems</a:t>
            </a:r>
          </a:p>
          <a:p>
            <a:pPr>
              <a:spcAft>
                <a:spcPts val="600"/>
              </a:spcAft>
              <a:defRPr sz="1800">
                <a:solidFill>
                  <a:srgbClr val="333333"/>
                </a:solidFill>
              </a:defRPr>
            </a:pPr>
            <a:r>
              <a:t>Version control (Git, SVN)</a:t>
            </a:r>
          </a:p>
          <a:p>
            <a:pPr>
              <a:spcAft>
                <a:spcPts val="600"/>
              </a:spcAft>
              <a:defRPr sz="1800">
                <a:solidFill>
                  <a:srgbClr val="333333"/>
                </a:solidFill>
              </a:defRPr>
            </a:pPr>
            <a:r>
              <a:t>Collaboration platforms (SharePoint, Confluence)</a:t>
            </a:r>
          </a:p>
          <a:p>
            <a:pPr>
              <a:spcAft>
                <a:spcPts val="600"/>
              </a:spcAft>
              <a:defRPr sz="1800">
                <a:solidFill>
                  <a:srgbClr val="333333"/>
                </a:solidFill>
              </a:defRPr>
            </a:pPr>
            <a:r>
              <a:t>High-performance computing (for simulation)</a:t>
            </a:r>
          </a:p>
          <a:p>
            <a:pPr>
              <a:spcAft>
                <a:spcPts val="600"/>
              </a:spcAft>
              <a:defRPr sz="1800">
                <a:solidFill>
                  <a:srgbClr val="333333"/>
                </a:solidFill>
              </a:defRPr>
            </a:pPr>
            <a:r>
              <a:t>Requirements: Cybersecurity, backups, disaster recovery, access control</a:t>
            </a:r>
          </a:p>
          <a:p>
            <a:pPr>
              <a:spcAft>
                <a:spcPts val="1000"/>
              </a:spcAft>
              <a:defRPr sz="1800">
                <a:solidFill>
                  <a:srgbClr val="333333"/>
                </a:solidFill>
              </a:defRPr>
            </a:pPr>
            <a:r>
              <a:t>2. Manufacturing Infrastructure</a:t>
            </a:r>
          </a:p>
          <a:p>
            <a:pPr>
              <a:spcAft>
                <a:spcPts val="1000"/>
              </a:spcAft>
              <a:defRPr sz="1800">
                <a:solidFill>
                  <a:srgbClr val="333333"/>
                </a:solidFill>
              </a:defRPr>
            </a:pPr>
            <a:r>
              <a:t>Production Equipment: — Assembly lines and robotics</a:t>
            </a:r>
          </a:p>
          <a:p>
            <a:pPr>
              <a:spcAft>
                <a:spcPts val="600"/>
              </a:spcAft>
              <a:defRPr sz="1800">
                <a:solidFill>
                  <a:srgbClr val="333333"/>
                </a:solidFill>
              </a:defRPr>
            </a:pPr>
            <a:r>
              <a:t>Machining centers (CNC)</a:t>
            </a:r>
          </a:p>
          <a:p>
            <a:pPr>
              <a:spcAft>
                <a:spcPts val="600"/>
              </a:spcAft>
              <a:defRPr sz="1800">
                <a:solidFill>
                  <a:srgbClr val="333333"/>
                </a:solidFill>
              </a:defRPr>
            </a:pPr>
            <a:r>
              <a:t>Welding and joining equipment</a:t>
            </a:r>
          </a:p>
          <a:p>
            <a:pPr>
              <a:spcAft>
                <a:spcPts val="600"/>
              </a:spcAft>
              <a:defRPr sz="1800">
                <a:solidFill>
                  <a:srgbClr val="333333"/>
                </a:solidFill>
              </a:defRPr>
            </a:pPr>
            <a:r>
              <a:t>Paint and coating systems</a:t>
            </a:r>
          </a:p>
          <a:p>
            <a:pPr>
              <a:spcAft>
                <a:spcPts val="600"/>
              </a:spcAft>
              <a:defRPr sz="1800">
                <a:solidFill>
                  <a:srgbClr val="333333"/>
                </a:solidFill>
              </a:defRPr>
            </a:pPr>
            <a:r>
              <a:t>Requirements: Maintenance schedules, spare parts, operator training, safety systems</a:t>
            </a:r>
          </a:p>
          <a:p>
            <a:pPr>
              <a:spcAft>
                <a:spcPts val="1000"/>
              </a:spcAft>
              <a:defRPr sz="1800">
                <a:solidFill>
                  <a:srgbClr val="333333"/>
                </a:solidFill>
              </a:defRPr>
            </a:pPr>
            <a:r>
              <a:t>Quality Control: — Coordinate measuring machines (CMM)</a:t>
            </a:r>
          </a:p>
          <a:p>
            <a:pPr>
              <a:spcAft>
                <a:spcPts val="600"/>
              </a:spcAft>
              <a:defRPr sz="1800">
                <a:solidFill>
                  <a:srgbClr val="333333"/>
                </a:solidFill>
              </a:defRPr>
            </a:pPr>
            <a:r>
              <a:t>Non-destructive testing (X-ray, ultrasound)</a:t>
            </a:r>
          </a:p>
          <a:p>
            <a:pPr>
              <a:spcAft>
                <a:spcPts val="600"/>
              </a:spcAft>
              <a:defRPr sz="1800">
                <a:solidFill>
                  <a:srgbClr val="333333"/>
                </a:solidFill>
              </a:defRPr>
            </a:pPr>
            <a:r>
              <a:t>In-process inspection systems</a:t>
            </a:r>
          </a:p>
          <a:p>
            <a:pPr>
              <a:spcAft>
                <a:spcPts val="600"/>
              </a:spcAft>
              <a:defRPr sz="1800">
                <a:solidFill>
                  <a:srgbClr val="333333"/>
                </a:solidFill>
              </a:defRPr>
            </a:pPr>
            <a:r>
              <a:t>Requirements: Calibration, statistical process control (SPC), traceability</a:t>
            </a:r>
          </a:p>
          <a:p>
            <a:pPr>
              <a:spcAft>
                <a:spcPts val="1000"/>
              </a:spcAft>
              <a:defRPr sz="1800">
                <a:solidFill>
                  <a:srgbClr val="333333"/>
                </a:solidFill>
              </a:defRPr>
            </a:pPr>
            <a:r>
              <a:t>Logistics: — Warehouse management systems (WMS)</a:t>
            </a:r>
          </a:p>
          <a:p>
            <a:pPr>
              <a:spcAft>
                <a:spcPts val="600"/>
              </a:spcAft>
              <a:defRPr sz="1800">
                <a:solidFill>
                  <a:srgbClr val="333333"/>
                </a:solidFill>
              </a:defRPr>
            </a:pPr>
            <a:r>
              <a:t>Material handling equipment</a:t>
            </a:r>
          </a:p>
          <a:p>
            <a:pPr>
              <a:spcAft>
                <a:spcPts val="600"/>
              </a:spcAft>
              <a:defRPr sz="1800">
                <a:solidFill>
                  <a:srgbClr val="333333"/>
                </a:solidFill>
              </a:defRPr>
            </a:pPr>
            <a:r>
              <a:t>Inventory tracking (RFID, barcodes)</a:t>
            </a:r>
          </a:p>
          <a:p>
            <a:pPr>
              <a:spcAft>
                <a:spcPts val="600"/>
              </a:spcAft>
              <a:defRPr sz="1800">
                <a:solidFill>
                  <a:srgbClr val="333333"/>
                </a:solidFill>
              </a:defRPr>
            </a:pPr>
            <a:r>
              <a:t>Requirements: Integration with ERP systems, real-time visibility</a:t>
            </a:r>
          </a:p>
          <a:p>
            <a:pPr>
              <a:spcAft>
                <a:spcPts val="1000"/>
              </a:spcAft>
              <a:defRPr sz="1800">
                <a:solidFill>
                  <a:srgbClr val="333333"/>
                </a:solidFill>
              </a:defRPr>
            </a:pPr>
            <a:r>
              <a:t>3. Service and Support Infrastructure</a:t>
            </a:r>
          </a:p>
          <a:p>
            <a:pPr>
              <a:spcAft>
                <a:spcPts val="1000"/>
              </a:spcAft>
              <a:defRPr sz="1800">
                <a:solidFill>
                  <a:srgbClr val="333333"/>
                </a:solidFill>
              </a:defRPr>
            </a:pPr>
            <a:r>
              <a:t>Diagnostic Tools: — Scan tools and diagnostic software</a:t>
            </a:r>
          </a:p>
          <a:p>
            <a:pPr>
              <a:spcAft>
                <a:spcPts val="600"/>
              </a:spcAft>
              <a:defRPr sz="1800">
                <a:solidFill>
                  <a:srgbClr val="333333"/>
                </a:solidFill>
              </a:defRPr>
            </a:pPr>
            <a:r>
              <a:t>Specialized test equipment for service centers</a:t>
            </a:r>
          </a:p>
          <a:p>
            <a:pPr>
              <a:spcAft>
                <a:spcPts val="600"/>
              </a:spcAft>
              <a:defRPr sz="1800">
                <a:solidFill>
                  <a:srgbClr val="333333"/>
                </a:solidFill>
              </a:defRPr>
            </a:pPr>
            <a:r>
              <a:t>Remote diagnostic capabilities (telematics)</a:t>
            </a:r>
          </a:p>
          <a:p>
            <a:pPr>
              <a:spcAft>
                <a:spcPts val="600"/>
              </a:spcAft>
              <a:defRPr sz="1800">
                <a:solidFill>
                  <a:srgbClr val="333333"/>
                </a:solidFill>
              </a:defRPr>
            </a:pPr>
            <a:r>
              <a:t>Requirements: Regular updates, backward compatibility, dealer training</a:t>
            </a:r>
          </a:p>
          <a:p>
            <a:pPr>
              <a:spcAft>
                <a:spcPts val="1000"/>
              </a:spcAft>
              <a:defRPr sz="1800">
                <a:solidFill>
                  <a:srgbClr val="333333"/>
                </a:solidFill>
              </a:defRPr>
            </a:pPr>
            <a:r>
              <a:t>Service Networks: — Dealer service centers</a:t>
            </a:r>
          </a:p>
          <a:p>
            <a:pPr>
              <a:spcAft>
                <a:spcPts val="600"/>
              </a:spcAft>
              <a:defRPr sz="1800">
                <a:solidFill>
                  <a:srgbClr val="333333"/>
                </a:solidFill>
              </a:defRPr>
            </a:pPr>
            <a:r>
              <a:t>Training facilities for technicians</a:t>
            </a:r>
          </a:p>
          <a:p>
            <a:pPr>
              <a:spcAft>
                <a:spcPts val="600"/>
              </a:spcAft>
              <a:defRPr sz="1800">
                <a:solidFill>
                  <a:srgbClr val="333333"/>
                </a:solidFill>
              </a:defRPr>
            </a:pPr>
            <a:r>
              <a:t>Technical support hotlines</a:t>
            </a:r>
          </a:p>
          <a:p>
            <a:pPr>
              <a:spcAft>
                <a:spcPts val="600"/>
              </a:spcAft>
              <a:defRPr sz="1800">
                <a:solidFill>
                  <a:srgbClr val="333333"/>
                </a:solidFill>
              </a:defRPr>
            </a:pPr>
            <a:r>
              <a:t>Requirements: Geographic coverage, response time SLAs, escalation paths</a:t>
            </a:r>
          </a:p>
          <a:p>
            <a:pPr>
              <a:spcAft>
                <a:spcPts val="1000"/>
              </a:spcAft>
              <a:defRPr sz="1800">
                <a:solidFill>
                  <a:srgbClr val="333333"/>
                </a:solidFill>
              </a:defRPr>
            </a:pPr>
            <a:r>
              <a:t>Spare Parts Management: — Parts warehousing and distribution</a:t>
            </a:r>
          </a:p>
          <a:p>
            <a:pPr>
              <a:spcAft>
                <a:spcPts val="600"/>
              </a:spcAft>
              <a:defRPr sz="1800">
                <a:solidFill>
                  <a:srgbClr val="333333"/>
                </a:solidFill>
              </a:defRPr>
            </a:pPr>
            <a:r>
              <a:t>Forecasting and inventory optimization</a:t>
            </a:r>
          </a:p>
          <a:p>
            <a:pPr>
              <a:spcAft>
                <a:spcPts val="600"/>
              </a:spcAft>
              <a:defRPr sz="1800">
                <a:solidFill>
                  <a:srgbClr val="333333"/>
                </a:solidFill>
              </a:defRPr>
            </a:pPr>
            <a:r>
              <a:t>Obsolescence management</a:t>
            </a:r>
          </a:p>
          <a:p>
            <a:pPr>
              <a:spcAft>
                <a:spcPts val="600"/>
              </a:spcAft>
              <a:defRPr sz="1800">
                <a:solidFill>
                  <a:srgbClr val="333333"/>
                </a:solidFill>
              </a:defRPr>
            </a:pPr>
            <a:r>
              <a:t>Requirements: 10-15 year availability, cost-effective storage</a:t>
            </a:r>
          </a:p>
          <a:p>
            <a:pPr>
              <a:spcAft>
                <a:spcPts val="1000"/>
              </a:spcAft>
              <a:defRPr sz="1800">
                <a:solidFill>
                  <a:srgbClr val="333333"/>
                </a:solidFill>
              </a:defRPr>
            </a:pPr>
            <a:r>
              <a:t>4. IT and Cybersecurity Infrastructure (Increasingly Critical)</a:t>
            </a:r>
          </a:p>
          <a:p>
            <a:pPr>
              <a:spcAft>
                <a:spcPts val="1000"/>
              </a:spcAft>
              <a:defRPr sz="1800">
                <a:solidFill>
                  <a:srgbClr val="333333"/>
                </a:solidFill>
              </a:defRPr>
            </a:pPr>
            <a:r>
              <a:t>Connected Vehicle Backend: — Cloud infrastructure for OTA (over-the-air) updates</a:t>
            </a:r>
          </a:p>
          <a:p>
            <a:pPr>
              <a:spcAft>
                <a:spcPts val="600"/>
              </a:spcAft>
              <a:defRPr sz="1800">
                <a:solidFill>
                  <a:srgbClr val="333333"/>
                </a:solidFill>
              </a:defRPr>
            </a:pPr>
            <a:r>
              <a:t>Telematics data collection and analysis</a:t>
            </a:r>
          </a:p>
          <a:p>
            <a:pPr>
              <a:spcAft>
                <a:spcPts val="600"/>
              </a:spcAft>
              <a:defRPr sz="1800">
                <a:solidFill>
                  <a:srgbClr val="333333"/>
                </a:solidFill>
              </a:defRPr>
            </a:pPr>
            <a:r>
              <a:t>Customer apps and portals</a:t>
            </a:r>
          </a:p>
          <a:p>
            <a:pPr>
              <a:spcAft>
                <a:spcPts val="600"/>
              </a:spcAft>
              <a:defRPr sz="1800">
                <a:solidFill>
                  <a:srgbClr val="333333"/>
                </a:solidFill>
              </a:defRPr>
            </a:pPr>
            <a:r>
              <a:t>Requirements: Scalability (millions of vehicles), security, uptime (99.9%+)</a:t>
            </a:r>
          </a:p>
          <a:p>
            <a:pPr>
              <a:spcAft>
                <a:spcPts val="1000"/>
              </a:spcAft>
              <a:defRPr sz="1800">
                <a:solidFill>
                  <a:srgbClr val="333333"/>
                </a:solidFill>
              </a:defRPr>
            </a:pPr>
            <a:r>
              <a:t>Cybersecurity: — Security Operations Center (SOC)</a:t>
            </a:r>
          </a:p>
          <a:p>
            <a:pPr>
              <a:spcAft>
                <a:spcPts val="600"/>
              </a:spcAft>
              <a:defRPr sz="1800">
                <a:solidFill>
                  <a:srgbClr val="333333"/>
                </a:solidFill>
              </a:defRPr>
            </a:pPr>
            <a:r>
              <a:t>Intrusion detection systems</a:t>
            </a:r>
          </a:p>
          <a:p>
            <a:pPr>
              <a:spcAft>
                <a:spcPts val="600"/>
              </a:spcAft>
              <a:defRPr sz="1800">
                <a:solidFill>
                  <a:srgbClr val="333333"/>
                </a:solidFill>
              </a:defRPr>
            </a:pPr>
            <a:r>
              <a:t>Incident response capabilities</a:t>
            </a:r>
          </a:p>
          <a:p>
            <a:pPr>
              <a:spcAft>
                <a:spcPts val="600"/>
              </a:spcAft>
              <a:defRPr sz="1800">
                <a:solidFill>
                  <a:srgbClr val="333333"/>
                </a:solidFill>
              </a:defRPr>
            </a:pPr>
            <a:r>
              <a:t>Requirements: ISO 21434 compliance, 24/7 monitoring, threat intelligence</a:t>
            </a:r>
          </a:p>
          <a:p>
            <a:pPr>
              <a:spcAft>
                <a:spcPts val="1000"/>
              </a:spcAft>
              <a:defRPr sz="1800">
                <a:solidFill>
                  <a:srgbClr val="333333"/>
                </a:solidFill>
              </a:defRPr>
            </a:pPr>
            <a:r>
              <a:t>Infrastructure Planning Challenges:</a:t>
            </a:r>
          </a:p>
          <a:p>
            <a:pPr>
              <a:spcAft>
                <a:spcPts val="1000"/>
              </a:spcAft>
              <a:defRPr sz="1800">
                <a:solidFill>
                  <a:srgbClr val="333333"/>
                </a:solidFill>
              </a:defRPr>
            </a:pPr>
            <a:r>
              <a:t>Challenge 1: Long Lead Times — Major test equipment: 12-18 months procurement and installation</a:t>
            </a:r>
          </a:p>
          <a:p>
            <a:pPr>
              <a:spcAft>
                <a:spcPts val="600"/>
              </a:spcAft>
              <a:defRPr sz="1800">
                <a:solidFill>
                  <a:srgbClr val="333333"/>
                </a:solidFill>
              </a:defRPr>
            </a:pPr>
            <a:r>
              <a:t>Manufacturing lines: 24-36 months design and commissioning</a:t>
            </a:r>
          </a:p>
          <a:p>
            <a:pPr>
              <a:spcAft>
                <a:spcPts val="600"/>
              </a:spcAft>
              <a:defRPr sz="1800">
                <a:solidFill>
                  <a:srgbClr val="333333"/>
                </a:solidFill>
              </a:defRPr>
            </a:pPr>
            <a:r>
              <a:t>Implication: Infrastructure planning must start EARLY in system development (not afterthought)</a:t>
            </a:r>
          </a:p>
          <a:p>
            <a:pPr>
              <a:spcAft>
                <a:spcPts val="1000"/>
              </a:spcAft>
              <a:defRPr sz="1800">
                <a:solidFill>
                  <a:srgbClr val="333333"/>
                </a:solidFill>
              </a:defRPr>
            </a:pPr>
            <a:r>
              <a:t>Challenge 2: Obsolescence — IT systems evolve every 3-5 years</a:t>
            </a:r>
          </a:p>
          <a:p>
            <a:pPr>
              <a:spcAft>
                <a:spcPts val="600"/>
              </a:spcAft>
              <a:defRPr sz="1800">
                <a:solidFill>
                  <a:srgbClr val="333333"/>
                </a:solidFill>
              </a:defRPr>
            </a:pPr>
            <a:r>
              <a:t>Vehicle lifecycle is 10-15 years</a:t>
            </a:r>
          </a:p>
          <a:p>
            <a:pPr>
              <a:spcAft>
                <a:spcPts val="600"/>
              </a:spcAft>
              <a:defRPr sz="1800">
                <a:solidFill>
                  <a:srgbClr val="333333"/>
                </a:solidFill>
              </a:defRPr>
            </a:pPr>
            <a:r>
              <a:t>Strategy: Modular architecture, open standards, technology refresh plans</a:t>
            </a:r>
          </a:p>
          <a:p>
            <a:pPr>
              <a:spcAft>
                <a:spcPts val="1000"/>
              </a:spcAft>
              <a:defRPr sz="1800">
                <a:solidFill>
                  <a:srgbClr val="333333"/>
                </a:solidFill>
              </a:defRPr>
            </a:pPr>
            <a:r>
              <a:t>Challenge 3: Cost — Infrastructure is capital-intensive (not always visible in product cost)</a:t>
            </a:r>
          </a:p>
          <a:p>
            <a:pPr>
              <a:spcAft>
                <a:spcPts val="600"/>
              </a:spcAft>
              <a:defRPr sz="1800">
                <a:solidFill>
                  <a:srgbClr val="333333"/>
                </a:solidFill>
              </a:defRPr>
            </a:pPr>
            <a:r>
              <a:t>Example: Full vehicle development program infrastructure cost: $500M - $2B</a:t>
            </a:r>
          </a:p>
          <a:p>
            <a:pPr>
              <a:spcAft>
                <a:spcPts val="600"/>
              </a:spcAft>
              <a:defRPr sz="1800">
                <a:solidFill>
                  <a:srgbClr val="333333"/>
                </a:solidFill>
              </a:defRPr>
            </a:pPr>
            <a:r>
              <a:t>Strategy: Shared infrastructure across programs, cloud/SaaS where possible</a:t>
            </a:r>
          </a:p>
          <a:p>
            <a:pPr>
              <a:spcAft>
                <a:spcPts val="1000"/>
              </a:spcAft>
              <a:defRPr sz="1800">
                <a:solidFill>
                  <a:srgbClr val="333333"/>
                </a:solidFill>
              </a:defRPr>
            </a:pPr>
            <a:r>
              <a:t>Best practice: Develop Infrastructure Requirements Document alongside System Requirements - ensure infrastructure is engineered, not assumed.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Infrastructure Requirements Specification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Infrastructure requirements should be as rigorous as system requirements. Here's how to specify them:</a:t>
            </a:r>
          </a:p>
          <a:p>
            <a:pPr>
              <a:spcAft>
                <a:spcPts val="1000"/>
              </a:spcAft>
              <a:defRPr sz="1800">
                <a:solidFill>
                  <a:srgbClr val="333333"/>
                </a:solidFill>
              </a:defRPr>
            </a:pPr>
            <a:r>
              <a:t>Infrastructure Requirement Structure:</a:t>
            </a:r>
          </a:p>
          <a:p>
            <a:pPr>
              <a:spcAft>
                <a:spcPts val="1000"/>
              </a:spcAft>
              <a:defRPr sz="1800">
                <a:solidFill>
                  <a:srgbClr val="333333"/>
                </a:solidFill>
              </a:defRPr>
            </a:pPr>
            <a:r>
              <a:t>Same format as system requirements (from Session 4)</a:t>
            </a:r>
          </a:p>
          <a:p>
            <a:pPr>
              <a:spcAft>
                <a:spcPts val="1000"/>
              </a:spcAft>
              <a:defRPr sz="1800">
                <a:solidFill>
                  <a:srgbClr val="333333"/>
                </a:solidFill>
              </a:defRPr>
            </a:pPr>
            <a:r>
              <a:t>Example - Testing Infrastructure Requirements:</a:t>
            </a:r>
          </a:p>
          <a:p>
            <a:pPr>
              <a:spcAft>
                <a:spcPts val="1000"/>
              </a:spcAft>
              <a:defRPr sz="1800">
                <a:solidFill>
                  <a:srgbClr val="333333"/>
                </a:solidFill>
              </a:defRPr>
            </a:pPr>
            <a:r>
              <a:t>Functional Requirements: — INF-TEST-001: 'The HIL test system shall support simulation of 8 ECU nodes simultaneously'</a:t>
            </a:r>
          </a:p>
          <a:p>
            <a:pPr>
              <a:spcAft>
                <a:spcPts val="600"/>
              </a:spcAft>
              <a:defRPr sz="1800">
                <a:solidFill>
                  <a:srgbClr val="333333"/>
                </a:solidFill>
              </a:defRPr>
            </a:pPr>
            <a:r>
              <a:t>INF-TEST-002: 'The environmental chamber shall accommodate test articles up to 2m × 1m × 1m'</a:t>
            </a:r>
          </a:p>
          <a:p>
            <a:pPr>
              <a:spcAft>
                <a:spcPts val="600"/>
              </a:spcAft>
              <a:defRPr sz="1800">
                <a:solidFill>
                  <a:srgbClr val="333333"/>
                </a:solidFill>
              </a:defRPr>
            </a:pPr>
            <a:r>
              <a:t>INF-TEST-003: 'The test data management system shall store 10 years of test results with traceability to requirements'</a:t>
            </a:r>
          </a:p>
          <a:p>
            <a:pPr>
              <a:spcAft>
                <a:spcPts val="1000"/>
              </a:spcAft>
              <a:defRPr sz="1800">
                <a:solidFill>
                  <a:srgbClr val="333333"/>
                </a:solidFill>
              </a:defRPr>
            </a:pPr>
            <a:r>
              <a:t>Performance Requirements: — INF-TEST-010: 'The HIL system shall execute real-time simulations with maximum 1ms latency'</a:t>
            </a:r>
          </a:p>
          <a:p>
            <a:pPr>
              <a:spcAft>
                <a:spcPts val="600"/>
              </a:spcAft>
              <a:defRPr sz="1800">
                <a:solidFill>
                  <a:srgbClr val="333333"/>
                </a:solidFill>
              </a:defRPr>
            </a:pPr>
            <a:r>
              <a:t>INF-TEST-011: 'The environmental chamber shall achieve temperature range -40°C to +125°C with ±2°C accuracy'</a:t>
            </a:r>
          </a:p>
          <a:p>
            <a:pPr>
              <a:spcAft>
                <a:spcPts val="600"/>
              </a:spcAft>
              <a:defRPr sz="1800">
                <a:solidFill>
                  <a:srgbClr val="333333"/>
                </a:solidFill>
              </a:defRPr>
            </a:pPr>
            <a:r>
              <a:t>INF-TEST-012: 'The EMC chamber shall provide shielding effectiveness &gt;100 dB from 10 kHz to 40 GHz'</a:t>
            </a:r>
          </a:p>
          <a:p>
            <a:pPr>
              <a:spcAft>
                <a:spcPts val="1000"/>
              </a:spcAft>
              <a:defRPr sz="1800">
                <a:solidFill>
                  <a:srgbClr val="333333"/>
                </a:solidFill>
              </a:defRPr>
            </a:pPr>
            <a:r>
              <a:t>Availability Requirements: — INF-TEST-020: 'Test equipment shall have minimum 95% uptime during business hours'</a:t>
            </a:r>
          </a:p>
          <a:p>
            <a:pPr>
              <a:spcAft>
                <a:spcPts val="600"/>
              </a:spcAft>
              <a:defRPr sz="1800">
                <a:solidFill>
                  <a:srgbClr val="333333"/>
                </a:solidFill>
              </a:defRPr>
            </a:pPr>
            <a:r>
              <a:t>INF-TEST-021: 'Calibration shall be performed annually per ISO 17025 standards'</a:t>
            </a:r>
          </a:p>
          <a:p>
            <a:pPr>
              <a:spcAft>
                <a:spcPts val="600"/>
              </a:spcAft>
              <a:defRPr sz="1800">
                <a:solidFill>
                  <a:srgbClr val="333333"/>
                </a:solidFill>
              </a:defRPr>
            </a:pPr>
            <a:r>
              <a:t>INF-TEST-022: 'Backup systems shall be available for critical test equipment (maximum 24-hour switchover)'</a:t>
            </a:r>
          </a:p>
          <a:p>
            <a:pPr>
              <a:spcAft>
                <a:spcPts val="1000"/>
              </a:spcAft>
              <a:defRPr sz="1800">
                <a:solidFill>
                  <a:srgbClr val="333333"/>
                </a:solidFill>
              </a:defRPr>
            </a:pPr>
            <a:r>
              <a:t>Integration Requirements: — INF-TEST-030: 'HIL system shall integrate with test management tool (JIRA, TestRail) via API'</a:t>
            </a:r>
          </a:p>
          <a:p>
            <a:pPr>
              <a:spcAft>
                <a:spcPts val="600"/>
              </a:spcAft>
              <a:defRPr sz="1800">
                <a:solidFill>
                  <a:srgbClr val="333333"/>
                </a:solidFill>
              </a:defRPr>
            </a:pPr>
            <a:r>
              <a:t>INF-TEST-031: 'Test data shall be automatically uploaded to PLM system upon test completion'</a:t>
            </a:r>
          </a:p>
          <a:p>
            <a:pPr>
              <a:spcAft>
                <a:spcPts val="1000"/>
              </a:spcAft>
              <a:defRPr sz="1800">
                <a:solidFill>
                  <a:srgbClr val="333333"/>
                </a:solidFill>
              </a:defRPr>
            </a:pPr>
            <a:r>
              <a:t>Support and Maintenance Requirements: — INF-TEST-040: 'Vendor shall provide 24/7 technical support with 4-hour response time'</a:t>
            </a:r>
          </a:p>
          <a:p>
            <a:pPr>
              <a:spcAft>
                <a:spcPts val="600"/>
              </a:spcAft>
              <a:defRPr sz="1800">
                <a:solidFill>
                  <a:srgbClr val="333333"/>
                </a:solidFill>
              </a:defRPr>
            </a:pPr>
            <a:r>
              <a:t>INF-TEST-041: 'Spare parts for critical equipment shall be stocked on-site (max 4-hour replacement)'</a:t>
            </a:r>
          </a:p>
          <a:p>
            <a:pPr>
              <a:spcAft>
                <a:spcPts val="600"/>
              </a:spcAft>
              <a:defRPr sz="1800">
                <a:solidFill>
                  <a:srgbClr val="333333"/>
                </a:solidFill>
              </a:defRPr>
            </a:pPr>
            <a:r>
              <a:t>INF-TEST-042: 'Equipment shall include remote diagnostics capability for vendor support'</a:t>
            </a:r>
          </a:p>
          <a:p>
            <a:pPr>
              <a:spcAft>
                <a:spcPts val="1000"/>
              </a:spcAft>
              <a:defRPr sz="1800">
                <a:solidFill>
                  <a:srgbClr val="333333"/>
                </a:solidFill>
              </a:defRPr>
            </a:pPr>
            <a:r>
              <a:t>Lifecycle Requirements: — INF-TEST-050: 'Equipment shall be supported by vendor for minimum 15 years'</a:t>
            </a:r>
          </a:p>
          <a:p>
            <a:pPr>
              <a:spcAft>
                <a:spcPts val="600"/>
              </a:spcAft>
              <a:defRPr sz="1800">
                <a:solidFill>
                  <a:srgbClr val="333333"/>
                </a:solidFill>
              </a:defRPr>
            </a:pPr>
            <a:r>
              <a:t>INF-TEST-051: 'Software/firmware updates shall be provided quarterly at no additional cost for first 5 years'</a:t>
            </a:r>
          </a:p>
          <a:p>
            <a:pPr>
              <a:spcAft>
                <a:spcPts val="600"/>
              </a:spcAft>
              <a:defRPr sz="1800">
                <a:solidFill>
                  <a:srgbClr val="333333"/>
                </a:solidFill>
              </a:defRPr>
            </a:pPr>
            <a:r>
              <a:t>INF-TEST-052: 'Technology refresh path shall be defined with backward compatibility for existing test scripts'</a:t>
            </a:r>
          </a:p>
          <a:p>
            <a:pPr>
              <a:spcAft>
                <a:spcPts val="1000"/>
              </a:spcAft>
              <a:defRPr sz="1800">
                <a:solidFill>
                  <a:srgbClr val="333333"/>
                </a:solidFill>
              </a:defRPr>
            </a:pPr>
            <a:r>
              <a:t>Example - IT Infrastructure Requirements:</a:t>
            </a:r>
          </a:p>
          <a:p>
            <a:pPr>
              <a:spcAft>
                <a:spcPts val="1000"/>
              </a:spcAft>
              <a:defRPr sz="1800">
                <a:solidFill>
                  <a:srgbClr val="333333"/>
                </a:solidFill>
              </a:defRPr>
            </a:pPr>
            <a:r>
              <a:t>Cloud Infrastructure (for connected vehicles): — INF-IT-001: 'Cloud platform shall support 5 million concurrent vehicle connections'</a:t>
            </a:r>
          </a:p>
          <a:p>
            <a:pPr>
              <a:spcAft>
                <a:spcPts val="600"/>
              </a:spcAft>
              <a:defRPr sz="1800">
                <a:solidFill>
                  <a:srgbClr val="333333"/>
                </a:solidFill>
              </a:defRPr>
            </a:pPr>
            <a:r>
              <a:t>INF-IT-002: 'System shall scale automatically to handle 10× traffic spikes (e.g., mass OTA updates)'</a:t>
            </a:r>
          </a:p>
          <a:p>
            <a:pPr>
              <a:spcAft>
                <a:spcPts val="600"/>
              </a:spcAft>
              <a:defRPr sz="1800">
                <a:solidFill>
                  <a:srgbClr val="333333"/>
                </a:solidFill>
              </a:defRPr>
            </a:pPr>
            <a:r>
              <a:t>INF-IT-003: 'Data storage shall provide 99.999% durability (S3 equivalent)'</a:t>
            </a:r>
          </a:p>
          <a:p>
            <a:pPr>
              <a:spcAft>
                <a:spcPts val="600"/>
              </a:spcAft>
              <a:defRPr sz="1800">
                <a:solidFill>
                  <a:srgbClr val="333333"/>
                </a:solidFill>
              </a:defRPr>
            </a:pPr>
            <a:r>
              <a:t>INF-IT-004: 'System uptime shall be ≥99.9% (max 8.76 hours downtime per year)'</a:t>
            </a:r>
          </a:p>
          <a:p>
            <a:pPr>
              <a:spcAft>
                <a:spcPts val="600"/>
              </a:spcAft>
              <a:defRPr sz="1800">
                <a:solidFill>
                  <a:srgbClr val="333333"/>
                </a:solidFill>
              </a:defRPr>
            </a:pPr>
            <a:r>
              <a:t>INF-IT-005: 'Disaster recovery: Recovery Time Objective (RTO) ≤4 hours, Recovery Point Objective (RPO) ≤15 minutes'</a:t>
            </a:r>
          </a:p>
          <a:p>
            <a:pPr>
              <a:spcAft>
                <a:spcPts val="1000"/>
              </a:spcAft>
              <a:defRPr sz="1800">
                <a:solidFill>
                  <a:srgbClr val="333333"/>
                </a:solidFill>
              </a:defRPr>
            </a:pPr>
            <a:r>
              <a:t>Cybersecurity Infrastructure: — INF-SEC-001: 'Security Operations Center shall provide 24/7/365 monitoring'</a:t>
            </a:r>
          </a:p>
          <a:p>
            <a:pPr>
              <a:spcAft>
                <a:spcPts val="600"/>
              </a:spcAft>
              <a:defRPr sz="1800">
                <a:solidFill>
                  <a:srgbClr val="333333"/>
                </a:solidFill>
              </a:defRPr>
            </a:pPr>
            <a:r>
              <a:t>INF-SEC-002: 'Intrusion detection system shall analyze 100% of inbound/outbound traffic'</a:t>
            </a:r>
          </a:p>
          <a:p>
            <a:pPr>
              <a:spcAft>
                <a:spcPts val="600"/>
              </a:spcAft>
              <a:defRPr sz="1800">
                <a:solidFill>
                  <a:srgbClr val="333333"/>
                </a:solidFill>
              </a:defRPr>
            </a:pPr>
            <a:r>
              <a:t>INF-SEC-003: 'Security incident response shall be initiated within 1 hour of threat detection'</a:t>
            </a:r>
          </a:p>
          <a:p>
            <a:pPr>
              <a:spcAft>
                <a:spcPts val="1000"/>
              </a:spcAft>
              <a:defRPr sz="1800">
                <a:solidFill>
                  <a:srgbClr val="333333"/>
                </a:solidFill>
              </a:defRPr>
            </a:pPr>
            <a:r>
              <a:t>Total Cost of Ownership (TCO) Considerations:</a:t>
            </a:r>
          </a:p>
          <a:p>
            <a:pPr>
              <a:spcAft>
                <a:spcPts val="1000"/>
              </a:spcAft>
              <a:defRPr sz="1800">
                <a:solidFill>
                  <a:srgbClr val="333333"/>
                </a:solidFill>
              </a:defRPr>
            </a:pPr>
            <a:r>
              <a:t>Infrastructure costs include:</a:t>
            </a:r>
          </a:p>
          <a:p>
            <a:pPr>
              <a:spcAft>
                <a:spcPts val="600"/>
              </a:spcAft>
              <a:defRPr sz="1800">
                <a:solidFill>
                  <a:srgbClr val="333333"/>
                </a:solidFill>
              </a:defRPr>
            </a:pPr>
            <a:r>
              <a:t>Capital expenditure (CAPEX): Equipment purchase, installation</a:t>
            </a:r>
          </a:p>
          <a:p>
            <a:pPr>
              <a:spcAft>
                <a:spcPts val="600"/>
              </a:spcAft>
              <a:defRPr sz="1800">
                <a:solidFill>
                  <a:srgbClr val="333333"/>
                </a:solidFill>
              </a:defRPr>
            </a:pPr>
            <a:r>
              <a:t>Operating expenditure (OPEX): Maintenance, calibration, energy, staffing</a:t>
            </a:r>
          </a:p>
          <a:p>
            <a:pPr>
              <a:spcAft>
                <a:spcPts val="600"/>
              </a:spcAft>
              <a:defRPr sz="1800">
                <a:solidFill>
                  <a:srgbClr val="333333"/>
                </a:solidFill>
              </a:defRPr>
            </a:pPr>
            <a:r>
              <a:t>Lifecycle costs: Upgrades, obsolescence management, decommissioning</a:t>
            </a:r>
          </a:p>
          <a:p>
            <a:pPr>
              <a:spcAft>
                <a:spcPts val="1000"/>
              </a:spcAft>
              <a:defRPr sz="1800">
                <a:solidFill>
                  <a:srgbClr val="333333"/>
                </a:solidFill>
              </a:defRPr>
            </a:pPr>
            <a:r>
              <a:t>Example TCO - HIL Test System: — Initial purchase: $500k</a:t>
            </a:r>
          </a:p>
          <a:p>
            <a:pPr>
              <a:spcAft>
                <a:spcPts val="600"/>
              </a:spcAft>
              <a:defRPr sz="1800">
                <a:solidFill>
                  <a:srgbClr val="333333"/>
                </a:solidFill>
              </a:defRPr>
            </a:pPr>
            <a:r>
              <a:t>Installation and commissioning: $100k</a:t>
            </a:r>
          </a:p>
          <a:p>
            <a:pPr>
              <a:spcAft>
                <a:spcPts val="600"/>
              </a:spcAft>
              <a:defRPr sz="1800">
                <a:solidFill>
                  <a:srgbClr val="333333"/>
                </a:solidFill>
              </a:defRPr>
            </a:pPr>
            <a:r>
              <a:t>Annual maintenance: $50k</a:t>
            </a:r>
          </a:p>
          <a:p>
            <a:pPr>
              <a:spcAft>
                <a:spcPts val="600"/>
              </a:spcAft>
              <a:defRPr sz="1800">
                <a:solidFill>
                  <a:srgbClr val="333333"/>
                </a:solidFill>
              </a:defRPr>
            </a:pPr>
            <a:r>
              <a:t>Calibration: $10k/year</a:t>
            </a:r>
          </a:p>
          <a:p>
            <a:pPr>
              <a:spcAft>
                <a:spcPts val="600"/>
              </a:spcAft>
              <a:defRPr sz="1800">
                <a:solidFill>
                  <a:srgbClr val="333333"/>
                </a:solidFill>
              </a:defRPr>
            </a:pPr>
            <a:r>
              <a:t>Software licenses: $20k/year</a:t>
            </a:r>
          </a:p>
          <a:p>
            <a:pPr>
              <a:spcAft>
                <a:spcPts val="600"/>
              </a:spcAft>
              <a:defRPr sz="1800">
                <a:solidFill>
                  <a:srgbClr val="333333"/>
                </a:solidFill>
              </a:defRPr>
            </a:pPr>
            <a:r>
              <a:t>Operator training: $15k/year</a:t>
            </a:r>
          </a:p>
          <a:p>
            <a:pPr>
              <a:spcAft>
                <a:spcPts val="600"/>
              </a:spcAft>
              <a:defRPr sz="1800">
                <a:solidFill>
                  <a:srgbClr val="333333"/>
                </a:solidFill>
              </a:defRPr>
            </a:pPr>
            <a:r>
              <a:t>10-year TCO: $500k + $100k + ($95k × 10) = $1.55M</a:t>
            </a:r>
          </a:p>
          <a:p>
            <a:pPr>
              <a:spcAft>
                <a:spcPts val="600"/>
              </a:spcAft>
              <a:defRPr sz="1800">
                <a:solidFill>
                  <a:srgbClr val="333333"/>
                </a:solidFill>
              </a:defRPr>
            </a:pPr>
            <a:r>
              <a:t>Often, OPEX over 10 years exceeds initial CAPEX!</a:t>
            </a:r>
          </a:p>
          <a:p>
            <a:pPr>
              <a:spcAft>
                <a:spcPts val="1000"/>
              </a:spcAft>
              <a:defRPr sz="1800">
                <a:solidFill>
                  <a:srgbClr val="333333"/>
                </a:solidFill>
              </a:defRPr>
            </a:pPr>
            <a:r>
              <a:t>Infrastructure Requirements Review: — Cross-functional team: Engineering, IT, manufacturing, service, finance</a:t>
            </a:r>
          </a:p>
          <a:p>
            <a:pPr>
              <a:spcAft>
                <a:spcPts val="600"/>
              </a:spcAft>
              <a:defRPr sz="1800">
                <a:solidFill>
                  <a:srgbClr val="333333"/>
                </a:solidFill>
              </a:defRPr>
            </a:pPr>
            <a:r>
              <a:t>Verify infrastructure supports ALL lifecycle phases (development, production, service)</a:t>
            </a:r>
          </a:p>
          <a:p>
            <a:pPr>
              <a:spcAft>
                <a:spcPts val="600"/>
              </a:spcAft>
              <a:defRPr sz="1800">
                <a:solidFill>
                  <a:srgbClr val="333333"/>
                </a:solidFill>
              </a:defRPr>
            </a:pPr>
            <a:r>
              <a:t>Ensure scalability (can infrastructure grow with program?)</a:t>
            </a:r>
          </a:p>
          <a:p>
            <a:pPr>
              <a:spcAft>
                <a:spcPts val="600"/>
              </a:spcAft>
              <a:defRPr sz="1800">
                <a:solidFill>
                  <a:srgbClr val="333333"/>
                </a:solidFill>
              </a:defRPr>
            </a:pPr>
            <a:r>
              <a:t>Validate vendor support commitments</a:t>
            </a:r>
          </a:p>
          <a:p>
            <a:pPr>
              <a:spcAft>
                <a:spcPts val="600"/>
              </a:spcAft>
              <a:defRPr sz="1800">
                <a:solidFill>
                  <a:srgbClr val="333333"/>
                </a:solidFill>
              </a:defRPr>
            </a:pPr>
            <a:r>
              <a:t>Assess risks (single points of failure, vendor lock-in)</a:t>
            </a:r>
          </a:p>
          <a:p>
            <a:pPr>
              <a:spcAft>
                <a:spcPts val="1000"/>
              </a:spcAft>
              <a:defRPr sz="1800">
                <a:solidFill>
                  <a:srgbClr val="333333"/>
                </a:solidFill>
              </a:defRPr>
            </a:pPr>
            <a:r>
              <a:t>Common mistake: Specifying infrastructure at last minute → delays, gaps, suboptimal solutions. Start infrastructure planning in concept phase. —--</a:t>
            </a:r>
          </a:p>
          <a:p>
            <a:pPr>
              <a:spcAft>
                <a:spcPts val="1000"/>
              </a:spcAft>
              <a:defRPr sz="1800">
                <a:solidFill>
                  <a:srgbClr val="333333"/>
                </a:solidFill>
              </a:defRPr>
            </a:pPr>
            <a:r>
              <a:t>#### Part 6: Lifecycle Management Plans (Slides 23-24, ~8 minutes)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Lifecycle Management Strategy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Systems engineering doesn't end at production launch. Most of a system's lifecycle happens AFTER launch.</a:t>
            </a:r>
          </a:p>
          <a:p>
            <a:pPr>
              <a:spcAft>
                <a:spcPts val="1000"/>
              </a:spcAft>
              <a:defRPr sz="1800">
                <a:solidFill>
                  <a:srgbClr val="333333"/>
                </a:solidFill>
              </a:defRPr>
            </a:pPr>
            <a:r>
              <a:t>Automotive System Lifecycle Phases:</a:t>
            </a:r>
          </a:p>
          <a:p>
            <a:pPr>
              <a:spcAft>
                <a:spcPts val="1000"/>
              </a:spcAft>
              <a:defRPr sz="1800">
                <a:solidFill>
                  <a:srgbClr val="333333"/>
                </a:solidFill>
              </a:defRPr>
            </a:pPr>
            <a:r>
              <a:t>1. Development Phase (3-5 years)</a:t>
            </a:r>
          </a:p>
          <a:p>
            <a:pPr>
              <a:spcAft>
                <a:spcPts val="600"/>
              </a:spcAft>
              <a:defRPr sz="1800">
                <a:solidFill>
                  <a:srgbClr val="333333"/>
                </a:solidFill>
              </a:defRPr>
            </a:pPr>
            <a:r>
              <a:t>Concept, design, validation, industrialization</a:t>
            </a:r>
          </a:p>
          <a:p>
            <a:pPr>
              <a:spcAft>
                <a:spcPts val="600"/>
              </a:spcAft>
              <a:defRPr sz="1800">
                <a:solidFill>
                  <a:srgbClr val="333333"/>
                </a:solidFill>
              </a:defRPr>
            </a:pPr>
            <a:r>
              <a:t>Management focus: Requirements, design, verification</a:t>
            </a:r>
          </a:p>
          <a:p>
            <a:pPr>
              <a:spcAft>
                <a:spcPts val="1000"/>
              </a:spcAft>
              <a:defRPr sz="1800">
                <a:solidFill>
                  <a:srgbClr val="333333"/>
                </a:solidFill>
              </a:defRPr>
            </a:pPr>
            <a:r>
              <a:t>2. Production Phase (5-10 years)</a:t>
            </a:r>
          </a:p>
          <a:p>
            <a:pPr>
              <a:spcAft>
                <a:spcPts val="600"/>
              </a:spcAft>
              <a:defRPr sz="1800">
                <a:solidFill>
                  <a:srgbClr val="333333"/>
                </a:solidFill>
              </a:defRPr>
            </a:pPr>
            <a:r>
              <a:t>Active manufacturing and sales</a:t>
            </a:r>
          </a:p>
          <a:p>
            <a:pPr>
              <a:spcAft>
                <a:spcPts val="600"/>
              </a:spcAft>
              <a:defRPr sz="1800">
                <a:solidFill>
                  <a:srgbClr val="333333"/>
                </a:solidFill>
              </a:defRPr>
            </a:pPr>
            <a:r>
              <a:t>Management focus: Quality, cost reduction, running changes</a:t>
            </a:r>
          </a:p>
          <a:p>
            <a:pPr>
              <a:spcAft>
                <a:spcPts val="1000"/>
              </a:spcAft>
              <a:defRPr sz="1800">
                <a:solidFill>
                  <a:srgbClr val="333333"/>
                </a:solidFill>
              </a:defRPr>
            </a:pPr>
            <a:r>
              <a:t>3. Service Phase (15-20 years)</a:t>
            </a:r>
          </a:p>
          <a:p>
            <a:pPr>
              <a:spcAft>
                <a:spcPts val="600"/>
              </a:spcAft>
              <a:defRPr sz="1800">
                <a:solidFill>
                  <a:srgbClr val="333333"/>
                </a:solidFill>
              </a:defRPr>
            </a:pPr>
            <a:r>
              <a:t>Active vehicle fleet in field</a:t>
            </a:r>
          </a:p>
          <a:p>
            <a:pPr>
              <a:spcAft>
                <a:spcPts val="600"/>
              </a:spcAft>
              <a:defRPr sz="1800">
                <a:solidFill>
                  <a:srgbClr val="333333"/>
                </a:solidFill>
              </a:defRPr>
            </a:pPr>
            <a:r>
              <a:t>Management focus: Warranty, recalls, spare parts, software updates</a:t>
            </a:r>
          </a:p>
          <a:p>
            <a:pPr>
              <a:spcAft>
                <a:spcPts val="1000"/>
              </a:spcAft>
              <a:defRPr sz="1800">
                <a:solidFill>
                  <a:srgbClr val="333333"/>
                </a:solidFill>
              </a:defRPr>
            </a:pPr>
            <a:r>
              <a:t>4. End-of-Life Phase (5+ years)</a:t>
            </a:r>
          </a:p>
          <a:p>
            <a:pPr>
              <a:spcAft>
                <a:spcPts val="600"/>
              </a:spcAft>
              <a:defRPr sz="1800">
                <a:solidFill>
                  <a:srgbClr val="333333"/>
                </a:solidFill>
              </a:defRPr>
            </a:pPr>
            <a:r>
              <a:t>Production ended, but service continues</a:t>
            </a:r>
          </a:p>
          <a:p>
            <a:pPr>
              <a:spcAft>
                <a:spcPts val="600"/>
              </a:spcAft>
              <a:defRPr sz="1800">
                <a:solidFill>
                  <a:srgbClr val="333333"/>
                </a:solidFill>
              </a:defRPr>
            </a:pPr>
            <a:r>
              <a:t>Management focus: Spare parts availability, obsolescence, phase-out</a:t>
            </a:r>
          </a:p>
          <a:p>
            <a:pPr>
              <a:spcAft>
                <a:spcPts val="1000"/>
              </a:spcAft>
              <a:defRPr sz="1800">
                <a:solidFill>
                  <a:srgbClr val="333333"/>
                </a:solidFill>
              </a:defRPr>
            </a:pPr>
            <a:r>
              <a:t>Total lifecycle: 25-30+ years from concept to complete phase-out</a:t>
            </a:r>
          </a:p>
          <a:p>
            <a:pPr>
              <a:spcAft>
                <a:spcPts val="1000"/>
              </a:spcAft>
              <a:defRPr sz="1800">
                <a:solidFill>
                  <a:srgbClr val="333333"/>
                </a:solidFill>
              </a:defRPr>
            </a:pPr>
            <a:r>
              <a:t>Lifecycle Management Plan Components:</a:t>
            </a:r>
          </a:p>
          <a:p>
            <a:pPr>
              <a:spcAft>
                <a:spcPts val="1000"/>
              </a:spcAft>
              <a:defRPr sz="1800">
                <a:solidFill>
                  <a:srgbClr val="333333"/>
                </a:solidFill>
              </a:defRPr>
            </a:pPr>
            <a:r>
              <a:t>A. Maintenance Strategy</a:t>
            </a:r>
          </a:p>
          <a:p>
            <a:pPr>
              <a:spcAft>
                <a:spcPts val="1000"/>
              </a:spcAft>
              <a:defRPr sz="1800">
                <a:solidFill>
                  <a:srgbClr val="333333"/>
                </a:solidFill>
              </a:defRPr>
            </a:pPr>
            <a:r>
              <a:t>Preventive Maintenance: — Scheduled inspections and service</a:t>
            </a:r>
          </a:p>
          <a:p>
            <a:pPr>
              <a:spcAft>
                <a:spcPts val="600"/>
              </a:spcAft>
              <a:defRPr sz="1800">
                <a:solidFill>
                  <a:srgbClr val="333333"/>
                </a:solidFill>
              </a:defRPr>
            </a:pPr>
            <a:r>
              <a:t>Example: Battery pack inspection every 2 years, coolant replacement every 4 years</a:t>
            </a:r>
          </a:p>
          <a:p>
            <a:pPr>
              <a:spcAft>
                <a:spcPts val="600"/>
              </a:spcAft>
              <a:defRPr sz="1800">
                <a:solidFill>
                  <a:srgbClr val="333333"/>
                </a:solidFill>
              </a:defRPr>
            </a:pPr>
            <a:r>
              <a:t>Requirements: Service intervals, procedures, special tools</a:t>
            </a:r>
          </a:p>
          <a:p>
            <a:pPr>
              <a:spcAft>
                <a:spcPts val="1000"/>
              </a:spcAft>
              <a:defRPr sz="1800">
                <a:solidFill>
                  <a:srgbClr val="333333"/>
                </a:solidFill>
              </a:defRPr>
            </a:pPr>
            <a:r>
              <a:t>Predictive Maintenance: — Condition-based using sensor data and analytics</a:t>
            </a:r>
          </a:p>
          <a:p>
            <a:pPr>
              <a:spcAft>
                <a:spcPts val="600"/>
              </a:spcAft>
              <a:defRPr sz="1800">
                <a:solidFill>
                  <a:srgbClr val="333333"/>
                </a:solidFill>
              </a:defRPr>
            </a:pPr>
            <a:r>
              <a:t>Example: Monitor battery degradation, predict failure before it happens</a:t>
            </a:r>
          </a:p>
          <a:p>
            <a:pPr>
              <a:spcAft>
                <a:spcPts val="600"/>
              </a:spcAft>
              <a:defRPr sz="1800">
                <a:solidFill>
                  <a:srgbClr val="333333"/>
                </a:solidFill>
              </a:defRPr>
            </a:pPr>
            <a:r>
              <a:t>Requirements: Sensors, telematics, analytics algorithms</a:t>
            </a:r>
          </a:p>
          <a:p>
            <a:pPr>
              <a:spcAft>
                <a:spcPts val="1000"/>
              </a:spcAft>
              <a:defRPr sz="1800">
                <a:solidFill>
                  <a:srgbClr val="333333"/>
                </a:solidFill>
              </a:defRPr>
            </a:pPr>
            <a:r>
              <a:t>Corrective Maintenance: — Repair after failure</a:t>
            </a:r>
          </a:p>
          <a:p>
            <a:pPr>
              <a:spcAft>
                <a:spcPts val="600"/>
              </a:spcAft>
              <a:defRPr sz="1800">
                <a:solidFill>
                  <a:srgbClr val="333333"/>
                </a:solidFill>
              </a:defRPr>
            </a:pPr>
            <a:r>
              <a:t>Requirements: Fault diagnostics, repair procedures, spare parts availability</a:t>
            </a:r>
          </a:p>
          <a:p>
            <a:pPr>
              <a:spcAft>
                <a:spcPts val="1000"/>
              </a:spcAft>
              <a:defRPr sz="1800">
                <a:solidFill>
                  <a:srgbClr val="333333"/>
                </a:solidFill>
              </a:defRPr>
            </a:pPr>
            <a:r>
              <a:t>Design for Maintainability: — Modular design for easy replacement</a:t>
            </a:r>
          </a:p>
          <a:p>
            <a:pPr>
              <a:spcAft>
                <a:spcPts val="600"/>
              </a:spcAft>
              <a:defRPr sz="1800">
                <a:solidFill>
                  <a:srgbClr val="333333"/>
                </a:solidFill>
              </a:defRPr>
            </a:pPr>
            <a:r>
              <a:t>Accessible components (no 'service position' acrobatics)</a:t>
            </a:r>
          </a:p>
          <a:p>
            <a:pPr>
              <a:spcAft>
                <a:spcPts val="600"/>
              </a:spcAft>
              <a:defRPr sz="1800">
                <a:solidFill>
                  <a:srgbClr val="333333"/>
                </a:solidFill>
              </a:defRPr>
            </a:pPr>
            <a:r>
              <a:t>Self-diagnostics and prognostics</a:t>
            </a:r>
          </a:p>
          <a:p>
            <a:pPr>
              <a:spcAft>
                <a:spcPts val="600"/>
              </a:spcAft>
              <a:defRPr sz="1800">
                <a:solidFill>
                  <a:srgbClr val="333333"/>
                </a:solidFill>
              </a:defRPr>
            </a:pPr>
            <a:r>
              <a:t>Example: Tesla battery pack initially required lifting car → redesigned for easier access</a:t>
            </a:r>
          </a:p>
          <a:p>
            <a:pPr>
              <a:spcAft>
                <a:spcPts val="1000"/>
              </a:spcAft>
              <a:defRPr sz="1800">
                <a:solidFill>
                  <a:srgbClr val="333333"/>
                </a:solidFill>
              </a:defRPr>
            </a:pPr>
            <a:r>
              <a:t>B. Support Strategy</a:t>
            </a:r>
          </a:p>
          <a:p>
            <a:pPr>
              <a:spcAft>
                <a:spcPts val="1000"/>
              </a:spcAft>
              <a:defRPr sz="1800">
                <a:solidFill>
                  <a:srgbClr val="333333"/>
                </a:solidFill>
              </a:defRPr>
            </a:pPr>
            <a:r>
              <a:t>Tiered Support Structure:</a:t>
            </a:r>
          </a:p>
          <a:p>
            <a:pPr>
              <a:spcAft>
                <a:spcPts val="1000"/>
              </a:spcAft>
              <a:defRPr sz="1800">
                <a:solidFill>
                  <a:srgbClr val="333333"/>
                </a:solidFill>
              </a:defRPr>
            </a:pPr>
            <a:r>
              <a:t>Tier 1 - Dealer/Service Center: — Routine maintenance and common repairs</a:t>
            </a:r>
          </a:p>
          <a:p>
            <a:pPr>
              <a:spcAft>
                <a:spcPts val="600"/>
              </a:spcAft>
              <a:defRPr sz="1800">
                <a:solidFill>
                  <a:srgbClr val="333333"/>
                </a:solidFill>
              </a:defRPr>
            </a:pPr>
            <a:r>
              <a:t>Diagnostic scan and code reading</a:t>
            </a:r>
          </a:p>
          <a:p>
            <a:pPr>
              <a:spcAft>
                <a:spcPts val="600"/>
              </a:spcAft>
              <a:defRPr sz="1800">
                <a:solidFill>
                  <a:srgbClr val="333333"/>
                </a:solidFill>
              </a:defRPr>
            </a:pPr>
            <a:r>
              <a:t>Requirements: Basic training, diagnostic tools, common spare parts</a:t>
            </a:r>
          </a:p>
          <a:p>
            <a:pPr>
              <a:spcAft>
                <a:spcPts val="1000"/>
              </a:spcAft>
              <a:defRPr sz="1800">
                <a:solidFill>
                  <a:srgbClr val="333333"/>
                </a:solidFill>
              </a:defRPr>
            </a:pPr>
            <a:r>
              <a:t>Tier 2 - Regional Technical Center: — Complex diagnostics and repairs</a:t>
            </a:r>
          </a:p>
          <a:p>
            <a:pPr>
              <a:spcAft>
                <a:spcPts val="600"/>
              </a:spcAft>
              <a:defRPr sz="1800">
                <a:solidFill>
                  <a:srgbClr val="333333"/>
                </a:solidFill>
              </a:defRPr>
            </a:pPr>
            <a:r>
              <a:t>Specialized equipment (e.g., battery pack repair)</a:t>
            </a:r>
          </a:p>
          <a:p>
            <a:pPr>
              <a:spcAft>
                <a:spcPts val="600"/>
              </a:spcAft>
              <a:defRPr sz="1800">
                <a:solidFill>
                  <a:srgbClr val="333333"/>
                </a:solidFill>
              </a:defRPr>
            </a:pPr>
            <a:r>
              <a:t>Requirements: Advanced training, specialized tools, expert technicians</a:t>
            </a:r>
          </a:p>
          <a:p>
            <a:pPr>
              <a:spcAft>
                <a:spcPts val="1000"/>
              </a:spcAft>
              <a:defRPr sz="1800">
                <a:solidFill>
                  <a:srgbClr val="333333"/>
                </a:solidFill>
              </a:defRPr>
            </a:pPr>
            <a:r>
              <a:t>Tier 3 - OEM Engineering: — Novel issues, software bugs, design defects</a:t>
            </a:r>
          </a:p>
          <a:p>
            <a:pPr>
              <a:spcAft>
                <a:spcPts val="600"/>
              </a:spcAft>
              <a:defRPr sz="1800">
                <a:solidFill>
                  <a:srgbClr val="333333"/>
                </a:solidFill>
              </a:defRPr>
            </a:pPr>
            <a:r>
              <a:t>Root cause analysis and engineering fixes</a:t>
            </a:r>
          </a:p>
          <a:p>
            <a:pPr>
              <a:spcAft>
                <a:spcPts val="600"/>
              </a:spcAft>
              <a:defRPr sz="1800">
                <a:solidFill>
                  <a:srgbClr val="333333"/>
                </a:solidFill>
              </a:defRPr>
            </a:pPr>
            <a:r>
              <a:t>Requirements: Access to design data, simulation tools, engineering expertise</a:t>
            </a:r>
          </a:p>
          <a:p>
            <a:pPr>
              <a:spcAft>
                <a:spcPts val="1000"/>
              </a:spcAft>
              <a:defRPr sz="1800">
                <a:solidFill>
                  <a:srgbClr val="333333"/>
                </a:solidFill>
              </a:defRPr>
            </a:pPr>
            <a:r>
              <a:t>Support Channels: — Phone/email support: Technical assistance hotline</a:t>
            </a:r>
          </a:p>
          <a:p>
            <a:pPr>
              <a:spcAft>
                <a:spcPts val="600"/>
              </a:spcAft>
              <a:defRPr sz="1800">
                <a:solidFill>
                  <a:srgbClr val="333333"/>
                </a:solidFill>
              </a:defRPr>
            </a:pPr>
            <a:r>
              <a:t>Remote diagnostics: Over-the-air data collection and analysis</a:t>
            </a:r>
          </a:p>
          <a:p>
            <a:pPr>
              <a:spcAft>
                <a:spcPts val="600"/>
              </a:spcAft>
              <a:defRPr sz="1800">
                <a:solidFill>
                  <a:srgbClr val="333333"/>
                </a:solidFill>
              </a:defRPr>
            </a:pPr>
            <a:r>
              <a:t>Field service engineers: Deploy to dealer for complex issues</a:t>
            </a:r>
          </a:p>
          <a:p>
            <a:pPr>
              <a:spcAft>
                <a:spcPts val="600"/>
              </a:spcAft>
              <a:defRPr sz="1800">
                <a:solidFill>
                  <a:srgbClr val="333333"/>
                </a:solidFill>
              </a:defRPr>
            </a:pPr>
            <a:r>
              <a:t>Training programs: Regular updates to dealers on new technologies</a:t>
            </a:r>
          </a:p>
          <a:p>
            <a:pPr>
              <a:spcAft>
                <a:spcPts val="1000"/>
              </a:spcAft>
              <a:defRPr sz="1800">
                <a:solidFill>
                  <a:srgbClr val="333333"/>
                </a:solidFill>
              </a:defRPr>
            </a:pPr>
            <a:r>
              <a:t>C. Software and Update Strategy (Critical for Modern Vehicles)</a:t>
            </a:r>
          </a:p>
          <a:p>
            <a:pPr>
              <a:spcAft>
                <a:spcPts val="1000"/>
              </a:spcAft>
              <a:defRPr sz="1800">
                <a:solidFill>
                  <a:srgbClr val="333333"/>
                </a:solidFill>
              </a:defRPr>
            </a:pPr>
            <a:r>
              <a:t>Over-the-Air (OTA) Updates: — Capability to update vehicle software remotely</a:t>
            </a:r>
          </a:p>
          <a:p>
            <a:pPr>
              <a:spcAft>
                <a:spcPts val="600"/>
              </a:spcAft>
              <a:defRPr sz="1800">
                <a:solidFill>
                  <a:srgbClr val="333333"/>
                </a:solidFill>
              </a:defRPr>
            </a:pPr>
            <a:r>
              <a:t>Use cases: Bug fixes, feature additions, performance improvements, security patches</a:t>
            </a:r>
          </a:p>
          <a:p>
            <a:pPr>
              <a:spcAft>
                <a:spcPts val="600"/>
              </a:spcAft>
              <a:defRPr sz="1800">
                <a:solidFill>
                  <a:srgbClr val="333333"/>
                </a:solidFill>
              </a:defRPr>
            </a:pPr>
            <a:r>
              <a:t>Requirements: Secure update mechanism, rollback capability, customer notification</a:t>
            </a:r>
          </a:p>
          <a:p>
            <a:pPr>
              <a:spcAft>
                <a:spcPts val="600"/>
              </a:spcAft>
              <a:defRPr sz="1800">
                <a:solidFill>
                  <a:srgbClr val="333333"/>
                </a:solidFill>
              </a:defRPr>
            </a:pPr>
            <a:r>
              <a:t>Example: Tesla pushes updates monthly, adding features and fixing bugs</a:t>
            </a:r>
          </a:p>
          <a:p>
            <a:pPr>
              <a:spcAft>
                <a:spcPts val="1000"/>
              </a:spcAft>
              <a:defRPr sz="1800">
                <a:solidFill>
                  <a:srgbClr val="333333"/>
                </a:solidFill>
              </a:defRPr>
            </a:pPr>
            <a:r>
              <a:t>Update Lifecycle: — How long will vehicles receive updates? Define commitment (e.g., 8 years from production)</a:t>
            </a:r>
          </a:p>
          <a:p>
            <a:pPr>
              <a:spcAft>
                <a:spcPts val="600"/>
              </a:spcAft>
              <a:defRPr sz="1800">
                <a:solidFill>
                  <a:srgbClr val="333333"/>
                </a:solidFill>
              </a:defRPr>
            </a:pPr>
            <a:r>
              <a:t>What types of updates? Security (mandatory), features (optional), performance</a:t>
            </a:r>
          </a:p>
          <a:p>
            <a:pPr>
              <a:spcAft>
                <a:spcPts val="600"/>
              </a:spcAft>
              <a:defRPr sz="1800">
                <a:solidFill>
                  <a:srgbClr val="333333"/>
                </a:solidFill>
              </a:defRPr>
            </a:pPr>
            <a:r>
              <a:t>Backward compatibility: Ensure new software works on old hardware</a:t>
            </a:r>
          </a:p>
          <a:p>
            <a:pPr>
              <a:spcAft>
                <a:spcPts val="1000"/>
              </a:spcAft>
              <a:defRPr sz="1800">
                <a:solidFill>
                  <a:srgbClr val="333333"/>
                </a:solidFill>
              </a:defRPr>
            </a:pPr>
            <a:r>
              <a:t>Software Obsolescence: — Older vehicles may not have hardware for new features</a:t>
            </a:r>
          </a:p>
          <a:p>
            <a:pPr>
              <a:spcAft>
                <a:spcPts val="600"/>
              </a:spcAft>
              <a:defRPr sz="1800">
                <a:solidFill>
                  <a:srgbClr val="333333"/>
                </a:solidFill>
              </a:defRPr>
            </a:pPr>
            <a:r>
              <a:t>Strategy: Define 'end of support' date, communicate clearly to customers</a:t>
            </a:r>
          </a:p>
          <a:p>
            <a:pPr>
              <a:spcAft>
                <a:spcPts val="600"/>
              </a:spcAft>
              <a:defRPr sz="1800">
                <a:solidFill>
                  <a:srgbClr val="333333"/>
                </a:solidFill>
              </a:defRPr>
            </a:pPr>
            <a:r>
              <a:t>Example: 10-year-old vehicle may not get latest autonomous features (sensor limitations)</a:t>
            </a:r>
          </a:p>
          <a:p>
            <a:pPr>
              <a:spcAft>
                <a:spcPts val="1000"/>
              </a:spcAft>
              <a:defRPr sz="1800">
                <a:solidFill>
                  <a:srgbClr val="333333"/>
                </a:solidFill>
              </a:defRPr>
            </a:pPr>
            <a:r>
              <a:t>D. Technology Refresh Planning</a:t>
            </a:r>
          </a:p>
          <a:p>
            <a:pPr>
              <a:spcAft>
                <a:spcPts val="1000"/>
              </a:spcAft>
              <a:defRPr sz="1800">
                <a:solidFill>
                  <a:srgbClr val="333333"/>
                </a:solidFill>
              </a:defRPr>
            </a:pPr>
            <a:r>
              <a:t>Component Obsolescence: — Electronics have short lifecycles (2-5 years) vs vehicle lifecycle (15+ years)</a:t>
            </a:r>
          </a:p>
          <a:p>
            <a:pPr>
              <a:spcAft>
                <a:spcPts val="600"/>
              </a:spcAft>
              <a:defRPr sz="1800">
                <a:solidFill>
                  <a:srgbClr val="333333"/>
                </a:solidFill>
              </a:defRPr>
            </a:pPr>
            <a:r>
              <a:t>Challenge: Semiconductor, sensors, displays discontinued before vehicle end-of-life</a:t>
            </a:r>
          </a:p>
          <a:p>
            <a:pPr>
              <a:spcAft>
                <a:spcPts val="600"/>
              </a:spcAft>
              <a:defRPr sz="1800">
                <a:solidFill>
                  <a:srgbClr val="333333"/>
                </a:solidFill>
              </a:defRPr>
            </a:pPr>
            <a:r>
              <a:t>Strategies:</a:t>
            </a:r>
          </a:p>
          <a:p>
            <a:pPr>
              <a:spcAft>
                <a:spcPts val="600"/>
              </a:spcAft>
              <a:defRPr sz="1800">
                <a:solidFill>
                  <a:srgbClr val="333333"/>
                </a:solidFill>
              </a:defRPr>
            </a:pPr>
            <a:r>
              <a:t>Last-time buy: Purchase lifetime supply before obsolescence</a:t>
            </a:r>
          </a:p>
          <a:p>
            <a:pPr>
              <a:spcAft>
                <a:spcPts val="600"/>
              </a:spcAft>
              <a:defRPr sz="1800">
                <a:solidFill>
                  <a:srgbClr val="333333"/>
                </a:solidFill>
              </a:defRPr>
            </a:pPr>
            <a:r>
              <a:t>Redesign: Substitute with newer equivalent component</a:t>
            </a:r>
          </a:p>
          <a:p>
            <a:pPr>
              <a:spcAft>
                <a:spcPts val="600"/>
              </a:spcAft>
              <a:defRPr sz="1800">
                <a:solidFill>
                  <a:srgbClr val="333333"/>
                </a:solidFill>
              </a:defRPr>
            </a:pPr>
            <a:r>
              <a:t>Aftermarket: Third-party suppliers for obsolete parts</a:t>
            </a:r>
          </a:p>
          <a:p>
            <a:pPr>
              <a:spcAft>
                <a:spcPts val="600"/>
              </a:spcAft>
              <a:defRPr sz="1800">
                <a:solidFill>
                  <a:srgbClr val="333333"/>
                </a:solidFill>
              </a:defRPr>
            </a:pPr>
            <a:r>
              <a:t>Software emulation: Use newer hardware with compatibility software</a:t>
            </a:r>
          </a:p>
          <a:p>
            <a:pPr>
              <a:spcAft>
                <a:spcPts val="1000"/>
              </a:spcAft>
              <a:defRPr sz="1800">
                <a:solidFill>
                  <a:srgbClr val="333333"/>
                </a:solidFill>
              </a:defRPr>
            </a:pPr>
            <a:r>
              <a:t>Proactive Obsolescence Management: — Track component lifecycles from suppliers</a:t>
            </a:r>
          </a:p>
          <a:p>
            <a:pPr>
              <a:spcAft>
                <a:spcPts val="600"/>
              </a:spcAft>
              <a:defRPr sz="1800">
                <a:solidFill>
                  <a:srgbClr val="333333"/>
                </a:solidFill>
              </a:defRPr>
            </a:pPr>
            <a:r>
              <a:t>Monitor obsolescence bulletins (component end-of-life notices)</a:t>
            </a:r>
          </a:p>
          <a:p>
            <a:pPr>
              <a:spcAft>
                <a:spcPts val="600"/>
              </a:spcAft>
              <a:defRPr sz="1800">
                <a:solidFill>
                  <a:srgbClr val="333333"/>
                </a:solidFill>
              </a:defRPr>
            </a:pPr>
            <a:r>
              <a:t>Design for replaceability (modular, open interfaces)</a:t>
            </a:r>
          </a:p>
          <a:p>
            <a:pPr>
              <a:spcAft>
                <a:spcPts val="600"/>
              </a:spcAft>
              <a:defRPr sz="1800">
                <a:solidFill>
                  <a:srgbClr val="333333"/>
                </a:solidFill>
              </a:defRPr>
            </a:pPr>
            <a:r>
              <a:t>Tools: Obsolescence tracking databases (IHS Markit, Z2Data)</a:t>
            </a:r>
          </a:p>
          <a:p>
            <a:pPr>
              <a:spcAft>
                <a:spcPts val="1000"/>
              </a:spcAft>
              <a:defRPr sz="1800">
                <a:solidFill>
                  <a:srgbClr val="333333"/>
                </a:solidFill>
              </a:defRPr>
            </a:pPr>
            <a:r>
              <a:t>Technology Insertion: — Mid-cycle refreshes to keep product competitive</a:t>
            </a:r>
          </a:p>
          <a:p>
            <a:pPr>
              <a:spcAft>
                <a:spcPts val="600"/>
              </a:spcAft>
              <a:defRPr sz="1800">
                <a:solidFill>
                  <a:srgbClr val="333333"/>
                </a:solidFill>
              </a:defRPr>
            </a:pPr>
            <a:r>
              <a:t>Example: Update infotainment system after 3-4 years to latest tech</a:t>
            </a:r>
          </a:p>
          <a:p>
            <a:pPr>
              <a:spcAft>
                <a:spcPts val="600"/>
              </a:spcAft>
              <a:defRPr sz="1800">
                <a:solidFill>
                  <a:srgbClr val="333333"/>
                </a:solidFill>
              </a:defRPr>
            </a:pPr>
            <a:r>
              <a:t>Requirements: Design architecture for upgradability</a:t>
            </a:r>
          </a:p>
          <a:p>
            <a:pPr>
              <a:spcAft>
                <a:spcPts val="1000"/>
              </a:spcAft>
              <a:defRPr sz="1800">
                <a:solidFill>
                  <a:srgbClr val="333333"/>
                </a:solidFill>
              </a:defRPr>
            </a:pPr>
            <a:r>
              <a:t>Real example - Automotive Infotainment Obsolescence: — 2015 vehicle with built-in navigation using Qualcomm chipset</a:t>
            </a:r>
          </a:p>
          <a:p>
            <a:pPr>
              <a:spcAft>
                <a:spcPts val="600"/>
              </a:spcAft>
              <a:defRPr sz="1800">
                <a:solidFill>
                  <a:srgbClr val="333333"/>
                </a:solidFill>
              </a:defRPr>
            </a:pPr>
            <a:r>
              <a:t>2020: Qualcomm discontinues chipset</a:t>
            </a:r>
          </a:p>
          <a:p>
            <a:pPr>
              <a:spcAft>
                <a:spcPts val="600"/>
              </a:spcAft>
              <a:defRPr sz="1800">
                <a:solidFill>
                  <a:srgbClr val="333333"/>
                </a:solidFill>
              </a:defRPr>
            </a:pPr>
            <a:r>
              <a:t>Options:</a:t>
            </a:r>
          </a:p>
          <a:p>
            <a:pPr>
              <a:spcAft>
                <a:spcPts val="600"/>
              </a:spcAft>
              <a:defRPr sz="1800">
                <a:solidFill>
                  <a:srgbClr val="333333"/>
                </a:solidFill>
              </a:defRPr>
            </a:pPr>
            <a:r>
              <a:t>Last-time buy (expensive, storage costs)</a:t>
            </a:r>
          </a:p>
          <a:p>
            <a:pPr>
              <a:spcAft>
                <a:spcPts val="600"/>
              </a:spcAft>
              <a:defRPr sz="1800">
                <a:solidFill>
                  <a:srgbClr val="333333"/>
                </a:solidFill>
              </a:defRPr>
            </a:pPr>
            <a:r>
              <a:t>Redesign with new chip (engineering cost, re-certification)</a:t>
            </a:r>
          </a:p>
          <a:p>
            <a:pPr>
              <a:spcAft>
                <a:spcPts val="600"/>
              </a:spcAft>
              <a:defRPr sz="1800">
                <a:solidFill>
                  <a:srgbClr val="333333"/>
                </a:solidFill>
              </a:defRPr>
            </a:pPr>
            <a:r>
              <a:t>End production (acceptable if nearing end-of-life)</a:t>
            </a:r>
          </a:p>
          <a:p>
            <a:pPr>
              <a:spcAft>
                <a:spcPts val="600"/>
              </a:spcAft>
              <a:defRPr sz="1800">
                <a:solidFill>
                  <a:srgbClr val="333333"/>
                </a:solidFill>
              </a:defRPr>
            </a:pPr>
            <a:r>
              <a:t>Smartphone integration (Android Auto/CarPlay) - make built-in navigation optional</a:t>
            </a:r>
          </a:p>
          <a:p>
            <a:pPr>
              <a:spcAft>
                <a:spcPts val="600"/>
              </a:spcAft>
              <a:defRPr sz="1800">
                <a:solidFill>
                  <a:srgbClr val="333333"/>
                </a:solidFill>
              </a:defRPr>
            </a:pPr>
            <a:r>
              <a:t>Many OEMs chose option 4 - strategic shift away from proprietary infotainment</a:t>
            </a:r>
          </a:p>
          <a:p>
            <a:pPr>
              <a:spcAft>
                <a:spcPts val="1000"/>
              </a:spcAft>
              <a:defRPr sz="1800">
                <a:solidFill>
                  <a:srgbClr val="333333"/>
                </a:solidFill>
              </a:defRPr>
            </a:pPr>
            <a:r>
              <a:t>Lifecycle Cost Impact: — Service and support typically 2-3× the development cost — Poor lifecycle planning → customer dissatisfaction, warranty costs, brand damage</a:t>
            </a:r>
          </a:p>
          <a:p>
            <a:pPr>
              <a:spcAft>
                <a:spcPts val="600"/>
              </a:spcAft>
              <a:defRPr sz="1800">
                <a:solidFill>
                  <a:srgbClr val="333333"/>
                </a:solidFill>
              </a:defRPr>
            </a:pPr>
            <a:r>
              <a:t>Best practice: Lifecycle cost modeling during design phase (Session 13 topic)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Integrating Agreements and Infrastructure into Systems Engineering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integrate everything we've learned into the systems engineering process.</a:t>
            </a:r>
          </a:p>
          <a:p>
            <a:pPr>
              <a:spcAft>
                <a:spcPts val="1000"/>
              </a:spcAft>
              <a:defRPr sz="1800">
                <a:solidFill>
                  <a:srgbClr val="333333"/>
                </a:solidFill>
              </a:defRPr>
            </a:pPr>
            <a:r>
              <a:t>Agreements and Infrastructure in the V-Model:</a:t>
            </a:r>
          </a:p>
          <a:p>
            <a:pPr>
              <a:spcAft>
                <a:spcPts val="1000"/>
              </a:spcAft>
              <a:defRPr sz="1800">
                <a:solidFill>
                  <a:srgbClr val="333333"/>
                </a:solidFill>
              </a:defRPr>
            </a:pPr>
            <a:r>
              <a:t>Left Side (Development):</a:t>
            </a:r>
          </a:p>
          <a:p>
            <a:pPr>
              <a:spcAft>
                <a:spcPts val="1000"/>
              </a:spcAft>
              <a:defRPr sz="1800">
                <a:solidFill>
                  <a:srgbClr val="333333"/>
                </a:solidFill>
              </a:defRPr>
            </a:pPr>
            <a:r>
              <a:t>Concept Phase: — Make vs Buy decisions: Which components in-house vs supplier?</a:t>
            </a:r>
          </a:p>
          <a:p>
            <a:pPr>
              <a:spcAft>
                <a:spcPts val="600"/>
              </a:spcAft>
              <a:defRPr sz="1800">
                <a:solidFill>
                  <a:srgbClr val="333333"/>
                </a:solidFill>
              </a:defRPr>
            </a:pPr>
            <a:r>
              <a:t>Supplier engagement strategy: Identify strategic partners for ESI</a:t>
            </a:r>
          </a:p>
          <a:p>
            <a:pPr>
              <a:spcAft>
                <a:spcPts val="600"/>
              </a:spcAft>
              <a:defRPr sz="1800">
                <a:solidFill>
                  <a:srgbClr val="333333"/>
                </a:solidFill>
              </a:defRPr>
            </a:pPr>
            <a:r>
              <a:t>Infrastructure planning begins: What facilities, tools, equipment needed?</a:t>
            </a:r>
          </a:p>
          <a:p>
            <a:pPr>
              <a:spcAft>
                <a:spcPts val="1000"/>
              </a:spcAft>
              <a:defRPr sz="1800">
                <a:solidFill>
                  <a:srgbClr val="333333"/>
                </a:solidFill>
              </a:defRPr>
            </a:pPr>
            <a:r>
              <a:t>Requirements Phase: — Supplier requirements: Flow-down requirements to suppliers</a:t>
            </a:r>
          </a:p>
          <a:p>
            <a:pPr>
              <a:spcAft>
                <a:spcPts val="600"/>
              </a:spcAft>
              <a:defRPr sz="1800">
                <a:solidFill>
                  <a:srgbClr val="333333"/>
                </a:solidFill>
              </a:defRPr>
            </a:pPr>
            <a:r>
              <a:t>Infrastructure requirements: Define test equipment, manufacturing, IT needs</a:t>
            </a:r>
          </a:p>
          <a:p>
            <a:pPr>
              <a:spcAft>
                <a:spcPts val="600"/>
              </a:spcAft>
              <a:defRPr sz="1800">
                <a:solidFill>
                  <a:srgbClr val="333333"/>
                </a:solidFill>
              </a:defRPr>
            </a:pPr>
            <a:r>
              <a:t>Contract negotiation: Align contracts with technical requirements</a:t>
            </a:r>
          </a:p>
          <a:p>
            <a:pPr>
              <a:spcAft>
                <a:spcPts val="1000"/>
              </a:spcAft>
              <a:defRPr sz="1800">
                <a:solidFill>
                  <a:srgbClr val="333333"/>
                </a:solidFill>
              </a:defRPr>
            </a:pPr>
            <a:r>
              <a:t>Design Phase: — Supplier collaboration: ESI for co-development</a:t>
            </a:r>
          </a:p>
          <a:p>
            <a:pPr>
              <a:spcAft>
                <a:spcPts val="600"/>
              </a:spcAft>
              <a:defRPr sz="1800">
                <a:solidFill>
                  <a:srgbClr val="333333"/>
                </a:solidFill>
              </a:defRPr>
            </a:pPr>
            <a:r>
              <a:t>Interface specifications: Define OEM-supplier boundaries</a:t>
            </a:r>
          </a:p>
          <a:p>
            <a:pPr>
              <a:spcAft>
                <a:spcPts val="600"/>
              </a:spcAft>
              <a:defRPr sz="1800">
                <a:solidFill>
                  <a:srgbClr val="333333"/>
                </a:solidFill>
              </a:defRPr>
            </a:pPr>
            <a:r>
              <a:t>Infrastructure procurement: Long-lead items (test chambers, production lines)</a:t>
            </a:r>
          </a:p>
          <a:p>
            <a:pPr>
              <a:spcAft>
                <a:spcPts val="1000"/>
              </a:spcAft>
              <a:defRPr sz="1800">
                <a:solidFill>
                  <a:srgbClr val="333333"/>
                </a:solidFill>
              </a:defRPr>
            </a:pPr>
            <a:r>
              <a:t>Implementation Phase: — Supplier development: Monitor supplier progress, support as needed</a:t>
            </a:r>
          </a:p>
          <a:p>
            <a:pPr>
              <a:spcAft>
                <a:spcPts val="600"/>
              </a:spcAft>
              <a:defRPr sz="1800">
                <a:solidFill>
                  <a:srgbClr val="333333"/>
                </a:solidFill>
              </a:defRPr>
            </a:pPr>
            <a:r>
              <a:t>Infrastructure deployment: Install and commission equipment</a:t>
            </a:r>
          </a:p>
          <a:p>
            <a:pPr>
              <a:spcAft>
                <a:spcPts val="600"/>
              </a:spcAft>
              <a:defRPr sz="1800">
                <a:solidFill>
                  <a:srgbClr val="333333"/>
                </a:solidFill>
              </a:defRPr>
            </a:pPr>
            <a:r>
              <a:t>Contract management: Track milestones, manage changes</a:t>
            </a:r>
          </a:p>
          <a:p>
            <a:pPr>
              <a:spcAft>
                <a:spcPts val="1000"/>
              </a:spcAft>
              <a:defRPr sz="1800">
                <a:solidFill>
                  <a:srgbClr val="333333"/>
                </a:solidFill>
              </a:defRPr>
            </a:pPr>
            <a:r>
              <a:t>Right Side (Verification and Validation):</a:t>
            </a:r>
          </a:p>
          <a:p>
            <a:pPr>
              <a:spcAft>
                <a:spcPts val="1000"/>
              </a:spcAft>
              <a:defRPr sz="1800">
                <a:solidFill>
                  <a:srgbClr val="333333"/>
                </a:solidFill>
              </a:defRPr>
            </a:pPr>
            <a:r>
              <a:t>Integration: — Supplier deliveries: Receive and inspect components</a:t>
            </a:r>
          </a:p>
          <a:p>
            <a:pPr>
              <a:spcAft>
                <a:spcPts val="600"/>
              </a:spcAft>
              <a:defRPr sz="1800">
                <a:solidFill>
                  <a:srgbClr val="333333"/>
                </a:solidFill>
              </a:defRPr>
            </a:pPr>
            <a:r>
              <a:t>Infrastructure validation: Verify equipment ready for testing</a:t>
            </a:r>
          </a:p>
          <a:p>
            <a:pPr>
              <a:spcAft>
                <a:spcPts val="1000"/>
              </a:spcAft>
              <a:defRPr sz="1800">
                <a:solidFill>
                  <a:srgbClr val="333333"/>
                </a:solidFill>
              </a:defRPr>
            </a:pPr>
            <a:r>
              <a:t>Verification: — Use infrastructure: Test equipment, HIL systems</a:t>
            </a:r>
          </a:p>
          <a:p>
            <a:pPr>
              <a:spcAft>
                <a:spcPts val="600"/>
              </a:spcAft>
              <a:defRPr sz="1800">
                <a:solidFill>
                  <a:srgbClr val="333333"/>
                </a:solidFill>
              </a:defRPr>
            </a:pPr>
            <a:r>
              <a:t>Supplier witnessing: Invite suppliers to verification events</a:t>
            </a:r>
          </a:p>
          <a:p>
            <a:pPr>
              <a:spcAft>
                <a:spcPts val="1000"/>
              </a:spcAft>
              <a:defRPr sz="1800">
                <a:solidFill>
                  <a:srgbClr val="333333"/>
                </a:solidFill>
              </a:defRPr>
            </a:pPr>
            <a:r>
              <a:t>Validation: — Field testing: Use service infrastructure (dealer diagnostics)</a:t>
            </a:r>
          </a:p>
          <a:p>
            <a:pPr>
              <a:spcAft>
                <a:spcPts val="1000"/>
              </a:spcAft>
              <a:defRPr sz="1800">
                <a:solidFill>
                  <a:srgbClr val="333333"/>
                </a:solidFill>
              </a:defRPr>
            </a:pPr>
            <a:r>
              <a:t>Production and Operations: — Supplier performance management: Scorecards, business reviews</a:t>
            </a:r>
          </a:p>
          <a:p>
            <a:pPr>
              <a:spcAft>
                <a:spcPts val="600"/>
              </a:spcAft>
              <a:defRPr sz="1800">
                <a:solidFill>
                  <a:srgbClr val="333333"/>
                </a:solidFill>
              </a:defRPr>
            </a:pPr>
            <a:r>
              <a:t>Infrastructure operations: Manufacturing lines, service networks</a:t>
            </a:r>
          </a:p>
          <a:p>
            <a:pPr>
              <a:spcAft>
                <a:spcPts val="600"/>
              </a:spcAft>
              <a:defRPr sz="1800">
                <a:solidFill>
                  <a:srgbClr val="333333"/>
                </a:solidFill>
              </a:defRPr>
            </a:pPr>
            <a:r>
              <a:t>Lifecycle management: Execute LMP, manage obsolescence, updates</a:t>
            </a:r>
          </a:p>
          <a:p>
            <a:pPr>
              <a:spcAft>
                <a:spcPts val="1000"/>
              </a:spcAft>
              <a:defRPr sz="1800">
                <a:solidFill>
                  <a:srgbClr val="333333"/>
                </a:solidFill>
              </a:defRPr>
            </a:pPr>
            <a:r>
              <a:t>Key insight: Agreements and infrastructure are NOT separate from technical work - they're ENABLERS of technical work. Integrate from day one.</a:t>
            </a:r>
          </a:p>
          <a:p>
            <a:pPr>
              <a:spcAft>
                <a:spcPts val="1000"/>
              </a:spcAft>
              <a:defRPr sz="1800">
                <a:solidFill>
                  <a:srgbClr val="333333"/>
                </a:solidFill>
              </a:defRPr>
            </a:pPr>
            <a:r>
              <a:t>Cross-functional Integration:</a:t>
            </a:r>
          </a:p>
          <a:p>
            <a:pPr>
              <a:spcAft>
                <a:spcPts val="1000"/>
              </a:spcAft>
              <a:defRPr sz="1800">
                <a:solidFill>
                  <a:srgbClr val="333333"/>
                </a:solidFill>
              </a:defRPr>
            </a:pPr>
            <a:r>
              <a:t>Systems engineering doesn't work in isolation. This session's topics require collaboration:</a:t>
            </a:r>
          </a:p>
          <a:p>
            <a:pPr>
              <a:spcAft>
                <a:spcPts val="1000"/>
              </a:spcAft>
              <a:defRPr sz="1800">
                <a:solidFill>
                  <a:srgbClr val="333333"/>
                </a:solidFill>
              </a:defRPr>
            </a:pPr>
            <a:r>
              <a:t>| Activity | Systems Engineering Role | Collaborates With |</a:t>
            </a:r>
          </a:p>
          <a:p>
            <a:pPr>
              <a:spcAft>
                <a:spcPts val="1000"/>
              </a:spcAft>
              <a:defRPr sz="1800">
                <a:solidFill>
                  <a:srgbClr val="333333"/>
                </a:solidFill>
              </a:defRPr>
            </a:pPr>
            <a:r>
              <a:t>|----------|-------------------------|-------------------|</a:t>
            </a:r>
          </a:p>
          <a:p>
            <a:pPr>
              <a:spcAft>
                <a:spcPts val="1000"/>
              </a:spcAft>
              <a:defRPr sz="1800">
                <a:solidFill>
                  <a:srgbClr val="333333"/>
                </a:solidFill>
              </a:defRPr>
            </a:pPr>
            <a:r>
              <a:t>| Supplier selection | Define technical evaluation criteria | Procurement, Quality, Finance |</a:t>
            </a:r>
          </a:p>
          <a:p>
            <a:pPr>
              <a:spcAft>
                <a:spcPts val="1000"/>
              </a:spcAft>
              <a:defRPr sz="1800">
                <a:solidFill>
                  <a:srgbClr val="333333"/>
                </a:solidFill>
              </a:defRPr>
            </a:pPr>
            <a:r>
              <a:t>| Make vs Buy | Technical feasibility and risk assessment | Strategy, Finance, Manufacturing |</a:t>
            </a:r>
          </a:p>
          <a:p>
            <a:pPr>
              <a:spcAft>
                <a:spcPts val="1000"/>
              </a:spcAft>
              <a:defRPr sz="1800">
                <a:solidFill>
                  <a:srgbClr val="333333"/>
                </a:solidFill>
              </a:defRPr>
            </a:pPr>
            <a:r>
              <a:t>| Contract negotiation | Technical requirements verification | Legal, Procurement |</a:t>
            </a:r>
          </a:p>
          <a:p>
            <a:pPr>
              <a:spcAft>
                <a:spcPts val="1000"/>
              </a:spcAft>
              <a:defRPr sz="1800">
                <a:solidFill>
                  <a:srgbClr val="333333"/>
                </a:solidFill>
              </a:defRPr>
            </a:pPr>
            <a:r>
              <a:t>| Infrastructure planning | Define technical requirements | Manufacturing, IT, Facilities |</a:t>
            </a:r>
          </a:p>
          <a:p>
            <a:pPr>
              <a:spcAft>
                <a:spcPts val="1000"/>
              </a:spcAft>
              <a:defRPr sz="1800">
                <a:solidFill>
                  <a:srgbClr val="333333"/>
                </a:solidFill>
              </a:defRPr>
            </a:pPr>
            <a:r>
              <a:t>| Lifecycle management | Define support strategy | Service, Quality, Customer Support |</a:t>
            </a:r>
          </a:p>
          <a:p>
            <a:pPr>
              <a:spcAft>
                <a:spcPts val="1000"/>
              </a:spcAft>
              <a:defRPr sz="1800">
                <a:solidFill>
                  <a:srgbClr val="333333"/>
                </a:solidFill>
              </a:defRPr>
            </a:pPr>
            <a:r>
              <a:t>Systems engineer as integrator: You ensure technical, business, and operational aspects align.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Real-World Example - Tesla Vertical Integration Strategy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analyze a real case study: Tesla's vertical integration strategy - bold make vs buy decisions.</a:t>
            </a:r>
          </a:p>
          <a:p>
            <a:pPr>
              <a:spcAft>
                <a:spcPts val="1000"/>
              </a:spcAft>
              <a:defRPr sz="1800">
                <a:solidFill>
                  <a:srgbClr val="333333"/>
                </a:solidFill>
              </a:defRPr>
            </a:pPr>
            <a:r>
              <a:t>Tesla's MAKE Decisions (High Vertical Integration):</a:t>
            </a:r>
          </a:p>
          <a:p>
            <a:pPr>
              <a:spcAft>
                <a:spcPts val="1000"/>
              </a:spcAft>
              <a:defRPr sz="1800">
                <a:solidFill>
                  <a:srgbClr val="333333"/>
                </a:solidFill>
              </a:defRPr>
            </a:pPr>
            <a:r>
              <a:t>1. Battery Packs and BMS — Decision: MAKE (design in-house, co-manufacture with Panasonic/LG)</a:t>
            </a:r>
          </a:p>
          <a:p>
            <a:pPr>
              <a:spcAft>
                <a:spcPts val="600"/>
              </a:spcAft>
              <a:defRPr sz="1800">
                <a:solidFill>
                  <a:srgbClr val="333333"/>
                </a:solidFill>
              </a:defRPr>
            </a:pPr>
            <a:r>
              <a:t>Rationale:</a:t>
            </a:r>
          </a:p>
          <a:p>
            <a:pPr>
              <a:spcAft>
                <a:spcPts val="600"/>
              </a:spcAft>
              <a:defRPr sz="1800">
                <a:solidFill>
                  <a:srgbClr val="333333"/>
                </a:solidFill>
              </a:defRPr>
            </a:pPr>
            <a:r>
              <a:t>Core strategic differentiator (range, performance)</a:t>
            </a:r>
          </a:p>
          <a:p>
            <a:pPr>
              <a:spcAft>
                <a:spcPts val="600"/>
              </a:spcAft>
              <a:defRPr sz="1800">
                <a:solidFill>
                  <a:srgbClr val="333333"/>
                </a:solidFill>
              </a:defRPr>
            </a:pPr>
            <a:r>
              <a:t>Proprietary technology (cylindrical cells, structural pack)</a:t>
            </a:r>
          </a:p>
          <a:p>
            <a:pPr>
              <a:spcAft>
                <a:spcPts val="600"/>
              </a:spcAft>
              <a:defRPr sz="1800">
                <a:solidFill>
                  <a:srgbClr val="333333"/>
                </a:solidFill>
              </a:defRPr>
            </a:pPr>
            <a:r>
              <a:t>Cost control (batteries = 30% of vehicle cost)</a:t>
            </a:r>
          </a:p>
          <a:p>
            <a:pPr>
              <a:spcAft>
                <a:spcPts val="600"/>
              </a:spcAft>
              <a:defRPr sz="1800">
                <a:solidFill>
                  <a:srgbClr val="333333"/>
                </a:solidFill>
              </a:defRPr>
            </a:pPr>
            <a:r>
              <a:t>Infrastructure: Gigafactories (Nevada, Texas, Berlin, Shanghai)</a:t>
            </a:r>
          </a:p>
          <a:p>
            <a:pPr>
              <a:spcAft>
                <a:spcPts val="600"/>
              </a:spcAft>
              <a:defRPr sz="1800">
                <a:solidFill>
                  <a:srgbClr val="333333"/>
                </a:solidFill>
              </a:defRPr>
            </a:pPr>
            <a:r>
              <a:t>Outcome:</a:t>
            </a:r>
          </a:p>
          <a:p>
            <a:pPr>
              <a:spcAft>
                <a:spcPts val="600"/>
              </a:spcAft>
              <a:defRPr sz="1800">
                <a:solidFill>
                  <a:srgbClr val="333333"/>
                </a:solidFill>
              </a:defRPr>
            </a:pPr>
            <a:r>
              <a:t>Leading battery technology</a:t>
            </a:r>
          </a:p>
          <a:p>
            <a:pPr>
              <a:spcAft>
                <a:spcPts val="600"/>
              </a:spcAft>
              <a:defRPr sz="1800">
                <a:solidFill>
                  <a:srgbClr val="333333"/>
                </a:solidFill>
              </a:defRPr>
            </a:pPr>
            <a:r>
              <a:t>Cost advantage over competitors</a:t>
            </a:r>
          </a:p>
          <a:p>
            <a:pPr>
              <a:spcAft>
                <a:spcPts val="600"/>
              </a:spcAft>
              <a:defRPr sz="1800">
                <a:solidFill>
                  <a:srgbClr val="333333"/>
                </a:solidFill>
              </a:defRPr>
            </a:pPr>
            <a:r>
              <a:t>BUT: Massive capital investment ($5B+ per Gigafactory)</a:t>
            </a:r>
          </a:p>
          <a:p>
            <a:pPr>
              <a:spcAft>
                <a:spcPts val="1000"/>
              </a:spcAft>
              <a:defRPr sz="1800">
                <a:solidFill>
                  <a:srgbClr val="333333"/>
                </a:solidFill>
              </a:defRPr>
            </a:pPr>
            <a:r>
              <a:t>2. Electric Drive Units (Motors, Inverters) — Decision: MAKE (in-house design and manufacturing)</a:t>
            </a:r>
          </a:p>
          <a:p>
            <a:pPr>
              <a:spcAft>
                <a:spcPts val="600"/>
              </a:spcAft>
              <a:defRPr sz="1800">
                <a:solidFill>
                  <a:srgbClr val="333333"/>
                </a:solidFill>
              </a:defRPr>
            </a:pPr>
            <a:r>
              <a:t>Rationale:</a:t>
            </a:r>
          </a:p>
          <a:p>
            <a:pPr>
              <a:spcAft>
                <a:spcPts val="600"/>
              </a:spcAft>
              <a:defRPr sz="1800">
                <a:solidFill>
                  <a:srgbClr val="333333"/>
                </a:solidFill>
              </a:defRPr>
            </a:pPr>
            <a:r>
              <a:t>Performance differentiation</a:t>
            </a:r>
          </a:p>
          <a:p>
            <a:pPr>
              <a:spcAft>
                <a:spcPts val="600"/>
              </a:spcAft>
              <a:defRPr sz="1800">
                <a:solidFill>
                  <a:srgbClr val="333333"/>
                </a:solidFill>
              </a:defRPr>
            </a:pPr>
            <a:r>
              <a:t>Tight integration with battery and vehicle controls</a:t>
            </a:r>
          </a:p>
          <a:p>
            <a:pPr>
              <a:spcAft>
                <a:spcPts val="600"/>
              </a:spcAft>
              <a:defRPr sz="1800">
                <a:solidFill>
                  <a:srgbClr val="333333"/>
                </a:solidFill>
              </a:defRPr>
            </a:pPr>
            <a:r>
              <a:t>IP ownership</a:t>
            </a:r>
          </a:p>
          <a:p>
            <a:pPr>
              <a:spcAft>
                <a:spcPts val="600"/>
              </a:spcAft>
              <a:defRPr sz="1800">
                <a:solidFill>
                  <a:srgbClr val="333333"/>
                </a:solidFill>
              </a:defRPr>
            </a:pPr>
            <a:r>
              <a:t>Infrastructure: Motor production lines at Fremont, Nevada</a:t>
            </a:r>
          </a:p>
          <a:p>
            <a:pPr>
              <a:spcAft>
                <a:spcPts val="600"/>
              </a:spcAft>
              <a:defRPr sz="1800">
                <a:solidFill>
                  <a:srgbClr val="333333"/>
                </a:solidFill>
              </a:defRPr>
            </a:pPr>
            <a:r>
              <a:t>Outcome: Industry-leading efficiency, performance</a:t>
            </a:r>
          </a:p>
          <a:p>
            <a:pPr>
              <a:spcAft>
                <a:spcPts val="1000"/>
              </a:spcAft>
              <a:defRPr sz="1800">
                <a:solidFill>
                  <a:srgbClr val="333333"/>
                </a:solidFill>
              </a:defRPr>
            </a:pPr>
            <a:r>
              <a:t>3. Autonomous Driving Software and Hardware — Decision: MAKE (Full Self-Driving software, FSD computer chip)</a:t>
            </a:r>
          </a:p>
          <a:p>
            <a:pPr>
              <a:spcAft>
                <a:spcPts val="600"/>
              </a:spcAft>
              <a:defRPr sz="1800">
                <a:solidFill>
                  <a:srgbClr val="333333"/>
                </a:solidFill>
              </a:defRPr>
            </a:pPr>
            <a:r>
              <a:t>Rationale:</a:t>
            </a:r>
          </a:p>
          <a:p>
            <a:pPr>
              <a:spcAft>
                <a:spcPts val="600"/>
              </a:spcAft>
              <a:defRPr sz="1800">
                <a:solidFill>
                  <a:srgbClr val="333333"/>
                </a:solidFill>
              </a:defRPr>
            </a:pPr>
            <a:r>
              <a:t>Ultimate competitive differentiator</a:t>
            </a:r>
          </a:p>
          <a:p>
            <a:pPr>
              <a:spcAft>
                <a:spcPts val="600"/>
              </a:spcAft>
              <a:defRPr sz="1800">
                <a:solidFill>
                  <a:srgbClr val="333333"/>
                </a:solidFill>
              </a:defRPr>
            </a:pPr>
            <a:r>
              <a:t>No supplier had capability Tesla needed</a:t>
            </a:r>
          </a:p>
          <a:p>
            <a:pPr>
              <a:spcAft>
                <a:spcPts val="600"/>
              </a:spcAft>
              <a:defRPr sz="1800">
                <a:solidFill>
                  <a:srgbClr val="333333"/>
                </a:solidFill>
              </a:defRPr>
            </a:pPr>
            <a:r>
              <a:t>Recurring revenue model (FSD subscriptions)</a:t>
            </a:r>
          </a:p>
          <a:p>
            <a:pPr>
              <a:spcAft>
                <a:spcPts val="600"/>
              </a:spcAft>
              <a:defRPr sz="1800">
                <a:solidFill>
                  <a:srgbClr val="333333"/>
                </a:solidFill>
              </a:defRPr>
            </a:pPr>
            <a:r>
              <a:t>Infrastructure: AI training supercomputers (Dojo), massive fleet data collection</a:t>
            </a:r>
          </a:p>
          <a:p>
            <a:pPr>
              <a:spcAft>
                <a:spcPts val="600"/>
              </a:spcAft>
              <a:defRPr sz="1800">
                <a:solidFill>
                  <a:srgbClr val="333333"/>
                </a:solidFill>
              </a:defRPr>
            </a:pPr>
            <a:r>
              <a:t>Outcome: Leading autonomous capability, but still pending full autonomy</a:t>
            </a:r>
          </a:p>
          <a:p>
            <a:pPr>
              <a:spcAft>
                <a:spcPts val="1000"/>
              </a:spcAft>
              <a:defRPr sz="1800">
                <a:solidFill>
                  <a:srgbClr val="333333"/>
                </a:solidFill>
              </a:defRPr>
            </a:pPr>
            <a:r>
              <a:t>4. Supercharger Network — Decision: MAKE (proprietary charging infrastructure)</a:t>
            </a:r>
          </a:p>
          <a:p>
            <a:pPr>
              <a:spcAft>
                <a:spcPts val="600"/>
              </a:spcAft>
              <a:defRPr sz="1800">
                <a:solidFill>
                  <a:srgbClr val="333333"/>
                </a:solidFill>
              </a:defRPr>
            </a:pPr>
            <a:r>
              <a:t>Rationale:</a:t>
            </a:r>
          </a:p>
          <a:p>
            <a:pPr>
              <a:spcAft>
                <a:spcPts val="600"/>
              </a:spcAft>
              <a:defRPr sz="1800">
                <a:solidFill>
                  <a:srgbClr val="333333"/>
                </a:solidFill>
              </a:defRPr>
            </a:pPr>
            <a:r>
              <a:t>Enable long-distance EV travel (infrastructure didn't exist)</a:t>
            </a:r>
          </a:p>
          <a:p>
            <a:pPr>
              <a:spcAft>
                <a:spcPts val="600"/>
              </a:spcAft>
              <a:defRPr sz="1800">
                <a:solidFill>
                  <a:srgbClr val="333333"/>
                </a:solidFill>
              </a:defRPr>
            </a:pPr>
            <a:r>
              <a:t>Customer experience control</a:t>
            </a:r>
          </a:p>
          <a:p>
            <a:pPr>
              <a:spcAft>
                <a:spcPts val="600"/>
              </a:spcAft>
              <a:defRPr sz="1800">
                <a:solidFill>
                  <a:srgbClr val="333333"/>
                </a:solidFill>
              </a:defRPr>
            </a:pPr>
            <a:r>
              <a:t>Brand differentiation</a:t>
            </a:r>
          </a:p>
          <a:p>
            <a:pPr>
              <a:spcAft>
                <a:spcPts val="600"/>
              </a:spcAft>
              <a:defRPr sz="1800">
                <a:solidFill>
                  <a:srgbClr val="333333"/>
                </a:solidFill>
              </a:defRPr>
            </a:pPr>
            <a:r>
              <a:t>Infrastructure: 50,000+ Superchargers globally</a:t>
            </a:r>
          </a:p>
          <a:p>
            <a:pPr>
              <a:spcAft>
                <a:spcPts val="600"/>
              </a:spcAft>
              <a:defRPr sz="1800">
                <a:solidFill>
                  <a:srgbClr val="333333"/>
                </a:solidFill>
              </a:defRPr>
            </a:pPr>
            <a:r>
              <a:t>Outcome: Competitive moat, but now opening to other OEMs (new revenue stream)</a:t>
            </a:r>
          </a:p>
          <a:p>
            <a:pPr>
              <a:spcAft>
                <a:spcPts val="1000"/>
              </a:spcAft>
              <a:defRPr sz="1800">
                <a:solidFill>
                  <a:srgbClr val="333333"/>
                </a:solidFill>
              </a:defRPr>
            </a:pPr>
            <a:r>
              <a:t>Tesla's BUY Decisions (Still Rely on Suppliers):</a:t>
            </a:r>
          </a:p>
          <a:p>
            <a:pPr>
              <a:spcAft>
                <a:spcPts val="1000"/>
              </a:spcAft>
              <a:defRPr sz="1800">
                <a:solidFill>
                  <a:srgbClr val="333333"/>
                </a:solidFill>
              </a:defRPr>
            </a:pPr>
            <a:r>
              <a:t>1. Semiconductors — Decision: BUY (from suppliers like Infineon, NXP, AMD)</a:t>
            </a:r>
          </a:p>
          <a:p>
            <a:pPr>
              <a:spcAft>
                <a:spcPts val="600"/>
              </a:spcAft>
              <a:defRPr sz="1800">
                <a:solidFill>
                  <a:srgbClr val="333333"/>
                </a:solidFill>
              </a:defRPr>
            </a:pPr>
            <a:r>
              <a:t>Rationale: Not core competency, massive capital to enter</a:t>
            </a:r>
          </a:p>
          <a:p>
            <a:pPr>
              <a:spcAft>
                <a:spcPts val="600"/>
              </a:spcAft>
              <a:defRPr sz="1800">
                <a:solidFill>
                  <a:srgbClr val="333333"/>
                </a:solidFill>
              </a:defRPr>
            </a:pPr>
            <a:r>
              <a:t>Partnership: Close collaboration with AMD (infotainment), Nvidia (early autonomy)</a:t>
            </a:r>
          </a:p>
          <a:p>
            <a:pPr>
              <a:spcAft>
                <a:spcPts val="600"/>
              </a:spcAft>
              <a:defRPr sz="1800">
                <a:solidFill>
                  <a:srgbClr val="333333"/>
                </a:solidFill>
              </a:defRPr>
            </a:pPr>
            <a:r>
              <a:t>Challenge: Affected by chip shortage, but recovered faster than traditional OEMs</a:t>
            </a:r>
          </a:p>
          <a:p>
            <a:pPr>
              <a:spcAft>
                <a:spcPts val="1000"/>
              </a:spcAft>
              <a:defRPr sz="1800">
                <a:solidFill>
                  <a:srgbClr val="333333"/>
                </a:solidFill>
              </a:defRPr>
            </a:pPr>
            <a:r>
              <a:t>2. Cameras and Sensors — Decision: BUY (cameras from suppliers, no lidar - strategic choice)</a:t>
            </a:r>
          </a:p>
          <a:p>
            <a:pPr>
              <a:spcAft>
                <a:spcPts val="600"/>
              </a:spcAft>
              <a:defRPr sz="1800">
                <a:solidFill>
                  <a:srgbClr val="333333"/>
                </a:solidFill>
              </a:defRPr>
            </a:pPr>
            <a:r>
              <a:t>Rationale: Sensor manufacturing not core, focus on software</a:t>
            </a:r>
          </a:p>
          <a:p>
            <a:pPr>
              <a:spcAft>
                <a:spcPts val="1000"/>
              </a:spcAft>
              <a:defRPr sz="1800">
                <a:solidFill>
                  <a:srgbClr val="333333"/>
                </a:solidFill>
              </a:defRPr>
            </a:pPr>
            <a:r>
              <a:t>3. Seats, HVAC, Interior — Decision: BUY (though more vertical than traditional OEMs)</a:t>
            </a:r>
          </a:p>
          <a:p>
            <a:pPr>
              <a:spcAft>
                <a:spcPts val="600"/>
              </a:spcAft>
              <a:defRPr sz="1800">
                <a:solidFill>
                  <a:srgbClr val="333333"/>
                </a:solidFill>
              </a:defRPr>
            </a:pPr>
            <a:r>
              <a:t>Rationale: Lower strategic value, cost-effective to outsource</a:t>
            </a:r>
          </a:p>
          <a:p>
            <a:pPr>
              <a:spcAft>
                <a:spcPts val="1000"/>
              </a:spcAft>
              <a:defRPr sz="1800">
                <a:solidFill>
                  <a:srgbClr val="333333"/>
                </a:solidFill>
              </a:defRPr>
            </a:pPr>
            <a:r>
              <a:t>Comparison to Traditional OEM (e.g., Ford, GM):</a:t>
            </a:r>
          </a:p>
          <a:p>
            <a:pPr>
              <a:spcAft>
                <a:spcPts val="1000"/>
              </a:spcAft>
              <a:defRPr sz="1800">
                <a:solidFill>
                  <a:srgbClr val="333333"/>
                </a:solidFill>
              </a:defRPr>
            </a:pPr>
            <a:r>
              <a:t>| Component | Tesla | Traditional OEM |</a:t>
            </a:r>
          </a:p>
          <a:p>
            <a:pPr>
              <a:spcAft>
                <a:spcPts val="1000"/>
              </a:spcAft>
              <a:defRPr sz="1800">
                <a:solidFill>
                  <a:srgbClr val="333333"/>
                </a:solidFill>
              </a:defRPr>
            </a:pPr>
            <a:r>
              <a:t>|-----------|-------|-----------------|</a:t>
            </a:r>
          </a:p>
          <a:p>
            <a:pPr>
              <a:spcAft>
                <a:spcPts val="1000"/>
              </a:spcAft>
              <a:defRPr sz="1800">
                <a:solidFill>
                  <a:srgbClr val="333333"/>
                </a:solidFill>
              </a:defRPr>
            </a:pPr>
            <a:r>
              <a:t>| Batteries | MAKE (strategic) | BUY (LG, CATL, Panasonic) - transitioning to MAKE |</a:t>
            </a:r>
          </a:p>
          <a:p>
            <a:pPr>
              <a:spcAft>
                <a:spcPts val="1000"/>
              </a:spcAft>
              <a:defRPr sz="1800">
                <a:solidFill>
                  <a:srgbClr val="333333"/>
                </a:solidFill>
              </a:defRPr>
            </a:pPr>
            <a:r>
              <a:t>| Motors | MAKE | BUY (Bosch, ZF, BorgWarner) |</a:t>
            </a:r>
          </a:p>
          <a:p>
            <a:pPr>
              <a:spcAft>
                <a:spcPts val="1000"/>
              </a:spcAft>
              <a:defRPr sz="1800">
                <a:solidFill>
                  <a:srgbClr val="333333"/>
                </a:solidFill>
              </a:defRPr>
            </a:pPr>
            <a:r>
              <a:t>| Software | MAKE (core) | Historically BUY, now transitioning to MAKE |</a:t>
            </a:r>
          </a:p>
          <a:p>
            <a:pPr>
              <a:spcAft>
                <a:spcPts val="1000"/>
              </a:spcAft>
              <a:defRPr sz="1800">
                <a:solidFill>
                  <a:srgbClr val="333333"/>
                </a:solidFill>
              </a:defRPr>
            </a:pPr>
            <a:r>
              <a:t>| Infotainment | MAKE | BUY (suppliers) |</a:t>
            </a:r>
          </a:p>
          <a:p>
            <a:pPr>
              <a:spcAft>
                <a:spcPts val="1000"/>
              </a:spcAft>
              <a:defRPr sz="1800">
                <a:solidFill>
                  <a:srgbClr val="333333"/>
                </a:solidFill>
              </a:defRPr>
            </a:pPr>
            <a:r>
              <a:t>| Body/Chassis | MAKE (Gigacasting) | MAKE (core competency) |</a:t>
            </a:r>
          </a:p>
          <a:p>
            <a:pPr>
              <a:spcAft>
                <a:spcPts val="1000"/>
              </a:spcAft>
              <a:defRPr sz="1800">
                <a:solidFill>
                  <a:srgbClr val="333333"/>
                </a:solidFill>
              </a:defRPr>
            </a:pPr>
            <a:r>
              <a:t>| Final Assembly | MAKE | MAKE (core competency) |</a:t>
            </a:r>
          </a:p>
          <a:p>
            <a:pPr>
              <a:spcAft>
                <a:spcPts val="1000"/>
              </a:spcAft>
              <a:defRPr sz="1800">
                <a:solidFill>
                  <a:srgbClr val="333333"/>
                </a:solidFill>
              </a:defRPr>
            </a:pPr>
            <a:r>
              <a:t>Tesla vertical integration: ~50% (much higher than industry average of 20-30%)</a:t>
            </a:r>
          </a:p>
          <a:p>
            <a:pPr>
              <a:spcAft>
                <a:spcPts val="1000"/>
              </a:spcAft>
              <a:defRPr sz="1800">
                <a:solidFill>
                  <a:srgbClr val="333333"/>
                </a:solidFill>
              </a:defRPr>
            </a:pPr>
            <a:r>
              <a:t>Tradeoffs of Tesla's Strategy:</a:t>
            </a:r>
          </a:p>
          <a:p>
            <a:pPr>
              <a:spcAft>
                <a:spcPts val="1000"/>
              </a:spcAft>
              <a:defRPr sz="1800">
                <a:solidFill>
                  <a:srgbClr val="333333"/>
                </a:solidFill>
              </a:defRPr>
            </a:pPr>
            <a:r>
              <a:t>Advantages: — Speed (no negotiations, aligned incentives)</a:t>
            </a:r>
          </a:p>
          <a:p>
            <a:pPr>
              <a:spcAft>
                <a:spcPts val="600"/>
              </a:spcAft>
              <a:defRPr sz="1800">
                <a:solidFill>
                  <a:srgbClr val="333333"/>
                </a:solidFill>
              </a:defRPr>
            </a:pPr>
            <a:r>
              <a:t>Control (quality, IP, roadmap)</a:t>
            </a:r>
          </a:p>
          <a:p>
            <a:pPr>
              <a:spcAft>
                <a:spcPts val="600"/>
              </a:spcAft>
              <a:defRPr sz="1800">
                <a:solidFill>
                  <a:srgbClr val="333333"/>
                </a:solidFill>
              </a:defRPr>
            </a:pPr>
            <a:r>
              <a:t>Cost (no supplier margins, economies at scale)</a:t>
            </a:r>
          </a:p>
          <a:p>
            <a:pPr>
              <a:spcAft>
                <a:spcPts val="600"/>
              </a:spcAft>
              <a:defRPr sz="1800">
                <a:solidFill>
                  <a:srgbClr val="333333"/>
                </a:solidFill>
              </a:defRPr>
            </a:pPr>
            <a:r>
              <a:t>Innovation (rapid iteration, less complexity)</a:t>
            </a:r>
          </a:p>
          <a:p>
            <a:pPr>
              <a:spcAft>
                <a:spcPts val="1000"/>
              </a:spcAft>
              <a:defRPr sz="1800">
                <a:solidFill>
                  <a:srgbClr val="333333"/>
                </a:solidFill>
              </a:defRPr>
            </a:pPr>
            <a:r>
              <a:t>Disadvantages: — Capital intensity (billions in infrastructure)</a:t>
            </a:r>
          </a:p>
          <a:p>
            <a:pPr>
              <a:spcAft>
                <a:spcPts val="600"/>
              </a:spcAft>
              <a:defRPr sz="1800">
                <a:solidFill>
                  <a:srgbClr val="333333"/>
                </a:solidFill>
              </a:defRPr>
            </a:pPr>
            <a:r>
              <a:t>Risk concentration (if in-house fails, no fallback)</a:t>
            </a:r>
          </a:p>
          <a:p>
            <a:pPr>
              <a:spcAft>
                <a:spcPts val="600"/>
              </a:spcAft>
              <a:defRPr sz="1800">
                <a:solidFill>
                  <a:srgbClr val="333333"/>
                </a:solidFill>
              </a:defRPr>
            </a:pPr>
            <a:r>
              <a:t>Capability requirements (must hire/build expertise)</a:t>
            </a:r>
          </a:p>
          <a:p>
            <a:pPr>
              <a:spcAft>
                <a:spcPts val="600"/>
              </a:spcAft>
              <a:defRPr sz="1800">
                <a:solidFill>
                  <a:srgbClr val="333333"/>
                </a:solidFill>
              </a:defRPr>
            </a:pPr>
            <a:r>
              <a:t>Scalability challenges (stretched during ramp-ups)</a:t>
            </a:r>
          </a:p>
          <a:p>
            <a:pPr>
              <a:spcAft>
                <a:spcPts val="1000"/>
              </a:spcAft>
              <a:defRPr sz="1800">
                <a:solidFill>
                  <a:srgbClr val="333333"/>
                </a:solidFill>
              </a:defRPr>
            </a:pPr>
            <a:r>
              <a:t>Results: — Tesla achieved industry-leading margins (25%+ vs 5-10% for traditional OEMs)</a:t>
            </a:r>
          </a:p>
          <a:p>
            <a:pPr>
              <a:spcAft>
                <a:spcPts val="600"/>
              </a:spcAft>
              <a:defRPr sz="1800">
                <a:solidFill>
                  <a:srgbClr val="333333"/>
                </a:solidFill>
              </a:defRPr>
            </a:pPr>
            <a:r>
              <a:t>Faster innovation cycles (OTA updates, rapid design changes)</a:t>
            </a:r>
          </a:p>
          <a:p>
            <a:pPr>
              <a:spcAft>
                <a:spcPts val="600"/>
              </a:spcAft>
              <a:defRPr sz="1800">
                <a:solidFill>
                  <a:srgbClr val="333333"/>
                </a:solidFill>
              </a:defRPr>
            </a:pPr>
            <a:r>
              <a:t>BUT: Production hell during Model 3 ramp (too much in-house, not enough expertise)</a:t>
            </a:r>
          </a:p>
          <a:p>
            <a:pPr>
              <a:spcAft>
                <a:spcPts val="1000"/>
              </a:spcAft>
              <a:defRPr sz="1800">
                <a:solidFill>
                  <a:srgbClr val="333333"/>
                </a:solidFill>
              </a:defRPr>
            </a:pPr>
            <a:r>
              <a:t>Traditional OEMs Responding: — GM: Ultium battery platform (moving toward MAKE for batteries)</a:t>
            </a:r>
          </a:p>
          <a:p>
            <a:pPr>
              <a:spcAft>
                <a:spcPts val="600"/>
              </a:spcAft>
              <a:defRPr sz="1800">
                <a:solidFill>
                  <a:srgbClr val="333333"/>
                </a:solidFill>
              </a:defRPr>
            </a:pPr>
            <a:r>
              <a:t>Ford: In-house software (Ford Blue Oval Embedded Software - MAKE decision)</a:t>
            </a:r>
          </a:p>
          <a:p>
            <a:pPr>
              <a:spcAft>
                <a:spcPts val="600"/>
              </a:spcAft>
              <a:defRPr sz="1800">
                <a:solidFill>
                  <a:srgbClr val="333333"/>
                </a:solidFill>
              </a:defRPr>
            </a:pPr>
            <a:r>
              <a:t>VW: Cariad software unit (MAKE for software)</a:t>
            </a:r>
          </a:p>
          <a:p>
            <a:pPr>
              <a:spcAft>
                <a:spcPts val="600"/>
              </a:spcAft>
              <a:defRPr sz="1800">
                <a:solidFill>
                  <a:srgbClr val="333333"/>
                </a:solidFill>
              </a:defRPr>
            </a:pPr>
            <a:r>
              <a:t>Trend: Strategic components (batteries, software) moving to MAKE</a:t>
            </a:r>
          </a:p>
          <a:p>
            <a:pPr>
              <a:spcAft>
                <a:spcPts val="1000"/>
              </a:spcAft>
              <a:defRPr sz="1800">
                <a:solidFill>
                  <a:srgbClr val="333333"/>
                </a:solidFill>
              </a:defRPr>
            </a:pPr>
            <a:r>
              <a:t>Lessons for systems engineers: — Make vs Buy is strategic, CEO-level decision</a:t>
            </a:r>
          </a:p>
          <a:p>
            <a:pPr>
              <a:spcAft>
                <a:spcPts val="600"/>
              </a:spcAft>
              <a:defRPr sz="1800">
                <a:solidFill>
                  <a:srgbClr val="333333"/>
                </a:solidFill>
              </a:defRPr>
            </a:pPr>
            <a:r>
              <a:t>Vertical integration is a spectrum, not binary</a:t>
            </a:r>
          </a:p>
          <a:p>
            <a:pPr>
              <a:spcAft>
                <a:spcPts val="600"/>
              </a:spcAft>
              <a:defRPr sz="1800">
                <a:solidFill>
                  <a:srgbClr val="333333"/>
                </a:solidFill>
              </a:defRPr>
            </a:pPr>
            <a:r>
              <a:t>Infrastructure investment is enormous - assess ROI carefully</a:t>
            </a:r>
          </a:p>
          <a:p>
            <a:pPr>
              <a:spcAft>
                <a:spcPts val="600"/>
              </a:spcAft>
              <a:defRPr sz="1800">
                <a:solidFill>
                  <a:srgbClr val="333333"/>
                </a:solidFill>
              </a:defRPr>
            </a:pPr>
            <a:r>
              <a:t>Beware of vertical integration for its own sake - align with core competencies</a:t>
            </a:r>
          </a:p>
          <a:p>
            <a:pPr>
              <a:spcAft>
                <a:spcPts val="600"/>
              </a:spcAft>
              <a:defRPr sz="1800">
                <a:solidFill>
                  <a:srgbClr val="333333"/>
                </a:solidFill>
              </a:defRPr>
            </a:pPr>
            <a:r>
              <a:t>Hybrid approaches exist (co-develop, strategic partnerships)</a:t>
            </a:r>
          </a:p>
          <a:p>
            <a:pPr>
              <a:spcAft>
                <a:spcPts val="1000"/>
              </a:spcAft>
              <a:defRPr sz="1800">
                <a:solidFill>
                  <a:srgbClr val="333333"/>
                </a:solidFill>
              </a:defRPr>
            </a:pPr>
            <a:r>
              <a:t>No universal answer — depends on company strategy, capabilities, market position.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Key Takeaways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consolidate what you've learned today:</a:t>
            </a:r>
          </a:p>
          <a:p>
            <a:pPr>
              <a:spcAft>
                <a:spcPts val="1000"/>
              </a:spcAft>
              <a:defRPr sz="1800">
                <a:solidFill>
                  <a:srgbClr val="333333"/>
                </a:solidFill>
              </a:defRPr>
            </a:pPr>
            <a:r>
              <a:t>1. Supplier Relationships are Strategic — Tier suppliers by strategic importance (strategic partners vs transactional)</a:t>
            </a:r>
          </a:p>
          <a:p>
            <a:pPr>
              <a:spcAft>
                <a:spcPts val="600"/>
              </a:spcAft>
              <a:defRPr sz="1800">
                <a:solidFill>
                  <a:srgbClr val="333333"/>
                </a:solidFill>
              </a:defRPr>
            </a:pPr>
            <a:r>
              <a:t>Engagement models: Black box, gray box, white box</a:t>
            </a:r>
          </a:p>
          <a:p>
            <a:pPr>
              <a:spcAft>
                <a:spcPts val="600"/>
              </a:spcAft>
              <a:defRPr sz="1800">
                <a:solidFill>
                  <a:srgbClr val="333333"/>
                </a:solidFill>
              </a:defRPr>
            </a:pPr>
            <a:r>
              <a:t>Performance management through scorecards and reviews</a:t>
            </a:r>
          </a:p>
          <a:p>
            <a:pPr>
              <a:spcAft>
                <a:spcPts val="600"/>
              </a:spcAft>
              <a:defRPr sz="1800">
                <a:solidFill>
                  <a:srgbClr val="333333"/>
                </a:solidFill>
              </a:defRPr>
            </a:pPr>
            <a:r>
              <a:t>Early Supplier Involvement (ESI) for complex components</a:t>
            </a:r>
          </a:p>
          <a:p>
            <a:pPr>
              <a:spcAft>
                <a:spcPts val="1000"/>
              </a:spcAft>
              <a:defRPr sz="1800">
                <a:solidFill>
                  <a:srgbClr val="333333"/>
                </a:solidFill>
              </a:defRPr>
            </a:pPr>
            <a:r>
              <a:t>2. Contracts Enable and Protect — Choose contract type based on risk and certainty (FFP, cost-plus, T&amp;M)</a:t>
            </a:r>
          </a:p>
          <a:p>
            <a:pPr>
              <a:spcAft>
                <a:spcPts val="600"/>
              </a:spcAft>
              <a:defRPr sz="1800">
                <a:solidFill>
                  <a:srgbClr val="333333"/>
                </a:solidFill>
              </a:defRPr>
            </a:pPr>
            <a:r>
              <a:t>Essential clauses: Technical specs, IP ownership, change control, quality, warranty</a:t>
            </a:r>
          </a:p>
          <a:p>
            <a:pPr>
              <a:spcAft>
                <a:spcPts val="600"/>
              </a:spcAft>
              <a:defRPr sz="1800">
                <a:solidFill>
                  <a:srgbClr val="333333"/>
                </a:solidFill>
              </a:defRPr>
            </a:pPr>
            <a:r>
              <a:t>Active contract management: SPI/CPI tracking, milestone reviews</a:t>
            </a:r>
          </a:p>
          <a:p>
            <a:pPr>
              <a:spcAft>
                <a:spcPts val="1000"/>
              </a:spcAft>
              <a:defRPr sz="1800">
                <a:solidFill>
                  <a:srgbClr val="333333"/>
                </a:solidFill>
              </a:defRPr>
            </a:pPr>
            <a:r>
              <a:t>3. Vendor Selection is Systematic — Structured process: RFI → RFQ → Evaluation → Negotiation → Award</a:t>
            </a:r>
          </a:p>
          <a:p>
            <a:pPr>
              <a:spcAft>
                <a:spcPts val="600"/>
              </a:spcAft>
              <a:defRPr sz="1800">
                <a:solidFill>
                  <a:srgbClr val="333333"/>
                </a:solidFill>
              </a:defRPr>
            </a:pPr>
            <a:r>
              <a:t>Weighted multi-criteria scoring (technical, quality, cost, delivery, business)</a:t>
            </a:r>
          </a:p>
          <a:p>
            <a:pPr>
              <a:spcAft>
                <a:spcPts val="600"/>
              </a:spcAft>
              <a:defRPr sz="1800">
                <a:solidFill>
                  <a:srgbClr val="333333"/>
                </a:solidFill>
              </a:defRPr>
            </a:pPr>
            <a:r>
              <a:t>Due diligence: Site visits, reference checks, financial health, risk assessment</a:t>
            </a:r>
          </a:p>
          <a:p>
            <a:pPr>
              <a:spcAft>
                <a:spcPts val="1000"/>
              </a:spcAft>
              <a:defRPr sz="1800">
                <a:solidFill>
                  <a:srgbClr val="333333"/>
                </a:solidFill>
              </a:defRPr>
            </a:pPr>
            <a:r>
              <a:t>4. Make vs Buy is Strategic Decision — Framework: Strategic importance, capability, cost, risk, time-to-market</a:t>
            </a:r>
          </a:p>
          <a:p>
            <a:pPr>
              <a:spcAft>
                <a:spcPts val="600"/>
              </a:spcAft>
              <a:defRPr sz="1800">
                <a:solidFill>
                  <a:srgbClr val="333333"/>
                </a:solidFill>
              </a:defRPr>
            </a:pPr>
            <a:r>
              <a:t>Not permanent - can transition over time (buy initially, make later)</a:t>
            </a:r>
          </a:p>
          <a:p>
            <a:pPr>
              <a:spcAft>
                <a:spcPts val="600"/>
              </a:spcAft>
              <a:defRPr sz="1800">
                <a:solidFill>
                  <a:srgbClr val="333333"/>
                </a:solidFill>
              </a:defRPr>
            </a:pPr>
            <a:r>
              <a:t>Automotive-specific factors: Safety certification, recall liability, long lifecycle</a:t>
            </a:r>
          </a:p>
          <a:p>
            <a:pPr>
              <a:spcAft>
                <a:spcPts val="1000"/>
              </a:spcAft>
              <a:defRPr sz="1800">
                <a:solidFill>
                  <a:srgbClr val="333333"/>
                </a:solidFill>
              </a:defRPr>
            </a:pPr>
            <a:r>
              <a:t>5. Infrastructure Enables Lifecycle — Development infrastructure: Tools, test equipment, IT systems</a:t>
            </a:r>
          </a:p>
          <a:p>
            <a:pPr>
              <a:spcAft>
                <a:spcPts val="600"/>
              </a:spcAft>
              <a:defRPr sz="1800">
                <a:solidFill>
                  <a:srgbClr val="333333"/>
                </a:solidFill>
              </a:defRPr>
            </a:pPr>
            <a:r>
              <a:t>Manufacturing infrastructure: Production lines, quality control</a:t>
            </a:r>
          </a:p>
          <a:p>
            <a:pPr>
              <a:spcAft>
                <a:spcPts val="600"/>
              </a:spcAft>
              <a:defRPr sz="1800">
                <a:solidFill>
                  <a:srgbClr val="333333"/>
                </a:solidFill>
              </a:defRPr>
            </a:pPr>
            <a:r>
              <a:t>Service infrastructure: Diagnostics, training, spare parts</a:t>
            </a:r>
          </a:p>
          <a:p>
            <a:pPr>
              <a:spcAft>
                <a:spcPts val="600"/>
              </a:spcAft>
              <a:defRPr sz="1800">
                <a:solidFill>
                  <a:srgbClr val="333333"/>
                </a:solidFill>
              </a:defRPr>
            </a:pPr>
            <a:r>
              <a:t>Plan early (long lead times), specify as requirements</a:t>
            </a:r>
          </a:p>
          <a:p>
            <a:pPr>
              <a:spcAft>
                <a:spcPts val="1000"/>
              </a:spcAft>
              <a:defRPr sz="1800">
                <a:solidFill>
                  <a:srgbClr val="333333"/>
                </a:solidFill>
              </a:defRPr>
            </a:pPr>
            <a:r>
              <a:t>6. Lifecycle Management is Long-Term — Phases: Development, production, service, end-of-life (25-30 years total)</a:t>
            </a:r>
          </a:p>
          <a:p>
            <a:pPr>
              <a:spcAft>
                <a:spcPts val="600"/>
              </a:spcAft>
              <a:defRPr sz="1800">
                <a:solidFill>
                  <a:srgbClr val="333333"/>
                </a:solidFill>
              </a:defRPr>
            </a:pPr>
            <a:r>
              <a:t>Maintenance: Preventive, predictive, corrective</a:t>
            </a:r>
          </a:p>
          <a:p>
            <a:pPr>
              <a:spcAft>
                <a:spcPts val="600"/>
              </a:spcAft>
              <a:defRPr sz="1800">
                <a:solidFill>
                  <a:srgbClr val="333333"/>
                </a:solidFill>
              </a:defRPr>
            </a:pPr>
            <a:r>
              <a:t>Support: Tiered structure, training, documentation</a:t>
            </a:r>
          </a:p>
          <a:p>
            <a:pPr>
              <a:spcAft>
                <a:spcPts val="600"/>
              </a:spcAft>
              <a:defRPr sz="1800">
                <a:solidFill>
                  <a:srgbClr val="333333"/>
                </a:solidFill>
              </a:defRPr>
            </a:pPr>
            <a:r>
              <a:t>Technology refresh: Obsolescence management, software updates</a:t>
            </a:r>
          </a:p>
          <a:p>
            <a:pPr>
              <a:spcAft>
                <a:spcPts val="1000"/>
              </a:spcAft>
              <a:defRPr sz="1800">
                <a:solidFill>
                  <a:srgbClr val="333333"/>
                </a:solidFill>
              </a:defRPr>
            </a:pPr>
            <a:r>
              <a:t>The Big Picture: Modern systems engineering is 70% about managing suppliers, contracts, and infrastructure. Technical brilliance is necessary but not sufficient. Master the organizational ecosystem.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Connection to Other Sessions and Systems Engineering Framework</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connect today's learning to our broader systems engineering journey:</a:t>
            </a:r>
          </a:p>
          <a:p>
            <a:pPr>
              <a:spcAft>
                <a:spcPts val="1000"/>
              </a:spcAft>
              <a:defRPr sz="1800">
                <a:solidFill>
                  <a:srgbClr val="333333"/>
                </a:solidFill>
              </a:defRPr>
            </a:pPr>
            <a:r>
              <a:t>Foundation from Earlier Sessions:</a:t>
            </a:r>
          </a:p>
          <a:p>
            <a:pPr>
              <a:spcAft>
                <a:spcPts val="1000"/>
              </a:spcAft>
              <a:defRPr sz="1800">
                <a:solidFill>
                  <a:srgbClr val="333333"/>
                </a:solidFill>
              </a:defRPr>
            </a:pPr>
            <a:r>
              <a:t>Session 2 (SE Fundamentals): ISO/IEC 15288 includes Agreement and Enabling Processes</a:t>
            </a:r>
          </a:p>
          <a:p>
            <a:pPr>
              <a:spcAft>
                <a:spcPts val="600"/>
              </a:spcAft>
              <a:defRPr sz="1800">
                <a:solidFill>
                  <a:srgbClr val="333333"/>
                </a:solidFill>
              </a:defRPr>
            </a:pPr>
            <a:r>
              <a:t>Today's content is from those process groups</a:t>
            </a:r>
          </a:p>
          <a:p>
            <a:pPr>
              <a:spcAft>
                <a:spcPts val="600"/>
              </a:spcAft>
              <a:defRPr sz="1800">
                <a:solidFill>
                  <a:srgbClr val="333333"/>
                </a:solidFill>
              </a:defRPr>
            </a:pPr>
            <a:r>
              <a:t>Agreement Processes: Acquisition, supply</a:t>
            </a:r>
          </a:p>
          <a:p>
            <a:pPr>
              <a:spcAft>
                <a:spcPts val="600"/>
              </a:spcAft>
              <a:defRPr sz="1800">
                <a:solidFill>
                  <a:srgbClr val="333333"/>
                </a:solidFill>
              </a:defRPr>
            </a:pPr>
            <a:r>
              <a:t>Enabling Processes: Infrastructure management, asset management</a:t>
            </a:r>
          </a:p>
          <a:p>
            <a:pPr>
              <a:spcAft>
                <a:spcPts val="1000"/>
              </a:spcAft>
              <a:defRPr sz="1800">
                <a:solidFill>
                  <a:srgbClr val="333333"/>
                </a:solidFill>
              </a:defRPr>
            </a:pPr>
            <a:r>
              <a:t>Session 4 (Requirements): Supplier requirements and infrastructure requirements</a:t>
            </a:r>
          </a:p>
          <a:p>
            <a:pPr>
              <a:spcAft>
                <a:spcPts val="600"/>
              </a:spcAft>
              <a:defRPr sz="1800">
                <a:solidFill>
                  <a:srgbClr val="333333"/>
                </a:solidFill>
              </a:defRPr>
            </a:pPr>
            <a:r>
              <a:t>Flow-down to suppliers</a:t>
            </a:r>
          </a:p>
          <a:p>
            <a:pPr>
              <a:spcAft>
                <a:spcPts val="600"/>
              </a:spcAft>
              <a:defRPr sz="1800">
                <a:solidFill>
                  <a:srgbClr val="333333"/>
                </a:solidFill>
              </a:defRPr>
            </a:pPr>
            <a:r>
              <a:t>Traceability across organizational boundaries</a:t>
            </a:r>
          </a:p>
          <a:p>
            <a:pPr>
              <a:spcAft>
                <a:spcPts val="1000"/>
              </a:spcAft>
              <a:defRPr sz="1800">
                <a:solidFill>
                  <a:srgbClr val="333333"/>
                </a:solidFill>
              </a:defRPr>
            </a:pPr>
            <a:r>
              <a:t>Session 5 (Architecture): Make vs buy decisions shape architecture</a:t>
            </a:r>
          </a:p>
          <a:p>
            <a:pPr>
              <a:spcAft>
                <a:spcPts val="600"/>
              </a:spcAft>
              <a:defRPr sz="1800">
                <a:solidFill>
                  <a:srgbClr val="333333"/>
                </a:solidFill>
              </a:defRPr>
            </a:pPr>
            <a:r>
              <a:t>Interface definitions between OEM and supplier</a:t>
            </a:r>
          </a:p>
          <a:p>
            <a:pPr>
              <a:spcAft>
                <a:spcPts val="600"/>
              </a:spcAft>
              <a:defRPr sz="1800">
                <a:solidFill>
                  <a:srgbClr val="333333"/>
                </a:solidFill>
              </a:defRPr>
            </a:pPr>
            <a:r>
              <a:t>Allocation of requirements to suppliers</a:t>
            </a:r>
          </a:p>
          <a:p>
            <a:pPr>
              <a:spcAft>
                <a:spcPts val="1000"/>
              </a:spcAft>
              <a:defRPr sz="1800">
                <a:solidFill>
                  <a:srgbClr val="333333"/>
                </a:solidFill>
              </a:defRPr>
            </a:pPr>
            <a:r>
              <a:t>Integration with Parallel Sessions:</a:t>
            </a:r>
          </a:p>
          <a:p>
            <a:pPr>
              <a:spcAft>
                <a:spcPts val="1000"/>
              </a:spcAft>
              <a:defRPr sz="1800">
                <a:solidFill>
                  <a:srgbClr val="333333"/>
                </a:solidFill>
              </a:defRPr>
            </a:pPr>
            <a:r>
              <a:t>Session 9 (Project and Risk Management):</a:t>
            </a:r>
          </a:p>
          <a:p>
            <a:pPr>
              <a:spcAft>
                <a:spcPts val="600"/>
              </a:spcAft>
              <a:defRPr sz="1800">
                <a:solidFill>
                  <a:srgbClr val="333333"/>
                </a:solidFill>
              </a:defRPr>
            </a:pPr>
            <a:r>
              <a:t>Supplier risks in risk register</a:t>
            </a:r>
          </a:p>
          <a:p>
            <a:pPr>
              <a:spcAft>
                <a:spcPts val="600"/>
              </a:spcAft>
              <a:defRPr sz="1800">
                <a:solidFill>
                  <a:srgbClr val="333333"/>
                </a:solidFill>
              </a:defRPr>
            </a:pPr>
            <a:r>
              <a:t>Schedule dependencies on supplier deliveries</a:t>
            </a:r>
          </a:p>
          <a:p>
            <a:pPr>
              <a:spcAft>
                <a:spcPts val="600"/>
              </a:spcAft>
              <a:defRPr sz="1800">
                <a:solidFill>
                  <a:srgbClr val="333333"/>
                </a:solidFill>
              </a:defRPr>
            </a:pPr>
            <a:r>
              <a:t>Infrastructure dependencies in project plan</a:t>
            </a:r>
          </a:p>
          <a:p>
            <a:pPr>
              <a:spcAft>
                <a:spcPts val="1000"/>
              </a:spcAft>
              <a:defRPr sz="1800">
                <a:solidFill>
                  <a:srgbClr val="333333"/>
                </a:solidFill>
              </a:defRPr>
            </a:pPr>
            <a:r>
              <a:t>Session 10 (Decision and Quality Management):</a:t>
            </a:r>
          </a:p>
          <a:p>
            <a:pPr>
              <a:spcAft>
                <a:spcPts val="600"/>
              </a:spcAft>
              <a:defRPr sz="1800">
                <a:solidFill>
                  <a:srgbClr val="333333"/>
                </a:solidFill>
              </a:defRPr>
            </a:pPr>
            <a:r>
              <a:t>Make vs buy uses decision analysis frameworks (MCDA)</a:t>
            </a:r>
          </a:p>
          <a:p>
            <a:pPr>
              <a:spcAft>
                <a:spcPts val="600"/>
              </a:spcAft>
              <a:defRPr sz="1800">
                <a:solidFill>
                  <a:srgbClr val="333333"/>
                </a:solidFill>
              </a:defRPr>
            </a:pPr>
            <a:r>
              <a:t>Supplier quality management (critical parameter management)</a:t>
            </a:r>
          </a:p>
          <a:p>
            <a:pPr>
              <a:spcAft>
                <a:spcPts val="1000"/>
              </a:spcAft>
              <a:defRPr sz="1800">
                <a:solidFill>
                  <a:srgbClr val="333333"/>
                </a:solidFill>
              </a:defRPr>
            </a:pPr>
            <a:r>
              <a:t>What Builds on Today:</a:t>
            </a:r>
          </a:p>
          <a:p>
            <a:pPr>
              <a:spcAft>
                <a:spcPts val="1000"/>
              </a:spcAft>
              <a:defRPr sz="1800">
                <a:solidFill>
                  <a:srgbClr val="333333"/>
                </a:solidFill>
              </a:defRPr>
            </a:pPr>
            <a:r>
              <a:t>Session 12 (Safety and Security):</a:t>
            </a:r>
          </a:p>
          <a:p>
            <a:pPr>
              <a:spcAft>
                <a:spcPts val="600"/>
              </a:spcAft>
              <a:defRPr sz="1800">
                <a:solidFill>
                  <a:srgbClr val="333333"/>
                </a:solidFill>
              </a:defRPr>
            </a:pPr>
            <a:r>
              <a:t>Safety requirements flow to suppliers (ISO 26262)</a:t>
            </a:r>
          </a:p>
          <a:p>
            <a:pPr>
              <a:spcAft>
                <a:spcPts val="600"/>
              </a:spcAft>
              <a:defRPr sz="1800">
                <a:solidFill>
                  <a:srgbClr val="333333"/>
                </a:solidFill>
              </a:defRPr>
            </a:pPr>
            <a:r>
              <a:t>Cybersecurity in supplier components (ISO 21434)</a:t>
            </a:r>
          </a:p>
          <a:p>
            <a:pPr>
              <a:spcAft>
                <a:spcPts val="600"/>
              </a:spcAft>
              <a:defRPr sz="1800">
                <a:solidFill>
                  <a:srgbClr val="333333"/>
                </a:solidFill>
              </a:defRPr>
            </a:pPr>
            <a:r>
              <a:t>Supplier audits for safety compliance</a:t>
            </a:r>
          </a:p>
          <a:p>
            <a:pPr>
              <a:spcAft>
                <a:spcPts val="1000"/>
              </a:spcAft>
              <a:defRPr sz="1800">
                <a:solidFill>
                  <a:srgbClr val="333333"/>
                </a:solidFill>
              </a:defRPr>
            </a:pPr>
            <a:r>
              <a:t>Session 13 (Lifecycle Cost and TCO):</a:t>
            </a:r>
          </a:p>
          <a:p>
            <a:pPr>
              <a:spcAft>
                <a:spcPts val="600"/>
              </a:spcAft>
              <a:defRPr sz="1800">
                <a:solidFill>
                  <a:srgbClr val="333333"/>
                </a:solidFill>
              </a:defRPr>
            </a:pPr>
            <a:r>
              <a:t>Total Cost of Ownership includes supplier costs, infrastructure CAPEX/OPEX</a:t>
            </a:r>
          </a:p>
          <a:p>
            <a:pPr>
              <a:spcAft>
                <a:spcPts val="600"/>
              </a:spcAft>
              <a:defRPr sz="1800">
                <a:solidFill>
                  <a:srgbClr val="333333"/>
                </a:solidFill>
              </a:defRPr>
            </a:pPr>
            <a:r>
              <a:t>Make vs buy cost modeling</a:t>
            </a:r>
          </a:p>
          <a:p>
            <a:pPr>
              <a:spcAft>
                <a:spcPts val="600"/>
              </a:spcAft>
              <a:defRPr sz="1800">
                <a:solidFill>
                  <a:srgbClr val="333333"/>
                </a:solidFill>
              </a:defRPr>
            </a:pPr>
            <a:r>
              <a:t>Service and support cost analysis</a:t>
            </a:r>
          </a:p>
          <a:p>
            <a:pPr>
              <a:spcAft>
                <a:spcPts val="1000"/>
              </a:spcAft>
              <a:defRPr sz="1800">
                <a:solidFill>
                  <a:srgbClr val="333333"/>
                </a:solidFill>
              </a:defRPr>
            </a:pPr>
            <a:r>
              <a:t>Session 15 (Technical Management and Enabling Processes):</a:t>
            </a:r>
          </a:p>
          <a:p>
            <a:pPr>
              <a:spcAft>
                <a:spcPts val="600"/>
              </a:spcAft>
              <a:defRPr sz="1800">
                <a:solidFill>
                  <a:srgbClr val="333333"/>
                </a:solidFill>
              </a:defRPr>
            </a:pPr>
            <a:r>
              <a:t>Configuration management across suppliers</a:t>
            </a:r>
          </a:p>
          <a:p>
            <a:pPr>
              <a:spcAft>
                <a:spcPts val="600"/>
              </a:spcAft>
              <a:defRPr sz="1800">
                <a:solidFill>
                  <a:srgbClr val="333333"/>
                </a:solidFill>
              </a:defRPr>
            </a:pPr>
            <a:r>
              <a:t>Information management (data exchange with suppliers)</a:t>
            </a:r>
          </a:p>
          <a:p>
            <a:pPr>
              <a:spcAft>
                <a:spcPts val="600"/>
              </a:spcAft>
              <a:defRPr sz="1800">
                <a:solidFill>
                  <a:srgbClr val="333333"/>
                </a:solidFill>
              </a:defRPr>
            </a:pPr>
            <a:r>
              <a:t>Infrastructure management processes</a:t>
            </a:r>
          </a:p>
          <a:p>
            <a:pPr>
              <a:spcAft>
                <a:spcPts val="1000"/>
              </a:spcAft>
              <a:defRPr sz="1800">
                <a:solidFill>
                  <a:srgbClr val="333333"/>
                </a:solidFill>
              </a:defRPr>
            </a:pPr>
            <a:r>
              <a:t>Systems Engineering as Integration Discipline:</a:t>
            </a:r>
          </a:p>
          <a:p>
            <a:pPr>
              <a:spcAft>
                <a:spcPts val="1000"/>
              </a:spcAft>
              <a:defRPr sz="1800">
                <a:solidFill>
                  <a:srgbClr val="333333"/>
                </a:solidFill>
              </a:defRPr>
            </a:pPr>
            <a:r>
              <a:t>Today's session highlights that systems engineers integrate:</a:t>
            </a:r>
          </a:p>
          <a:p>
            <a:pPr>
              <a:spcAft>
                <a:spcPts val="600"/>
              </a:spcAft>
              <a:defRPr sz="1800">
                <a:solidFill>
                  <a:srgbClr val="333333"/>
                </a:solidFill>
              </a:defRPr>
            </a:pPr>
            <a:r>
              <a:t>Technical: Requirements, design, verification</a:t>
            </a:r>
          </a:p>
          <a:p>
            <a:pPr>
              <a:spcAft>
                <a:spcPts val="600"/>
              </a:spcAft>
              <a:defRPr sz="1800">
                <a:solidFill>
                  <a:srgbClr val="333333"/>
                </a:solidFill>
              </a:defRPr>
            </a:pPr>
            <a:r>
              <a:t>Organizational: Suppliers, contracts, partnerships</a:t>
            </a:r>
          </a:p>
          <a:p>
            <a:pPr>
              <a:spcAft>
                <a:spcPts val="600"/>
              </a:spcAft>
              <a:defRPr sz="1800">
                <a:solidFill>
                  <a:srgbClr val="333333"/>
                </a:solidFill>
              </a:defRPr>
            </a:pPr>
            <a:r>
              <a:t>Operational: Infrastructure, lifecycle support</a:t>
            </a:r>
          </a:p>
          <a:p>
            <a:pPr>
              <a:spcAft>
                <a:spcPts val="1000"/>
              </a:spcAft>
              <a:defRPr sz="1800">
                <a:solidFill>
                  <a:srgbClr val="333333"/>
                </a:solidFill>
              </a:defRPr>
            </a:pPr>
            <a:r>
              <a:t>You're not just engineering a product - you're engineering an ECOSYSTEM that develops, produces, and supports that product for 25+ years.</a:t>
            </a:r>
          </a:p>
          <a:p>
            <a:pPr>
              <a:spcAft>
                <a:spcPts val="1000"/>
              </a:spcAft>
              <a:defRPr sz="1800">
                <a:solidFill>
                  <a:srgbClr val="333333"/>
                </a:solidFill>
              </a:defRPr>
            </a:pPr>
            <a:r>
              <a:t>Professional reality: Senior systems engineers spend &gt;50% of time on agreements and infrastructure. It's not 'overhead' - it's core 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PPT DESIGN GUIDANCE</a:t>
            </a:r>
          </a:p>
        </p:txBody>
      </p:sp>
      <p:sp>
        <p:nvSpPr>
          <p:cNvPr id="3" name="Content Placeholder 2"/>
          <p:cNvSpPr>
            <a:spLocks noGrp="1"/>
          </p:cNvSpPr>
          <p:nvPr>
            <p:ph idx="1"/>
          </p:nvPr>
        </p:nvSpPr>
        <p:spPr/>
        <p:txBody>
          <a:bodyPr/>
          <a:lstStyle/>
          <a:p>
            <a:pPr>
              <a:defRPr sz="2400" b="1">
                <a:solidFill>
                  <a:srgbClr val="2E5090"/>
                </a:solidFill>
              </a:defRPr>
            </a:pPr>
            <a:r>
              <a:t>Real Examples to Include:</a:t>
            </a:r>
          </a:p>
          <a:p>
            <a:pPr>
              <a:spcAft>
                <a:spcPts val="1000"/>
              </a:spcAft>
              <a:defRPr sz="1800">
                <a:solidFill>
                  <a:srgbClr val="333333"/>
                </a:solidFill>
              </a:defRPr>
            </a:pPr>
            <a:r>
              <a:t>Practical Exercise (Due before Session 12):</a:t>
            </a:r>
          </a:p>
          <a:p>
            <a:pPr>
              <a:spcAft>
                <a:spcPts val="1000"/>
              </a:spcAft>
              <a:defRPr sz="1800">
                <a:solidFill>
                  <a:srgbClr val="333333"/>
                </a:solidFill>
              </a:defRPr>
            </a:pPr>
            <a:r>
              <a:t>You are the systems engineer for a Level 3 Autonomous Emergency Steering System for highway use. The system will use cameras, radar, and lidar to detect obstacles and automatically steer to avoid collisions.</a:t>
            </a:r>
          </a:p>
          <a:p>
            <a:pPr>
              <a:spcAft>
                <a:spcPts val="1000"/>
              </a:spcAft>
              <a:defRPr sz="1800">
                <a:solidFill>
                  <a:srgbClr val="333333"/>
                </a:solidFill>
              </a:defRPr>
            </a:pPr>
            <a:r>
              <a:t>Part 1: Make vs Buy Analysis (40%)</a:t>
            </a:r>
          </a:p>
          <a:p>
            <a:pPr>
              <a:spcAft>
                <a:spcPts val="1000"/>
              </a:spcAft>
              <a:defRPr sz="1800">
                <a:solidFill>
                  <a:srgbClr val="333333"/>
                </a:solidFill>
              </a:defRPr>
            </a:pPr>
            <a:r>
              <a:t>Conduct make vs buy analysis for three components:</a:t>
            </a:r>
          </a:p>
          <a:p>
            <a:pPr>
              <a:spcAft>
                <a:spcPts val="600"/>
              </a:spcAft>
              <a:defRPr sz="1800">
                <a:solidFill>
                  <a:srgbClr val="333333"/>
                </a:solidFill>
              </a:defRPr>
            </a:pPr>
            <a:r>
              <a:t>Lidar sensor (3D point cloud, 150m range, automotive-grade)</a:t>
            </a:r>
          </a:p>
          <a:p>
            <a:pPr>
              <a:spcAft>
                <a:spcPts val="600"/>
              </a:spcAft>
              <a:defRPr sz="1800">
                <a:solidFill>
                  <a:srgbClr val="333333"/>
                </a:solidFill>
              </a:defRPr>
            </a:pPr>
            <a:r>
              <a:t>Sensor fusion and decision algorithm software</a:t>
            </a:r>
          </a:p>
          <a:p>
            <a:pPr>
              <a:spcAft>
                <a:spcPts val="600"/>
              </a:spcAft>
              <a:defRPr sz="1800">
                <a:solidFill>
                  <a:srgbClr val="333333"/>
                </a:solidFill>
              </a:defRPr>
            </a:pPr>
            <a:r>
              <a:t>Steering actuator (electric motor for automated steering input)</a:t>
            </a:r>
          </a:p>
          <a:p>
            <a:pPr>
              <a:spcAft>
                <a:spcPts val="1000"/>
              </a:spcAft>
              <a:defRPr sz="1800">
                <a:solidFill>
                  <a:srgbClr val="333333"/>
                </a:solidFill>
              </a:defRPr>
            </a:pPr>
            <a:r>
              <a:t>For EACH component, provide:</a:t>
            </a:r>
          </a:p>
          <a:p>
            <a:pPr>
              <a:spcAft>
                <a:spcPts val="600"/>
              </a:spcAft>
              <a:defRPr sz="1800">
                <a:solidFill>
                  <a:srgbClr val="333333"/>
                </a:solidFill>
              </a:defRPr>
            </a:pPr>
            <a:r>
              <a:t>Evaluation against 6 criteria: Strategic importance, technical capability, cost, capacity, risk, time-to-market</a:t>
            </a:r>
          </a:p>
          <a:p>
            <a:pPr>
              <a:spcAft>
                <a:spcPts val="600"/>
              </a:spcAft>
              <a:defRPr sz="1800">
                <a:solidFill>
                  <a:srgbClr val="333333"/>
                </a:solidFill>
              </a:defRPr>
            </a:pPr>
            <a:r>
              <a:t>Scoring (1-10 per criterion) with brief rationale</a:t>
            </a:r>
          </a:p>
          <a:p>
            <a:pPr>
              <a:spcAft>
                <a:spcPts val="600"/>
              </a:spcAft>
              <a:defRPr sz="1800">
                <a:solidFill>
                  <a:srgbClr val="333333"/>
                </a:solidFill>
              </a:defRPr>
            </a:pPr>
            <a:r>
              <a:t>MAKE or BUY decision with justification</a:t>
            </a:r>
          </a:p>
          <a:p>
            <a:pPr>
              <a:spcAft>
                <a:spcPts val="1000"/>
              </a:spcAft>
              <a:defRPr sz="1800">
                <a:solidFill>
                  <a:srgbClr val="333333"/>
                </a:solidFill>
              </a:defRPr>
            </a:pPr>
            <a:r>
              <a:t>Part 2: Supplier Selection Plan (35%)</a:t>
            </a:r>
          </a:p>
          <a:p>
            <a:pPr>
              <a:spcAft>
                <a:spcPts val="1000"/>
              </a:spcAft>
              <a:defRPr sz="1800">
                <a:solidFill>
                  <a:srgbClr val="333333"/>
                </a:solidFill>
              </a:defRPr>
            </a:pPr>
            <a:r>
              <a:t>For the component(s) you decided to BUY:</a:t>
            </a:r>
          </a:p>
          <a:p>
            <a:pPr>
              <a:spcAft>
                <a:spcPts val="600"/>
              </a:spcAft>
              <a:defRPr sz="1800">
                <a:solidFill>
                  <a:srgbClr val="333333"/>
                </a:solidFill>
              </a:defRPr>
            </a:pPr>
            <a:r>
              <a:t>Define evaluation criteria with weights (must include technical, quality, cost, delivery, business)</a:t>
            </a:r>
          </a:p>
          <a:p>
            <a:pPr>
              <a:spcAft>
                <a:spcPts val="600"/>
              </a:spcAft>
              <a:defRPr sz="1800">
                <a:solidFill>
                  <a:srgbClr val="333333"/>
                </a:solidFill>
              </a:defRPr>
            </a:pPr>
            <a:r>
              <a:t>Outline selection process (RFI/RFQ/evaluation/award)</a:t>
            </a:r>
          </a:p>
          <a:p>
            <a:pPr>
              <a:spcAft>
                <a:spcPts val="600"/>
              </a:spcAft>
              <a:defRPr sz="1800">
                <a:solidFill>
                  <a:srgbClr val="333333"/>
                </a:solidFill>
              </a:defRPr>
            </a:pPr>
            <a:r>
              <a:t>Identify 3-5 potential suppliers (real companies - research required)</a:t>
            </a:r>
          </a:p>
          <a:p>
            <a:pPr>
              <a:spcAft>
                <a:spcPts val="600"/>
              </a:spcAft>
              <a:defRPr sz="1800">
                <a:solidFill>
                  <a:srgbClr val="333333"/>
                </a:solidFill>
              </a:defRPr>
            </a:pPr>
            <a:r>
              <a:t>List critical contract clauses needed (minimum 5)</a:t>
            </a:r>
          </a:p>
          <a:p>
            <a:pPr>
              <a:spcAft>
                <a:spcPts val="1000"/>
              </a:spcAft>
              <a:defRPr sz="1800">
                <a:solidFill>
                  <a:srgbClr val="333333"/>
                </a:solidFill>
              </a:defRPr>
            </a:pPr>
            <a:r>
              <a:t>Part 3: Infrastructure and Lifecycle Planning (25%)</a:t>
            </a:r>
          </a:p>
          <a:p>
            <a:pPr>
              <a:spcAft>
                <a:spcPts val="1000"/>
              </a:spcAft>
              <a:defRPr sz="1800">
                <a:solidFill>
                  <a:srgbClr val="333333"/>
                </a:solidFill>
              </a:defRPr>
            </a:pPr>
            <a:r>
              <a:t>Define infrastructure requirements for:</a:t>
            </a:r>
          </a:p>
          <a:p>
            <a:pPr>
              <a:spcAft>
                <a:spcPts val="600"/>
              </a:spcAft>
              <a:defRPr sz="1800">
                <a:solidFill>
                  <a:srgbClr val="333333"/>
                </a:solidFill>
              </a:defRPr>
            </a:pPr>
            <a:r>
              <a:t>Testing: What test equipment needed? (e.g., HIL, vehicle-in-the-loop, proving ground)</a:t>
            </a:r>
          </a:p>
          <a:p>
            <a:pPr>
              <a:spcAft>
                <a:spcPts val="600"/>
              </a:spcAft>
              <a:defRPr sz="1800">
                <a:solidFill>
                  <a:srgbClr val="333333"/>
                </a:solidFill>
              </a:defRPr>
            </a:pPr>
            <a:r>
              <a:t>Service: How will dealers diagnose and repair this system? What tools/training?</a:t>
            </a:r>
          </a:p>
          <a:p>
            <a:pPr>
              <a:spcAft>
                <a:spcPts val="1000"/>
              </a:spcAft>
              <a:defRPr sz="1800">
                <a:solidFill>
                  <a:srgbClr val="333333"/>
                </a:solidFill>
              </a:defRPr>
            </a:pPr>
            <a:r>
              <a:t>Outline lifecycle management approach:</a:t>
            </a:r>
          </a:p>
          <a:p>
            <a:pPr>
              <a:spcAft>
                <a:spcPts val="600"/>
              </a:spcAft>
              <a:defRPr sz="1800">
                <a:solidFill>
                  <a:srgbClr val="333333"/>
                </a:solidFill>
              </a:defRPr>
            </a:pPr>
            <a:r>
              <a:t>Maintenance strategy (how often inspected? What wear items?)</a:t>
            </a:r>
          </a:p>
          <a:p>
            <a:pPr>
              <a:spcAft>
                <a:spcPts val="600"/>
              </a:spcAft>
              <a:defRPr sz="1800">
                <a:solidFill>
                  <a:srgbClr val="333333"/>
                </a:solidFill>
              </a:defRPr>
            </a:pPr>
            <a:r>
              <a:t>Software update strategy (how long will you support updates?)</a:t>
            </a:r>
          </a:p>
          <a:p>
            <a:pPr>
              <a:spcAft>
                <a:spcPts val="600"/>
              </a:spcAft>
              <a:defRPr sz="1800">
                <a:solidFill>
                  <a:srgbClr val="333333"/>
                </a:solidFill>
              </a:defRPr>
            </a:pPr>
            <a:r>
              <a:t>Obsolescence risks and mitigation (sensors have 5-year lifecycle, vehicle is 15 years)</a:t>
            </a:r>
          </a:p>
          <a:p>
            <a:pPr>
              <a:spcAft>
                <a:spcPts val="1000"/>
              </a:spcAft>
              <a:defRPr sz="1800">
                <a:solidFill>
                  <a:srgbClr val="333333"/>
                </a:solidFill>
              </a:defRPr>
            </a:pPr>
            <a:r>
              <a:t>Deliverable Format: — Part 1: Make vs buy decision matrix (1 page per component = 3 pages)</a:t>
            </a:r>
          </a:p>
          <a:p>
            <a:pPr>
              <a:spcAft>
                <a:spcPts val="600"/>
              </a:spcAft>
              <a:defRPr sz="1800">
                <a:solidFill>
                  <a:srgbClr val="333333"/>
                </a:solidFill>
              </a:defRPr>
            </a:pPr>
            <a:r>
              <a:t>Part 2: Supplier selection plan (2 pages)</a:t>
            </a:r>
          </a:p>
          <a:p>
            <a:pPr>
              <a:spcAft>
                <a:spcPts val="600"/>
              </a:spcAft>
              <a:defRPr sz="1800">
                <a:solidFill>
                  <a:srgbClr val="333333"/>
                </a:solidFill>
              </a:defRPr>
            </a:pPr>
            <a:r>
              <a:t>Part 3: Infrastructure and lifecycle plan (1-2 pages)</a:t>
            </a:r>
          </a:p>
          <a:p>
            <a:pPr>
              <a:spcAft>
                <a:spcPts val="600"/>
              </a:spcAft>
              <a:defRPr sz="1800">
                <a:solidFill>
                  <a:srgbClr val="333333"/>
                </a:solidFill>
              </a:defRPr>
            </a:pPr>
            <a:r>
              <a:t>Total: 6-7 pages</a:t>
            </a:r>
          </a:p>
          <a:p>
            <a:pPr>
              <a:spcAft>
                <a:spcPts val="1000"/>
              </a:spcAft>
              <a:defRPr sz="1800">
                <a:solidFill>
                  <a:srgbClr val="333333"/>
                </a:solidFill>
              </a:defRPr>
            </a:pPr>
            <a:r>
              <a:t>Grading Criteria: — Systematic use of decision frameworks (not gut feel)</a:t>
            </a:r>
          </a:p>
          <a:p>
            <a:pPr>
              <a:spcAft>
                <a:spcPts val="600"/>
              </a:spcAft>
              <a:defRPr sz="1800">
                <a:solidFill>
                  <a:srgbClr val="333333"/>
                </a:solidFill>
              </a:defRPr>
            </a:pPr>
            <a:r>
              <a:t>Depth of analysis (rationale for scores/decisions)</a:t>
            </a:r>
          </a:p>
          <a:p>
            <a:pPr>
              <a:spcAft>
                <a:spcPts val="600"/>
              </a:spcAft>
              <a:defRPr sz="1800">
                <a:solidFill>
                  <a:srgbClr val="333333"/>
                </a:solidFill>
              </a:defRPr>
            </a:pPr>
            <a:r>
              <a:t>Automotive realism (safety, regulations, cost)</a:t>
            </a:r>
          </a:p>
          <a:p>
            <a:pPr>
              <a:spcAft>
                <a:spcPts val="600"/>
              </a:spcAft>
              <a:defRPr sz="1800">
                <a:solidFill>
                  <a:srgbClr val="333333"/>
                </a:solidFill>
              </a:defRPr>
            </a:pPr>
            <a:r>
              <a:t>Professional quality (industry-ready documentation)</a:t>
            </a:r>
          </a:p>
          <a:p>
            <a:pPr>
              <a:spcAft>
                <a:spcPts val="1000"/>
              </a:spcAft>
              <a:defRPr sz="1800">
                <a:solidFill>
                  <a:srgbClr val="333333"/>
                </a:solidFill>
              </a:defRPr>
            </a:pPr>
            <a:r>
              <a:t>Tips: — Research real suppliers (Waymo for lidar, Mobileye for algorithms, ZF for actuators)</a:t>
            </a:r>
          </a:p>
          <a:p>
            <a:pPr>
              <a:spcAft>
                <a:spcPts val="600"/>
              </a:spcAft>
              <a:defRPr sz="1800">
                <a:solidFill>
                  <a:srgbClr val="333333"/>
                </a:solidFill>
              </a:defRPr>
            </a:pPr>
            <a:r>
              <a:t>Consider ISO 26262 ASIL requirements (autonomous steering = ASIL-D, most stringent)</a:t>
            </a:r>
          </a:p>
          <a:p>
            <a:pPr>
              <a:spcAft>
                <a:spcPts val="600"/>
              </a:spcAft>
              <a:defRPr sz="1800">
                <a:solidFill>
                  <a:srgbClr val="333333"/>
                </a:solidFill>
              </a:defRPr>
            </a:pPr>
            <a:r>
              <a:t>Think about the 2021 chip shortage - how does that affect your decisions?</a:t>
            </a:r>
          </a:p>
          <a:p>
            <a:pPr>
              <a:spcAft>
                <a:spcPts val="600"/>
              </a:spcAft>
              <a:defRPr sz="1800">
                <a:solidFill>
                  <a:srgbClr val="333333"/>
                </a:solidFill>
              </a:defRPr>
            </a:pPr>
            <a:r>
              <a:t>Balance cost vs control vs time-to-market</a:t>
            </a:r>
          </a:p>
          <a:p>
            <a:pPr>
              <a:spcAft>
                <a:spcPts val="1000"/>
              </a:spcAft>
              <a:defRPr sz="1800">
                <a:solidFill>
                  <a:srgbClr val="333333"/>
                </a:solidFill>
              </a:defRPr>
            </a:pPr>
            <a:r>
              <a:t>Discussion Questions: — Would your make vs buy decisions differ for a startup vs established OEM?</a:t>
            </a:r>
          </a:p>
          <a:p>
            <a:pPr>
              <a:spcAft>
                <a:spcPts val="600"/>
              </a:spcAft>
              <a:defRPr sz="1800">
                <a:solidFill>
                  <a:srgbClr val="333333"/>
                </a:solidFill>
              </a:defRPr>
            </a:pPr>
            <a:r>
              <a:t>How does geopolitical risk (e.g., China-US tensions) affect supplier selection?</a:t>
            </a:r>
          </a:p>
          <a:p>
            <a:pPr>
              <a:spcAft>
                <a:spcPts val="600"/>
              </a:spcAft>
              <a:defRPr sz="1800">
                <a:solidFill>
                  <a:srgbClr val="333333"/>
                </a:solidFill>
              </a:defRPr>
            </a:pPr>
            <a:r>
              <a:t>Should you single-source or dual-source lidar? Trade-offs?</a:t>
            </a:r>
          </a:p>
          <a:p>
            <a:pPr>
              <a:spcAft>
                <a:spcPts val="600"/>
              </a:spcAft>
              <a:defRPr sz="1800">
                <a:solidFill>
                  <a:srgbClr val="333333"/>
                </a:solidFill>
              </a:defRPr>
            </a:pPr>
            <a:r>
              <a:t>What happens in 10 years when lidar technology has advanced - how do you handle obsolescence?</a:t>
            </a:r>
          </a:p>
          <a:p>
            <a:pPr>
              <a:spcAft>
                <a:spcPts val="1000"/>
              </a:spcAft>
              <a:defRPr sz="1800">
                <a:solidFill>
                  <a:srgbClr val="333333"/>
                </a:solidFill>
              </a:defRPr>
            </a:pPr>
            <a:r>
              <a:t>30 minutes for your questions. —--</a:t>
            </a:r>
          </a:p>
          <a:p>
            <a:pPr>
              <a:spcAft>
                <a:spcPts val="600"/>
              </a:spcAft>
              <a:defRPr sz="1800">
                <a:solidFill>
                  <a:srgbClr val="333333"/>
                </a:solidFill>
              </a:defRPr>
            </a:pPr>
            <a:r>
              <a:t>Professional business aesthetic: Clean, data-driven, enterprise-quality</a:t>
            </a:r>
          </a:p>
          <a:p>
            <a:pPr>
              <a:spcAft>
                <a:spcPts val="600"/>
              </a:spcAft>
              <a:defRPr sz="1800">
                <a:solidFill>
                  <a:srgbClr val="333333"/>
                </a:solidFill>
              </a:defRPr>
            </a:pPr>
            <a:r>
              <a:t>Color coding:</a:t>
            </a:r>
          </a:p>
          <a:p>
            <a:pPr>
              <a:spcAft>
                <a:spcPts val="600"/>
              </a:spcAft>
              <a:defRPr sz="1800">
                <a:solidFill>
                  <a:srgbClr val="333333"/>
                </a:solidFill>
              </a:defRPr>
            </a:pPr>
            <a:r>
              <a:t>Blue for Supplier/Agreement topics</a:t>
            </a:r>
          </a:p>
          <a:p>
            <a:pPr>
              <a:spcAft>
                <a:spcPts val="600"/>
              </a:spcAft>
              <a:defRPr sz="1800">
                <a:solidFill>
                  <a:srgbClr val="333333"/>
                </a:solidFill>
              </a:defRPr>
            </a:pPr>
            <a:r>
              <a:t>Green for Infrastructure topics</a:t>
            </a:r>
          </a:p>
          <a:p>
            <a:pPr>
              <a:spcAft>
                <a:spcPts val="600"/>
              </a:spcAft>
              <a:defRPr sz="1800">
                <a:solidFill>
                  <a:srgbClr val="333333"/>
                </a:solidFill>
              </a:defRPr>
            </a:pPr>
            <a:r>
              <a:t>Orange for Lifecycle Management</a:t>
            </a:r>
          </a:p>
          <a:p>
            <a:pPr>
              <a:spcAft>
                <a:spcPts val="600"/>
              </a:spcAft>
              <a:defRPr sz="1800">
                <a:solidFill>
                  <a:srgbClr val="333333"/>
                </a:solidFill>
              </a:defRPr>
            </a:pPr>
            <a:r>
              <a:t>Purple for Make vs Buy decisions</a:t>
            </a:r>
          </a:p>
          <a:p>
            <a:pPr>
              <a:spcAft>
                <a:spcPts val="600"/>
              </a:spcAft>
              <a:defRPr sz="1800">
                <a:solidFill>
                  <a:srgbClr val="333333"/>
                </a:solidFill>
              </a:defRPr>
            </a:pPr>
            <a:r>
              <a:t>Red for pitfalls and risks</a:t>
            </a:r>
          </a:p>
          <a:p>
            <a:pPr>
              <a:spcAft>
                <a:spcPts val="600"/>
              </a:spcAft>
              <a:defRPr sz="1800">
                <a:solidFill>
                  <a:srgbClr val="333333"/>
                </a:solidFill>
              </a:defRPr>
            </a:pPr>
            <a:r>
              <a:t>Use real industry examples: Photos of supplier facilities, contract excerpts (anonymized), actual tools</a:t>
            </a:r>
          </a:p>
          <a:p>
            <a:pPr>
              <a:spcAft>
                <a:spcPts val="600"/>
              </a:spcAft>
              <a:defRPr sz="1800">
                <a:solidFill>
                  <a:srgbClr val="333333"/>
                </a:solidFill>
              </a:defRPr>
            </a:pPr>
            <a:r>
              <a:t>Diagrams: Supply chain networks, decision matrices, lifecycle timelines</a:t>
            </a:r>
          </a:p>
          <a:p>
            <a:pPr>
              <a:spcAft>
                <a:spcPts val="600"/>
              </a:spcAft>
              <a:defRPr sz="1800">
                <a:solidFill>
                  <a:srgbClr val="333333"/>
                </a:solidFill>
              </a:defRPr>
            </a:pPr>
            <a:r>
              <a:t>Slide 3 (Why This Matters - Automotive Statistics) - Industry reality</a:t>
            </a:r>
          </a:p>
          <a:p>
            <a:pPr>
              <a:spcAft>
                <a:spcPts val="600"/>
              </a:spcAft>
              <a:defRPr sz="1800">
                <a:solidFill>
                  <a:srgbClr val="333333"/>
                </a:solidFill>
              </a:defRPr>
            </a:pPr>
            <a:r>
              <a:t>Slide 4 (Chip Shortage Case Study) - Recent crisis everyone remembers</a:t>
            </a:r>
          </a:p>
          <a:p>
            <a:pPr>
              <a:spcAft>
                <a:spcPts val="600"/>
              </a:spcAft>
              <a:defRPr sz="1800">
                <a:solidFill>
                  <a:srgbClr val="333333"/>
                </a:solidFill>
              </a:defRPr>
            </a:pPr>
            <a:r>
              <a:t>Slide 9 (Collaboration Models) - Black/gray/white box framework</a:t>
            </a:r>
          </a:p>
          <a:p>
            <a:pPr>
              <a:spcAft>
                <a:spcPts val="600"/>
              </a:spcAft>
              <a:defRPr sz="1800">
                <a:solidFill>
                  <a:srgbClr val="333333"/>
                </a:solidFill>
              </a:defRPr>
            </a:pPr>
            <a:r>
              <a:t>Slide 16 (Vendor Evaluation Scoring) - Practical tool students will use</a:t>
            </a:r>
          </a:p>
          <a:p>
            <a:pPr>
              <a:spcAft>
                <a:spcPts val="600"/>
              </a:spcAft>
              <a:defRPr sz="1800">
                <a:solidFill>
                  <a:srgbClr val="333333"/>
                </a:solidFill>
              </a:defRPr>
            </a:pPr>
            <a:r>
              <a:t>Slide 18-19 (Make vs Buy Framework and Example) - Strategic decision-making</a:t>
            </a:r>
          </a:p>
          <a:p>
            <a:pPr>
              <a:spcAft>
                <a:spcPts val="600"/>
              </a:spcAft>
              <a:defRPr sz="1800">
                <a:solidFill>
                  <a:srgbClr val="333333"/>
                </a:solidFill>
              </a:defRPr>
            </a:pPr>
            <a:r>
              <a:t>Slide 26 (Tesla Case Study) - Real-world application</a:t>
            </a:r>
          </a:p>
          <a:p>
            <a:pPr>
              <a:spcAft>
                <a:spcPts val="600"/>
              </a:spcAft>
              <a:defRPr sz="1800">
                <a:solidFill>
                  <a:srgbClr val="333333"/>
                </a:solidFill>
              </a:defRPr>
            </a:pPr>
            <a:r>
              <a:t>Slide 27 (Pitfalls and Best Practices) - Students will reference this</a:t>
            </a:r>
          </a:p>
          <a:p>
            <a:pPr>
              <a:spcAft>
                <a:spcPts val="600"/>
              </a:spcAft>
              <a:defRPr sz="1800">
                <a:solidFill>
                  <a:srgbClr val="333333"/>
                </a:solidFill>
              </a:defRPr>
            </a:pPr>
            <a:r>
              <a:t>Slide 28 (Summary) - Students will photograph this</a:t>
            </a:r>
          </a:p>
          <a:p>
            <a:pPr>
              <a:spcAft>
                <a:spcPts val="600"/>
              </a:spcAft>
              <a:defRPr sz="1800">
                <a:solidFill>
                  <a:srgbClr val="333333"/>
                </a:solidFill>
              </a:defRPr>
            </a:pPr>
            <a:r>
              <a:t>Slide 7: Build supplier ecosystem diagram layer by layer</a:t>
            </a:r>
          </a:p>
          <a:p>
            <a:pPr>
              <a:spcAft>
                <a:spcPts val="600"/>
              </a:spcAft>
              <a:defRPr sz="1800">
                <a:solidFill>
                  <a:srgbClr val="333333"/>
                </a:solidFill>
              </a:defRPr>
            </a:pPr>
            <a:r>
              <a:t>Slide 9: Transition between black/gray/white box models with sliding graphics</a:t>
            </a:r>
          </a:p>
          <a:p>
            <a:pPr>
              <a:spcAft>
                <a:spcPts val="600"/>
              </a:spcAft>
              <a:defRPr sz="1800">
                <a:solidFill>
                  <a:srgbClr val="333333"/>
                </a:solidFill>
              </a:defRPr>
            </a:pPr>
            <a:r>
              <a:t>Slide 16: Animated scoring matrix filling in row by row</a:t>
            </a:r>
          </a:p>
          <a:p>
            <a:pPr>
              <a:spcAft>
                <a:spcPts val="600"/>
              </a:spcAft>
              <a:defRPr sz="1800">
                <a:solidFill>
                  <a:srgbClr val="333333"/>
                </a:solidFill>
              </a:defRPr>
            </a:pPr>
            <a:r>
              <a:t>Slide 19: Make vs buy decision matrix with weighted scores calculating live</a:t>
            </a:r>
          </a:p>
          <a:p>
            <a:pPr>
              <a:spcAft>
                <a:spcPts val="600"/>
              </a:spcAft>
              <a:defRPr sz="1800">
                <a:solidFill>
                  <a:srgbClr val="333333"/>
                </a:solidFill>
              </a:defRPr>
            </a:pPr>
            <a:r>
              <a:t>Slide 23: Lifecycle timeline with phases expanding to show detail</a:t>
            </a:r>
          </a:p>
          <a:p>
            <a:pPr>
              <a:spcAft>
                <a:spcPts val="600"/>
              </a:spcAft>
              <a:defRPr sz="1800">
                <a:solidFill>
                  <a:srgbClr val="333333"/>
                </a:solidFill>
              </a:defRPr>
            </a:pPr>
            <a:r>
              <a:t>Slide 10: Supplier scorecard with real metrics</a:t>
            </a:r>
          </a:p>
          <a:p>
            <a:pPr>
              <a:spcAft>
                <a:spcPts val="600"/>
              </a:spcAft>
              <a:defRPr sz="1800">
                <a:solidFill>
                  <a:srgbClr val="333333"/>
                </a:solidFill>
              </a:defRPr>
            </a:pPr>
            <a:r>
              <a:t>Slide 12: Contract types comparison table</a:t>
            </a:r>
          </a:p>
          <a:p>
            <a:pPr>
              <a:spcAft>
                <a:spcPts val="600"/>
              </a:spcAft>
              <a:defRPr sz="1800">
                <a:solidFill>
                  <a:srgbClr val="333333"/>
                </a:solidFill>
              </a:defRPr>
            </a:pPr>
            <a:r>
              <a:t>Slide 16: Full vendor evaluation matrix (3 suppliers compared)</a:t>
            </a:r>
          </a:p>
          <a:p>
            <a:pPr>
              <a:spcAft>
                <a:spcPts val="600"/>
              </a:spcAft>
              <a:defRPr sz="1800">
                <a:solidFill>
                  <a:srgbClr val="333333"/>
                </a:solidFill>
              </a:defRPr>
            </a:pPr>
            <a:r>
              <a:t>Slide 19: Make vs buy decision matrix with scoring</a:t>
            </a:r>
          </a:p>
          <a:p>
            <a:pPr>
              <a:spcAft>
                <a:spcPts val="600"/>
              </a:spcAft>
              <a:defRPr sz="1800">
                <a:solidFill>
                  <a:srgbClr val="333333"/>
                </a:solidFill>
              </a:defRPr>
            </a:pPr>
            <a:r>
              <a:t>Slide 24: Lifecycle Management Plan outline</a:t>
            </a:r>
          </a:p>
          <a:p>
            <a:pPr>
              <a:spcAft>
                <a:spcPts val="600"/>
              </a:spcAft>
              <a:defRPr sz="1800">
                <a:solidFill>
                  <a:srgbClr val="333333"/>
                </a:solidFill>
              </a:defRPr>
            </a:pPr>
            <a:r>
              <a:t>Use actual automotive supplier names (Bosch, Continental, Denso, ZF, etc.)</a:t>
            </a:r>
          </a:p>
          <a:p>
            <a:pPr>
              <a:spcAft>
                <a:spcPts val="600"/>
              </a:spcAft>
              <a:defRPr sz="1800">
                <a:solidFill>
                  <a:srgbClr val="333333"/>
                </a:solidFill>
              </a:defRPr>
            </a:pPr>
            <a:r>
              <a:t>Reference real contracts clauses (anonymized but authentic)</a:t>
            </a:r>
          </a:p>
          <a:p>
            <a:pPr>
              <a:spcAft>
                <a:spcPts val="600"/>
              </a:spcAft>
              <a:defRPr sz="1800">
                <a:solidFill>
                  <a:srgbClr val="333333"/>
                </a:solidFill>
              </a:defRPr>
            </a:pPr>
            <a:r>
              <a:t>Show actual tools (DOORS screenshots, SAP supplier management, etc.)</a:t>
            </a:r>
          </a:p>
          <a:p>
            <a:pPr>
              <a:spcAft>
                <a:spcPts val="600"/>
              </a:spcAft>
              <a:defRPr sz="1800">
                <a:solidFill>
                  <a:srgbClr val="333333"/>
                </a:solidFill>
              </a:defRPr>
            </a:pPr>
            <a:r>
              <a:t>Include real case studies (chip shortage, Tesla vertical integration, Toyota supplier partnerships)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INSTRUCTOR NOTES</a:t>
            </a:r>
          </a:p>
        </p:txBody>
      </p:sp>
      <p:sp>
        <p:nvSpPr>
          <p:cNvPr id="3" name="Content Placeholder 2"/>
          <p:cNvSpPr>
            <a:spLocks noGrp="1"/>
          </p:cNvSpPr>
          <p:nvPr>
            <p:ph idx="1"/>
          </p:nvPr>
        </p:nvSpPr>
        <p:spPr/>
        <p:txBody>
          <a:bodyPr/>
          <a:lstStyle/>
          <a:p>
            <a:pPr>
              <a:defRPr sz="2400" b="1">
                <a:solidFill>
                  <a:srgbClr val="2E5090"/>
                </a:solidFill>
              </a:defRPr>
            </a:pPr>
            <a:r>
              <a:t>Assessment Opportunities:</a:t>
            </a:r>
          </a:p>
          <a:p>
            <a:pPr>
              <a:spcAft>
                <a:spcPts val="600"/>
              </a:spcAft>
              <a:defRPr sz="1800">
                <a:solidFill>
                  <a:srgbClr val="333333"/>
                </a:solidFill>
              </a:defRPr>
            </a:pPr>
            <a:r>
              <a:t>Business + technical integration: Show how agreements/infrastructure enable technical success</a:t>
            </a:r>
          </a:p>
          <a:p>
            <a:pPr>
              <a:spcAft>
                <a:spcPts val="600"/>
              </a:spcAft>
              <a:defRPr sz="1800">
                <a:solidFill>
                  <a:srgbClr val="333333"/>
                </a:solidFill>
              </a:defRPr>
            </a:pPr>
            <a:r>
              <a:t>Real crisis examples: Chip shortage, supplier bankruptcies - recent, memorable</a:t>
            </a:r>
          </a:p>
          <a:p>
            <a:pPr>
              <a:spcAft>
                <a:spcPts val="600"/>
              </a:spcAft>
              <a:defRPr sz="1800">
                <a:solidFill>
                  <a:srgbClr val="333333"/>
                </a:solidFill>
              </a:defRPr>
            </a:pPr>
            <a:r>
              <a:t>Decision frameworks: Emphasize systematic vs gut-feel approaches</a:t>
            </a:r>
          </a:p>
          <a:p>
            <a:pPr>
              <a:spcAft>
                <a:spcPts val="600"/>
              </a:spcAft>
              <a:defRPr sz="1800">
                <a:solidFill>
                  <a:srgbClr val="333333"/>
                </a:solidFill>
              </a:defRPr>
            </a:pPr>
            <a:r>
              <a:t>Balance theory and practice: Every framework illustrated with automotive example</a:t>
            </a:r>
          </a:p>
          <a:p>
            <a:pPr>
              <a:spcAft>
                <a:spcPts val="600"/>
              </a:spcAft>
              <a:defRPr sz="1800">
                <a:solidFill>
                  <a:srgbClr val="333333"/>
                </a:solidFill>
              </a:defRPr>
            </a:pPr>
            <a:r>
              <a:t>Strategic thinking: Elevate from tactical (contracts) to strategic (ecosystem design)</a:t>
            </a:r>
          </a:p>
          <a:p>
            <a:pPr>
              <a:spcAft>
                <a:spcPts val="1000"/>
              </a:spcAft>
              <a:defRPr sz="1800">
                <a:solidFill>
                  <a:srgbClr val="333333"/>
                </a:solidFill>
              </a:defRPr>
            </a:pPr>
            <a:r>
              <a:t>Challenge 1: "Why do engineers need to know about contracts and business?"</a:t>
            </a:r>
          </a:p>
          <a:p>
            <a:pPr>
              <a:spcAft>
                <a:spcPts val="1000"/>
              </a:spcAft>
              <a:defRPr sz="1800">
                <a:solidFill>
                  <a:srgbClr val="333333"/>
                </a:solidFill>
              </a:defRPr>
            </a:pPr>
            <a:r>
              <a:t>How to address: Slide 3 statistics - 70% of vehicle is suppliers. Show Slide 4 - chip shortage was business/contract issue that halted production. Engineers must understand business context or technical brilliance is wasted. Reference Toyota unintended acceleration (Session 4) - supplier management failure, not just technical.</a:t>
            </a:r>
          </a:p>
          <a:p>
            <a:pPr>
              <a:spcAft>
                <a:spcPts val="1000"/>
              </a:spcAft>
              <a:defRPr sz="1800">
                <a:solidFill>
                  <a:srgbClr val="333333"/>
                </a:solidFill>
              </a:defRPr>
            </a:pPr>
            <a:r>
              <a:t>Challenge 2: "Make vs buy seems simple - just compare costs"</a:t>
            </a:r>
          </a:p>
          <a:p>
            <a:pPr>
              <a:spcAft>
                <a:spcPts val="1000"/>
              </a:spcAft>
              <a:defRPr sz="1800">
                <a:solidFill>
                  <a:srgbClr val="333333"/>
                </a:solidFill>
              </a:defRPr>
            </a:pPr>
            <a:r>
              <a:t>How to address: Slide 18-19 - show multi-criteria framework. Emphasize strategic, risk, capability factors. Use Tesla example (Slide 26) - they chose MAKE for batteries despite higher cost because strategic. Cost is ONE factor, not the only factor.</a:t>
            </a:r>
          </a:p>
          <a:p>
            <a:pPr>
              <a:spcAft>
                <a:spcPts val="1000"/>
              </a:spcAft>
              <a:defRPr sz="1800">
                <a:solidFill>
                  <a:srgbClr val="333333"/>
                </a:solidFill>
              </a:defRPr>
            </a:pPr>
            <a:r>
              <a:t>Challenge 3: "Isn't this just procurement's job?"</a:t>
            </a:r>
          </a:p>
          <a:p>
            <a:pPr>
              <a:spcAft>
                <a:spcPts val="1000"/>
              </a:spcAft>
              <a:defRPr sz="1800">
                <a:solidFill>
                  <a:srgbClr val="333333"/>
                </a:solidFill>
              </a:defRPr>
            </a:pPr>
            <a:r>
              <a:t>How to address: Distinguish roles: Procurement executes, but SYSTEMS ENGINEERS define technical requirements, evaluation criteria, make vs buy rationale. Show Slide 13 - technical clauses that engineers must verify. Procurement can't evaluate technical capability without SE input.</a:t>
            </a:r>
          </a:p>
          <a:p>
            <a:pPr>
              <a:spcAft>
                <a:spcPts val="1000"/>
              </a:spcAft>
              <a:defRPr sz="1800">
                <a:solidFill>
                  <a:srgbClr val="333333"/>
                </a:solidFill>
              </a:defRPr>
            </a:pPr>
            <a:r>
              <a:t>Challenge 4: "How can we plan infrastructure 5 years in advance?"</a:t>
            </a:r>
          </a:p>
          <a:p>
            <a:pPr>
              <a:spcAft>
                <a:spcPts val="1000"/>
              </a:spcAft>
              <a:defRPr sz="1800">
                <a:solidFill>
                  <a:srgbClr val="333333"/>
                </a:solidFill>
              </a:defRPr>
            </a:pPr>
            <a:r>
              <a:t>How to address: Acknowledge uncertainty, but emphasize long lead times (Slide 21 - test equipment takes 12-18 months). Planning ≠ perfect prediction. Use iterative approach: Rough planning early, refine as uncertainty reduces. Modularity and flexibility in infrastructure design.</a:t>
            </a:r>
          </a:p>
          <a:p>
            <a:pPr>
              <a:spcAft>
                <a:spcPts val="1000"/>
              </a:spcAft>
              <a:defRPr sz="1800">
                <a:solidFill>
                  <a:srgbClr val="333333"/>
                </a:solidFill>
              </a:defRPr>
            </a:pPr>
            <a:r>
              <a:t>Challenge 5: "Tesla succeeds with high vertical integration. Should everyone do that?"</a:t>
            </a:r>
          </a:p>
          <a:p>
            <a:pPr>
              <a:spcAft>
                <a:spcPts val="1000"/>
              </a:spcAft>
              <a:defRPr sz="1800">
                <a:solidFill>
                  <a:srgbClr val="333333"/>
                </a:solidFill>
              </a:defRPr>
            </a:pPr>
            <a:r>
              <a:t>How to address: Slide 26 trade-offs. Tesla's model works for them (high capital, tech company culture, investor patience). Traditional OEMs have different strengths (brand, dealer networks, manufacturing scale). No universal answer - align with company strategy and capabilities.</a:t>
            </a:r>
          </a:p>
          <a:p>
            <a:pPr>
              <a:spcAft>
                <a:spcPts val="1000"/>
              </a:spcAft>
              <a:defRPr sz="1800">
                <a:solidFill>
                  <a:srgbClr val="333333"/>
                </a:solidFill>
              </a:defRPr>
            </a:pPr>
            <a:r>
              <a:t>If running short: — Condense Slide 12 (Contract Types) - focus on FFP and cost-plus only</a:t>
            </a:r>
          </a:p>
          <a:p>
            <a:pPr>
              <a:spcAft>
                <a:spcPts val="600"/>
              </a:spcAft>
              <a:defRPr sz="1800">
                <a:solidFill>
                  <a:srgbClr val="333333"/>
                </a:solidFill>
              </a:defRPr>
            </a:pPr>
            <a:r>
              <a:t>Reduce Slide 21 (Infrastructure categories) to high-level overview</a:t>
            </a:r>
          </a:p>
          <a:p>
            <a:pPr>
              <a:spcAft>
                <a:spcPts val="600"/>
              </a:spcAft>
              <a:defRPr sz="1800">
                <a:solidFill>
                  <a:srgbClr val="333333"/>
                </a:solidFill>
              </a:defRPr>
            </a:pPr>
            <a:r>
              <a:t>Move some best practices from Slide 27 to backup slides</a:t>
            </a:r>
          </a:p>
          <a:p>
            <a:pPr>
              <a:spcAft>
                <a:spcPts val="1000"/>
              </a:spcAft>
              <a:defRPr sz="1800">
                <a:solidFill>
                  <a:srgbClr val="333333"/>
                </a:solidFill>
              </a:defRPr>
            </a:pPr>
            <a:r>
              <a:t>If running long: — Extend Slide 26 (Tesla case) with more details on Gigafactory strategy</a:t>
            </a:r>
          </a:p>
          <a:p>
            <a:pPr>
              <a:spcAft>
                <a:spcPts val="600"/>
              </a:spcAft>
              <a:defRPr sz="1800">
                <a:solidFill>
                  <a:srgbClr val="333333"/>
                </a:solidFill>
              </a:defRPr>
            </a:pPr>
            <a:r>
              <a:t>Add interactive exercise: Give students a component, do quick make vs buy vote, discuss</a:t>
            </a:r>
          </a:p>
          <a:p>
            <a:pPr>
              <a:spcAft>
                <a:spcPts val="600"/>
              </a:spcAft>
              <a:defRPr sz="1800">
                <a:solidFill>
                  <a:srgbClr val="333333"/>
                </a:solidFill>
              </a:defRPr>
            </a:pPr>
            <a:r>
              <a:t>Show live demo of supplier scorecard tool or contract management system</a:t>
            </a:r>
          </a:p>
          <a:p>
            <a:pPr>
              <a:spcAft>
                <a:spcPts val="1000"/>
              </a:spcAft>
              <a:defRPr sz="1800">
                <a:solidFill>
                  <a:srgbClr val="333333"/>
                </a:solidFill>
              </a:defRPr>
            </a:pPr>
            <a:r>
              <a:t>Core content (must cover - non-negotiable): — Slides 8-11 (Supplier engagement and collaboration)</a:t>
            </a:r>
          </a:p>
          <a:p>
            <a:pPr>
              <a:spcAft>
                <a:spcPts val="600"/>
              </a:spcAft>
              <a:defRPr sz="1800">
                <a:solidFill>
                  <a:srgbClr val="333333"/>
                </a:solidFill>
              </a:defRPr>
            </a:pPr>
            <a:r>
              <a:t>Slides 15-17 (Vendor selection process and criteria)</a:t>
            </a:r>
          </a:p>
          <a:p>
            <a:pPr>
              <a:spcAft>
                <a:spcPts val="600"/>
              </a:spcAft>
              <a:defRPr sz="1800">
                <a:solidFill>
                  <a:srgbClr val="333333"/>
                </a:solidFill>
              </a:defRPr>
            </a:pPr>
            <a:r>
              <a:t>Slides 18-20 (Make vs buy framework and examples)</a:t>
            </a:r>
          </a:p>
          <a:p>
            <a:pPr>
              <a:spcAft>
                <a:spcPts val="600"/>
              </a:spcAft>
              <a:defRPr sz="1800">
                <a:solidFill>
                  <a:srgbClr val="333333"/>
                </a:solidFill>
              </a:defRPr>
            </a:pPr>
            <a:r>
              <a:t>Slides 23-24 (Lifecycle management)</a:t>
            </a:r>
          </a:p>
          <a:p>
            <a:pPr>
              <a:spcAft>
                <a:spcPts val="600"/>
              </a:spcAft>
              <a:defRPr sz="1800">
                <a:solidFill>
                  <a:srgbClr val="333333"/>
                </a:solidFill>
              </a:defRPr>
            </a:pPr>
            <a:r>
              <a:t>Slide 26 (Tesla case study)</a:t>
            </a:r>
          </a:p>
          <a:p>
            <a:pPr>
              <a:spcAft>
                <a:spcPts val="600"/>
              </a:spcAft>
              <a:defRPr sz="1800">
                <a:solidFill>
                  <a:srgbClr val="333333"/>
                </a:solidFill>
              </a:defRPr>
            </a:pPr>
            <a:r>
              <a:t>Slide 27 (Pitfalls and best practices)</a:t>
            </a:r>
          </a:p>
          <a:p>
            <a:pPr>
              <a:spcAft>
                <a:spcPts val="600"/>
              </a:spcAft>
              <a:defRPr sz="1800">
                <a:solidFill>
                  <a:srgbClr val="333333"/>
                </a:solidFill>
              </a:defRPr>
            </a:pPr>
            <a:r>
              <a:t>Slide 28 (Summary)</a:t>
            </a:r>
          </a:p>
          <a:p>
            <a:pPr>
              <a:spcAft>
                <a:spcPts val="1000"/>
              </a:spcAft>
              <a:defRPr sz="1800">
                <a:solidFill>
                  <a:srgbClr val="333333"/>
                </a:solidFill>
              </a:defRPr>
            </a:pPr>
            <a:r>
              <a:t>Slide 4: Ask class: "How many of you were affected by the chip shortage? Couldn't buy a car, or paid over MSRP?" (Personal connection)</a:t>
            </a:r>
          </a:p>
          <a:p>
            <a:pPr>
              <a:spcAft>
                <a:spcPts val="1000"/>
              </a:spcAft>
              <a:defRPr sz="1800">
                <a:solidFill>
                  <a:srgbClr val="333333"/>
                </a:solidFill>
              </a:defRPr>
            </a:pPr>
            <a:r>
              <a:t>Slide 18: Interactive - show a component (e.g., infotainment system), quick poll: "Make or Buy? Why?" Discuss different perspectives.</a:t>
            </a:r>
          </a:p>
          <a:p>
            <a:pPr>
              <a:spcAft>
                <a:spcPts val="1000"/>
              </a:spcAft>
              <a:defRPr sz="1800">
                <a:solidFill>
                  <a:srgbClr val="333333"/>
                </a:solidFill>
              </a:defRPr>
            </a:pPr>
            <a:r>
              <a:t>Slide 19: Work through scoring together - call on students to score each criterion, discuss reasoning.</a:t>
            </a:r>
          </a:p>
          <a:p>
            <a:pPr>
              <a:spcAft>
                <a:spcPts val="1000"/>
              </a:spcAft>
              <a:defRPr sz="1800">
                <a:solidFill>
                  <a:srgbClr val="333333"/>
                </a:solidFill>
              </a:defRPr>
            </a:pPr>
            <a:r>
              <a:t>Slide 26: "Tesla fans in the class? Critics? Let's debate vertical integration strategy." (Engagement through friendly debate)</a:t>
            </a:r>
          </a:p>
          <a:p>
            <a:pPr>
              <a:spcAft>
                <a:spcPts val="1000"/>
              </a:spcAft>
              <a:defRPr sz="1800">
                <a:solidFill>
                  <a:srgbClr val="333333"/>
                </a:solidFill>
              </a:defRPr>
            </a:pPr>
            <a:r>
              <a:t>Slide 27: Ask: "What's the worst supplier horror story you've heard?" Relate to pitfalls.</a:t>
            </a:r>
          </a:p>
          <a:p>
            <a:pPr>
              <a:spcAft>
                <a:spcPts val="1000"/>
              </a:spcAft>
              <a:defRPr sz="1800">
                <a:solidFill>
                  <a:srgbClr val="333333"/>
                </a:solidFill>
              </a:defRPr>
            </a:pPr>
            <a:r>
              <a:t>Quick Poll (Slide 3): "Guess: What % of a typical vehicle is made in-house by the OEM?" (Answers usually way too high - reveals misconception)</a:t>
            </a:r>
          </a:p>
          <a:p>
            <a:pPr>
              <a:spcAft>
                <a:spcPts val="1000"/>
              </a:spcAft>
              <a:defRPr sz="1800">
                <a:solidFill>
                  <a:srgbClr val="333333"/>
                </a:solidFill>
              </a:defRPr>
            </a:pPr>
            <a:r>
              <a:t>Case Discussion (Slide 4): "If you were an automotive OEM in 2020, what would you have done differently to avoid chip shortage impact?</a:t>
            </a:r>
          </a:p>
          <a:p>
            <a:pPr>
              <a:spcAft>
                <a:spcPts val="1000"/>
              </a:spcAft>
              <a:defRPr sz="1800">
                <a:solidFill>
                  <a:srgbClr val="333333"/>
                </a:solidFill>
              </a:defRPr>
            </a:pPr>
            <a:r>
              <a:t>Decision Exercise (Slide 19): Break into small groups, each group takes one make vs buy criterion, scores it, presents reasoning.</a:t>
            </a:r>
          </a:p>
          <a:p>
            <a:pPr>
              <a:spcAft>
                <a:spcPts val="1000"/>
              </a:spcAft>
              <a:defRPr sz="1800">
                <a:solidFill>
                  <a:srgbClr val="333333"/>
                </a:solidFill>
              </a:defRPr>
            </a:pPr>
            <a:r>
              <a:t>Debate (Slide 26): Pro-vertical integration vs pro-outsourcing - students take sides, defend with evidence.</a:t>
            </a:r>
          </a:p>
          <a:p>
            <a:pPr>
              <a:spcAft>
                <a:spcPts val="1000"/>
              </a:spcAft>
              <a:defRPr sz="1800">
                <a:solidFill>
                  <a:srgbClr val="333333"/>
                </a:solidFill>
              </a:defRPr>
            </a:pPr>
            <a:r>
              <a:t>Before class: — [ ] Real supplier scorecard example (anonymized from industry if possible)</a:t>
            </a:r>
          </a:p>
          <a:p>
            <a:pPr>
              <a:spcAft>
                <a:spcPts val="600"/>
              </a:spcAft>
              <a:defRPr sz="1800">
                <a:solidFill>
                  <a:srgbClr val="333333"/>
                </a:solidFill>
              </a:defRPr>
            </a:pPr>
            <a:r>
              <a:t>[ ] Sample contract clauses (extract from public sources or templates)</a:t>
            </a:r>
          </a:p>
          <a:p>
            <a:pPr>
              <a:spcAft>
                <a:spcPts val="600"/>
              </a:spcAft>
              <a:defRPr sz="1800">
                <a:solidFill>
                  <a:srgbClr val="333333"/>
                </a:solidFill>
              </a:defRPr>
            </a:pPr>
            <a:r>
              <a:t>[ ] Make vs buy decision template (Excel)</a:t>
            </a:r>
          </a:p>
          <a:p>
            <a:pPr>
              <a:spcAft>
                <a:spcPts val="600"/>
              </a:spcAft>
              <a:defRPr sz="1800">
                <a:solidFill>
                  <a:srgbClr val="333333"/>
                </a:solidFill>
              </a:defRPr>
            </a:pPr>
            <a:r>
              <a:t>[ ] Chip shortage timeline and data (2021-2023)</a:t>
            </a:r>
          </a:p>
          <a:p>
            <a:pPr>
              <a:spcAft>
                <a:spcPts val="600"/>
              </a:spcAft>
              <a:defRPr sz="1800">
                <a:solidFill>
                  <a:srgbClr val="333333"/>
                </a:solidFill>
              </a:defRPr>
            </a:pPr>
            <a:r>
              <a:t>[ ] Tesla vs traditional OEM comparison data</a:t>
            </a:r>
          </a:p>
          <a:p>
            <a:pPr>
              <a:spcAft>
                <a:spcPts val="600"/>
              </a:spcAft>
              <a:defRPr sz="1800">
                <a:solidFill>
                  <a:srgbClr val="333333"/>
                </a:solidFill>
              </a:defRPr>
            </a:pPr>
            <a:r>
              <a:t>[ ] Exercise assignment handout with rubric</a:t>
            </a:r>
          </a:p>
          <a:p>
            <a:pPr>
              <a:spcAft>
                <a:spcPts val="1000"/>
              </a:spcAft>
              <a:defRPr sz="1800">
                <a:solidFill>
                  <a:srgbClr val="333333"/>
                </a:solidFill>
              </a:defRPr>
            </a:pPr>
            <a:r>
              <a:t>Handouts: — [ ] Supplier evaluation criteria template</a:t>
            </a:r>
          </a:p>
          <a:p>
            <a:pPr>
              <a:spcAft>
                <a:spcPts val="600"/>
              </a:spcAft>
              <a:defRPr sz="1800">
                <a:solidFill>
                  <a:srgbClr val="333333"/>
                </a:solidFill>
              </a:defRPr>
            </a:pPr>
            <a:r>
              <a:t>[ ] Make vs buy decision matrix template</a:t>
            </a:r>
          </a:p>
          <a:p>
            <a:pPr>
              <a:spcAft>
                <a:spcPts val="600"/>
              </a:spcAft>
              <a:defRPr sz="1800">
                <a:solidFill>
                  <a:srgbClr val="333333"/>
                </a:solidFill>
              </a:defRPr>
            </a:pPr>
            <a:r>
              <a:t>[ ] Lifecycle management plan outline</a:t>
            </a:r>
          </a:p>
          <a:p>
            <a:pPr>
              <a:spcAft>
                <a:spcPts val="600"/>
              </a:spcAft>
              <a:defRPr sz="1800">
                <a:solidFill>
                  <a:srgbClr val="333333"/>
                </a:solidFill>
              </a:defRPr>
            </a:pPr>
            <a:r>
              <a:t>[ ] Contract checklist for systems engineers</a:t>
            </a:r>
          </a:p>
          <a:p>
            <a:pPr>
              <a:spcAft>
                <a:spcPts val="600"/>
              </a:spcAft>
              <a:defRPr sz="1800">
                <a:solidFill>
                  <a:srgbClr val="333333"/>
                </a:solidFill>
              </a:defRPr>
            </a:pPr>
            <a:r>
              <a:t>[ ] Infrastructure requirements template</a:t>
            </a:r>
          </a:p>
          <a:p>
            <a:pPr>
              <a:spcAft>
                <a:spcPts val="1000"/>
              </a:spcAft>
              <a:defRPr sz="1800">
                <a:solidFill>
                  <a:srgbClr val="333333"/>
                </a:solidFill>
              </a:defRPr>
            </a:pPr>
            <a:r>
              <a:t>Post-class: — [ ] Share slides</a:t>
            </a:r>
          </a:p>
          <a:p>
            <a:pPr>
              <a:spcAft>
                <a:spcPts val="600"/>
              </a:spcAft>
              <a:defRPr sz="1800">
                <a:solidFill>
                  <a:srgbClr val="333333"/>
                </a:solidFill>
              </a:defRPr>
            </a:pPr>
            <a:r>
              <a:t>[ ] Post exercise assignment with due date</a:t>
            </a:r>
          </a:p>
          <a:p>
            <a:pPr>
              <a:spcAft>
                <a:spcPts val="600"/>
              </a:spcAft>
              <a:defRPr sz="1800">
                <a:solidFill>
                  <a:srgbClr val="333333"/>
                </a:solidFill>
              </a:defRPr>
            </a:pPr>
            <a:r>
              <a:t>[ ] Post templates (vendor evaluation, make vs buy, LMP)</a:t>
            </a:r>
          </a:p>
          <a:p>
            <a:pPr>
              <a:spcAft>
                <a:spcPts val="600"/>
              </a:spcAft>
              <a:defRPr sz="1800">
                <a:solidFill>
                  <a:srgbClr val="333333"/>
                </a:solidFill>
              </a:defRPr>
            </a:pPr>
            <a:r>
              <a:t>[ ] Post links to: ISO/IEC 15288 (Agreement and Enabling Processes), INCOSE Systems Engineering Handbook (Chapters on acquisition and supply)</a:t>
            </a:r>
          </a:p>
          <a:p>
            <a:pPr>
              <a:spcAft>
                <a:spcPts val="600"/>
              </a:spcAft>
              <a:defRPr sz="1800">
                <a:solidFill>
                  <a:srgbClr val="333333"/>
                </a:solidFill>
              </a:defRPr>
            </a:pPr>
            <a:r>
              <a:t>[ ] Create discussion forum: "Share examples of make vs buy decisions you've seen - what worked, what didn't?</a:t>
            </a:r>
          </a:p>
          <a:p>
            <a:pPr>
              <a:spcAft>
                <a:spcPts val="1000"/>
              </a:spcAft>
              <a:defRPr sz="1800">
                <a:solidFill>
                  <a:srgbClr val="333333"/>
                </a:solidFill>
              </a:defRPr>
            </a:pPr>
            <a:r>
              <a:t>During lecture: — Quick quiz (Slide 12): "Which contract type for uncertain scope: FFP or Cost-Plus?</a:t>
            </a:r>
          </a:p>
          <a:p>
            <a:pPr>
              <a:spcAft>
                <a:spcPts val="600"/>
              </a:spcAft>
              <a:defRPr sz="1800">
                <a:solidFill>
                  <a:srgbClr val="333333"/>
                </a:solidFill>
              </a:defRPr>
            </a:pPr>
            <a:r>
              <a:t>Quick quiz (Slide 18): "Name three factors in make vs buy decision besides cost</a:t>
            </a:r>
          </a:p>
          <a:p>
            <a:pPr>
              <a:spcAft>
                <a:spcPts val="1000"/>
              </a:spcAft>
              <a:defRPr sz="1800">
                <a:solidFill>
                  <a:srgbClr val="333333"/>
                </a:solidFill>
              </a:defRPr>
            </a:pPr>
            <a:r>
              <a:t>Exercise assessment criteria: — Systematic use of decision frameworks (weighted scoring, criteria-based)</a:t>
            </a:r>
          </a:p>
          <a:p>
            <a:pPr>
              <a:spcAft>
                <a:spcPts val="600"/>
              </a:spcAft>
              <a:defRPr sz="1800">
                <a:solidFill>
                  <a:srgbClr val="333333"/>
                </a:solidFill>
              </a:defRPr>
            </a:pPr>
            <a:r>
              <a:t>Depth of analysis (not superficial - real research on suppliers)</a:t>
            </a:r>
          </a:p>
          <a:p>
            <a:pPr>
              <a:spcAft>
                <a:spcPts val="600"/>
              </a:spcAft>
              <a:defRPr sz="1800">
                <a:solidFill>
                  <a:srgbClr val="333333"/>
                </a:solidFill>
              </a:defRPr>
            </a:pPr>
            <a:r>
              <a:t>Automotive realism (considers safety, regulations, recall liability)</a:t>
            </a:r>
          </a:p>
          <a:p>
            <a:pPr>
              <a:spcAft>
                <a:spcPts val="600"/>
              </a:spcAft>
              <a:defRPr sz="1800">
                <a:solidFill>
                  <a:srgbClr val="333333"/>
                </a:solidFill>
              </a:defRPr>
            </a:pPr>
            <a:r>
              <a:t>Professional quality (could this be presented to management?)</a:t>
            </a:r>
          </a:p>
          <a:p>
            <a:pPr>
              <a:spcAft>
                <a:spcPts val="1000"/>
              </a:spcAft>
              <a:defRPr sz="1800">
                <a:solidFill>
                  <a:srgbClr val="333333"/>
                </a:solidFill>
              </a:defRPr>
            </a:pPr>
            <a:r>
              <a:t>Common student mistakes to watch for: — Choosing make vs buy based on single criterion (usually cost)</a:t>
            </a:r>
          </a:p>
          <a:p>
            <a:pPr>
              <a:spcAft>
                <a:spcPts val="600"/>
              </a:spcAft>
              <a:defRPr sz="1800">
                <a:solidFill>
                  <a:srgbClr val="333333"/>
                </a:solidFill>
              </a:defRPr>
            </a:pPr>
            <a:r>
              <a:t>Generic supplier evaluation (not automotive-specific)</a:t>
            </a:r>
          </a:p>
          <a:p>
            <a:pPr>
              <a:spcAft>
                <a:spcPts val="600"/>
              </a:spcAft>
              <a:defRPr sz="1800">
                <a:solidFill>
                  <a:srgbClr val="333333"/>
                </a:solidFill>
              </a:defRPr>
            </a:pPr>
            <a:r>
              <a:t>Forgetting lifecycle phase (focus only on development/production, ignore 20-year service)</a:t>
            </a:r>
          </a:p>
          <a:p>
            <a:pPr>
              <a:spcAft>
                <a:spcPts val="600"/>
              </a:spcAft>
              <a:defRPr sz="1800">
                <a:solidFill>
                  <a:srgbClr val="333333"/>
                </a:solidFill>
              </a:defRPr>
            </a:pPr>
            <a:r>
              <a:t>No risk consideration (assuming everything goes perfectly)</a:t>
            </a:r>
          </a:p>
          <a:p>
            <a:pPr>
              <a:spcAft>
                <a:spcPts val="600"/>
              </a:spcAft>
              <a:defRPr sz="1800">
                <a:solidFill>
                  <a:srgbClr val="333333"/>
                </a:solidFill>
              </a:defRPr>
            </a:pPr>
            <a:r>
              <a:t>Unrealistic (trying to make everything in-house, or outsourcing critical strategic items)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Session Success Criteria</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Students leave able to:</a:t>
            </a:r>
          </a:p>
          <a:p>
            <a:pPr>
              <a:spcAft>
                <a:spcPts val="600"/>
              </a:spcAft>
              <a:defRPr sz="1800">
                <a:solidFill>
                  <a:srgbClr val="333333"/>
                </a:solidFill>
              </a:defRPr>
            </a:pPr>
            <a:r>
              <a:t>✓ Develop supplier engagement strategies aligned with strategic importance</a:t>
            </a:r>
          </a:p>
          <a:p>
            <a:pPr>
              <a:spcAft>
                <a:spcPts val="600"/>
              </a:spcAft>
              <a:defRPr sz="1800">
                <a:solidFill>
                  <a:srgbClr val="333333"/>
                </a:solidFill>
              </a:defRPr>
            </a:pPr>
            <a:r>
              <a:t>✓ Apply systematic vendor selection processes with weighted evaluation criteria</a:t>
            </a:r>
          </a:p>
          <a:p>
            <a:pPr>
              <a:spcAft>
                <a:spcPts val="600"/>
              </a:spcAft>
              <a:defRPr sz="1800">
                <a:solidFill>
                  <a:srgbClr val="333333"/>
                </a:solidFill>
              </a:defRPr>
            </a:pPr>
            <a:r>
              <a:t>✓ Conduct make vs buy analysis using multi-criteria decision frameworks</a:t>
            </a:r>
          </a:p>
          <a:p>
            <a:pPr>
              <a:spcAft>
                <a:spcPts val="600"/>
              </a:spcAft>
              <a:defRPr sz="1800">
                <a:solidFill>
                  <a:srgbClr val="333333"/>
                </a:solidFill>
              </a:defRPr>
            </a:pPr>
            <a:r>
              <a:t>✓ Specify infrastructure requirements for development, production, and service</a:t>
            </a:r>
          </a:p>
          <a:p>
            <a:pPr>
              <a:spcAft>
                <a:spcPts val="600"/>
              </a:spcAft>
              <a:defRPr sz="1800">
                <a:solidFill>
                  <a:srgbClr val="333333"/>
                </a:solidFill>
              </a:defRPr>
            </a:pPr>
            <a:r>
              <a:t>✓ Create lifecycle management plans including maintenance, support, and obsolescence strategies</a:t>
            </a:r>
          </a:p>
          <a:p>
            <a:pPr>
              <a:spcAft>
                <a:spcPts val="600"/>
              </a:spcAft>
              <a:defRPr sz="1800">
                <a:solidFill>
                  <a:srgbClr val="333333"/>
                </a:solidFill>
              </a:defRPr>
            </a:pPr>
            <a:r>
              <a:t>✓ Recognize that agreements and infrastructure are enabling elements of systems engineering</a:t>
            </a:r>
          </a:p>
          <a:p>
            <a:pPr>
              <a:spcAft>
                <a:spcPts val="1000"/>
              </a:spcAft>
              <a:defRPr sz="1800">
                <a:solidFill>
                  <a:srgbClr val="333333"/>
                </a:solidFill>
              </a:defRPr>
            </a:pPr>
            <a:r>
              <a:t>Critical outcome: Students understand that systems engineering extends beyond technical design to include strategic supplier relationships, infrastructure planning, and lifecycle management. They can apply structured decision frameworks to make vs buy and vendor selection decisions.</a:t>
            </a:r>
          </a:p>
          <a:p>
            <a:pPr>
              <a:spcAft>
                <a:spcPts val="1000"/>
              </a:spcAft>
              <a:defRPr sz="1800">
                <a:solidFill>
                  <a:srgbClr val="333333"/>
                </a:solidFill>
              </a:defRPr>
            </a:pPr>
            <a:r>
              <a:t>Evidence of success: — Student can articulate criteria for make vs buy decision for a given component</a:t>
            </a:r>
          </a:p>
          <a:p>
            <a:pPr>
              <a:spcAft>
                <a:spcPts val="600"/>
              </a:spcAft>
              <a:defRPr sz="1800">
                <a:solidFill>
                  <a:srgbClr val="333333"/>
                </a:solidFill>
              </a:defRPr>
            </a:pPr>
            <a:r>
              <a:t>Student can develop weighted vendor evaluation matrix and justify scoring</a:t>
            </a:r>
          </a:p>
          <a:p>
            <a:pPr>
              <a:spcAft>
                <a:spcPts val="600"/>
              </a:spcAft>
              <a:defRPr sz="1800">
                <a:solidFill>
                  <a:srgbClr val="333333"/>
                </a:solidFill>
              </a:defRPr>
            </a:pPr>
            <a:r>
              <a:t>Student understands trade-offs of vertical integration (Tesla model vs traditional)</a:t>
            </a:r>
          </a:p>
          <a:p>
            <a:pPr>
              <a:spcAft>
                <a:spcPts val="600"/>
              </a:spcAft>
              <a:defRPr sz="1800">
                <a:solidFill>
                  <a:srgbClr val="333333"/>
                </a:solidFill>
              </a:defRPr>
            </a:pPr>
            <a:r>
              <a:t>Student can specify infrastructure requirements systematically</a:t>
            </a:r>
          </a:p>
          <a:p>
            <a:pPr>
              <a:spcAft>
                <a:spcPts val="600"/>
              </a:spcAft>
              <a:defRPr sz="1800">
                <a:solidFill>
                  <a:srgbClr val="333333"/>
                </a:solidFill>
              </a:defRPr>
            </a:pPr>
            <a:r>
              <a:t>Student recognizes lifecycle extends 25+ years beyond production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Additional Resources for Students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Standards and Guidelines: — ISO/IEC/IEEE 15288:2015: Systems and Software Engineering - System Life Cycle Processes (Section 4.2 Agreement Processes, Section 4.4 Enabling Processes)</a:t>
            </a:r>
          </a:p>
          <a:p>
            <a:pPr>
              <a:spcAft>
                <a:spcPts val="600"/>
              </a:spcAft>
              <a:defRPr sz="1800">
                <a:solidFill>
                  <a:srgbClr val="333333"/>
                </a:solidFill>
              </a:defRPr>
            </a:pPr>
            <a:r>
              <a:t>INCOSE Systems Engineering Handbook, Chapter 5: Agreement Processes</a:t>
            </a:r>
          </a:p>
          <a:p>
            <a:pPr>
              <a:spcAft>
                <a:spcPts val="600"/>
              </a:spcAft>
              <a:defRPr sz="1800">
                <a:solidFill>
                  <a:srgbClr val="333333"/>
                </a:solidFill>
              </a:defRPr>
            </a:pPr>
            <a:r>
              <a:t>ISO 10007:2017: Quality Management - Guidelines for Configuration Management</a:t>
            </a:r>
          </a:p>
          <a:p>
            <a:pPr>
              <a:spcAft>
                <a:spcPts val="600"/>
              </a:spcAft>
              <a:defRPr sz="1800">
                <a:solidFill>
                  <a:srgbClr val="333333"/>
                </a:solidFill>
              </a:defRPr>
            </a:pPr>
            <a:r>
              <a:t>ISO 55000:2014: Asset Management</a:t>
            </a:r>
          </a:p>
          <a:p>
            <a:pPr>
              <a:spcAft>
                <a:spcPts val="1000"/>
              </a:spcAft>
              <a:defRPr sz="1800">
                <a:solidFill>
                  <a:srgbClr val="333333"/>
                </a:solidFill>
              </a:defRPr>
            </a:pPr>
            <a:r>
              <a:t>Automotive-Specific: — IATF 16949:2016: Automotive Quality Management System Standard</a:t>
            </a:r>
          </a:p>
          <a:p>
            <a:pPr>
              <a:spcAft>
                <a:spcPts val="600"/>
              </a:spcAft>
              <a:defRPr sz="1800">
                <a:solidFill>
                  <a:srgbClr val="333333"/>
                </a:solidFill>
              </a:defRPr>
            </a:pPr>
            <a:r>
              <a:t>VDA 6.3: Process Audit (German automotive industry supplier audit standard)</a:t>
            </a:r>
          </a:p>
          <a:p>
            <a:pPr>
              <a:spcAft>
                <a:spcPts val="600"/>
              </a:spcAft>
              <a:defRPr sz="1800">
                <a:solidFill>
                  <a:srgbClr val="333333"/>
                </a:solidFill>
              </a:defRPr>
            </a:pPr>
            <a:r>
              <a:t>AIAG PPAP Manual: Production Part Approval Process (supplier qualification)</a:t>
            </a:r>
          </a:p>
          <a:p>
            <a:pPr>
              <a:spcAft>
                <a:spcPts val="600"/>
              </a:spcAft>
              <a:defRPr sz="1800">
                <a:solidFill>
                  <a:srgbClr val="333333"/>
                </a:solidFill>
              </a:defRPr>
            </a:pPr>
            <a:r>
              <a:t>SAE J1739: Potential Failure Mode and Effects Analysis (FMEA) - supplier risk assessment</a:t>
            </a:r>
          </a:p>
          <a:p>
            <a:pPr>
              <a:spcAft>
                <a:spcPts val="1000"/>
              </a:spcAft>
              <a:defRPr sz="1800">
                <a:solidFill>
                  <a:srgbClr val="333333"/>
                </a:solidFill>
              </a:defRPr>
            </a:pPr>
            <a:r>
              <a:t>Make vs Buy and Strategic Sourcing: — "Strategic Sourcing and Category Management" by Magnus Karlsson</a:t>
            </a:r>
          </a:p>
          <a:p>
            <a:pPr>
              <a:spcAft>
                <a:spcPts val="600"/>
              </a:spcAft>
              <a:defRPr sz="1800">
                <a:solidFill>
                  <a:srgbClr val="333333"/>
                </a:solidFill>
              </a:defRPr>
            </a:pPr>
            <a:r>
              <a:t>"Make or Buy: The Choice Between In-House Production and External Sourcing" (Harvard Business Review articles)</a:t>
            </a:r>
          </a:p>
          <a:p>
            <a:pPr>
              <a:spcAft>
                <a:spcPts val="600"/>
              </a:spcAft>
              <a:defRPr sz="1800">
                <a:solidFill>
                  <a:srgbClr val="333333"/>
                </a:solidFill>
              </a:defRPr>
            </a:pPr>
            <a:r>
              <a:t>"The Outsourcing Handbook: How to Implement a Successful Outsourcing Process" by Mark J. Power et al.</a:t>
            </a:r>
          </a:p>
          <a:p>
            <a:pPr>
              <a:spcAft>
                <a:spcPts val="1000"/>
              </a:spcAft>
              <a:defRPr sz="1800">
                <a:solidFill>
                  <a:srgbClr val="333333"/>
                </a:solidFill>
              </a:defRPr>
            </a:pPr>
            <a:r>
              <a:t>Contract Management: — "A Guide to the Project Management Body of Knowledge (PMBOK)" - Chapter on Procurement Management</a:t>
            </a:r>
          </a:p>
          <a:p>
            <a:pPr>
              <a:spcAft>
                <a:spcPts val="600"/>
              </a:spcAft>
              <a:defRPr sz="1800">
                <a:solidFill>
                  <a:srgbClr val="333333"/>
                </a:solidFill>
              </a:defRPr>
            </a:pPr>
            <a:r>
              <a:t>"Contract Management Body of Knowledge (CMBOK)" by NCMA</a:t>
            </a:r>
          </a:p>
          <a:p>
            <a:pPr>
              <a:spcAft>
                <a:spcPts val="600"/>
              </a:spcAft>
              <a:defRPr sz="1800">
                <a:solidFill>
                  <a:srgbClr val="333333"/>
                </a:solidFill>
              </a:defRPr>
            </a:pPr>
            <a:r>
              <a:t>"Getting to Yes: Negotiating Agreement Without Giving In" by Fisher &amp; Ury</a:t>
            </a:r>
          </a:p>
          <a:p>
            <a:pPr>
              <a:spcAft>
                <a:spcPts val="1000"/>
              </a:spcAft>
              <a:defRPr sz="1800">
                <a:solidFill>
                  <a:srgbClr val="333333"/>
                </a:solidFill>
              </a:defRPr>
            </a:pPr>
            <a:r>
              <a:t>Infrastructure and Lifecycle: — "Total Productive Maintenance" by Seiichi Nakajima</a:t>
            </a:r>
          </a:p>
          <a:p>
            <a:pPr>
              <a:spcAft>
                <a:spcPts val="600"/>
              </a:spcAft>
              <a:defRPr sz="1800">
                <a:solidFill>
                  <a:srgbClr val="333333"/>
                </a:solidFill>
              </a:defRPr>
            </a:pPr>
            <a:r>
              <a:t>"Asset Management Excellence: Optimizing Equipment Life-Cycle Decisions" by John D. Campbell</a:t>
            </a:r>
          </a:p>
          <a:p>
            <a:pPr>
              <a:spcAft>
                <a:spcPts val="600"/>
              </a:spcAft>
              <a:defRPr sz="1800">
                <a:solidFill>
                  <a:srgbClr val="333333"/>
                </a:solidFill>
              </a:defRPr>
            </a:pPr>
            <a:r>
              <a:t>"Software Obsolescence in Defence Systems" by Peter Sandborn</a:t>
            </a:r>
          </a:p>
          <a:p>
            <a:pPr>
              <a:spcAft>
                <a:spcPts val="1000"/>
              </a:spcAft>
              <a:defRPr sz="1800">
                <a:solidFill>
                  <a:srgbClr val="333333"/>
                </a:solidFill>
              </a:defRPr>
            </a:pPr>
            <a:r>
              <a:t>Online Resources: — Automotive Industry Action Group (AIAG): Supplier quality and PPAP resources</a:t>
            </a:r>
          </a:p>
          <a:p>
            <a:pPr>
              <a:spcAft>
                <a:spcPts val="600"/>
              </a:spcAft>
              <a:defRPr sz="1800">
                <a:solidFill>
                  <a:srgbClr val="333333"/>
                </a:solidFill>
              </a:defRPr>
            </a:pPr>
            <a:r>
              <a:t>Supply Chain Dive: News and analysis on automotive supply chain</a:t>
            </a:r>
          </a:p>
          <a:p>
            <a:pPr>
              <a:spcAft>
                <a:spcPts val="600"/>
              </a:spcAft>
              <a:defRPr sz="1800">
                <a:solidFill>
                  <a:srgbClr val="333333"/>
                </a:solidFill>
              </a:defRPr>
            </a:pPr>
            <a:r>
              <a:t>McKinsey Automotive &amp; Assembly insights: Strategic sourcing articles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Connections to Other Sessions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Builds on: — Session 2: ISO/IEC 15288 Agreement and Enabling Processes (theoretical foundation)</a:t>
            </a:r>
          </a:p>
          <a:p>
            <a:pPr>
              <a:spcAft>
                <a:spcPts val="600"/>
              </a:spcAft>
              <a:defRPr sz="1800">
                <a:solidFill>
                  <a:srgbClr val="333333"/>
                </a:solidFill>
              </a:defRPr>
            </a:pPr>
            <a:r>
              <a:t>Session 4: Requirements flow to suppliers, infrastructure requirements</a:t>
            </a:r>
          </a:p>
          <a:p>
            <a:pPr>
              <a:spcAft>
                <a:spcPts val="600"/>
              </a:spcAft>
              <a:defRPr sz="1800">
                <a:solidFill>
                  <a:srgbClr val="333333"/>
                </a:solidFill>
              </a:defRPr>
            </a:pPr>
            <a:r>
              <a:t>Session 5: Architecture decisions inform make vs buy</a:t>
            </a:r>
          </a:p>
          <a:p>
            <a:pPr>
              <a:spcAft>
                <a:spcPts val="600"/>
              </a:spcAft>
              <a:defRPr sz="1800">
                <a:solidFill>
                  <a:srgbClr val="333333"/>
                </a:solidFill>
              </a:defRPr>
            </a:pPr>
            <a:r>
              <a:t>Session 9: Supplier risks in project risk management</a:t>
            </a:r>
          </a:p>
          <a:p>
            <a:pPr>
              <a:spcAft>
                <a:spcPts val="600"/>
              </a:spcAft>
              <a:defRPr sz="1800">
                <a:solidFill>
                  <a:srgbClr val="333333"/>
                </a:solidFill>
              </a:defRPr>
            </a:pPr>
            <a:r>
              <a:t>Session 10: Decision analysis frameworks (MCDA for vendor selection, make vs buy)</a:t>
            </a:r>
          </a:p>
          <a:p>
            <a:pPr>
              <a:spcAft>
                <a:spcPts val="1000"/>
              </a:spcAft>
              <a:defRPr sz="1800">
                <a:solidFill>
                  <a:srgbClr val="333333"/>
                </a:solidFill>
              </a:defRPr>
            </a:pPr>
            <a:r>
              <a:t>Leads to: — Session 12: Safety requirements in supplier contracts (ISO 26262), cybersecurity in supply chain (ISO 21434)</a:t>
            </a:r>
          </a:p>
          <a:p>
            <a:pPr>
              <a:spcAft>
                <a:spcPts val="600"/>
              </a:spcAft>
              <a:defRPr sz="1800">
                <a:solidFill>
                  <a:srgbClr val="333333"/>
                </a:solidFill>
              </a:defRPr>
            </a:pPr>
            <a:r>
              <a:t>Session 13: Total cost of ownership includes supplier costs, infrastructure CAPEX/OPEX, lifecycle costs</a:t>
            </a:r>
          </a:p>
          <a:p>
            <a:pPr>
              <a:spcAft>
                <a:spcPts val="600"/>
              </a:spcAft>
              <a:defRPr sz="1800">
                <a:solidFill>
                  <a:srgbClr val="333333"/>
                </a:solidFill>
              </a:defRPr>
            </a:pPr>
            <a:r>
              <a:t>Session 15: Configuration management across supply chain, infrastructure management processes</a:t>
            </a:r>
          </a:p>
          <a:p>
            <a:pPr>
              <a:spcAft>
                <a:spcPts val="600"/>
              </a:spcAft>
              <a:defRPr sz="1800">
                <a:solidFill>
                  <a:srgbClr val="333333"/>
                </a:solidFill>
              </a:defRPr>
            </a:pPr>
            <a:r>
              <a:t>Session 16: Future trends (digital supply chains, AI in supplier management, blockchain for traceability)</a:t>
            </a:r>
          </a:p>
          <a:p>
            <a:pPr>
              <a:spcAft>
                <a:spcPts val="1000"/>
              </a:spcAft>
              <a:defRPr sz="1800">
                <a:solidFill>
                  <a:srgbClr val="333333"/>
                </a:solidFill>
              </a:defRPr>
            </a:pPr>
            <a:r>
              <a:t>Key concept thread: — Session 2: WHAT is systems engineering? (Process framework)</a:t>
            </a:r>
          </a:p>
          <a:p>
            <a:pPr>
              <a:spcAft>
                <a:spcPts val="600"/>
              </a:spcAft>
              <a:defRPr sz="1800">
                <a:solidFill>
                  <a:srgbClr val="333333"/>
                </a:solidFill>
              </a:defRPr>
            </a:pPr>
            <a:r>
              <a:t>Session 9: HOW do we manage projects? (Project management)</a:t>
            </a:r>
          </a:p>
          <a:p>
            <a:pPr>
              <a:spcAft>
                <a:spcPts val="600"/>
              </a:spcAft>
              <a:defRPr sz="1800">
                <a:solidFill>
                  <a:srgbClr val="333333"/>
                </a:solidFill>
              </a:defRPr>
            </a:pPr>
            <a:r>
              <a:t>Session 10: HOW do we make decisions and ensure quality? (Decision and quality)</a:t>
            </a:r>
          </a:p>
          <a:p>
            <a:pPr>
              <a:spcAft>
                <a:spcPts val="600"/>
              </a:spcAft>
              <a:defRPr sz="1800">
                <a:solidFill>
                  <a:srgbClr val="333333"/>
                </a:solidFill>
              </a:defRPr>
            </a:pPr>
            <a:r>
              <a:t>Session 11: HOW do we manage suppliers and infrastructure? (Organizational ecosystem) ← TODAY — Session 13: What are the lifecycle costs? (Economic analysis)</a:t>
            </a:r>
          </a:p>
          <a:p>
            <a:pPr>
              <a:spcAft>
                <a:spcPts val="1000"/>
              </a:spcAft>
              <a:defRPr sz="1800">
                <a:solidFill>
                  <a:srgbClr val="333333"/>
                </a:solidFill>
              </a:defRPr>
            </a:pPr>
            <a:r>
              <a:t>Recurring themes: — Traceability: Requirements traced to supplier deliverables</a:t>
            </a:r>
          </a:p>
          <a:p>
            <a:pPr>
              <a:spcAft>
                <a:spcPts val="600"/>
              </a:spcAft>
              <a:defRPr sz="1800">
                <a:solidFill>
                  <a:srgbClr val="333333"/>
                </a:solidFill>
              </a:defRPr>
            </a:pPr>
            <a:r>
              <a:t>Risk management: Supplier and infrastructure risks</a:t>
            </a:r>
          </a:p>
          <a:p>
            <a:pPr>
              <a:spcAft>
                <a:spcPts val="600"/>
              </a:spcAft>
              <a:defRPr sz="1800">
                <a:solidFill>
                  <a:srgbClr val="333333"/>
                </a:solidFill>
              </a:defRPr>
            </a:pPr>
            <a:r>
              <a:t>Lifecycle thinking: 25-30 year perspective</a:t>
            </a:r>
          </a:p>
          <a:p>
            <a:pPr>
              <a:spcAft>
                <a:spcPts val="600"/>
              </a:spcAft>
              <a:defRPr sz="1800">
                <a:solidFill>
                  <a:srgbClr val="333333"/>
                </a:solidFill>
              </a:defRPr>
            </a:pPr>
            <a:r>
              <a:t>Standards: ISO 26262, ASPICE flow to suppliers via contracts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Opening and Closing Strategies</a:t>
            </a:r>
          </a:p>
        </p:txBody>
      </p:sp>
      <p:sp>
        <p:nvSpPr>
          <p:cNvPr id="3" name="Content Placeholder 2"/>
          <p:cNvSpPr>
            <a:spLocks noGrp="1"/>
          </p:cNvSpPr>
          <p:nvPr>
            <p:ph idx="1"/>
          </p:nvPr>
        </p:nvSpPr>
        <p:spPr/>
        <p:txBody>
          <a:bodyPr/>
          <a:lstStyle/>
          <a:p>
            <a:pPr>
              <a:defRPr sz="2400" b="1">
                <a:solidFill>
                  <a:srgbClr val="2E5090"/>
                </a:solidFill>
              </a:defRPr>
            </a:pPr>
            <a:r>
              <a:t>Closing (Last 2 minutes):</a:t>
            </a:r>
          </a:p>
          <a:p>
            <a:pPr>
              <a:spcAft>
                <a:spcPts val="1000"/>
              </a:spcAft>
              <a:defRPr sz="1800">
                <a:solidFill>
                  <a:srgbClr val="333333"/>
                </a:solidFill>
              </a:defRPr>
            </a:pPr>
            <a:r>
              <a:t>Start with image of empty car factory (chip shortage) on screen as students enter. Begin:</a:t>
            </a:r>
          </a:p>
          <a:p>
            <a:pPr>
              <a:spcAft>
                <a:spcPts val="1000"/>
              </a:spcAft>
              <a:defRPr sz="1800">
                <a:solidFill>
                  <a:srgbClr val="333333"/>
                </a:solidFill>
              </a:defRPr>
            </a:pPr>
            <a:r>
              <a:t>Look at this image. This is a brand-new automotive factory sitting EMPTY in 2021. Not because of technical failure. Not because of poor design. But because tiny silicon chips - each costing $5 - were unavailable.</a:t>
            </a:r>
          </a:p>
          <a:p>
            <a:pPr>
              <a:spcAft>
                <a:spcPts val="1000"/>
              </a:spcAft>
              <a:defRPr sz="1800">
                <a:solidFill>
                  <a:srgbClr val="333333"/>
                </a:solidFill>
              </a:defRPr>
            </a:pPr>
            <a:r>
              <a:t>The global automotive industry lost $210 billion. Millions of vehicles unbuilt. All because of supplier and infrastructure management failures.</a:t>
            </a:r>
          </a:p>
          <a:p>
            <a:pPr>
              <a:spcAft>
                <a:spcPts val="1000"/>
              </a:spcAft>
              <a:defRPr sz="1800">
                <a:solidFill>
                  <a:srgbClr val="333333"/>
                </a:solidFill>
              </a:defRPr>
            </a:pPr>
            <a:r>
              <a:t>Today, we learn how to engineer the organizational ecosystem - suppliers, contracts, infrastructure - that enables complex systems. Because brilliant technical design is worthless if you can't source components or support the product.</a:t>
            </a:r>
          </a:p>
          <a:p>
            <a:pPr>
              <a:spcAft>
                <a:spcPts val="1000"/>
              </a:spcAft>
              <a:defRPr sz="1800">
                <a:solidFill>
                  <a:srgbClr val="333333"/>
                </a:solidFill>
              </a:defRPr>
            </a:pPr>
            <a:r>
              <a:t>Welcome to Session 11: Agreement and Infrastructure Management - the 'other half' of systems engineering.</a:t>
            </a:r>
          </a:p>
          <a:p>
            <a:pPr>
              <a:spcAft>
                <a:spcPts val="1000"/>
              </a:spcAft>
              <a:defRPr sz="1800">
                <a:solidFill>
                  <a:srgbClr val="333333"/>
                </a:solidFill>
              </a:defRPr>
            </a:pPr>
            <a:r>
              <a:t>Return to the opening image:</a:t>
            </a:r>
          </a:p>
          <a:p>
            <a:pPr>
              <a:spcAft>
                <a:spcPts val="1000"/>
              </a:spcAft>
              <a:defRPr sz="1800">
                <a:solidFill>
                  <a:srgbClr val="333333"/>
                </a:solidFill>
              </a:defRPr>
            </a:pPr>
            <a:r>
              <a:t>We started with empty factories - the cost of ignoring what we learned today. You now have the frameworks to prevent this:</a:t>
            </a:r>
          </a:p>
          <a:p>
            <a:pPr>
              <a:spcAft>
                <a:spcPts val="600"/>
              </a:spcAft>
              <a:defRPr sz="1800">
                <a:solidFill>
                  <a:srgbClr val="333333"/>
                </a:solidFill>
              </a:defRPr>
            </a:pPr>
            <a:r>
              <a:t>You can segment suppliers strategically and engage them effectively</a:t>
            </a:r>
          </a:p>
          <a:p>
            <a:pPr>
              <a:spcAft>
                <a:spcPts val="600"/>
              </a:spcAft>
              <a:defRPr sz="1800">
                <a:solidFill>
                  <a:srgbClr val="333333"/>
                </a:solidFill>
              </a:defRPr>
            </a:pPr>
            <a:r>
              <a:t>You can make systematic make vs buy decisions, not gut feel</a:t>
            </a:r>
          </a:p>
          <a:p>
            <a:pPr>
              <a:spcAft>
                <a:spcPts val="600"/>
              </a:spcAft>
              <a:defRPr sz="1800">
                <a:solidFill>
                  <a:srgbClr val="333333"/>
                </a:solidFill>
              </a:defRPr>
            </a:pPr>
            <a:r>
              <a:t>You can select vendors using rigorous, weighted criteria</a:t>
            </a:r>
          </a:p>
          <a:p>
            <a:pPr>
              <a:spcAft>
                <a:spcPts val="600"/>
              </a:spcAft>
              <a:defRPr sz="1800">
                <a:solidFill>
                  <a:srgbClr val="333333"/>
                </a:solidFill>
              </a:defRPr>
            </a:pPr>
            <a:r>
              <a:t>You can plan infrastructure requirements proactively</a:t>
            </a:r>
          </a:p>
          <a:p>
            <a:pPr>
              <a:spcAft>
                <a:spcPts val="600"/>
              </a:spcAft>
              <a:defRPr sz="1800">
                <a:solidFill>
                  <a:srgbClr val="333333"/>
                </a:solidFill>
              </a:defRPr>
            </a:pPr>
            <a:r>
              <a:t>You can manage systems across 25-30 year lifecycles</a:t>
            </a:r>
          </a:p>
          <a:p>
            <a:pPr>
              <a:spcAft>
                <a:spcPts val="1000"/>
              </a:spcAft>
              <a:defRPr sz="1800">
                <a:solidFill>
                  <a:srgbClr val="333333"/>
                </a:solidFill>
              </a:defRPr>
            </a:pPr>
            <a:r>
              <a:t>Remember: Modern vehicles are 70% supplier content. You're not engineering a car - you're engineering a supply chain and infrastructure ecosystem that develops, produces, and supports a car for decades.</a:t>
            </a:r>
          </a:p>
          <a:p>
            <a:pPr>
              <a:spcAft>
                <a:spcPts val="1000"/>
              </a:spcAft>
              <a:defRPr sz="1800">
                <a:solidFill>
                  <a:srgbClr val="333333"/>
                </a:solidFill>
              </a:defRPr>
            </a:pPr>
            <a:r>
              <a:t>The exercise challenges you to apply these frameworks to autonomous driving systems. Approach it like a real program - research suppliers, analyze trade-offs, plan for the long term.</a:t>
            </a:r>
          </a:p>
          <a:p>
            <a:pPr>
              <a:spcAft>
                <a:spcPts val="1000"/>
              </a:spcAft>
              <a:defRPr sz="1800">
                <a:solidFill>
                  <a:srgbClr val="333333"/>
                </a:solidFill>
              </a:defRPr>
            </a:pPr>
            <a:r>
              <a:t>Next session: We tackle Safety and Security - and you'll see how today's supplier agreements and infrastructure enable (or undermine) safety.</a:t>
            </a:r>
          </a:p>
          <a:p>
            <a:pPr>
              <a:spcAft>
                <a:spcPts val="1000"/>
              </a:spcAft>
              <a:defRPr sz="1800">
                <a:solidFill>
                  <a:srgbClr val="333333"/>
                </a:solidFill>
              </a:defRPr>
            </a:pPr>
            <a:r>
              <a:t>See you in Session 12.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Learning Objectives Mapping to Assessment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 Session Objective | Assessment Method | Success Criteria |</a:t>
            </a:r>
          </a:p>
          <a:p>
            <a:pPr>
              <a:spcAft>
                <a:spcPts val="1000"/>
              </a:spcAft>
              <a:defRPr sz="1800">
                <a:solidFill>
                  <a:srgbClr val="333333"/>
                </a:solidFill>
              </a:defRPr>
            </a:pPr>
            <a:r>
              <a:t>|-------------------|-------------------|------------------|</a:t>
            </a:r>
          </a:p>
          <a:p>
            <a:pPr>
              <a:spcAft>
                <a:spcPts val="1000"/>
              </a:spcAft>
              <a:defRPr sz="1800">
                <a:solidFill>
                  <a:srgbClr val="333333"/>
                </a:solidFill>
              </a:defRPr>
            </a:pPr>
            <a:r>
              <a:t>| Understand supplier engagement strategies | Exercise Part 2 | Identifies strategic vs transactional suppliers; appropriate engagement for each |</a:t>
            </a:r>
          </a:p>
          <a:p>
            <a:pPr>
              <a:spcAft>
                <a:spcPts val="1000"/>
              </a:spcAft>
              <a:defRPr sz="1800">
                <a:solidFill>
                  <a:srgbClr val="333333"/>
                </a:solidFill>
              </a:defRPr>
            </a:pPr>
            <a:r>
              <a:t>| Apply vendor selection criteria | Exercise Part 2 | Develops weighted evaluation matrix; systematically scores suppliers |</a:t>
            </a:r>
          </a:p>
          <a:p>
            <a:pPr>
              <a:spcAft>
                <a:spcPts val="1000"/>
              </a:spcAft>
              <a:defRPr sz="1800">
                <a:solidFill>
                  <a:srgbClr val="333333"/>
                </a:solidFill>
              </a:defRPr>
            </a:pPr>
            <a:r>
              <a:t>| Conduct make vs buy analysis | Exercise Part 1 | Uses multi-criteria framework; justifies decisions with data/reasoning |</a:t>
            </a:r>
          </a:p>
          <a:p>
            <a:pPr>
              <a:spcAft>
                <a:spcPts val="1000"/>
              </a:spcAft>
              <a:defRPr sz="1800">
                <a:solidFill>
                  <a:srgbClr val="333333"/>
                </a:solidFill>
              </a:defRPr>
            </a:pPr>
            <a:r>
              <a:t>| Define infrastructure requirements | Exercise Part 3 | Specifies test equipment, service tools with clear requirements |</a:t>
            </a:r>
          </a:p>
          <a:p>
            <a:pPr>
              <a:spcAft>
                <a:spcPts val="1000"/>
              </a:spcAft>
              <a:defRPr sz="1800">
                <a:solidFill>
                  <a:srgbClr val="333333"/>
                </a:solidFill>
              </a:defRPr>
            </a:pPr>
            <a:r>
              <a:t>| Develop lifecycle management plans | Exercise Part 3 | Addresses maintenance, updates, obsolescence with realistic timelines |</a:t>
            </a:r>
          </a:p>
          <a:p>
            <a:pPr>
              <a:spcAft>
                <a:spcPts val="1000"/>
              </a:spcAft>
              <a:defRPr sz="1800">
                <a:solidFill>
                  <a:srgbClr val="333333"/>
                </a:solidFill>
              </a:defRPr>
            </a:pPr>
            <a:r>
              <a:t>| Recognize organizational aspects of SE | In-class discussion + exercise | Integrates business, technical, and operational considerations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Session 11 Framework</a:t>
            </a:r>
          </a:p>
          <a:p>
            <a:pPr>
              <a:spcAft>
                <a:spcPts val="1000"/>
              </a:spcAft>
              <a:defRPr sz="1800">
                <a:solidFill>
                  <a:srgbClr val="333333"/>
                </a:solidFill>
              </a:defRPr>
            </a:pPr>
            <a:r>
              <a:t>Next: Session 12 (Specialty Engineering: Safety &amp; Security)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