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3: Traditional vs Model-Based Systems Engineering'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Traditional vs Model-Based Systems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3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3. Last week, we learned the frameworks that guide systems engineering: ISO/IEC 15288, the V-Model, systems thinking principles. Today, we answer a practical question that every systems engineer faces: How do we actually DO this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Recap - The Frameworks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recap. Session 2 gave us: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15288: The standard technical processes - requirements, architecture, design, verification,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V-Model: Decompose requirements, implement, integrate, verify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 cycle stages: Concept to retirement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 engagement: The foundation of all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are our WHAT. Today, we tackle the HOW.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reality: You can have the best framework in the world, but if you implement it poorly, you still fail. The question is: What tools and approaches give us the best chance of success?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Real-World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paint a picture. It's 2005. You're a systems engineer on a complex automotive platform. Your job is to manage: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3,000+ system requirements (in Word documents)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500+ subsystem specifications (in Excel spreadsheets)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1,200+ interface definitions (in PowerPoint presentations)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800+ test cases (in various templates)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Hundreds of stakeholders across 50+ suppliers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answer this: How do you know if requirement R-1247 is properly verified by test case TC-0892? How do you track the impact when a stakeholder changes a critical requirement? How do you ensure architectural consistency?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spend 60% of your time managing documents, not engineering the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traditional approach. It works, but it's painful. There has to be a better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Evolution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has evolved through three major eras: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Era 1: Document-Centric SE (1960s-1990s) — Requirements in text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Designs in drawings and specs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traceability matrices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Works, but doesn't scale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Era 2: Digital Documents (1990s-2010s) — Word processors and spreadsheets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management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than paper, but still document-focused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is manual or fragile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Era 3: Model-Based SE (2000s-present) — Requirements as model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Designs as executable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Simulation and analysis built-in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We're living through this transition right now. Some industries (aerospace, defense) are heavily MBSE. Others (automotive) are in the middle. Understanding both approaches is critical.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Traditional Systems Engineering - The Document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systems engineering is fundamentally document-centric. What does that mean?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engineering artifact is captured in a document: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→ Requirements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→ Architecture Specification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→ Design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→ Interface Control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Tests → Test Plans and Procedures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documents are the single source of truth. Engineers create them, review them, approve them, baseline them, and maintain them throughout the system life cycle.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walk you through how this works in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Traditional SE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Imagine we're developing a brake-by-wire system. Here's the traditional workflow: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1: Requirements Definition — Systems engineer interviews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Writes 'System Requirements Specification' (SRS)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Contains functional requirements: 'The system shall reduce vehicle speed at rate proportional to pedal force'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Contains performance requirements: 'Braking force shall achieve 1.0g deceleration'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goes through review and approval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version stored in document management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2: Architecture Design — Architect reads SRS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Creates 'System Architecture Document' (SAD)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Defines subsystems: Pedal sensor, ECU, hydraulic actuator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Allocates requirements to subsystems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Creates interface specifications (separate documents)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Review, approve, baseline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3: Detailed Design — Component engineers receive allocated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detailed design documents for each component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reviews, approvals, baselines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4: Verification — Test engineers read requirements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Write test procedures (new documents)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Execute tests, record results (test reports - more documents)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 what's happening? Information flows through documents. Changes propagate through document revisions.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Traditional SE -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criticize this approach, let's acknowledge its strengths. Traditional document-based SE has served us well for decades: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Familiar and Accessible — Everyone knows Word, Excel, PowerPoint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training barrier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special software licenses required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Human-Readable — Natural language is flexible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Easy to communicate with non-technical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express complex ideas clearly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Acceptance — Regulations often require specific document deliverables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Established audit trails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Proven in certification processes (ISO 26262, DO-178C,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 for Simple Systems — Effective for systems with 100-500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for stable, well-understood domains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Proven track record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Flexibility — Can capture any type of information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Easy to add context, rationale,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constrained by tool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approach has delivered spacecraft, aircraft, automobiles, medical devices successfully. It's not broken - it's just challenged by modern complexity.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Model-Based Systems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Model-Based Systems Engineering (MBSE) represents a fundamental paradigm shift: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SE: Information captured in documents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MBSE: Information captured in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INCOSE defines MBSE as: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'The formalized application of modeling to support system requirements, design, analysis, verification and validation activities beginning in the conceptual design phase and continuing throughout development and later life cycle phases.'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break this down: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Formalized modeling: Not just drawings - structured, machine-readable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Support all activities: Requirements, design, analysis, V&amp;V all in the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Entire life cycle: From concept to retirement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key difference: — Documents are for humans to read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Models are for humans AND machines to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model is a structured, executable representation of the system. Not just a picture - it's a database of system information with rules, relationships, and semantics.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MBSE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paradigm shift with our brake-by-wire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Approach: — Requirement text: 'The system shall reduce vehicle speed at rate proportional to pedal force'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Exists as natural language in Word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manually trace to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manually create test case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 Approach: — Requirement exists as model element with: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Unique ID (automatically assigned)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 text (structured field)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 (linked attribute)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Allocated architecture element (automatic relationship)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test case (automatic trace)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relationships are machine-readable — Changes automatically propagate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analysis is automatic query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magic: The model maintains relationships automatically. Change a requirement, and you instantly see: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Which architecture elements are affected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Which test cases need updating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Which subsystems must be re-verified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power of MBSE.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Core Principles of MBSE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 rests on four core principles: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Principle 1: Single Source of Truth — One authoritative model, not scattered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stakeholders work from the same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synchronization problems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Principle 2: Formalized Semantics — Model elements have precise meanings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Relationships have defined rules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Machine can reason about the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Principle 3: Automated Traceability — Requirements trace to architecture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traces to tests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Impact analysis is querying, not detective 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Principle 4: Model Continuity — Same model used across life cycle stages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model → Architecture model → Design model → Test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Continuous thread from stakeholder needs to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in automotive: — Stakeholder says: 'I need emergency braking'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becomes a requirement element in the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architect allocates it to 'Autonomous Emergency Braking' system element — That system is decomposed into subsystem elements: sensor fusion, decision logic, brake actuation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subsystem has interface elements defined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engineer links test case elements to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stakeholder changes the requirement, all these relationships update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model continuity and traceability in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MBSE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how MBSE works in practice: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Stakeholder Needs Modeling — Capture stakeholder needs as model elements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use cases and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operational context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Requirements Modeling — Transform needs into formal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Structure requirements hierarchically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verification methods in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Functional/Logical Architecture — Model system functions (what the system does)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functional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Allocate requirements to functions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Physical Architecture — Define physical components (hardware, software)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Map functions to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physical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Behavior Modeling — Model system dynamics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Simulate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Verification &amp; Validation Modeling — Define test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Link tests to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Capture V&amp;V results in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traditional: All of this exists in ONE integrated model, not separate documents. Changes ripple through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MBSE Benefits - Why Make the Shift?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adopt MBSE? Let me give you concrete benefits, backed by industry data: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1: Improved Quality — Early error detection: Model consistency checks catch errors in requirements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Reduced rework: NASA reports 40-60% reduction in late-stage rework with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completeness: Automated checks find missing requirements and interfaces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2: Better Communication — Visual models: Easier to understand than 500-page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 language: All stakeholders work from same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Reduced ambiguity: Formalized semantics eliminate interpretation errors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3: Automated Traceability — Real-time impact analysis: Know instantly what changes affect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Audit readiness: Traceability reports generated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Compliance: Easier to demonstrate regulatory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4: Reuse — Model libraries: Reuse proven system patterns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 lines: Model variants more easily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Reduced development time: Lockheed Martin reports 25% reduction in development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5: Integration with Simulation — Early validation: Simulate system behavior before building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What-if analysis: Test design alternatives quickly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prediction: Verify performance requirements in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 6: Scalability — Handles 10,000+ requirements effectively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Manages complex multi-level architectures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Supports large distributed teams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Industry data: — JPL (NASA): 30% reduction in integration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Lockheed Martin: 50% improvement in requirements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Boeing: 25% faster time to market for complex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ROI is real, but there's a catch...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MBSE Challenges and Realities (Slides 15-17, ~8 minutes)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MBSE Challenges - The Honest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 isn't a silver bullet. Let me give you the honest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Steep Learning Curve — Learning SysML, Cameo, Rhapsody, etc. takes months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mindset than document-based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Engineers resist change ('I know Word, why learn this?')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Training costs: $2,000-5,000 per engineer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Expensive Tools — Enterprise MBSE tools: $5,000-15,000 per license per year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 costs: servers, IT support, tool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Small companies struggle with upfront investment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Organizational Change — Requires process changes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roles (model managers, librarians)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Cultural resistance: 'We've always done it with documents'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Takes 2-3 years to fully transition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Tooling Immaturity — MBSE tools still evolving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Interoperability issues between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all domains have mature model libraries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Over-Engineering Risk — Easy to build overly complex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'Modeling for modeling's sake' - adding no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discipline to model at right level of abstraction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6: Doesn't Replace Engineering Judgment — Models don't design systems - engineers do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Garbage in, garbage 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Still need skilled systems engineers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7: Regulatory Uncertainty — Some regulations still require specific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Auditors may not accept models (yet)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May need to generate documents FROM models anyway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Bottom line: MBSE has significant adoption barriers. Success requires commitment, training, and cultural change.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Adoption Reality - Industry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look at reality. MBSE adoption varies dramatically by industry: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 Adoption (60-80%): — Aerospace &amp; Defense: NASA, Lockheed Martin, Northrop Grumman - heavily invested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Satellite systems: Complex, long life cycles, benefit from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Military systems: Mandated by U.S. DoD in some contracts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Medium Adoption (30-50%): — Commercial aerospace: Boeing 787 used MBSE partially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Medical devices: Complex regulated devices (pacemakers, surgical robots)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Rail systems: High-speed trains, signaling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Growing Adoption (10-30%): — Automotive: Varies by OEM - premium brands leading (Mercedes, BMW)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Industrial automation: Factory systems, robotics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Low Adoption (&lt;10%): — Consumer electronics: Fast cycles, less benefit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Small companies: Cost barriers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Simple mechanical systems: Overkill for the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Automotive-specific: — Tier 1 suppliers: Bosch, Continental experimenting with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OEMs: Using MBSE for specific systems (ADAS, powertrains) but not enterprise-wide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Trend: Growing adoption driven by electrification, autonomy, software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We're in a transition period. You'll likely encounter both approaches in your career.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Hybrid Approaches - The Pragmatic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practical reality: Most organizations don't do pure MBSE or pure traditional SE. They do hybrid: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Hybrid Pattern: — High-level architecture: Model-based (SysML)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Detailed requirements: Traditional documents (managed in DOORS, Jira)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Mechanical design: CAD tools (not MBSE)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design: Simulink models (behavioral MBSE)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Electrical design: Traditional schematics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Testing: Mix of model-based test generation and manual test procedures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hybrid? — Leverage MBSE where it adds most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Keep familiar approaches where they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Gradual transition minimizes disruption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Lower cost and risk than full MBSE adoption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Automotive powertrain development — System requirements: Traditional document (stakeholder comfort)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algorithm design: Simulink models (enables simulation)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architecture: AUTOSAR models (industry standard)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Calibration data: Excel spreadsheets (engineer preference)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cases: Model-based test generation from Simulink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pragmatic approach is common and often sensible. Use the right tool for each job.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MBSE Tools and Languages (Slides 18-21, ~15 minutes)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MBSE Tool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 isn't one tool - it's an ecosystem. Let me map it out: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1: Systems Modeling Tools — Purpose: Create system architecture, requirements, behavioral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Cameo Systems Modeler, IBM Rhapsody, Vitech GENESYS, PTC Windchill Modeler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Language: Typically SysML (Systems Modeling Language)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2: Behavioral/Simulation Tools — Purpose: Model dynamic behavior, simulate system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MATLAB/Simulink, Modelica/Dymola, ANSYS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case: Control systems, physical systems, multi-domain simulation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3: Requirements Management Tools — Purpose: Manage requirements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IBM DOORS, Jama Connect, Polarion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integrate with: SysML tools, Simulink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4: Architecture Tools — Purpose: Define system structure, allocations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Enterprise Architect, MagicDraw, Capella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Category 5: Automotive-Specific — AUTOSAR: Software architecture standard for automotive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EAST-ADL: Architecture description language for automotive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challenge: These tools must integrate. You don't use just one - you use a toolchain.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SysML - The Language of MBSE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focus on SysML - Systems Modeling Language. This is the lingua franca of MBSE.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SysML? — A graphical modeling language for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UML (Unified Modeling Language from software)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Standardized by OMG (Object Management Group)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Supported by most MBSE tools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SysML has 9 diagram types organized in 4 categories: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Structure Diagrams (What is the system made of?)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Block Definition Diagram (bdd): Shows system hierarchy, components, relationships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Internal Block Diagram (ibd): Shows internal structure, interfaces, flows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Package Diagram: Organizes model elements into packages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Behavior Diagrams (What does the system do?)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Activity Diagram: Shows functional flows and control logic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Sequence Diagram: Shows interactions between components over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 Machine Diagram: Shows system states and transitions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Case Diagram: Shows system interactions with external actors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Requirement Diagrams (What must the system satisfy?)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 Diagram: Shows requirements and relationships (derive, satisfy, verify, refine)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Parametric Diagrams (What are the system constraints?)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Parametric Diagram: Shows mathematical relationships and constraints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Brake-by-wire system in SysML — Block Definition Diagram: Shows BrakeSystem block composed of PedalSensor, BrakeECU, HydraulicActuator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Internal Block Diagram: Shows how these blocks connect (signal flows, power flows)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Activity Diagram: Shows 'Apply Braking' activity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 Diagram: Shows 'Deceleration Requirement' satisfied by 'BrakeSystem'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Parametric Diagram: Shows equation: BrakingForce = f(PedalPosition, VehicleSpeed)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SysML enables you to capture the ENTIRE system in one coherent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Simulink &amp; MATLAB - Behavioral MBSE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let's talk about Simulink and MATLAB - the workhorses of behavioral modeling in automotive.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is Simulink? — A block diagram environment for modeling dynamic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Developed by MathWorks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extensively in automotive for control systems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 model-based design (requirements → model → simulation → code generation)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capabilities: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Behavioral Modeling — Model control algorithms, signal processing, state machines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Represents continuous (physics) and discrete (logic)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Simulation — Execute the model to predict system behavior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'what-if'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performance requirements before hardware exists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Automatic Code Generation — Generate production C/C++ code directly from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Eliminates hand-coding errors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in safety-critical automotive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Integration with Requirements — Link Simulink blocks to requirements (via Simulink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test case generation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Coverage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MATLAB Integration: — MATLAB provides the computation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data, optimize parameters, run Monte Carlo simulations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Pre-processing and post-processing of simulation results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example: ABS (Anti-lock Braking System) — Model vehicle dynamics: Tire slip, braking force, vehicle deceleration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ABS control algorithm: Slip detection, pressure modulation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Simulate scenario: Emergency braking on wet road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requirement: 'System shall prevent wheel lock-up' - verified via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Generate code: ABS ECU software generated from validated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this matters: — Traditional approach: Write control algorithm spec (document), hand-code in C, debug on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Simulink approach: Model algorithm, simulate extensively, auto-generate verified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50-70% reduction in development time for complex control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MBSE for the behavioral domain.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Toolchain Integration - Making It Work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hard truth: No single tool does everything. Real MBSE requires toolchain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automotive MBSE toolchain: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Requirements Management — Tool: IBM DOORS or Jama Connect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Capture and manage text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SysML tools, Simulink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System Architecture — Tool: Cameo Systems Modeler (SysML)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Define system structure, allocations,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Requirements tool, Simulink, CAD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Behavioral Modeling — Tool: MATLAB/Simulink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Model and simulate control systems, dynamics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Requirements tool, SysML, code generators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Software Architecture — Tool: AUTOSAR tooling (e.g., Vector DaVinci)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Define automotive software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Simulink (code generation),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Mechanical Design — Tool: CAD (CATIA, NX, SolidWorks)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Design physical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SysML (for geometry allocation), simulation tools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Test Management — Tool: Vector CANoe, dSPACE, or custom test automation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 Execute tests, capture results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Interfaces with: Requirements tool (for traceability)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challenges: — Different data formats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Synchronization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Licensing costs multiply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integration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 patterns: — API integration: Tools communicate via APIs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 data formats: ReqIF (requirements), OSLC (lifecycle), FMI (simulation)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exchange: Export/import models between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backbone: Central traceability database that all tools update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example: Mercedes-Benz MBSE toolchain — Requirements: DOORS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Architecture: Enterprise Architect (SysML)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Controls: Simulink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Software: AUTOSAR tooling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Custom integration layer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End-to-end traceability from customer needs to test cases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Building and maintaining this toolchain is a significant investment. But for complex systems, the benefits outweigh the costs.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Digital Twins - The Next Frontier (Slides 22-23, ~7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a Digital Twin?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let me introduce you to the next evolution in MBSE: Digital Twins.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digital twin is a virtual representation of a physical system that: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Mirrors the physical system in real-time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updated with sensor data from the physical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Enables simulation, prediction, and optimization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Spans the entire life cycle from design to operation to retirement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traditional MBSE models: — Traditional MBSE: Model used during development, then archived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Twin: Model continues to evolve and is used throughout operation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concept: — Create a high-fidelity model during development (MBSE approach)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 system with sensors and connectivity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system sends operational data to digital twin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 updates to reflect actual system state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digital twin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monitoring: Is the system operating within parameters?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Predictive maintenance: Will a component fail soon?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Optimization: How can we tune system for better performance?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What-if analysis: What happens if we change this parameter?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Automotive digital twin — During development: Create Simulink model of electric powertrain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production vehicle: Embed sensors (battery state, motor temperature, energy consumption)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During operation: Vehicle streams data to cloud digital twin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 simulates battery degradation, predicts remaining range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Optimizes charging strategy based on real usage patterns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Predicts maintenance needs before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closes the loop from design to operation.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When to Use Traditional SE vs MBSE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for the critical question: When should you use traditional document-based SE, and when should you use MBSE?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There's no universal answer, but here's a decision framework: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Traditional (Document-Based) SE when: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Simple Systems — Fewer than 500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Well-understood domain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interdependency between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Simple mechanical assembly, consumer appliance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Stable Requirements — Requirements won't change frequently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 time between design and deployment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Infrastructure projects (bridges, buildings)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Limited Resources — Small team (&lt; 10 people)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Budget constraints (can't afford MBSE tools)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time for training investment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Regulatory Constraints — Regulations mandate specific document deliverables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Auditors unfamiliar with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Some medical device certifications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Short Life Cycle — System will be obsolete quickly (&lt; 2 years)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worth investment in comprehensive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Marketing prototypes, short-term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MBSE when: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Complex Systems — 1,000+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interdependency (aerospace, automotive platforms)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Multiple subsystems and interfaces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Modern vehicles, aircraft, satellites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Evolving Requirements — Expect significant changes during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Agile development approach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to manage change impact efficiently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Long Life Cycle — System will be in service 10+ years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to maintain and evolve over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Return on MBSE investment is high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Commercial aircraft, power plants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Reuse Requirements — Product line engineering (multiple variants)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Platform-based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reuse saves significant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Automotive platforms (VW MQB, Toyota TNGA)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Simulation-Intensive — Need to verify performance before hardware exists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Safety-critical systems requiring extensive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Flight control systems, autonomous vehicles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Large Distributed Teams — 50+ engineers across multiple sites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consistent communication and collaboration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 provides common language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High Consequence of Failure — Safety-critical or mission-critical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rigorous traceability and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compliance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Medical implants, aircraft, defense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hybrid approach: Use MBSE for complex subsystems, traditional for simple ones.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Migration Path - How to Transition to MBSE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you decide MBSE makes sense, how do you get there? Here's a pragmatic migration path: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1: Foundation (6-12 months) — Action: Select tools, train core team (5-10 people)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Pilot: Pick ONE subsystem for MBSE pilot project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Deliverable: Lessons learned, tool configuration, process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Low - limited scope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2: Expansion (12-18 months) — Action: Roll out to additional projects, train more engineers (20-30)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Connect MBSE tools to existing requirements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Deliverable: Proven MBSE process, expanded model library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Medium - change management challenges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3: Enterprise Adoption (18-36 months) — Action: Make MBSE the standard approach for new complex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Infrastructure: Enterprise model repositories, governance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Deliverable: Organizational competency in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Risk: High - requires cultural change, sustained executive support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4: Optimization (Ongoing) — Action: Integrate digital twin concepts, advanced simulation, AI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Deliverable: Mature MBSE practice, 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success factors: — Executive sponsorship and sustained funding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Don't try to MBSE everything - focus on high-value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Invest in training (20-40 hours per engineer)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with architecture modeling, add behavioral modeling later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 benefits (defect reduction, time savings) to justify investment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pitfalls: — Trying to model everything to excessive detail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Insufficient training - engineers revert to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selection without process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integration with existing toolchain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Underestimating cultural resistance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Realistic timeline: 3-5 years for full organizational transformation.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Future - Where SE is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wrap up, let me give you a glimpse of where systems engineering is heading: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1: MBSE Becomes Default for Complex Systems — 5-10 years: MBSE will be standard practice in automotive, aerospace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Universities will teach SysML alongside CAD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 SE will persist for simple systems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2: Digital Twins Everywhere — Every connected product will have a digital twin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Twins will enable new business models (performance-as-a-service)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Regulation may require twins for safety-critical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3: AI-Assisted Systems Engineering — AI will help design optimal architectures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requirement generation from natural language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Intelligent test case generation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Anomaly detection in complex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4: Continuous Engineering — Blurring line between development and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OTA updates mean systems never 'finish'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DevOps for systems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5: Democratization of MBSE — Lower-cost tools (cloud-based, subscription models)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Easier-to-use interfaces (less UML/SysML expertise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Open-source MBSE tools emerging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Trend 6: Lifecycle Digital Thread — Unbroken digital thread from stakeholder needs → design → manufacturing → operation →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data in connected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Complete traceability across entire value chain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this means for you: — Invest in learning MBSE tools and languages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Understand data science and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 software engineering skills (models ARE software)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Think across the entire system life 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 comfortable with continuous learning (tools evolve rapidly)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future systems engineer is part traditional engineer, part data scientist, part software engineer.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Connecting the Sessions - Your Journey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where we've been and where we're going: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Introduction to Systems Engineering — WHY systems engineering matters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Failure case studies: Therac-25, Mars Climate Orbiter, Toyota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cost of poor 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Systems Engineering Fundamentals — WHAT is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INCOSE definition, systems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execution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Traditional vs MBSE (Today)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we practice systems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Document-based vs model-based approaches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SysML, Simulink, MATLAB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now have: — The motivation (Session 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framework (Session 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implementation approaches (Session 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we go next: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 — Deep dive into requirements definition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write good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management (traditional AND MBSE approaches)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in practice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Sessions 5-8: Design, Analysis, Integration, V&amp;V — Working through the V-Model in detail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and operational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and validation strategies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Future sessions: We'll see MBSE concepts integrated throughout - requirements in models, architecture in SysML, simulation for V&amp;V.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- What You Must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 are your key takeaways from Session 3: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Two Paradigms — Traditional SE: Document-centric, manual traceability, works for simple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MBSE: Model-centric, automated traceability, scales for complex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MBSE Principles — Single source of truth (one integrated 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Formalized semantics (machine-readable)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traceability (relationships maintained automatically)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continuity (same model across life cycle)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Tools and Languages — SysML: Language for system architecture and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Simulink/MATLAB: Behavioral modeling and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Real MBSE requires toolchain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Digital Twins — Virtual representations updated with real-world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 predictive maintenance, optimization, continuous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next evolution of MBSE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Decision Framework — Use Traditional SE for: Simple systems, stable requirements, limited resources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MBSE for: Complex systems, evolving requirements, long life cycles, high stakes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is often most pragmatic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Migration Reality — MBSE adoption takes 3-5 years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Requires training, tools, process changes, cultural shift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with pilots, expand gradually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Both Implement Same Framework — ISO/IEC 15288 processes apply to both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works with both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It's the IMPLEMENTATION that differs, not the principles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meta-lesson: As a systems engineer, you must choose appropriate methods for your context. There's no one-size-fits-all answer.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Preparation for Next Session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for next session: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Reading: — INCOSE Systems Engineering Handbook, Chapter 3 (Requirements Engineering)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Provided article: 'Introduction to SysML' (5 pages)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Practical Exercise: — Choose a system you're familiar with (automotive or otherwise)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10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Sketch how you would capture these: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 approach (what documents?)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 approach (what model elements? what relationships?)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Submit 2-page comparison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Tool Exploration (Optional): — Explore Papyrus (open-source SysML tool) or Simulink (if you have access)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Try creating a simple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submission required - just familiarization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Reflection Questions: — When would you choose MBSE over traditional SE for an automotive system?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biggest barriers to MBSE adoption in your organization?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could digital twins change automotive maintenance and operation?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 Preview: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 goes deep into Requirements Engineering — the most critical technical process. We'll learn: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identify stakeholders systematically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distinguish needs from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vs non-functional vs constraint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write verifiable, traceable, clear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management in both traditional and MBSE contexts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 pitfalls and how to avoid them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are the foundation of everything else. If you get requirements wrong, everything built on top is wrong. That's why we dedicate an entire session to this.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Now, let's open it up for questions. 30 minutes for discussion.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 to prompt discussion: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Has anyone used SysML or Simulink? What was your experience?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systems in your organization might benefit from MBSE?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concerns do you have about transitioning to MBSE?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Where do you see digital twins making the biggest impact in automotive?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Diagrams to 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Comparative visuals: Side-by-side comparisons of traditional vs MBSE throughout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screenshots: Show actual SysML diagrams, Simulink models (not just clipart)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flows: Clear workflow diagrams showing document flow vs model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matrices: Use structured decision frameworks (2x2 matrices, decision trees)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Consistent colors - Blue for traditional, Green for MBSE, Purple for hybrid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 (The Real-World Problem) - Make the pain vivid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 (MBSE Paradigm Shift) - The core difference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 (SysML Overview) - Show actual diagram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 (Simulink) - Show real automotive control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22-23 (Digital Twins) - Visually compelling use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 (Decision Framework) - Practical decision support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 (Synthesis) - Integration of all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7: Build traditional workflow step-by-step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Side-by-side build showing traditional vs MBSE workflow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Reveal each SysML diagram type with example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Animate toolchain integration connections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Progressive disclosure of migration phases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diagrams: Block definition diagram, internal block diagram, requirement diagram from automotive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Simulink model: ABS or cruise control model screenshot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 architecture: Real automotive digital twin architecture (Tesla, BMW,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screenshots: Actual Cameo, DOORS, Simulink interfaces (use with permission or sanitize)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data: Charts showing MBSE adoption rates, ROI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acronyms on first use: MBSE, SysML, DOORS, AUTOSAR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consistent terminology: "model elements" not "objects," "requirements" not "specs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vendor-neutral language when discussing tools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specific examples for abstract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quotes from industry practitioners if available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Document-centric workflow (Slide 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Model-based workflow (Slide 13)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9 diagram types overview (Slide 19)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 toolchain integration architecture (Slide 21)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 data flow (Slide 22)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matrix: Traditional vs MBSE (Slide 24)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Migration roadmap timeline (Slide 25)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Optional Advanced Topics (If Time Permits):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Comparative approach: Constantly compare traditional vs MBSE to build understanding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Practical focus: Emphasize real-world application, not theoretical perfection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demonstration: If possible, show live tool demos (5-minute SysML demo, Simulink demo)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Balanced perspective: Don't oversell MBSE - acknowledge challenges honestly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support: Give students frameworks to make their own informed choices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overwhelm: Students get lost in tool features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Focus on concepts first, tools second. Emphasize that tools change, principles don't.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 skepticism: "Why not just use documents? We've always done it that way.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Use concrete data on error reduction, time savings. Acknowledge transition pain.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complexity: SysML seems abstract and complex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Use simple, relatable automotive examples. Show one complete SysML example end-to-end.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Confusion on when to use MBSE: "Should I always use MBSE?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Solution: Emphasize decision framework (Slide 24). No universal answer.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 Benefits and Challenges (Slides 14-17): Critical section - allocate full 20 minutes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Students need honest assessment of both pros and cons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 section (Slides 18-21): Can compress to 12 minutes if time tight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SysML and Simulink; skim toolchain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Twins (Slides 22-23): Don't skip - this is highly engaging and future-looking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Framework (Slide 24): Essential - give students practical takeaway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3: Ask students: "How would YOU manage 3,000 requirements in Word documents?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9: Pair discussion: "What's the biggest pain point with document-based work in your experience?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Reality check: "Raise your hand if you'd be excited to learn a new modeling language" (acknowledge resistance)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Interactive exercise: "Given this system [describe one], traditional or MBSE? Why?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30: Open discussion on MBSE adoption challenges in their organizations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5-minute SysML demo: Create a simple block definition diagram for automotive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5-minute Simulink demo: Show control system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comparison: Show same requirement captured in Word vs in MBSE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query: Show automatic impact analysis in MBSE tool vs manual search in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specification or cheat sheet (1-page diagram type overview)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List of MBSE tools with comparison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Case studies: Organizations that adopted MBSE (NASA, Lockheed Martin, automotive OEMs)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Digital twin architecture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(Slide 12): Can students articulate the 4 core MBSE principles?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(Slide 19): Given a system, which SysML diagrams would you create?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Evaluation (Slide 24): Given system characteristics, should you use traditional or MBSE?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Assignment: Compare traditional vs MBSE for a chosen system (tests synthesis)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SysML v2 (next-generation SysML language)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OSLC (Open Services for Lifecycle Collaboration) for tool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Formal verification methods for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Model-based requirements engineering (Cameo Requirements, Simulink Requirements)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the fundamental difference between document-centric and model-centric 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Articulate 4 core MBSE principles (single source of truth, formalized semantics, automated traceability, model continuity)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Name key MBSE tools and their purposes (SysML for architecture, Simulink for behavior)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what a digital twin is and give 2 automotive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decision framework to choose traditional vs MBSE for a given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List 3 benefits and 3 challenges of MBSE adoption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that MBSE implements the same SE principles (ISO/IEC 15288, V-Model) but with different artifacts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understand that traditional and model-based SE are alternative implementations of the same fundamental systems engineering framework. They can make informed decisions about which approach to use based on system characteristics and organizational context.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Instructor Preparation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Review SysML specification and prepare simple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Simulink example (ABS or cruise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Research latest MBSE adoption statistics for automotive industry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Identify digital twin case studies (Tesla, BMW, Waymo)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tool comparison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Test any tool demonstrations in classroom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Review INCOSE MBSE resources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Materials to provide: — [ ] SysML diagram types cheat sheet (1-page reference)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MBSE tool comparison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Case study: Successful MBSE adoption (e.g., JPL, Lockheed Martin)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Reading: "Introduction to SysML" article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Assignment handout with rubric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List of open-source MBSE tools for student exploration (Papyrus, Modelio)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Optional materials: — [ ] Trial access to MBSE tool (Cameo, Rhapsody) if available through university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Video: MBSE tool demonstration (if live demo not possible)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Industry practitioner guest speaker (if available)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 via eLearn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assignment with detailed rubric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discussion forum: "Traditional vs MBSE in your context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Share tool exploration resources (tutorials, trial versions)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Session 4 connection: Requirements in both traditional and MBSE contexts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1: Motivation (failures) → Need for better implementation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Framework (ISO/IEC 15288, V-Model) → How to implement the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4: Requirements Engineering → How to capture requirements in both traditional and MBSE approaches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System Design and Architecture → SysML architecture modeling in depth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Operational and Functional Analysis → Behavioral modeling with activity diagrams, sequence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Integration, V&amp;V → Model-based testing, simulation-based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16: Emerging Trends → Advanced MBSE, digital engineering, AI in 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1: WHY systems engineering?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WHAT is systems engineering?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HOW do we practice it (implementation methods)?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— first detailed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5-8: Execution — working through the V-Model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9-16: Management and specialization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MBSE integration throughout course: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this point forward, instructors should reference both traditional and MBSE approaches when teaching technical processes: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management (Session 4): Word documents vs. SysML requirement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(Session 5): Architecture documents vs. SysML block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Behavioral analysis (Session 7): Functional specs vs. SysML activity/sequence diagrams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(Session 8): Manual test procedures vs. model-based test generation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🌟 Additional Teaching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Future-Proofing: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often struggle with abstract MBSE concepts. Use these techniques: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Start with familiar system: — Use a simple system everyone knows (bicycle brake, door lock, coffee maker)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how to model it in SysML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Then scale to automotive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Side-by-side comparison: — Same requirement expressed in Word document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Same requirement as SysML requirement element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the difference in traceability, impact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Tell the human story: — Interview with systems engineer who transitioned to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"Day in the life" comparison: document-based vs. model-based engineer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Change impact scenario: "Requirement changed, now what?" in both paradigms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Some students (especially experienced engineers) resist MBSE: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Acknowledge concerns: — "I hear you - learning new tools is frustrating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"You're right that documents work for many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"The transition is painful; organizations underestimate 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Provide choice: — "Use the decision framework - not every system needs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"Hybrid approaches are valid and common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"Your job is to choose the right tool for the job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Show data: — Industry adoption curves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Error reduction statistics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savings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ROI case studies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Constantly reinforce that MBSE is an implementation, not a replacement: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 15288 technical processes: Same in both approaches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Traditional: Captured in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MBSE: Captured in models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V-Model: Works with both approaches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Traditional: Requirements doc → Design doc → Test doc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MBSE: Requirements model → Design model → Test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traceability in MBSE via automatic relationships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Prepare students for evolving landscape: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 will change (SysML v2 is coming)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Concepts remain stable (systems thinking, traceability, V-Model)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Emphasize learning to learn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Point to resources for staying current (INCOSE conferences, webinars, journals)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Session: Session 4 - Requirements Engineering (Deep dive into requirements definition, attributes, management, and traceability in both traditional and MBSE contexts)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