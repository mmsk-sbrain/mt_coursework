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t>
            </a:r>
          </a:p>
          <a:p>
            <a:pPr>
              <a:spcAft>
                <a:spcPts val="1000"/>
              </a:spcAft>
              <a:defRPr sz="1800">
                <a:solidFill>
                  <a:srgbClr val="333333"/>
                </a:solidFill>
              </a:defRPr>
            </a:pPr>
            <a:r>
              <a:t>marp: true</a:t>
            </a:r>
          </a:p>
          <a:p>
            <a:pPr>
              <a:spcAft>
                <a:spcPts val="1000"/>
              </a:spcAft>
              <a:defRPr sz="1800">
                <a:solidFill>
                  <a:srgbClr val="333333"/>
                </a:solidFill>
              </a:defRPr>
            </a:pPr>
            <a:r>
              <a:t>theme: engineering</a:t>
            </a:r>
          </a:p>
          <a:p>
            <a:pPr>
              <a:spcAft>
                <a:spcPts val="1000"/>
              </a:spcAft>
              <a:defRPr sz="1800">
                <a:solidFill>
                  <a:srgbClr val="333333"/>
                </a:solidFill>
              </a:defRPr>
            </a:pPr>
            <a:r>
              <a:t>paginate: true</a:t>
            </a:r>
          </a:p>
          <a:p>
            <a:pPr>
              <a:spcAft>
                <a:spcPts val="1000"/>
              </a:spcAft>
              <a:defRPr sz="1800">
                <a:solidFill>
                  <a:srgbClr val="333333"/>
                </a:solidFill>
              </a:defRPr>
            </a:pPr>
            <a:r>
              <a:t>math: katex</a:t>
            </a:r>
          </a:p>
          <a:p>
            <a:pPr>
              <a:spcAft>
                <a:spcPts val="1000"/>
              </a:spcAft>
              <a:defRPr sz="1800">
                <a:solidFill>
                  <a:srgbClr val="333333"/>
                </a:solidFill>
              </a:defRPr>
            </a:pPr>
            <a:r>
              <a:t>header: 'Session 7: Operational and Functional Analysis'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Operational and Functional Analysis</a:t>
            </a:r>
          </a:p>
        </p:txBody>
      </p:sp>
      <p:sp>
        <p:nvSpPr>
          <p:cNvPr id="3" name="Subtitle 2"/>
          <p:cNvSpPr>
            <a:spLocks noGrp="1"/>
          </p:cNvSpPr>
          <p:nvPr>
            <p:ph type="subTitle" idx="1"/>
          </p:nvPr>
        </p:nvSpPr>
        <p:spPr/>
        <p:txBody>
          <a:bodyPr/>
          <a:lstStyle/>
          <a:p>
            <a:pPr>
              <a:defRPr sz="2000">
                <a:solidFill>
                  <a:srgbClr val="FFFFFF"/>
                </a:solidFill>
              </a:defRPr>
            </a:pPr>
            <a:r>
              <a:t>Session 7 | Automotive Vehicles (AEL ZC441)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Title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Welcome to Session 7. Today we bridge a critical gap in systems engineering: the translation from system architecture to actual operational behavior.</a:t>
            </a:r>
          </a:p>
          <a:p>
            <a:pPr>
              <a:spcAft>
                <a:spcPts val="1000"/>
              </a:spcAft>
              <a:defRPr sz="1800">
                <a:solidFill>
                  <a:srgbClr val="333333"/>
                </a:solidFill>
              </a:defRPr>
            </a:pPr>
            <a:r>
              <a:t>We're going to answer the question: 'What does the system actually DO when it's operating?'</a:t>
            </a:r>
          </a:p>
          <a:p>
            <a:pPr>
              <a:spcAft>
                <a:spcPts val="1000"/>
              </a:spcAft>
              <a:defRPr sz="1800">
                <a:solidFill>
                  <a:srgbClr val="333333"/>
                </a:solidFill>
              </a:defRPr>
            </a:pPr>
            <a:r>
              <a:t>This is Operational and Functional Analysis - the systematic decomposition of system behavior into executable functions.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Connection to Session 5 - System Architecture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connect where we've been to where we're going:</a:t>
            </a:r>
          </a:p>
          <a:p>
            <a:pPr>
              <a:spcAft>
                <a:spcPts val="1000"/>
              </a:spcAft>
              <a:defRPr sz="1800">
                <a:solidFill>
                  <a:srgbClr val="333333"/>
                </a:solidFill>
              </a:defRPr>
            </a:pPr>
            <a:r>
              <a:t>Session 5 - System Design and Architecture:</a:t>
            </a:r>
          </a:p>
          <a:p>
            <a:pPr>
              <a:spcAft>
                <a:spcPts val="600"/>
              </a:spcAft>
              <a:defRPr sz="1800">
                <a:solidFill>
                  <a:srgbClr val="333333"/>
                </a:solidFill>
              </a:defRPr>
            </a:pPr>
            <a:r>
              <a:t>We learned how to develop system architecture</a:t>
            </a:r>
          </a:p>
          <a:p>
            <a:pPr>
              <a:spcAft>
                <a:spcPts val="600"/>
              </a:spcAft>
              <a:defRPr sz="1800">
                <a:solidFill>
                  <a:srgbClr val="333333"/>
                </a:solidFill>
              </a:defRPr>
            </a:pPr>
            <a:r>
              <a:t>We defined system boundaries and context</a:t>
            </a:r>
          </a:p>
          <a:p>
            <a:pPr>
              <a:spcAft>
                <a:spcPts val="600"/>
              </a:spcAft>
              <a:defRPr sz="1800">
                <a:solidFill>
                  <a:srgbClr val="333333"/>
                </a:solidFill>
              </a:defRPr>
            </a:pPr>
            <a:r>
              <a:t>We created high-level design concepts</a:t>
            </a:r>
          </a:p>
          <a:p>
            <a:pPr>
              <a:spcAft>
                <a:spcPts val="600"/>
              </a:spcAft>
              <a:defRPr sz="1800">
                <a:solidFill>
                  <a:srgbClr val="333333"/>
                </a:solidFill>
              </a:defRPr>
            </a:pPr>
            <a:r>
              <a:t>We performed trade studies and alternatives analysis</a:t>
            </a:r>
          </a:p>
          <a:p>
            <a:pPr>
              <a:spcAft>
                <a:spcPts val="1000"/>
              </a:spcAft>
              <a:defRPr sz="1800">
                <a:solidFill>
                  <a:srgbClr val="333333"/>
                </a:solidFill>
              </a:defRPr>
            </a:pPr>
            <a:r>
              <a:t>What Session 5 gave us: STRUCTURAL view of the system</a:t>
            </a:r>
          </a:p>
          <a:p>
            <a:pPr>
              <a:spcAft>
                <a:spcPts val="600"/>
              </a:spcAft>
              <a:defRPr sz="1800">
                <a:solidFill>
                  <a:srgbClr val="333333"/>
                </a:solidFill>
              </a:defRPr>
            </a:pPr>
            <a:r>
              <a:t>Components: ECUs, sensors, actuators, networks</a:t>
            </a:r>
          </a:p>
          <a:p>
            <a:pPr>
              <a:spcAft>
                <a:spcPts val="600"/>
              </a:spcAft>
              <a:defRPr sz="1800">
                <a:solidFill>
                  <a:srgbClr val="333333"/>
                </a:solidFill>
              </a:defRPr>
            </a:pPr>
            <a:r>
              <a:t>Interfaces: CAN bus messages, power connections, mechanical linkages</a:t>
            </a:r>
          </a:p>
          <a:p>
            <a:pPr>
              <a:spcAft>
                <a:spcPts val="600"/>
              </a:spcAft>
              <a:defRPr sz="1800">
                <a:solidFill>
                  <a:srgbClr val="333333"/>
                </a:solidFill>
              </a:defRPr>
            </a:pPr>
            <a:r>
              <a:t>Static relationships: 'Radar sensor connects to ADAS ECU via CAN'</a:t>
            </a:r>
          </a:p>
          <a:p>
            <a:pPr>
              <a:spcAft>
                <a:spcPts val="1000"/>
              </a:spcAft>
              <a:defRPr sz="1800">
                <a:solidFill>
                  <a:srgbClr val="333333"/>
                </a:solidFill>
              </a:defRPr>
            </a:pPr>
            <a:r>
              <a:t>What Session 5 did NOT give us: BEHAVIORAL view</a:t>
            </a:r>
          </a:p>
          <a:p>
            <a:pPr>
              <a:spcAft>
                <a:spcPts val="600"/>
              </a:spcAft>
              <a:defRPr sz="1800">
                <a:solidFill>
                  <a:srgbClr val="333333"/>
                </a:solidFill>
              </a:defRPr>
            </a:pPr>
            <a:r>
              <a:t>What happens during a lane change?</a:t>
            </a:r>
          </a:p>
          <a:p>
            <a:pPr>
              <a:spcAft>
                <a:spcPts val="600"/>
              </a:spcAft>
              <a:defRPr sz="1800">
                <a:solidFill>
                  <a:srgbClr val="333333"/>
                </a:solidFill>
              </a:defRPr>
            </a:pPr>
            <a:r>
              <a:t>How do functions coordinate during emergency braking?</a:t>
            </a:r>
          </a:p>
          <a:p>
            <a:pPr>
              <a:spcAft>
                <a:spcPts val="600"/>
              </a:spcAft>
              <a:defRPr sz="1800">
                <a:solidFill>
                  <a:srgbClr val="333333"/>
                </a:solidFill>
              </a:defRPr>
            </a:pPr>
            <a:r>
              <a:t>What's the sequence of operations when cruise control engages?</a:t>
            </a:r>
          </a:p>
          <a:p>
            <a:pPr>
              <a:spcAft>
                <a:spcPts val="1000"/>
              </a:spcAft>
              <a:defRPr sz="1800">
                <a:solidFill>
                  <a:srgbClr val="333333"/>
                </a:solidFill>
              </a:defRPr>
            </a:pPr>
            <a:r>
              <a:t>Today's focus: We add the BEHAVIORAL dimension through operational and functional analysis.</a:t>
            </a:r>
          </a:p>
          <a:p>
            <a:pPr>
              <a:spcAft>
                <a:spcPts val="1000"/>
              </a:spcAft>
              <a:defRPr sz="1800">
                <a:solidFill>
                  <a:srgbClr val="333333"/>
                </a:solidFill>
              </a:defRPr>
            </a:pPr>
            <a:r>
              <a:t>The key insight: Architecture tells us WHAT we have. Functional analysis tells us what the system DOES.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Critical Gap - Structure vs Behavior</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 me illustrate the gap we're filling today with a real automotive example.</a:t>
            </a:r>
          </a:p>
          <a:p>
            <a:pPr>
              <a:spcAft>
                <a:spcPts val="1000"/>
              </a:spcAft>
              <a:defRPr sz="1800">
                <a:solidFill>
                  <a:srgbClr val="333333"/>
                </a:solidFill>
              </a:defRPr>
            </a:pPr>
            <a:r>
              <a:t>Adaptive Cruise Control (ACC) - Structural View (from Session 5):</a:t>
            </a:r>
          </a:p>
          <a:p>
            <a:pPr>
              <a:defRPr sz="1400">
                <a:solidFill>
                  <a:srgbClr val="787878"/>
                </a:solidFill>
                <a:latin typeface="Consolas"/>
              </a:defRPr>
            </a:pPr>
            <a:r>
              <a:t>Components:</a:t>
            </a:r>
            <a:br/>
            <a:r>
              <a:t>- Forward radar sensor</a:t>
            </a:r>
            <a:br/>
            <a:r>
              <a:t>- ACC ECU</a:t>
            </a:r>
            <a:br/>
            <a:r>
              <a:t>- Engine control ECU</a:t>
            </a:r>
            <a:br/>
            <a:r>
              <a:t>- Brake control ECU</a:t>
            </a:r>
            <a:br/>
            <a:r>
              <a:t>- Driver interface (steering wheel buttons)</a:t>
            </a:r>
            <a:br/>
            <a:r>
              <a:t>- CAN communication network</a:t>
            </a:r>
          </a:p>
          <a:p>
            <a:pPr>
              <a:spcAft>
                <a:spcPts val="1000"/>
              </a:spcAft>
              <a:defRPr sz="1800">
                <a:solidFill>
                  <a:srgbClr val="333333"/>
                </a:solidFill>
              </a:defRPr>
            </a:pPr>
            <a:r>
              <a:t>This tells us the 'parts list.' But it doesn't answer operational questions:</a:t>
            </a:r>
          </a:p>
          <a:p>
            <a:pPr>
              <a:spcAft>
                <a:spcPts val="1000"/>
              </a:spcAft>
              <a:defRPr sz="1800">
                <a:solidFill>
                  <a:srgbClr val="333333"/>
                </a:solidFill>
              </a:defRPr>
            </a:pPr>
            <a:r>
              <a:t>Operational Questions (Behavioral View):</a:t>
            </a:r>
          </a:p>
          <a:p>
            <a:pPr>
              <a:spcAft>
                <a:spcPts val="600"/>
              </a:spcAft>
              <a:defRPr sz="1800">
                <a:solidFill>
                  <a:srgbClr val="333333"/>
                </a:solidFill>
              </a:defRPr>
            </a:pPr>
            <a:r>
              <a:t>What happens when driver presses SET button?</a:t>
            </a:r>
          </a:p>
          <a:p>
            <a:pPr>
              <a:spcAft>
                <a:spcPts val="600"/>
              </a:spcAft>
              <a:defRPr sz="1800">
                <a:solidFill>
                  <a:srgbClr val="333333"/>
                </a:solidFill>
              </a:defRPr>
            </a:pPr>
            <a:r>
              <a:t>How does the system respond when a vehicle cuts in front?</a:t>
            </a:r>
          </a:p>
          <a:p>
            <a:pPr>
              <a:spcAft>
                <a:spcPts val="600"/>
              </a:spcAft>
              <a:defRPr sz="1800">
                <a:solidFill>
                  <a:srgbClr val="333333"/>
                </a:solidFill>
              </a:defRPr>
            </a:pPr>
            <a:r>
              <a:t>What's the sequence of actions during emergency braking?</a:t>
            </a:r>
          </a:p>
          <a:p>
            <a:pPr>
              <a:spcAft>
                <a:spcPts val="600"/>
              </a:spcAft>
              <a:defRPr sz="1800">
                <a:solidFill>
                  <a:srgbClr val="333333"/>
                </a:solidFill>
              </a:defRPr>
            </a:pPr>
            <a:r>
              <a:t>How do radar detection, speed control, and braking coordinate?</a:t>
            </a:r>
          </a:p>
          <a:p>
            <a:pPr>
              <a:spcAft>
                <a:spcPts val="600"/>
              </a:spcAft>
              <a:defRPr sz="1800">
                <a:solidFill>
                  <a:srgbClr val="333333"/>
                </a:solidFill>
              </a:defRPr>
            </a:pPr>
            <a:r>
              <a:t>What happens if the radar sensor fails during operation?</a:t>
            </a:r>
          </a:p>
          <a:p>
            <a:pPr>
              <a:spcAft>
                <a:spcPts val="1000"/>
              </a:spcAft>
              <a:defRPr sz="1800">
                <a:solidFill>
                  <a:srgbClr val="333333"/>
                </a:solidFill>
              </a:defRPr>
            </a:pPr>
            <a:r>
              <a:t>Functional analysis answers these questions by decomposing behavior into:</a:t>
            </a:r>
          </a:p>
          <a:p>
            <a:pPr>
              <a:spcAft>
                <a:spcPts val="600"/>
              </a:spcAft>
              <a:defRPr sz="1800">
                <a:solidFill>
                  <a:srgbClr val="333333"/>
                </a:solidFill>
              </a:defRPr>
            </a:pPr>
            <a:r>
              <a:t>Operational scenarios — How the system is used</a:t>
            </a:r>
          </a:p>
          <a:p>
            <a:pPr>
              <a:spcAft>
                <a:spcPts val="600"/>
              </a:spcAft>
              <a:defRPr sz="1800">
                <a:solidFill>
                  <a:srgbClr val="333333"/>
                </a:solidFill>
              </a:defRPr>
            </a:pPr>
            <a:r>
              <a:t>Functional flows — Sequence of operations</a:t>
            </a:r>
          </a:p>
          <a:p>
            <a:pPr>
              <a:spcAft>
                <a:spcPts val="600"/>
              </a:spcAft>
              <a:defRPr sz="1800">
                <a:solidFill>
                  <a:srgbClr val="333333"/>
                </a:solidFill>
              </a:defRPr>
            </a:pPr>
            <a:r>
              <a:t>Function allocation — Mapping requirements to functions</a:t>
            </a:r>
          </a:p>
          <a:p>
            <a:pPr>
              <a:spcAft>
                <a:spcPts val="600"/>
              </a:spcAft>
              <a:defRPr sz="1800">
                <a:solidFill>
                  <a:srgbClr val="333333"/>
                </a:solidFill>
              </a:defRPr>
            </a:pPr>
            <a:r>
              <a:t>Timeline analysis — Temporal validation</a:t>
            </a:r>
          </a:p>
          <a:p>
            <a:pPr>
              <a:spcAft>
                <a:spcPts val="1000"/>
              </a:spcAft>
              <a:defRPr sz="1800">
                <a:solidFill>
                  <a:srgbClr val="333333"/>
                </a:solidFill>
              </a:defRPr>
            </a:pPr>
            <a:r>
              <a:t>Today, you'll learn to perform this analysis systematically.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Why Functional Analysis Is Critical</a:t>
            </a:r>
          </a:p>
        </p:txBody>
      </p:sp>
      <p:sp>
        <p:nvSpPr>
          <p:cNvPr id="3" name="Content Placeholder 2"/>
          <p:cNvSpPr>
            <a:spLocks noGrp="1"/>
          </p:cNvSpPr>
          <p:nvPr>
            <p:ph idx="1"/>
          </p:nvPr>
        </p:nvSpPr>
        <p:spPr/>
        <p:txBody>
          <a:bodyPr/>
          <a:lstStyle/>
          <a:p>
            <a:pPr>
              <a:spcAft>
                <a:spcPts val="1000"/>
              </a:spcAft>
              <a:defRPr sz="1800">
                <a:solidFill>
                  <a:srgbClr val="333333"/>
                </a:solidFill>
              </a:defRPr>
            </a:pPr>
            <a:r>
              <a:t>Why does this matter? Let me show you what happens when we skip functional analysis.</a:t>
            </a:r>
          </a:p>
          <a:p>
            <a:pPr>
              <a:spcAft>
                <a:spcPts val="1000"/>
              </a:spcAft>
              <a:defRPr sz="1800">
                <a:solidFill>
                  <a:srgbClr val="333333"/>
                </a:solidFill>
              </a:defRPr>
            </a:pPr>
            <a:r>
              <a:t>Case 1: Tesla Autopilot Fatal Crash (2016) — Structural view: System had camera, radar, ultrasonic sensors, powerful ECU</a:t>
            </a:r>
          </a:p>
          <a:p>
            <a:pPr>
              <a:spcAft>
                <a:spcPts val="600"/>
              </a:spcAft>
              <a:defRPr sz="1800">
                <a:solidFill>
                  <a:srgbClr val="333333"/>
                </a:solidFill>
              </a:defRPr>
            </a:pPr>
            <a:r>
              <a:t>Missing functional analysis: What happens when camera can't distinguish white truck from bright sky?</a:t>
            </a:r>
          </a:p>
          <a:p>
            <a:pPr>
              <a:spcAft>
                <a:spcPts val="600"/>
              </a:spcAft>
              <a:defRPr sz="1800">
                <a:solidFill>
                  <a:srgbClr val="333333"/>
                </a:solidFill>
              </a:defRPr>
            </a:pPr>
            <a:r>
              <a:t>Result: System failed to brake. Fatal accident.</a:t>
            </a:r>
          </a:p>
          <a:p>
            <a:pPr>
              <a:spcAft>
                <a:spcPts val="600"/>
              </a:spcAft>
              <a:defRPr sz="1800">
                <a:solidFill>
                  <a:srgbClr val="333333"/>
                </a:solidFill>
              </a:defRPr>
            </a:pPr>
            <a:r>
              <a:t>Root cause: Inadequate operational scenario analysis - 'crossing traffic' scenario not fully analyzed</a:t>
            </a:r>
          </a:p>
          <a:p>
            <a:pPr>
              <a:spcAft>
                <a:spcPts val="1000"/>
              </a:spcAft>
              <a:defRPr sz="1800">
                <a:solidFill>
                  <a:srgbClr val="333333"/>
                </a:solidFill>
              </a:defRPr>
            </a:pPr>
            <a:r>
              <a:t>Case 2: Boeing 737 MAX MCAS Failures (2018-2019) — Structural view: System had angle-of-attack sensors, flight control computer, trim actuators</a:t>
            </a:r>
          </a:p>
          <a:p>
            <a:pPr>
              <a:spcAft>
                <a:spcPts val="600"/>
              </a:spcAft>
              <a:defRPr sz="1800">
                <a:solidFill>
                  <a:srgbClr val="333333"/>
                </a:solidFill>
              </a:defRPr>
            </a:pPr>
            <a:r>
              <a:t>Missing functional analysis: What happens when single sensor fails? How do pilot inputs interact with MCAS?</a:t>
            </a:r>
          </a:p>
          <a:p>
            <a:pPr>
              <a:spcAft>
                <a:spcPts val="600"/>
              </a:spcAft>
              <a:defRPr sz="1800">
                <a:solidFill>
                  <a:srgbClr val="333333"/>
                </a:solidFill>
              </a:defRPr>
            </a:pPr>
            <a:r>
              <a:t>Result: 346 deaths, aircraft grounded worldwide</a:t>
            </a:r>
          </a:p>
          <a:p>
            <a:pPr>
              <a:spcAft>
                <a:spcPts val="600"/>
              </a:spcAft>
              <a:defRPr sz="1800">
                <a:solidFill>
                  <a:srgbClr val="333333"/>
                </a:solidFill>
              </a:defRPr>
            </a:pPr>
            <a:r>
              <a:t>Root cause: Incomplete functional flow analysis - failure modes and pilot interaction scenarios not fully modeled</a:t>
            </a:r>
          </a:p>
          <a:p>
            <a:pPr>
              <a:spcAft>
                <a:spcPts val="1000"/>
              </a:spcAft>
              <a:defRPr sz="1800">
                <a:solidFill>
                  <a:srgbClr val="333333"/>
                </a:solidFill>
              </a:defRPr>
            </a:pPr>
            <a:r>
              <a:t>Common failure pattern:</a:t>
            </a:r>
          </a:p>
          <a:p>
            <a:pPr>
              <a:spcAft>
                <a:spcPts val="600"/>
              </a:spcAft>
              <a:defRPr sz="1800">
                <a:solidFill>
                  <a:srgbClr val="333333"/>
                </a:solidFill>
              </a:defRPr>
            </a:pPr>
            <a:r>
              <a:t>Engineers design components (structure)</a:t>
            </a:r>
          </a:p>
          <a:p>
            <a:pPr>
              <a:spcAft>
                <a:spcPts val="600"/>
              </a:spcAft>
              <a:defRPr sz="1800">
                <a:solidFill>
                  <a:srgbClr val="333333"/>
                </a:solidFill>
              </a:defRPr>
            </a:pPr>
            <a:r>
              <a:t>Components work individually</a:t>
            </a:r>
          </a:p>
          <a:p>
            <a:pPr>
              <a:spcAft>
                <a:spcPts val="600"/>
              </a:spcAft>
              <a:defRPr sz="1800">
                <a:solidFill>
                  <a:srgbClr val="333333"/>
                </a:solidFill>
              </a:defRPr>
            </a:pPr>
            <a:r>
              <a:t>But system BEHAVIOR is not analyzed</a:t>
            </a:r>
          </a:p>
          <a:p>
            <a:pPr>
              <a:spcAft>
                <a:spcPts val="600"/>
              </a:spcAft>
              <a:defRPr sz="1800">
                <a:solidFill>
                  <a:srgbClr val="333333"/>
                </a:solidFill>
              </a:defRPr>
            </a:pPr>
            <a:r>
              <a:t>Result: Unexpected interactions, unhandled scenarios, failures</a:t>
            </a:r>
          </a:p>
          <a:p>
            <a:pPr>
              <a:spcAft>
                <a:spcPts val="1000"/>
              </a:spcAft>
              <a:defRPr sz="1800">
                <a:solidFill>
                  <a:srgbClr val="333333"/>
                </a:solidFill>
              </a:defRPr>
            </a:pPr>
            <a:r>
              <a:t>Statistics from NASA/DoD systems analysis:</a:t>
            </a:r>
          </a:p>
          <a:p>
            <a:pPr>
              <a:spcAft>
                <a:spcPts val="600"/>
              </a:spcAft>
              <a:defRPr sz="1800">
                <a:solidFill>
                  <a:srgbClr val="333333"/>
                </a:solidFill>
              </a:defRPr>
            </a:pPr>
            <a:r>
              <a:t>40% of system failures trace to incomplete operational scenario analysis</a:t>
            </a:r>
          </a:p>
          <a:p>
            <a:pPr>
              <a:spcAft>
                <a:spcPts val="600"/>
              </a:spcAft>
              <a:defRPr sz="1800">
                <a:solidFill>
                  <a:srgbClr val="333333"/>
                </a:solidFill>
              </a:defRPr>
            </a:pPr>
            <a:r>
              <a:t>35% trace to missing functional requirements</a:t>
            </a:r>
          </a:p>
          <a:p>
            <a:pPr>
              <a:spcAft>
                <a:spcPts val="600"/>
              </a:spcAft>
              <a:defRPr sz="1800">
                <a:solidFill>
                  <a:srgbClr val="333333"/>
                </a:solidFill>
              </a:defRPr>
            </a:pPr>
            <a:r>
              <a:t>60% of integration problems come from interface behavior (not structure)</a:t>
            </a:r>
          </a:p>
          <a:p>
            <a:pPr>
              <a:spcAft>
                <a:spcPts val="1000"/>
              </a:spcAft>
              <a:defRPr sz="1800">
                <a:solidFill>
                  <a:srgbClr val="333333"/>
                </a:solidFill>
              </a:defRPr>
            </a:pPr>
            <a:r>
              <a:t>Today's tools prevent these failures by forcing us to think through every operational scenario systematically.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Design Challenge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 me give you a real challenge from the automotive industry.</a:t>
            </a:r>
          </a:p>
          <a:p>
            <a:pPr>
              <a:spcAft>
                <a:spcPts val="1000"/>
              </a:spcAft>
              <a:defRPr sz="1800">
                <a:solidFill>
                  <a:srgbClr val="333333"/>
                </a:solidFill>
              </a:defRPr>
            </a:pPr>
            <a:r>
              <a:t>Scenario: Your team has been assigned to develop a Lane Keep Assist (LKA) system for a new vehicle platform.</a:t>
            </a:r>
          </a:p>
          <a:p>
            <a:pPr>
              <a:spcAft>
                <a:spcPts val="1000"/>
              </a:spcAft>
              <a:defRPr sz="1800">
                <a:solidFill>
                  <a:srgbClr val="333333"/>
                </a:solidFill>
              </a:defRPr>
            </a:pPr>
            <a:r>
              <a:t>System Architecture (already defined in Session 5):</a:t>
            </a:r>
          </a:p>
          <a:p>
            <a:pPr>
              <a:spcAft>
                <a:spcPts val="600"/>
              </a:spcAft>
              <a:defRPr sz="1800">
                <a:solidFill>
                  <a:srgbClr val="333333"/>
                </a:solidFill>
              </a:defRPr>
            </a:pPr>
            <a:r>
              <a:t>Front-facing camera (lane line detection)</a:t>
            </a:r>
          </a:p>
          <a:p>
            <a:pPr>
              <a:spcAft>
                <a:spcPts val="600"/>
              </a:spcAft>
              <a:defRPr sz="1800">
                <a:solidFill>
                  <a:srgbClr val="333333"/>
                </a:solidFill>
              </a:defRPr>
            </a:pPr>
            <a:r>
              <a:t>LKA ECU (processing and control)</a:t>
            </a:r>
          </a:p>
          <a:p>
            <a:pPr>
              <a:spcAft>
                <a:spcPts val="600"/>
              </a:spcAft>
              <a:defRPr sz="1800">
                <a:solidFill>
                  <a:srgbClr val="333333"/>
                </a:solidFill>
              </a:defRPr>
            </a:pPr>
            <a:r>
              <a:t>Electric power steering (EPS) ECU</a:t>
            </a:r>
          </a:p>
          <a:p>
            <a:pPr>
              <a:spcAft>
                <a:spcPts val="600"/>
              </a:spcAft>
              <a:defRPr sz="1800">
                <a:solidFill>
                  <a:srgbClr val="333333"/>
                </a:solidFill>
              </a:defRPr>
            </a:pPr>
            <a:r>
              <a:t>Driver display and alerts</a:t>
            </a:r>
          </a:p>
          <a:p>
            <a:pPr>
              <a:spcAft>
                <a:spcPts val="600"/>
              </a:spcAft>
              <a:defRPr sz="1800">
                <a:solidFill>
                  <a:srgbClr val="333333"/>
                </a:solidFill>
              </a:defRPr>
            </a:pPr>
            <a:r>
              <a:t>CAN network</a:t>
            </a:r>
          </a:p>
          <a:p>
            <a:pPr>
              <a:spcAft>
                <a:spcPts val="1000"/>
              </a:spcAft>
              <a:defRPr sz="1800">
                <a:solidFill>
                  <a:srgbClr val="333333"/>
                </a:solidFill>
              </a:defRPr>
            </a:pPr>
            <a:r>
              <a:t>System Requirements (defined in Session 4):</a:t>
            </a:r>
          </a:p>
          <a:p>
            <a:pPr>
              <a:spcAft>
                <a:spcPts val="600"/>
              </a:spcAft>
              <a:defRPr sz="1800">
                <a:solidFill>
                  <a:srgbClr val="333333"/>
                </a:solidFill>
              </a:defRPr>
            </a:pPr>
            <a:r>
              <a:t>REQ-LKA-001: 'System shall detect lane departure and apply corrective steering'</a:t>
            </a:r>
          </a:p>
          <a:p>
            <a:pPr>
              <a:spcAft>
                <a:spcPts val="600"/>
              </a:spcAft>
              <a:defRPr sz="1800">
                <a:solidFill>
                  <a:srgbClr val="333333"/>
                </a:solidFill>
              </a:defRPr>
            </a:pPr>
            <a:r>
              <a:t>REQ-LKA-002: 'System shall operate at speeds between 60-180 km/h'</a:t>
            </a:r>
          </a:p>
          <a:p>
            <a:pPr>
              <a:spcAft>
                <a:spcPts val="600"/>
              </a:spcAft>
              <a:defRPr sz="1800">
                <a:solidFill>
                  <a:srgbClr val="333333"/>
                </a:solidFill>
              </a:defRPr>
            </a:pPr>
            <a:r>
              <a:t>REQ-LKA-003: 'System shall alert driver before applying steering correction'</a:t>
            </a:r>
          </a:p>
          <a:p>
            <a:pPr>
              <a:spcAft>
                <a:spcPts val="600"/>
              </a:spcAft>
              <a:defRPr sz="1800">
                <a:solidFill>
                  <a:srgbClr val="333333"/>
                </a:solidFill>
              </a:defRPr>
            </a:pPr>
            <a:r>
              <a:t>REQ-LKA-004: 'System shall disengage if driver overrides'</a:t>
            </a:r>
          </a:p>
          <a:p>
            <a:pPr>
              <a:spcAft>
                <a:spcPts val="1000"/>
              </a:spcAft>
              <a:defRPr sz="1800">
                <a:solidFill>
                  <a:srgbClr val="333333"/>
                </a:solidFill>
              </a:defRPr>
            </a:pPr>
            <a:r>
              <a:t>... plus 50+ more requirements</a:t>
            </a:r>
          </a:p>
          <a:p>
            <a:pPr>
              <a:spcAft>
                <a:spcPts val="1000"/>
              </a:spcAft>
              <a:defRPr sz="1800">
                <a:solidFill>
                  <a:srgbClr val="333333"/>
                </a:solidFill>
              </a:defRPr>
            </a:pPr>
            <a:r>
              <a:t>The question your manager asks:</a:t>
            </a:r>
          </a:p>
          <a:p>
            <a:pPr>
              <a:spcAft>
                <a:spcPts val="1000"/>
              </a:spcAft>
              <a:defRPr sz="1800">
                <a:solidFill>
                  <a:srgbClr val="333333"/>
                </a:solidFill>
              </a:defRPr>
            </a:pPr>
            <a:r>
              <a:t>'Show me exactly what happens, step-by-step, when the vehicle starts to drift out of the lane.'</a:t>
            </a:r>
          </a:p>
          <a:p>
            <a:pPr>
              <a:spcAft>
                <a:spcPts val="1000"/>
              </a:spcAft>
              <a:defRPr sz="1800">
                <a:solidFill>
                  <a:srgbClr val="333333"/>
                </a:solidFill>
              </a:defRPr>
            </a:pPr>
            <a:r>
              <a:t>Can you answer this from the architecture diagram alone? NO.</a:t>
            </a:r>
          </a:p>
          <a:p>
            <a:pPr>
              <a:spcAft>
                <a:spcPts val="1000"/>
              </a:spcAft>
              <a:defRPr sz="1800">
                <a:solidFill>
                  <a:srgbClr val="333333"/>
                </a:solidFill>
              </a:defRPr>
            </a:pPr>
            <a:r>
              <a:t>Can you answer this from the requirements list alone? NO.</a:t>
            </a:r>
          </a:p>
          <a:p>
            <a:pPr>
              <a:spcAft>
                <a:spcPts val="1000"/>
              </a:spcAft>
              <a:defRPr sz="1800">
                <a:solidFill>
                  <a:srgbClr val="333333"/>
                </a:solidFill>
              </a:defRPr>
            </a:pPr>
            <a:r>
              <a:t>You need functional analysis.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What Is an Operational Scenario?</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start with the foundation: Operational scenarios.</a:t>
            </a:r>
          </a:p>
          <a:p>
            <a:pPr>
              <a:spcAft>
                <a:spcPts val="1000"/>
              </a:spcAft>
              <a:defRPr sz="1800">
                <a:solidFill>
                  <a:srgbClr val="333333"/>
                </a:solidFill>
              </a:defRPr>
            </a:pPr>
            <a:r>
              <a:t>Definition: An operational scenario is a narrative description of how the system will be used in a specific context to achieve specific goals.</a:t>
            </a:r>
          </a:p>
          <a:p>
            <a:pPr>
              <a:spcAft>
                <a:spcPts val="1000"/>
              </a:spcAft>
              <a:defRPr sz="1800">
                <a:solidFill>
                  <a:srgbClr val="333333"/>
                </a:solidFill>
              </a:defRPr>
            </a:pPr>
            <a:r>
              <a:t>Key elements of an operational scenario:</a:t>
            </a:r>
          </a:p>
          <a:p>
            <a:pPr>
              <a:spcAft>
                <a:spcPts val="600"/>
              </a:spcAft>
              <a:defRPr sz="1800">
                <a:solidFill>
                  <a:srgbClr val="333333"/>
                </a:solidFill>
              </a:defRPr>
            </a:pPr>
            <a:r>
              <a:t>Actors — Who/what interacts with the system</a:t>
            </a:r>
          </a:p>
          <a:p>
            <a:pPr>
              <a:spcAft>
                <a:spcPts val="600"/>
              </a:spcAft>
              <a:defRPr sz="1800">
                <a:solidFill>
                  <a:srgbClr val="333333"/>
                </a:solidFill>
              </a:defRPr>
            </a:pPr>
            <a:r>
              <a:t>Context — Environmental and operational conditions</a:t>
            </a:r>
          </a:p>
          <a:p>
            <a:pPr>
              <a:spcAft>
                <a:spcPts val="600"/>
              </a:spcAft>
              <a:defRPr sz="1800">
                <a:solidFill>
                  <a:srgbClr val="333333"/>
                </a:solidFill>
              </a:defRPr>
            </a:pPr>
            <a:r>
              <a:t>Trigger — What initiates the scenario</a:t>
            </a:r>
          </a:p>
          <a:p>
            <a:pPr>
              <a:spcAft>
                <a:spcPts val="600"/>
              </a:spcAft>
              <a:defRPr sz="1800">
                <a:solidFill>
                  <a:srgbClr val="333333"/>
                </a:solidFill>
              </a:defRPr>
            </a:pPr>
            <a:r>
              <a:t>Goal — What the actor/system wants to achieve</a:t>
            </a:r>
          </a:p>
          <a:p>
            <a:pPr>
              <a:spcAft>
                <a:spcPts val="600"/>
              </a:spcAft>
              <a:defRPr sz="1800">
                <a:solidFill>
                  <a:srgbClr val="333333"/>
                </a:solidFill>
              </a:defRPr>
            </a:pPr>
            <a:r>
              <a:t>Sequence — Step-by-step description of interactions</a:t>
            </a:r>
          </a:p>
          <a:p>
            <a:pPr>
              <a:spcAft>
                <a:spcPts val="600"/>
              </a:spcAft>
              <a:defRPr sz="1800">
                <a:solidFill>
                  <a:srgbClr val="333333"/>
                </a:solidFill>
              </a:defRPr>
            </a:pPr>
            <a:r>
              <a:t>Outcomes — Success criteria and possible variations</a:t>
            </a:r>
          </a:p>
          <a:p>
            <a:pPr>
              <a:spcAft>
                <a:spcPts val="1000"/>
              </a:spcAft>
              <a:defRPr sz="1800">
                <a:solidFill>
                  <a:srgbClr val="333333"/>
                </a:solidFill>
              </a:defRPr>
            </a:pPr>
            <a:r>
              <a:t>Example: Lane Keep Assist - Normal Operation Scenario</a:t>
            </a:r>
          </a:p>
          <a:p>
            <a:pPr>
              <a:spcAft>
                <a:spcPts val="1000"/>
              </a:spcAft>
              <a:defRPr sz="1800">
                <a:solidFill>
                  <a:srgbClr val="333333"/>
                </a:solidFill>
              </a:defRPr>
            </a:pPr>
            <a:r>
              <a:t>Scenario ID: OPS-LKA-001</a:t>
            </a:r>
          </a:p>
          <a:p>
            <a:pPr>
              <a:spcAft>
                <a:spcPts val="1000"/>
              </a:spcAft>
              <a:defRPr sz="1800">
                <a:solidFill>
                  <a:srgbClr val="333333"/>
                </a:solidFill>
              </a:defRPr>
            </a:pPr>
            <a:r>
              <a:t>Title: Lane keeping on highway with clear lane markings</a:t>
            </a:r>
          </a:p>
          <a:p>
            <a:pPr>
              <a:spcAft>
                <a:spcPts val="1000"/>
              </a:spcAft>
              <a:defRPr sz="1800">
                <a:solidFill>
                  <a:srgbClr val="333333"/>
                </a:solidFill>
              </a:defRPr>
            </a:pPr>
            <a:r>
              <a:t>Actors:</a:t>
            </a:r>
          </a:p>
          <a:p>
            <a:pPr>
              <a:spcAft>
                <a:spcPts val="600"/>
              </a:spcAft>
              <a:defRPr sz="1800">
                <a:solidFill>
                  <a:srgbClr val="333333"/>
                </a:solidFill>
              </a:defRPr>
            </a:pPr>
            <a:r>
              <a:t>Driver (primary)</a:t>
            </a:r>
          </a:p>
          <a:p>
            <a:pPr>
              <a:spcAft>
                <a:spcPts val="600"/>
              </a:spcAft>
              <a:defRPr sz="1800">
                <a:solidFill>
                  <a:srgbClr val="333333"/>
                </a:solidFill>
              </a:defRPr>
            </a:pPr>
            <a:r>
              <a:t>Vehicle systems (LKA, EPS, camera)</a:t>
            </a:r>
          </a:p>
          <a:p>
            <a:pPr>
              <a:spcAft>
                <a:spcPts val="600"/>
              </a:spcAft>
              <a:defRPr sz="1800">
                <a:solidFill>
                  <a:srgbClr val="333333"/>
                </a:solidFill>
              </a:defRPr>
            </a:pPr>
            <a:r>
              <a:t>Environment (highway, other vehicles)</a:t>
            </a:r>
          </a:p>
          <a:p>
            <a:pPr>
              <a:spcAft>
                <a:spcPts val="1000"/>
              </a:spcAft>
              <a:defRPr sz="1800">
                <a:solidFill>
                  <a:srgbClr val="333333"/>
                </a:solidFill>
              </a:defRPr>
            </a:pPr>
            <a:r>
              <a:t>Context:</a:t>
            </a:r>
          </a:p>
          <a:p>
            <a:pPr>
              <a:spcAft>
                <a:spcPts val="600"/>
              </a:spcAft>
              <a:defRPr sz="1800">
                <a:solidFill>
                  <a:srgbClr val="333333"/>
                </a:solidFill>
              </a:defRPr>
            </a:pPr>
            <a:r>
              <a:t>Highway driving</a:t>
            </a:r>
          </a:p>
          <a:p>
            <a:pPr>
              <a:spcAft>
                <a:spcPts val="600"/>
              </a:spcAft>
              <a:defRPr sz="1800">
                <a:solidFill>
                  <a:srgbClr val="333333"/>
                </a:solidFill>
              </a:defRPr>
            </a:pPr>
            <a:r>
              <a:t>Vehicle speed: 100 km/h</a:t>
            </a:r>
          </a:p>
          <a:p>
            <a:pPr>
              <a:spcAft>
                <a:spcPts val="600"/>
              </a:spcAft>
              <a:defRPr sz="1800">
                <a:solidFill>
                  <a:srgbClr val="333333"/>
                </a:solidFill>
              </a:defRPr>
            </a:pPr>
            <a:r>
              <a:t>Clear weather, good visibility</a:t>
            </a:r>
          </a:p>
          <a:p>
            <a:pPr>
              <a:spcAft>
                <a:spcPts val="600"/>
              </a:spcAft>
              <a:defRPr sz="1800">
                <a:solidFill>
                  <a:srgbClr val="333333"/>
                </a:solidFill>
              </a:defRPr>
            </a:pPr>
            <a:r>
              <a:t>Well-marked lanes</a:t>
            </a:r>
          </a:p>
          <a:p>
            <a:pPr>
              <a:spcAft>
                <a:spcPts val="600"/>
              </a:spcAft>
              <a:defRPr sz="1800">
                <a:solidFill>
                  <a:srgbClr val="333333"/>
                </a:solidFill>
              </a:defRPr>
            </a:pPr>
            <a:r>
              <a:t>Light traffic</a:t>
            </a:r>
          </a:p>
          <a:p>
            <a:pPr>
              <a:spcAft>
                <a:spcPts val="1000"/>
              </a:spcAft>
              <a:defRPr sz="1800">
                <a:solidFill>
                  <a:srgbClr val="333333"/>
                </a:solidFill>
              </a:defRPr>
            </a:pPr>
            <a:r>
              <a:t>Trigger: Driver activates LKA via steering wheel button</a:t>
            </a:r>
          </a:p>
          <a:p>
            <a:pPr>
              <a:spcAft>
                <a:spcPts val="1000"/>
              </a:spcAft>
              <a:defRPr sz="1800">
                <a:solidFill>
                  <a:srgbClr val="333333"/>
                </a:solidFill>
              </a:defRPr>
            </a:pPr>
            <a:r>
              <a:t>Goal: Maintain vehicle centered in lane without driver steering input</a:t>
            </a:r>
          </a:p>
          <a:p>
            <a:pPr>
              <a:spcAft>
                <a:spcPts val="1000"/>
              </a:spcAft>
              <a:defRPr sz="1800">
                <a:solidFill>
                  <a:srgbClr val="333333"/>
                </a:solidFill>
              </a:defRPr>
            </a:pPr>
            <a:r>
              <a:t>Sequence:</a:t>
            </a:r>
          </a:p>
          <a:p>
            <a:pPr>
              <a:spcAft>
                <a:spcPts val="600"/>
              </a:spcAft>
              <a:defRPr sz="1800">
                <a:solidFill>
                  <a:srgbClr val="333333"/>
                </a:solidFill>
              </a:defRPr>
            </a:pPr>
            <a:r>
              <a:t>Driver presses LKA activation button</a:t>
            </a:r>
          </a:p>
          <a:p>
            <a:pPr>
              <a:spcAft>
                <a:spcPts val="600"/>
              </a:spcAft>
              <a:defRPr sz="1800">
                <a:solidFill>
                  <a:srgbClr val="333333"/>
                </a:solidFill>
              </a:defRPr>
            </a:pPr>
            <a:r>
              <a:t>System checks preconditions (speed &gt;60 km/h, lane lines detected)</a:t>
            </a:r>
          </a:p>
          <a:p>
            <a:pPr>
              <a:spcAft>
                <a:spcPts val="600"/>
              </a:spcAft>
              <a:defRPr sz="1800">
                <a:solidFill>
                  <a:srgbClr val="333333"/>
                </a:solidFill>
              </a:defRPr>
            </a:pPr>
            <a:r>
              <a:t>System displays 'LKA Active' on instrument cluster (green indicator)</a:t>
            </a:r>
          </a:p>
          <a:p>
            <a:pPr>
              <a:spcAft>
                <a:spcPts val="600"/>
              </a:spcAft>
              <a:defRPr sz="1800">
                <a:solidFill>
                  <a:srgbClr val="333333"/>
                </a:solidFill>
              </a:defRPr>
            </a:pPr>
            <a:r>
              <a:t>Camera continuously monitors lane position (20 Hz)</a:t>
            </a:r>
          </a:p>
          <a:p>
            <a:pPr>
              <a:spcAft>
                <a:spcPts val="600"/>
              </a:spcAft>
              <a:defRPr sz="1800">
                <a:solidFill>
                  <a:srgbClr val="333333"/>
                </a:solidFill>
              </a:defRPr>
            </a:pPr>
            <a:r>
              <a:t>System calculates lateral offset from lane center</a:t>
            </a:r>
          </a:p>
          <a:p>
            <a:pPr>
              <a:spcAft>
                <a:spcPts val="600"/>
              </a:spcAft>
              <a:defRPr sz="1800">
                <a:solidFill>
                  <a:srgbClr val="333333"/>
                </a:solidFill>
              </a:defRPr>
            </a:pPr>
            <a:r>
              <a:t>Nominal case: Vehicle centered, no correction needed</a:t>
            </a:r>
          </a:p>
          <a:p>
            <a:pPr>
              <a:spcAft>
                <a:spcPts val="600"/>
              </a:spcAft>
              <a:defRPr sz="1800">
                <a:solidFill>
                  <a:srgbClr val="333333"/>
                </a:solidFill>
              </a:defRPr>
            </a:pPr>
            <a:r>
              <a:t>Drift detected: Vehicle drifts 0.3m toward lane edge</a:t>
            </a:r>
          </a:p>
          <a:p>
            <a:pPr>
              <a:spcAft>
                <a:spcPts val="600"/>
              </a:spcAft>
              <a:defRPr sz="1800">
                <a:solidFill>
                  <a:srgbClr val="333333"/>
                </a:solidFill>
              </a:defRPr>
            </a:pPr>
            <a:r>
              <a:t>System calculates required steering correction (0.5° left)</a:t>
            </a:r>
          </a:p>
          <a:p>
            <a:pPr>
              <a:spcAft>
                <a:spcPts val="600"/>
              </a:spcAft>
              <a:defRPr sz="1800">
                <a:solidFill>
                  <a:srgbClr val="333333"/>
                </a:solidFill>
              </a:defRPr>
            </a:pPr>
            <a:r>
              <a:t>System sends torque request to EPS ECU</a:t>
            </a:r>
          </a:p>
          <a:p>
            <a:pPr>
              <a:spcAft>
                <a:spcPts val="600"/>
              </a:spcAft>
              <a:defRPr sz="1800">
                <a:solidFill>
                  <a:srgbClr val="333333"/>
                </a:solidFill>
              </a:defRPr>
            </a:pPr>
            <a:r>
              <a:t>EPS applies gentle corrective steering (0.8 Nm)</a:t>
            </a:r>
          </a:p>
          <a:p>
            <a:pPr>
              <a:spcAft>
                <a:spcPts val="600"/>
              </a:spcAft>
              <a:defRPr sz="1800">
                <a:solidFill>
                  <a:srgbClr val="333333"/>
                </a:solidFill>
              </a:defRPr>
            </a:pPr>
            <a:r>
              <a:t>Vehicle returns to lane center</a:t>
            </a:r>
          </a:p>
          <a:p>
            <a:pPr>
              <a:spcAft>
                <a:spcPts val="600"/>
              </a:spcAft>
              <a:defRPr sz="1800">
                <a:solidFill>
                  <a:srgbClr val="333333"/>
                </a:solidFill>
              </a:defRPr>
            </a:pPr>
            <a:r>
              <a:t>System reduces steering input as centering achieved</a:t>
            </a:r>
          </a:p>
          <a:p>
            <a:pPr>
              <a:spcAft>
                <a:spcPts val="1000"/>
              </a:spcAft>
              <a:defRPr sz="1800">
                <a:solidFill>
                  <a:srgbClr val="333333"/>
                </a:solidFill>
              </a:defRPr>
            </a:pPr>
            <a:r>
              <a:t>Outcomes:</a:t>
            </a:r>
          </a:p>
          <a:p>
            <a:pPr>
              <a:spcAft>
                <a:spcPts val="600"/>
              </a:spcAft>
              <a:defRPr sz="1800">
                <a:solidFill>
                  <a:srgbClr val="333333"/>
                </a:solidFill>
              </a:defRPr>
            </a:pPr>
            <a:r>
              <a:t>Success: Vehicle maintains lane position, driver informed</a:t>
            </a:r>
          </a:p>
          <a:p>
            <a:pPr>
              <a:spcAft>
                <a:spcPts val="600"/>
              </a:spcAft>
              <a:defRPr sz="1800">
                <a:solidFill>
                  <a:srgbClr val="333333"/>
                </a:solidFill>
              </a:defRPr>
            </a:pPr>
            <a:r>
              <a:t>Variation 1: Driver overrides (hands on wheel) → system yields, remains active</a:t>
            </a:r>
          </a:p>
          <a:p>
            <a:pPr>
              <a:spcAft>
                <a:spcPts val="600"/>
              </a:spcAft>
              <a:defRPr sz="1800">
                <a:solidFill>
                  <a:srgbClr val="333333"/>
                </a:solidFill>
              </a:defRPr>
            </a:pPr>
            <a:r>
              <a:t>Variation 2: Driver signals lane change → system disengages temporarily</a:t>
            </a:r>
          </a:p>
          <a:p>
            <a:pPr>
              <a:spcAft>
                <a:spcPts val="1000"/>
              </a:spcAft>
              <a:defRPr sz="1800">
                <a:solidFill>
                  <a:srgbClr val="333333"/>
                </a:solidFill>
              </a:defRPr>
            </a:pPr>
            <a:r>
              <a:t>This is ONE scenario. A complete LKA system needs 20-30 operational scenarios.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Comprehensive Scenario Development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How do we ensure we've captured ALL operational scenarios? Systematic enumeration.</a:t>
            </a:r>
          </a:p>
          <a:p>
            <a:pPr>
              <a:spcAft>
                <a:spcPts val="1000"/>
              </a:spcAft>
              <a:defRPr sz="1800">
                <a:solidFill>
                  <a:srgbClr val="333333"/>
                </a:solidFill>
              </a:defRPr>
            </a:pPr>
            <a:r>
              <a:t>LKA Operational Scenario Matrix:</a:t>
            </a:r>
          </a:p>
          <a:p>
            <a:pPr>
              <a:spcAft>
                <a:spcPts val="1000"/>
              </a:spcAft>
              <a:defRPr sz="1800">
                <a:solidFill>
                  <a:srgbClr val="333333"/>
                </a:solidFill>
              </a:defRPr>
            </a:pPr>
            <a:r>
              <a:t>Dimension 1 - Operational Modes:</a:t>
            </a:r>
          </a:p>
          <a:p>
            <a:pPr>
              <a:spcAft>
                <a:spcPts val="600"/>
              </a:spcAft>
              <a:defRPr sz="1800">
                <a:solidFill>
                  <a:srgbClr val="333333"/>
                </a:solidFill>
              </a:defRPr>
            </a:pPr>
            <a:r>
              <a:t>Activation scenarios (driver-initiated, conditions met)</a:t>
            </a:r>
          </a:p>
          <a:p>
            <a:pPr>
              <a:spcAft>
                <a:spcPts val="600"/>
              </a:spcAft>
              <a:defRPr sz="1800">
                <a:solidFill>
                  <a:srgbClr val="333333"/>
                </a:solidFill>
              </a:defRPr>
            </a:pPr>
            <a:r>
              <a:t>Normal operation (lane keeping)</a:t>
            </a:r>
          </a:p>
          <a:p>
            <a:pPr>
              <a:spcAft>
                <a:spcPts val="600"/>
              </a:spcAft>
              <a:defRPr sz="1800">
                <a:solidFill>
                  <a:srgbClr val="333333"/>
                </a:solidFill>
              </a:defRPr>
            </a:pPr>
            <a:r>
              <a:t>Lane change scenarios (intentional departure)</a:t>
            </a:r>
          </a:p>
          <a:p>
            <a:pPr>
              <a:spcAft>
                <a:spcPts val="600"/>
              </a:spcAft>
              <a:defRPr sz="1800">
                <a:solidFill>
                  <a:srgbClr val="333333"/>
                </a:solidFill>
              </a:defRPr>
            </a:pPr>
            <a:r>
              <a:t>Override scenarios (driver intervention)</a:t>
            </a:r>
          </a:p>
          <a:p>
            <a:pPr>
              <a:spcAft>
                <a:spcPts val="600"/>
              </a:spcAft>
              <a:defRPr sz="1800">
                <a:solidFill>
                  <a:srgbClr val="333333"/>
                </a:solidFill>
              </a:defRPr>
            </a:pPr>
            <a:r>
              <a:t>Deactivation scenarios (driver, system, conditions)</a:t>
            </a:r>
          </a:p>
          <a:p>
            <a:pPr>
              <a:spcAft>
                <a:spcPts val="600"/>
              </a:spcAft>
              <a:defRPr sz="1800">
                <a:solidFill>
                  <a:srgbClr val="333333"/>
                </a:solidFill>
              </a:defRPr>
            </a:pPr>
            <a:r>
              <a:t>Failure mode scenarios (degraded operation)</a:t>
            </a:r>
          </a:p>
          <a:p>
            <a:pPr>
              <a:spcAft>
                <a:spcPts val="1000"/>
              </a:spcAft>
              <a:defRPr sz="1800">
                <a:solidFill>
                  <a:srgbClr val="333333"/>
                </a:solidFill>
              </a:defRPr>
            </a:pPr>
            <a:r>
              <a:t>Dimension 2 - Environmental Conditions:</a:t>
            </a:r>
          </a:p>
          <a:p>
            <a:pPr>
              <a:spcAft>
                <a:spcPts val="600"/>
              </a:spcAft>
              <a:defRPr sz="1800">
                <a:solidFill>
                  <a:srgbClr val="333333"/>
                </a:solidFill>
              </a:defRPr>
            </a:pPr>
            <a:r>
              <a:t>Road type: Highway, urban, rural, construction zone</a:t>
            </a:r>
          </a:p>
          <a:p>
            <a:pPr>
              <a:spcAft>
                <a:spcPts val="600"/>
              </a:spcAft>
              <a:defRPr sz="1800">
                <a:solidFill>
                  <a:srgbClr val="333333"/>
                </a:solidFill>
              </a:defRPr>
            </a:pPr>
            <a:r>
              <a:t>Weather: Clear, rain, snow, fog</a:t>
            </a:r>
          </a:p>
          <a:p>
            <a:pPr>
              <a:spcAft>
                <a:spcPts val="600"/>
              </a:spcAft>
              <a:defRPr sz="1800">
                <a:solidFill>
                  <a:srgbClr val="333333"/>
                </a:solidFill>
              </a:defRPr>
            </a:pPr>
            <a:r>
              <a:t>Lighting: Day, night, dusk/dawn, tunnel</a:t>
            </a:r>
          </a:p>
          <a:p>
            <a:pPr>
              <a:spcAft>
                <a:spcPts val="600"/>
              </a:spcAft>
              <a:defRPr sz="1800">
                <a:solidFill>
                  <a:srgbClr val="333333"/>
                </a:solidFill>
              </a:defRPr>
            </a:pPr>
            <a:r>
              <a:t>Lane markings: Clear, faded, absent, multiple (construction)</a:t>
            </a:r>
          </a:p>
          <a:p>
            <a:pPr>
              <a:spcAft>
                <a:spcPts val="600"/>
              </a:spcAft>
              <a:defRPr sz="1800">
                <a:solidFill>
                  <a:srgbClr val="333333"/>
                </a:solidFill>
              </a:defRPr>
            </a:pPr>
            <a:r>
              <a:t>Road geometry: Straight, gentle curve, sharp curve, merging lanes</a:t>
            </a:r>
          </a:p>
          <a:p>
            <a:pPr>
              <a:spcAft>
                <a:spcPts val="1000"/>
              </a:spcAft>
              <a:defRPr sz="1800">
                <a:solidFill>
                  <a:srgbClr val="333333"/>
                </a:solidFill>
              </a:defRPr>
            </a:pPr>
            <a:r>
              <a:t>Dimension 3 - Traffic Conditions:</a:t>
            </a:r>
          </a:p>
          <a:p>
            <a:pPr>
              <a:spcAft>
                <a:spcPts val="600"/>
              </a:spcAft>
              <a:defRPr sz="1800">
                <a:solidFill>
                  <a:srgbClr val="333333"/>
                </a:solidFill>
              </a:defRPr>
            </a:pPr>
            <a:r>
              <a:t>Light traffic (free flow)</a:t>
            </a:r>
          </a:p>
          <a:p>
            <a:pPr>
              <a:spcAft>
                <a:spcPts val="600"/>
              </a:spcAft>
              <a:defRPr sz="1800">
                <a:solidFill>
                  <a:srgbClr val="333333"/>
                </a:solidFill>
              </a:defRPr>
            </a:pPr>
            <a:r>
              <a:t>Heavy traffic (congestion)</a:t>
            </a:r>
          </a:p>
          <a:p>
            <a:pPr>
              <a:spcAft>
                <a:spcPts val="600"/>
              </a:spcAft>
              <a:defRPr sz="1800">
                <a:solidFill>
                  <a:srgbClr val="333333"/>
                </a:solidFill>
              </a:defRPr>
            </a:pPr>
            <a:r>
              <a:t>Adjacent vehicle influence (lane change nearby)</a:t>
            </a:r>
          </a:p>
          <a:p>
            <a:pPr>
              <a:spcAft>
                <a:spcPts val="1000"/>
              </a:spcAft>
              <a:defRPr sz="1800">
                <a:solidFill>
                  <a:srgbClr val="333333"/>
                </a:solidFill>
              </a:defRPr>
            </a:pPr>
            <a:r>
              <a:t>Dimension 4 - System States:</a:t>
            </a:r>
          </a:p>
          <a:p>
            <a:pPr>
              <a:spcAft>
                <a:spcPts val="600"/>
              </a:spcAft>
              <a:defRPr sz="1800">
                <a:solidFill>
                  <a:srgbClr val="333333"/>
                </a:solidFill>
              </a:defRPr>
            </a:pPr>
            <a:r>
              <a:t>All sensors functional</a:t>
            </a:r>
          </a:p>
          <a:p>
            <a:pPr>
              <a:spcAft>
                <a:spcPts val="600"/>
              </a:spcAft>
              <a:defRPr sz="1800">
                <a:solidFill>
                  <a:srgbClr val="333333"/>
                </a:solidFill>
              </a:defRPr>
            </a:pPr>
            <a:r>
              <a:t>Camera degraded (dirty, partially obscured)</a:t>
            </a:r>
          </a:p>
          <a:p>
            <a:pPr>
              <a:spcAft>
                <a:spcPts val="600"/>
              </a:spcAft>
              <a:defRPr sz="1800">
                <a:solidFill>
                  <a:srgbClr val="333333"/>
                </a:solidFill>
              </a:defRPr>
            </a:pPr>
            <a:r>
              <a:t>Steering system degraded</a:t>
            </a:r>
          </a:p>
          <a:p>
            <a:pPr>
              <a:spcAft>
                <a:spcPts val="600"/>
              </a:spcAft>
              <a:defRPr sz="1800">
                <a:solidFill>
                  <a:srgbClr val="333333"/>
                </a:solidFill>
              </a:defRPr>
            </a:pPr>
            <a:r>
              <a:t>Multiple systems active (LKA + ACC)</a:t>
            </a:r>
          </a:p>
          <a:p>
            <a:pPr>
              <a:spcAft>
                <a:spcPts val="1000"/>
              </a:spcAft>
              <a:defRPr sz="1800">
                <a:solidFill>
                  <a:srgbClr val="333333"/>
                </a:solidFill>
              </a:defRPr>
            </a:pPr>
            <a:r>
              <a:t>Example scenarios from matrix:</a:t>
            </a:r>
          </a:p>
          <a:p>
            <a:pPr>
              <a:spcAft>
                <a:spcPts val="1000"/>
              </a:spcAft>
              <a:defRPr sz="1800">
                <a:solidFill>
                  <a:srgbClr val="333333"/>
                </a:solidFill>
              </a:defRPr>
            </a:pPr>
            <a:r>
              <a:t>| Scenario ID | Mode | Environment | Outcome |</a:t>
            </a:r>
          </a:p>
          <a:p>
            <a:pPr>
              <a:spcAft>
                <a:spcPts val="1000"/>
              </a:spcAft>
              <a:defRPr sz="1800">
                <a:solidFill>
                  <a:srgbClr val="333333"/>
                </a:solidFill>
              </a:defRPr>
            </a:pPr>
            <a:r>
              <a:t>|-------------|------|-------------|---------|</a:t>
            </a:r>
          </a:p>
          <a:p>
            <a:pPr>
              <a:spcAft>
                <a:spcPts val="1000"/>
              </a:spcAft>
              <a:defRPr sz="1800">
                <a:solidFill>
                  <a:srgbClr val="333333"/>
                </a:solidFill>
              </a:defRPr>
            </a:pPr>
            <a:r>
              <a:t>| OPS-LKA-001 | Normal operation | Highway, clear, day | Maintain lane center |</a:t>
            </a:r>
          </a:p>
          <a:p>
            <a:pPr>
              <a:spcAft>
                <a:spcPts val="1000"/>
              </a:spcAft>
              <a:defRPr sz="1800">
                <a:solidFill>
                  <a:srgbClr val="333333"/>
                </a:solidFill>
              </a:defRPr>
            </a:pPr>
            <a:r>
              <a:t>| OPS-LKA-002 | Activation | Highway, clear, day | Enable LKA successfully |</a:t>
            </a:r>
          </a:p>
          <a:p>
            <a:pPr>
              <a:spcAft>
                <a:spcPts val="1000"/>
              </a:spcAft>
              <a:defRPr sz="1800">
                <a:solidFill>
                  <a:srgbClr val="333333"/>
                </a:solidFill>
              </a:defRPr>
            </a:pPr>
            <a:r>
              <a:t>| OPS-LKA-003 | Lane change | Highway, clear, day | Detect turn signal, allow departure |</a:t>
            </a:r>
          </a:p>
          <a:p>
            <a:pPr>
              <a:spcAft>
                <a:spcPts val="1000"/>
              </a:spcAft>
              <a:defRPr sz="1800">
                <a:solidFill>
                  <a:srgbClr val="333333"/>
                </a:solidFill>
              </a:defRPr>
            </a:pPr>
            <a:r>
              <a:t>| OPS-LKA-004 | Override | Highway, clear, day | Yield to driver, remain ready |</a:t>
            </a:r>
          </a:p>
          <a:p>
            <a:pPr>
              <a:spcAft>
                <a:spcPts val="1000"/>
              </a:spcAft>
              <a:defRPr sz="1800">
                <a:solidFill>
                  <a:srgbClr val="333333"/>
                </a:solidFill>
              </a:defRPr>
            </a:pPr>
            <a:r>
              <a:t>| OPS-LKA-005 | Normal operation | Highway, rain, night | Maintain function if camera sees lines |</a:t>
            </a:r>
          </a:p>
          <a:p>
            <a:pPr>
              <a:spcAft>
                <a:spcPts val="1000"/>
              </a:spcAft>
              <a:defRPr sz="1800">
                <a:solidFill>
                  <a:srgbClr val="333333"/>
                </a:solidFill>
              </a:defRPr>
            </a:pPr>
            <a:r>
              <a:t>| OPS-LKA-006 | Degraded operation | Highway, heavy rain, night | Display 'LKA unavailable' if no lines |</a:t>
            </a:r>
          </a:p>
          <a:p>
            <a:pPr>
              <a:spcAft>
                <a:spcPts val="1000"/>
              </a:spcAft>
              <a:defRPr sz="1800">
                <a:solidFill>
                  <a:srgbClr val="333333"/>
                </a:solidFill>
              </a:defRPr>
            </a:pPr>
            <a:r>
              <a:t>| OPS-LKA-007 | Failure handling | Highway, camera blocked | Safe transition to inactive state |</a:t>
            </a:r>
          </a:p>
          <a:p>
            <a:pPr>
              <a:spcAft>
                <a:spcPts val="1000"/>
              </a:spcAft>
              <a:defRPr sz="1800">
                <a:solidFill>
                  <a:srgbClr val="333333"/>
                </a:solidFill>
              </a:defRPr>
            </a:pPr>
            <a:r>
              <a:t>| OPS-LKA-008 | Normal operation | Construction zone, multiple lines | Maintain on rightmost solid line |</a:t>
            </a:r>
          </a:p>
          <a:p>
            <a:pPr>
              <a:spcAft>
                <a:spcPts val="1000"/>
              </a:spcAft>
              <a:defRPr sz="1800">
                <a:solidFill>
                  <a:srgbClr val="333333"/>
                </a:solidFill>
              </a:defRPr>
            </a:pPr>
            <a:r>
              <a:t>Best practice: For safety-critical systems (ASIL-B or higher per ISO 26262), we need 30-50 operational scenarios covering all mode combinations and failure cases.</a:t>
            </a:r>
          </a:p>
          <a:p>
            <a:pPr>
              <a:spcAft>
                <a:spcPts val="1000"/>
              </a:spcAft>
              <a:defRPr sz="1800">
                <a:solidFill>
                  <a:srgbClr val="333333"/>
                </a:solidFill>
              </a:defRPr>
            </a:pPr>
            <a:r>
              <a:t>Each scenario becomes a test case in Session 8 (Verification &amp; Validation).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Use Case Modeling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We formalize operational scenarios using Use Case modeling (from UML - Unified Modeling Language).</a:t>
            </a:r>
          </a:p>
          <a:p>
            <a:pPr>
              <a:spcAft>
                <a:spcPts val="1000"/>
              </a:spcAft>
              <a:defRPr sz="1800">
                <a:solidFill>
                  <a:srgbClr val="333333"/>
                </a:solidFill>
              </a:defRPr>
            </a:pPr>
            <a:r>
              <a:t>Use Case Diagram for Lane Keep Assist System:</a:t>
            </a:r>
          </a:p>
          <a:p>
            <a:pPr>
              <a:defRPr sz="1400">
                <a:solidFill>
                  <a:srgbClr val="787878"/>
                </a:solidFill>
                <a:latin typeface="Consolas"/>
              </a:defRPr>
            </a:pPr>
            <a:r>
              <a:t>Actors:</a:t>
            </a:r>
            <a:br/>
            <a:r>
              <a:t>- Driver (primary)</a:t>
            </a:r>
            <a:br/>
            <a:r>
              <a:t>- Camera System (supporting)</a:t>
            </a:r>
            <a:br/>
            <a:r>
              <a:t>- EPS ECU (supporting)</a:t>
            </a:r>
            <a:br/>
            <a:r>
              <a:t>Use Cases (ovals):</a:t>
            </a:r>
            <a:br/>
            <a:r>
              <a:t>1. Activate LKA</a:t>
            </a:r>
            <a:br/>
            <a:r>
              <a:t>2. Monitor Lane Position</a:t>
            </a:r>
            <a:br/>
            <a:r>
              <a:t>3. Detect Lane Departure</a:t>
            </a:r>
            <a:br/>
            <a:r>
              <a:t>4. Apply Steering Correction</a:t>
            </a:r>
            <a:br/>
            <a:r>
              <a:t>5. Handle Driver Override</a:t>
            </a:r>
            <a:br/>
            <a:r>
              <a:t>6. Deactivate LKA</a:t>
            </a:r>
            <a:br/>
            <a:r>
              <a:t>7. Handle System Failure</a:t>
            </a:r>
            <a:br/>
            <a:r>
              <a:t>Relationships:</a:t>
            </a:r>
            <a:br/>
            <a:r>
              <a:t>- «includes»: Monitor Lane Position «includes» Detect Lane Departure</a:t>
            </a:r>
            <a:br/>
            <a:r>
              <a:t>- «extends»: Handle Driver Override «extends» Apply Steering Correction</a:t>
            </a:r>
          </a:p>
          <a:p>
            <a:pPr>
              <a:spcAft>
                <a:spcPts val="1000"/>
              </a:spcAft>
              <a:defRPr sz="1800">
                <a:solidFill>
                  <a:srgbClr val="333333"/>
                </a:solidFill>
              </a:defRPr>
            </a:pPr>
            <a:r>
              <a:t>Use Case Template - Example:</a:t>
            </a:r>
          </a:p>
          <a:p>
            <a:pPr>
              <a:spcAft>
                <a:spcPts val="1000"/>
              </a:spcAft>
              <a:defRPr sz="1800">
                <a:solidFill>
                  <a:srgbClr val="333333"/>
                </a:solidFill>
              </a:defRPr>
            </a:pPr>
            <a:r>
              <a:t>UC-LKA-003: Detect Lane Departure</a:t>
            </a:r>
          </a:p>
          <a:p>
            <a:pPr>
              <a:spcAft>
                <a:spcPts val="1000"/>
              </a:spcAft>
              <a:defRPr sz="1800">
                <a:solidFill>
                  <a:srgbClr val="333333"/>
                </a:solidFill>
              </a:defRPr>
            </a:pPr>
            <a:r>
              <a:t>Primary Actor: LKA System</a:t>
            </a:r>
          </a:p>
          <a:p>
            <a:pPr>
              <a:spcAft>
                <a:spcPts val="1000"/>
              </a:spcAft>
              <a:defRPr sz="1800">
                <a:solidFill>
                  <a:srgbClr val="333333"/>
                </a:solidFill>
              </a:defRPr>
            </a:pPr>
            <a:r>
              <a:t>Goal: Identify when vehicle is drifting from lane center</a:t>
            </a:r>
          </a:p>
          <a:p>
            <a:pPr>
              <a:spcAft>
                <a:spcPts val="1000"/>
              </a:spcAft>
              <a:defRPr sz="1800">
                <a:solidFill>
                  <a:srgbClr val="333333"/>
                </a:solidFill>
              </a:defRPr>
            </a:pPr>
            <a:r>
              <a:t>Preconditions: LKA is active, lane lines visible, speed &gt;60 km/h</a:t>
            </a:r>
          </a:p>
          <a:p>
            <a:pPr>
              <a:spcAft>
                <a:spcPts val="1000"/>
              </a:spcAft>
              <a:defRPr sz="1800">
                <a:solidFill>
                  <a:srgbClr val="333333"/>
                </a:solidFill>
              </a:defRPr>
            </a:pPr>
            <a:r>
              <a:t>Trigger: Camera provides new lane position data (every 50ms)</a:t>
            </a:r>
          </a:p>
          <a:p>
            <a:pPr>
              <a:spcAft>
                <a:spcPts val="1000"/>
              </a:spcAft>
              <a:defRPr sz="1800">
                <a:solidFill>
                  <a:srgbClr val="333333"/>
                </a:solidFill>
              </a:defRPr>
            </a:pPr>
            <a:r>
              <a:t>Main Success Scenario:</a:t>
            </a:r>
          </a:p>
          <a:p>
            <a:pPr>
              <a:spcAft>
                <a:spcPts val="600"/>
              </a:spcAft>
              <a:defRPr sz="1800">
                <a:solidFill>
                  <a:srgbClr val="333333"/>
                </a:solidFill>
              </a:defRPr>
            </a:pPr>
            <a:r>
              <a:t>System receives lane line positions from camera</a:t>
            </a:r>
          </a:p>
          <a:p>
            <a:pPr>
              <a:spcAft>
                <a:spcPts val="600"/>
              </a:spcAft>
              <a:defRPr sz="1800">
                <a:solidFill>
                  <a:srgbClr val="333333"/>
                </a:solidFill>
              </a:defRPr>
            </a:pPr>
            <a:r>
              <a:t>System calculates vehicle lateral offset from lane center</a:t>
            </a:r>
          </a:p>
          <a:p>
            <a:pPr>
              <a:spcAft>
                <a:spcPts val="600"/>
              </a:spcAft>
              <a:defRPr sz="1800">
                <a:solidFill>
                  <a:srgbClr val="333333"/>
                </a:solidFill>
              </a:defRPr>
            </a:pPr>
            <a:r>
              <a:t>System calculates lateral velocity (rate of drift)</a:t>
            </a:r>
          </a:p>
          <a:p>
            <a:pPr>
              <a:spcAft>
                <a:spcPts val="600"/>
              </a:spcAft>
              <a:defRPr sz="1800">
                <a:solidFill>
                  <a:srgbClr val="333333"/>
                </a:solidFill>
              </a:defRPr>
            </a:pPr>
            <a:r>
              <a:t>System determines if offset exceeds threshold (0.15m)</a:t>
            </a:r>
          </a:p>
          <a:p>
            <a:pPr>
              <a:spcAft>
                <a:spcPts val="600"/>
              </a:spcAft>
              <a:defRPr sz="1800">
                <a:solidFill>
                  <a:srgbClr val="333333"/>
                </a:solidFill>
              </a:defRPr>
            </a:pPr>
            <a:r>
              <a:t>If threshold exceeded: Trigger 'Apply Steering Correction' use case</a:t>
            </a:r>
          </a:p>
          <a:p>
            <a:pPr>
              <a:spcAft>
                <a:spcPts val="600"/>
              </a:spcAft>
              <a:defRPr sz="1800">
                <a:solidFill>
                  <a:srgbClr val="333333"/>
                </a:solidFill>
              </a:defRPr>
            </a:pPr>
            <a:r>
              <a:t>If within tolerance: Continue monitoring</a:t>
            </a:r>
          </a:p>
          <a:p>
            <a:pPr>
              <a:spcAft>
                <a:spcPts val="1000"/>
              </a:spcAft>
              <a:defRPr sz="1800">
                <a:solidFill>
                  <a:srgbClr val="333333"/>
                </a:solidFill>
              </a:defRPr>
            </a:pPr>
            <a:r>
              <a:t>Extensions (alternative flows):</a:t>
            </a:r>
          </a:p>
          <a:p>
            <a:pPr>
              <a:spcAft>
                <a:spcPts val="600"/>
              </a:spcAft>
              <a:defRPr sz="1800">
                <a:solidFill>
                  <a:srgbClr val="333333"/>
                </a:solidFill>
              </a:defRPr>
            </a:pPr>
            <a:r>
              <a:t>1a. Camera data invalid → Display warning, deactivate LKA</a:t>
            </a:r>
          </a:p>
          <a:p>
            <a:pPr>
              <a:spcAft>
                <a:spcPts val="600"/>
              </a:spcAft>
              <a:defRPr sz="1800">
                <a:solidFill>
                  <a:srgbClr val="333333"/>
                </a:solidFill>
              </a:defRPr>
            </a:pPr>
            <a:r>
              <a:t>4a. Lane change signal detected → Suppress departure warning, allow crossing</a:t>
            </a:r>
          </a:p>
          <a:p>
            <a:pPr>
              <a:spcAft>
                <a:spcPts val="600"/>
              </a:spcAft>
              <a:defRPr sz="1800">
                <a:solidFill>
                  <a:srgbClr val="333333"/>
                </a:solidFill>
              </a:defRPr>
            </a:pPr>
            <a:r>
              <a:t>4b. Driver hands-on-wheel detected → Reduce correction authority</a:t>
            </a:r>
          </a:p>
          <a:p>
            <a:pPr>
              <a:spcAft>
                <a:spcPts val="1000"/>
              </a:spcAft>
              <a:defRPr sz="1800">
                <a:solidFill>
                  <a:srgbClr val="333333"/>
                </a:solidFill>
              </a:defRPr>
            </a:pPr>
            <a:r>
              <a:t>Postconditions:</a:t>
            </a:r>
          </a:p>
          <a:p>
            <a:pPr>
              <a:spcAft>
                <a:spcPts val="600"/>
              </a:spcAft>
              <a:defRPr sz="1800">
                <a:solidFill>
                  <a:srgbClr val="333333"/>
                </a:solidFill>
              </a:defRPr>
            </a:pPr>
            <a:r>
              <a:t>Success: Departure detected and correction triggered</a:t>
            </a:r>
          </a:p>
          <a:p>
            <a:pPr>
              <a:spcAft>
                <a:spcPts val="600"/>
              </a:spcAft>
              <a:defRPr sz="1800">
                <a:solidFill>
                  <a:srgbClr val="333333"/>
                </a:solidFill>
              </a:defRPr>
            </a:pPr>
            <a:r>
              <a:t>Failure: System transitions to safe state (inactive, driver notified)</a:t>
            </a:r>
          </a:p>
          <a:p>
            <a:pPr>
              <a:spcAft>
                <a:spcPts val="1000"/>
              </a:spcAft>
              <a:defRPr sz="1800">
                <a:solidFill>
                  <a:srgbClr val="333333"/>
                </a:solidFill>
              </a:defRPr>
            </a:pPr>
            <a:r>
              <a:t>Special Requirements:</a:t>
            </a:r>
          </a:p>
          <a:p>
            <a:pPr>
              <a:spcAft>
                <a:spcPts val="600"/>
              </a:spcAft>
              <a:defRPr sz="1800">
                <a:solidFill>
                  <a:srgbClr val="333333"/>
                </a:solidFill>
              </a:defRPr>
            </a:pPr>
            <a:r>
              <a:t>Response time: Detection to correction request ≤100ms (from REQ-LKA-015)</a:t>
            </a:r>
          </a:p>
          <a:p>
            <a:pPr>
              <a:spcAft>
                <a:spcPts val="600"/>
              </a:spcAft>
              <a:defRPr sz="1800">
                <a:solidFill>
                  <a:srgbClr val="333333"/>
                </a:solidFill>
              </a:defRPr>
            </a:pPr>
            <a:r>
              <a:t>False positive rate: &lt;1% (from REQ-LKA-022)</a:t>
            </a:r>
          </a:p>
          <a:p>
            <a:pPr>
              <a:spcAft>
                <a:spcPts val="1000"/>
              </a:spcAft>
              <a:defRPr sz="1800">
                <a:solidFill>
                  <a:srgbClr val="333333"/>
                </a:solidFill>
              </a:defRPr>
            </a:pPr>
            <a:r>
              <a:t>Notice: Use cases connect operational scenarios to functional requirements. They're the bridge.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 Part 2: Capability Gap Analysis (Slides 11-13, ~8 minutes)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What Is Capability Gap Analysis?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Now that we know HOW the system will be used (operational scenarios), we perform Capability Gap Analysis to identify what capabilities are required but not yet defined.</a:t>
            </a:r>
          </a:p>
          <a:p>
            <a:pPr>
              <a:spcAft>
                <a:spcPts val="1000"/>
              </a:spcAft>
              <a:defRPr sz="1800">
                <a:solidFill>
                  <a:srgbClr val="333333"/>
                </a:solidFill>
              </a:defRPr>
            </a:pPr>
            <a:r>
              <a:t>Capability Gap Analysis Process:</a:t>
            </a:r>
          </a:p>
          <a:p>
            <a:pPr>
              <a:spcAft>
                <a:spcPts val="1000"/>
              </a:spcAft>
              <a:defRPr sz="1800">
                <a:solidFill>
                  <a:srgbClr val="333333"/>
                </a:solidFill>
              </a:defRPr>
            </a:pPr>
            <a:r>
              <a:t>Step 1: Define Required Capabilities (from operational scenarios)</a:t>
            </a:r>
          </a:p>
          <a:p>
            <a:pPr>
              <a:spcAft>
                <a:spcPts val="600"/>
              </a:spcAft>
              <a:defRPr sz="1800">
                <a:solidFill>
                  <a:srgbClr val="333333"/>
                </a:solidFill>
              </a:defRPr>
            </a:pPr>
            <a:r>
              <a:t>What must the system be able to do to execute scenarios successfully?</a:t>
            </a:r>
          </a:p>
          <a:p>
            <a:pPr>
              <a:spcAft>
                <a:spcPts val="1000"/>
              </a:spcAft>
              <a:defRPr sz="1800">
                <a:solidFill>
                  <a:srgbClr val="333333"/>
                </a:solidFill>
              </a:defRPr>
            </a:pPr>
            <a:r>
              <a:t>Step 2: Assess Current/Baseline Capabilities — What can the existing system or platform do?</a:t>
            </a:r>
          </a:p>
          <a:p>
            <a:pPr>
              <a:spcAft>
                <a:spcPts val="600"/>
              </a:spcAft>
              <a:defRPr sz="1800">
                <a:solidFill>
                  <a:srgbClr val="333333"/>
                </a:solidFill>
              </a:defRPr>
            </a:pPr>
            <a:r>
              <a:t>What's inherited from previous generation?</a:t>
            </a:r>
          </a:p>
          <a:p>
            <a:pPr>
              <a:spcAft>
                <a:spcPts val="1000"/>
              </a:spcAft>
              <a:defRPr sz="1800">
                <a:solidFill>
                  <a:srgbClr val="333333"/>
                </a:solidFill>
              </a:defRPr>
            </a:pPr>
            <a:r>
              <a:t>Step 3: Identify Gaps — Required capabilities NOT in baseline = gaps</a:t>
            </a:r>
          </a:p>
          <a:p>
            <a:pPr>
              <a:spcAft>
                <a:spcPts val="600"/>
              </a:spcAft>
              <a:defRPr sz="1800">
                <a:solidFill>
                  <a:srgbClr val="333333"/>
                </a:solidFill>
              </a:defRPr>
            </a:pPr>
            <a:r>
              <a:t>These gaps drive functional requirements</a:t>
            </a:r>
          </a:p>
          <a:p>
            <a:pPr>
              <a:spcAft>
                <a:spcPts val="1000"/>
              </a:spcAft>
              <a:defRPr sz="1800">
                <a:solidFill>
                  <a:srgbClr val="333333"/>
                </a:solidFill>
              </a:defRPr>
            </a:pPr>
            <a:r>
              <a:t>Step 4: Prioritize Gaps — Critical (must have for basic operation)</a:t>
            </a:r>
          </a:p>
          <a:p>
            <a:pPr>
              <a:spcAft>
                <a:spcPts val="600"/>
              </a:spcAft>
              <a:defRPr sz="1800">
                <a:solidFill>
                  <a:srgbClr val="333333"/>
                </a:solidFill>
              </a:defRPr>
            </a:pPr>
            <a:r>
              <a:t>Important (needed for full functionality)</a:t>
            </a:r>
          </a:p>
          <a:p>
            <a:pPr>
              <a:spcAft>
                <a:spcPts val="600"/>
              </a:spcAft>
              <a:defRPr sz="1800">
                <a:solidFill>
                  <a:srgbClr val="333333"/>
                </a:solidFill>
              </a:defRPr>
            </a:pPr>
            <a:r>
              <a:t>Desirable (nice-to-have, future enhancement)</a:t>
            </a:r>
          </a:p>
          <a:p>
            <a:pPr>
              <a:spcAft>
                <a:spcPts val="1000"/>
              </a:spcAft>
              <a:defRPr sz="1800">
                <a:solidFill>
                  <a:srgbClr val="333333"/>
                </a:solidFill>
              </a:defRPr>
            </a:pPr>
            <a:r>
              <a:t>Example: Lane Keep Assist Capability Analysis</a:t>
            </a:r>
          </a:p>
          <a:p>
            <a:pPr>
              <a:spcAft>
                <a:spcPts val="1000"/>
              </a:spcAft>
              <a:defRPr sz="1800">
                <a:solidFill>
                  <a:srgbClr val="333333"/>
                </a:solidFill>
              </a:defRPr>
            </a:pPr>
            <a:r>
              <a:t>Required Capabilities (from operational scenarios OPS-LKA-001 through OPS-LKA-008):</a:t>
            </a:r>
          </a:p>
          <a:p>
            <a:pPr>
              <a:spcAft>
                <a:spcPts val="1000"/>
              </a:spcAft>
              <a:defRPr sz="1800">
                <a:solidFill>
                  <a:srgbClr val="333333"/>
                </a:solidFill>
              </a:defRPr>
            </a:pPr>
            <a:r>
              <a:t>| Capability ID | Capability Description | Source Scenario |</a:t>
            </a:r>
          </a:p>
          <a:p>
            <a:pPr>
              <a:spcAft>
                <a:spcPts val="1000"/>
              </a:spcAft>
              <a:defRPr sz="1800">
                <a:solidFill>
                  <a:srgbClr val="333333"/>
                </a:solidFill>
              </a:defRPr>
            </a:pPr>
            <a:r>
              <a:t>|---------------|------------------------|-----------------|</a:t>
            </a:r>
          </a:p>
          <a:p>
            <a:pPr>
              <a:spcAft>
                <a:spcPts val="1000"/>
              </a:spcAft>
              <a:defRPr sz="1800">
                <a:solidFill>
                  <a:srgbClr val="333333"/>
                </a:solidFill>
              </a:defRPr>
            </a:pPr>
            <a:r>
              <a:t>| CAP-LKA-001 | Detect lane line markings in camera image | OPS-LKA-001, all |</a:t>
            </a:r>
          </a:p>
          <a:p>
            <a:pPr>
              <a:spcAft>
                <a:spcPts val="1000"/>
              </a:spcAft>
              <a:defRPr sz="1800">
                <a:solidFill>
                  <a:srgbClr val="333333"/>
                </a:solidFill>
              </a:defRPr>
            </a:pPr>
            <a:r>
              <a:t>| CAP-LKA-002 | Calculate lateral vehicle position relative to lane center | OPS-LKA-001 |</a:t>
            </a:r>
          </a:p>
          <a:p>
            <a:pPr>
              <a:spcAft>
                <a:spcPts val="1000"/>
              </a:spcAft>
              <a:defRPr sz="1800">
                <a:solidFill>
                  <a:srgbClr val="333333"/>
                </a:solidFill>
              </a:defRPr>
            </a:pPr>
            <a:r>
              <a:t>| CAP-LKA-003 | Predict vehicle trajectory | OPS-LKA-001 |</a:t>
            </a:r>
          </a:p>
          <a:p>
            <a:pPr>
              <a:spcAft>
                <a:spcPts val="1000"/>
              </a:spcAft>
              <a:defRPr sz="1800">
                <a:solidFill>
                  <a:srgbClr val="333333"/>
                </a:solidFill>
              </a:defRPr>
            </a:pPr>
            <a:r>
              <a:t>| CAP-LKA-004 | Determine required steering correction | OPS-LKA-001 |</a:t>
            </a:r>
          </a:p>
          <a:p>
            <a:pPr>
              <a:spcAft>
                <a:spcPts val="1000"/>
              </a:spcAft>
              <a:defRPr sz="1800">
                <a:solidFill>
                  <a:srgbClr val="333333"/>
                </a:solidFill>
              </a:defRPr>
            </a:pPr>
            <a:r>
              <a:t>| CAP-LKA-005 | Command electric power steering | OPS-LKA-001 |</a:t>
            </a:r>
          </a:p>
          <a:p>
            <a:pPr>
              <a:spcAft>
                <a:spcPts val="1000"/>
              </a:spcAft>
              <a:defRPr sz="1800">
                <a:solidFill>
                  <a:srgbClr val="333333"/>
                </a:solidFill>
              </a:defRPr>
            </a:pPr>
            <a:r>
              <a:t>| CAP-LKA-006 | Detect driver turn signal activation | OPS-LKA-003 |</a:t>
            </a:r>
          </a:p>
          <a:p>
            <a:pPr>
              <a:spcAft>
                <a:spcPts val="1000"/>
              </a:spcAft>
              <a:defRPr sz="1800">
                <a:solidFill>
                  <a:srgbClr val="333333"/>
                </a:solidFill>
              </a:defRPr>
            </a:pPr>
            <a:r>
              <a:t>| CAP-LKA-007 | Detect driver hands-on-wheel | OPS-LKA-004 |</a:t>
            </a:r>
          </a:p>
          <a:p>
            <a:pPr>
              <a:spcAft>
                <a:spcPts val="1000"/>
              </a:spcAft>
              <a:defRPr sz="1800">
                <a:solidFill>
                  <a:srgbClr val="333333"/>
                </a:solidFill>
              </a:defRPr>
            </a:pPr>
            <a:r>
              <a:t>| CAP-LKA-008 | Distinguish faded from clear lane markings | OPS-LKA-006 |</a:t>
            </a:r>
          </a:p>
          <a:p>
            <a:pPr>
              <a:spcAft>
                <a:spcPts val="1000"/>
              </a:spcAft>
              <a:defRPr sz="1800">
                <a:solidFill>
                  <a:srgbClr val="333333"/>
                </a:solidFill>
              </a:defRPr>
            </a:pPr>
            <a:r>
              <a:t>| CAP-LKA-009 | Detect camera sensor degradation | OPS-LKA-007 |</a:t>
            </a:r>
          </a:p>
          <a:p>
            <a:pPr>
              <a:spcAft>
                <a:spcPts val="1000"/>
              </a:spcAft>
              <a:defRPr sz="1800">
                <a:solidFill>
                  <a:srgbClr val="333333"/>
                </a:solidFill>
              </a:defRPr>
            </a:pPr>
            <a:r>
              <a:t>| CAP-LKA-010 | Transition safely to inactive state | OPS-LKA-007 |</a:t>
            </a:r>
          </a:p>
          <a:p>
            <a:pPr>
              <a:spcAft>
                <a:spcPts val="1000"/>
              </a:spcAft>
              <a:defRPr sz="1800">
                <a:solidFill>
                  <a:srgbClr val="333333"/>
                </a:solidFill>
              </a:defRPr>
            </a:pPr>
            <a:r>
              <a:t>Baseline Capabilities (existing in vehicle platform):</a:t>
            </a:r>
          </a:p>
          <a:p>
            <a:pPr>
              <a:spcAft>
                <a:spcPts val="600"/>
              </a:spcAft>
              <a:defRPr sz="1800">
                <a:solidFill>
                  <a:srgbClr val="333333"/>
                </a:solidFill>
              </a:defRPr>
            </a:pPr>
            <a:r>
              <a:t>CAP-BASE-001: Camera can capture forward view (already exists for other ADAS)</a:t>
            </a:r>
          </a:p>
          <a:p>
            <a:pPr>
              <a:spcAft>
                <a:spcPts val="600"/>
              </a:spcAft>
              <a:defRPr sz="1800">
                <a:solidFill>
                  <a:srgbClr val="333333"/>
                </a:solidFill>
              </a:defRPr>
            </a:pPr>
            <a:r>
              <a:t>CAP-BASE-002: EPS can accept external torque commands (from parking assist)</a:t>
            </a:r>
          </a:p>
          <a:p>
            <a:pPr>
              <a:spcAft>
                <a:spcPts val="600"/>
              </a:spcAft>
              <a:defRPr sz="1800">
                <a:solidFill>
                  <a:srgbClr val="333333"/>
                </a:solidFill>
              </a:defRPr>
            </a:pPr>
            <a:r>
              <a:t>CAP-BASE-003: Vehicle speed available on CAN bus</a:t>
            </a:r>
          </a:p>
          <a:p>
            <a:pPr>
              <a:spcAft>
                <a:spcPts val="600"/>
              </a:spcAft>
              <a:defRPr sz="1800">
                <a:solidFill>
                  <a:srgbClr val="333333"/>
                </a:solidFill>
              </a:defRPr>
            </a:pPr>
            <a:r>
              <a:t>CAP-BASE-004: Turn signal status available on CAN bus</a:t>
            </a:r>
          </a:p>
          <a:p>
            <a:pPr>
              <a:spcAft>
                <a:spcPts val="1000"/>
              </a:spcAft>
              <a:defRPr sz="1800">
                <a:solidFill>
                  <a:srgbClr val="333333"/>
                </a:solidFill>
              </a:defRPr>
            </a:pPr>
            <a:r>
              <a:t>Gap Identification:</a:t>
            </a:r>
          </a:p>
          <a:p>
            <a:pPr>
              <a:spcAft>
                <a:spcPts val="600"/>
              </a:spcAft>
              <a:defRPr sz="1800">
                <a:solidFill>
                  <a:srgbClr val="333333"/>
                </a:solidFill>
              </a:defRPr>
            </a:pPr>
            <a:r>
              <a:t>CAP-LKA-001 (lane detection): NEW — requires computer vision algorithm</a:t>
            </a:r>
          </a:p>
          <a:p>
            <a:pPr>
              <a:spcAft>
                <a:spcPts val="600"/>
              </a:spcAft>
              <a:defRPr sz="1800">
                <a:solidFill>
                  <a:srgbClr val="333333"/>
                </a:solidFill>
              </a:defRPr>
            </a:pPr>
            <a:r>
              <a:t>CAP-LKA-002 (lateral position): NEW — requires geometric calculation</a:t>
            </a:r>
          </a:p>
          <a:p>
            <a:pPr>
              <a:spcAft>
                <a:spcPts val="600"/>
              </a:spcAft>
              <a:defRPr sz="1800">
                <a:solidFill>
                  <a:srgbClr val="333333"/>
                </a:solidFill>
              </a:defRPr>
            </a:pPr>
            <a:r>
              <a:t>CAP-LKA-004 (steering correction): NEW — requires control algorithm</a:t>
            </a:r>
          </a:p>
          <a:p>
            <a:pPr>
              <a:spcAft>
                <a:spcPts val="600"/>
              </a:spcAft>
              <a:defRPr sz="1800">
                <a:solidFill>
                  <a:srgbClr val="333333"/>
                </a:solidFill>
              </a:defRPr>
            </a:pPr>
            <a:r>
              <a:t>CAP-LKA-005 (steering command): MODIFY EXISTING — EPS interface exists but needs LKA-specific logic</a:t>
            </a:r>
          </a:p>
          <a:p>
            <a:pPr>
              <a:spcAft>
                <a:spcPts val="1000"/>
              </a:spcAft>
              <a:defRPr sz="1800">
                <a:solidFill>
                  <a:srgbClr val="333333"/>
                </a:solidFill>
              </a:defRPr>
            </a:pPr>
            <a:r>
              <a:t>These gaps become functional requirements.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From Gaps to Functional Requirements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Capability gaps directly generate functional requirements. Let me show the transformation.</a:t>
            </a:r>
          </a:p>
          <a:p>
            <a:pPr>
              <a:spcAft>
                <a:spcPts val="1000"/>
              </a:spcAft>
              <a:defRPr sz="1800">
                <a:solidFill>
                  <a:srgbClr val="333333"/>
                </a:solidFill>
              </a:defRPr>
            </a:pPr>
            <a:r>
              <a:t>Gap to Functional Requirement Mapping:</a:t>
            </a:r>
          </a:p>
          <a:p>
            <a:pPr>
              <a:spcAft>
                <a:spcPts val="1000"/>
              </a:spcAft>
              <a:defRPr sz="1800">
                <a:solidFill>
                  <a:srgbClr val="333333"/>
                </a:solidFill>
              </a:defRPr>
            </a:pPr>
            <a:r>
              <a:t>Capability Gap: CAP-LKA-001: 'Detect lane line markings in camera image'</a:t>
            </a:r>
          </a:p>
          <a:p>
            <a:pPr>
              <a:spcAft>
                <a:spcPts val="1000"/>
              </a:spcAft>
              <a:defRPr sz="1800">
                <a:solidFill>
                  <a:srgbClr val="333333"/>
                </a:solidFill>
              </a:defRPr>
            </a:pPr>
            <a:r>
              <a:t>Derived Functional Requirements:</a:t>
            </a:r>
          </a:p>
          <a:p>
            <a:pPr>
              <a:spcAft>
                <a:spcPts val="600"/>
              </a:spcAft>
              <a:defRPr sz="1800">
                <a:solidFill>
                  <a:srgbClr val="333333"/>
                </a:solidFill>
              </a:defRPr>
            </a:pPr>
            <a:r>
              <a:t>FR-LKA-VISION-001: 'System shall detect left and right lane boundary markings in camera image'</a:t>
            </a:r>
          </a:p>
          <a:p>
            <a:pPr>
              <a:spcAft>
                <a:spcPts val="600"/>
              </a:spcAft>
              <a:defRPr sz="1800">
                <a:solidFill>
                  <a:srgbClr val="333333"/>
                </a:solidFill>
              </a:defRPr>
            </a:pPr>
            <a:r>
              <a:t>FR-LKA-VISION-002: 'System shall distinguish solid vs dashed lane markings'</a:t>
            </a:r>
          </a:p>
          <a:p>
            <a:pPr>
              <a:spcAft>
                <a:spcPts val="600"/>
              </a:spcAft>
              <a:defRPr sz="1800">
                <a:solidFill>
                  <a:srgbClr val="333333"/>
                </a:solidFill>
              </a:defRPr>
            </a:pPr>
            <a:r>
              <a:t>FR-LKA-VISION-003: 'System shall detect lane markings with confidence level ≥80%'</a:t>
            </a:r>
          </a:p>
          <a:p>
            <a:pPr>
              <a:spcAft>
                <a:spcPts val="600"/>
              </a:spcAft>
              <a:defRPr sz="1800">
                <a:solidFill>
                  <a:srgbClr val="333333"/>
                </a:solidFill>
              </a:defRPr>
            </a:pPr>
            <a:r>
              <a:t>FR-LKA-VISION-004: 'System shall detect lane markings in daylight conditions at distances up to 60m'</a:t>
            </a:r>
          </a:p>
          <a:p>
            <a:pPr>
              <a:spcAft>
                <a:spcPts val="600"/>
              </a:spcAft>
              <a:defRPr sz="1800">
                <a:solidFill>
                  <a:srgbClr val="333333"/>
                </a:solidFill>
              </a:defRPr>
            </a:pPr>
            <a:r>
              <a:t>FR-LKA-VISION-005: 'System shall process camera frames at minimum 20 Hz'</a:t>
            </a:r>
          </a:p>
          <a:p>
            <a:pPr>
              <a:spcAft>
                <a:spcPts val="1000"/>
              </a:spcAft>
              <a:defRPr sz="1800">
                <a:solidFill>
                  <a:srgbClr val="333333"/>
                </a:solidFill>
              </a:defRPr>
            </a:pPr>
            <a:r>
              <a:t>Capability Gap: CAP-LKA-004: 'Determine required steering correction'</a:t>
            </a:r>
          </a:p>
          <a:p>
            <a:pPr>
              <a:spcAft>
                <a:spcPts val="1000"/>
              </a:spcAft>
              <a:defRPr sz="1800">
                <a:solidFill>
                  <a:srgbClr val="333333"/>
                </a:solidFill>
              </a:defRPr>
            </a:pPr>
            <a:r>
              <a:t>Derived Functional Requirements:</a:t>
            </a:r>
          </a:p>
          <a:p>
            <a:pPr>
              <a:spcAft>
                <a:spcPts val="600"/>
              </a:spcAft>
              <a:defRPr sz="1800">
                <a:solidFill>
                  <a:srgbClr val="333333"/>
                </a:solidFill>
              </a:defRPr>
            </a:pPr>
            <a:r>
              <a:t>FR-LKA-CTRL-001: 'System shall calculate required steering torque based on lateral offset'</a:t>
            </a:r>
          </a:p>
          <a:p>
            <a:pPr>
              <a:spcAft>
                <a:spcPts val="600"/>
              </a:spcAft>
              <a:defRPr sz="1800">
                <a:solidFill>
                  <a:srgbClr val="333333"/>
                </a:solidFill>
              </a:defRPr>
            </a:pPr>
            <a:r>
              <a:t>FR-LKA-CTRL-002: 'System shall limit steering torque to maximum 3.0 Nm'</a:t>
            </a:r>
          </a:p>
          <a:p>
            <a:pPr>
              <a:spcAft>
                <a:spcPts val="600"/>
              </a:spcAft>
              <a:defRPr sz="1800">
                <a:solidFill>
                  <a:srgbClr val="333333"/>
                </a:solidFill>
              </a:defRPr>
            </a:pPr>
            <a:r>
              <a:t>FR-LKA-CTRL-003: 'System shall apply proportional-derivative control for smooth corrections'</a:t>
            </a:r>
          </a:p>
          <a:p>
            <a:pPr>
              <a:spcAft>
                <a:spcPts val="600"/>
              </a:spcAft>
              <a:defRPr sz="1800">
                <a:solidFill>
                  <a:srgbClr val="333333"/>
                </a:solidFill>
              </a:defRPr>
            </a:pPr>
            <a:r>
              <a:t>FR-LKA-CTRL-004: 'System shall update steering commands at minimum 50 Hz'</a:t>
            </a:r>
          </a:p>
          <a:p>
            <a:pPr>
              <a:spcAft>
                <a:spcPts val="1000"/>
              </a:spcAft>
              <a:defRPr sz="1800">
                <a:solidFill>
                  <a:srgbClr val="333333"/>
                </a:solidFill>
              </a:defRPr>
            </a:pPr>
            <a:r>
              <a:t>Capability Gap: CAP-LKA-010: 'Transition safely to inactive state'</a:t>
            </a:r>
          </a:p>
          <a:p>
            <a:pPr>
              <a:spcAft>
                <a:spcPts val="1000"/>
              </a:spcAft>
              <a:defRPr sz="1800">
                <a:solidFill>
                  <a:srgbClr val="333333"/>
                </a:solidFill>
              </a:defRPr>
            </a:pPr>
            <a:r>
              <a:t>Derived Functional Requirements:</a:t>
            </a:r>
          </a:p>
          <a:p>
            <a:pPr>
              <a:spcAft>
                <a:spcPts val="600"/>
              </a:spcAft>
              <a:defRPr sz="1800">
                <a:solidFill>
                  <a:srgbClr val="333333"/>
                </a:solidFill>
              </a:defRPr>
            </a:pPr>
            <a:r>
              <a:t>FR-LKA-SAFE-001: 'System shall deactivate LKA within 200ms upon detection of critical failure'</a:t>
            </a:r>
          </a:p>
          <a:p>
            <a:pPr>
              <a:spcAft>
                <a:spcPts val="600"/>
              </a:spcAft>
              <a:defRPr sz="1800">
                <a:solidFill>
                  <a:srgbClr val="333333"/>
                </a:solidFill>
              </a:defRPr>
            </a:pPr>
            <a:r>
              <a:t>FR-LKA-SAFE-002: 'System shall ramp down steering torque over 500ms (no abrupt release)'</a:t>
            </a:r>
          </a:p>
          <a:p>
            <a:pPr>
              <a:spcAft>
                <a:spcPts val="600"/>
              </a:spcAft>
              <a:defRPr sz="1800">
                <a:solidFill>
                  <a:srgbClr val="333333"/>
                </a:solidFill>
              </a:defRPr>
            </a:pPr>
            <a:r>
              <a:t>FR-LKA-SAFE-003: 'System shall display warning message upon failure-driven deactivation'</a:t>
            </a:r>
          </a:p>
          <a:p>
            <a:pPr>
              <a:spcAft>
                <a:spcPts val="600"/>
              </a:spcAft>
              <a:defRPr sz="1800">
                <a:solidFill>
                  <a:srgbClr val="333333"/>
                </a:solidFill>
              </a:defRPr>
            </a:pPr>
            <a:r>
              <a:t>FR-LKA-SAFE-004: 'System shall log failure event with timestamp and fault code'</a:t>
            </a:r>
          </a:p>
          <a:p>
            <a:pPr>
              <a:spcAft>
                <a:spcPts val="1000"/>
              </a:spcAft>
              <a:defRPr sz="1800">
                <a:solidFill>
                  <a:srgbClr val="333333"/>
                </a:solidFill>
              </a:defRPr>
            </a:pPr>
            <a:r>
              <a:t>Key insight: Operational scenarios → Capabilities → Functional requirements → Functions</a:t>
            </a:r>
          </a:p>
          <a:p>
            <a:pPr>
              <a:spcAft>
                <a:spcPts val="1000"/>
              </a:spcAft>
              <a:defRPr sz="1800">
                <a:solidFill>
                  <a:srgbClr val="333333"/>
                </a:solidFill>
              </a:defRPr>
            </a:pPr>
            <a:r>
              <a:t>This traceability chain (from Session 4) ensures every function serves an operational need.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Capability Maturity Assessment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For automotive systems, we often assess capability maturity, especially when evolving systems across vehicle generations.</a:t>
            </a:r>
          </a:p>
          <a:p>
            <a:pPr>
              <a:spcAft>
                <a:spcPts val="1000"/>
              </a:spcAft>
              <a:defRPr sz="1800">
                <a:solidFill>
                  <a:srgbClr val="333333"/>
                </a:solidFill>
              </a:defRPr>
            </a:pPr>
            <a:r>
              <a:t>Capability Maturity Levels:</a:t>
            </a:r>
          </a:p>
          <a:p>
            <a:pPr>
              <a:spcAft>
                <a:spcPts val="1000"/>
              </a:spcAft>
              <a:defRPr sz="1800">
                <a:solidFill>
                  <a:srgbClr val="333333"/>
                </a:solidFill>
              </a:defRPr>
            </a:pPr>
            <a:r>
              <a:t>Level 0 - Not Present: Capability doesn't exist</a:t>
            </a:r>
          </a:p>
          <a:p>
            <a:pPr>
              <a:spcAft>
                <a:spcPts val="1000"/>
              </a:spcAft>
              <a:defRPr sz="1800">
                <a:solidFill>
                  <a:srgbClr val="333333"/>
                </a:solidFill>
              </a:defRPr>
            </a:pPr>
            <a:r>
              <a:t>Level 1 - Basic: Capability exists but limited (e.g., lane detection in ideal conditions only)</a:t>
            </a:r>
          </a:p>
          <a:p>
            <a:pPr>
              <a:spcAft>
                <a:spcPts val="1000"/>
              </a:spcAft>
              <a:defRPr sz="1800">
                <a:solidFill>
                  <a:srgbClr val="333333"/>
                </a:solidFill>
              </a:defRPr>
            </a:pPr>
            <a:r>
              <a:t>Level 2 - Functional: Capability works in most operational scenarios</a:t>
            </a:r>
          </a:p>
          <a:p>
            <a:pPr>
              <a:spcAft>
                <a:spcPts val="1000"/>
              </a:spcAft>
              <a:defRPr sz="1800">
                <a:solidFill>
                  <a:srgbClr val="333333"/>
                </a:solidFill>
              </a:defRPr>
            </a:pPr>
            <a:r>
              <a:t>Level 3 - Advanced: Capability robust across all defined scenarios including edge cases</a:t>
            </a:r>
          </a:p>
          <a:p>
            <a:pPr>
              <a:spcAft>
                <a:spcPts val="1000"/>
              </a:spcAft>
              <a:defRPr sz="1800">
                <a:solidFill>
                  <a:srgbClr val="333333"/>
                </a:solidFill>
              </a:defRPr>
            </a:pPr>
            <a:r>
              <a:t>Level 4 - Optimized: Capability exceeds requirements, includes predictive/adaptive features</a:t>
            </a:r>
          </a:p>
          <a:p>
            <a:pPr>
              <a:spcAft>
                <a:spcPts val="1000"/>
              </a:spcAft>
              <a:defRPr sz="1800">
                <a:solidFill>
                  <a:srgbClr val="333333"/>
                </a:solidFill>
              </a:defRPr>
            </a:pPr>
            <a:r>
              <a:t>Example: Lane Detection Capability Evolution:</a:t>
            </a:r>
          </a:p>
          <a:p>
            <a:pPr>
              <a:spcAft>
                <a:spcPts val="1000"/>
              </a:spcAft>
              <a:defRPr sz="1800">
                <a:solidFill>
                  <a:srgbClr val="333333"/>
                </a:solidFill>
              </a:defRPr>
            </a:pPr>
            <a:r>
              <a:t>| Generation | Camera | Algorithm | Maturity | Scenarios Covered |</a:t>
            </a:r>
          </a:p>
          <a:p>
            <a:pPr>
              <a:spcAft>
                <a:spcPts val="1000"/>
              </a:spcAft>
              <a:defRPr sz="1800">
                <a:solidFill>
                  <a:srgbClr val="333333"/>
                </a:solidFill>
              </a:defRPr>
            </a:pPr>
            <a:r>
              <a:t>|------------|--------|-----------|----------|-------------------|</a:t>
            </a:r>
          </a:p>
          <a:p>
            <a:pPr>
              <a:spcAft>
                <a:spcPts val="1000"/>
              </a:spcAft>
              <a:defRPr sz="1800">
                <a:solidFill>
                  <a:srgbClr val="333333"/>
                </a:solidFill>
              </a:defRPr>
            </a:pPr>
            <a:r>
              <a:t>| Gen 1 (2015) | VGA, 30fps | Basic Hough transform | Level 1 | Highway, clear day only |</a:t>
            </a:r>
          </a:p>
          <a:p>
            <a:pPr>
              <a:spcAft>
                <a:spcPts val="1000"/>
              </a:spcAft>
              <a:defRPr sz="1800">
                <a:solidFill>
                  <a:srgbClr val="333333"/>
                </a:solidFill>
              </a:defRPr>
            </a:pPr>
            <a:r>
              <a:t>| Gen 2 (2018) | 720p, 60fps | CNN-based detection | Level 2 | Highway + urban, day/night |</a:t>
            </a:r>
          </a:p>
          <a:p>
            <a:pPr>
              <a:spcAft>
                <a:spcPts val="1000"/>
              </a:spcAft>
              <a:defRPr sz="1800">
                <a:solidFill>
                  <a:srgbClr val="333333"/>
                </a:solidFill>
              </a:defRPr>
            </a:pPr>
            <a:r>
              <a:t>| Gen 3 (2021) | 1080p, 60fps | Deep learning + sensor fusion | Level 3 | All weather, construction zones |</a:t>
            </a:r>
          </a:p>
          <a:p>
            <a:pPr>
              <a:spcAft>
                <a:spcPts val="1000"/>
              </a:spcAft>
              <a:defRPr sz="1800">
                <a:solidFill>
                  <a:srgbClr val="333333"/>
                </a:solidFill>
              </a:defRPr>
            </a:pPr>
            <a:r>
              <a:t>| Gen 4 (2024) | 4K, 120fps | Transformer networks, edge processing | Level 4 | Degraded markings, predictive |</a:t>
            </a:r>
          </a:p>
          <a:p>
            <a:pPr>
              <a:spcAft>
                <a:spcPts val="1000"/>
              </a:spcAft>
              <a:defRPr sz="1800">
                <a:solidFill>
                  <a:srgbClr val="333333"/>
                </a:solidFill>
              </a:defRPr>
            </a:pPr>
            <a:r>
              <a:t>Why this matters:</a:t>
            </a:r>
          </a:p>
          <a:p>
            <a:pPr>
              <a:spcAft>
                <a:spcPts val="600"/>
              </a:spcAft>
              <a:defRPr sz="1800">
                <a:solidFill>
                  <a:srgbClr val="333333"/>
                </a:solidFill>
              </a:defRPr>
            </a:pPr>
            <a:r>
              <a:t>Technology roadmapping: Plan capability evolution across vehicle platforms</a:t>
            </a:r>
          </a:p>
          <a:p>
            <a:pPr>
              <a:spcAft>
                <a:spcPts val="600"/>
              </a:spcAft>
              <a:defRPr sz="1800">
                <a:solidFill>
                  <a:srgbClr val="333333"/>
                </a:solidFill>
              </a:defRPr>
            </a:pPr>
            <a:r>
              <a:t>Risk assessment: Lower maturity = higher development risk</a:t>
            </a:r>
          </a:p>
          <a:p>
            <a:pPr>
              <a:spcAft>
                <a:spcPts val="600"/>
              </a:spcAft>
              <a:defRPr sz="1800">
                <a:solidFill>
                  <a:srgbClr val="333333"/>
                </a:solidFill>
              </a:defRPr>
            </a:pPr>
            <a:r>
              <a:t>Requirements allocation: Match requirements to realistic capability levels</a:t>
            </a:r>
          </a:p>
          <a:p>
            <a:pPr>
              <a:spcAft>
                <a:spcPts val="600"/>
              </a:spcAft>
              <a:defRPr sz="1800">
                <a:solidFill>
                  <a:srgbClr val="333333"/>
                </a:solidFill>
              </a:defRPr>
            </a:pPr>
            <a:r>
              <a:t>Make/buy decisions: Build in-house vs acquire vs partner</a:t>
            </a:r>
          </a:p>
          <a:p>
            <a:pPr>
              <a:spcAft>
                <a:spcPts val="1000"/>
              </a:spcAft>
              <a:defRPr sz="1800">
                <a:solidFill>
                  <a:srgbClr val="333333"/>
                </a:solidFill>
              </a:defRPr>
            </a:pPr>
            <a:r>
              <a:t>In our LKA example: If camera lane detection is Level 1 (basic), we cannot support construction zone scenarios (OPS-LKA-008). We must either:</a:t>
            </a:r>
          </a:p>
          <a:p>
            <a:pPr>
              <a:spcAft>
                <a:spcPts val="600"/>
              </a:spcAft>
              <a:defRPr sz="1800">
                <a:solidFill>
                  <a:srgbClr val="333333"/>
                </a:solidFill>
              </a:defRPr>
            </a:pPr>
            <a:r>
              <a:t>Develop Level 3 capability (high cost, schedule risk)</a:t>
            </a:r>
          </a:p>
          <a:p>
            <a:pPr>
              <a:spcAft>
                <a:spcPts val="600"/>
              </a:spcAft>
              <a:defRPr sz="1800">
                <a:solidFill>
                  <a:srgbClr val="333333"/>
                </a:solidFill>
              </a:defRPr>
            </a:pPr>
            <a:r>
              <a:t>Scope down operational scenarios (limit LKA to highways only)</a:t>
            </a:r>
          </a:p>
          <a:p>
            <a:pPr>
              <a:spcAft>
                <a:spcPts val="600"/>
              </a:spcAft>
              <a:defRPr sz="1800">
                <a:solidFill>
                  <a:srgbClr val="333333"/>
                </a:solidFill>
              </a:defRPr>
            </a:pPr>
            <a:r>
              <a:t>Partner with vision technology supplier</a:t>
            </a:r>
          </a:p>
          <a:p>
            <a:pPr>
              <a:spcAft>
                <a:spcPts val="1000"/>
              </a:spcAft>
              <a:defRPr sz="1800">
                <a:solidFill>
                  <a:srgbClr val="333333"/>
                </a:solidFill>
              </a:defRPr>
            </a:pPr>
            <a:r>
              <a:t>This is the trade-space analysis from Session 5 informed by capability gaps.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 Part 3: Functional Decomposition (Slides 14-18, ~12 minutes)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What Is a Function?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Now we move to the core of functional analysis: Functions.</a:t>
            </a:r>
          </a:p>
          <a:p>
            <a:pPr>
              <a:spcAft>
                <a:spcPts val="1000"/>
              </a:spcAft>
              <a:defRPr sz="1800">
                <a:solidFill>
                  <a:srgbClr val="333333"/>
                </a:solidFill>
              </a:defRPr>
            </a:pPr>
            <a:r>
              <a:t>Definition: A function is a specific action or task that a system must perform to achieve its purpose. Functions transform inputs to outputs.</a:t>
            </a:r>
          </a:p>
          <a:p>
            <a:pPr>
              <a:spcAft>
                <a:spcPts val="1000"/>
              </a:spcAft>
              <a:defRPr sz="1800">
                <a:solidFill>
                  <a:srgbClr val="333333"/>
                </a:solidFill>
              </a:defRPr>
            </a:pPr>
            <a:r>
              <a:t>Key characteristics of well-defined functions:</a:t>
            </a:r>
          </a:p>
          <a:p>
            <a:pPr>
              <a:spcAft>
                <a:spcPts val="600"/>
              </a:spcAft>
              <a:defRPr sz="1800">
                <a:solidFill>
                  <a:srgbClr val="333333"/>
                </a:solidFill>
              </a:defRPr>
            </a:pPr>
            <a:r>
              <a:t>Action-oriented — Expressed as verb + object</a:t>
            </a:r>
          </a:p>
          <a:p>
            <a:pPr>
              <a:spcAft>
                <a:spcPts val="600"/>
              </a:spcAft>
              <a:defRPr sz="1800">
                <a:solidFill>
                  <a:srgbClr val="333333"/>
                </a:solidFill>
              </a:defRPr>
            </a:pPr>
            <a:r>
              <a:t>Good: 'Detect lane markings'</a:t>
            </a:r>
          </a:p>
          <a:p>
            <a:pPr>
              <a:spcAft>
                <a:spcPts val="600"/>
              </a:spcAft>
              <a:defRPr sz="1800">
                <a:solidFill>
                  <a:srgbClr val="333333"/>
                </a:solidFill>
              </a:defRPr>
            </a:pPr>
            <a:r>
              <a:t>Bad: 'Lane marking detection module'</a:t>
            </a:r>
          </a:p>
          <a:p>
            <a:pPr>
              <a:spcAft>
                <a:spcPts val="600"/>
              </a:spcAft>
              <a:defRPr sz="1800">
                <a:solidFill>
                  <a:srgbClr val="333333"/>
                </a:solidFill>
              </a:defRPr>
            </a:pPr>
            <a:r>
              <a:t>Transformation-based — Has inputs and outputs</a:t>
            </a:r>
          </a:p>
          <a:p>
            <a:pPr>
              <a:spcAft>
                <a:spcPts val="600"/>
              </a:spcAft>
              <a:defRPr sz="1800">
                <a:solidFill>
                  <a:srgbClr val="333333"/>
                </a:solidFill>
              </a:defRPr>
            </a:pPr>
            <a:r>
              <a:t>Input: Camera image</a:t>
            </a:r>
          </a:p>
          <a:p>
            <a:pPr>
              <a:spcAft>
                <a:spcPts val="600"/>
              </a:spcAft>
              <a:defRPr sz="1800">
                <a:solidFill>
                  <a:srgbClr val="333333"/>
                </a:solidFill>
              </a:defRPr>
            </a:pPr>
            <a:r>
              <a:t>Function: Detect lane markings</a:t>
            </a:r>
          </a:p>
          <a:p>
            <a:pPr>
              <a:spcAft>
                <a:spcPts val="600"/>
              </a:spcAft>
              <a:defRPr sz="1800">
                <a:solidFill>
                  <a:srgbClr val="333333"/>
                </a:solidFill>
              </a:defRPr>
            </a:pPr>
            <a:r>
              <a:t>Output: Lane boundary coordinates</a:t>
            </a:r>
          </a:p>
          <a:p>
            <a:pPr>
              <a:spcAft>
                <a:spcPts val="600"/>
              </a:spcAft>
              <a:defRPr sz="1800">
                <a:solidFill>
                  <a:srgbClr val="333333"/>
                </a:solidFill>
              </a:defRPr>
            </a:pPr>
            <a:r>
              <a:t>Technology-agnostic — Doesn't specify implementation</a:t>
            </a:r>
          </a:p>
          <a:p>
            <a:pPr>
              <a:spcAft>
                <a:spcPts val="600"/>
              </a:spcAft>
              <a:defRPr sz="1800">
                <a:solidFill>
                  <a:srgbClr val="333333"/>
                </a:solidFill>
              </a:defRPr>
            </a:pPr>
            <a:r>
              <a:t>Good: 'Calculate steering correction'</a:t>
            </a:r>
          </a:p>
          <a:p>
            <a:pPr>
              <a:spcAft>
                <a:spcPts val="600"/>
              </a:spcAft>
              <a:defRPr sz="1800">
                <a:solidFill>
                  <a:srgbClr val="333333"/>
                </a:solidFill>
              </a:defRPr>
            </a:pPr>
            <a:r>
              <a:t>Bad: 'Run PID controller on lane offset'</a:t>
            </a:r>
          </a:p>
          <a:p>
            <a:pPr>
              <a:spcAft>
                <a:spcPts val="600"/>
              </a:spcAft>
              <a:defRPr sz="1800">
                <a:solidFill>
                  <a:srgbClr val="333333"/>
                </a:solidFill>
              </a:defRPr>
            </a:pPr>
            <a:r>
              <a:t>Allocatable — Can be assigned to hardware, software, or human</a:t>
            </a:r>
          </a:p>
          <a:p>
            <a:pPr>
              <a:spcAft>
                <a:spcPts val="600"/>
              </a:spcAft>
              <a:defRPr sz="1800">
                <a:solidFill>
                  <a:srgbClr val="333333"/>
                </a:solidFill>
              </a:defRPr>
            </a:pPr>
            <a:r>
              <a:t>'Monitor system status' → could be software monitoring or driver observation</a:t>
            </a:r>
          </a:p>
          <a:p>
            <a:pPr>
              <a:spcAft>
                <a:spcPts val="600"/>
              </a:spcAft>
              <a:defRPr sz="1800">
                <a:solidFill>
                  <a:srgbClr val="333333"/>
                </a:solidFill>
              </a:defRPr>
            </a:pPr>
            <a:r>
              <a:t>Verifiable — Success can be tested</a:t>
            </a:r>
          </a:p>
          <a:p>
            <a:pPr>
              <a:spcAft>
                <a:spcPts val="600"/>
              </a:spcAft>
              <a:defRPr sz="1800">
                <a:solidFill>
                  <a:srgbClr val="333333"/>
                </a:solidFill>
              </a:defRPr>
            </a:pPr>
            <a:r>
              <a:t>'Detect lane markings with ≥90% accuracy' → testable</a:t>
            </a:r>
          </a:p>
          <a:p>
            <a:pPr>
              <a:spcAft>
                <a:spcPts val="1000"/>
              </a:spcAft>
              <a:defRPr sz="1800">
                <a:solidFill>
                  <a:srgbClr val="333333"/>
                </a:solidFill>
              </a:defRPr>
            </a:pPr>
            <a:r>
              <a:t>Functions vs Requirements vs Design:</a:t>
            </a:r>
          </a:p>
          <a:p>
            <a:pPr>
              <a:spcAft>
                <a:spcPts val="1000"/>
              </a:spcAft>
              <a:defRPr sz="1800">
                <a:solidFill>
                  <a:srgbClr val="333333"/>
                </a:solidFill>
              </a:defRPr>
            </a:pPr>
            <a:r>
              <a:t>| Aspect | Requirement | Function | Design |</a:t>
            </a:r>
          </a:p>
          <a:p>
            <a:pPr>
              <a:spcAft>
                <a:spcPts val="1000"/>
              </a:spcAft>
              <a:defRPr sz="1800">
                <a:solidFill>
                  <a:srgbClr val="333333"/>
                </a:solidFill>
              </a:defRPr>
            </a:pPr>
            <a:r>
              <a:t>|--------|-------------|----------|--------|</a:t>
            </a:r>
          </a:p>
          <a:p>
            <a:pPr>
              <a:spcAft>
                <a:spcPts val="1000"/>
              </a:spcAft>
              <a:defRPr sz="1800">
                <a:solidFill>
                  <a:srgbClr val="333333"/>
                </a:solidFill>
              </a:defRPr>
            </a:pPr>
            <a:r>
              <a:t>| What | System shall... | Transform input to output | Algorithm/component that implements |</a:t>
            </a:r>
          </a:p>
          <a:p>
            <a:pPr>
              <a:spcAft>
                <a:spcPts val="1000"/>
              </a:spcAft>
              <a:defRPr sz="1800">
                <a:solidFill>
                  <a:srgbClr val="333333"/>
                </a:solidFill>
              </a:defRPr>
            </a:pPr>
            <a:r>
              <a:t>| Example | 'System shall detect lane departure' | 'Detect lane markings' + 'Calculate lateral offset' | CNN algorithm + Kalman filter |</a:t>
            </a:r>
          </a:p>
          <a:p>
            <a:pPr>
              <a:spcAft>
                <a:spcPts val="1000"/>
              </a:spcAft>
              <a:defRPr sz="1800">
                <a:solidFill>
                  <a:srgbClr val="333333"/>
                </a:solidFill>
              </a:defRPr>
            </a:pPr>
            <a:r>
              <a:t>| Level | What system must do | How system behavior decomposes | How function is implemented |</a:t>
            </a:r>
          </a:p>
          <a:p>
            <a:pPr>
              <a:spcAft>
                <a:spcPts val="1000"/>
              </a:spcAft>
              <a:defRPr sz="1800">
                <a:solidFill>
                  <a:srgbClr val="333333"/>
                </a:solidFill>
              </a:defRPr>
            </a:pPr>
            <a:r>
              <a:t>Functions sit between requirements and design — they decompose the 'what' before we commit to 'how'.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Functional Hierarchy and Decomposition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Complex systems require functional decomposition — breaking high-level functions into lower-level sub-functions.</a:t>
            </a:r>
          </a:p>
          <a:p>
            <a:pPr>
              <a:spcAft>
                <a:spcPts val="1000"/>
              </a:spcAft>
              <a:defRPr sz="1800">
                <a:solidFill>
                  <a:srgbClr val="333333"/>
                </a:solidFill>
              </a:defRPr>
            </a:pPr>
            <a:r>
              <a:t>Functional Hierarchy for Lane Keep Assist:</a:t>
            </a:r>
          </a:p>
          <a:p>
            <a:pPr>
              <a:spcAft>
                <a:spcPts val="1000"/>
              </a:spcAft>
              <a:defRPr sz="1800">
                <a:solidFill>
                  <a:srgbClr val="333333"/>
                </a:solidFill>
              </a:defRPr>
            </a:pPr>
            <a:r>
              <a:t>Level 0 - System Level Function:</a:t>
            </a:r>
          </a:p>
          <a:p>
            <a:pPr>
              <a:defRPr sz="1400">
                <a:solidFill>
                  <a:srgbClr val="787878"/>
                </a:solidFill>
                <a:latin typeface="Consolas"/>
              </a:defRPr>
            </a:pPr>
            <a:r>
              <a:t>F0.0: Maintain Vehicle in Lane Center</a:t>
            </a:r>
          </a:p>
          <a:p>
            <a:pPr>
              <a:spcAft>
                <a:spcPts val="1000"/>
              </a:spcAft>
              <a:defRPr sz="1800">
                <a:solidFill>
                  <a:srgbClr val="333333"/>
                </a:solidFill>
              </a:defRPr>
            </a:pPr>
            <a:r>
              <a:t>Level 1 - Major Functions (decomposition of F0.0):</a:t>
            </a:r>
          </a:p>
          <a:p>
            <a:pPr>
              <a:defRPr sz="1400">
                <a:solidFill>
                  <a:srgbClr val="787878"/>
                </a:solidFill>
                <a:latin typeface="Consolas"/>
              </a:defRPr>
            </a:pPr>
            <a:r>
              <a:t>F1.1: Acquire Environment Data</a:t>
            </a:r>
            <a:br/>
            <a:r>
              <a:t>F1.2: Determine Vehicle Lane Position</a:t>
            </a:r>
            <a:br/>
            <a:r>
              <a:t>F1.3: Decide Steering Action</a:t>
            </a:r>
            <a:br/>
            <a:r>
              <a:t>F1.4: Execute Steering Correction</a:t>
            </a:r>
            <a:br/>
            <a:r>
              <a:t>F1.5: Monitor System Health</a:t>
            </a:r>
            <a:br/>
            <a:r>
              <a:t>F1.6: Manage Driver Interface</a:t>
            </a:r>
          </a:p>
          <a:p>
            <a:pPr>
              <a:spcAft>
                <a:spcPts val="1000"/>
              </a:spcAft>
              <a:defRPr sz="1800">
                <a:solidFill>
                  <a:srgbClr val="333333"/>
                </a:solidFill>
              </a:defRPr>
            </a:pPr>
            <a:r>
              <a:t>Level 2 - Sub-Functions (example: decomposition of F1.2):</a:t>
            </a:r>
          </a:p>
          <a:p>
            <a:pPr>
              <a:defRPr sz="1400">
                <a:solidFill>
                  <a:srgbClr val="787878"/>
                </a:solidFill>
                <a:latin typeface="Consolas"/>
              </a:defRPr>
            </a:pPr>
            <a:r>
              <a:t>F1.2: Determine Vehicle Lane Position</a:t>
            </a:r>
            <a:br/>
            <a:r>
              <a:t>F2.2.1: Detect Lane Boundary Markings</a:t>
            </a:r>
            <a:br/>
            <a:r>
              <a:t>F2.2.2: Identify Lane Geometry (straight, curved)</a:t>
            </a:r>
            <a:br/>
            <a:r>
              <a:t>F2.2.3: Calculate Lateral Offset from Center</a:t>
            </a:r>
            <a:br/>
            <a:r>
              <a:t>F2.2.4: Estimate Lateral Velocity (drift rate)</a:t>
            </a:r>
            <a:br/>
            <a:r>
              <a:t>F2.2.5: Predict Future Vehicle Path</a:t>
            </a:r>
          </a:p>
          <a:p>
            <a:pPr>
              <a:spcAft>
                <a:spcPts val="1000"/>
              </a:spcAft>
              <a:defRPr sz="1800">
                <a:solidFill>
                  <a:srgbClr val="333333"/>
                </a:solidFill>
              </a:defRPr>
            </a:pPr>
            <a:r>
              <a:t>Level 3 - Detail Functions (example: decomposition of F2.2.1):</a:t>
            </a:r>
          </a:p>
          <a:p>
            <a:pPr>
              <a:defRPr sz="1400">
                <a:solidFill>
                  <a:srgbClr val="787878"/>
                </a:solidFill>
                <a:latin typeface="Consolas"/>
              </a:defRPr>
            </a:pPr>
            <a:r>
              <a:t>F2.2.1: Detect Lane Boundary Markings</a:t>
            </a:r>
            <a:br/>
            <a:r>
              <a:t>F3.2.1.1: Preprocess Camera Image (filter, enhance)</a:t>
            </a:r>
            <a:br/>
            <a:r>
              <a:t>F3.2.1.2: Apply Edge Detection Algorithm</a:t>
            </a:r>
            <a:br/>
            <a:r>
              <a:t>F3.2.1.3: Identify Line Segments</a:t>
            </a:r>
            <a:br/>
            <a:r>
              <a:t>F3.2.1.4: Classify Line Type (solid, dashed, yellow, white)</a:t>
            </a:r>
            <a:br/>
            <a:r>
              <a:t>F3.2.1.5: Calculate Confidence Score</a:t>
            </a:r>
          </a:p>
          <a:p>
            <a:pPr>
              <a:spcAft>
                <a:spcPts val="1000"/>
              </a:spcAft>
              <a:defRPr sz="1800">
                <a:solidFill>
                  <a:srgbClr val="333333"/>
                </a:solidFill>
              </a:defRPr>
            </a:pPr>
            <a:r>
              <a:t>Decomposition Rules:</a:t>
            </a:r>
          </a:p>
          <a:p>
            <a:pPr>
              <a:spcAft>
                <a:spcPts val="600"/>
              </a:spcAft>
              <a:defRPr sz="1800">
                <a:solidFill>
                  <a:srgbClr val="333333"/>
                </a:solidFill>
              </a:defRPr>
            </a:pPr>
            <a:r>
              <a:t>Completeness: Child functions fully implement parent function</a:t>
            </a:r>
          </a:p>
          <a:p>
            <a:pPr>
              <a:spcAft>
                <a:spcPts val="600"/>
              </a:spcAft>
              <a:defRPr sz="1800">
                <a:solidFill>
                  <a:srgbClr val="333333"/>
                </a:solidFill>
              </a:defRPr>
            </a:pPr>
            <a:r>
              <a:t>F2.2.1 + F2.2.2 + F2.2.3 + F2.2.4 + F2.2.5 = F1.2</a:t>
            </a:r>
          </a:p>
          <a:p>
            <a:pPr>
              <a:spcAft>
                <a:spcPts val="600"/>
              </a:spcAft>
              <a:defRPr sz="1800">
                <a:solidFill>
                  <a:srgbClr val="333333"/>
                </a:solidFill>
              </a:defRPr>
            </a:pPr>
            <a:r>
              <a:t>Independence: Functions minimize coupling</a:t>
            </a:r>
          </a:p>
          <a:p>
            <a:pPr>
              <a:spcAft>
                <a:spcPts val="600"/>
              </a:spcAft>
              <a:defRPr sz="1800">
                <a:solidFill>
                  <a:srgbClr val="333333"/>
                </a:solidFill>
              </a:defRPr>
            </a:pPr>
            <a:r>
              <a:t>F2.2.1 can execute independently of F2.2.4 (loose coupling)</a:t>
            </a:r>
          </a:p>
          <a:p>
            <a:pPr>
              <a:spcAft>
                <a:spcPts val="600"/>
              </a:spcAft>
              <a:defRPr sz="1800">
                <a:solidFill>
                  <a:srgbClr val="333333"/>
                </a:solidFill>
              </a:defRPr>
            </a:pPr>
            <a:r>
              <a:t>Cohesion: Each function has single, clear purpose</a:t>
            </a:r>
          </a:p>
          <a:p>
            <a:pPr>
              <a:spcAft>
                <a:spcPts val="600"/>
              </a:spcAft>
              <a:defRPr sz="1800">
                <a:solidFill>
                  <a:srgbClr val="333333"/>
                </a:solidFill>
              </a:defRPr>
            </a:pPr>
            <a:r>
              <a:t>F2.2.1 only detects markings (doesn't calculate offset or control steering)</a:t>
            </a:r>
          </a:p>
          <a:p>
            <a:pPr>
              <a:spcAft>
                <a:spcPts val="600"/>
              </a:spcAft>
              <a:defRPr sz="1800">
                <a:solidFill>
                  <a:srgbClr val="333333"/>
                </a:solidFill>
              </a:defRPr>
            </a:pPr>
            <a:r>
              <a:t>Appropriate level: Stop decomposing when functions map to clear design elements</a:t>
            </a:r>
          </a:p>
          <a:p>
            <a:pPr>
              <a:spcAft>
                <a:spcPts val="600"/>
              </a:spcAft>
              <a:defRPr sz="1800">
                <a:solidFill>
                  <a:srgbClr val="333333"/>
                </a:solidFill>
              </a:defRPr>
            </a:pPr>
            <a:r>
              <a:t>F3.2.1.2 'Apply Edge Detection' → maps to specific algorithm (Canny, Sobel)</a:t>
            </a:r>
          </a:p>
          <a:p>
            <a:pPr>
              <a:spcAft>
                <a:spcPts val="1000"/>
              </a:spcAft>
              <a:defRPr sz="1800">
                <a:solidFill>
                  <a:srgbClr val="333333"/>
                </a:solidFill>
              </a:defRPr>
            </a:pPr>
            <a:r>
              <a:t>Typical automotive system depth: 3-5 levels</a:t>
            </a:r>
          </a:p>
          <a:p>
            <a:pPr>
              <a:spcAft>
                <a:spcPts val="600"/>
              </a:spcAft>
              <a:defRPr sz="1800">
                <a:solidFill>
                  <a:srgbClr val="333333"/>
                </a:solidFill>
              </a:defRPr>
            </a:pPr>
            <a:r>
              <a:t>Simple functions (door locks): 2-3 levels</a:t>
            </a:r>
          </a:p>
          <a:p>
            <a:pPr>
              <a:spcAft>
                <a:spcPts val="600"/>
              </a:spcAft>
              <a:defRPr sz="1800">
                <a:solidFill>
                  <a:srgbClr val="333333"/>
                </a:solidFill>
              </a:defRPr>
            </a:pPr>
            <a:r>
              <a:t>Complex ADAS (autonomous driving): 5-6 levels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Functional Decomposition Methods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How do we decompose systematically? Several proven methods:</a:t>
            </a:r>
          </a:p>
          <a:p>
            <a:pPr>
              <a:spcAft>
                <a:spcPts val="1000"/>
              </a:spcAft>
              <a:defRPr sz="1800">
                <a:solidFill>
                  <a:srgbClr val="333333"/>
                </a:solidFill>
              </a:defRPr>
            </a:pPr>
            <a:r>
              <a:t>Method 1: Process-Based Decomposition — Follow the physical or logical process flow</a:t>
            </a:r>
          </a:p>
          <a:p>
            <a:pPr>
              <a:spcAft>
                <a:spcPts val="600"/>
              </a:spcAft>
              <a:defRPr sz="1800">
                <a:solidFill>
                  <a:srgbClr val="333333"/>
                </a:solidFill>
              </a:defRPr>
            </a:pPr>
            <a:r>
              <a:t>Example: LKA process flow: Sense → Process → Decide → Act → Monitor</a:t>
            </a:r>
          </a:p>
          <a:p>
            <a:pPr>
              <a:spcAft>
                <a:spcPts val="600"/>
              </a:spcAft>
              <a:defRPr sz="1800">
                <a:solidFill>
                  <a:srgbClr val="333333"/>
                </a:solidFill>
              </a:defRPr>
            </a:pPr>
            <a:r>
              <a:t>Good for: Real-time control systems, sequential processes</a:t>
            </a:r>
          </a:p>
          <a:p>
            <a:pPr>
              <a:spcAft>
                <a:spcPts val="1000"/>
              </a:spcAft>
              <a:defRPr sz="1800">
                <a:solidFill>
                  <a:srgbClr val="333333"/>
                </a:solidFill>
              </a:defRPr>
            </a:pPr>
            <a:r>
              <a:t>Method 2: Object-Based Decomposition — Organize around data objects being manipulated</a:t>
            </a:r>
          </a:p>
          <a:p>
            <a:pPr>
              <a:spcAft>
                <a:spcPts val="600"/>
              </a:spcAft>
              <a:defRPr sz="1800">
                <a:solidFill>
                  <a:srgbClr val="333333"/>
                </a:solidFill>
              </a:defRPr>
            </a:pPr>
            <a:r>
              <a:t>Example: Functions organized around 'Lane Model' object:</a:t>
            </a:r>
          </a:p>
          <a:p>
            <a:pPr>
              <a:spcAft>
                <a:spcPts val="600"/>
              </a:spcAft>
              <a:defRPr sz="1800">
                <a:solidFill>
                  <a:srgbClr val="333333"/>
                </a:solidFill>
              </a:defRPr>
            </a:pPr>
            <a:r>
              <a:t>Create lane model</a:t>
            </a:r>
          </a:p>
          <a:p>
            <a:pPr>
              <a:spcAft>
                <a:spcPts val="600"/>
              </a:spcAft>
              <a:defRPr sz="1800">
                <a:solidFill>
                  <a:srgbClr val="333333"/>
                </a:solidFill>
              </a:defRPr>
            </a:pPr>
            <a:r>
              <a:t>Update lane model</a:t>
            </a:r>
          </a:p>
          <a:p>
            <a:pPr>
              <a:spcAft>
                <a:spcPts val="600"/>
              </a:spcAft>
              <a:defRPr sz="1800">
                <a:solidFill>
                  <a:srgbClr val="333333"/>
                </a:solidFill>
              </a:defRPr>
            </a:pPr>
            <a:r>
              <a:t>Validate lane model</a:t>
            </a:r>
          </a:p>
          <a:p>
            <a:pPr>
              <a:spcAft>
                <a:spcPts val="600"/>
              </a:spcAft>
              <a:defRPr sz="1800">
                <a:solidFill>
                  <a:srgbClr val="333333"/>
                </a:solidFill>
              </a:defRPr>
            </a:pPr>
            <a:r>
              <a:t>Use lane model for control</a:t>
            </a:r>
          </a:p>
          <a:p>
            <a:pPr>
              <a:spcAft>
                <a:spcPts val="600"/>
              </a:spcAft>
              <a:defRPr sz="1800">
                <a:solidFill>
                  <a:srgbClr val="333333"/>
                </a:solidFill>
              </a:defRPr>
            </a:pPr>
            <a:r>
              <a:t>Good for: Data-intensive systems, MBSE approaches</a:t>
            </a:r>
          </a:p>
          <a:p>
            <a:pPr>
              <a:spcAft>
                <a:spcPts val="1000"/>
              </a:spcAft>
              <a:defRPr sz="1800">
                <a:solidFill>
                  <a:srgbClr val="333333"/>
                </a:solidFill>
              </a:defRPr>
            </a:pPr>
            <a:r>
              <a:t>Method 3: Capability-Based Decomposition — Organize around required capabilities (from gap analysis)</a:t>
            </a:r>
          </a:p>
          <a:p>
            <a:pPr>
              <a:spcAft>
                <a:spcPts val="600"/>
              </a:spcAft>
              <a:defRPr sz="1800">
                <a:solidFill>
                  <a:srgbClr val="333333"/>
                </a:solidFill>
              </a:defRPr>
            </a:pPr>
            <a:r>
              <a:t>Each capability → top-level function → sub-functions</a:t>
            </a:r>
          </a:p>
          <a:p>
            <a:pPr>
              <a:spcAft>
                <a:spcPts val="600"/>
              </a:spcAft>
              <a:defRPr sz="1800">
                <a:solidFill>
                  <a:srgbClr val="333333"/>
                </a:solidFill>
              </a:defRPr>
            </a:pPr>
            <a:r>
              <a:t>Good for: When capability analysis is comprehensive</a:t>
            </a:r>
          </a:p>
          <a:p>
            <a:pPr>
              <a:spcAft>
                <a:spcPts val="1000"/>
              </a:spcAft>
              <a:defRPr sz="1800">
                <a:solidFill>
                  <a:srgbClr val="333333"/>
                </a:solidFill>
              </a:defRPr>
            </a:pPr>
            <a:r>
              <a:t>Method 4: Scenario-Based Decomposition — Extract functions from operational scenarios</a:t>
            </a:r>
          </a:p>
          <a:p>
            <a:pPr>
              <a:spcAft>
                <a:spcPts val="600"/>
              </a:spcAft>
              <a:defRPr sz="1800">
                <a:solidFill>
                  <a:srgbClr val="333333"/>
                </a:solidFill>
              </a:defRPr>
            </a:pPr>
            <a:r>
              <a:t>Each scenario step becomes candidate function</a:t>
            </a:r>
          </a:p>
          <a:p>
            <a:pPr>
              <a:spcAft>
                <a:spcPts val="600"/>
              </a:spcAft>
              <a:defRPr sz="1800">
                <a:solidFill>
                  <a:srgbClr val="333333"/>
                </a:solidFill>
              </a:defRPr>
            </a:pPr>
            <a:r>
              <a:t>Good for: User-facing systems, ensuring operational completeness</a:t>
            </a:r>
          </a:p>
          <a:p>
            <a:pPr>
              <a:spcAft>
                <a:spcPts val="1000"/>
              </a:spcAft>
              <a:defRPr sz="1800">
                <a:solidFill>
                  <a:srgbClr val="333333"/>
                </a:solidFill>
              </a:defRPr>
            </a:pPr>
            <a:r>
              <a:t>Best practice for automotive: Hybrid approach</a:t>
            </a:r>
          </a:p>
          <a:p>
            <a:pPr>
              <a:spcAft>
                <a:spcPts val="600"/>
              </a:spcAft>
              <a:defRPr sz="1800">
                <a:solidFill>
                  <a:srgbClr val="333333"/>
                </a:solidFill>
              </a:defRPr>
            </a:pPr>
            <a:r>
              <a:t>Use scenario-based to ensure completeness (capture all operational needs)</a:t>
            </a:r>
          </a:p>
          <a:p>
            <a:pPr>
              <a:spcAft>
                <a:spcPts val="600"/>
              </a:spcAft>
              <a:defRPr sz="1800">
                <a:solidFill>
                  <a:srgbClr val="333333"/>
                </a:solidFill>
              </a:defRPr>
            </a:pPr>
            <a:r>
              <a:t>Use process-based for real-time control functions</a:t>
            </a:r>
          </a:p>
          <a:p>
            <a:pPr>
              <a:spcAft>
                <a:spcPts val="600"/>
              </a:spcAft>
              <a:defRPr sz="1800">
                <a:solidFill>
                  <a:srgbClr val="333333"/>
                </a:solidFill>
              </a:defRPr>
            </a:pPr>
            <a:r>
              <a:t>Use object-based for data management functions</a:t>
            </a:r>
          </a:p>
          <a:p>
            <a:pPr>
              <a:spcAft>
                <a:spcPts val="1000"/>
              </a:spcAft>
              <a:defRPr sz="1800">
                <a:solidFill>
                  <a:srgbClr val="333333"/>
                </a:solidFill>
              </a:defRPr>
            </a:pPr>
            <a:r>
              <a:t>Example: LKA Function Extraction from Scenario OPS-LKA-001:</a:t>
            </a:r>
          </a:p>
          <a:p>
            <a:pPr>
              <a:spcAft>
                <a:spcPts val="1000"/>
              </a:spcAft>
              <a:defRPr sz="1800">
                <a:solidFill>
                  <a:srgbClr val="333333"/>
                </a:solidFill>
              </a:defRPr>
            </a:pPr>
            <a:r>
              <a:t>Scenario Step → Function:</a:t>
            </a:r>
          </a:p>
          <a:p>
            <a:pPr>
              <a:spcAft>
                <a:spcPts val="600"/>
              </a:spcAft>
              <a:defRPr sz="1800">
                <a:solidFill>
                  <a:srgbClr val="333333"/>
                </a:solidFill>
              </a:defRPr>
            </a:pPr>
            <a:r>
              <a:t>'Driver presses LKA button' → F1.6.1: Receive Driver Command</a:t>
            </a:r>
          </a:p>
          <a:p>
            <a:pPr>
              <a:spcAft>
                <a:spcPts val="600"/>
              </a:spcAft>
              <a:defRPr sz="1800">
                <a:solidFill>
                  <a:srgbClr val="333333"/>
                </a:solidFill>
              </a:defRPr>
            </a:pPr>
            <a:r>
              <a:t>'System checks preconditions' → F1.5.1: Verify Activation Conditions</a:t>
            </a:r>
          </a:p>
          <a:p>
            <a:pPr>
              <a:spcAft>
                <a:spcPts val="600"/>
              </a:spcAft>
              <a:defRPr sz="1800">
                <a:solidFill>
                  <a:srgbClr val="333333"/>
                </a:solidFill>
              </a:defRPr>
            </a:pPr>
            <a:r>
              <a:t>'System displays status' → F1.6.2: Update Driver Display</a:t>
            </a:r>
          </a:p>
          <a:p>
            <a:pPr>
              <a:spcAft>
                <a:spcPts val="600"/>
              </a:spcAft>
              <a:defRPr sz="1800">
                <a:solidFill>
                  <a:srgbClr val="333333"/>
                </a:solidFill>
              </a:defRPr>
            </a:pPr>
            <a:r>
              <a:t>'Camera monitors lane position' → F1.1.1: Acquire Camera Image</a:t>
            </a:r>
          </a:p>
          <a:p>
            <a:pPr>
              <a:spcAft>
                <a:spcPts val="600"/>
              </a:spcAft>
              <a:defRPr sz="1800">
                <a:solidFill>
                  <a:srgbClr val="333333"/>
                </a:solidFill>
              </a:defRPr>
            </a:pPr>
            <a:r>
              <a:t>'System calculates lateral offset' → F2.2.3: Calculate Lateral Offset</a:t>
            </a:r>
          </a:p>
          <a:p>
            <a:pPr>
              <a:spcAft>
                <a:spcPts val="600"/>
              </a:spcAft>
              <a:defRPr sz="1800">
                <a:solidFill>
                  <a:srgbClr val="333333"/>
                </a:solidFill>
              </a:defRPr>
            </a:pPr>
            <a:r>
              <a:t>'System calculates steering correction' → F1.3.1: Compute Steering Torque</a:t>
            </a:r>
          </a:p>
          <a:p>
            <a:pPr>
              <a:spcAft>
                <a:spcPts val="600"/>
              </a:spcAft>
              <a:defRPr sz="1800">
                <a:solidFill>
                  <a:srgbClr val="333333"/>
                </a:solidFill>
              </a:defRPr>
            </a:pPr>
            <a:r>
              <a:t>'System sends torque request' → F1.4.1: Send Steering Command</a:t>
            </a:r>
          </a:p>
          <a:p>
            <a:pPr>
              <a:spcAft>
                <a:spcPts val="600"/>
              </a:spcAft>
              <a:defRPr sz="1800">
                <a:solidFill>
                  <a:srgbClr val="333333"/>
                </a:solidFill>
              </a:defRPr>
            </a:pPr>
            <a:r>
              <a:t>'EPS applies steering' → F1.4.2: Execute Steering Actuation</a:t>
            </a:r>
          </a:p>
          <a:p>
            <a:pPr>
              <a:spcAft>
                <a:spcPts val="1000"/>
              </a:spcAft>
              <a:defRPr sz="1800">
                <a:solidFill>
                  <a:srgbClr val="333333"/>
                </a:solidFill>
              </a:defRPr>
            </a:pPr>
            <a:r>
              <a:t>Process ensures all scenario steps have corresponding functions.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Function Allocation - N² Chart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Once functions are defined, we must understand how they interact. The N² Chart (N-squared diagram) shows functional interfaces.</a:t>
            </a:r>
          </a:p>
          <a:p>
            <a:pPr>
              <a:spcAft>
                <a:spcPts val="1000"/>
              </a:spcAft>
              <a:defRPr sz="1800">
                <a:solidFill>
                  <a:srgbClr val="333333"/>
                </a:solidFill>
              </a:defRPr>
            </a:pPr>
            <a:r>
              <a:t>N² Chart for LKA Functions (Level 1):</a:t>
            </a:r>
          </a:p>
          <a:p>
            <a:pPr>
              <a:defRPr sz="1400">
                <a:solidFill>
                  <a:srgbClr val="787878"/>
                </a:solidFill>
                <a:latin typeface="Consolas"/>
              </a:defRPr>
            </a:pPr>
            <a:r>
              <a:t>F1.1    F1.2    F1.3    F1.4    F1.5    F1.6</a:t>
            </a:r>
            <a:br/>
            <a:r>
              <a:t>Acquire  Determine Decide  Execute Monitor Manage</a:t>
            </a:r>
            <a:br/>
            <a:r>
              <a:t>Data     Position  Steering Steering Health  Interface</a:t>
            </a:r>
            <a:br/>
            <a:r>
              <a:t>F1.1: Acquire</a:t>
            </a:r>
            <a:br/>
            <a:r>
              <a:t>Data         [F1.1]  →Image</a:t>
            </a:r>
            <a:br/>
            <a:r>
              <a:t>F1.2: Determine   ←Image</a:t>
            </a:r>
            <a:br/>
            <a:r>
              <a:t>Position            [F1.2]  →Offset</a:t>
            </a:r>
            <a:br/>
            <a:r>
              <a:t>→Velocity</a:t>
            </a:r>
            <a:br/>
            <a:r>
              <a:t>F1.3: Decide              ←Offset</a:t>
            </a:r>
            <a:br/>
            <a:r>
              <a:t>Steering            ←Velocity</a:t>
            </a:r>
            <a:br/>
            <a:r>
              <a:t>[F1.3]  →Torque</a:t>
            </a:r>
            <a:br/>
            <a:r>
              <a:t>Cmd</a:t>
            </a:r>
            <a:br/>
            <a:r>
              <a:t>F1.4: Execute                     ←Torque</a:t>
            </a:r>
            <a:br/>
            <a:r>
              <a:t>Steering                    Cmd     [F1.4] →Status</a:t>
            </a:r>
            <a:br/>
            <a:r>
              <a:t>F1.5: Monitor                             ←Status</a:t>
            </a:r>
            <a:br/>
            <a:r>
              <a:t>Health                                      [F1.5] →Alerts</a:t>
            </a:r>
            <a:br/>
            <a:r>
              <a:t>F1.6: Manage      ←Driver                        ←Alerts</a:t>
            </a:r>
            <a:br/>
            <a:r>
              <a:t>Interface   Cmd                                    [F1.6]</a:t>
            </a:r>
          </a:p>
          <a:p>
            <a:pPr>
              <a:spcAft>
                <a:spcPts val="1000"/>
              </a:spcAft>
              <a:defRPr sz="1800">
                <a:solidFill>
                  <a:srgbClr val="333333"/>
                </a:solidFill>
              </a:defRPr>
            </a:pPr>
            <a:r>
              <a:t>How to read N² chart:</a:t>
            </a:r>
          </a:p>
          <a:p>
            <a:pPr>
              <a:spcAft>
                <a:spcPts val="600"/>
              </a:spcAft>
              <a:defRPr sz="1800">
                <a:solidFill>
                  <a:srgbClr val="333333"/>
                </a:solidFill>
              </a:defRPr>
            </a:pPr>
            <a:r>
              <a:t>Diagonal boxes: Functions themselves</a:t>
            </a:r>
          </a:p>
          <a:p>
            <a:pPr>
              <a:spcAft>
                <a:spcPts val="600"/>
              </a:spcAft>
              <a:defRPr sz="1800">
                <a:solidFill>
                  <a:srgbClr val="333333"/>
                </a:solidFill>
              </a:defRPr>
            </a:pPr>
            <a:r>
              <a:t>Above diagonal: Outputs from row function to column function</a:t>
            </a:r>
          </a:p>
          <a:p>
            <a:pPr>
              <a:spcAft>
                <a:spcPts val="600"/>
              </a:spcAft>
              <a:defRPr sz="1800">
                <a:solidFill>
                  <a:srgbClr val="333333"/>
                </a:solidFill>
              </a:defRPr>
            </a:pPr>
            <a:r>
              <a:t>Below diagonal: Inputs from column function to row function</a:t>
            </a:r>
          </a:p>
          <a:p>
            <a:pPr>
              <a:spcAft>
                <a:spcPts val="1000"/>
              </a:spcAft>
              <a:defRPr sz="1800">
                <a:solidFill>
                  <a:srgbClr val="333333"/>
                </a:solidFill>
              </a:defRPr>
            </a:pPr>
            <a:r>
              <a:t>Example:</a:t>
            </a:r>
          </a:p>
          <a:p>
            <a:pPr>
              <a:spcAft>
                <a:spcPts val="600"/>
              </a:spcAft>
              <a:defRPr sz="1800">
                <a:solidFill>
                  <a:srgbClr val="333333"/>
                </a:solidFill>
              </a:defRPr>
            </a:pPr>
            <a:r>
              <a:t>F1.1 → F1.2: Camera image (output from F1.1, input to F1.2)</a:t>
            </a:r>
          </a:p>
          <a:p>
            <a:pPr>
              <a:spcAft>
                <a:spcPts val="600"/>
              </a:spcAft>
              <a:defRPr sz="1800">
                <a:solidFill>
                  <a:srgbClr val="333333"/>
                </a:solidFill>
              </a:defRPr>
            </a:pPr>
            <a:r>
              <a:t>F1.2 → F1.3: Lateral offset and velocity (outputs from F1.2, inputs to F1.3)</a:t>
            </a:r>
          </a:p>
          <a:p>
            <a:pPr>
              <a:spcAft>
                <a:spcPts val="1000"/>
              </a:spcAft>
              <a:defRPr sz="1800">
                <a:solidFill>
                  <a:srgbClr val="333333"/>
                </a:solidFill>
              </a:defRPr>
            </a:pPr>
            <a:r>
              <a:t>Why this matters:</a:t>
            </a:r>
          </a:p>
          <a:p>
            <a:pPr>
              <a:spcAft>
                <a:spcPts val="600"/>
              </a:spcAft>
              <a:defRPr sz="1800">
                <a:solidFill>
                  <a:srgbClr val="333333"/>
                </a:solidFill>
              </a:defRPr>
            </a:pPr>
            <a:r>
              <a:t>Interface definition: Every arrow becomes an interface requirement</a:t>
            </a:r>
          </a:p>
          <a:p>
            <a:pPr>
              <a:spcAft>
                <a:spcPts val="600"/>
              </a:spcAft>
              <a:defRPr sz="1800">
                <a:solidFill>
                  <a:srgbClr val="333333"/>
                </a:solidFill>
              </a:defRPr>
            </a:pPr>
            <a:r>
              <a:t>Arrow 'F1.2 → F1.3: Offset' → REQ: 'F1.2 shall provide lateral offset with ±0.01m accuracy'</a:t>
            </a:r>
          </a:p>
          <a:p>
            <a:pPr>
              <a:spcAft>
                <a:spcPts val="600"/>
              </a:spcAft>
              <a:defRPr sz="1800">
                <a:solidFill>
                  <a:srgbClr val="333333"/>
                </a:solidFill>
              </a:defRPr>
            </a:pPr>
            <a:r>
              <a:t>Coupling analysis: Functions with many interfaces are tightly coupled (integration risk)</a:t>
            </a:r>
          </a:p>
          <a:p>
            <a:pPr>
              <a:spcAft>
                <a:spcPts val="600"/>
              </a:spcAft>
              <a:defRPr sz="1800">
                <a:solidFill>
                  <a:srgbClr val="333333"/>
                </a:solidFill>
              </a:defRPr>
            </a:pPr>
            <a:r>
              <a:t>Allocation decisions: Tightly coupled functions should be allocated to same ECU/processor</a:t>
            </a:r>
          </a:p>
          <a:p>
            <a:pPr>
              <a:spcAft>
                <a:spcPts val="600"/>
              </a:spcAft>
              <a:defRPr sz="1800">
                <a:solidFill>
                  <a:srgbClr val="333333"/>
                </a:solidFill>
              </a:defRPr>
            </a:pPr>
            <a:r>
              <a:t>Communication load: Each interface crossing ECU boundary = CAN message (bandwidth consideration)</a:t>
            </a:r>
          </a:p>
          <a:p>
            <a:pPr>
              <a:spcAft>
                <a:spcPts val="1000"/>
              </a:spcAft>
              <a:defRPr sz="1800">
                <a:solidFill>
                  <a:srgbClr val="333333"/>
                </a:solidFill>
              </a:defRPr>
            </a:pPr>
            <a:r>
              <a:t>Automotive example: If F1.2 and F1.3 exchange data 50 times/second, they should be in same ECU to avoid saturating CAN bus.</a:t>
            </a:r>
          </a:p>
          <a:p>
            <a:pPr>
              <a:spcAft>
                <a:spcPts val="1000"/>
              </a:spcAft>
              <a:defRPr sz="1800">
                <a:solidFill>
                  <a:srgbClr val="333333"/>
                </a:solidFill>
              </a:defRPr>
            </a:pPr>
            <a:r>
              <a:t>N² chart feeds directly into architecture refinement (Session 5) and interface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Functional Architecture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The Functional Architecture is the complete representation of:</a:t>
            </a:r>
          </a:p>
          <a:p>
            <a:pPr>
              <a:spcAft>
                <a:spcPts val="600"/>
              </a:spcAft>
              <a:defRPr sz="1800">
                <a:solidFill>
                  <a:srgbClr val="333333"/>
                </a:solidFill>
              </a:defRPr>
            </a:pPr>
            <a:r>
              <a:t>All functions</a:t>
            </a:r>
          </a:p>
          <a:p>
            <a:pPr>
              <a:spcAft>
                <a:spcPts val="600"/>
              </a:spcAft>
              <a:defRPr sz="1800">
                <a:solidFill>
                  <a:srgbClr val="333333"/>
                </a:solidFill>
              </a:defRPr>
            </a:pPr>
            <a:r>
              <a:t>Function hierarchy (decomposition)</a:t>
            </a:r>
          </a:p>
          <a:p>
            <a:pPr>
              <a:spcAft>
                <a:spcPts val="600"/>
              </a:spcAft>
              <a:defRPr sz="1800">
                <a:solidFill>
                  <a:srgbClr val="333333"/>
                </a:solidFill>
              </a:defRPr>
            </a:pPr>
            <a:r>
              <a:t>Function interfaces (N² chart)</a:t>
            </a:r>
          </a:p>
          <a:p>
            <a:pPr>
              <a:spcAft>
                <a:spcPts val="600"/>
              </a:spcAft>
              <a:defRPr sz="1800">
                <a:solidFill>
                  <a:srgbClr val="333333"/>
                </a:solidFill>
              </a:defRPr>
            </a:pPr>
            <a:r>
              <a:t>Function allocation to system elements (physical architecture)</a:t>
            </a:r>
          </a:p>
          <a:p>
            <a:pPr>
              <a:spcAft>
                <a:spcPts val="1000"/>
              </a:spcAft>
              <a:defRPr sz="1800">
                <a:solidFill>
                  <a:srgbClr val="333333"/>
                </a:solidFill>
              </a:defRPr>
            </a:pPr>
            <a:r>
              <a:t>Functional Architecture Diagram - LKA:</a:t>
            </a:r>
          </a:p>
          <a:p>
            <a:pPr>
              <a:defRPr sz="1400">
                <a:solidFill>
                  <a:srgbClr val="787878"/>
                </a:solidFill>
                <a:latin typeface="Consolas"/>
              </a:defRPr>
            </a:pPr>
            <a:r>
              <a:t>[Driver] ←→ [F1.6: Manage Driver Interface]</a:t>
            </a:r>
            <a:br/>
            <a:r>
              <a:t>↓ activation cmd</a:t>
            </a:r>
            <a:br/>
            <a:r>
              <a:t>[F1.5: Monitor System Health] ←→ [F1.1: Acquire Environment Data]</a:t>
            </a:r>
            <a:br/>
            <a:r>
              <a:t>↓ status                      ↓ camera image</a:t>
            </a:r>
            <a:br/>
            <a:r>
              <a:t>[F1.2: Determine Vehicle Lane Position]</a:t>
            </a:r>
            <a:br/>
            <a:r>
              <a:t>↓ offset, velocity</a:t>
            </a:r>
            <a:br/>
            <a:r>
              <a:t>[F1.3: Decide Steering Action]</a:t>
            </a:r>
            <a:br/>
            <a:r>
              <a:t>↓ torque command</a:t>
            </a:r>
            <a:br/>
            <a:r>
              <a:t>[F1.4: Execute Steering Correction]</a:t>
            </a:r>
            <a:br/>
            <a:r>
              <a:t>↓</a:t>
            </a:r>
            <a:br/>
            <a:r>
              <a:t>[EPS ECU]</a:t>
            </a:r>
          </a:p>
          <a:p>
            <a:pPr>
              <a:spcAft>
                <a:spcPts val="1000"/>
              </a:spcAft>
              <a:defRPr sz="1800">
                <a:solidFill>
                  <a:srgbClr val="333333"/>
                </a:solidFill>
              </a:defRPr>
            </a:pPr>
            <a:r>
              <a:t>Key elements:</a:t>
            </a:r>
          </a:p>
          <a:p>
            <a:pPr>
              <a:spcAft>
                <a:spcPts val="600"/>
              </a:spcAft>
              <a:defRPr sz="1800">
                <a:solidFill>
                  <a:srgbClr val="333333"/>
                </a:solidFill>
              </a:defRPr>
            </a:pPr>
            <a:r>
              <a:t>Function blocks — Each rectangle is a defined function</a:t>
            </a:r>
          </a:p>
          <a:p>
            <a:pPr>
              <a:spcAft>
                <a:spcPts val="600"/>
              </a:spcAft>
              <a:defRPr sz="1800">
                <a:solidFill>
                  <a:srgbClr val="333333"/>
                </a:solidFill>
              </a:defRPr>
            </a:pPr>
            <a:r>
              <a:t>Data flows — Arrows show information/energy/material flow</a:t>
            </a:r>
          </a:p>
          <a:p>
            <a:pPr>
              <a:spcAft>
                <a:spcPts val="600"/>
              </a:spcAft>
              <a:defRPr sz="1800">
                <a:solidFill>
                  <a:srgbClr val="333333"/>
                </a:solidFill>
              </a:defRPr>
            </a:pPr>
            <a:r>
              <a:t>External interfaces — Driver and EPS are outside functional boundary</a:t>
            </a:r>
          </a:p>
          <a:p>
            <a:pPr>
              <a:spcAft>
                <a:spcPts val="600"/>
              </a:spcAft>
              <a:defRPr sz="1800">
                <a:solidFill>
                  <a:srgbClr val="333333"/>
                </a:solidFill>
              </a:defRPr>
            </a:pPr>
            <a:r>
              <a:t>Control flows — Activation and health monitoring enable/disable functions</a:t>
            </a:r>
          </a:p>
          <a:p>
            <a:pPr>
              <a:spcAft>
                <a:spcPts val="1000"/>
              </a:spcAft>
              <a:defRPr sz="1800">
                <a:solidFill>
                  <a:srgbClr val="333333"/>
                </a:solidFill>
              </a:defRPr>
            </a:pPr>
            <a:r>
              <a:t>Functional Architecture vs Physical Architecture:</a:t>
            </a:r>
          </a:p>
          <a:p>
            <a:pPr>
              <a:spcAft>
                <a:spcPts val="1000"/>
              </a:spcAft>
              <a:defRPr sz="1800">
                <a:solidFill>
                  <a:srgbClr val="333333"/>
                </a:solidFill>
              </a:defRPr>
            </a:pPr>
            <a:r>
              <a:t>| Aspect | Functional Architecture | Physical Architecture |</a:t>
            </a:r>
          </a:p>
          <a:p>
            <a:pPr>
              <a:spcAft>
                <a:spcPts val="1000"/>
              </a:spcAft>
              <a:defRPr sz="1800">
                <a:solidFill>
                  <a:srgbClr val="333333"/>
                </a:solidFill>
              </a:defRPr>
            </a:pPr>
            <a:r>
              <a:t>|--------|------------------------|----------------------|</a:t>
            </a:r>
          </a:p>
          <a:p>
            <a:pPr>
              <a:spcAft>
                <a:spcPts val="1000"/>
              </a:spcAft>
              <a:defRPr sz="1800">
                <a:solidFill>
                  <a:srgbClr val="333333"/>
                </a:solidFill>
              </a:defRPr>
            </a:pPr>
            <a:r>
              <a:t>| Focus | WHAT system does | WHERE functions execute |</a:t>
            </a:r>
          </a:p>
          <a:p>
            <a:pPr>
              <a:spcAft>
                <a:spcPts val="1000"/>
              </a:spcAft>
              <a:defRPr sz="1800">
                <a:solidFill>
                  <a:srgbClr val="333333"/>
                </a:solidFill>
              </a:defRPr>
            </a:pPr>
            <a:r>
              <a:t>| Elements | Functions, data flows | ECUs, sensors, networks |</a:t>
            </a:r>
          </a:p>
          <a:p>
            <a:pPr>
              <a:spcAft>
                <a:spcPts val="1000"/>
              </a:spcAft>
              <a:defRPr sz="1800">
                <a:solidFill>
                  <a:srgbClr val="333333"/>
                </a:solidFill>
              </a:defRPr>
            </a:pPr>
            <a:r>
              <a:t>| Example | 'Detect lane markings' | 'Front camera + LKA ECU software module' |</a:t>
            </a:r>
          </a:p>
          <a:p>
            <a:pPr>
              <a:spcAft>
                <a:spcPts val="1000"/>
              </a:spcAft>
              <a:defRPr sz="1800">
                <a:solidFill>
                  <a:srgbClr val="333333"/>
                </a:solidFill>
              </a:defRPr>
            </a:pPr>
            <a:r>
              <a:t>| Design stage | Early (before HW/SW split) | Later (after allocation decisions) |</a:t>
            </a:r>
          </a:p>
          <a:p>
            <a:pPr>
              <a:spcAft>
                <a:spcPts val="1000"/>
              </a:spcAft>
              <a:defRPr sz="1800">
                <a:solidFill>
                  <a:srgbClr val="333333"/>
                </a:solidFill>
              </a:defRPr>
            </a:pPr>
            <a:r>
              <a:t>Allocation Matrix — Maps functions to physical elements:</a:t>
            </a:r>
          </a:p>
          <a:p>
            <a:pPr>
              <a:spcAft>
                <a:spcPts val="1000"/>
              </a:spcAft>
              <a:defRPr sz="1800">
                <a:solidFill>
                  <a:srgbClr val="333333"/>
                </a:solidFill>
              </a:defRPr>
            </a:pPr>
            <a:r>
              <a:t>| Function | Allocated To | Rationale |</a:t>
            </a:r>
          </a:p>
          <a:p>
            <a:pPr>
              <a:spcAft>
                <a:spcPts val="1000"/>
              </a:spcAft>
              <a:defRPr sz="1800">
                <a:solidFill>
                  <a:srgbClr val="333333"/>
                </a:solidFill>
              </a:defRPr>
            </a:pPr>
            <a:r>
              <a:t>|----------|--------------|-----------|</a:t>
            </a:r>
          </a:p>
          <a:p>
            <a:pPr>
              <a:spcAft>
                <a:spcPts val="1000"/>
              </a:spcAft>
              <a:defRPr sz="1800">
                <a:solidFill>
                  <a:srgbClr val="333333"/>
                </a:solidFill>
              </a:defRPr>
            </a:pPr>
            <a:r>
              <a:t>| F1.1: Acquire Data | Front camera + LKA ECU | Camera HW captures, ECU SW preprocesses |</a:t>
            </a:r>
          </a:p>
          <a:p>
            <a:pPr>
              <a:spcAft>
                <a:spcPts val="1000"/>
              </a:spcAft>
              <a:defRPr sz="1800">
                <a:solidFill>
                  <a:srgbClr val="333333"/>
                </a:solidFill>
              </a:defRPr>
            </a:pPr>
            <a:r>
              <a:t>| F1.2: Determine Position | LKA ECU (SW) | Compute-intensive, needs fast processor |</a:t>
            </a:r>
          </a:p>
          <a:p>
            <a:pPr>
              <a:spcAft>
                <a:spcPts val="1000"/>
              </a:spcAft>
              <a:defRPr sz="1800">
                <a:solidFill>
                  <a:srgbClr val="333333"/>
                </a:solidFill>
              </a:defRPr>
            </a:pPr>
            <a:r>
              <a:t>| F1.3: Decide Steering | LKA ECU (SW) | Control logic, co-located with F1.2 |</a:t>
            </a:r>
          </a:p>
          <a:p>
            <a:pPr>
              <a:spcAft>
                <a:spcPts val="1000"/>
              </a:spcAft>
              <a:defRPr sz="1800">
                <a:solidFill>
                  <a:srgbClr val="333333"/>
                </a:solidFill>
              </a:defRPr>
            </a:pPr>
            <a:r>
              <a:t>| F1.4: Execute Steering | EPS ECU (existing) | Reuse existing EPS control |</a:t>
            </a:r>
          </a:p>
          <a:p>
            <a:pPr>
              <a:spcAft>
                <a:spcPts val="1000"/>
              </a:spcAft>
              <a:defRPr sz="1800">
                <a:solidFill>
                  <a:srgbClr val="333333"/>
                </a:solidFill>
              </a:defRPr>
            </a:pPr>
            <a:r>
              <a:t>| F1.5: Monitor Health | LKA ECU (SW) | Access to internal state needed |</a:t>
            </a:r>
          </a:p>
          <a:p>
            <a:pPr>
              <a:spcAft>
                <a:spcPts val="1000"/>
              </a:spcAft>
              <a:defRPr sz="1800">
                <a:solidFill>
                  <a:srgbClr val="333333"/>
                </a:solidFill>
              </a:defRPr>
            </a:pPr>
            <a:r>
              <a:t>| F1.6: Manage Interface | Instrument Cluster ECU | Reuse existing display functions |</a:t>
            </a:r>
          </a:p>
          <a:p>
            <a:pPr>
              <a:spcAft>
                <a:spcPts val="1000"/>
              </a:spcAft>
              <a:defRPr sz="1800">
                <a:solidFill>
                  <a:srgbClr val="333333"/>
                </a:solidFill>
              </a:defRPr>
            </a:pPr>
            <a:r>
              <a:t>This allocation bridges functional and physical architectures.</a:t>
            </a:r>
          </a:p>
          <a:p>
            <a:pPr>
              <a:spcAft>
                <a:spcPts val="1000"/>
              </a:spcAft>
              <a:defRPr sz="1800">
                <a:solidFill>
                  <a:srgbClr val="333333"/>
                </a:solidFill>
              </a:defRPr>
            </a:pPr>
            <a:r>
              <a:t>In MBSE (Session 3), we create this using SysML Block Definition Diagrams (structure) and Activity Diagrams (behavior).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 Part 4: Functional Flow Block Diagrams (FFBD) (Slides 19-23, ~12 minutes)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Introduction to FFBD</a:t>
            </a:r>
          </a:p>
        </p:txBody>
      </p:sp>
      <p:sp>
        <p:nvSpPr>
          <p:cNvPr id="3" name="Content Placeholder 2"/>
          <p:cNvSpPr>
            <a:spLocks noGrp="1"/>
          </p:cNvSpPr>
          <p:nvPr>
            <p:ph idx="1"/>
          </p:nvPr>
        </p:nvSpPr>
        <p:spPr/>
        <p:txBody>
          <a:bodyPr/>
          <a:lstStyle/>
          <a:p>
            <a:pPr>
              <a:spcAft>
                <a:spcPts val="1000"/>
              </a:spcAft>
              <a:defRPr sz="1800">
                <a:solidFill>
                  <a:srgbClr val="333333"/>
                </a:solidFill>
              </a:defRPr>
            </a:pPr>
            <a:r>
              <a:t>Now we add the TIME dimension: Functional Flow Block Diagrams (FFBD).</a:t>
            </a:r>
          </a:p>
          <a:p>
            <a:pPr>
              <a:spcAft>
                <a:spcPts val="1000"/>
              </a:spcAft>
              <a:defRPr sz="1800">
                <a:solidFill>
                  <a:srgbClr val="333333"/>
                </a:solidFill>
              </a:defRPr>
            </a:pPr>
            <a:r>
              <a:t>FFBD Purpose: Show the sequence and logic of function execution over time.</a:t>
            </a:r>
          </a:p>
          <a:p>
            <a:pPr>
              <a:spcAft>
                <a:spcPts val="1000"/>
              </a:spcAft>
              <a:defRPr sz="1800">
                <a:solidFill>
                  <a:srgbClr val="333333"/>
                </a:solidFill>
              </a:defRPr>
            </a:pPr>
            <a:r>
              <a:t>Why we need FFBD:</a:t>
            </a:r>
          </a:p>
          <a:p>
            <a:pPr>
              <a:spcAft>
                <a:spcPts val="600"/>
              </a:spcAft>
              <a:defRPr sz="1800">
                <a:solidFill>
                  <a:srgbClr val="333333"/>
                </a:solidFill>
              </a:defRPr>
            </a:pPr>
            <a:r>
              <a:t>Functional architecture shows WHAT functions exist and HOW they're connected</a:t>
            </a:r>
          </a:p>
          <a:p>
            <a:pPr>
              <a:spcAft>
                <a:spcPts val="600"/>
              </a:spcAft>
              <a:defRPr sz="1800">
                <a:solidFill>
                  <a:srgbClr val="333333"/>
                </a:solidFill>
              </a:defRPr>
            </a:pPr>
            <a:r>
              <a:t>FFBD shows WHEN functions execute and in what ORDER</a:t>
            </a:r>
          </a:p>
          <a:p>
            <a:pPr>
              <a:spcAft>
                <a:spcPts val="1000"/>
              </a:spcAft>
              <a:defRPr sz="1800">
                <a:solidFill>
                  <a:srgbClr val="333333"/>
                </a:solidFill>
              </a:defRPr>
            </a:pPr>
            <a:r>
              <a:t>FFBD Notation (standard from NASA/DoD systems engineering):</a:t>
            </a:r>
          </a:p>
          <a:p>
            <a:pPr>
              <a:spcAft>
                <a:spcPts val="1000"/>
              </a:spcAft>
              <a:defRPr sz="1800">
                <a:solidFill>
                  <a:srgbClr val="333333"/>
                </a:solidFill>
              </a:defRPr>
            </a:pPr>
            <a:r>
              <a:t>Symbols:</a:t>
            </a:r>
          </a:p>
          <a:p>
            <a:pPr>
              <a:spcAft>
                <a:spcPts val="600"/>
              </a:spcAft>
              <a:defRPr sz="1800">
                <a:solidFill>
                  <a:srgbClr val="333333"/>
                </a:solidFill>
              </a:defRPr>
            </a:pPr>
            <a:r>
              <a:t>Function box — Rectangle with function ID and name</a:t>
            </a:r>
          </a:p>
          <a:p>
            <a:pPr>
              <a:defRPr sz="1400">
                <a:solidFill>
                  <a:srgbClr val="787878"/>
                </a:solidFill>
                <a:latin typeface="Consolas"/>
              </a:defRPr>
            </a:pPr>
            <a:r>
              <a:t>┌─────────────────┐</a:t>
            </a:r>
            <a:br/>
            <a:r>
              <a:t>│   1.2           │</a:t>
            </a:r>
            <a:br/>
            <a:r>
              <a:t>│ Detect Lane     │</a:t>
            </a:r>
            <a:br/>
            <a:r>
              <a:t>│ Markings        │</a:t>
            </a:r>
            <a:br/>
            <a:r>
              <a:t>└─────────────────┘</a:t>
            </a:r>
          </a:p>
          <a:p>
            <a:pPr>
              <a:spcAft>
                <a:spcPts val="600"/>
              </a:spcAft>
              <a:defRPr sz="1800">
                <a:solidFill>
                  <a:srgbClr val="333333"/>
                </a:solidFill>
              </a:defRPr>
            </a:pPr>
            <a:r>
              <a:t>Flow arrow — Shows sequence (read left-to-right, top-to-bottom)</a:t>
            </a:r>
          </a:p>
          <a:p>
            <a:pPr>
              <a:defRPr sz="1400">
                <a:solidFill>
                  <a:srgbClr val="787878"/>
                </a:solidFill>
                <a:latin typeface="Consolas"/>
              </a:defRPr>
            </a:pPr>
            <a:r>
              <a:t>Function A ──→ Function B</a:t>
            </a:r>
          </a:p>
          <a:p>
            <a:pPr>
              <a:spcAft>
                <a:spcPts val="600"/>
              </a:spcAft>
              <a:defRPr sz="1800">
                <a:solidFill>
                  <a:srgbClr val="333333"/>
                </a:solidFill>
              </a:defRPr>
            </a:pPr>
            <a:r>
              <a:t>AND gate — Parallel execution (functions execute simultaneously)</a:t>
            </a:r>
          </a:p>
          <a:p>
            <a:pPr>
              <a:defRPr sz="1400">
                <a:solidFill>
                  <a:srgbClr val="787878"/>
                </a:solidFill>
                <a:latin typeface="Consolas"/>
              </a:defRPr>
            </a:pPr>
            <a:r>
              <a:t>──→ Function A</a:t>
            </a:r>
            <a:br/>
            <a:r>
              <a:t>─┬───</a:t>
            </a:r>
            <a:br/>
            <a:r>
              <a:t>└──→ Function B</a:t>
            </a:r>
          </a:p>
          <a:p>
            <a:pPr>
              <a:spcAft>
                <a:spcPts val="600"/>
              </a:spcAft>
              <a:defRPr sz="1800">
                <a:solidFill>
                  <a:srgbClr val="333333"/>
                </a:solidFill>
              </a:defRPr>
            </a:pPr>
            <a:r>
              <a:t>OR gate — Conditional branching (one path executes based on condition)</a:t>
            </a:r>
          </a:p>
          <a:p>
            <a:pPr>
              <a:defRPr sz="1400">
                <a:solidFill>
                  <a:srgbClr val="787878"/>
                </a:solidFill>
                <a:latin typeface="Consolas"/>
              </a:defRPr>
            </a:pPr>
            <a:r>
              <a:t>──→ Function A (if condition X)</a:t>
            </a:r>
            <a:br/>
            <a:r>
              <a:t>─┬───</a:t>
            </a:r>
            <a:br/>
            <a:r>
              <a:t>└──→ Function B (if condition Y)</a:t>
            </a:r>
          </a:p>
          <a:p>
            <a:pPr>
              <a:spcAft>
                <a:spcPts val="600"/>
              </a:spcAft>
              <a:defRPr sz="1800">
                <a:solidFill>
                  <a:srgbClr val="333333"/>
                </a:solidFill>
              </a:defRPr>
            </a:pPr>
            <a:r>
              <a:t>Iteration loop — Repeat function(s)</a:t>
            </a:r>
          </a:p>
          <a:p>
            <a:pPr>
              <a:defRPr sz="1400">
                <a:solidFill>
                  <a:srgbClr val="787878"/>
                </a:solidFill>
                <a:latin typeface="Consolas"/>
              </a:defRPr>
            </a:pPr>
            <a:r>
              <a:t>Function A ──→ [iterate while condition] ──→ Function B</a:t>
            </a:r>
            <a:br/>
            <a:r>
              <a:t>↑─────────────────────────┘</a:t>
            </a:r>
          </a:p>
          <a:p>
            <a:pPr>
              <a:spcAft>
                <a:spcPts val="600"/>
              </a:spcAft>
              <a:defRPr sz="1800">
                <a:solidFill>
                  <a:srgbClr val="333333"/>
                </a:solidFill>
              </a:defRPr>
            </a:pPr>
            <a:r>
              <a:t>Reference — Jump to another FFBD (for hierarchical decomposition)</a:t>
            </a:r>
          </a:p>
          <a:p>
            <a:pPr>
              <a:defRPr sz="1400">
                <a:solidFill>
                  <a:srgbClr val="787878"/>
                </a:solidFill>
                <a:latin typeface="Consolas"/>
              </a:defRPr>
            </a:pPr>
            <a:r>
              <a:t>┌─────────────────┐</a:t>
            </a:r>
            <a:br/>
            <a:r>
              <a:t>│   Ref: FFBD-3   │</a:t>
            </a:r>
            <a:br/>
            <a:r>
              <a:t>│ (see detail)    │</a:t>
            </a:r>
            <a:br/>
            <a:r>
              <a:t>└─────────────────┘</a:t>
            </a:r>
          </a:p>
          <a:p>
            <a:pPr>
              <a:spcAft>
                <a:spcPts val="1000"/>
              </a:spcAft>
              <a:defRPr sz="1800">
                <a:solidFill>
                  <a:srgbClr val="333333"/>
                </a:solidFill>
              </a:defRPr>
            </a:pPr>
            <a:r>
              <a:t>FFBD Levels:</a:t>
            </a:r>
          </a:p>
          <a:p>
            <a:pPr>
              <a:spcAft>
                <a:spcPts val="600"/>
              </a:spcAft>
              <a:defRPr sz="1800">
                <a:solidFill>
                  <a:srgbClr val="333333"/>
                </a:solidFill>
              </a:defRPr>
            </a:pPr>
            <a:r>
              <a:t>Level 0: Top-level operational flow (mission/scenario level)</a:t>
            </a:r>
          </a:p>
          <a:p>
            <a:pPr>
              <a:spcAft>
                <a:spcPts val="600"/>
              </a:spcAft>
              <a:defRPr sz="1800">
                <a:solidFill>
                  <a:srgbClr val="333333"/>
                </a:solidFill>
              </a:defRPr>
            </a:pPr>
            <a:r>
              <a:t>Level 1: System-level function flow</a:t>
            </a:r>
          </a:p>
          <a:p>
            <a:pPr>
              <a:spcAft>
                <a:spcPts val="600"/>
              </a:spcAft>
              <a:defRPr sz="1800">
                <a:solidFill>
                  <a:srgbClr val="333333"/>
                </a:solidFill>
              </a:defRPr>
            </a:pPr>
            <a:r>
              <a:t>Level 2+: Detailed sub-function flows</a:t>
            </a:r>
          </a:p>
          <a:p>
            <a:pPr>
              <a:spcAft>
                <a:spcPts val="1000"/>
              </a:spcAft>
              <a:defRPr sz="1800">
                <a:solidFill>
                  <a:srgbClr val="333333"/>
                </a:solidFill>
              </a:defRPr>
            </a:pPr>
            <a:r>
              <a:t>Each level decomposes a function from the level above.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FFBD Example - LKA Activation Sequence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build an FFBD for the LKA activation scenario (OPS-LKA-002).</a:t>
            </a:r>
          </a:p>
          <a:p>
            <a:pPr>
              <a:spcAft>
                <a:spcPts val="1000"/>
              </a:spcAft>
              <a:defRPr sz="1800">
                <a:solidFill>
                  <a:srgbClr val="333333"/>
                </a:solidFill>
              </a:defRPr>
            </a:pPr>
            <a:r>
              <a:t>FFBD-LKA-ACT: Lane Keep Assist Activation Flow</a:t>
            </a:r>
          </a:p>
          <a:p>
            <a:pPr>
              <a:defRPr sz="1400">
                <a:solidFill>
                  <a:srgbClr val="787878"/>
                </a:solidFill>
                <a:latin typeface="Consolas"/>
              </a:defRPr>
            </a:pPr>
            <a:r>
              <a:t>Start</a:t>
            </a:r>
            <a:br/>
            <a:r>
              <a:t>↓</a:t>
            </a:r>
            <a:br/>
            <a:r>
              <a:t>┌─────────────────────┐</a:t>
            </a:r>
            <a:br/>
            <a:r>
              <a:t>│  1.0                │</a:t>
            </a:r>
            <a:br/>
            <a:r>
              <a:t>│  Receive Driver     │</a:t>
            </a:r>
            <a:br/>
            <a:r>
              <a:t>│  Activation Request │</a:t>
            </a:r>
            <a:br/>
            <a:r>
              <a:t>└─────────────────────┘</a:t>
            </a:r>
            <a:br/>
            <a:r>
              <a:t>↓</a:t>
            </a:r>
            <a:br/>
            <a:r>
              <a:t>┌─────────────────────┐</a:t>
            </a:r>
            <a:br/>
            <a:r>
              <a:t>│  2.0                │</a:t>
            </a:r>
            <a:br/>
            <a:r>
              <a:t>│  Check System       │</a:t>
            </a:r>
            <a:br/>
            <a:r>
              <a:t>│  Preconditions      │</a:t>
            </a:r>
            <a:br/>
            <a:r>
              <a:t>└─────────────────────┘</a:t>
            </a:r>
            <a:br/>
            <a:r>
              <a:t>↓</a:t>
            </a:r>
            <a:br/>
            <a:r>
              <a:t>├─── OR gate (Preconditions met?)</a:t>
            </a:r>
            <a:br/>
            <a:r>
              <a:t>│</a:t>
            </a:r>
            <a:br/>
            <a:r>
              <a:t>├─→ YES ──→ ┌─────────────────────┐</a:t>
            </a:r>
            <a:br/>
            <a:r>
              <a:t>│           │  3.0                │</a:t>
            </a:r>
            <a:br/>
            <a:r>
              <a:t>│           │  Initialize LKA     │</a:t>
            </a:r>
            <a:br/>
            <a:r>
              <a:t>│           │  Control Functions  │</a:t>
            </a:r>
            <a:br/>
            <a:r>
              <a:t>│           └─────────────────────┘</a:t>
            </a:r>
            <a:br/>
            <a:r>
              <a:t>│             ↓</a:t>
            </a:r>
            <a:br/>
            <a:r>
              <a:t>│           ┌─────────────────────┐</a:t>
            </a:r>
            <a:br/>
            <a:r>
              <a:t>│           │  4.0                │</a:t>
            </a:r>
            <a:br/>
            <a:r>
              <a:t>│           │  Display 'LKA       │</a:t>
            </a:r>
            <a:br/>
            <a:r>
              <a:t>│           │  Active' Status     │</a:t>
            </a:r>
            <a:br/>
            <a:r>
              <a:t>│           └─────────────────────┘</a:t>
            </a:r>
            <a:br/>
            <a:r>
              <a:t>│             ↓</a:t>
            </a:r>
            <a:br/>
            <a:r>
              <a:t>│           ┌─────────────────────┐</a:t>
            </a:r>
            <a:br/>
            <a:r>
              <a:t>│           │  5.0                │</a:t>
            </a:r>
            <a:br/>
            <a:r>
              <a:t>│           │  Enter LKA Active   │</a:t>
            </a:r>
            <a:br/>
            <a:r>
              <a:t>│           │  Mode               │</a:t>
            </a:r>
            <a:br/>
            <a:r>
              <a:t>│           └─────────────────────┘</a:t>
            </a:r>
            <a:br/>
            <a:r>
              <a:t>│             ↓</a:t>
            </a:r>
            <a:br/>
            <a:r>
              <a:t>│           End (Success)</a:t>
            </a:r>
            <a:br/>
            <a:r>
              <a:t>│</a:t>
            </a:r>
            <a:br/>
            <a:r>
              <a:t>└─→ NO ──→  ┌─────────────────────┐</a:t>
            </a:r>
            <a:br/>
            <a:r>
              <a:t>│  6.0                │</a:t>
            </a:r>
            <a:br/>
            <a:r>
              <a:t>│  Display 'LKA       │</a:t>
            </a:r>
            <a:br/>
            <a:r>
              <a:t>│  Unavailable' Msg   │</a:t>
            </a:r>
            <a:br/>
            <a:r>
              <a:t>└─────────────────────┘</a:t>
            </a:r>
            <a:br/>
            <a:r>
              <a:t>↓</a:t>
            </a:r>
            <a:br/>
            <a:r>
              <a:t>┌─────────────────────┐</a:t>
            </a:r>
            <a:br/>
            <a:r>
              <a:t>│  7.0                │</a:t>
            </a:r>
            <a:br/>
            <a:r>
              <a:t>│  Log Failed         │</a:t>
            </a:r>
            <a:br/>
            <a:r>
              <a:t>│  Activation Event   │</a:t>
            </a:r>
            <a:br/>
            <a:r>
              <a:t>└─────────────────────┘</a:t>
            </a:r>
            <a:br/>
            <a:r>
              <a:t>↓</a:t>
            </a:r>
            <a:br/>
            <a:r>
              <a:t>End (Failure)</a:t>
            </a:r>
          </a:p>
          <a:p>
            <a:pPr>
              <a:spcAft>
                <a:spcPts val="1000"/>
              </a:spcAft>
              <a:defRPr sz="1800">
                <a:solidFill>
                  <a:srgbClr val="333333"/>
                </a:solidFill>
              </a:defRPr>
            </a:pPr>
            <a:r>
              <a:t>FFBD Details:</a:t>
            </a:r>
          </a:p>
          <a:p>
            <a:pPr>
              <a:spcAft>
                <a:spcPts val="1000"/>
              </a:spcAft>
              <a:defRPr sz="1800">
                <a:solidFill>
                  <a:srgbClr val="333333"/>
                </a:solidFill>
              </a:defRPr>
            </a:pPr>
            <a:r>
              <a:t>Function 2.0: Check System Preconditions (decomposes to FFBD-LKA-ACT-2):</a:t>
            </a:r>
          </a:p>
          <a:p>
            <a:pPr>
              <a:defRPr sz="1400">
                <a:solidFill>
                  <a:srgbClr val="787878"/>
                </a:solidFill>
                <a:latin typeface="Consolas"/>
              </a:defRPr>
            </a:pPr>
            <a:r>
              <a:t>2.1: Read Vehicle Speed ──→ 2.2: Verify Speed &gt;60 km/h</a:t>
            </a:r>
            <a:br/>
            <a:r>
              <a:t>↓</a:t>
            </a:r>
            <a:br/>
            <a:r>
              <a:t>2.3: Check Lane Lines Detected</a:t>
            </a:r>
            <a:br/>
            <a:r>
              <a:t>↓</a:t>
            </a:r>
            <a:br/>
            <a:r>
              <a:t>2.4: Verify Steering System Available</a:t>
            </a:r>
            <a:br/>
            <a:r>
              <a:t>↓</a:t>
            </a:r>
            <a:br/>
            <a:r>
              <a:t>2.5: Check No Critical Faults</a:t>
            </a:r>
            <a:br/>
            <a:r>
              <a:t>↓</a:t>
            </a:r>
            <a:br/>
            <a:r>
              <a:t>2.6: Return Precondition Status (Pass/Fail)</a:t>
            </a:r>
          </a:p>
          <a:p>
            <a:pPr>
              <a:spcAft>
                <a:spcPts val="1000"/>
              </a:spcAft>
              <a:defRPr sz="1800">
                <a:solidFill>
                  <a:srgbClr val="333333"/>
                </a:solidFill>
              </a:defRPr>
            </a:pPr>
            <a:r>
              <a:t>Why this matters:</a:t>
            </a:r>
          </a:p>
          <a:p>
            <a:pPr>
              <a:spcAft>
                <a:spcPts val="600"/>
              </a:spcAft>
              <a:defRPr sz="1800">
                <a:solidFill>
                  <a:srgbClr val="333333"/>
                </a:solidFill>
              </a:defRPr>
            </a:pPr>
            <a:r>
              <a:t>Unambiguous sequence: No confusion about order of operations</a:t>
            </a:r>
          </a:p>
          <a:p>
            <a:pPr>
              <a:spcAft>
                <a:spcPts val="600"/>
              </a:spcAft>
              <a:defRPr sz="1800">
                <a:solidFill>
                  <a:srgbClr val="333333"/>
                </a:solidFill>
              </a:defRPr>
            </a:pPr>
            <a:r>
              <a:t>Complete logic: All paths covered (success and failure)</a:t>
            </a:r>
          </a:p>
          <a:p>
            <a:pPr>
              <a:spcAft>
                <a:spcPts val="600"/>
              </a:spcAft>
              <a:defRPr sz="1800">
                <a:solidFill>
                  <a:srgbClr val="333333"/>
                </a:solidFill>
              </a:defRPr>
            </a:pPr>
            <a:r>
              <a:t>Timing implications: Sequential boxes = time delay, AND gates = parallel (faster)</a:t>
            </a:r>
          </a:p>
          <a:p>
            <a:pPr>
              <a:spcAft>
                <a:spcPts val="600"/>
              </a:spcAft>
              <a:defRPr sz="1800">
                <a:solidFill>
                  <a:srgbClr val="333333"/>
                </a:solidFill>
              </a:defRPr>
            </a:pPr>
            <a:r>
              <a:t>Testability: Each path becomes test case (e.g., test activation with speed &lt;60 km/h → expect failure path)</a:t>
            </a:r>
          </a:p>
          <a:p>
            <a:pPr>
              <a:spcAft>
                <a:spcPts val="1000"/>
              </a:spcAft>
              <a:defRPr sz="1800">
                <a:solidFill>
                  <a:srgbClr val="333333"/>
                </a:solidFill>
              </a:defRPr>
            </a:pPr>
            <a:r>
              <a:t>This FFBD directly translates to:</a:t>
            </a:r>
          </a:p>
          <a:p>
            <a:pPr>
              <a:spcAft>
                <a:spcPts val="600"/>
              </a:spcAft>
              <a:defRPr sz="1800">
                <a:solidFill>
                  <a:srgbClr val="333333"/>
                </a:solidFill>
              </a:defRPr>
            </a:pPr>
            <a:r>
              <a:t>Software state machines (in design phase)</a:t>
            </a:r>
          </a:p>
          <a:p>
            <a:pPr>
              <a:spcAft>
                <a:spcPts val="600"/>
              </a:spcAft>
              <a:defRPr sz="1800">
                <a:solidFill>
                  <a:srgbClr val="333333"/>
                </a:solidFill>
              </a:defRPr>
            </a:pPr>
            <a:r>
              <a:t>Test sequences (in V&amp;V phase)</a:t>
            </a:r>
          </a:p>
          <a:p>
            <a:pPr>
              <a:spcAft>
                <a:spcPts val="600"/>
              </a:spcAft>
              <a:defRPr sz="1800">
                <a:solidFill>
                  <a:srgbClr val="333333"/>
                </a:solidFill>
              </a:defRPr>
            </a:pPr>
            <a:r>
              <a:t>Timeline analysis (next slides)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FFBD Example - LKA Normal Operation (Continuous Loop)</a:t>
            </a:r>
          </a:p>
        </p:txBody>
      </p:sp>
      <p:sp>
        <p:nvSpPr>
          <p:cNvPr id="3" name="Content Placeholder 2"/>
          <p:cNvSpPr>
            <a:spLocks noGrp="1"/>
          </p:cNvSpPr>
          <p:nvPr>
            <p:ph idx="1"/>
          </p:nvPr>
        </p:nvSpPr>
        <p:spPr/>
        <p:txBody>
          <a:bodyPr/>
          <a:lstStyle/>
          <a:p>
            <a:pPr>
              <a:spcAft>
                <a:spcPts val="1000"/>
              </a:spcAft>
              <a:defRPr sz="1800">
                <a:solidFill>
                  <a:srgbClr val="333333"/>
                </a:solidFill>
              </a:defRPr>
            </a:pPr>
            <a:r>
              <a:t>Now let's model the continuous operation of LKA using an iterative FFBD.</a:t>
            </a:r>
          </a:p>
          <a:p>
            <a:pPr>
              <a:spcAft>
                <a:spcPts val="1000"/>
              </a:spcAft>
              <a:defRPr sz="1800">
                <a:solidFill>
                  <a:srgbClr val="333333"/>
                </a:solidFill>
              </a:defRPr>
            </a:pPr>
            <a:r>
              <a:t>FFBD-LKA-OPS: Lane Keep Assist Operation Loop (executes while LKA active)</a:t>
            </a:r>
          </a:p>
          <a:p>
            <a:pPr>
              <a:defRPr sz="1400">
                <a:solidFill>
                  <a:srgbClr val="787878"/>
                </a:solidFill>
                <a:latin typeface="Consolas"/>
              </a:defRPr>
            </a:pPr>
            <a:r>
              <a:t>Entry (LKA Active Mode)</a:t>
            </a:r>
            <a:br/>
            <a:r>
              <a:t>↓</a:t>
            </a:r>
            <a:br/>
            <a:r>
              <a:t>┌─────────────────────┐</a:t>
            </a:r>
            <a:br/>
            <a:r>
              <a:t>│  1.0                │ ←────────────────────┐</a:t>
            </a:r>
            <a:br/>
            <a:r>
              <a:t>│  Acquire Camera     │                      │</a:t>
            </a:r>
            <a:br/>
            <a:r>
              <a:t>│  Frame              │                      │</a:t>
            </a:r>
            <a:br/>
            <a:r>
              <a:t>└─────────────────────┘                      │</a:t>
            </a:r>
            <a:br/>
            <a:r>
              <a:t>↓                                          │</a:t>
            </a:r>
            <a:br/>
            <a:r>
              <a:t>┌─────────────────────┐                      │</a:t>
            </a:r>
            <a:br/>
            <a:r>
              <a:t>│  2.0                │                      │</a:t>
            </a:r>
            <a:br/>
            <a:r>
              <a:t>│  Detect Lane        │                      │</a:t>
            </a:r>
            <a:br/>
            <a:r>
              <a:t>│  Boundaries         │                      │</a:t>
            </a:r>
            <a:br/>
            <a:r>
              <a:t>└─────────────────────┘                      │</a:t>
            </a:r>
            <a:br/>
            <a:r>
              <a:t>↓                                          │</a:t>
            </a:r>
            <a:br/>
            <a:r>
              <a:t>├─── OR gate (Lane lines detected?)       │</a:t>
            </a:r>
            <a:br/>
            <a:r>
              <a:t>│                                          │</a:t>
            </a:r>
            <a:br/>
            <a:r>
              <a:t>├─→ YES ──→ ┌─────────────────────┐       │</a:t>
            </a:r>
            <a:br/>
            <a:r>
              <a:t>│           │  3.0                │       │</a:t>
            </a:r>
            <a:br/>
            <a:r>
              <a:t>│           │  Calculate Lateral  │       │</a:t>
            </a:r>
            <a:br/>
            <a:r>
              <a:t>│           │  Offset &amp; Velocity  │       │</a:t>
            </a:r>
            <a:br/>
            <a:r>
              <a:t>│           └─────────────────────┘       │</a:t>
            </a:r>
            <a:br/>
            <a:r>
              <a:t>│             ↓                            │</a:t>
            </a:r>
            <a:br/>
            <a:r>
              <a:t>│             ├─── OR gate (Correction needed?) │</a:t>
            </a:r>
            <a:br/>
            <a:r>
              <a:t>│             │                            │</a:t>
            </a:r>
            <a:br/>
            <a:r>
              <a:t>│             ├─→ YES ──→ ┌──────────────┐│</a:t>
            </a:r>
            <a:br/>
            <a:r>
              <a:t>│             │           │  4.0         ││</a:t>
            </a:r>
            <a:br/>
            <a:r>
              <a:t>│             │           │  Calculate   ││</a:t>
            </a:r>
            <a:br/>
            <a:r>
              <a:t>│             │           │  Steering    ││</a:t>
            </a:r>
            <a:br/>
            <a:r>
              <a:t>│             │           │  Torque      ││</a:t>
            </a:r>
            <a:br/>
            <a:r>
              <a:t>│             │           └──────────────┘│</a:t>
            </a:r>
            <a:br/>
            <a:r>
              <a:t>│             │             ↓             │</a:t>
            </a:r>
            <a:br/>
            <a:r>
              <a:t>│             │           ┌──────────────┐│</a:t>
            </a:r>
            <a:br/>
            <a:r>
              <a:t>│             │           │  5.0         ││</a:t>
            </a:r>
            <a:br/>
            <a:r>
              <a:t>│             │           │  Send Torque ││</a:t>
            </a:r>
            <a:br/>
            <a:r>
              <a:t>│             │           │  Command to  ││</a:t>
            </a:r>
            <a:br/>
            <a:r>
              <a:t>│             │           │  EPS         ││</a:t>
            </a:r>
            <a:br/>
            <a:r>
              <a:t>│             │           └──────────────┘│</a:t>
            </a:r>
            <a:br/>
            <a:r>
              <a:t>│             │             ↓             │</a:t>
            </a:r>
            <a:br/>
            <a:r>
              <a:t>│             └─→ NO  ────→ [merge]       │</a:t>
            </a:r>
            <a:br/>
            <a:r>
              <a:t>│                           ↓             │</a:t>
            </a:r>
            <a:br/>
            <a:r>
              <a:t>│                         ┌──────────────┐│</a:t>
            </a:r>
            <a:br/>
            <a:r>
              <a:t>│                         │  6.0         ││</a:t>
            </a:r>
            <a:br/>
            <a:r>
              <a:t>│                         │  Monitor for ││</a:t>
            </a:r>
            <a:br/>
            <a:r>
              <a:t>│                         │  Deactivation││</a:t>
            </a:r>
            <a:br/>
            <a:r>
              <a:t>│                         └──────────────┘│</a:t>
            </a:r>
            <a:br/>
            <a:r>
              <a:t>│                           ↓             │</a:t>
            </a:r>
            <a:br/>
            <a:r>
              <a:t>│                           ├─ OR gate    │</a:t>
            </a:r>
            <a:br/>
            <a:r>
              <a:t>│                           │             │</a:t>
            </a:r>
            <a:br/>
            <a:r>
              <a:t>│                           ├─→ Continue: Loop back (iterate)</a:t>
            </a:r>
            <a:br/>
            <a:r>
              <a:t>│                           │</a:t>
            </a:r>
            <a:br/>
            <a:r>
              <a:t>│                           └─→ Deactivate: Exit to FFBD-LKA-DEACT</a:t>
            </a:r>
            <a:br/>
            <a:r>
              <a:t>│</a:t>
            </a:r>
            <a:br/>
            <a:r>
              <a:t>└─→ NO (lane loss) ──→ ┌─────────────────┐</a:t>
            </a:r>
            <a:br/>
            <a:r>
              <a:t>│  7.0            │</a:t>
            </a:r>
            <a:br/>
            <a:r>
              <a:t>│  Enter Degraded │</a:t>
            </a:r>
            <a:br/>
            <a:r>
              <a:t>│  Mode / Warn    │</a:t>
            </a:r>
            <a:br/>
            <a:r>
              <a:t>│  Driver         │</a:t>
            </a:r>
            <a:br/>
            <a:r>
              <a:t>└─────────────────┘</a:t>
            </a:r>
            <a:br/>
            <a:r>
              <a:t>↓</a:t>
            </a:r>
            <a:br/>
            <a:r>
              <a:t>┌─────────────────┐</a:t>
            </a:r>
            <a:br/>
            <a:r>
              <a:t>│  8.0            │</a:t>
            </a:r>
            <a:br/>
            <a:r>
              <a:t>│  Attempt Lane   │</a:t>
            </a:r>
            <a:br/>
            <a:r>
              <a:t>│  Re-acquisition │</a:t>
            </a:r>
            <a:br/>
            <a:r>
              <a:t>└─────────────────┘</a:t>
            </a:r>
            <a:br/>
            <a:r>
              <a:t>↓</a:t>
            </a:r>
            <a:br/>
            <a:r>
              <a:t>Loop back to 1.0 or Exit if persistent failure</a:t>
            </a:r>
          </a:p>
          <a:p>
            <a:pPr>
              <a:spcAft>
                <a:spcPts val="1000"/>
              </a:spcAft>
              <a:defRPr sz="1800">
                <a:solidFill>
                  <a:srgbClr val="333333"/>
                </a:solidFill>
              </a:defRPr>
            </a:pPr>
            <a:r>
              <a:t>Key features of this FFBD:</a:t>
            </a:r>
          </a:p>
          <a:p>
            <a:pPr>
              <a:spcAft>
                <a:spcPts val="600"/>
              </a:spcAft>
              <a:defRPr sz="1800">
                <a:solidFill>
                  <a:srgbClr val="333333"/>
                </a:solidFill>
              </a:defRPr>
            </a:pPr>
            <a:r>
              <a:t>Continuous loop: Functions 1.0-6.0 repeat cyclically (every 50ms in real implementation)</a:t>
            </a:r>
          </a:p>
          <a:p>
            <a:pPr>
              <a:spcAft>
                <a:spcPts val="600"/>
              </a:spcAft>
              <a:defRPr sz="1800">
                <a:solidFill>
                  <a:srgbClr val="333333"/>
                </a:solidFill>
              </a:defRPr>
            </a:pPr>
            <a:r>
              <a:t>Conditional branching:</a:t>
            </a:r>
          </a:p>
          <a:p>
            <a:pPr>
              <a:spcAft>
                <a:spcPts val="600"/>
              </a:spcAft>
              <a:defRPr sz="1800">
                <a:solidFill>
                  <a:srgbClr val="333333"/>
                </a:solidFill>
              </a:defRPr>
            </a:pPr>
            <a:r>
              <a:t>Lane detected? (YES → normal operation, NO → degraded mode)</a:t>
            </a:r>
          </a:p>
          <a:p>
            <a:pPr>
              <a:spcAft>
                <a:spcPts val="600"/>
              </a:spcAft>
              <a:defRPr sz="1800">
                <a:solidFill>
                  <a:srgbClr val="333333"/>
                </a:solidFill>
              </a:defRPr>
            </a:pPr>
            <a:r>
              <a:t>Correction needed? (YES → apply steering, NO → monitor only)</a:t>
            </a:r>
          </a:p>
          <a:p>
            <a:pPr>
              <a:spcAft>
                <a:spcPts val="600"/>
              </a:spcAft>
              <a:defRPr sz="1800">
                <a:solidFill>
                  <a:srgbClr val="333333"/>
                </a:solidFill>
              </a:defRPr>
            </a:pPr>
            <a:r>
              <a:t>Multiple exit conditions (Function 6.0 checks):</a:t>
            </a:r>
          </a:p>
          <a:p>
            <a:pPr>
              <a:spcAft>
                <a:spcPts val="600"/>
              </a:spcAft>
              <a:defRPr sz="1800">
                <a:solidFill>
                  <a:srgbClr val="333333"/>
                </a:solidFill>
              </a:defRPr>
            </a:pPr>
            <a:r>
              <a:t>Driver presses cancel → Exit to deactivation flow</a:t>
            </a:r>
          </a:p>
          <a:p>
            <a:pPr>
              <a:spcAft>
                <a:spcPts val="600"/>
              </a:spcAft>
              <a:defRPr sz="1800">
                <a:solidFill>
                  <a:srgbClr val="333333"/>
                </a:solidFill>
              </a:defRPr>
            </a:pPr>
            <a:r>
              <a:t>Driver overrides steering → Exit to override handling</a:t>
            </a:r>
          </a:p>
          <a:p>
            <a:pPr>
              <a:spcAft>
                <a:spcPts val="600"/>
              </a:spcAft>
              <a:defRPr sz="1800">
                <a:solidFill>
                  <a:srgbClr val="333333"/>
                </a:solidFill>
              </a:defRPr>
            </a:pPr>
            <a:r>
              <a:t>System fault detected → Exit to fault management</a:t>
            </a:r>
          </a:p>
          <a:p>
            <a:pPr>
              <a:spcAft>
                <a:spcPts val="600"/>
              </a:spcAft>
              <a:defRPr sz="1800">
                <a:solidFill>
                  <a:srgbClr val="333333"/>
                </a:solidFill>
              </a:defRPr>
            </a:pPr>
            <a:r>
              <a:t>Continue normal operation → Loop back to 1.0</a:t>
            </a:r>
          </a:p>
          <a:p>
            <a:pPr>
              <a:spcAft>
                <a:spcPts val="600"/>
              </a:spcAft>
              <a:defRPr sz="1800">
                <a:solidFill>
                  <a:srgbClr val="333333"/>
                </a:solidFill>
              </a:defRPr>
            </a:pPr>
            <a:r>
              <a:t>Timing implications:</a:t>
            </a:r>
          </a:p>
          <a:p>
            <a:pPr>
              <a:spcAft>
                <a:spcPts val="600"/>
              </a:spcAft>
              <a:defRPr sz="1800">
                <a:solidFill>
                  <a:srgbClr val="333333"/>
                </a:solidFill>
              </a:defRPr>
            </a:pPr>
            <a:r>
              <a:t>Total loop time: 1.0 (10ms) + 2.0 (20ms) + 3.0 (5ms) + 4.0 (8ms) + 5.0 (2ms) + 6.0 (5ms) = 50ms</a:t>
            </a:r>
          </a:p>
          <a:p>
            <a:pPr>
              <a:spcAft>
                <a:spcPts val="600"/>
              </a:spcAft>
              <a:defRPr sz="1800">
                <a:solidFill>
                  <a:srgbClr val="333333"/>
                </a:solidFill>
              </a:defRPr>
            </a:pPr>
            <a:r>
              <a:t>Loop frequency: 20 Hz (meets requirement NFR-LKA-002: minimum 20 Hz update rate)</a:t>
            </a:r>
          </a:p>
          <a:p>
            <a:pPr>
              <a:spcAft>
                <a:spcPts val="1000"/>
              </a:spcAft>
              <a:defRPr sz="1800">
                <a:solidFill>
                  <a:srgbClr val="333333"/>
                </a:solidFill>
              </a:defRPr>
            </a:pPr>
            <a:r>
              <a:t>This FFBD becomes the basis for:</a:t>
            </a:r>
          </a:p>
          <a:p>
            <a:pPr>
              <a:spcAft>
                <a:spcPts val="600"/>
              </a:spcAft>
              <a:defRPr sz="1800">
                <a:solidFill>
                  <a:srgbClr val="333333"/>
                </a:solidFill>
              </a:defRPr>
            </a:pPr>
            <a:r>
              <a:t>Software task scheduling (real-time operating system)</a:t>
            </a:r>
          </a:p>
          <a:p>
            <a:pPr>
              <a:spcAft>
                <a:spcPts val="600"/>
              </a:spcAft>
              <a:defRPr sz="1800">
                <a:solidFill>
                  <a:srgbClr val="333333"/>
                </a:solidFill>
              </a:defRPr>
            </a:pPr>
            <a:r>
              <a:t>Timing analysis (worst-case execution time)</a:t>
            </a:r>
          </a:p>
          <a:p>
            <a:pPr>
              <a:spcAft>
                <a:spcPts val="600"/>
              </a:spcAft>
              <a:defRPr sz="1800">
                <a:solidFill>
                  <a:srgbClr val="333333"/>
                </a:solidFill>
              </a:defRPr>
            </a:pPr>
            <a:r>
              <a:t>Safety analysis (what if function 2.0 fails?)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FFBD for Concurrent Functions - AND Gate Example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Automotive systems often have concurrent operations. FFBD uses AND gates to show parallel execution.</a:t>
            </a:r>
          </a:p>
          <a:p>
            <a:pPr>
              <a:spcAft>
                <a:spcPts val="1000"/>
              </a:spcAft>
              <a:defRPr sz="1800">
                <a:solidFill>
                  <a:srgbClr val="333333"/>
                </a:solidFill>
              </a:defRPr>
            </a:pPr>
            <a:r>
              <a:t>FFBD-LKA-INIT: LKA Initialization with Parallel Tasks</a:t>
            </a:r>
          </a:p>
          <a:p>
            <a:pPr>
              <a:defRPr sz="1400">
                <a:solidFill>
                  <a:srgbClr val="787878"/>
                </a:solidFill>
                <a:latin typeface="Consolas"/>
              </a:defRPr>
            </a:pPr>
            <a:r>
              <a:t>Start Initialization</a:t>
            </a:r>
            <a:br/>
            <a:r>
              <a:t>↓</a:t>
            </a:r>
            <a:br/>
            <a:r>
              <a:t>┌─────────────────────┐</a:t>
            </a:r>
            <a:br/>
            <a:r>
              <a:t>│  1.0                │</a:t>
            </a:r>
            <a:br/>
            <a:r>
              <a:t>│  Receive Activation │</a:t>
            </a:r>
            <a:br/>
            <a:r>
              <a:t>│  Command            │</a:t>
            </a:r>
            <a:br/>
            <a:r>
              <a:t>└─────────────────────┘</a:t>
            </a:r>
            <a:br/>
            <a:r>
              <a:t>↓</a:t>
            </a:r>
            <a:br/>
            <a:r>
              <a:t>┌─────────────────────┐</a:t>
            </a:r>
            <a:br/>
            <a:r>
              <a:t>│  2.0                │</a:t>
            </a:r>
            <a:br/>
            <a:r>
              <a:t>│  Verify             │</a:t>
            </a:r>
            <a:br/>
            <a:r>
              <a:t>│  Preconditions      │</a:t>
            </a:r>
            <a:br/>
            <a:r>
              <a:t>└─────────────────────┘</a:t>
            </a:r>
            <a:br/>
            <a:r>
              <a:t>↓</a:t>
            </a:r>
            <a:br/>
            <a:r>
              <a:t>─┬── AND gate (Parallel execution begins)</a:t>
            </a:r>
            <a:br/>
            <a:r>
              <a:t>│</a:t>
            </a:r>
            <a:br/>
            <a:r>
              <a:t>├──→ ┌─────────────────────┐</a:t>
            </a:r>
            <a:br/>
            <a:r>
              <a:t>│    │  3.1                │</a:t>
            </a:r>
            <a:br/>
            <a:r>
              <a:t>│    │  Initialize Vision  │</a:t>
            </a:r>
            <a:br/>
            <a:r>
              <a:t>│    │  Algorithm          │</a:t>
            </a:r>
            <a:br/>
            <a:r>
              <a:t>│    └─────────────────────┘</a:t>
            </a:r>
            <a:br/>
            <a:r>
              <a:t>│</a:t>
            </a:r>
            <a:br/>
            <a:r>
              <a:t>├──→ ┌─────────────────────┐</a:t>
            </a:r>
            <a:br/>
            <a:r>
              <a:t>│    │  3.2                │</a:t>
            </a:r>
            <a:br/>
            <a:r>
              <a:t>│    │  Initialize Control │</a:t>
            </a:r>
            <a:br/>
            <a:r>
              <a:t>│    │  Algorithm          │</a:t>
            </a:r>
            <a:br/>
            <a:r>
              <a:t>│    └─────────────────────┘</a:t>
            </a:r>
            <a:br/>
            <a:r>
              <a:t>│</a:t>
            </a:r>
            <a:br/>
            <a:r>
              <a:t>└──→ ┌─────────────────────┐</a:t>
            </a:r>
            <a:br/>
            <a:r>
              <a:t>│  3.3                │</a:t>
            </a:r>
            <a:br/>
            <a:r>
              <a:t>│  Initialize Driver  │</a:t>
            </a:r>
            <a:br/>
            <a:r>
              <a:t>│  Interface          │</a:t>
            </a:r>
            <a:br/>
            <a:r>
              <a:t>└─────────────────────┘</a:t>
            </a:r>
            <a:br/>
            <a:r>
              <a:t>↓</a:t>
            </a:r>
            <a:br/>
            <a:r>
              <a:t>─┴── AND gate (Synchronization - wait for all to complete)</a:t>
            </a:r>
            <a:br/>
            <a:r>
              <a:t>↓</a:t>
            </a:r>
            <a:br/>
            <a:r>
              <a:t>┌─────────────────────┐</a:t>
            </a:r>
            <a:br/>
            <a:r>
              <a:t>│  4.0                │</a:t>
            </a:r>
            <a:br/>
            <a:r>
              <a:t>│  Verify All         │</a:t>
            </a:r>
            <a:br/>
            <a:r>
              <a:t>│  Subsystems Ready   │</a:t>
            </a:r>
            <a:br/>
            <a:r>
              <a:t>└─────────────────────┘</a:t>
            </a:r>
            <a:br/>
            <a:r>
              <a:t>↓</a:t>
            </a:r>
            <a:br/>
            <a:r>
              <a:t>┌─────────────────────┐</a:t>
            </a:r>
            <a:br/>
            <a:r>
              <a:t>│  5.0                │</a:t>
            </a:r>
            <a:br/>
            <a:r>
              <a:t>│  Transition to      │</a:t>
            </a:r>
            <a:br/>
            <a:r>
              <a:t>│  Active State       │</a:t>
            </a:r>
            <a:br/>
            <a:r>
              <a:t>└─────────────────────┘</a:t>
            </a:r>
            <a:br/>
            <a:r>
              <a:t>↓</a:t>
            </a:r>
            <a:br/>
            <a:r>
              <a:t>End</a:t>
            </a:r>
          </a:p>
          <a:p>
            <a:pPr>
              <a:spcAft>
                <a:spcPts val="1000"/>
              </a:spcAft>
              <a:defRPr sz="1800">
                <a:solidFill>
                  <a:srgbClr val="333333"/>
                </a:solidFill>
              </a:defRPr>
            </a:pPr>
            <a:r>
              <a:t>AND gate semantics:</a:t>
            </a:r>
          </a:p>
          <a:p>
            <a:pPr>
              <a:spcAft>
                <a:spcPts val="600"/>
              </a:spcAft>
              <a:defRPr sz="1800">
                <a:solidFill>
                  <a:srgbClr val="333333"/>
                </a:solidFill>
              </a:defRPr>
            </a:pPr>
            <a:r>
              <a:t>Fork (top AND): All branches execute simultaneously</a:t>
            </a:r>
          </a:p>
          <a:p>
            <a:pPr>
              <a:spcAft>
                <a:spcPts val="600"/>
              </a:spcAft>
              <a:defRPr sz="1800">
                <a:solidFill>
                  <a:srgbClr val="333333"/>
                </a:solidFill>
              </a:defRPr>
            </a:pPr>
            <a:r>
              <a:t>3.1, 3.2, 3.3 start at the same time</a:t>
            </a:r>
          </a:p>
          <a:p>
            <a:pPr>
              <a:spcAft>
                <a:spcPts val="600"/>
              </a:spcAft>
              <a:defRPr sz="1800">
                <a:solidFill>
                  <a:srgbClr val="333333"/>
                </a:solidFill>
              </a:defRPr>
            </a:pPr>
            <a:r>
              <a:t>Join (bottom AND): Wait for ALL branches to complete before proceeding</a:t>
            </a:r>
          </a:p>
          <a:p>
            <a:pPr>
              <a:spcAft>
                <a:spcPts val="600"/>
              </a:spcAft>
              <a:defRPr sz="1800">
                <a:solidFill>
                  <a:srgbClr val="333333"/>
                </a:solidFill>
              </a:defRPr>
            </a:pPr>
            <a:r>
              <a:t>Function 4.0 doesn't start until 3.1 AND 3.2 AND 3.3 are done</a:t>
            </a:r>
          </a:p>
          <a:p>
            <a:pPr>
              <a:spcAft>
                <a:spcPts val="1000"/>
              </a:spcAft>
              <a:defRPr sz="1800">
                <a:solidFill>
                  <a:srgbClr val="333333"/>
                </a:solidFill>
              </a:defRPr>
            </a:pPr>
            <a:r>
              <a:t>Why parallel execution:</a:t>
            </a:r>
          </a:p>
          <a:p>
            <a:pPr>
              <a:spcAft>
                <a:spcPts val="600"/>
              </a:spcAft>
              <a:defRPr sz="1800">
                <a:solidFill>
                  <a:srgbClr val="333333"/>
                </a:solidFill>
              </a:defRPr>
            </a:pPr>
            <a:r>
              <a:t>Faster initialization: Serial execution would take 50ms + 30ms + 20ms = 100ms</a:t>
            </a:r>
          </a:p>
          <a:p>
            <a:pPr>
              <a:spcAft>
                <a:spcPts val="600"/>
              </a:spcAft>
              <a:defRPr sz="1800">
                <a:solidFill>
                  <a:srgbClr val="333333"/>
                </a:solidFill>
              </a:defRPr>
            </a:pPr>
            <a:r>
              <a:t>Parallel execution: Takes max(50ms, 30ms, 20ms) = 50ms (2x faster)</a:t>
            </a:r>
          </a:p>
          <a:p>
            <a:pPr>
              <a:spcAft>
                <a:spcPts val="1000"/>
              </a:spcAft>
              <a:defRPr sz="1800">
                <a:solidFill>
                  <a:srgbClr val="333333"/>
                </a:solidFill>
              </a:defRPr>
            </a:pPr>
            <a:r>
              <a:t>Design implications:</a:t>
            </a:r>
          </a:p>
          <a:p>
            <a:pPr>
              <a:spcAft>
                <a:spcPts val="600"/>
              </a:spcAft>
              <a:defRPr sz="1800">
                <a:solidFill>
                  <a:srgbClr val="333333"/>
                </a:solidFill>
              </a:defRPr>
            </a:pPr>
            <a:r>
              <a:t>Functions 3.1, 3.2, 3.3 must be independent (no data dependencies)</a:t>
            </a:r>
          </a:p>
          <a:p>
            <a:pPr>
              <a:spcAft>
                <a:spcPts val="600"/>
              </a:spcAft>
              <a:defRPr sz="1800">
                <a:solidFill>
                  <a:srgbClr val="333333"/>
                </a:solidFill>
              </a:defRPr>
            </a:pPr>
            <a:r>
              <a:t>Requires multi-threading or multi-core processor</a:t>
            </a:r>
          </a:p>
          <a:p>
            <a:pPr>
              <a:spcAft>
                <a:spcPts val="600"/>
              </a:spcAft>
              <a:defRPr sz="1800">
                <a:solidFill>
                  <a:srgbClr val="333333"/>
                </a:solidFill>
              </a:defRPr>
            </a:pPr>
            <a:r>
              <a:t>Synchronization needed at join (barrier/semaphore in software)</a:t>
            </a:r>
          </a:p>
          <a:p>
            <a:pPr>
              <a:spcAft>
                <a:spcPts val="1000"/>
              </a:spcAft>
              <a:defRPr sz="1800">
                <a:solidFill>
                  <a:srgbClr val="333333"/>
                </a:solidFill>
              </a:defRPr>
            </a:pPr>
            <a:r>
              <a:t>Real automotive example:</a:t>
            </a:r>
          </a:p>
          <a:p>
            <a:pPr>
              <a:spcAft>
                <a:spcPts val="1000"/>
              </a:spcAft>
              <a:defRPr sz="1800">
                <a:solidFill>
                  <a:srgbClr val="333333"/>
                </a:solidFill>
              </a:defRPr>
            </a:pPr>
            <a:r>
              <a:t>During vehicle startup, multiple ECUs initialize in parallel:</a:t>
            </a:r>
          </a:p>
          <a:p>
            <a:pPr>
              <a:spcAft>
                <a:spcPts val="600"/>
              </a:spcAft>
              <a:defRPr sz="1800">
                <a:solidFill>
                  <a:srgbClr val="333333"/>
                </a:solidFill>
              </a:defRPr>
            </a:pPr>
            <a:r>
              <a:t>Powertrain ECU initializes engine control</a:t>
            </a:r>
          </a:p>
          <a:p>
            <a:pPr>
              <a:spcAft>
                <a:spcPts val="600"/>
              </a:spcAft>
              <a:defRPr sz="1800">
                <a:solidFill>
                  <a:srgbClr val="333333"/>
                </a:solidFill>
              </a:defRPr>
            </a:pPr>
            <a:r>
              <a:t>Chassis ECU initializes steering/braking</a:t>
            </a:r>
          </a:p>
          <a:p>
            <a:pPr>
              <a:spcAft>
                <a:spcPts val="600"/>
              </a:spcAft>
              <a:defRPr sz="1800">
                <a:solidFill>
                  <a:srgbClr val="333333"/>
                </a:solidFill>
              </a:defRPr>
            </a:pPr>
            <a:r>
              <a:t>Body ECU initializes lighting/wipers</a:t>
            </a:r>
          </a:p>
          <a:p>
            <a:pPr>
              <a:spcAft>
                <a:spcPts val="1000"/>
              </a:spcAft>
              <a:defRPr sz="1800">
                <a:solidFill>
                  <a:srgbClr val="333333"/>
                </a:solidFill>
              </a:defRPr>
            </a:pPr>
            <a:r>
              <a:t>All must complete before 'Vehicle Ready' state.</a:t>
            </a:r>
          </a:p>
          <a:p>
            <a:pPr>
              <a:spcAft>
                <a:spcPts val="1000"/>
              </a:spcAft>
              <a:defRPr sz="1800">
                <a:solidFill>
                  <a:srgbClr val="333333"/>
                </a:solidFill>
              </a:defRPr>
            </a:pPr>
            <a:r>
              <a:t>FFBD makes parallelism explicit so architects can:</a:t>
            </a:r>
          </a:p>
          <a:p>
            <a:pPr>
              <a:spcAft>
                <a:spcPts val="600"/>
              </a:spcAft>
              <a:defRPr sz="1800">
                <a:solidFill>
                  <a:srgbClr val="333333"/>
                </a:solidFill>
              </a:defRPr>
            </a:pPr>
            <a:r>
              <a:t>Estimate total execution time</a:t>
            </a:r>
          </a:p>
          <a:p>
            <a:pPr>
              <a:spcAft>
                <a:spcPts val="600"/>
              </a:spcAft>
              <a:defRPr sz="1800">
                <a:solidFill>
                  <a:srgbClr val="333333"/>
                </a:solidFill>
              </a:defRPr>
            </a:pPr>
            <a:r>
              <a:t>Identify synchronization points</a:t>
            </a:r>
          </a:p>
          <a:p>
            <a:pPr>
              <a:spcAft>
                <a:spcPts val="600"/>
              </a:spcAft>
              <a:defRPr sz="1800">
                <a:solidFill>
                  <a:srgbClr val="333333"/>
                </a:solidFill>
              </a:defRPr>
            </a:pPr>
            <a:r>
              <a:t>Allocate functions to processors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Hierarchical FFBD Decomposition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Complex systems require hierarchical FFBDs — high-level flows decompose into detailed flows.</a:t>
            </a:r>
          </a:p>
          <a:p>
            <a:pPr>
              <a:spcAft>
                <a:spcPts val="1000"/>
              </a:spcAft>
              <a:defRPr sz="1800">
                <a:solidFill>
                  <a:srgbClr val="333333"/>
                </a:solidFill>
              </a:defRPr>
            </a:pPr>
            <a:r>
              <a:t>Three-Level FFBD Example:</a:t>
            </a:r>
          </a:p>
          <a:p>
            <a:pPr>
              <a:spcAft>
                <a:spcPts val="1000"/>
              </a:spcAft>
              <a:defRPr sz="1800">
                <a:solidFill>
                  <a:srgbClr val="333333"/>
                </a:solidFill>
              </a:defRPr>
            </a:pPr>
            <a:r>
              <a:t>Level 0: Mission-Level FFBD (OPS-LKA-001: Complete Highway Drive with LKA)</a:t>
            </a:r>
          </a:p>
          <a:p>
            <a:pPr>
              <a:defRPr sz="1400">
                <a:solidFill>
                  <a:srgbClr val="787878"/>
                </a:solidFill>
                <a:latin typeface="Consolas"/>
              </a:defRPr>
            </a:pPr>
            <a:r>
              <a:t>1.0: Enter Highway</a:t>
            </a:r>
            <a:br/>
            <a:r>
              <a:t>↓</a:t>
            </a:r>
            <a:br/>
            <a:r>
              <a:t>2.0: Activate LKA (Ref: FFBD-LKA-ACT, Level 1)</a:t>
            </a:r>
            <a:br/>
            <a:r>
              <a:t>↓</a:t>
            </a:r>
            <a:br/>
            <a:r>
              <a:t>3.0: Maintain Lane (Ref: FFBD-LKA-OPS, Level 1)</a:t>
            </a:r>
            <a:br/>
            <a:r>
              <a:t>↓</a:t>
            </a:r>
            <a:br/>
            <a:r>
              <a:t>4.0: Handle Lane Change (Ref: FFBD-LKA-LC, Level 1)</a:t>
            </a:r>
            <a:br/>
            <a:r>
              <a:t>↓</a:t>
            </a:r>
            <a:br/>
            <a:r>
              <a:t>5.0: Deactivate LKA (Ref: FFBD-LKA-DEACT, Level 1)</a:t>
            </a:r>
            <a:br/>
            <a:r>
              <a:t>↓</a:t>
            </a:r>
            <a:br/>
            <a:r>
              <a:t>6.0: Exit Highway</a:t>
            </a:r>
          </a:p>
          <a:p>
            <a:pPr>
              <a:spcAft>
                <a:spcPts val="1000"/>
              </a:spcAft>
              <a:defRPr sz="1800">
                <a:solidFill>
                  <a:srgbClr val="333333"/>
                </a:solidFill>
              </a:defRPr>
            </a:pPr>
            <a:r>
              <a:t>Level 1: System-Level FFBD (FFBD-LKA-OPS: Maintain Lane)</a:t>
            </a:r>
          </a:p>
          <a:p>
            <a:pPr>
              <a:defRPr sz="1400">
                <a:solidFill>
                  <a:srgbClr val="787878"/>
                </a:solidFill>
                <a:latin typeface="Consolas"/>
              </a:defRPr>
            </a:pPr>
            <a:r>
              <a:t>1.0: Acquire Camera Frame</a:t>
            </a:r>
            <a:br/>
            <a:r>
              <a:t>↓</a:t>
            </a:r>
            <a:br/>
            <a:r>
              <a:t>2.0: Process Image (Ref: FFBD-LKA-OPS-2, Level 2)</a:t>
            </a:r>
            <a:br/>
            <a:r>
              <a:t>↓</a:t>
            </a:r>
            <a:br/>
            <a:r>
              <a:t>3.0: Calculate Offset</a:t>
            </a:r>
            <a:br/>
            <a:r>
              <a:t>↓</a:t>
            </a:r>
            <a:br/>
            <a:r>
              <a:t>4.0: Determine Steering Torque</a:t>
            </a:r>
            <a:br/>
            <a:r>
              <a:t>↓</a:t>
            </a:r>
            <a:br/>
            <a:r>
              <a:t>5.0: Send Command to EPS</a:t>
            </a:r>
            <a:br/>
            <a:r>
              <a:t>↓</a:t>
            </a:r>
            <a:br/>
            <a:r>
              <a:t>Loop back to 1.0</a:t>
            </a:r>
          </a:p>
          <a:p>
            <a:pPr>
              <a:spcAft>
                <a:spcPts val="1000"/>
              </a:spcAft>
              <a:defRPr sz="1800">
                <a:solidFill>
                  <a:srgbClr val="333333"/>
                </a:solidFill>
              </a:defRPr>
            </a:pPr>
            <a:r>
              <a:t>Level 2: Sub-Function FFBD (FFBD-LKA-OPS-2: Process Image)</a:t>
            </a:r>
          </a:p>
          <a:p>
            <a:pPr>
              <a:defRPr sz="1400">
                <a:solidFill>
                  <a:srgbClr val="787878"/>
                </a:solidFill>
                <a:latin typeface="Consolas"/>
              </a:defRPr>
            </a:pPr>
            <a:r>
              <a:t>2.1: Preprocess Image (denoise, enhance)</a:t>
            </a:r>
            <a:br/>
            <a:r>
              <a:t>↓</a:t>
            </a:r>
            <a:br/>
            <a:r>
              <a:t>2.2: Apply Edge Detection</a:t>
            </a:r>
            <a:br/>
            <a:r>
              <a:t>↓</a:t>
            </a:r>
            <a:br/>
            <a:r>
              <a:t>2.3: Identify Line Segments</a:t>
            </a:r>
            <a:br/>
            <a:r>
              <a:t>↓</a:t>
            </a:r>
            <a:br/>
            <a:r>
              <a:t>2.4: Fit Lane Model (polynomial curve fit)</a:t>
            </a:r>
            <a:br/>
            <a:r>
              <a:t>↓</a:t>
            </a:r>
            <a:br/>
            <a:r>
              <a:t>2.5: Validate Lane Model (confidence check)</a:t>
            </a:r>
            <a:br/>
            <a:r>
              <a:t>↓</a:t>
            </a:r>
            <a:br/>
            <a:r>
              <a:t>2.6: Output Lane Boundaries</a:t>
            </a:r>
          </a:p>
          <a:p>
            <a:pPr>
              <a:spcAft>
                <a:spcPts val="1000"/>
              </a:spcAft>
              <a:defRPr sz="1800">
                <a:solidFill>
                  <a:srgbClr val="333333"/>
                </a:solidFill>
              </a:defRPr>
            </a:pPr>
            <a:r>
              <a:t>Decomposition rules:</a:t>
            </a:r>
          </a:p>
          <a:p>
            <a:pPr>
              <a:spcAft>
                <a:spcPts val="600"/>
              </a:spcAft>
              <a:defRPr sz="1800">
                <a:solidFill>
                  <a:srgbClr val="333333"/>
                </a:solidFill>
              </a:defRPr>
            </a:pPr>
            <a:r>
              <a:t>Each function in Level N can be expanded to full FFBD at Level N+1</a:t>
            </a:r>
          </a:p>
          <a:p>
            <a:pPr>
              <a:spcAft>
                <a:spcPts val="600"/>
              </a:spcAft>
              <a:defRPr sz="1800">
                <a:solidFill>
                  <a:srgbClr val="333333"/>
                </a:solidFill>
              </a:defRPr>
            </a:pPr>
            <a:r>
              <a:t>'Ref: FFBD-X' notation indicates link to detailed diagram</a:t>
            </a:r>
          </a:p>
          <a:p>
            <a:pPr>
              <a:spcAft>
                <a:spcPts val="600"/>
              </a:spcAft>
              <a:defRPr sz="1800">
                <a:solidFill>
                  <a:srgbClr val="333333"/>
                </a:solidFill>
              </a:defRPr>
            </a:pPr>
            <a:r>
              <a:t>Inputs/outputs must match between levels</a:t>
            </a:r>
          </a:p>
          <a:p>
            <a:pPr>
              <a:spcAft>
                <a:spcPts val="1000"/>
              </a:spcAft>
              <a:defRPr sz="1800">
                <a:solidFill>
                  <a:srgbClr val="333333"/>
                </a:solidFill>
              </a:defRPr>
            </a:pPr>
            <a:r>
              <a:t>When to create new FFBD level:</a:t>
            </a:r>
          </a:p>
          <a:p>
            <a:pPr>
              <a:spcAft>
                <a:spcPts val="600"/>
              </a:spcAft>
              <a:defRPr sz="1800">
                <a:solidFill>
                  <a:srgbClr val="333333"/>
                </a:solidFill>
              </a:defRPr>
            </a:pPr>
            <a:r>
              <a:t>Function is complex (&gt;10 sub-steps)</a:t>
            </a:r>
          </a:p>
          <a:p>
            <a:pPr>
              <a:spcAft>
                <a:spcPts val="600"/>
              </a:spcAft>
              <a:defRPr sz="1800">
                <a:solidFill>
                  <a:srgbClr val="333333"/>
                </a:solidFill>
              </a:defRPr>
            </a:pPr>
            <a:r>
              <a:t>Different team responsible for implementation</a:t>
            </a:r>
          </a:p>
          <a:p>
            <a:pPr>
              <a:spcAft>
                <a:spcPts val="600"/>
              </a:spcAft>
              <a:defRPr sz="1800">
                <a:solidFill>
                  <a:srgbClr val="333333"/>
                </a:solidFill>
              </a:defRPr>
            </a:pPr>
            <a:r>
              <a:t>Different timing/criticality domain</a:t>
            </a:r>
          </a:p>
          <a:p>
            <a:pPr>
              <a:spcAft>
                <a:spcPts val="600"/>
              </a:spcAft>
              <a:defRPr sz="1800">
                <a:solidFill>
                  <a:srgbClr val="333333"/>
                </a:solidFill>
              </a:defRPr>
            </a:pPr>
            <a:r>
              <a:t>Safety-critical function requiring detailed analysis</a:t>
            </a:r>
          </a:p>
          <a:p>
            <a:pPr>
              <a:spcAft>
                <a:spcPts val="1000"/>
              </a:spcAft>
              <a:defRPr sz="1800">
                <a:solidFill>
                  <a:srgbClr val="333333"/>
                </a:solidFill>
              </a:defRPr>
            </a:pPr>
            <a:r>
              <a:t>Automotive practice:</a:t>
            </a:r>
          </a:p>
          <a:p>
            <a:pPr>
              <a:spcAft>
                <a:spcPts val="600"/>
              </a:spcAft>
              <a:defRPr sz="1800">
                <a:solidFill>
                  <a:srgbClr val="333333"/>
                </a:solidFill>
              </a:defRPr>
            </a:pPr>
            <a:r>
              <a:t>Level 0: Vehicle-level scenarios (used by system architects)</a:t>
            </a:r>
          </a:p>
          <a:p>
            <a:pPr>
              <a:spcAft>
                <a:spcPts val="600"/>
              </a:spcAft>
              <a:defRPr sz="1800">
                <a:solidFill>
                  <a:srgbClr val="333333"/>
                </a:solidFill>
              </a:defRPr>
            </a:pPr>
            <a:r>
              <a:t>Level 1: ECU-level functions (used by software architects)</a:t>
            </a:r>
          </a:p>
          <a:p>
            <a:pPr>
              <a:spcAft>
                <a:spcPts val="600"/>
              </a:spcAft>
              <a:defRPr sz="1800">
                <a:solidFill>
                  <a:srgbClr val="333333"/>
                </a:solidFill>
              </a:defRPr>
            </a:pPr>
            <a:r>
              <a:t>Level 2: Software module functions (used by developers)</a:t>
            </a:r>
          </a:p>
          <a:p>
            <a:pPr>
              <a:spcAft>
                <a:spcPts val="600"/>
              </a:spcAft>
              <a:defRPr sz="1800">
                <a:solidFill>
                  <a:srgbClr val="333333"/>
                </a:solidFill>
              </a:defRPr>
            </a:pPr>
            <a:r>
              <a:t>Level 3+: Algorithm details (used by algorithm engineers)</a:t>
            </a:r>
          </a:p>
          <a:p>
            <a:pPr>
              <a:spcAft>
                <a:spcPts val="1000"/>
              </a:spcAft>
              <a:defRPr sz="1800">
                <a:solidFill>
                  <a:srgbClr val="333333"/>
                </a:solidFill>
              </a:defRPr>
            </a:pPr>
            <a:r>
              <a:t>Traceability: Each FFBD level traces to:</a:t>
            </a:r>
          </a:p>
          <a:p>
            <a:pPr>
              <a:spcAft>
                <a:spcPts val="600"/>
              </a:spcAft>
              <a:defRPr sz="1800">
                <a:solidFill>
                  <a:srgbClr val="333333"/>
                </a:solidFill>
              </a:defRPr>
            </a:pPr>
            <a:r>
              <a:t>Requirements (what must be accomplished)</a:t>
            </a:r>
          </a:p>
          <a:p>
            <a:pPr>
              <a:spcAft>
                <a:spcPts val="600"/>
              </a:spcAft>
              <a:defRPr sz="1800">
                <a:solidFill>
                  <a:srgbClr val="333333"/>
                </a:solidFill>
              </a:defRPr>
            </a:pPr>
            <a:r>
              <a:t>Test cases (validation of flow)</a:t>
            </a:r>
          </a:p>
          <a:p>
            <a:pPr>
              <a:spcAft>
                <a:spcPts val="600"/>
              </a:spcAft>
              <a:defRPr sz="1800">
                <a:solidFill>
                  <a:srgbClr val="333333"/>
                </a:solidFill>
              </a:defRPr>
            </a:pPr>
            <a:r>
              <a:t>Design elements (implementation)</a:t>
            </a:r>
          </a:p>
          <a:p>
            <a:pPr>
              <a:spcAft>
                <a:spcPts val="1000"/>
              </a:spcAft>
              <a:defRPr sz="1800">
                <a:solidFill>
                  <a:srgbClr val="333333"/>
                </a:solidFill>
              </a:defRPr>
            </a:pPr>
            <a:r>
              <a:t>In MBSE tools (Session 3), these are Activity Diagrams in SysML, automatically traceable to requirements.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 Part 5: Requirements Allocation and Timeline Analysis (Slides 24-27, ~8 minutes)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Requirements Allocation to Functions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Now we close the loop: Allocating requirements to functions.</a:t>
            </a:r>
          </a:p>
          <a:p>
            <a:pPr>
              <a:spcAft>
                <a:spcPts val="1000"/>
              </a:spcAft>
              <a:defRPr sz="1800">
                <a:solidFill>
                  <a:srgbClr val="333333"/>
                </a:solidFill>
              </a:defRPr>
            </a:pPr>
            <a:r>
              <a:t>Remember Session 4: We defined requirements (WHAT system shall do).</a:t>
            </a:r>
          </a:p>
          <a:p>
            <a:pPr>
              <a:spcAft>
                <a:spcPts val="1000"/>
              </a:spcAft>
              <a:defRPr sz="1800">
                <a:solidFill>
                  <a:srgbClr val="333333"/>
                </a:solidFill>
              </a:defRPr>
            </a:pPr>
            <a:r>
              <a:t>Today: We defined functions (operational decomposition of behavior).</a:t>
            </a:r>
          </a:p>
          <a:p>
            <a:pPr>
              <a:spcAft>
                <a:spcPts val="1000"/>
              </a:spcAft>
              <a:defRPr sz="1800">
                <a:solidFill>
                  <a:srgbClr val="333333"/>
                </a:solidFill>
              </a:defRPr>
            </a:pPr>
            <a:r>
              <a:t>Now: We map requirements → functions to ensure complete coverage.</a:t>
            </a:r>
          </a:p>
          <a:p>
            <a:pPr>
              <a:spcAft>
                <a:spcPts val="1000"/>
              </a:spcAft>
              <a:defRPr sz="1800">
                <a:solidFill>
                  <a:srgbClr val="333333"/>
                </a:solidFill>
              </a:defRPr>
            </a:pPr>
            <a:r>
              <a:t>Requirements Allocation Matrix (RAM):</a:t>
            </a:r>
          </a:p>
          <a:p>
            <a:pPr>
              <a:spcAft>
                <a:spcPts val="1000"/>
              </a:spcAft>
              <a:defRPr sz="1800">
                <a:solidFill>
                  <a:srgbClr val="333333"/>
                </a:solidFill>
              </a:defRPr>
            </a:pPr>
            <a:r>
              <a:t>| Requirement ID | Requirement Statement | Allocated Function(s) | Verification Method |</a:t>
            </a:r>
          </a:p>
          <a:p>
            <a:pPr>
              <a:spcAft>
                <a:spcPts val="1000"/>
              </a:spcAft>
              <a:defRPr sz="1800">
                <a:solidFill>
                  <a:srgbClr val="333333"/>
                </a:solidFill>
              </a:defRPr>
            </a:pPr>
            <a:r>
              <a:t>|----------------|----------------------|----------------------|---------------------|</a:t>
            </a:r>
          </a:p>
          <a:p>
            <a:pPr>
              <a:spcAft>
                <a:spcPts val="1000"/>
              </a:spcAft>
              <a:defRPr sz="1800">
                <a:solidFill>
                  <a:srgbClr val="333333"/>
                </a:solidFill>
              </a:defRPr>
            </a:pPr>
            <a:r>
              <a:t>| REQ-LKA-001 | System shall detect lane departure | F2.2.1: Detect Lane Markings&lt;br&gt;F2.2.3: Calculate Lateral Offset | Test (camera test rig) |</a:t>
            </a:r>
          </a:p>
          <a:p>
            <a:pPr>
              <a:spcAft>
                <a:spcPts val="1000"/>
              </a:spcAft>
              <a:defRPr sz="1800">
                <a:solidFill>
                  <a:srgbClr val="333333"/>
                </a:solidFill>
              </a:defRPr>
            </a:pPr>
            <a:r>
              <a:t>| REQ-LKA-002 | System shall operate at 60-180 km/h | F1.5.1: Verify Activation Conditions | Test (vehicle speed sweep) |</a:t>
            </a:r>
          </a:p>
          <a:p>
            <a:pPr>
              <a:spcAft>
                <a:spcPts val="1000"/>
              </a:spcAft>
              <a:defRPr sz="1800">
                <a:solidFill>
                  <a:srgbClr val="333333"/>
                </a:solidFill>
              </a:defRPr>
            </a:pPr>
            <a:r>
              <a:t>| REQ-LKA-003 | System shall apply steering correction within 100ms of detecting departure | F1.2: Determine Position&lt;br&gt;F1.3: Decide Steering&lt;br&gt;F1.4: Execute Steering | Test (timing analysis) |</a:t>
            </a:r>
          </a:p>
          <a:p>
            <a:pPr>
              <a:spcAft>
                <a:spcPts val="1000"/>
              </a:spcAft>
              <a:defRPr sz="1800">
                <a:solidFill>
                  <a:srgbClr val="333333"/>
                </a:solidFill>
              </a:defRPr>
            </a:pPr>
            <a:r>
              <a:t>| REQ-LKA-015 | Detection to correction latency ≤100ms | F2.2.1 + F2.2.3 + F1.3.1 + F1.4.1 | Analysis (WCET) |</a:t>
            </a:r>
          </a:p>
          <a:p>
            <a:pPr>
              <a:spcAft>
                <a:spcPts val="1000"/>
              </a:spcAft>
              <a:defRPr sz="1800">
                <a:solidFill>
                  <a:srgbClr val="333333"/>
                </a:solidFill>
              </a:defRPr>
            </a:pPr>
            <a:r>
              <a:t>| REQ-LKA-022 | False positive rate &lt;1% | F2.2.1: Detect Lane Markings&lt;br&gt;F2.2.5: Validate Detection | Test (statistical testing) |</a:t>
            </a:r>
          </a:p>
          <a:p>
            <a:pPr>
              <a:spcAft>
                <a:spcPts val="1000"/>
              </a:spcAft>
              <a:defRPr sz="1800">
                <a:solidFill>
                  <a:srgbClr val="333333"/>
                </a:solidFill>
              </a:defRPr>
            </a:pPr>
            <a:r>
              <a:t>| NFR-LKA-001 | Control loop rate ≥20 Hz | FFBD-LKA-OPS (entire loop) | Analysis (timing) |</a:t>
            </a:r>
          </a:p>
          <a:p>
            <a:pPr>
              <a:spcAft>
                <a:spcPts val="1000"/>
              </a:spcAft>
              <a:defRPr sz="1800">
                <a:solidFill>
                  <a:srgbClr val="333333"/>
                </a:solidFill>
              </a:defRPr>
            </a:pPr>
            <a:r>
              <a:t>| NFR-LKA-SAFE-001 | Deactivate within 200ms upon failure | F1.5.2: Detect Failure&lt;br&gt;F1.5.3: Transition to Safe State | Test (fault injection) |</a:t>
            </a:r>
          </a:p>
          <a:p>
            <a:pPr>
              <a:spcAft>
                <a:spcPts val="1000"/>
              </a:spcAft>
              <a:defRPr sz="1800">
                <a:solidFill>
                  <a:srgbClr val="333333"/>
                </a:solidFill>
              </a:defRPr>
            </a:pPr>
            <a:r>
              <a:t>Allocation ensures:</a:t>
            </a:r>
          </a:p>
          <a:p>
            <a:pPr>
              <a:spcAft>
                <a:spcPts val="600"/>
              </a:spcAft>
              <a:defRPr sz="1800">
                <a:solidFill>
                  <a:srgbClr val="333333"/>
                </a:solidFill>
              </a:defRPr>
            </a:pPr>
            <a:r>
              <a:t>Completeness: Every requirement is implemented by at least one function</a:t>
            </a:r>
          </a:p>
          <a:p>
            <a:pPr>
              <a:spcAft>
                <a:spcPts val="600"/>
              </a:spcAft>
              <a:defRPr sz="1800">
                <a:solidFill>
                  <a:srgbClr val="333333"/>
                </a:solidFill>
              </a:defRPr>
            </a:pPr>
            <a:r>
              <a:t>Orphan requirement (no function) = gap in functional design</a:t>
            </a:r>
          </a:p>
          <a:p>
            <a:pPr>
              <a:spcAft>
                <a:spcPts val="600"/>
              </a:spcAft>
              <a:defRPr sz="1800">
                <a:solidFill>
                  <a:srgbClr val="333333"/>
                </a:solidFill>
              </a:defRPr>
            </a:pPr>
            <a:r>
              <a:t>Traceability: Bidirectional links</a:t>
            </a:r>
          </a:p>
          <a:p>
            <a:pPr>
              <a:spcAft>
                <a:spcPts val="600"/>
              </a:spcAft>
              <a:defRPr sz="1800">
                <a:solidFill>
                  <a:srgbClr val="333333"/>
                </a:solidFill>
              </a:defRPr>
            </a:pPr>
            <a:r>
              <a:t>Requirement → Function (forward)</a:t>
            </a:r>
          </a:p>
          <a:p>
            <a:pPr>
              <a:spcAft>
                <a:spcPts val="600"/>
              </a:spcAft>
              <a:defRPr sz="1800">
                <a:solidFill>
                  <a:srgbClr val="333333"/>
                </a:solidFill>
              </a:defRPr>
            </a:pPr>
            <a:r>
              <a:t>Function → Requirement (backward - why does this function exist?)</a:t>
            </a:r>
          </a:p>
          <a:p>
            <a:pPr>
              <a:spcAft>
                <a:spcPts val="600"/>
              </a:spcAft>
              <a:defRPr sz="1800">
                <a:solidFill>
                  <a:srgbClr val="333333"/>
                </a:solidFill>
              </a:defRPr>
            </a:pPr>
            <a:r>
              <a:t>Verification planning: Each requirement-function pair indicates how to verify</a:t>
            </a:r>
          </a:p>
          <a:p>
            <a:pPr>
              <a:spcAft>
                <a:spcPts val="600"/>
              </a:spcAft>
              <a:defRPr sz="1800">
                <a:solidFill>
                  <a:srgbClr val="333333"/>
                </a:solidFill>
              </a:defRPr>
            </a:pPr>
            <a:r>
              <a:t>REQ-LKA-001 + F2.2.1 → Test with camera images, measure detection accuracy</a:t>
            </a:r>
          </a:p>
          <a:p>
            <a:pPr>
              <a:spcAft>
                <a:spcPts val="600"/>
              </a:spcAft>
              <a:defRPr sz="1800">
                <a:solidFill>
                  <a:srgbClr val="333333"/>
                </a:solidFill>
              </a:defRPr>
            </a:pPr>
            <a:r>
              <a:t>Change impact: If requirement changes, know which functions affected</a:t>
            </a:r>
          </a:p>
          <a:p>
            <a:pPr>
              <a:spcAft>
                <a:spcPts val="600"/>
              </a:spcAft>
              <a:defRPr sz="1800">
                <a:solidFill>
                  <a:srgbClr val="333333"/>
                </a:solidFill>
              </a:defRPr>
            </a:pPr>
            <a:r>
              <a:t>Change REQ-LKA-015 from 100ms to 50ms → impacts F2.2.1, F1.3.1, F1.4.1 timing</a:t>
            </a:r>
          </a:p>
          <a:p>
            <a:pPr>
              <a:spcAft>
                <a:spcPts val="1000"/>
              </a:spcAft>
              <a:defRPr sz="1800">
                <a:solidFill>
                  <a:srgbClr val="333333"/>
                </a:solidFill>
              </a:defRPr>
            </a:pPr>
            <a:r>
              <a:t>Allocation types:</a:t>
            </a:r>
          </a:p>
          <a:p>
            <a:pPr>
              <a:spcAft>
                <a:spcPts val="600"/>
              </a:spcAft>
              <a:defRPr sz="1800">
                <a:solidFill>
                  <a:srgbClr val="333333"/>
                </a:solidFill>
              </a:defRPr>
            </a:pPr>
            <a:r>
              <a:t>1:1 — One requirement → one function (simple)</a:t>
            </a:r>
          </a:p>
          <a:p>
            <a:pPr>
              <a:spcAft>
                <a:spcPts val="600"/>
              </a:spcAft>
              <a:defRPr sz="1800">
                <a:solidFill>
                  <a:srgbClr val="333333"/>
                </a:solidFill>
              </a:defRPr>
            </a:pPr>
            <a:r>
              <a:t>1:N — One requirement → multiple functions (requirement decomposed across functions)</a:t>
            </a:r>
          </a:p>
          <a:p>
            <a:pPr>
              <a:spcAft>
                <a:spcPts val="600"/>
              </a:spcAft>
              <a:defRPr sz="1800">
                <a:solidFill>
                  <a:srgbClr val="333333"/>
                </a:solidFill>
              </a:defRPr>
            </a:pPr>
            <a:r>
              <a:t>N:1 — Multiple requirements → one function (function satisfies multiple needs)</a:t>
            </a:r>
          </a:p>
          <a:p>
            <a:pPr>
              <a:spcAft>
                <a:spcPts val="1000"/>
              </a:spcAft>
              <a:defRPr sz="1800">
                <a:solidFill>
                  <a:srgbClr val="333333"/>
                </a:solidFill>
              </a:defRPr>
            </a:pPr>
            <a:r>
              <a:t>Example of 1:N allocation:</a:t>
            </a:r>
          </a:p>
          <a:p>
            <a:pPr>
              <a:spcAft>
                <a:spcPts val="600"/>
              </a:spcAft>
              <a:defRPr sz="1800">
                <a:solidFill>
                  <a:srgbClr val="333333"/>
                </a:solidFill>
              </a:defRPr>
            </a:pPr>
            <a:r>
              <a:t>REQ-LKA-003 'apply correction within 100ms' allocates to:</a:t>
            </a:r>
          </a:p>
          <a:p>
            <a:pPr>
              <a:spcAft>
                <a:spcPts val="600"/>
              </a:spcAft>
              <a:defRPr sz="1800">
                <a:solidFill>
                  <a:srgbClr val="333333"/>
                </a:solidFill>
              </a:defRPr>
            </a:pPr>
            <a:r>
              <a:t>F1.2 (must complete position determination in ≤40ms)</a:t>
            </a:r>
          </a:p>
          <a:p>
            <a:pPr>
              <a:spcAft>
                <a:spcPts val="600"/>
              </a:spcAft>
              <a:defRPr sz="1800">
                <a:solidFill>
                  <a:srgbClr val="333333"/>
                </a:solidFill>
              </a:defRPr>
            </a:pPr>
            <a:r>
              <a:t>F1.3 (must complete steering decision in ≤30ms)</a:t>
            </a:r>
          </a:p>
          <a:p>
            <a:pPr>
              <a:spcAft>
                <a:spcPts val="600"/>
              </a:spcAft>
              <a:defRPr sz="1800">
                <a:solidFill>
                  <a:srgbClr val="333333"/>
                </a:solidFill>
              </a:defRPr>
            </a:pPr>
            <a:r>
              <a:t>F1.4 (must complete actuation command in ≤30ms)</a:t>
            </a:r>
          </a:p>
          <a:p>
            <a:pPr>
              <a:spcAft>
                <a:spcPts val="600"/>
              </a:spcAft>
              <a:defRPr sz="1800">
                <a:solidFill>
                  <a:srgbClr val="333333"/>
                </a:solidFill>
              </a:defRPr>
            </a:pPr>
            <a:r>
              <a:t>Total budget: 40+30+30 = 100ms (meets requirement)</a:t>
            </a:r>
          </a:p>
          <a:p>
            <a:pPr>
              <a:spcAft>
                <a:spcPts val="1000"/>
              </a:spcAft>
              <a:defRPr sz="1800">
                <a:solidFill>
                  <a:srgbClr val="333333"/>
                </a:solidFill>
              </a:defRPr>
            </a:pPr>
            <a:r>
              <a:t>This is derived requirements — allocating parent requirement creates child requirements for each function.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Timeline Analysis - Validating Temporal Feasibility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Timeline analysis validates that functional flows can execute within timing requirements.</a:t>
            </a:r>
          </a:p>
          <a:p>
            <a:pPr>
              <a:spcAft>
                <a:spcPts val="1000"/>
              </a:spcAft>
              <a:defRPr sz="1800">
                <a:solidFill>
                  <a:srgbClr val="333333"/>
                </a:solidFill>
              </a:defRPr>
            </a:pPr>
            <a:r>
              <a:t>Timeline Diagram for FFBD-LKA-OPS (one control cycle):</a:t>
            </a:r>
          </a:p>
          <a:p>
            <a:pPr>
              <a:defRPr sz="1400">
                <a:solidFill>
                  <a:srgbClr val="787878"/>
                </a:solidFill>
                <a:latin typeface="Consolas"/>
              </a:defRPr>
            </a:pPr>
            <a:r>
              <a:t>Time (ms): 0    10   20   30   40   50</a:t>
            </a:r>
            <a:br/>
            <a:r>
              <a:t>|----|----|----|----|----|</a:t>
            </a:r>
            <a:br/>
            <a:r>
              <a:t>F1.1: Acquire     [####]</a:t>
            </a:r>
            <a:br/>
            <a:r>
              <a:t>Camera Frame</a:t>
            </a:r>
            <a:br/>
            <a:r>
              <a:t>F2.2.1: Detect         [##########]</a:t>
            </a:r>
            <a:br/>
            <a:r>
              <a:t>Lane Markings</a:t>
            </a:r>
            <a:br/>
            <a:r>
              <a:t>F2.2.3: Calculate                [##]</a:t>
            </a:r>
            <a:br/>
            <a:r>
              <a:t>Lateral Offset</a:t>
            </a:r>
            <a:br/>
            <a:r>
              <a:t>F1.3.1: Compute                    [####]</a:t>
            </a:r>
            <a:br/>
            <a:r>
              <a:t>Steering Torque</a:t>
            </a:r>
            <a:br/>
            <a:r>
              <a:t>F1.4.1: Send                           [#]</a:t>
            </a:r>
            <a:br/>
            <a:r>
              <a:t>Steering Command</a:t>
            </a:r>
            <a:br/>
            <a:r>
              <a:t>Total Cycle Time: 50ms (meets 20 Hz requirement)</a:t>
            </a:r>
          </a:p>
          <a:p>
            <a:pPr>
              <a:spcAft>
                <a:spcPts val="1000"/>
              </a:spcAft>
              <a:defRPr sz="1800">
                <a:solidFill>
                  <a:srgbClr val="333333"/>
                </a:solidFill>
              </a:defRPr>
            </a:pPr>
            <a:r>
              <a:t>Timeline analysis reveals:</a:t>
            </a:r>
          </a:p>
          <a:p>
            <a:pPr>
              <a:spcAft>
                <a:spcPts val="600"/>
              </a:spcAft>
              <a:defRPr sz="1800">
                <a:solidFill>
                  <a:srgbClr val="333333"/>
                </a:solidFill>
              </a:defRPr>
            </a:pPr>
            <a:r>
              <a:t>Critical path: F1.1 → F2.2.1 → F2.2.3 → F1.3.1 → F1.4.1 (50ms total)</a:t>
            </a:r>
          </a:p>
          <a:p>
            <a:pPr>
              <a:spcAft>
                <a:spcPts val="600"/>
              </a:spcAft>
              <a:defRPr sz="1800">
                <a:solidFill>
                  <a:srgbClr val="333333"/>
                </a:solidFill>
              </a:defRPr>
            </a:pPr>
            <a:r>
              <a:t>Longest sequential path through FFBD</a:t>
            </a:r>
          </a:p>
          <a:p>
            <a:pPr>
              <a:spcAft>
                <a:spcPts val="600"/>
              </a:spcAft>
              <a:defRPr sz="1800">
                <a:solidFill>
                  <a:srgbClr val="333333"/>
                </a:solidFill>
              </a:defRPr>
            </a:pPr>
            <a:r>
              <a:t>Determines minimum cycle time</a:t>
            </a:r>
          </a:p>
          <a:p>
            <a:pPr>
              <a:spcAft>
                <a:spcPts val="600"/>
              </a:spcAft>
              <a:defRPr sz="1800">
                <a:solidFill>
                  <a:srgbClr val="333333"/>
                </a:solidFill>
              </a:defRPr>
            </a:pPr>
            <a:r>
              <a:t>Slack time: Time available beyond critical path</a:t>
            </a:r>
          </a:p>
          <a:p>
            <a:pPr>
              <a:spcAft>
                <a:spcPts val="600"/>
              </a:spcAft>
              <a:defRPr sz="1800">
                <a:solidFill>
                  <a:srgbClr val="333333"/>
                </a:solidFill>
              </a:defRPr>
            </a:pPr>
            <a:r>
              <a:t>Total budget: 50ms (for 20 Hz)</a:t>
            </a:r>
          </a:p>
          <a:p>
            <a:pPr>
              <a:spcAft>
                <a:spcPts val="600"/>
              </a:spcAft>
              <a:defRPr sz="1800">
                <a:solidFill>
                  <a:srgbClr val="333333"/>
                </a:solidFill>
              </a:defRPr>
            </a:pPr>
            <a:r>
              <a:t>Critical path: 47ms</a:t>
            </a:r>
          </a:p>
          <a:p>
            <a:pPr>
              <a:spcAft>
                <a:spcPts val="600"/>
              </a:spcAft>
              <a:defRPr sz="1800">
                <a:solidFill>
                  <a:srgbClr val="333333"/>
                </a:solidFill>
              </a:defRPr>
            </a:pPr>
            <a:r>
              <a:t>Slack: 3ms (6% margin)</a:t>
            </a:r>
          </a:p>
          <a:p>
            <a:pPr>
              <a:spcAft>
                <a:spcPts val="600"/>
              </a:spcAft>
              <a:defRPr sz="1800">
                <a:solidFill>
                  <a:srgbClr val="333333"/>
                </a:solidFill>
              </a:defRPr>
            </a:pPr>
            <a:r>
              <a:t>Risk: Low slack = timing fragile, any delay causes violation</a:t>
            </a:r>
          </a:p>
          <a:p>
            <a:pPr>
              <a:spcAft>
                <a:spcPts val="600"/>
              </a:spcAft>
              <a:defRPr sz="1800">
                <a:solidFill>
                  <a:srgbClr val="333333"/>
                </a:solidFill>
              </a:defRPr>
            </a:pPr>
            <a:r>
              <a:t>Parallelization opportunities:</a:t>
            </a:r>
          </a:p>
          <a:p>
            <a:pPr>
              <a:spcAft>
                <a:spcPts val="600"/>
              </a:spcAft>
              <a:defRPr sz="1800">
                <a:solidFill>
                  <a:srgbClr val="333333"/>
                </a:solidFill>
              </a:defRPr>
            </a:pPr>
            <a:r>
              <a:t>If F1.5 (Monitor Health) takes 15ms, running it serially would exceed 50ms</a:t>
            </a:r>
          </a:p>
          <a:p>
            <a:pPr>
              <a:spcAft>
                <a:spcPts val="600"/>
              </a:spcAft>
              <a:defRPr sz="1800">
                <a:solidFill>
                  <a:srgbClr val="333333"/>
                </a:solidFill>
              </a:defRPr>
            </a:pPr>
            <a:r>
              <a:t>Solution: Run F1.5 in parallel with F2.2.1 (both read-only operations)</a:t>
            </a:r>
          </a:p>
          <a:p>
            <a:pPr>
              <a:spcAft>
                <a:spcPts val="600"/>
              </a:spcAft>
              <a:defRPr sz="1800">
                <a:solidFill>
                  <a:srgbClr val="333333"/>
                </a:solidFill>
              </a:defRPr>
            </a:pPr>
            <a:r>
              <a:t>Worst-case execution time (WCET):</a:t>
            </a:r>
          </a:p>
          <a:p>
            <a:pPr>
              <a:spcAft>
                <a:spcPts val="600"/>
              </a:spcAft>
              <a:defRPr sz="1800">
                <a:solidFill>
                  <a:srgbClr val="333333"/>
                </a:solidFill>
              </a:defRPr>
            </a:pPr>
            <a:r>
              <a:t>Timeline shows nominal times — Must analyze worst-case (complex scene, maximum compute)</a:t>
            </a:r>
          </a:p>
          <a:p>
            <a:pPr>
              <a:spcAft>
                <a:spcPts val="600"/>
              </a:spcAft>
              <a:defRPr sz="1800">
                <a:solidFill>
                  <a:srgbClr val="333333"/>
                </a:solidFill>
              </a:defRPr>
            </a:pPr>
            <a:r>
              <a:t>Example: F2.2.1 nominal 18ms, worst-case 25ms</a:t>
            </a:r>
          </a:p>
          <a:p>
            <a:pPr>
              <a:spcAft>
                <a:spcPts val="600"/>
              </a:spcAft>
              <a:defRPr sz="1800">
                <a:solidFill>
                  <a:srgbClr val="333333"/>
                </a:solidFill>
              </a:defRPr>
            </a:pPr>
            <a:r>
              <a:t>Worst-case total: 54ms → VIOLATES 50ms requirement — Solution: Optimize algorithm OR relax requirement OR add faster processor</a:t>
            </a:r>
          </a:p>
          <a:p>
            <a:pPr>
              <a:spcAft>
                <a:spcPts val="1000"/>
              </a:spcAft>
              <a:defRPr sz="1800">
                <a:solidFill>
                  <a:srgbClr val="333333"/>
                </a:solidFill>
              </a:defRPr>
            </a:pPr>
            <a:r>
              <a:t>Timing requirement decomposition example:</a:t>
            </a:r>
          </a:p>
          <a:p>
            <a:pPr>
              <a:spcAft>
                <a:spcPts val="1000"/>
              </a:spcAft>
              <a:defRPr sz="1800">
                <a:solidFill>
                  <a:srgbClr val="333333"/>
                </a:solidFill>
              </a:defRPr>
            </a:pPr>
            <a:r>
              <a:t>System requirement: REQ-LKA-015: 'Detection to correction latency ≤100ms'</a:t>
            </a:r>
          </a:p>
          <a:p>
            <a:pPr>
              <a:spcAft>
                <a:spcPts val="1000"/>
              </a:spcAft>
              <a:defRPr sz="1800">
                <a:solidFill>
                  <a:srgbClr val="333333"/>
                </a:solidFill>
              </a:defRPr>
            </a:pPr>
            <a:r>
              <a:t>Timeline allocation:</a:t>
            </a:r>
          </a:p>
          <a:p>
            <a:pPr>
              <a:spcAft>
                <a:spcPts val="600"/>
              </a:spcAft>
              <a:defRPr sz="1800">
                <a:solidFill>
                  <a:srgbClr val="333333"/>
                </a:solidFill>
              </a:defRPr>
            </a:pPr>
            <a:r>
              <a:t>Detection (F2.2.1): allocated ≤40ms</a:t>
            </a:r>
          </a:p>
          <a:p>
            <a:pPr>
              <a:spcAft>
                <a:spcPts val="600"/>
              </a:spcAft>
              <a:defRPr sz="1800">
                <a:solidFill>
                  <a:srgbClr val="333333"/>
                </a:solidFill>
              </a:defRPr>
            </a:pPr>
            <a:r>
              <a:t>Processing (F2.2.3): allocated ≤20ms</a:t>
            </a:r>
          </a:p>
          <a:p>
            <a:pPr>
              <a:spcAft>
                <a:spcPts val="600"/>
              </a:spcAft>
              <a:defRPr sz="1800">
                <a:solidFill>
                  <a:srgbClr val="333333"/>
                </a:solidFill>
              </a:defRPr>
            </a:pPr>
            <a:r>
              <a:t>Decision (F1.3.1): allocated ≤25ms</a:t>
            </a:r>
          </a:p>
          <a:p>
            <a:pPr>
              <a:spcAft>
                <a:spcPts val="600"/>
              </a:spcAft>
              <a:defRPr sz="1800">
                <a:solidFill>
                  <a:srgbClr val="333333"/>
                </a:solidFill>
              </a:defRPr>
            </a:pPr>
            <a:r>
              <a:t>Actuation (F1.4.1): allocated ≤10ms</a:t>
            </a:r>
          </a:p>
          <a:p>
            <a:pPr>
              <a:spcAft>
                <a:spcPts val="600"/>
              </a:spcAft>
              <a:defRPr sz="1800">
                <a:solidFill>
                  <a:srgbClr val="333333"/>
                </a:solidFill>
              </a:defRPr>
            </a:pPr>
            <a:r>
              <a:t>Total: 95ms (5ms margin)</a:t>
            </a:r>
          </a:p>
          <a:p>
            <a:pPr>
              <a:spcAft>
                <a:spcPts val="1000"/>
              </a:spcAft>
              <a:defRPr sz="1800">
                <a:solidFill>
                  <a:srgbClr val="333333"/>
                </a:solidFill>
              </a:defRPr>
            </a:pPr>
            <a:r>
              <a:t>Derived requirements (allocated to functions):</a:t>
            </a:r>
          </a:p>
          <a:p>
            <a:pPr>
              <a:spcAft>
                <a:spcPts val="600"/>
              </a:spcAft>
              <a:defRPr sz="1800">
                <a:solidFill>
                  <a:srgbClr val="333333"/>
                </a:solidFill>
              </a:defRPr>
            </a:pPr>
            <a:r>
              <a:t>REQ-LKA-015.1: 'F2.2.1 shall detect lane markings with WCET ≤40ms'</a:t>
            </a:r>
          </a:p>
          <a:p>
            <a:pPr>
              <a:spcAft>
                <a:spcPts val="600"/>
              </a:spcAft>
              <a:defRPr sz="1800">
                <a:solidFill>
                  <a:srgbClr val="333333"/>
                </a:solidFill>
              </a:defRPr>
            </a:pPr>
            <a:r>
              <a:t>REQ-LKA-015.2: 'F2.2.3 shall calculate offset with WCET ≤20ms'</a:t>
            </a:r>
          </a:p>
          <a:p>
            <a:pPr>
              <a:spcAft>
                <a:spcPts val="600"/>
              </a:spcAft>
              <a:defRPr sz="1800">
                <a:solidFill>
                  <a:srgbClr val="333333"/>
                </a:solidFill>
              </a:defRPr>
            </a:pPr>
            <a:r>
              <a:t>etc.</a:t>
            </a:r>
          </a:p>
          <a:p>
            <a:pPr>
              <a:spcAft>
                <a:spcPts val="1000"/>
              </a:spcAft>
              <a:defRPr sz="1800">
                <a:solidFill>
                  <a:srgbClr val="333333"/>
                </a:solidFill>
              </a:defRPr>
            </a:pPr>
            <a:r>
              <a:t>Tools for timeline analysis:</a:t>
            </a:r>
          </a:p>
          <a:p>
            <a:pPr>
              <a:spcAft>
                <a:spcPts val="600"/>
              </a:spcAft>
              <a:defRPr sz="1800">
                <a:solidFill>
                  <a:srgbClr val="333333"/>
                </a:solidFill>
              </a:defRPr>
            </a:pPr>
            <a:r>
              <a:t>Spreadsheet (simple systems)</a:t>
            </a:r>
          </a:p>
          <a:p>
            <a:pPr>
              <a:spcAft>
                <a:spcPts val="600"/>
              </a:spcAft>
              <a:defRPr sz="1800">
                <a:solidFill>
                  <a:srgbClr val="333333"/>
                </a:solidFill>
              </a:defRPr>
            </a:pPr>
            <a:r>
              <a:t>Timing analysis tools (MATLAB/Simulink, TargetLink)</a:t>
            </a:r>
          </a:p>
          <a:p>
            <a:pPr>
              <a:spcAft>
                <a:spcPts val="600"/>
              </a:spcAft>
              <a:defRPr sz="1800">
                <a:solidFill>
                  <a:srgbClr val="333333"/>
                </a:solidFill>
              </a:defRPr>
            </a:pPr>
            <a:r>
              <a:t>RTOS analysis tools (measure actual execution times)</a:t>
            </a:r>
          </a:p>
          <a:p>
            <a:pPr>
              <a:spcAft>
                <a:spcPts val="600"/>
              </a:spcAft>
              <a:defRPr sz="1800">
                <a:solidFill>
                  <a:srgbClr val="333333"/>
                </a:solidFill>
              </a:defRPr>
            </a:pPr>
            <a:r>
              <a:t>Model checking tools (formal verification of timing)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Functional Analysis Integration - Bringing It All Together</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see how all the pieces of functional analysis integrate into a complete workflow.</a:t>
            </a:r>
          </a:p>
          <a:p>
            <a:pPr>
              <a:spcAft>
                <a:spcPts val="1000"/>
              </a:spcAft>
              <a:defRPr sz="1800">
                <a:solidFill>
                  <a:srgbClr val="333333"/>
                </a:solidFill>
              </a:defRPr>
            </a:pPr>
            <a:r>
              <a:t>Integrated Functional Analysis Process:</a:t>
            </a:r>
          </a:p>
          <a:p>
            <a:pPr>
              <a:spcAft>
                <a:spcPts val="1000"/>
              </a:spcAft>
              <a:defRPr sz="1800">
                <a:solidFill>
                  <a:srgbClr val="333333"/>
                </a:solidFill>
              </a:defRPr>
            </a:pPr>
            <a:r>
              <a:t>Step 1: Operational Scenarios (Part 1)</a:t>
            </a:r>
          </a:p>
          <a:p>
            <a:pPr>
              <a:spcAft>
                <a:spcPts val="600"/>
              </a:spcAft>
              <a:defRPr sz="1800">
                <a:solidFill>
                  <a:srgbClr val="333333"/>
                </a:solidFill>
              </a:defRPr>
            </a:pPr>
            <a:r>
              <a:t>Define how system is used: OPS-LKA-001 through OPS-LKA-008</a:t>
            </a:r>
          </a:p>
          <a:p>
            <a:pPr>
              <a:spcAft>
                <a:spcPts val="600"/>
              </a:spcAft>
              <a:defRPr sz="1800">
                <a:solidFill>
                  <a:srgbClr val="333333"/>
                </a:solidFill>
              </a:defRPr>
            </a:pPr>
            <a:r>
              <a:t>Capture all operational modes, environments, failure cases</a:t>
            </a:r>
          </a:p>
          <a:p>
            <a:pPr>
              <a:spcAft>
                <a:spcPts val="600"/>
              </a:spcAft>
              <a:defRPr sz="1800">
                <a:solidFill>
                  <a:srgbClr val="333333"/>
                </a:solidFill>
              </a:defRPr>
            </a:pPr>
            <a:r>
              <a:t>Output: Operational scenario set</a:t>
            </a:r>
          </a:p>
          <a:p>
            <a:pPr>
              <a:spcAft>
                <a:spcPts val="1000"/>
              </a:spcAft>
              <a:defRPr sz="1800">
                <a:solidFill>
                  <a:srgbClr val="333333"/>
                </a:solidFill>
              </a:defRPr>
            </a:pPr>
            <a:r>
              <a:t>Step 2: Capability Gap Analysis (Part 2)</a:t>
            </a:r>
          </a:p>
          <a:p>
            <a:pPr>
              <a:spcAft>
                <a:spcPts val="600"/>
              </a:spcAft>
              <a:defRPr sz="1800">
                <a:solidFill>
                  <a:srgbClr val="333333"/>
                </a:solidFill>
              </a:defRPr>
            </a:pPr>
            <a:r>
              <a:t>Identify required capabilities from scenarios</a:t>
            </a:r>
          </a:p>
          <a:p>
            <a:pPr>
              <a:spcAft>
                <a:spcPts val="600"/>
              </a:spcAft>
              <a:defRPr sz="1800">
                <a:solidFill>
                  <a:srgbClr val="333333"/>
                </a:solidFill>
              </a:defRPr>
            </a:pPr>
            <a:r>
              <a:t>Compare to baseline/existing capabilities</a:t>
            </a:r>
          </a:p>
          <a:p>
            <a:pPr>
              <a:spcAft>
                <a:spcPts val="600"/>
              </a:spcAft>
              <a:defRPr sz="1800">
                <a:solidFill>
                  <a:srgbClr val="333333"/>
                </a:solidFill>
              </a:defRPr>
            </a:pPr>
            <a:r>
              <a:t>Output: Capability gaps → functional requirements</a:t>
            </a:r>
          </a:p>
          <a:p>
            <a:pPr>
              <a:spcAft>
                <a:spcPts val="1000"/>
              </a:spcAft>
              <a:defRPr sz="1800">
                <a:solidFill>
                  <a:srgbClr val="333333"/>
                </a:solidFill>
              </a:defRPr>
            </a:pPr>
            <a:r>
              <a:t>Step 3: Functional Decomposition (Part 3)</a:t>
            </a:r>
          </a:p>
          <a:p>
            <a:pPr>
              <a:spcAft>
                <a:spcPts val="600"/>
              </a:spcAft>
              <a:defRPr sz="1800">
                <a:solidFill>
                  <a:srgbClr val="333333"/>
                </a:solidFill>
              </a:defRPr>
            </a:pPr>
            <a:r>
              <a:t>Decompose system-level function into sub-functions</a:t>
            </a:r>
          </a:p>
          <a:p>
            <a:pPr>
              <a:spcAft>
                <a:spcPts val="600"/>
              </a:spcAft>
              <a:defRPr sz="1800">
                <a:solidFill>
                  <a:srgbClr val="333333"/>
                </a:solidFill>
              </a:defRPr>
            </a:pPr>
            <a:r>
              <a:t>Create function hierarchy (3-4 levels deep)</a:t>
            </a:r>
          </a:p>
          <a:p>
            <a:pPr>
              <a:spcAft>
                <a:spcPts val="600"/>
              </a:spcAft>
              <a:defRPr sz="1800">
                <a:solidFill>
                  <a:srgbClr val="333333"/>
                </a:solidFill>
              </a:defRPr>
            </a:pPr>
            <a:r>
              <a:t>Define function interfaces (N² chart)</a:t>
            </a:r>
          </a:p>
          <a:p>
            <a:pPr>
              <a:spcAft>
                <a:spcPts val="600"/>
              </a:spcAft>
              <a:defRPr sz="1800">
                <a:solidFill>
                  <a:srgbClr val="333333"/>
                </a:solidFill>
              </a:defRPr>
            </a:pPr>
            <a:r>
              <a:t>Output: Functional architecture</a:t>
            </a:r>
          </a:p>
          <a:p>
            <a:pPr>
              <a:spcAft>
                <a:spcPts val="1000"/>
              </a:spcAft>
              <a:defRPr sz="1800">
                <a:solidFill>
                  <a:srgbClr val="333333"/>
                </a:solidFill>
              </a:defRPr>
            </a:pPr>
            <a:r>
              <a:t>Step 4: Functional Flow Modeling (Part 4)</a:t>
            </a:r>
          </a:p>
          <a:p>
            <a:pPr>
              <a:spcAft>
                <a:spcPts val="600"/>
              </a:spcAft>
              <a:defRPr sz="1800">
                <a:solidFill>
                  <a:srgbClr val="333333"/>
                </a:solidFill>
              </a:defRPr>
            </a:pPr>
            <a:r>
              <a:t>Develop FFBDs for each operational scenario</a:t>
            </a:r>
          </a:p>
          <a:p>
            <a:pPr>
              <a:spcAft>
                <a:spcPts val="600"/>
              </a:spcAft>
              <a:defRPr sz="1800">
                <a:solidFill>
                  <a:srgbClr val="333333"/>
                </a:solidFill>
              </a:defRPr>
            </a:pPr>
            <a:r>
              <a:t>Model sequential, parallel, and conditional flows</a:t>
            </a:r>
          </a:p>
          <a:p>
            <a:pPr>
              <a:spcAft>
                <a:spcPts val="600"/>
              </a:spcAft>
              <a:defRPr sz="1800">
                <a:solidFill>
                  <a:srgbClr val="333333"/>
                </a:solidFill>
              </a:defRPr>
            </a:pPr>
            <a:r>
              <a:t>Create hierarchical FFBD set</a:t>
            </a:r>
          </a:p>
          <a:p>
            <a:pPr>
              <a:spcAft>
                <a:spcPts val="600"/>
              </a:spcAft>
              <a:defRPr sz="1800">
                <a:solidFill>
                  <a:srgbClr val="333333"/>
                </a:solidFill>
              </a:defRPr>
            </a:pPr>
            <a:r>
              <a:t>Output: Complete FFBD set</a:t>
            </a:r>
          </a:p>
          <a:p>
            <a:pPr>
              <a:spcAft>
                <a:spcPts val="1000"/>
              </a:spcAft>
              <a:defRPr sz="1800">
                <a:solidFill>
                  <a:srgbClr val="333333"/>
                </a:solidFill>
              </a:defRPr>
            </a:pPr>
            <a:r>
              <a:t>Step 5: Requirements Allocation (Part 5)</a:t>
            </a:r>
          </a:p>
          <a:p>
            <a:pPr>
              <a:spcAft>
                <a:spcPts val="600"/>
              </a:spcAft>
              <a:defRPr sz="1800">
                <a:solidFill>
                  <a:srgbClr val="333333"/>
                </a:solidFill>
              </a:defRPr>
            </a:pPr>
            <a:r>
              <a:t>Map system requirements to functions</a:t>
            </a:r>
          </a:p>
          <a:p>
            <a:pPr>
              <a:spcAft>
                <a:spcPts val="600"/>
              </a:spcAft>
              <a:defRPr sz="1800">
                <a:solidFill>
                  <a:srgbClr val="333333"/>
                </a:solidFill>
              </a:defRPr>
            </a:pPr>
            <a:r>
              <a:t>Derive function-level requirements</a:t>
            </a:r>
          </a:p>
          <a:p>
            <a:pPr>
              <a:spcAft>
                <a:spcPts val="600"/>
              </a:spcAft>
              <a:defRPr sz="1800">
                <a:solidFill>
                  <a:srgbClr val="333333"/>
                </a:solidFill>
              </a:defRPr>
            </a:pPr>
            <a:r>
              <a:t>Output: Requirements Allocation Matrix (RAM)</a:t>
            </a:r>
          </a:p>
          <a:p>
            <a:pPr>
              <a:spcAft>
                <a:spcPts val="1000"/>
              </a:spcAft>
              <a:defRPr sz="1800">
                <a:solidFill>
                  <a:srgbClr val="333333"/>
                </a:solidFill>
              </a:defRPr>
            </a:pPr>
            <a:r>
              <a:t>Step 6: Timeline Analysis (Part 5)</a:t>
            </a:r>
          </a:p>
          <a:p>
            <a:pPr>
              <a:spcAft>
                <a:spcPts val="600"/>
              </a:spcAft>
              <a:defRPr sz="1800">
                <a:solidFill>
                  <a:srgbClr val="333333"/>
                </a:solidFill>
              </a:defRPr>
            </a:pPr>
            <a:r>
              <a:t>Validate timing feasibility</a:t>
            </a:r>
          </a:p>
          <a:p>
            <a:pPr>
              <a:spcAft>
                <a:spcPts val="600"/>
              </a:spcAft>
              <a:defRPr sz="1800">
                <a:solidFill>
                  <a:srgbClr val="333333"/>
                </a:solidFill>
              </a:defRPr>
            </a:pPr>
            <a:r>
              <a:t>Identify critical paths and bottlenecks</a:t>
            </a:r>
          </a:p>
          <a:p>
            <a:pPr>
              <a:spcAft>
                <a:spcPts val="600"/>
              </a:spcAft>
              <a:defRPr sz="1800">
                <a:solidFill>
                  <a:srgbClr val="333333"/>
                </a:solidFill>
              </a:defRPr>
            </a:pPr>
            <a:r>
              <a:t>Allocate timing budgets to functions</a:t>
            </a:r>
          </a:p>
          <a:p>
            <a:pPr>
              <a:spcAft>
                <a:spcPts val="600"/>
              </a:spcAft>
              <a:defRPr sz="1800">
                <a:solidFill>
                  <a:srgbClr val="333333"/>
                </a:solidFill>
              </a:defRPr>
            </a:pPr>
            <a:r>
              <a:t>Output: Validated functional timing model</a:t>
            </a:r>
          </a:p>
          <a:p>
            <a:pPr>
              <a:spcAft>
                <a:spcPts val="1000"/>
              </a:spcAft>
              <a:defRPr sz="1800">
                <a:solidFill>
                  <a:srgbClr val="333333"/>
                </a:solidFill>
              </a:defRPr>
            </a:pPr>
            <a:r>
              <a:t>Step 7: Functional to Physical Allocation (links to Session 5)</a:t>
            </a:r>
          </a:p>
          <a:p>
            <a:pPr>
              <a:spcAft>
                <a:spcPts val="600"/>
              </a:spcAft>
              <a:defRPr sz="1800">
                <a:solidFill>
                  <a:srgbClr val="333333"/>
                </a:solidFill>
              </a:defRPr>
            </a:pPr>
            <a:r>
              <a:t>Allocate functions to hardware (ECUs, sensors)</a:t>
            </a:r>
          </a:p>
          <a:p>
            <a:pPr>
              <a:spcAft>
                <a:spcPts val="600"/>
              </a:spcAft>
              <a:defRPr sz="1800">
                <a:solidFill>
                  <a:srgbClr val="333333"/>
                </a:solidFill>
              </a:defRPr>
            </a:pPr>
            <a:r>
              <a:t>Allocate functions to software (modules, tasks)</a:t>
            </a:r>
          </a:p>
          <a:p>
            <a:pPr>
              <a:spcAft>
                <a:spcPts val="600"/>
              </a:spcAft>
              <a:defRPr sz="1800">
                <a:solidFill>
                  <a:srgbClr val="333333"/>
                </a:solidFill>
              </a:defRPr>
            </a:pPr>
            <a:r>
              <a:t>Define implementation architecture</a:t>
            </a:r>
          </a:p>
          <a:p>
            <a:pPr>
              <a:spcAft>
                <a:spcPts val="600"/>
              </a:spcAft>
              <a:defRPr sz="1800">
                <a:solidFill>
                  <a:srgbClr val="333333"/>
                </a:solidFill>
              </a:defRPr>
            </a:pPr>
            <a:r>
              <a:t>Output: Physical architecture with function allocation</a:t>
            </a:r>
          </a:p>
          <a:p>
            <a:pPr>
              <a:spcAft>
                <a:spcPts val="1000"/>
              </a:spcAft>
              <a:defRPr sz="1800">
                <a:solidFill>
                  <a:srgbClr val="333333"/>
                </a:solidFill>
              </a:defRPr>
            </a:pPr>
            <a:r>
              <a:t>Traceability chain:</a:t>
            </a:r>
          </a:p>
          <a:p>
            <a:pPr>
              <a:defRPr sz="1400">
                <a:solidFill>
                  <a:srgbClr val="787878"/>
                </a:solidFill>
                <a:latin typeface="Consolas"/>
              </a:defRPr>
            </a:pPr>
            <a:r>
              <a:t>Operational Scenarios → Capabilities → Functional Requirements →</a:t>
            </a:r>
            <a:br/>
            <a:r>
              <a:t>Functions → FFBDs → Design Elements → Implementation → Tests</a:t>
            </a:r>
          </a:p>
          <a:p>
            <a:pPr>
              <a:spcAft>
                <a:spcPts val="1000"/>
              </a:spcAft>
              <a:defRPr sz="1800">
                <a:solidFill>
                  <a:srgbClr val="333333"/>
                </a:solidFill>
              </a:defRPr>
            </a:pPr>
            <a:r>
              <a:t>Deliverables from functional analysis:</a:t>
            </a:r>
          </a:p>
          <a:p>
            <a:pPr>
              <a:spcAft>
                <a:spcPts val="600"/>
              </a:spcAft>
              <a:defRPr sz="1800">
                <a:solidFill>
                  <a:srgbClr val="333333"/>
                </a:solidFill>
              </a:defRPr>
            </a:pPr>
            <a:r>
              <a:t>Operational scenario document (20-50 scenarios for automotive ADAS)</a:t>
            </a:r>
          </a:p>
          <a:p>
            <a:pPr>
              <a:spcAft>
                <a:spcPts val="600"/>
              </a:spcAft>
              <a:defRPr sz="1800">
                <a:solidFill>
                  <a:srgbClr val="333333"/>
                </a:solidFill>
              </a:defRPr>
            </a:pPr>
            <a:r>
              <a:t>Capability gap analysis report</a:t>
            </a:r>
          </a:p>
          <a:p>
            <a:pPr>
              <a:spcAft>
                <a:spcPts val="600"/>
              </a:spcAft>
              <a:defRPr sz="1800">
                <a:solidFill>
                  <a:srgbClr val="333333"/>
                </a:solidFill>
              </a:defRPr>
            </a:pPr>
            <a:r>
              <a:t>Functional architecture diagram</a:t>
            </a:r>
          </a:p>
          <a:p>
            <a:pPr>
              <a:spcAft>
                <a:spcPts val="600"/>
              </a:spcAft>
              <a:defRPr sz="1800">
                <a:solidFill>
                  <a:srgbClr val="333333"/>
                </a:solidFill>
              </a:defRPr>
            </a:pPr>
            <a:r>
              <a:t>Function hierarchy (decomposition tree)</a:t>
            </a:r>
          </a:p>
          <a:p>
            <a:pPr>
              <a:spcAft>
                <a:spcPts val="600"/>
              </a:spcAft>
              <a:defRPr sz="1800">
                <a:solidFill>
                  <a:srgbClr val="333333"/>
                </a:solidFill>
              </a:defRPr>
            </a:pPr>
            <a:r>
              <a:t>N² chart (function interfaces)</a:t>
            </a:r>
          </a:p>
          <a:p>
            <a:pPr>
              <a:spcAft>
                <a:spcPts val="600"/>
              </a:spcAft>
              <a:defRPr sz="1800">
                <a:solidFill>
                  <a:srgbClr val="333333"/>
                </a:solidFill>
              </a:defRPr>
            </a:pPr>
            <a:r>
              <a:t>FFBD set (10-20 diagrams, hierarchical)</a:t>
            </a:r>
          </a:p>
          <a:p>
            <a:pPr>
              <a:spcAft>
                <a:spcPts val="600"/>
              </a:spcAft>
              <a:defRPr sz="1800">
                <a:solidFill>
                  <a:srgbClr val="333333"/>
                </a:solidFill>
              </a:defRPr>
            </a:pPr>
            <a:r>
              <a:t>Requirements Allocation Matrix (RAM)</a:t>
            </a:r>
          </a:p>
          <a:p>
            <a:pPr>
              <a:spcAft>
                <a:spcPts val="600"/>
              </a:spcAft>
              <a:defRPr sz="1800">
                <a:solidFill>
                  <a:srgbClr val="333333"/>
                </a:solidFill>
              </a:defRPr>
            </a:pPr>
            <a:r>
              <a:t>Timeline analysis report</a:t>
            </a:r>
          </a:p>
          <a:p>
            <a:pPr>
              <a:spcAft>
                <a:spcPts val="600"/>
              </a:spcAft>
              <a:defRPr sz="1800">
                <a:solidFill>
                  <a:srgbClr val="333333"/>
                </a:solidFill>
              </a:defRPr>
            </a:pPr>
            <a:r>
              <a:t>Function-to-physical allocation matrix</a:t>
            </a:r>
          </a:p>
          <a:p>
            <a:pPr>
              <a:spcAft>
                <a:spcPts val="1000"/>
              </a:spcAft>
              <a:defRPr sz="1800">
                <a:solidFill>
                  <a:srgbClr val="333333"/>
                </a:solidFill>
              </a:defRPr>
            </a:pPr>
            <a:r>
              <a:t>In MBSE (Session 3):</a:t>
            </a:r>
          </a:p>
          <a:p>
            <a:pPr>
              <a:spcAft>
                <a:spcPts val="600"/>
              </a:spcAft>
              <a:defRPr sz="1800">
                <a:solidFill>
                  <a:srgbClr val="333333"/>
                </a:solidFill>
              </a:defRPr>
            </a:pPr>
            <a:r>
              <a:t>Operational scenarios → Use Cases (SysML)</a:t>
            </a:r>
          </a:p>
          <a:p>
            <a:pPr>
              <a:spcAft>
                <a:spcPts val="600"/>
              </a:spcAft>
              <a:defRPr sz="1800">
                <a:solidFill>
                  <a:srgbClr val="333333"/>
                </a:solidFill>
              </a:defRPr>
            </a:pPr>
            <a:r>
              <a:t>Functions → Activities (SysML Activity Diagrams)</a:t>
            </a:r>
          </a:p>
          <a:p>
            <a:pPr>
              <a:spcAft>
                <a:spcPts val="600"/>
              </a:spcAft>
              <a:defRPr sz="1800">
                <a:solidFill>
                  <a:srgbClr val="333333"/>
                </a:solidFill>
              </a:defRPr>
            </a:pPr>
            <a:r>
              <a:t>FFBDs → Activity Diagrams with control/data flows</a:t>
            </a:r>
          </a:p>
          <a:p>
            <a:pPr>
              <a:spcAft>
                <a:spcPts val="600"/>
              </a:spcAft>
              <a:defRPr sz="1800">
                <a:solidFill>
                  <a:srgbClr val="333333"/>
                </a:solidFill>
              </a:defRPr>
            </a:pPr>
            <a:r>
              <a:t>Allocation → Allocation Matrices in model</a:t>
            </a:r>
          </a:p>
          <a:p>
            <a:pPr>
              <a:spcAft>
                <a:spcPts val="600"/>
              </a:spcAft>
              <a:defRPr sz="1800">
                <a:solidFill>
                  <a:srgbClr val="333333"/>
                </a:solidFill>
              </a:defRPr>
            </a:pPr>
            <a:r>
              <a:t>Advantage: All elements linked in single model, automatic consistency checking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Key Takeaways and Best Practices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consolidate what you've learned today about operational and functional analysis.</a:t>
            </a:r>
          </a:p>
          <a:p>
            <a:pPr>
              <a:spcAft>
                <a:spcPts val="1000"/>
              </a:spcAft>
              <a:defRPr sz="1800">
                <a:solidFill>
                  <a:srgbClr val="333333"/>
                </a:solidFill>
              </a:defRPr>
            </a:pPr>
            <a:r>
              <a:t>Core Concepts:</a:t>
            </a:r>
          </a:p>
          <a:p>
            <a:pPr>
              <a:spcAft>
                <a:spcPts val="1000"/>
              </a:spcAft>
              <a:defRPr sz="1800">
                <a:solidFill>
                  <a:srgbClr val="333333"/>
                </a:solidFill>
              </a:defRPr>
            </a:pPr>
            <a:r>
              <a:t>1. Operational Scenarios — Define HOW system will be used</a:t>
            </a:r>
          </a:p>
          <a:p>
            <a:pPr>
              <a:spcAft>
                <a:spcPts val="600"/>
              </a:spcAft>
              <a:defRPr sz="1800">
                <a:solidFill>
                  <a:srgbClr val="333333"/>
                </a:solidFill>
              </a:defRPr>
            </a:pPr>
            <a:r>
              <a:t>Cover all modes, environments, failure cases</a:t>
            </a:r>
          </a:p>
          <a:p>
            <a:pPr>
              <a:spcAft>
                <a:spcPts val="600"/>
              </a:spcAft>
              <a:defRPr sz="1800">
                <a:solidFill>
                  <a:srgbClr val="333333"/>
                </a:solidFill>
              </a:defRPr>
            </a:pPr>
            <a:r>
              <a:t>Use case modeling formalizes scenarios</a:t>
            </a:r>
          </a:p>
          <a:p>
            <a:pPr>
              <a:spcAft>
                <a:spcPts val="600"/>
              </a:spcAft>
              <a:defRPr sz="1800">
                <a:solidFill>
                  <a:srgbClr val="333333"/>
                </a:solidFill>
              </a:defRPr>
            </a:pPr>
            <a:r>
              <a:t>20-50 scenarios typical for automotive ADAS</a:t>
            </a:r>
          </a:p>
          <a:p>
            <a:pPr>
              <a:spcAft>
                <a:spcPts val="1000"/>
              </a:spcAft>
              <a:defRPr sz="1800">
                <a:solidFill>
                  <a:srgbClr val="333333"/>
                </a:solidFill>
              </a:defRPr>
            </a:pPr>
            <a:r>
              <a:t>2. Capability Gap Analysis — Required capabilities (from scenarios) vs existing capabilities</a:t>
            </a:r>
          </a:p>
          <a:p>
            <a:pPr>
              <a:spcAft>
                <a:spcPts val="600"/>
              </a:spcAft>
              <a:defRPr sz="1800">
                <a:solidFill>
                  <a:srgbClr val="333333"/>
                </a:solidFill>
              </a:defRPr>
            </a:pPr>
            <a:r>
              <a:t>Gaps drive functional requirements</a:t>
            </a:r>
          </a:p>
          <a:p>
            <a:pPr>
              <a:spcAft>
                <a:spcPts val="600"/>
              </a:spcAft>
              <a:defRPr sz="1800">
                <a:solidFill>
                  <a:srgbClr val="333333"/>
                </a:solidFill>
              </a:defRPr>
            </a:pPr>
            <a:r>
              <a:t>Maturity assessment guides technology decisions</a:t>
            </a:r>
          </a:p>
          <a:p>
            <a:pPr>
              <a:spcAft>
                <a:spcPts val="1000"/>
              </a:spcAft>
              <a:defRPr sz="1800">
                <a:solidFill>
                  <a:srgbClr val="333333"/>
                </a:solidFill>
              </a:defRPr>
            </a:pPr>
            <a:r>
              <a:t>3. Functional Decomposition — Break system behavior into discrete functions</a:t>
            </a:r>
          </a:p>
          <a:p>
            <a:pPr>
              <a:spcAft>
                <a:spcPts val="600"/>
              </a:spcAft>
              <a:defRPr sz="1800">
                <a:solidFill>
                  <a:srgbClr val="333333"/>
                </a:solidFill>
              </a:defRPr>
            </a:pPr>
            <a:r>
              <a:t>3-4 levels typical (system → major → sub → detail)</a:t>
            </a:r>
          </a:p>
          <a:p>
            <a:pPr>
              <a:spcAft>
                <a:spcPts val="600"/>
              </a:spcAft>
              <a:defRPr sz="1800">
                <a:solidFill>
                  <a:srgbClr val="333333"/>
                </a:solidFill>
              </a:defRPr>
            </a:pPr>
            <a:r>
              <a:t>Functions are technology-agnostic transformations</a:t>
            </a:r>
          </a:p>
          <a:p>
            <a:pPr>
              <a:spcAft>
                <a:spcPts val="600"/>
              </a:spcAft>
              <a:defRPr sz="1800">
                <a:solidFill>
                  <a:srgbClr val="333333"/>
                </a:solidFill>
              </a:defRPr>
            </a:pPr>
            <a:r>
              <a:t>N² chart captures function interfaces</a:t>
            </a:r>
          </a:p>
          <a:p>
            <a:pPr>
              <a:spcAft>
                <a:spcPts val="1000"/>
              </a:spcAft>
              <a:defRPr sz="1800">
                <a:solidFill>
                  <a:srgbClr val="333333"/>
                </a:solidFill>
              </a:defRPr>
            </a:pPr>
            <a:r>
              <a:t>4. Functional Flow Block Diagrams (FFBD) — Add temporal dimension - WHEN functions execute</a:t>
            </a:r>
          </a:p>
          <a:p>
            <a:pPr>
              <a:spcAft>
                <a:spcPts val="600"/>
              </a:spcAft>
              <a:defRPr sz="1800">
                <a:solidFill>
                  <a:srgbClr val="333333"/>
                </a:solidFill>
              </a:defRPr>
            </a:pPr>
            <a:r>
              <a:t>Show sequence, parallelism, branching, iteration</a:t>
            </a:r>
          </a:p>
          <a:p>
            <a:pPr>
              <a:spcAft>
                <a:spcPts val="600"/>
              </a:spcAft>
              <a:defRPr sz="1800">
                <a:solidFill>
                  <a:srgbClr val="333333"/>
                </a:solidFill>
              </a:defRPr>
            </a:pPr>
            <a:r>
              <a:t>Hierarchical (scenarios → system → sub-functions)</a:t>
            </a:r>
          </a:p>
          <a:p>
            <a:pPr>
              <a:spcAft>
                <a:spcPts val="600"/>
              </a:spcAft>
              <a:defRPr sz="1800">
                <a:solidFill>
                  <a:srgbClr val="333333"/>
                </a:solidFill>
              </a:defRPr>
            </a:pPr>
            <a:r>
              <a:t>Directly maps to software design (state machines, tasks)</a:t>
            </a:r>
          </a:p>
          <a:p>
            <a:pPr>
              <a:spcAft>
                <a:spcPts val="1000"/>
              </a:spcAft>
              <a:defRPr sz="1800">
                <a:solidFill>
                  <a:srgbClr val="333333"/>
                </a:solidFill>
              </a:defRPr>
            </a:pPr>
            <a:r>
              <a:t>5. Requirements Allocation — Map system requirements → functions</a:t>
            </a:r>
          </a:p>
          <a:p>
            <a:pPr>
              <a:spcAft>
                <a:spcPts val="600"/>
              </a:spcAft>
              <a:defRPr sz="1800">
                <a:solidFill>
                  <a:srgbClr val="333333"/>
                </a:solidFill>
              </a:defRPr>
            </a:pPr>
            <a:r>
              <a:t>Derive function-level requirements</a:t>
            </a:r>
          </a:p>
          <a:p>
            <a:pPr>
              <a:spcAft>
                <a:spcPts val="600"/>
              </a:spcAft>
              <a:defRPr sz="1800">
                <a:solidFill>
                  <a:srgbClr val="333333"/>
                </a:solidFill>
              </a:defRPr>
            </a:pPr>
            <a:r>
              <a:t>Ensures complete coverage and traceability</a:t>
            </a:r>
          </a:p>
          <a:p>
            <a:pPr>
              <a:spcAft>
                <a:spcPts val="600"/>
              </a:spcAft>
              <a:defRPr sz="1800">
                <a:solidFill>
                  <a:srgbClr val="333333"/>
                </a:solidFill>
              </a:defRPr>
            </a:pPr>
            <a:r>
              <a:t>Requirements Allocation Matrix (RAM) is key deliverable</a:t>
            </a:r>
          </a:p>
          <a:p>
            <a:pPr>
              <a:spcAft>
                <a:spcPts val="1000"/>
              </a:spcAft>
              <a:defRPr sz="1800">
                <a:solidFill>
                  <a:srgbClr val="333333"/>
                </a:solidFill>
              </a:defRPr>
            </a:pPr>
            <a:r>
              <a:t>6. Timeline Analysis — Validate temporal feasibility</a:t>
            </a:r>
          </a:p>
          <a:p>
            <a:pPr>
              <a:spcAft>
                <a:spcPts val="600"/>
              </a:spcAft>
              <a:defRPr sz="1800">
                <a:solidFill>
                  <a:srgbClr val="333333"/>
                </a:solidFill>
              </a:defRPr>
            </a:pPr>
            <a:r>
              <a:t>Critical path analysis</a:t>
            </a:r>
          </a:p>
          <a:p>
            <a:pPr>
              <a:spcAft>
                <a:spcPts val="600"/>
              </a:spcAft>
              <a:defRPr sz="1800">
                <a:solidFill>
                  <a:srgbClr val="333333"/>
                </a:solidFill>
              </a:defRPr>
            </a:pPr>
            <a:r>
              <a:t>Worst-case execution time (WCET)</a:t>
            </a:r>
          </a:p>
          <a:p>
            <a:pPr>
              <a:spcAft>
                <a:spcPts val="600"/>
              </a:spcAft>
              <a:defRPr sz="1800">
                <a:solidFill>
                  <a:srgbClr val="333333"/>
                </a:solidFill>
              </a:defRPr>
            </a:pPr>
            <a:r>
              <a:t>Timing budget allocation</a:t>
            </a:r>
          </a:p>
          <a:p>
            <a:pPr>
              <a:spcAft>
                <a:spcPts val="1000"/>
              </a:spcAft>
              <a:defRPr sz="1800">
                <a:solidFill>
                  <a:srgbClr val="333333"/>
                </a:solidFill>
              </a:defRPr>
            </a:pPr>
            <a:r>
              <a:t>The Value Proposition:</a:t>
            </a:r>
          </a:p>
          <a:p>
            <a:pPr>
              <a:spcAft>
                <a:spcPts val="600"/>
              </a:spcAft>
              <a:defRPr sz="1800">
                <a:solidFill>
                  <a:srgbClr val="333333"/>
                </a:solidFill>
              </a:defRPr>
            </a:pPr>
            <a:r>
              <a:t>Completeness: Systematic scenarios ensure nothing missed</a:t>
            </a:r>
          </a:p>
          <a:p>
            <a:pPr>
              <a:spcAft>
                <a:spcPts val="600"/>
              </a:spcAft>
              <a:defRPr sz="1800">
                <a:solidFill>
                  <a:srgbClr val="333333"/>
                </a:solidFill>
              </a:defRPr>
            </a:pPr>
            <a:r>
              <a:t>Traceability: Clear chain from scenarios → functions → design → tests</a:t>
            </a:r>
          </a:p>
          <a:p>
            <a:pPr>
              <a:spcAft>
                <a:spcPts val="600"/>
              </a:spcAft>
              <a:defRPr sz="1800">
                <a:solidFill>
                  <a:srgbClr val="333333"/>
                </a:solidFill>
              </a:defRPr>
            </a:pPr>
            <a:r>
              <a:t>Communication: FFBDs communicate behavior unambiguously</a:t>
            </a:r>
          </a:p>
          <a:p>
            <a:pPr>
              <a:spcAft>
                <a:spcPts val="600"/>
              </a:spcAft>
              <a:defRPr sz="1800">
                <a:solidFill>
                  <a:srgbClr val="333333"/>
                </a:solidFill>
              </a:defRPr>
            </a:pPr>
            <a:r>
              <a:t>Early risk identification: Timeline/capability gaps found early</a:t>
            </a:r>
          </a:p>
          <a:p>
            <a:pPr>
              <a:spcAft>
                <a:spcPts val="600"/>
              </a:spcAft>
              <a:defRPr sz="1800">
                <a:solidFill>
                  <a:srgbClr val="333333"/>
                </a:solidFill>
              </a:defRPr>
            </a:pPr>
            <a:r>
              <a:t>Safety: Critical for safety-critical systems (ISO 26262 requires functional analysis)</a:t>
            </a:r>
          </a:p>
          <a:p>
            <a:pPr>
              <a:spcAft>
                <a:spcPts val="1000"/>
              </a:spcAft>
              <a:defRPr sz="1800">
                <a:solidFill>
                  <a:srgbClr val="333333"/>
                </a:solidFill>
              </a:defRPr>
            </a:pPr>
            <a:r>
              <a:t>Best Practices:</a:t>
            </a:r>
          </a:p>
          <a:p>
            <a:pPr>
              <a:spcAft>
                <a:spcPts val="1000"/>
              </a:spcAft>
              <a:defRPr sz="1800">
                <a:solidFill>
                  <a:srgbClr val="333333"/>
                </a:solidFill>
              </a:defRPr>
            </a:pPr>
            <a:r>
              <a:t>✓ Start with operational scenarios — Don't jump to functions</a:t>
            </a:r>
          </a:p>
          <a:p>
            <a:pPr>
              <a:spcAft>
                <a:spcPts val="1000"/>
              </a:spcAft>
              <a:defRPr sz="1800">
                <a:solidFill>
                  <a:srgbClr val="333333"/>
                </a:solidFill>
              </a:defRPr>
            </a:pPr>
            <a:r>
              <a:t>✓ Use multiple sources — User studies, field data, standards, failure analysis</a:t>
            </a:r>
          </a:p>
          <a:p>
            <a:pPr>
              <a:spcAft>
                <a:spcPts val="1000"/>
              </a:spcAft>
              <a:defRPr sz="1800">
                <a:solidFill>
                  <a:srgbClr val="333333"/>
                </a:solidFill>
              </a:defRPr>
            </a:pPr>
            <a:r>
              <a:t>✓ Be systematic — Matrix of modes × environments × states</a:t>
            </a:r>
          </a:p>
          <a:p>
            <a:pPr>
              <a:spcAft>
                <a:spcPts val="1000"/>
              </a:spcAft>
              <a:defRPr sz="1800">
                <a:solidFill>
                  <a:srgbClr val="333333"/>
                </a:solidFill>
              </a:defRPr>
            </a:pPr>
            <a:r>
              <a:t>✓ Include failure modes — Degraded operation scenarios are critical</a:t>
            </a:r>
          </a:p>
          <a:p>
            <a:pPr>
              <a:spcAft>
                <a:spcPts val="1000"/>
              </a:spcAft>
              <a:defRPr sz="1800">
                <a:solidFill>
                  <a:srgbClr val="333333"/>
                </a:solidFill>
              </a:defRPr>
            </a:pPr>
            <a:r>
              <a:t>✓ Iterate — Functional analysis is not one-and-done, refine as understanding grows</a:t>
            </a:r>
          </a:p>
          <a:p>
            <a:pPr>
              <a:spcAft>
                <a:spcPts val="1000"/>
              </a:spcAft>
              <a:defRPr sz="1800">
                <a:solidFill>
                  <a:srgbClr val="333333"/>
                </a:solidFill>
              </a:defRPr>
            </a:pPr>
            <a:r>
              <a:t>✓ Use standard notation — FFBD symbols, use case templates (aids communication)</a:t>
            </a:r>
          </a:p>
          <a:p>
            <a:pPr>
              <a:spcAft>
                <a:spcPts val="1000"/>
              </a:spcAft>
              <a:defRPr sz="1800">
                <a:solidFill>
                  <a:srgbClr val="333333"/>
                </a:solidFill>
              </a:defRPr>
            </a:pPr>
            <a:r>
              <a:t>✓ Maintain traceability — Every function traces to scenario and requirement</a:t>
            </a:r>
          </a:p>
          <a:p>
            <a:pPr>
              <a:spcAft>
                <a:spcPts val="1000"/>
              </a:spcAft>
              <a:defRPr sz="1800">
                <a:solidFill>
                  <a:srgbClr val="333333"/>
                </a:solidFill>
              </a:defRPr>
            </a:pPr>
            <a:r>
              <a:t>✓ Validate timing early — Don't wait for implementation to discover infeasibility</a:t>
            </a:r>
          </a:p>
          <a:p>
            <a:pPr>
              <a:spcAft>
                <a:spcPts val="1000"/>
              </a:spcAft>
              <a:defRPr sz="1800">
                <a:solidFill>
                  <a:srgbClr val="333333"/>
                </a:solidFill>
              </a:defRPr>
            </a:pPr>
            <a:r>
              <a:t>✓ Tool support — MBSE tools (Cameo, Enterprise Architect) for large systems</a:t>
            </a:r>
          </a:p>
          <a:p>
            <a:pPr>
              <a:spcAft>
                <a:spcPts val="1000"/>
              </a:spcAft>
              <a:defRPr sz="1800">
                <a:solidFill>
                  <a:srgbClr val="333333"/>
                </a:solidFill>
              </a:defRPr>
            </a:pPr>
            <a:r>
              <a:t>✓ Review with stakeholders — Scenarios and FFBDs are understandable to non-engineers</a:t>
            </a:r>
          </a:p>
          <a:p>
            <a:pPr>
              <a:spcAft>
                <a:spcPts val="1000"/>
              </a:spcAft>
              <a:defRPr sz="1800">
                <a:solidFill>
                  <a:srgbClr val="333333"/>
                </a:solidFill>
              </a:defRPr>
            </a:pPr>
            <a:r>
              <a:t>Common Pitfalls to Avoid:</a:t>
            </a:r>
          </a:p>
          <a:p>
            <a:pPr>
              <a:spcAft>
                <a:spcPts val="1000"/>
              </a:spcAft>
              <a:defRPr sz="1800">
                <a:solidFill>
                  <a:srgbClr val="333333"/>
                </a:solidFill>
              </a:defRPr>
            </a:pPr>
            <a:r>
              <a:t>❌ Skipping operational scenarios (jumping to functions based on intuition)</a:t>
            </a:r>
          </a:p>
          <a:p>
            <a:pPr>
              <a:spcAft>
                <a:spcPts val="1000"/>
              </a:spcAft>
              <a:defRPr sz="1800">
                <a:solidFill>
                  <a:srgbClr val="333333"/>
                </a:solidFill>
              </a:defRPr>
            </a:pPr>
            <a:r>
              <a:t>❌ Incomplete scenario coverage (missing edge cases)</a:t>
            </a:r>
          </a:p>
          <a:p>
            <a:pPr>
              <a:spcAft>
                <a:spcPts val="1000"/>
              </a:spcAft>
              <a:defRPr sz="1800">
                <a:solidFill>
                  <a:srgbClr val="333333"/>
                </a:solidFill>
              </a:defRPr>
            </a:pPr>
            <a:r>
              <a:t>❌ Functions that are really design solutions (implementation bias)</a:t>
            </a:r>
          </a:p>
          <a:p>
            <a:pPr>
              <a:spcAft>
                <a:spcPts val="1000"/>
              </a:spcAft>
              <a:defRPr sz="1800">
                <a:solidFill>
                  <a:srgbClr val="333333"/>
                </a:solidFill>
              </a:defRPr>
            </a:pPr>
            <a:r>
              <a:t>❌ Missing failure mode scenarios (only modeling happy path)</a:t>
            </a:r>
          </a:p>
          <a:p>
            <a:pPr>
              <a:spcAft>
                <a:spcPts val="1000"/>
              </a:spcAft>
              <a:defRPr sz="1800">
                <a:solidFill>
                  <a:srgbClr val="333333"/>
                </a:solidFill>
              </a:defRPr>
            </a:pPr>
            <a:r>
              <a:t>❌ FFBDs without timing analysis (looks good on paper, doesn't work in practice)</a:t>
            </a:r>
          </a:p>
          <a:p>
            <a:pPr>
              <a:spcAft>
                <a:spcPts val="1000"/>
              </a:spcAft>
              <a:defRPr sz="1800">
                <a:solidFill>
                  <a:srgbClr val="333333"/>
                </a:solidFill>
              </a:defRPr>
            </a:pPr>
            <a:r>
              <a:t>❌ No traceability to requirements (orphan functions)</a:t>
            </a:r>
          </a:p>
          <a:p>
            <a:pPr>
              <a:spcAft>
                <a:spcPts val="1000"/>
              </a:spcAft>
              <a:defRPr sz="1800">
                <a:solidFill>
                  <a:srgbClr val="333333"/>
                </a:solidFill>
              </a:defRPr>
            </a:pPr>
            <a:r>
              <a:t>❌ Functional analysis separate from architecture (creates disconnect)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Connection to Next Sessions and Practice Exercise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connect today's learning to the broader systems engineering process.</a:t>
            </a:r>
          </a:p>
          <a:p>
            <a:pPr>
              <a:spcAft>
                <a:spcPts val="1000"/>
              </a:spcAft>
              <a:defRPr sz="1800">
                <a:solidFill>
                  <a:srgbClr val="333333"/>
                </a:solidFill>
              </a:defRPr>
            </a:pPr>
            <a:r>
              <a:t>Today (Session 7): Operational and Functional Analysis</a:t>
            </a:r>
          </a:p>
          <a:p>
            <a:pPr>
              <a:spcAft>
                <a:spcPts val="600"/>
              </a:spcAft>
              <a:defRPr sz="1800">
                <a:solidFill>
                  <a:srgbClr val="333333"/>
                </a:solidFill>
              </a:defRPr>
            </a:pPr>
            <a:r>
              <a:t>We learned to model system BEHAVIOR</a:t>
            </a:r>
          </a:p>
          <a:p>
            <a:pPr>
              <a:spcAft>
                <a:spcPts val="600"/>
              </a:spcAft>
              <a:defRPr sz="1800">
                <a:solidFill>
                  <a:srgbClr val="333333"/>
                </a:solidFill>
              </a:defRPr>
            </a:pPr>
            <a:r>
              <a:t>We bridged requirements and design through functions</a:t>
            </a:r>
          </a:p>
          <a:p>
            <a:pPr>
              <a:spcAft>
                <a:spcPts val="600"/>
              </a:spcAft>
              <a:defRPr sz="1800">
                <a:solidFill>
                  <a:srgbClr val="333333"/>
                </a:solidFill>
              </a:defRPr>
            </a:pPr>
            <a:r>
              <a:t>We validated feasibility through timeline analysis</a:t>
            </a:r>
          </a:p>
          <a:p>
            <a:pPr>
              <a:spcAft>
                <a:spcPts val="1000"/>
              </a:spcAft>
              <a:defRPr sz="1800">
                <a:solidFill>
                  <a:srgbClr val="333333"/>
                </a:solidFill>
              </a:defRPr>
            </a:pPr>
            <a:r>
              <a:t>Connection to Previous Sessions:</a:t>
            </a:r>
          </a:p>
          <a:p>
            <a:pPr>
              <a:spcAft>
                <a:spcPts val="1000"/>
              </a:spcAft>
              <a:defRPr sz="1800">
                <a:solidFill>
                  <a:srgbClr val="333333"/>
                </a:solidFill>
              </a:defRPr>
            </a:pPr>
            <a:r>
              <a:t>Session 4 (Requirements Engineering):</a:t>
            </a:r>
          </a:p>
          <a:p>
            <a:pPr>
              <a:spcAft>
                <a:spcPts val="600"/>
              </a:spcAft>
              <a:defRPr sz="1800">
                <a:solidFill>
                  <a:srgbClr val="333333"/>
                </a:solidFill>
              </a:defRPr>
            </a:pPr>
            <a:r>
              <a:t>Defined WHAT system shall do</a:t>
            </a:r>
          </a:p>
          <a:p>
            <a:pPr>
              <a:spcAft>
                <a:spcPts val="600"/>
              </a:spcAft>
              <a:defRPr sz="1800">
                <a:solidFill>
                  <a:srgbClr val="333333"/>
                </a:solidFill>
              </a:defRPr>
            </a:pPr>
            <a:r>
              <a:t>Today: Decomposed requirements into operational functions</a:t>
            </a:r>
          </a:p>
          <a:p>
            <a:pPr>
              <a:spcAft>
                <a:spcPts val="600"/>
              </a:spcAft>
              <a:defRPr sz="1800">
                <a:solidFill>
                  <a:srgbClr val="333333"/>
                </a:solidFill>
              </a:defRPr>
            </a:pPr>
            <a:r>
              <a:t>Link: Requirements Allocation Matrix (RAM) connects Session 4 to Session 7</a:t>
            </a:r>
          </a:p>
          <a:p>
            <a:pPr>
              <a:spcAft>
                <a:spcPts val="1000"/>
              </a:spcAft>
              <a:defRPr sz="1800">
                <a:solidFill>
                  <a:srgbClr val="333333"/>
                </a:solidFill>
              </a:defRPr>
            </a:pPr>
            <a:r>
              <a:t>Session 5 (System Architecture):</a:t>
            </a:r>
          </a:p>
          <a:p>
            <a:pPr>
              <a:spcAft>
                <a:spcPts val="600"/>
              </a:spcAft>
              <a:defRPr sz="1800">
                <a:solidFill>
                  <a:srgbClr val="333333"/>
                </a:solidFill>
              </a:defRPr>
            </a:pPr>
            <a:r>
              <a:t>Defined system STRUCTURE (components, interfaces)</a:t>
            </a:r>
          </a:p>
          <a:p>
            <a:pPr>
              <a:spcAft>
                <a:spcPts val="600"/>
              </a:spcAft>
              <a:defRPr sz="1800">
                <a:solidFill>
                  <a:srgbClr val="333333"/>
                </a:solidFill>
              </a:defRPr>
            </a:pPr>
            <a:r>
              <a:t>Today: Defined system BEHAVIOR (functions, flows)</a:t>
            </a:r>
          </a:p>
          <a:p>
            <a:pPr>
              <a:spcAft>
                <a:spcPts val="600"/>
              </a:spcAft>
              <a:defRPr sz="1800">
                <a:solidFill>
                  <a:srgbClr val="333333"/>
                </a:solidFill>
              </a:defRPr>
            </a:pPr>
            <a:r>
              <a:t>Link: Function allocation to physical architecture (structure + behavior = complete model)</a:t>
            </a:r>
          </a:p>
          <a:p>
            <a:pPr>
              <a:spcAft>
                <a:spcPts val="1000"/>
              </a:spcAft>
              <a:defRPr sz="1800">
                <a:solidFill>
                  <a:srgbClr val="333333"/>
                </a:solidFill>
              </a:defRPr>
            </a:pPr>
            <a:r>
              <a:t>What Comes Next:</a:t>
            </a:r>
          </a:p>
          <a:p>
            <a:pPr>
              <a:spcAft>
                <a:spcPts val="1000"/>
              </a:spcAft>
              <a:defRPr sz="1800">
                <a:solidFill>
                  <a:srgbClr val="333333"/>
                </a:solidFill>
              </a:defRPr>
            </a:pPr>
            <a:r>
              <a:t>Session 8 (Integration, Verification &amp; Validation):</a:t>
            </a:r>
          </a:p>
          <a:p>
            <a:pPr>
              <a:spcAft>
                <a:spcPts val="600"/>
              </a:spcAft>
              <a:defRPr sz="1800">
                <a:solidFill>
                  <a:srgbClr val="333333"/>
                </a:solidFill>
              </a:defRPr>
            </a:pPr>
            <a:r>
              <a:t>Right side of V-Model</a:t>
            </a:r>
          </a:p>
          <a:p>
            <a:pPr>
              <a:spcAft>
                <a:spcPts val="600"/>
              </a:spcAft>
              <a:defRPr sz="1800">
                <a:solidFill>
                  <a:srgbClr val="333333"/>
                </a:solidFill>
              </a:defRPr>
            </a:pPr>
            <a:r>
              <a:t>How do we verify functions work? (Function-level testing)</a:t>
            </a:r>
          </a:p>
          <a:p>
            <a:pPr>
              <a:spcAft>
                <a:spcPts val="600"/>
              </a:spcAft>
              <a:defRPr sz="1800">
                <a:solidFill>
                  <a:srgbClr val="333333"/>
                </a:solidFill>
              </a:defRPr>
            </a:pPr>
            <a:r>
              <a:t>How do we validate operational scenarios? (Scenario-based testing)</a:t>
            </a:r>
          </a:p>
          <a:p>
            <a:pPr>
              <a:spcAft>
                <a:spcPts val="600"/>
              </a:spcAft>
              <a:defRPr sz="1800">
                <a:solidFill>
                  <a:srgbClr val="333333"/>
                </a:solidFill>
              </a:defRPr>
            </a:pPr>
            <a:r>
              <a:t>Link: FFBDs become test sequences, operational scenarios become validation test cases</a:t>
            </a:r>
          </a:p>
          <a:p>
            <a:pPr>
              <a:spcAft>
                <a:spcPts val="1000"/>
              </a:spcAft>
              <a:defRPr sz="1800">
                <a:solidFill>
                  <a:srgbClr val="333333"/>
                </a:solidFill>
              </a:defRPr>
            </a:pPr>
            <a:r>
              <a:t>Session 9 (Project and Risk Management):</a:t>
            </a:r>
          </a:p>
          <a:p>
            <a:pPr>
              <a:spcAft>
                <a:spcPts val="600"/>
              </a:spcAft>
              <a:defRPr sz="1800">
                <a:solidFill>
                  <a:srgbClr val="333333"/>
                </a:solidFill>
              </a:defRPr>
            </a:pPr>
            <a:r>
              <a:t>Functional analysis informs work breakdown structure (WBS)</a:t>
            </a:r>
          </a:p>
          <a:p>
            <a:pPr>
              <a:spcAft>
                <a:spcPts val="600"/>
              </a:spcAft>
              <a:defRPr sz="1800">
                <a:solidFill>
                  <a:srgbClr val="333333"/>
                </a:solidFill>
              </a:defRPr>
            </a:pPr>
            <a:r>
              <a:t>Each function = work package</a:t>
            </a:r>
          </a:p>
          <a:p>
            <a:pPr>
              <a:spcAft>
                <a:spcPts val="600"/>
              </a:spcAft>
              <a:defRPr sz="1800">
                <a:solidFill>
                  <a:srgbClr val="333333"/>
                </a:solidFill>
              </a:defRPr>
            </a:pPr>
            <a:r>
              <a:t>Timeline analysis identifies schedule risks</a:t>
            </a:r>
          </a:p>
          <a:p>
            <a:pPr>
              <a:spcAft>
                <a:spcPts val="1000"/>
              </a:spcAft>
              <a:defRPr sz="1800">
                <a:solidFill>
                  <a:srgbClr val="333333"/>
                </a:solidFill>
              </a:defRPr>
            </a:pPr>
            <a:r>
              <a:t>Session 12 (Functional Safety - ISO 26262):</a:t>
            </a:r>
          </a:p>
          <a:p>
            <a:pPr>
              <a:spcAft>
                <a:spcPts val="600"/>
              </a:spcAft>
              <a:defRPr sz="1800">
                <a:solidFill>
                  <a:srgbClr val="333333"/>
                </a:solidFill>
              </a:defRPr>
            </a:pPr>
            <a:r>
              <a:t>Functional analysis is REQUIRED by ISO 26262</a:t>
            </a:r>
          </a:p>
          <a:p>
            <a:pPr>
              <a:spcAft>
                <a:spcPts val="600"/>
              </a:spcAft>
              <a:defRPr sz="1800">
                <a:solidFill>
                  <a:srgbClr val="333333"/>
                </a:solidFill>
              </a:defRPr>
            </a:pPr>
            <a:r>
              <a:t>Safety functions identified through HARA (Hazard Analysis and Risk Assessment)</a:t>
            </a:r>
          </a:p>
          <a:p>
            <a:pPr>
              <a:spcAft>
                <a:spcPts val="600"/>
              </a:spcAft>
              <a:defRPr sz="1800">
                <a:solidFill>
                  <a:srgbClr val="333333"/>
                </a:solidFill>
              </a:defRPr>
            </a:pPr>
            <a:r>
              <a:t>FFBDs used to analyze failure propagation</a:t>
            </a:r>
          </a:p>
          <a:p>
            <a:pPr>
              <a:spcAft>
                <a:spcPts val="1000"/>
              </a:spcAft>
              <a:defRPr sz="1800">
                <a:solidFill>
                  <a:srgbClr val="333333"/>
                </a:solidFill>
              </a:defRPr>
            </a:pPr>
            <a:r>
              <a:t>The Thread:</a:t>
            </a:r>
          </a:p>
          <a:p>
            <a:pPr>
              <a:spcAft>
                <a:spcPts val="600"/>
              </a:spcAft>
              <a:defRPr sz="1800">
                <a:solidFill>
                  <a:srgbClr val="333333"/>
                </a:solidFill>
              </a:defRPr>
            </a:pPr>
            <a:r>
              <a:t>Session 4: Requirements (what)</a:t>
            </a:r>
          </a:p>
          <a:p>
            <a:pPr>
              <a:spcAft>
                <a:spcPts val="600"/>
              </a:spcAft>
              <a:defRPr sz="1800">
                <a:solidFill>
                  <a:srgbClr val="333333"/>
                </a:solidFill>
              </a:defRPr>
            </a:pPr>
            <a:r>
              <a:t>Session 5: Architecture (structure)</a:t>
            </a:r>
          </a:p>
          <a:p>
            <a:pPr>
              <a:spcAft>
                <a:spcPts val="600"/>
              </a:spcAft>
              <a:defRPr sz="1800">
                <a:solidFill>
                  <a:srgbClr val="333333"/>
                </a:solidFill>
              </a:defRPr>
            </a:pPr>
            <a:r>
              <a:t>Session 7: Functional Analysis (behavior) ← TODAY</a:t>
            </a:r>
          </a:p>
          <a:p>
            <a:pPr>
              <a:spcAft>
                <a:spcPts val="600"/>
              </a:spcAft>
              <a:defRPr sz="1800">
                <a:solidFill>
                  <a:srgbClr val="333333"/>
                </a:solidFill>
              </a:defRPr>
            </a:pPr>
            <a:r>
              <a:t>Session 8: V&amp;V (verification that we built it right, validation that we built the right thing)</a:t>
            </a:r>
          </a:p>
          <a:p>
            <a:pPr>
              <a:spcAft>
                <a:spcPts val="1000"/>
              </a:spcAft>
              <a:defRPr sz="1800">
                <a:solidFill>
                  <a:srgbClr val="333333"/>
                </a:solidFill>
              </a:defRPr>
            </a:pPr>
            <a:r>
              <a:t>In MBSE (Session 3):</a:t>
            </a:r>
          </a:p>
          <a:p>
            <a:pPr>
              <a:spcAft>
                <a:spcPts val="600"/>
              </a:spcAft>
              <a:defRPr sz="1800">
                <a:solidFill>
                  <a:srgbClr val="333333"/>
                </a:solidFill>
              </a:defRPr>
            </a:pPr>
            <a:r>
              <a:t>All of today's artifacts are SysML diagrams</a:t>
            </a:r>
          </a:p>
          <a:p>
            <a:pPr>
              <a:spcAft>
                <a:spcPts val="600"/>
              </a:spcAft>
              <a:defRPr sz="1800">
                <a:solidFill>
                  <a:srgbClr val="333333"/>
                </a:solidFill>
              </a:defRPr>
            </a:pPr>
            <a:r>
              <a:t>Use Case Diagrams (scenarios)</a:t>
            </a:r>
          </a:p>
          <a:p>
            <a:pPr>
              <a:spcAft>
                <a:spcPts val="600"/>
              </a:spcAft>
              <a:defRPr sz="1800">
                <a:solidFill>
                  <a:srgbClr val="333333"/>
                </a:solidFill>
              </a:defRPr>
            </a:pPr>
            <a:r>
              <a:t>Activity Diagrams (FFBDs)</a:t>
            </a:r>
          </a:p>
          <a:p>
            <a:pPr>
              <a:spcAft>
                <a:spcPts val="600"/>
              </a:spcAft>
              <a:defRPr sz="1800">
                <a:solidFill>
                  <a:srgbClr val="333333"/>
                </a:solidFill>
              </a:defRPr>
            </a:pPr>
            <a:r>
              <a:t>Allocation Matrices (function to component)</a:t>
            </a:r>
          </a:p>
          <a:p>
            <a:pPr>
              <a:spcAft>
                <a:spcPts val="600"/>
              </a:spcAft>
              <a:defRPr sz="1800">
                <a:solidFill>
                  <a:srgbClr val="333333"/>
                </a:solidFill>
              </a:defRPr>
            </a:pPr>
            <a:r>
              <a:t>Single integrated model, not separate documents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PPT DESIGN GUIDANCE</a:t>
            </a:r>
          </a:p>
        </p:txBody>
      </p:sp>
      <p:sp>
        <p:nvSpPr>
          <p:cNvPr id="3" name="Content Placeholder 2"/>
          <p:cNvSpPr>
            <a:spLocks noGrp="1"/>
          </p:cNvSpPr>
          <p:nvPr>
            <p:ph idx="1"/>
          </p:nvPr>
        </p:nvSpPr>
        <p:spPr/>
        <p:txBody>
          <a:bodyPr/>
          <a:lstStyle/>
          <a:p>
            <a:pPr>
              <a:defRPr sz="2400" b="1">
                <a:solidFill>
                  <a:srgbClr val="2E5090"/>
                </a:solidFill>
              </a:defRPr>
            </a:pPr>
            <a:r>
              <a:t>Real Examples to Include:</a:t>
            </a:r>
          </a:p>
          <a:p>
            <a:pPr>
              <a:spcAft>
                <a:spcPts val="1000"/>
              </a:spcAft>
              <a:defRPr sz="1800">
                <a:solidFill>
                  <a:srgbClr val="333333"/>
                </a:solidFill>
              </a:defRPr>
            </a:pPr>
            <a:r>
              <a:t>Practice Exercise (Due before Session 8):</a:t>
            </a:r>
          </a:p>
          <a:p>
            <a:pPr>
              <a:spcAft>
                <a:spcPts val="1000"/>
              </a:spcAft>
              <a:defRPr sz="1800">
                <a:solidFill>
                  <a:srgbClr val="333333"/>
                </a:solidFill>
              </a:defRPr>
            </a:pPr>
            <a:r>
              <a:t>You are the systems engineer for an Automatic Emergency Braking (AEB) system.</a:t>
            </a:r>
          </a:p>
          <a:p>
            <a:pPr>
              <a:spcAft>
                <a:spcPts val="1000"/>
              </a:spcAft>
              <a:defRPr sz="1800">
                <a:solidFill>
                  <a:srgbClr val="333333"/>
                </a:solidFill>
              </a:defRPr>
            </a:pPr>
            <a:r>
              <a:t>Given (from previous sessions):</a:t>
            </a:r>
          </a:p>
          <a:p>
            <a:pPr>
              <a:spcAft>
                <a:spcPts val="600"/>
              </a:spcAft>
              <a:defRPr sz="1800">
                <a:solidFill>
                  <a:srgbClr val="333333"/>
                </a:solidFill>
              </a:defRPr>
            </a:pPr>
            <a:r>
              <a:t>System architecture (Session 5): Forward radar, camera, AEB ECU, brake ECU</a:t>
            </a:r>
          </a:p>
          <a:p>
            <a:pPr>
              <a:spcAft>
                <a:spcPts val="600"/>
              </a:spcAft>
              <a:defRPr sz="1800">
                <a:solidFill>
                  <a:srgbClr val="333333"/>
                </a:solidFill>
              </a:defRPr>
            </a:pPr>
            <a:r>
              <a:t>System requirements (Session 4): 15 requirements including detection, decision, actuation</a:t>
            </a:r>
          </a:p>
          <a:p>
            <a:pPr>
              <a:spcAft>
                <a:spcPts val="1000"/>
              </a:spcAft>
              <a:defRPr sz="1800">
                <a:solidFill>
                  <a:srgbClr val="333333"/>
                </a:solidFill>
              </a:defRPr>
            </a:pPr>
            <a:r>
              <a:t>Your Task:</a:t>
            </a:r>
          </a:p>
          <a:p>
            <a:pPr>
              <a:spcAft>
                <a:spcPts val="1000"/>
              </a:spcAft>
              <a:defRPr sz="1800">
                <a:solidFill>
                  <a:srgbClr val="333333"/>
                </a:solidFill>
              </a:defRPr>
            </a:pPr>
            <a:r>
              <a:t>Part 1: Operational Scenario Development (30%)</a:t>
            </a:r>
          </a:p>
          <a:p>
            <a:pPr>
              <a:spcAft>
                <a:spcPts val="600"/>
              </a:spcAft>
              <a:defRPr sz="1800">
                <a:solidFill>
                  <a:srgbClr val="333333"/>
                </a:solidFill>
              </a:defRPr>
            </a:pPr>
            <a:r>
              <a:t>Define 6 operational scenarios for AEB covering:</a:t>
            </a:r>
          </a:p>
          <a:p>
            <a:pPr>
              <a:spcAft>
                <a:spcPts val="600"/>
              </a:spcAft>
              <a:defRPr sz="1800">
                <a:solidFill>
                  <a:srgbClr val="333333"/>
                </a:solidFill>
              </a:defRPr>
            </a:pPr>
            <a:r>
              <a:t>Normal operation (stationary vehicle ahead, moving vehicle ahead)</a:t>
            </a:r>
          </a:p>
          <a:p>
            <a:pPr>
              <a:spcAft>
                <a:spcPts val="600"/>
              </a:spcAft>
              <a:defRPr sz="1800">
                <a:solidFill>
                  <a:srgbClr val="333333"/>
                </a:solidFill>
              </a:defRPr>
            </a:pPr>
            <a:r>
              <a:t>Edge cases (crossing pedestrian, vehicle cutting in)</a:t>
            </a:r>
          </a:p>
          <a:p>
            <a:pPr>
              <a:spcAft>
                <a:spcPts val="600"/>
              </a:spcAft>
              <a:defRPr sz="1800">
                <a:solidFill>
                  <a:srgbClr val="333333"/>
                </a:solidFill>
              </a:defRPr>
            </a:pPr>
            <a:r>
              <a:t>Failure modes (sensor degraded, driver override)</a:t>
            </a:r>
          </a:p>
          <a:p>
            <a:pPr>
              <a:spcAft>
                <a:spcPts val="600"/>
              </a:spcAft>
              <a:defRPr sz="1800">
                <a:solidFill>
                  <a:srgbClr val="333333"/>
                </a:solidFill>
              </a:defRPr>
            </a:pPr>
            <a:r>
              <a:t>Use operational scenario template from Slide 8</a:t>
            </a:r>
          </a:p>
          <a:p>
            <a:pPr>
              <a:spcAft>
                <a:spcPts val="1000"/>
              </a:spcAft>
              <a:defRPr sz="1800">
                <a:solidFill>
                  <a:srgbClr val="333333"/>
                </a:solidFill>
              </a:defRPr>
            </a:pPr>
            <a:r>
              <a:t>Part 2: Functional Decomposition (30%)</a:t>
            </a:r>
          </a:p>
          <a:p>
            <a:pPr>
              <a:spcAft>
                <a:spcPts val="600"/>
              </a:spcAft>
              <a:defRPr sz="1800">
                <a:solidFill>
                  <a:srgbClr val="333333"/>
                </a:solidFill>
              </a:defRPr>
            </a:pPr>
            <a:r>
              <a:t>Develop functional hierarchy (3 levels minimum)</a:t>
            </a:r>
          </a:p>
          <a:p>
            <a:pPr>
              <a:spcAft>
                <a:spcPts val="600"/>
              </a:spcAft>
              <a:defRPr sz="1800">
                <a:solidFill>
                  <a:srgbClr val="333333"/>
                </a:solidFill>
              </a:defRPr>
            </a:pPr>
            <a:r>
              <a:t>Level 1: Top-level functions (5-7 functions)</a:t>
            </a:r>
          </a:p>
          <a:p>
            <a:pPr>
              <a:spcAft>
                <a:spcPts val="600"/>
              </a:spcAft>
              <a:defRPr sz="1800">
                <a:solidFill>
                  <a:srgbClr val="333333"/>
                </a:solidFill>
              </a:defRPr>
            </a:pPr>
            <a:r>
              <a:t>Level 2: Decompose at least 2 Level 1 functions</a:t>
            </a:r>
          </a:p>
          <a:p>
            <a:pPr>
              <a:spcAft>
                <a:spcPts val="600"/>
              </a:spcAft>
              <a:defRPr sz="1800">
                <a:solidFill>
                  <a:srgbClr val="333333"/>
                </a:solidFill>
              </a:defRPr>
            </a:pPr>
            <a:r>
              <a:t>Level 3: Decompose at least 1 Level 2 function</a:t>
            </a:r>
          </a:p>
          <a:p>
            <a:pPr>
              <a:spcAft>
                <a:spcPts val="600"/>
              </a:spcAft>
              <a:defRPr sz="1800">
                <a:solidFill>
                  <a:srgbClr val="333333"/>
                </a:solidFill>
              </a:defRPr>
            </a:pPr>
            <a:r>
              <a:t>Create N² chart for Level 1 functions showing interfaces</a:t>
            </a:r>
          </a:p>
          <a:p>
            <a:pPr>
              <a:spcAft>
                <a:spcPts val="1000"/>
              </a:spcAft>
              <a:defRPr sz="1800">
                <a:solidFill>
                  <a:srgbClr val="333333"/>
                </a:solidFill>
              </a:defRPr>
            </a:pPr>
            <a:r>
              <a:t>Part 3: Functional Flow Block Diagram (25%)</a:t>
            </a:r>
          </a:p>
          <a:p>
            <a:pPr>
              <a:spcAft>
                <a:spcPts val="600"/>
              </a:spcAft>
              <a:defRPr sz="1800">
                <a:solidFill>
                  <a:srgbClr val="333333"/>
                </a:solidFill>
              </a:defRPr>
            </a:pPr>
            <a:r>
              <a:t>Develop FFBD for one operational scenario (your choice)</a:t>
            </a:r>
          </a:p>
          <a:p>
            <a:pPr>
              <a:spcAft>
                <a:spcPts val="600"/>
              </a:spcAft>
              <a:defRPr sz="1800">
                <a:solidFill>
                  <a:srgbClr val="333333"/>
                </a:solidFill>
              </a:defRPr>
            </a:pPr>
            <a:r>
              <a:t>Include sequential, conditional (OR), and parallel (AND) flows</a:t>
            </a:r>
          </a:p>
          <a:p>
            <a:pPr>
              <a:spcAft>
                <a:spcPts val="600"/>
              </a:spcAft>
              <a:defRPr sz="1800">
                <a:solidFill>
                  <a:srgbClr val="333333"/>
                </a:solidFill>
              </a:defRPr>
            </a:pPr>
            <a:r>
              <a:t>Use standard FFBD notation from Slide 19</a:t>
            </a:r>
          </a:p>
          <a:p>
            <a:pPr>
              <a:spcAft>
                <a:spcPts val="600"/>
              </a:spcAft>
              <a:defRPr sz="1800">
                <a:solidFill>
                  <a:srgbClr val="333333"/>
                </a:solidFill>
              </a:defRPr>
            </a:pPr>
            <a:r>
              <a:t>Annotate with estimated timing for each function</a:t>
            </a:r>
          </a:p>
          <a:p>
            <a:pPr>
              <a:spcAft>
                <a:spcPts val="1000"/>
              </a:spcAft>
              <a:defRPr sz="1800">
                <a:solidFill>
                  <a:srgbClr val="333333"/>
                </a:solidFill>
              </a:defRPr>
            </a:pPr>
            <a:r>
              <a:t>Part 4: Requirements Allocation (15%)</a:t>
            </a:r>
          </a:p>
          <a:p>
            <a:pPr>
              <a:spcAft>
                <a:spcPts val="600"/>
              </a:spcAft>
              <a:defRPr sz="1800">
                <a:solidFill>
                  <a:srgbClr val="333333"/>
                </a:solidFill>
              </a:defRPr>
            </a:pPr>
            <a:r>
              <a:t>Create Requirements Allocation Matrix (RAM)</a:t>
            </a:r>
          </a:p>
          <a:p>
            <a:pPr>
              <a:spcAft>
                <a:spcPts val="600"/>
              </a:spcAft>
              <a:defRPr sz="1800">
                <a:solidFill>
                  <a:srgbClr val="333333"/>
                </a:solidFill>
              </a:defRPr>
            </a:pPr>
            <a:r>
              <a:t>Map at least 10 system requirements to your functions</a:t>
            </a:r>
          </a:p>
          <a:p>
            <a:pPr>
              <a:spcAft>
                <a:spcPts val="600"/>
              </a:spcAft>
              <a:defRPr sz="1800">
                <a:solidFill>
                  <a:srgbClr val="333333"/>
                </a:solidFill>
              </a:defRPr>
            </a:pPr>
            <a:r>
              <a:t>Identify verification method for each</a:t>
            </a:r>
          </a:p>
          <a:p>
            <a:pPr>
              <a:spcAft>
                <a:spcPts val="1000"/>
              </a:spcAft>
              <a:defRPr sz="1800">
                <a:solidFill>
                  <a:srgbClr val="333333"/>
                </a:solidFill>
              </a:defRPr>
            </a:pPr>
            <a:r>
              <a:t>Deliverables:</a:t>
            </a:r>
          </a:p>
          <a:p>
            <a:pPr>
              <a:spcAft>
                <a:spcPts val="600"/>
              </a:spcAft>
              <a:defRPr sz="1800">
                <a:solidFill>
                  <a:srgbClr val="333333"/>
                </a:solidFill>
              </a:defRPr>
            </a:pPr>
            <a:r>
              <a:t>6 operational scenarios (1 page)</a:t>
            </a:r>
          </a:p>
          <a:p>
            <a:pPr>
              <a:spcAft>
                <a:spcPts val="600"/>
              </a:spcAft>
              <a:defRPr sz="1800">
                <a:solidFill>
                  <a:srgbClr val="333333"/>
                </a:solidFill>
              </a:defRPr>
            </a:pPr>
            <a:r>
              <a:t>Functional hierarchy diagram (1 page)</a:t>
            </a:r>
          </a:p>
          <a:p>
            <a:pPr>
              <a:spcAft>
                <a:spcPts val="600"/>
              </a:spcAft>
              <a:defRPr sz="1800">
                <a:solidFill>
                  <a:srgbClr val="333333"/>
                </a:solidFill>
              </a:defRPr>
            </a:pPr>
            <a:r>
              <a:t>N² chart (1 page)</a:t>
            </a:r>
          </a:p>
          <a:p>
            <a:pPr>
              <a:spcAft>
                <a:spcPts val="600"/>
              </a:spcAft>
              <a:defRPr sz="1800">
                <a:solidFill>
                  <a:srgbClr val="333333"/>
                </a:solidFill>
              </a:defRPr>
            </a:pPr>
            <a:r>
              <a:t>One detailed FFBD (1 page)</a:t>
            </a:r>
          </a:p>
          <a:p>
            <a:pPr>
              <a:spcAft>
                <a:spcPts val="600"/>
              </a:spcAft>
              <a:defRPr sz="1800">
                <a:solidFill>
                  <a:srgbClr val="333333"/>
                </a:solidFill>
              </a:defRPr>
            </a:pPr>
            <a:r>
              <a:t>Requirements Allocation Matrix (1 page)</a:t>
            </a:r>
          </a:p>
          <a:p>
            <a:pPr>
              <a:spcAft>
                <a:spcPts val="600"/>
              </a:spcAft>
              <a:defRPr sz="1800">
                <a:solidFill>
                  <a:srgbClr val="333333"/>
                </a:solidFill>
              </a:defRPr>
            </a:pPr>
            <a:r>
              <a:t>Total: 5 pages</a:t>
            </a:r>
          </a:p>
          <a:p>
            <a:pPr>
              <a:spcAft>
                <a:spcPts val="1000"/>
              </a:spcAft>
              <a:defRPr sz="1800">
                <a:solidFill>
                  <a:srgbClr val="333333"/>
                </a:solidFill>
              </a:defRPr>
            </a:pPr>
            <a:r>
              <a:t>Grading Criteria:</a:t>
            </a:r>
          </a:p>
          <a:p>
            <a:pPr>
              <a:spcAft>
                <a:spcPts val="600"/>
              </a:spcAft>
              <a:defRPr sz="1800">
                <a:solidFill>
                  <a:srgbClr val="333333"/>
                </a:solidFill>
              </a:defRPr>
            </a:pPr>
            <a:r>
              <a:t>Completeness of operational scenarios (cover normal, edge, failure cases)</a:t>
            </a:r>
          </a:p>
          <a:p>
            <a:pPr>
              <a:spcAft>
                <a:spcPts val="600"/>
              </a:spcAft>
              <a:defRPr sz="1800">
                <a:solidFill>
                  <a:srgbClr val="333333"/>
                </a:solidFill>
              </a:defRPr>
            </a:pPr>
            <a:r>
              <a:t>Quality of functional decomposition (appropriate granularity, clear function names)</a:t>
            </a:r>
          </a:p>
          <a:p>
            <a:pPr>
              <a:spcAft>
                <a:spcPts val="600"/>
              </a:spcAft>
              <a:defRPr sz="1800">
                <a:solidFill>
                  <a:srgbClr val="333333"/>
                </a:solidFill>
              </a:defRPr>
            </a:pPr>
            <a:r>
              <a:t>FFBD correctness (proper notation, complete logic, timing feasibility)</a:t>
            </a:r>
          </a:p>
          <a:p>
            <a:pPr>
              <a:spcAft>
                <a:spcPts val="600"/>
              </a:spcAft>
              <a:defRPr sz="1800">
                <a:solidFill>
                  <a:srgbClr val="333333"/>
                </a:solidFill>
              </a:defRPr>
            </a:pPr>
            <a:r>
              <a:t>Requirements traceability (all requirements mapped to functions)</a:t>
            </a:r>
          </a:p>
          <a:p>
            <a:pPr>
              <a:spcAft>
                <a:spcPts val="600"/>
              </a:spcAft>
              <a:defRPr sz="1800">
                <a:solidFill>
                  <a:srgbClr val="333333"/>
                </a:solidFill>
              </a:defRPr>
            </a:pPr>
            <a:r>
              <a:t>Professional presentation (clear diagrams, proper labeling)</a:t>
            </a:r>
          </a:p>
          <a:p>
            <a:pPr>
              <a:spcAft>
                <a:spcPts val="1000"/>
              </a:spcAft>
              <a:defRPr sz="1800">
                <a:solidFill>
                  <a:srgbClr val="333333"/>
                </a:solidFill>
              </a:defRPr>
            </a:pPr>
            <a:r>
              <a:t>Tips:</a:t>
            </a:r>
          </a:p>
          <a:p>
            <a:pPr>
              <a:spcAft>
                <a:spcPts val="600"/>
              </a:spcAft>
              <a:defRPr sz="1800">
                <a:solidFill>
                  <a:srgbClr val="333333"/>
                </a:solidFill>
              </a:defRPr>
            </a:pPr>
            <a:r>
              <a:t>Research real AEB systems (Euro NCAP AEB tests, UN R152 regulation)</a:t>
            </a:r>
          </a:p>
          <a:p>
            <a:pPr>
              <a:spcAft>
                <a:spcPts val="600"/>
              </a:spcAft>
              <a:defRPr sz="1800">
                <a:solidFill>
                  <a:srgbClr val="333333"/>
                </a:solidFill>
              </a:defRPr>
            </a:pPr>
            <a:r>
              <a:t>Think through scenarios step-by-step (walk through mentally)</a:t>
            </a:r>
          </a:p>
          <a:p>
            <a:pPr>
              <a:spcAft>
                <a:spcPts val="600"/>
              </a:spcAft>
              <a:defRPr sz="1800">
                <a:solidFill>
                  <a:srgbClr val="333333"/>
                </a:solidFill>
              </a:defRPr>
            </a:pPr>
            <a:r>
              <a:t>Functions should be verb-based ('Detect object', not 'Detection module')</a:t>
            </a:r>
          </a:p>
          <a:p>
            <a:pPr>
              <a:spcAft>
                <a:spcPts val="600"/>
              </a:spcAft>
              <a:defRPr sz="1800">
                <a:solidFill>
                  <a:srgbClr val="333333"/>
                </a:solidFill>
              </a:defRPr>
            </a:pPr>
            <a:r>
              <a:t>FFBD should be readable by non-engineers (test it on a friend)</a:t>
            </a:r>
          </a:p>
          <a:p>
            <a:pPr>
              <a:spcAft>
                <a:spcPts val="600"/>
              </a:spcAft>
              <a:defRPr sz="1800">
                <a:solidFill>
                  <a:srgbClr val="333333"/>
                </a:solidFill>
              </a:defRPr>
            </a:pPr>
            <a:r>
              <a:t>Timing: AEB needs &lt;1 second from detection to braking (work backward)</a:t>
            </a:r>
          </a:p>
          <a:p>
            <a:pPr>
              <a:spcAft>
                <a:spcPts val="1000"/>
              </a:spcAft>
              <a:defRPr sz="1800">
                <a:solidFill>
                  <a:srgbClr val="333333"/>
                </a:solidFill>
              </a:defRPr>
            </a:pPr>
            <a:r>
              <a:t>Discussion Questions:</a:t>
            </a:r>
          </a:p>
          <a:p>
            <a:pPr>
              <a:spcAft>
                <a:spcPts val="600"/>
              </a:spcAft>
              <a:defRPr sz="1800">
                <a:solidFill>
                  <a:srgbClr val="333333"/>
                </a:solidFill>
              </a:defRPr>
            </a:pPr>
            <a:r>
              <a:t>How would AEB functional analysis differ for highway vs urban scenarios?</a:t>
            </a:r>
          </a:p>
          <a:p>
            <a:pPr>
              <a:spcAft>
                <a:spcPts val="600"/>
              </a:spcAft>
              <a:defRPr sz="1800">
                <a:solidFill>
                  <a:srgbClr val="333333"/>
                </a:solidFill>
              </a:defRPr>
            </a:pPr>
            <a:r>
              <a:t>What happens if pedestrian detection function has 100ms latency? (timeline analysis)</a:t>
            </a:r>
          </a:p>
          <a:p>
            <a:pPr>
              <a:spcAft>
                <a:spcPts val="600"/>
              </a:spcAft>
              <a:defRPr sz="1800">
                <a:solidFill>
                  <a:srgbClr val="333333"/>
                </a:solidFill>
              </a:defRPr>
            </a:pPr>
            <a:r>
              <a:t>How do you allocate functions between radar ECU and AEB ECU? (allocation strategy)</a:t>
            </a:r>
          </a:p>
          <a:p>
            <a:pPr>
              <a:spcAft>
                <a:spcPts val="1000"/>
              </a:spcAft>
              <a:defRPr sz="1800">
                <a:solidFill>
                  <a:srgbClr val="333333"/>
                </a:solidFill>
              </a:defRPr>
            </a:pPr>
            <a:r>
              <a:t>Resources:</a:t>
            </a:r>
          </a:p>
          <a:p>
            <a:pPr>
              <a:spcAft>
                <a:spcPts val="600"/>
              </a:spcAft>
              <a:defRPr sz="1800">
                <a:solidFill>
                  <a:srgbClr val="333333"/>
                </a:solidFill>
              </a:defRPr>
            </a:pPr>
            <a:r>
              <a:t>INCOSE Systems Engineering Handbook, Chapter 4.3 (Functional Analysis)</a:t>
            </a:r>
          </a:p>
          <a:p>
            <a:pPr>
              <a:spcAft>
                <a:spcPts val="600"/>
              </a:spcAft>
              <a:defRPr sz="1800">
                <a:solidFill>
                  <a:srgbClr val="333333"/>
                </a:solidFill>
              </a:defRPr>
            </a:pPr>
            <a:r>
              <a:t>NASA Systems Engineering Handbook, Section 4.4 (FFBD)</a:t>
            </a:r>
          </a:p>
          <a:p>
            <a:pPr>
              <a:spcAft>
                <a:spcPts val="600"/>
              </a:spcAft>
              <a:defRPr sz="1800">
                <a:solidFill>
                  <a:srgbClr val="333333"/>
                </a:solidFill>
              </a:defRPr>
            </a:pPr>
            <a:r>
              <a:t>ISO 26262-3:2018 (Functional Safety Concept)</a:t>
            </a:r>
          </a:p>
          <a:p>
            <a:pPr>
              <a:spcAft>
                <a:spcPts val="1000"/>
              </a:spcAft>
              <a:defRPr sz="1800">
                <a:solidFill>
                  <a:srgbClr val="333333"/>
                </a:solidFill>
              </a:defRPr>
            </a:pPr>
            <a:r>
              <a:t>30 minutes for your questions. —--</a:t>
            </a:r>
          </a:p>
          <a:p>
            <a:pPr>
              <a:spcAft>
                <a:spcPts val="600"/>
              </a:spcAft>
              <a:defRPr sz="1800">
                <a:solidFill>
                  <a:srgbClr val="333333"/>
                </a:solidFill>
              </a:defRPr>
            </a:pPr>
            <a:r>
              <a:t>Technical/analytical aesthetic: Clean diagrams, process flows, structured charts</a:t>
            </a:r>
          </a:p>
          <a:p>
            <a:pPr>
              <a:spcAft>
                <a:spcPts val="600"/>
              </a:spcAft>
              <a:defRPr sz="1800">
                <a:solidFill>
                  <a:srgbClr val="333333"/>
                </a:solidFill>
              </a:defRPr>
            </a:pPr>
            <a:r>
              <a:t>Color coding:</a:t>
            </a:r>
          </a:p>
          <a:p>
            <a:pPr>
              <a:spcAft>
                <a:spcPts val="600"/>
              </a:spcAft>
              <a:defRPr sz="1800">
                <a:solidFill>
                  <a:srgbClr val="333333"/>
                </a:solidFill>
              </a:defRPr>
            </a:pPr>
            <a:r>
              <a:t>Blue for functions and functional elements</a:t>
            </a:r>
          </a:p>
          <a:p>
            <a:pPr>
              <a:spcAft>
                <a:spcPts val="600"/>
              </a:spcAft>
              <a:defRPr sz="1800">
                <a:solidFill>
                  <a:srgbClr val="333333"/>
                </a:solidFill>
              </a:defRPr>
            </a:pPr>
            <a:r>
              <a:t>Green for operational scenarios and use cases</a:t>
            </a:r>
          </a:p>
          <a:p>
            <a:pPr>
              <a:spcAft>
                <a:spcPts val="600"/>
              </a:spcAft>
              <a:defRPr sz="1800">
                <a:solidFill>
                  <a:srgbClr val="333333"/>
                </a:solidFill>
              </a:defRPr>
            </a:pPr>
            <a:r>
              <a:t>Orange for timing and critical paths</a:t>
            </a:r>
          </a:p>
          <a:p>
            <a:pPr>
              <a:spcAft>
                <a:spcPts val="600"/>
              </a:spcAft>
              <a:defRPr sz="1800">
                <a:solidFill>
                  <a:srgbClr val="333333"/>
                </a:solidFill>
              </a:defRPr>
            </a:pPr>
            <a:r>
              <a:t>Red for warnings, failure modes, and gaps</a:t>
            </a:r>
          </a:p>
          <a:p>
            <a:pPr>
              <a:spcAft>
                <a:spcPts val="600"/>
              </a:spcAft>
              <a:defRPr sz="1800">
                <a:solidFill>
                  <a:srgbClr val="333333"/>
                </a:solidFill>
              </a:defRPr>
            </a:pPr>
            <a:r>
              <a:t>Purple for allocation and traceability links</a:t>
            </a:r>
          </a:p>
          <a:p>
            <a:pPr>
              <a:spcAft>
                <a:spcPts val="600"/>
              </a:spcAft>
              <a:defRPr sz="1800">
                <a:solidFill>
                  <a:srgbClr val="333333"/>
                </a:solidFill>
              </a:defRPr>
            </a:pPr>
            <a:r>
              <a:t>Use real automotive examples: ACC, LKA, AEB with actual sensor images and diagrams</a:t>
            </a:r>
          </a:p>
          <a:p>
            <a:pPr>
              <a:spcAft>
                <a:spcPts val="600"/>
              </a:spcAft>
              <a:defRPr sz="1800">
                <a:solidFill>
                  <a:srgbClr val="333333"/>
                </a:solidFill>
              </a:defRPr>
            </a:pPr>
            <a:r>
              <a:t>Diagrams: Professional FFBD notation, N² charts, timeline diagrams, hierarchical trees</a:t>
            </a:r>
          </a:p>
          <a:p>
            <a:pPr>
              <a:spcAft>
                <a:spcPts val="600"/>
              </a:spcAft>
              <a:defRPr sz="1800">
                <a:solidFill>
                  <a:srgbClr val="333333"/>
                </a:solidFill>
              </a:defRPr>
            </a:pPr>
            <a:r>
              <a:t>Slide 3 (Structure vs Behavior gap) - Core problem being solved</a:t>
            </a:r>
          </a:p>
          <a:p>
            <a:pPr>
              <a:spcAft>
                <a:spcPts val="600"/>
              </a:spcAft>
              <a:defRPr sz="1800">
                <a:solidFill>
                  <a:srgbClr val="333333"/>
                </a:solidFill>
              </a:defRPr>
            </a:pPr>
            <a:r>
              <a:t>Slide 8 (Operational scenario template) - Students will reuse this</a:t>
            </a:r>
          </a:p>
          <a:p>
            <a:pPr>
              <a:spcAft>
                <a:spcPts val="600"/>
              </a:spcAft>
              <a:defRPr sz="1800">
                <a:solidFill>
                  <a:srgbClr val="333333"/>
                </a:solidFill>
              </a:defRPr>
            </a:pPr>
            <a:r>
              <a:t>Slide 15 (Functional hierarchy) - Fundamental decomposition concept</a:t>
            </a:r>
          </a:p>
          <a:p>
            <a:pPr>
              <a:spcAft>
                <a:spcPts val="600"/>
              </a:spcAft>
              <a:defRPr sz="1800">
                <a:solidFill>
                  <a:srgbClr val="333333"/>
                </a:solidFill>
              </a:defRPr>
            </a:pPr>
            <a:r>
              <a:t>Slide 19 (FFBD notation) - Reference for all future FFBDs</a:t>
            </a:r>
          </a:p>
          <a:p>
            <a:pPr>
              <a:spcAft>
                <a:spcPts val="600"/>
              </a:spcAft>
              <a:defRPr sz="1800">
                <a:solidFill>
                  <a:srgbClr val="333333"/>
                </a:solidFill>
              </a:defRPr>
            </a:pPr>
            <a:r>
              <a:t>Slide 21 (FFBD continuous loop) - Real-world operational flow</a:t>
            </a:r>
          </a:p>
          <a:p>
            <a:pPr>
              <a:spcAft>
                <a:spcPts val="600"/>
              </a:spcAft>
              <a:defRPr sz="1800">
                <a:solidFill>
                  <a:srgbClr val="333333"/>
                </a:solidFill>
              </a:defRPr>
            </a:pPr>
            <a:r>
              <a:t>Slide 24 (Requirements allocation) - Closes traceability loop</a:t>
            </a:r>
          </a:p>
          <a:p>
            <a:pPr>
              <a:spcAft>
                <a:spcPts val="600"/>
              </a:spcAft>
              <a:defRPr sz="1800">
                <a:solidFill>
                  <a:srgbClr val="333333"/>
                </a:solidFill>
              </a:defRPr>
            </a:pPr>
            <a:r>
              <a:t>Slide 28 (Tesla case study) - Real-world consequences</a:t>
            </a:r>
          </a:p>
          <a:p>
            <a:pPr>
              <a:spcAft>
                <a:spcPts val="600"/>
              </a:spcAft>
              <a:defRPr sz="1800">
                <a:solidFill>
                  <a:srgbClr val="333333"/>
                </a:solidFill>
              </a:defRPr>
            </a:pPr>
            <a:r>
              <a:t>Slide 29 (Summary) - Students will photograph this</a:t>
            </a:r>
          </a:p>
          <a:p>
            <a:pPr>
              <a:spcAft>
                <a:spcPts val="600"/>
              </a:spcAft>
              <a:defRPr sz="1800">
                <a:solidFill>
                  <a:srgbClr val="333333"/>
                </a:solidFill>
              </a:defRPr>
            </a:pPr>
            <a:r>
              <a:t>Slide 8: Build operational scenario step-by-step (each element appears sequentially)</a:t>
            </a:r>
          </a:p>
          <a:p>
            <a:pPr>
              <a:spcAft>
                <a:spcPts val="600"/>
              </a:spcAft>
              <a:defRPr sz="1800">
                <a:solidFill>
                  <a:srgbClr val="333333"/>
                </a:solidFill>
              </a:defRPr>
            </a:pPr>
            <a:r>
              <a:t>Slide 15: Animate function hierarchy expanding from Level 0 → Level 1 → Level 2</a:t>
            </a:r>
          </a:p>
          <a:p>
            <a:pPr>
              <a:spcAft>
                <a:spcPts val="600"/>
              </a:spcAft>
              <a:defRPr sz="1800">
                <a:solidFill>
                  <a:srgbClr val="333333"/>
                </a:solidFill>
              </a:defRPr>
            </a:pPr>
            <a:r>
              <a:t>Slide 17: Highlight N² chart flows one-by-one to explain reading</a:t>
            </a:r>
          </a:p>
          <a:p>
            <a:pPr>
              <a:spcAft>
                <a:spcPts val="600"/>
              </a:spcAft>
              <a:defRPr sz="1800">
                <a:solidFill>
                  <a:srgbClr val="333333"/>
                </a:solidFill>
              </a:defRPr>
            </a:pPr>
            <a:r>
              <a:t>Slide 20: Animate FFBD flow execution (highlight boxes in sequence)</a:t>
            </a:r>
          </a:p>
          <a:p>
            <a:pPr>
              <a:spcAft>
                <a:spcPts val="600"/>
              </a:spcAft>
              <a:defRPr sz="1800">
                <a:solidFill>
                  <a:srgbClr val="333333"/>
                </a:solidFill>
              </a:defRPr>
            </a:pPr>
            <a:r>
              <a:t>Slide 25: Animate timeline bars appearing in sequence, highlight critical path</a:t>
            </a:r>
          </a:p>
          <a:p>
            <a:pPr>
              <a:spcAft>
                <a:spcPts val="600"/>
              </a:spcAft>
              <a:defRPr sz="1800">
                <a:solidFill>
                  <a:srgbClr val="333333"/>
                </a:solidFill>
              </a:defRPr>
            </a:pPr>
            <a:r>
              <a:t>Slide 9: Operational scenario matrix (modes × environments, 6×4 grid)</a:t>
            </a:r>
          </a:p>
          <a:p>
            <a:pPr>
              <a:spcAft>
                <a:spcPts val="600"/>
              </a:spcAft>
              <a:defRPr sz="1800">
                <a:solidFill>
                  <a:srgbClr val="333333"/>
                </a:solidFill>
              </a:defRPr>
            </a:pPr>
            <a:r>
              <a:t>Slide 12: Capability gap to requirements mapping (3-column table)</a:t>
            </a:r>
          </a:p>
          <a:p>
            <a:pPr>
              <a:spcAft>
                <a:spcPts val="600"/>
              </a:spcAft>
              <a:defRPr sz="1800">
                <a:solidFill>
                  <a:srgbClr val="333333"/>
                </a:solidFill>
              </a:defRPr>
            </a:pPr>
            <a:r>
              <a:t>Slide 17: N² chart (7×7 grid for LKA functions)</a:t>
            </a:r>
          </a:p>
          <a:p>
            <a:pPr>
              <a:spcAft>
                <a:spcPts val="600"/>
              </a:spcAft>
              <a:defRPr sz="1800">
                <a:solidFill>
                  <a:srgbClr val="333333"/>
                </a:solidFill>
              </a:defRPr>
            </a:pPr>
            <a:r>
              <a:t>Slide 24: Requirements Allocation Matrix (4-column table, 10+ rows)</a:t>
            </a:r>
          </a:p>
          <a:p>
            <a:pPr>
              <a:spcAft>
                <a:spcPts val="600"/>
              </a:spcAft>
              <a:defRPr sz="1800">
                <a:solidFill>
                  <a:srgbClr val="333333"/>
                </a:solidFill>
              </a:defRPr>
            </a:pPr>
            <a:r>
              <a:t>Slide 25: Timeline diagram (Gantt-style with millisecond scale)</a:t>
            </a:r>
          </a:p>
          <a:p>
            <a:pPr>
              <a:spcAft>
                <a:spcPts val="600"/>
              </a:spcAft>
              <a:defRPr sz="1800">
                <a:solidFill>
                  <a:srgbClr val="333333"/>
                </a:solidFill>
              </a:defRPr>
            </a:pPr>
            <a:r>
              <a:t>Actual LKA operational videos (lane keeping, override, deactivation)</a:t>
            </a:r>
          </a:p>
          <a:p>
            <a:pPr>
              <a:spcAft>
                <a:spcPts val="600"/>
              </a:spcAft>
              <a:defRPr sz="1800">
                <a:solidFill>
                  <a:srgbClr val="333333"/>
                </a:solidFill>
              </a:defRPr>
            </a:pPr>
            <a:r>
              <a:t>Screenshots of SysML Activity Diagrams (FFBD equivalent in MBSE)</a:t>
            </a:r>
          </a:p>
          <a:p>
            <a:pPr>
              <a:spcAft>
                <a:spcPts val="600"/>
              </a:spcAft>
              <a:defRPr sz="1800">
                <a:solidFill>
                  <a:srgbClr val="333333"/>
                </a:solidFill>
              </a:defRPr>
            </a:pPr>
            <a:r>
              <a:t>Real functional architecture diagrams from automotive standards</a:t>
            </a:r>
          </a:p>
          <a:p>
            <a:pPr>
              <a:spcAft>
                <a:spcPts val="600"/>
              </a:spcAft>
              <a:defRPr sz="1800">
                <a:solidFill>
                  <a:srgbClr val="333333"/>
                </a:solidFill>
              </a:defRPr>
            </a:pPr>
            <a:r>
              <a:t>Timeline analysis from real ADAS development projects (if available)</a:t>
            </a:r>
          </a:p>
          <a:p>
            <a:pPr>
              <a:spcAft>
                <a:spcPts val="600"/>
              </a:spcAft>
              <a:defRPr sz="1800">
                <a:solidFill>
                  <a:srgbClr val="333333"/>
                </a:solidFill>
              </a:defRPr>
            </a:pPr>
            <a:r>
              <a:t>Tesla Autopilot investigation NTSB report excerpts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INSTRUCTOR NOTES</a:t>
            </a:r>
          </a:p>
        </p:txBody>
      </p:sp>
      <p:sp>
        <p:nvSpPr>
          <p:cNvPr id="3" name="Content Placeholder 2"/>
          <p:cNvSpPr>
            <a:spLocks noGrp="1"/>
          </p:cNvSpPr>
          <p:nvPr>
            <p:ph idx="1"/>
          </p:nvPr>
        </p:nvSpPr>
        <p:spPr/>
        <p:txBody>
          <a:bodyPr/>
          <a:lstStyle/>
          <a:p>
            <a:pPr>
              <a:defRPr sz="2400" b="1">
                <a:solidFill>
                  <a:srgbClr val="2E5090"/>
                </a:solidFill>
              </a:defRPr>
            </a:pPr>
            <a:r>
              <a:t>Assessment Opportunities:</a:t>
            </a:r>
          </a:p>
          <a:p>
            <a:pPr>
              <a:spcAft>
                <a:spcPts val="600"/>
              </a:spcAft>
              <a:defRPr sz="1800">
                <a:solidFill>
                  <a:srgbClr val="333333"/>
                </a:solidFill>
              </a:defRPr>
            </a:pPr>
            <a:r>
              <a:t>Concrete → Abstract → Concrete: Start with LKA example, teach methods, apply to ACC/AEB</a:t>
            </a:r>
          </a:p>
          <a:p>
            <a:pPr>
              <a:spcAft>
                <a:spcPts val="600"/>
              </a:spcAft>
              <a:defRPr sz="1800">
                <a:solidFill>
                  <a:srgbClr val="333333"/>
                </a:solidFill>
              </a:defRPr>
            </a:pPr>
            <a:r>
              <a:t>Build complexity gradually: Scenarios → Functions → FFBDs → Allocation → Timing</a:t>
            </a:r>
          </a:p>
          <a:p>
            <a:pPr>
              <a:spcAft>
                <a:spcPts val="600"/>
              </a:spcAft>
              <a:defRPr sz="1800">
                <a:solidFill>
                  <a:srgbClr val="333333"/>
                </a:solidFill>
              </a:defRPr>
            </a:pPr>
            <a:r>
              <a:t>Use case study: Tesla Autopilot as cautionary tale (consequences of incomplete analysis)</a:t>
            </a:r>
          </a:p>
          <a:p>
            <a:pPr>
              <a:spcAft>
                <a:spcPts val="600"/>
              </a:spcAft>
              <a:defRPr sz="1800">
                <a:solidFill>
                  <a:srgbClr val="333333"/>
                </a:solidFill>
              </a:defRPr>
            </a:pPr>
            <a:r>
              <a:t>Tool exposure: Show MBSE tools (SysML Activity Diagrams) if possible</a:t>
            </a:r>
          </a:p>
          <a:p>
            <a:pPr>
              <a:spcAft>
                <a:spcPts val="600"/>
              </a:spcAft>
              <a:defRPr sz="1800">
                <a:solidFill>
                  <a:srgbClr val="333333"/>
                </a:solidFill>
              </a:defRPr>
            </a:pPr>
            <a:r>
              <a:t>Hands-on thinking: Walk through FFBD execution mentally, timing analysis calculations</a:t>
            </a:r>
          </a:p>
          <a:p>
            <a:pPr>
              <a:spcAft>
                <a:spcPts val="1000"/>
              </a:spcAft>
              <a:defRPr sz="1800">
                <a:solidFill>
                  <a:srgbClr val="333333"/>
                </a:solidFill>
              </a:defRPr>
            </a:pPr>
            <a:r>
              <a:t>Challenge 1: "This seems like a lot of documentation for obvious behavior"</a:t>
            </a:r>
          </a:p>
          <a:p>
            <a:pPr>
              <a:spcAft>
                <a:spcPts val="1000"/>
              </a:spcAft>
              <a:defRPr sz="1800">
                <a:solidFill>
                  <a:srgbClr val="333333"/>
                </a:solidFill>
              </a:defRPr>
            </a:pPr>
            <a:r>
              <a:t>How to address: Show Slide 28 (Tesla case). What seems "obvious" is often incomplete. Systematic analysis finds gaps. Ask: "Without writing it down, can you describe ALL scenarios for LKA including failures?" The answer is always no. Writing forces completeness.</a:t>
            </a:r>
          </a:p>
          <a:p>
            <a:pPr>
              <a:spcAft>
                <a:spcPts val="1000"/>
              </a:spcAft>
              <a:defRPr sz="1800">
                <a:solidFill>
                  <a:srgbClr val="333333"/>
                </a:solidFill>
              </a:defRPr>
            </a:pPr>
            <a:r>
              <a:t>Challenge 2: "How do I know when a function is at the right level of detail?"</a:t>
            </a:r>
          </a:p>
          <a:p>
            <a:pPr>
              <a:spcAft>
                <a:spcPts val="1000"/>
              </a:spcAft>
              <a:defRPr sz="1800">
                <a:solidFill>
                  <a:srgbClr val="333333"/>
                </a:solidFill>
              </a:defRPr>
            </a:pPr>
            <a:r>
              <a:t>How to address: — Too high-level: "Process data" (not specific enough)</a:t>
            </a:r>
          </a:p>
          <a:p>
            <a:pPr>
              <a:spcAft>
                <a:spcPts val="600"/>
              </a:spcAft>
              <a:defRPr sz="1800">
                <a:solidFill>
                  <a:srgbClr val="333333"/>
                </a:solidFill>
              </a:defRPr>
            </a:pPr>
            <a:r>
              <a:t>Too low-level: "Multiply matrix element [3,2] by scaling factor 0.95" (implementation detail)</a:t>
            </a:r>
          </a:p>
          <a:p>
            <a:pPr>
              <a:spcAft>
                <a:spcPts val="600"/>
              </a:spcAft>
              <a:defRPr sz="1800">
                <a:solidFill>
                  <a:srgbClr val="333333"/>
                </a:solidFill>
              </a:defRPr>
            </a:pPr>
            <a:r>
              <a:t>Just right: "Calculate lateral offset from lane center" (clear transformation, mappable to requirement and design)</a:t>
            </a:r>
          </a:p>
          <a:p>
            <a:pPr>
              <a:spcAft>
                <a:spcPts val="600"/>
              </a:spcAft>
              <a:defRPr sz="1800">
                <a:solidFill>
                  <a:srgbClr val="333333"/>
                </a:solidFill>
              </a:defRPr>
            </a:pPr>
            <a:r>
              <a:t>Rule of thumb: Function should map to verifiable requirement AND single design element (algorithm/module)</a:t>
            </a:r>
          </a:p>
          <a:p>
            <a:pPr>
              <a:spcAft>
                <a:spcPts val="1000"/>
              </a:spcAft>
              <a:defRPr sz="1800">
                <a:solidFill>
                  <a:srgbClr val="333333"/>
                </a:solidFill>
              </a:defRPr>
            </a:pPr>
            <a:r>
              <a:t>Challenge 3: "FFBD vs software flowchart - what's the difference?"</a:t>
            </a:r>
          </a:p>
          <a:p>
            <a:pPr>
              <a:spcAft>
                <a:spcPts val="1000"/>
              </a:spcAft>
              <a:defRPr sz="1800">
                <a:solidFill>
                  <a:srgbClr val="333333"/>
                </a:solidFill>
              </a:defRPr>
            </a:pPr>
            <a:r>
              <a:t>How to address: — FFBD: FUNCTIONAL view (what system does, technology-agnostic)</a:t>
            </a:r>
          </a:p>
          <a:p>
            <a:pPr>
              <a:spcAft>
                <a:spcPts val="600"/>
              </a:spcAft>
              <a:defRPr sz="1800">
                <a:solidFill>
                  <a:srgbClr val="333333"/>
                </a:solidFill>
              </a:defRPr>
            </a:pPr>
            <a:r>
              <a:t>Flowchart: IMPLEMENTATION view (how software implements)</a:t>
            </a:r>
          </a:p>
          <a:p>
            <a:pPr>
              <a:spcAft>
                <a:spcPts val="600"/>
              </a:spcAft>
              <a:defRPr sz="1800">
                <a:solidFill>
                  <a:srgbClr val="333333"/>
                </a:solidFill>
              </a:defRPr>
            </a:pPr>
            <a:r>
              <a:t>Example: FFBD shows "Detect lane markings" → could be implemented as neural network, classical CV, or sensor fusion</a:t>
            </a:r>
          </a:p>
          <a:p>
            <a:pPr>
              <a:spcAft>
                <a:spcPts val="600"/>
              </a:spcAft>
              <a:defRPr sz="1800">
                <a:solidFill>
                  <a:srgbClr val="333333"/>
                </a:solidFill>
              </a:defRPr>
            </a:pPr>
            <a:r>
              <a:t>FFBD is input to design, not design itself</a:t>
            </a:r>
          </a:p>
          <a:p>
            <a:pPr>
              <a:spcAft>
                <a:spcPts val="1000"/>
              </a:spcAft>
              <a:defRPr sz="1800">
                <a:solidFill>
                  <a:srgbClr val="333333"/>
                </a:solidFill>
              </a:defRPr>
            </a:pPr>
            <a:r>
              <a:t>Challenge 4: "Operational scenarios vs use cases - aren't they the same?"</a:t>
            </a:r>
          </a:p>
          <a:p>
            <a:pPr>
              <a:spcAft>
                <a:spcPts val="1000"/>
              </a:spcAft>
              <a:defRPr sz="1800">
                <a:solidFill>
                  <a:srgbClr val="333333"/>
                </a:solidFill>
              </a:defRPr>
            </a:pPr>
            <a:r>
              <a:t>How to address: — Operational scenario: Narrative description of system use (includes context, environment, sequence)</a:t>
            </a:r>
          </a:p>
          <a:p>
            <a:pPr>
              <a:spcAft>
                <a:spcPts val="600"/>
              </a:spcAft>
              <a:defRPr sz="1800">
                <a:solidFill>
                  <a:srgbClr val="333333"/>
                </a:solidFill>
              </a:defRPr>
            </a:pPr>
            <a:r>
              <a:t>Use case: Formal model of interaction (UML/SysML, focus on actor-system interaction)</a:t>
            </a:r>
          </a:p>
          <a:p>
            <a:pPr>
              <a:spcAft>
                <a:spcPts val="600"/>
              </a:spcAft>
              <a:defRPr sz="1800">
                <a:solidFill>
                  <a:srgbClr val="333333"/>
                </a:solidFill>
              </a:defRPr>
            </a:pPr>
            <a:r>
              <a:t>Relationship: Operational scenarios are SOURCE, use cases are FORMALIZATION</a:t>
            </a:r>
          </a:p>
          <a:p>
            <a:pPr>
              <a:spcAft>
                <a:spcPts val="600"/>
              </a:spcAft>
              <a:defRPr sz="1800">
                <a:solidFill>
                  <a:srgbClr val="333333"/>
                </a:solidFill>
              </a:defRPr>
            </a:pPr>
            <a:r>
              <a:t>Use cases are more structured, scenarios are more descriptive</a:t>
            </a:r>
          </a:p>
          <a:p>
            <a:pPr>
              <a:spcAft>
                <a:spcPts val="1000"/>
              </a:spcAft>
              <a:defRPr sz="1800">
                <a:solidFill>
                  <a:srgbClr val="333333"/>
                </a:solidFill>
              </a:defRPr>
            </a:pPr>
            <a:r>
              <a:t>Challenge 5: "How many scenarios do I need?"</a:t>
            </a:r>
          </a:p>
          <a:p>
            <a:pPr>
              <a:spcAft>
                <a:spcPts val="1000"/>
              </a:spcAft>
              <a:defRPr sz="1800">
                <a:solidFill>
                  <a:srgbClr val="333333"/>
                </a:solidFill>
              </a:defRPr>
            </a:pPr>
            <a:r>
              <a:t>How to address: Coverage criteria:</a:t>
            </a:r>
          </a:p>
          <a:p>
            <a:pPr>
              <a:spcAft>
                <a:spcPts val="600"/>
              </a:spcAft>
              <a:defRPr sz="1800">
                <a:solidFill>
                  <a:srgbClr val="333333"/>
                </a:solidFill>
              </a:defRPr>
            </a:pPr>
            <a:r>
              <a:t>Every operational mode (activation, operation, deactivation, failure)</a:t>
            </a:r>
          </a:p>
          <a:p>
            <a:pPr>
              <a:spcAft>
                <a:spcPts val="600"/>
              </a:spcAft>
              <a:defRPr sz="1800">
                <a:solidFill>
                  <a:srgbClr val="333333"/>
                </a:solidFill>
              </a:defRPr>
            </a:pPr>
            <a:r>
              <a:t>Critical environmental conditions (weather extremes, lighting, road types)</a:t>
            </a:r>
          </a:p>
          <a:p>
            <a:pPr>
              <a:spcAft>
                <a:spcPts val="600"/>
              </a:spcAft>
              <a:defRPr sz="1800">
                <a:solidFill>
                  <a:srgbClr val="333333"/>
                </a:solidFill>
              </a:defRPr>
            </a:pPr>
            <a:r>
              <a:t>Failure modes (sensor degraded, actuator limited, communication loss)</a:t>
            </a:r>
          </a:p>
          <a:p>
            <a:pPr>
              <a:spcAft>
                <a:spcPts val="600"/>
              </a:spcAft>
              <a:defRPr sz="1800">
                <a:solidFill>
                  <a:srgbClr val="333333"/>
                </a:solidFill>
              </a:defRPr>
            </a:pPr>
            <a:r>
              <a:t>Interaction scenarios (driver override, multi-system coordination)</a:t>
            </a:r>
          </a:p>
          <a:p>
            <a:pPr>
              <a:spcAft>
                <a:spcPts val="600"/>
              </a:spcAft>
              <a:defRPr sz="1800">
                <a:solidFill>
                  <a:srgbClr val="333333"/>
                </a:solidFill>
              </a:defRPr>
            </a:pPr>
            <a:r>
              <a:t>Rule of thumb: If scenario not covered, system behavior undefined (dangerous for safety-critical)</a:t>
            </a:r>
          </a:p>
          <a:p>
            <a:pPr>
              <a:spcAft>
                <a:spcPts val="600"/>
              </a:spcAft>
              <a:defRPr sz="1800">
                <a:solidFill>
                  <a:srgbClr val="333333"/>
                </a:solidFill>
              </a:defRPr>
            </a:pPr>
            <a:r>
              <a:t>Automotive ADAS: 30-50 scenarios typical</a:t>
            </a:r>
          </a:p>
          <a:p>
            <a:pPr>
              <a:spcAft>
                <a:spcPts val="1000"/>
              </a:spcAft>
              <a:defRPr sz="1800">
                <a:solidFill>
                  <a:srgbClr val="333333"/>
                </a:solidFill>
              </a:defRPr>
            </a:pPr>
            <a:r>
              <a:t>If running short: — Condense Slide 11 (Capability gap analysis) - brief overview</a:t>
            </a:r>
          </a:p>
          <a:p>
            <a:pPr>
              <a:spcAft>
                <a:spcPts val="600"/>
              </a:spcAft>
              <a:defRPr sz="1800">
                <a:solidFill>
                  <a:srgbClr val="333333"/>
                </a:solidFill>
              </a:defRPr>
            </a:pPr>
            <a:r>
              <a:t>Reduce Slide 16 (Decomposition methods) to primary method only</a:t>
            </a:r>
          </a:p>
          <a:p>
            <a:pPr>
              <a:spcAft>
                <a:spcPts val="600"/>
              </a:spcAft>
              <a:defRPr sz="1800">
                <a:solidFill>
                  <a:srgbClr val="333333"/>
                </a:solidFill>
              </a:defRPr>
            </a:pPr>
            <a:r>
              <a:t>Move Slide 27 (ACC example) to backup slides</a:t>
            </a:r>
          </a:p>
          <a:p>
            <a:pPr>
              <a:spcAft>
                <a:spcPts val="600"/>
              </a:spcAft>
              <a:defRPr sz="1800">
                <a:solidFill>
                  <a:srgbClr val="333333"/>
                </a:solidFill>
              </a:defRPr>
            </a:pPr>
            <a:r>
              <a:t>Shorten Slide 28 case study to bullet points</a:t>
            </a:r>
          </a:p>
          <a:p>
            <a:pPr>
              <a:spcAft>
                <a:spcPts val="1000"/>
              </a:spcAft>
              <a:defRPr sz="1800">
                <a:solidFill>
                  <a:srgbClr val="333333"/>
                </a:solidFill>
              </a:defRPr>
            </a:pPr>
            <a:r>
              <a:t>If running long: — Extend Slide 20-21 (FFBD) with live walkthrough exercise</a:t>
            </a:r>
          </a:p>
          <a:p>
            <a:pPr>
              <a:spcAft>
                <a:spcPts val="600"/>
              </a:spcAft>
              <a:defRPr sz="1800">
                <a:solidFill>
                  <a:srgbClr val="333333"/>
                </a:solidFill>
              </a:defRPr>
            </a:pPr>
            <a:r>
              <a:t>Add interactive FFBD development (students contribute steps)</a:t>
            </a:r>
          </a:p>
          <a:p>
            <a:pPr>
              <a:spcAft>
                <a:spcPts val="600"/>
              </a:spcAft>
              <a:defRPr sz="1800">
                <a:solidFill>
                  <a:srgbClr val="333333"/>
                </a:solidFill>
              </a:defRPr>
            </a:pPr>
            <a:r>
              <a:t>Show live MBSE tool demo (Cameo Activity Diagram)</a:t>
            </a:r>
          </a:p>
          <a:p>
            <a:pPr>
              <a:spcAft>
                <a:spcPts val="600"/>
              </a:spcAft>
              <a:defRPr sz="1800">
                <a:solidFill>
                  <a:srgbClr val="333333"/>
                </a:solidFill>
              </a:defRPr>
            </a:pPr>
            <a:r>
              <a:t>Deeper dive into timing analysis with real calculations</a:t>
            </a:r>
          </a:p>
          <a:p>
            <a:pPr>
              <a:spcAft>
                <a:spcPts val="1000"/>
              </a:spcAft>
              <a:defRPr sz="1800">
                <a:solidFill>
                  <a:srgbClr val="333333"/>
                </a:solidFill>
              </a:defRPr>
            </a:pPr>
            <a:r>
              <a:t>Core content (must cover - non-negotiable): — Slides 8-9 (Operational scenarios)</a:t>
            </a:r>
          </a:p>
          <a:p>
            <a:pPr>
              <a:spcAft>
                <a:spcPts val="600"/>
              </a:spcAft>
              <a:defRPr sz="1800">
                <a:solidFill>
                  <a:srgbClr val="333333"/>
                </a:solidFill>
              </a:defRPr>
            </a:pPr>
            <a:r>
              <a:t>Slides 14-15 (Functional decomposition)</a:t>
            </a:r>
          </a:p>
          <a:p>
            <a:pPr>
              <a:spcAft>
                <a:spcPts val="600"/>
              </a:spcAft>
              <a:defRPr sz="1800">
                <a:solidFill>
                  <a:srgbClr val="333333"/>
                </a:solidFill>
              </a:defRPr>
            </a:pPr>
            <a:r>
              <a:t>Slides 19-21 (FFBD fundamentals and examples)</a:t>
            </a:r>
          </a:p>
          <a:p>
            <a:pPr>
              <a:spcAft>
                <a:spcPts val="600"/>
              </a:spcAft>
              <a:defRPr sz="1800">
                <a:solidFill>
                  <a:srgbClr val="333333"/>
                </a:solidFill>
              </a:defRPr>
            </a:pPr>
            <a:r>
              <a:t>Slide 24 (Requirements allocation)</a:t>
            </a:r>
          </a:p>
          <a:p>
            <a:pPr>
              <a:spcAft>
                <a:spcPts val="600"/>
              </a:spcAft>
              <a:defRPr sz="1800">
                <a:solidFill>
                  <a:srgbClr val="333333"/>
                </a:solidFill>
              </a:defRPr>
            </a:pPr>
            <a:r>
              <a:t>Slide 25 (Timeline analysis)</a:t>
            </a:r>
          </a:p>
          <a:p>
            <a:pPr>
              <a:spcAft>
                <a:spcPts val="600"/>
              </a:spcAft>
              <a:defRPr sz="1800">
                <a:solidFill>
                  <a:srgbClr val="333333"/>
                </a:solidFill>
              </a:defRPr>
            </a:pPr>
            <a:r>
              <a:t>Slide 28 (Case study - consequences)</a:t>
            </a:r>
          </a:p>
          <a:p>
            <a:pPr>
              <a:spcAft>
                <a:spcPts val="600"/>
              </a:spcAft>
              <a:defRPr sz="1800">
                <a:solidFill>
                  <a:srgbClr val="333333"/>
                </a:solidFill>
              </a:defRPr>
            </a:pPr>
            <a:r>
              <a:t>Slide 29 (Summary)</a:t>
            </a:r>
          </a:p>
          <a:p>
            <a:pPr>
              <a:spcAft>
                <a:spcPts val="1000"/>
              </a:spcAft>
              <a:defRPr sz="1800">
                <a:solidFill>
                  <a:srgbClr val="333333"/>
                </a:solidFill>
              </a:defRPr>
            </a:pPr>
            <a:r>
              <a:t>Slide 7: Interactive - Ask students: "What operational questions do YOU think we need to answer for LKA?" Crowdsource list, then show comprehensive list.</a:t>
            </a:r>
          </a:p>
          <a:p>
            <a:pPr>
              <a:spcAft>
                <a:spcPts val="1000"/>
              </a:spcAft>
              <a:defRPr sz="1800">
                <a:solidFill>
                  <a:srgbClr val="333333"/>
                </a:solidFill>
              </a:defRPr>
            </a:pPr>
            <a:r>
              <a:t>Slide 15: Work through decomposition together - Show Level 1 function, ask students to propose Level 2 decomposition before revealing.</a:t>
            </a:r>
          </a:p>
          <a:p>
            <a:pPr>
              <a:spcAft>
                <a:spcPts val="1000"/>
              </a:spcAft>
              <a:defRPr sz="1800">
                <a:solidFill>
                  <a:srgbClr val="333333"/>
                </a:solidFill>
              </a:defRPr>
            </a:pPr>
            <a:r>
              <a:t>Slide 20: Walk through FFBD execution - "You are the system. What do you do first? Next? What if this condition occurs?</a:t>
            </a:r>
          </a:p>
          <a:p>
            <a:pPr>
              <a:spcAft>
                <a:spcPts val="1000"/>
              </a:spcAft>
              <a:defRPr sz="1800">
                <a:solidFill>
                  <a:srgbClr val="333333"/>
                </a:solidFill>
              </a:defRPr>
            </a:pPr>
            <a:r>
              <a:t>Slide 25: Timeline calculation - Give students timing values, ask them to calculate total cycle time and identify if requirement is met.</a:t>
            </a:r>
          </a:p>
          <a:p>
            <a:pPr>
              <a:spcAft>
                <a:spcPts val="1000"/>
              </a:spcAft>
              <a:defRPr sz="1800">
                <a:solidFill>
                  <a:srgbClr val="333333"/>
                </a:solidFill>
              </a:defRPr>
            </a:pPr>
            <a:r>
              <a:t>Slide 28: Case study discussion - "If you were the systems engineer, at what point in functional analysis would this gap be discovered?</a:t>
            </a:r>
          </a:p>
          <a:p>
            <a:pPr>
              <a:spcAft>
                <a:spcPts val="1000"/>
              </a:spcAft>
              <a:defRPr sz="1800">
                <a:solidFill>
                  <a:srgbClr val="333333"/>
                </a:solidFill>
              </a:defRPr>
            </a:pPr>
            <a:r>
              <a:t>Quick Poll (Slide 4): "How many have worked on systems where unexpected behavior occurred during integration?" (Most will raise hands - validates need for functional analysis)</a:t>
            </a:r>
          </a:p>
          <a:p>
            <a:pPr>
              <a:spcAft>
                <a:spcPts val="1000"/>
              </a:spcAft>
              <a:defRPr sz="1800">
                <a:solidFill>
                  <a:srgbClr val="333333"/>
                </a:solidFill>
              </a:defRPr>
            </a:pPr>
            <a:r>
              <a:t>Pair Exercise (Slide 9): Give pairs 5 minutes to identify operational scenarios for "automatic headlight control." Share and critique.</a:t>
            </a:r>
          </a:p>
          <a:p>
            <a:pPr>
              <a:spcAft>
                <a:spcPts val="1000"/>
              </a:spcAft>
              <a:defRPr sz="1800">
                <a:solidFill>
                  <a:srgbClr val="333333"/>
                </a:solidFill>
              </a:defRPr>
            </a:pPr>
            <a:r>
              <a:t>Think-Pair-Share (Slide 21): "What happens if function 2.0 (lane detection) fails during execution? Where does FFBD go?" Discuss failure handling.</a:t>
            </a:r>
          </a:p>
          <a:p>
            <a:pPr>
              <a:spcAft>
                <a:spcPts val="1000"/>
              </a:spcAft>
              <a:defRPr sz="1800">
                <a:solidFill>
                  <a:srgbClr val="333333"/>
                </a:solidFill>
              </a:defRPr>
            </a:pPr>
            <a:r>
              <a:t>Case Analysis (Slide 28): Small groups: "List 3 operational scenarios that would have identified the Tesla Autopilot gap." Share findings.</a:t>
            </a:r>
          </a:p>
          <a:p>
            <a:pPr>
              <a:spcAft>
                <a:spcPts val="1000"/>
              </a:spcAft>
              <a:defRPr sz="1800">
                <a:solidFill>
                  <a:srgbClr val="333333"/>
                </a:solidFill>
              </a:defRPr>
            </a:pPr>
            <a:r>
              <a:t>Before class: — [ ] FFBD templates (blank diagrams for students to follow along)</a:t>
            </a:r>
          </a:p>
          <a:p>
            <a:pPr>
              <a:spcAft>
                <a:spcPts val="600"/>
              </a:spcAft>
              <a:defRPr sz="1800">
                <a:solidFill>
                  <a:srgbClr val="333333"/>
                </a:solidFill>
              </a:defRPr>
            </a:pPr>
            <a:r>
              <a:t>[ ] Operational scenario template (from Slide 8)</a:t>
            </a:r>
          </a:p>
          <a:p>
            <a:pPr>
              <a:spcAft>
                <a:spcPts val="600"/>
              </a:spcAft>
              <a:defRPr sz="1800">
                <a:solidFill>
                  <a:srgbClr val="333333"/>
                </a:solidFill>
              </a:defRPr>
            </a:pPr>
            <a:r>
              <a:t>[ ] N² chart template (Excel or PowerPoint)</a:t>
            </a:r>
          </a:p>
          <a:p>
            <a:pPr>
              <a:spcAft>
                <a:spcPts val="600"/>
              </a:spcAft>
              <a:defRPr sz="1800">
                <a:solidFill>
                  <a:srgbClr val="333333"/>
                </a:solidFill>
              </a:defRPr>
            </a:pPr>
            <a:r>
              <a:t>[ ] Timeline analysis spreadsheet example</a:t>
            </a:r>
          </a:p>
          <a:p>
            <a:pPr>
              <a:spcAft>
                <a:spcPts val="600"/>
              </a:spcAft>
              <a:defRPr sz="1800">
                <a:solidFill>
                  <a:srgbClr val="333333"/>
                </a:solidFill>
              </a:defRPr>
            </a:pPr>
            <a:r>
              <a:t>[ ] MBSE tool screenshots or demo (Cameo/EA Activity Diagrams)</a:t>
            </a:r>
          </a:p>
          <a:p>
            <a:pPr>
              <a:spcAft>
                <a:spcPts val="600"/>
              </a:spcAft>
              <a:defRPr sz="1800">
                <a:solidFill>
                  <a:srgbClr val="333333"/>
                </a:solidFill>
              </a:defRPr>
            </a:pPr>
            <a:r>
              <a:t>[ ] Tesla Autopilot NTSB report excerpts (Slide 28 case study)</a:t>
            </a:r>
          </a:p>
          <a:p>
            <a:pPr>
              <a:spcAft>
                <a:spcPts val="1000"/>
              </a:spcAft>
              <a:defRPr sz="1800">
                <a:solidFill>
                  <a:srgbClr val="333333"/>
                </a:solidFill>
              </a:defRPr>
            </a:pPr>
            <a:r>
              <a:t>Handouts: — [ ] FFBD notation reference card (symbols and meanings)</a:t>
            </a:r>
          </a:p>
          <a:p>
            <a:pPr>
              <a:spcAft>
                <a:spcPts val="600"/>
              </a:spcAft>
              <a:defRPr sz="1800">
                <a:solidFill>
                  <a:srgbClr val="333333"/>
                </a:solidFill>
              </a:defRPr>
            </a:pPr>
            <a:r>
              <a:t>[ ] Operational scenario template (1-page)</a:t>
            </a:r>
          </a:p>
          <a:p>
            <a:pPr>
              <a:spcAft>
                <a:spcPts val="600"/>
              </a:spcAft>
              <a:defRPr sz="1800">
                <a:solidFill>
                  <a:srgbClr val="333333"/>
                </a:solidFill>
              </a:defRPr>
            </a:pPr>
            <a:r>
              <a:t>[ ] Functional decomposition checklist</a:t>
            </a:r>
          </a:p>
          <a:p>
            <a:pPr>
              <a:spcAft>
                <a:spcPts val="600"/>
              </a:spcAft>
              <a:defRPr sz="1800">
                <a:solidFill>
                  <a:srgbClr val="333333"/>
                </a:solidFill>
              </a:defRPr>
            </a:pPr>
            <a:r>
              <a:t>[ ] Requirements allocation matrix (RAM) template (Excel)</a:t>
            </a:r>
          </a:p>
          <a:p>
            <a:pPr>
              <a:spcAft>
                <a:spcPts val="600"/>
              </a:spcAft>
              <a:defRPr sz="1800">
                <a:solidFill>
                  <a:srgbClr val="333333"/>
                </a:solidFill>
              </a:defRPr>
            </a:pPr>
            <a:r>
              <a:t>[ ] Timeline analysis worksheet</a:t>
            </a:r>
          </a:p>
          <a:p>
            <a:pPr>
              <a:spcAft>
                <a:spcPts val="1000"/>
              </a:spcAft>
              <a:defRPr sz="1800">
                <a:solidFill>
                  <a:srgbClr val="333333"/>
                </a:solidFill>
              </a:defRPr>
            </a:pPr>
            <a:r>
              <a:t>Post-class: — [ ] Share slides</a:t>
            </a:r>
          </a:p>
          <a:p>
            <a:pPr>
              <a:spcAft>
                <a:spcPts val="600"/>
              </a:spcAft>
              <a:defRPr sz="1800">
                <a:solidFill>
                  <a:srgbClr val="333333"/>
                </a:solidFill>
              </a:defRPr>
            </a:pPr>
            <a:r>
              <a:t>[ ] Post exercise assignment with templates</a:t>
            </a:r>
          </a:p>
          <a:p>
            <a:pPr>
              <a:spcAft>
                <a:spcPts val="600"/>
              </a:spcAft>
              <a:defRPr sz="1800">
                <a:solidFill>
                  <a:srgbClr val="333333"/>
                </a:solidFill>
              </a:defRPr>
            </a:pPr>
            <a:r>
              <a:t>[ ] Post FFBD examples and notation guide</a:t>
            </a:r>
          </a:p>
          <a:p>
            <a:pPr>
              <a:spcAft>
                <a:spcPts val="600"/>
              </a:spcAft>
              <a:defRPr sz="1800">
                <a:solidFill>
                  <a:srgbClr val="333333"/>
                </a:solidFill>
              </a:defRPr>
            </a:pPr>
            <a:r>
              <a:t>[ ] Share links to: INCOSE Handbook Ch. 4.3, NASA SE Handbook 4.4, ISO 26262-3</a:t>
            </a:r>
          </a:p>
          <a:p>
            <a:pPr>
              <a:spcAft>
                <a:spcPts val="600"/>
              </a:spcAft>
              <a:defRPr sz="1800">
                <a:solidFill>
                  <a:srgbClr val="333333"/>
                </a:solidFill>
              </a:defRPr>
            </a:pPr>
            <a:r>
              <a:t>[ ] Create discussion forum: "Share an operational scenario that's often forgotten in ADAS design</a:t>
            </a:r>
          </a:p>
          <a:p>
            <a:pPr>
              <a:spcAft>
                <a:spcPts val="1000"/>
              </a:spcAft>
              <a:defRPr sz="1800">
                <a:solidFill>
                  <a:srgbClr val="333333"/>
                </a:solidFill>
              </a:defRPr>
            </a:pPr>
            <a:r>
              <a:t>During lecture: — Quick quiz (Slide 10): "Is this a good operational scenario?" (show example, students critique)</a:t>
            </a:r>
          </a:p>
          <a:p>
            <a:pPr>
              <a:spcAft>
                <a:spcPts val="600"/>
              </a:spcAft>
              <a:defRPr sz="1800">
                <a:solidFill>
                  <a:srgbClr val="333333"/>
                </a:solidFill>
              </a:defRPr>
            </a:pPr>
            <a:r>
              <a:t>Quick quiz (Slide 15): "At what level should this function stop being decomposed?</a:t>
            </a:r>
          </a:p>
          <a:p>
            <a:pPr>
              <a:spcAft>
                <a:spcPts val="600"/>
              </a:spcAft>
              <a:defRPr sz="1800">
                <a:solidFill>
                  <a:srgbClr val="333333"/>
                </a:solidFill>
              </a:defRPr>
            </a:pPr>
            <a:r>
              <a:t>Quick quiz (Slide 19): "What does this FFBD symbol mean?</a:t>
            </a:r>
          </a:p>
          <a:p>
            <a:pPr>
              <a:spcAft>
                <a:spcPts val="1000"/>
              </a:spcAft>
              <a:defRPr sz="1800">
                <a:solidFill>
                  <a:srgbClr val="333333"/>
                </a:solidFill>
              </a:defRPr>
            </a:pPr>
            <a:r>
              <a:t>Exercise assessment criteria: — Operational scenario completeness (Did they cover failure modes? Edge cases?)</a:t>
            </a:r>
          </a:p>
          <a:p>
            <a:pPr>
              <a:spcAft>
                <a:spcPts val="600"/>
              </a:spcAft>
              <a:defRPr sz="1800">
                <a:solidFill>
                  <a:srgbClr val="333333"/>
                </a:solidFill>
              </a:defRPr>
            </a:pPr>
            <a:r>
              <a:t>Functional decomposition quality (Appropriate granularity? Technology-agnostic?)</a:t>
            </a:r>
          </a:p>
          <a:p>
            <a:pPr>
              <a:spcAft>
                <a:spcPts val="600"/>
              </a:spcAft>
              <a:defRPr sz="1800">
                <a:solidFill>
                  <a:srgbClr val="333333"/>
                </a:solidFill>
              </a:defRPr>
            </a:pPr>
            <a:r>
              <a:t>FFBD correctness (Proper notation? Logical flow? Timing realistic?)</a:t>
            </a:r>
          </a:p>
          <a:p>
            <a:pPr>
              <a:spcAft>
                <a:spcPts val="600"/>
              </a:spcAft>
              <a:defRPr sz="1800">
                <a:solidFill>
                  <a:srgbClr val="333333"/>
                </a:solidFill>
              </a:defRPr>
            </a:pPr>
            <a:r>
              <a:t>Requirements traceability (All requirements mapped? Bidirectional links?)</a:t>
            </a:r>
          </a:p>
          <a:p>
            <a:pPr>
              <a:spcAft>
                <a:spcPts val="600"/>
              </a:spcAft>
              <a:defRPr sz="1800">
                <a:solidFill>
                  <a:srgbClr val="333333"/>
                </a:solidFill>
              </a:defRPr>
            </a:pPr>
            <a:r>
              <a:t>Professional presentation (Clear diagrams? Proper labeling? Readable?)</a:t>
            </a:r>
          </a:p>
          <a:p>
            <a:pPr>
              <a:spcAft>
                <a:spcPts val="1000"/>
              </a:spcAft>
              <a:defRPr sz="1800">
                <a:solidFill>
                  <a:srgbClr val="333333"/>
                </a:solidFill>
              </a:defRPr>
            </a:pPr>
            <a:r>
              <a:t>Common student mistakes to watch for: — Operational scenarios that are too vague ("System works normally")</a:t>
            </a:r>
          </a:p>
          <a:p>
            <a:pPr>
              <a:spcAft>
                <a:spcPts val="600"/>
              </a:spcAft>
              <a:defRPr sz="1800">
                <a:solidFill>
                  <a:srgbClr val="333333"/>
                </a:solidFill>
              </a:defRPr>
            </a:pPr>
            <a:r>
              <a:t>Functions that are really components ("Radar module" instead of "Detect objects")</a:t>
            </a:r>
          </a:p>
          <a:p>
            <a:pPr>
              <a:spcAft>
                <a:spcPts val="600"/>
              </a:spcAft>
              <a:defRPr sz="1800">
                <a:solidFill>
                  <a:srgbClr val="333333"/>
                </a:solidFill>
              </a:defRPr>
            </a:pPr>
            <a:r>
              <a:t>FFBDs missing failure paths (only happy path)</a:t>
            </a:r>
          </a:p>
          <a:p>
            <a:pPr>
              <a:spcAft>
                <a:spcPts val="600"/>
              </a:spcAft>
              <a:defRPr sz="1800">
                <a:solidFill>
                  <a:srgbClr val="333333"/>
                </a:solidFill>
              </a:defRPr>
            </a:pPr>
            <a:r>
              <a:t>Timing analysis with optimistic estimates (no margin)</a:t>
            </a:r>
          </a:p>
          <a:p>
            <a:pPr>
              <a:spcAft>
                <a:spcPts val="600"/>
              </a:spcAft>
              <a:defRPr sz="1800">
                <a:solidFill>
                  <a:srgbClr val="333333"/>
                </a:solidFill>
              </a:defRPr>
            </a:pPr>
            <a:r>
              <a:t>Requirements not allocated to any function (orphan requirements)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Session Success Criteria</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Students leave able to:</a:t>
            </a:r>
          </a:p>
          <a:p>
            <a:pPr>
              <a:spcAft>
                <a:spcPts val="600"/>
              </a:spcAft>
              <a:defRPr sz="1800">
                <a:solidFill>
                  <a:srgbClr val="333333"/>
                </a:solidFill>
              </a:defRPr>
            </a:pPr>
            <a:r>
              <a:t>✓ Develop comprehensive operational scenarios for automotive systems</a:t>
            </a:r>
          </a:p>
          <a:p>
            <a:pPr>
              <a:spcAft>
                <a:spcPts val="600"/>
              </a:spcAft>
              <a:defRPr sz="1800">
                <a:solidFill>
                  <a:srgbClr val="333333"/>
                </a:solidFill>
              </a:defRPr>
            </a:pPr>
            <a:r>
              <a:t>✓ Perform capability gap analysis to identify functional requirements</a:t>
            </a:r>
          </a:p>
          <a:p>
            <a:pPr>
              <a:spcAft>
                <a:spcPts val="600"/>
              </a:spcAft>
              <a:defRPr sz="1800">
                <a:solidFill>
                  <a:srgbClr val="333333"/>
                </a:solidFill>
              </a:defRPr>
            </a:pPr>
            <a:r>
              <a:t>✓ Decompose system behavior into hierarchical functions</a:t>
            </a:r>
          </a:p>
          <a:p>
            <a:pPr>
              <a:spcAft>
                <a:spcPts val="600"/>
              </a:spcAft>
              <a:defRPr sz="1800">
                <a:solidFill>
                  <a:srgbClr val="333333"/>
                </a:solidFill>
              </a:defRPr>
            </a:pPr>
            <a:r>
              <a:t>✓ Create functional flow block diagrams (FFBDs) using standard notation</a:t>
            </a:r>
          </a:p>
          <a:p>
            <a:pPr>
              <a:spcAft>
                <a:spcPts val="600"/>
              </a:spcAft>
              <a:defRPr sz="1800">
                <a:solidFill>
                  <a:srgbClr val="333333"/>
                </a:solidFill>
              </a:defRPr>
            </a:pPr>
            <a:r>
              <a:t>✓ Model sequential, parallel, and conditional operational flows</a:t>
            </a:r>
          </a:p>
          <a:p>
            <a:pPr>
              <a:spcAft>
                <a:spcPts val="600"/>
              </a:spcAft>
              <a:defRPr sz="1800">
                <a:solidFill>
                  <a:srgbClr val="333333"/>
                </a:solidFill>
              </a:defRPr>
            </a:pPr>
            <a:r>
              <a:t>✓ Allocate requirements to functions systematically</a:t>
            </a:r>
          </a:p>
          <a:p>
            <a:pPr>
              <a:spcAft>
                <a:spcPts val="600"/>
              </a:spcAft>
              <a:defRPr sz="1800">
                <a:solidFill>
                  <a:srgbClr val="333333"/>
                </a:solidFill>
              </a:defRPr>
            </a:pPr>
            <a:r>
              <a:t>✓ Perform timeline analysis to validate temporal feasibility</a:t>
            </a:r>
          </a:p>
          <a:p>
            <a:pPr>
              <a:spcAft>
                <a:spcPts val="600"/>
              </a:spcAft>
              <a:defRPr sz="1800">
                <a:solidFill>
                  <a:srgbClr val="333333"/>
                </a:solidFill>
              </a:defRPr>
            </a:pPr>
            <a:r>
              <a:t>✓ Understand the link between functional analysis and system architecture</a:t>
            </a:r>
          </a:p>
          <a:p>
            <a:pPr>
              <a:spcAft>
                <a:spcPts val="600"/>
              </a:spcAft>
              <a:defRPr sz="1800">
                <a:solidFill>
                  <a:srgbClr val="333333"/>
                </a:solidFill>
              </a:defRPr>
            </a:pPr>
            <a:r>
              <a:t>✓ Recognize consequences of incomplete functional analysis (safety implications)</a:t>
            </a:r>
          </a:p>
          <a:p>
            <a:pPr>
              <a:spcAft>
                <a:spcPts val="1000"/>
              </a:spcAft>
              <a:defRPr sz="1800">
                <a:solidFill>
                  <a:srgbClr val="333333"/>
                </a:solidFill>
              </a:defRPr>
            </a:pPr>
            <a:r>
              <a:t>Critical outcome: Students can analyze operational behavior systematically and create functional models that bridge requirements and design, ensuring complete coverage of operational scenarios.</a:t>
            </a:r>
          </a:p>
          <a:p>
            <a:pPr>
              <a:spcAft>
                <a:spcPts val="1000"/>
              </a:spcAft>
              <a:defRPr sz="1800">
                <a:solidFill>
                  <a:srgbClr val="333333"/>
                </a:solidFill>
              </a:defRPr>
            </a:pPr>
            <a:r>
              <a:t>Evidence of success: — Student can develop FFBD for a given automotive scenario</a:t>
            </a:r>
          </a:p>
          <a:p>
            <a:pPr>
              <a:spcAft>
                <a:spcPts val="600"/>
              </a:spcAft>
              <a:defRPr sz="1800">
                <a:solidFill>
                  <a:srgbClr val="333333"/>
                </a:solidFill>
              </a:defRPr>
            </a:pPr>
            <a:r>
              <a:t>Student can identify missing operational scenarios through systematic enumeration</a:t>
            </a:r>
          </a:p>
          <a:p>
            <a:pPr>
              <a:spcAft>
                <a:spcPts val="600"/>
              </a:spcAft>
              <a:defRPr sz="1800">
                <a:solidFill>
                  <a:srgbClr val="333333"/>
                </a:solidFill>
              </a:defRPr>
            </a:pPr>
            <a:r>
              <a:t>Student can explain how functions map to requirements and to physical architecture</a:t>
            </a:r>
          </a:p>
          <a:p>
            <a:pPr>
              <a:spcAft>
                <a:spcPts val="600"/>
              </a:spcAft>
              <a:defRPr sz="1800">
                <a:solidFill>
                  <a:srgbClr val="333333"/>
                </a:solidFill>
              </a:defRPr>
            </a:pPr>
            <a:r>
              <a:t>Student can perform basic timeline analysis and identify critical paths</a:t>
            </a:r>
          </a:p>
          <a:p>
            <a:pPr>
              <a:spcAft>
                <a:spcPts val="600"/>
              </a:spcAft>
              <a:defRPr sz="1800">
                <a:solidFill>
                  <a:srgbClr val="333333"/>
                </a:solidFill>
              </a:defRPr>
            </a:pPr>
            <a:r>
              <a:t>Student understands why Tesla Autopilot crash was a functional analysis failure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Additional Resources for Students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Standards and Guidelines: — INCOSE Systems Engineering Handbook v4, Chapter 4.3: Functional Analysis</a:t>
            </a:r>
          </a:p>
          <a:p>
            <a:pPr>
              <a:spcAft>
                <a:spcPts val="600"/>
              </a:spcAft>
              <a:defRPr sz="1800">
                <a:solidFill>
                  <a:srgbClr val="333333"/>
                </a:solidFill>
              </a:defRPr>
            </a:pPr>
            <a:r>
              <a:t>NASA Systems Engineering Handbook, Section 4.4: Functional Analysis and Allocation</a:t>
            </a:r>
          </a:p>
          <a:p>
            <a:pPr>
              <a:spcAft>
                <a:spcPts val="600"/>
              </a:spcAft>
              <a:defRPr sz="1800">
                <a:solidFill>
                  <a:srgbClr val="333333"/>
                </a:solidFill>
              </a:defRPr>
            </a:pPr>
            <a:r>
              <a:t>IEEE 1220-2005: Standard for Application and Management of the Systems Engineering Process (Functional Analysis)</a:t>
            </a:r>
          </a:p>
          <a:p>
            <a:pPr>
              <a:spcAft>
                <a:spcPts val="600"/>
              </a:spcAft>
              <a:defRPr sz="1800">
                <a:solidFill>
                  <a:srgbClr val="333333"/>
                </a:solidFill>
              </a:defRPr>
            </a:pPr>
            <a:r>
              <a:t>ISO/IEC/IEEE 15288:2015: Systems Life Cycle Processes (Functional Analysis activities)</a:t>
            </a:r>
          </a:p>
          <a:p>
            <a:pPr>
              <a:spcAft>
                <a:spcPts val="1000"/>
              </a:spcAft>
              <a:defRPr sz="1800">
                <a:solidFill>
                  <a:srgbClr val="333333"/>
                </a:solidFill>
              </a:defRPr>
            </a:pPr>
            <a:r>
              <a:t>Automotive-Specific: — ISO 26262-3:2018: Road Vehicles - Functional Safety - Part 3: Concept Phase (Functional Safety Concept)</a:t>
            </a:r>
          </a:p>
          <a:p>
            <a:pPr>
              <a:spcAft>
                <a:spcPts val="600"/>
              </a:spcAft>
              <a:defRPr sz="1800">
                <a:solidFill>
                  <a:srgbClr val="333333"/>
                </a:solidFill>
              </a:defRPr>
            </a:pPr>
            <a:r>
              <a:t>SAE J3016: Taxonomy and Definitions for Terms Related to Driving Automation Systems (for ADAS scenarios)</a:t>
            </a:r>
          </a:p>
          <a:p>
            <a:pPr>
              <a:spcAft>
                <a:spcPts val="600"/>
              </a:spcAft>
              <a:defRPr sz="1800">
                <a:solidFill>
                  <a:srgbClr val="333333"/>
                </a:solidFill>
              </a:defRPr>
            </a:pPr>
            <a:r>
              <a:t>UN Regulation No. 152: Advanced Emergency Braking Systems (operational scenarios)</a:t>
            </a:r>
          </a:p>
          <a:p>
            <a:pPr>
              <a:spcAft>
                <a:spcPts val="600"/>
              </a:spcAft>
              <a:defRPr sz="1800">
                <a:solidFill>
                  <a:srgbClr val="333333"/>
                </a:solidFill>
              </a:defRPr>
            </a:pPr>
            <a:r>
              <a:t>Euro NCAP AEB Test Protocol (operational scenario definitions)</a:t>
            </a:r>
          </a:p>
          <a:p>
            <a:pPr>
              <a:spcAft>
                <a:spcPts val="1000"/>
              </a:spcAft>
              <a:defRPr sz="1800">
                <a:solidFill>
                  <a:srgbClr val="333333"/>
                </a:solidFill>
              </a:defRPr>
            </a:pPr>
            <a:r>
              <a:t>FFBD and Functional Modeling: — "Functional Flow Block Diagrams" - NASA Technical Report (free online)</a:t>
            </a:r>
          </a:p>
          <a:p>
            <a:pPr>
              <a:spcAft>
                <a:spcPts val="600"/>
              </a:spcAft>
              <a:defRPr sz="1800">
                <a:solidFill>
                  <a:srgbClr val="333333"/>
                </a:solidFill>
              </a:defRPr>
            </a:pPr>
            <a:r>
              <a:t>"Activity Diagrams in SysML" - OMG SysML Specification v1.6</a:t>
            </a:r>
          </a:p>
          <a:p>
            <a:pPr>
              <a:spcAft>
                <a:spcPts val="600"/>
              </a:spcAft>
              <a:defRPr sz="1800">
                <a:solidFill>
                  <a:srgbClr val="333333"/>
                </a:solidFill>
              </a:defRPr>
            </a:pPr>
            <a:r>
              <a:t>"Use Case Modeling" - Alistair Cockburn (scenarios and use cases)</a:t>
            </a:r>
          </a:p>
          <a:p>
            <a:pPr>
              <a:spcAft>
                <a:spcPts val="1000"/>
              </a:spcAft>
              <a:defRPr sz="1800">
                <a:solidFill>
                  <a:srgbClr val="333333"/>
                </a:solidFill>
              </a:defRPr>
            </a:pPr>
            <a:r>
              <a:t>Books: — "Systems Engineering Principles and Practice" by Alexander Kossiakoff et al. - Chapter 5 (Functional Analysis)</a:t>
            </a:r>
          </a:p>
          <a:p>
            <a:pPr>
              <a:spcAft>
                <a:spcPts val="600"/>
              </a:spcAft>
              <a:defRPr sz="1800">
                <a:solidFill>
                  <a:srgbClr val="333333"/>
                </a:solidFill>
              </a:defRPr>
            </a:pPr>
            <a:r>
              <a:t>"Engineering Systems Engineering" by Olivier de Weck et al. - Chapter 4 (Functional Modeling)</a:t>
            </a:r>
          </a:p>
          <a:p>
            <a:pPr>
              <a:spcAft>
                <a:spcPts val="600"/>
              </a:spcAft>
              <a:defRPr sz="1800">
                <a:solidFill>
                  <a:srgbClr val="333333"/>
                </a:solidFill>
              </a:defRPr>
            </a:pPr>
            <a:r>
              <a:t>"Model-Based Systems Engineering" by Tim Weilkiens - SysML Activity Diagrams</a:t>
            </a:r>
          </a:p>
          <a:p>
            <a:pPr>
              <a:spcAft>
                <a:spcPts val="1000"/>
              </a:spcAft>
              <a:defRPr sz="1800">
                <a:solidFill>
                  <a:srgbClr val="333333"/>
                </a:solidFill>
              </a:defRPr>
            </a:pPr>
            <a:r>
              <a:t>Online Resources: — SEBoK (Systems Engineering Body of Knowledge): Functional Analysis section (free)</a:t>
            </a:r>
          </a:p>
          <a:p>
            <a:pPr>
              <a:spcAft>
                <a:spcPts val="600"/>
              </a:spcAft>
              <a:defRPr sz="1800">
                <a:solidFill>
                  <a:srgbClr val="333333"/>
                </a:solidFill>
              </a:defRPr>
            </a:pPr>
            <a:r>
              <a:t>INCOSE Functional Analysis Working Group resources</a:t>
            </a:r>
          </a:p>
          <a:p>
            <a:pPr>
              <a:spcAft>
                <a:spcPts val="600"/>
              </a:spcAft>
              <a:defRPr sz="1800">
                <a:solidFill>
                  <a:srgbClr val="333333"/>
                </a:solidFill>
              </a:defRPr>
            </a:pPr>
            <a:r>
              <a:t>NASA APPEL: Systems Engineering Fundamentals (functional analysis module)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Connections to Other Sessions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Builds on: — Session 2: ISO/IEC 15288 technical processes (functional analysis is part of architecture definition)</a:t>
            </a:r>
          </a:p>
          <a:p>
            <a:pPr>
              <a:spcAft>
                <a:spcPts val="600"/>
              </a:spcAft>
              <a:defRPr sz="1800">
                <a:solidFill>
                  <a:srgbClr val="333333"/>
                </a:solidFill>
              </a:defRPr>
            </a:pPr>
            <a:r>
              <a:t>Session 3: MBSE tools represent functions using SysML Activity Diagrams</a:t>
            </a:r>
          </a:p>
          <a:p>
            <a:pPr>
              <a:spcAft>
                <a:spcPts val="600"/>
              </a:spcAft>
              <a:defRPr sz="1800">
                <a:solidFill>
                  <a:srgbClr val="333333"/>
                </a:solidFill>
              </a:defRPr>
            </a:pPr>
            <a:r>
              <a:t>Session 4: Requirements drive functional analysis; functional analysis allocates requirements</a:t>
            </a:r>
          </a:p>
          <a:p>
            <a:pPr>
              <a:spcAft>
                <a:spcPts val="600"/>
              </a:spcAft>
              <a:defRPr sz="1800">
                <a:solidFill>
                  <a:srgbClr val="333333"/>
                </a:solidFill>
              </a:defRPr>
            </a:pPr>
            <a:r>
              <a:t>Session 5: Architecture provides structure; functional analysis provides behavior</a:t>
            </a:r>
          </a:p>
          <a:p>
            <a:pPr>
              <a:spcAft>
                <a:spcPts val="1000"/>
              </a:spcAft>
              <a:defRPr sz="1800">
                <a:solidFill>
                  <a:srgbClr val="333333"/>
                </a:solidFill>
              </a:defRPr>
            </a:pPr>
            <a:r>
              <a:t>Leads to: — Session 8: Verification tests functions; validation tests operational scenarios (V&amp;V)</a:t>
            </a:r>
          </a:p>
          <a:p>
            <a:pPr>
              <a:spcAft>
                <a:spcPts val="600"/>
              </a:spcAft>
              <a:defRPr sz="1800">
                <a:solidFill>
                  <a:srgbClr val="333333"/>
                </a:solidFill>
              </a:defRPr>
            </a:pPr>
            <a:r>
              <a:t>Session 9: Functional decomposition informs work breakdown structure (WBS) for project planning</a:t>
            </a:r>
          </a:p>
          <a:p>
            <a:pPr>
              <a:spcAft>
                <a:spcPts val="600"/>
              </a:spcAft>
              <a:defRPr sz="1800">
                <a:solidFill>
                  <a:srgbClr val="333333"/>
                </a:solidFill>
              </a:defRPr>
            </a:pPr>
            <a:r>
              <a:t>Session 12: Functional safety (ISO 26262) requires functional safety concept and safety functions</a:t>
            </a:r>
          </a:p>
          <a:p>
            <a:pPr>
              <a:spcAft>
                <a:spcPts val="600"/>
              </a:spcAft>
              <a:defRPr sz="1800">
                <a:solidFill>
                  <a:srgbClr val="333333"/>
                </a:solidFill>
              </a:defRPr>
            </a:pPr>
            <a:r>
              <a:t>Session 15: Configuration management tracks function versions and allocation changes</a:t>
            </a:r>
          </a:p>
          <a:p>
            <a:pPr>
              <a:spcAft>
                <a:spcPts val="1000"/>
              </a:spcAft>
              <a:defRPr sz="1800">
                <a:solidFill>
                  <a:srgbClr val="333333"/>
                </a:solidFill>
              </a:defRPr>
            </a:pPr>
            <a:r>
              <a:t>Key concept thread: — Session 4: WHAT must system do? (Requirements)</a:t>
            </a:r>
          </a:p>
          <a:p>
            <a:pPr>
              <a:spcAft>
                <a:spcPts val="600"/>
              </a:spcAft>
              <a:defRPr sz="1800">
                <a:solidFill>
                  <a:srgbClr val="333333"/>
                </a:solidFill>
              </a:defRPr>
            </a:pPr>
            <a:r>
              <a:t>Session 5: HOW is system structured? (Architecture - components, interfaces)</a:t>
            </a:r>
          </a:p>
          <a:p>
            <a:pPr>
              <a:spcAft>
                <a:spcPts val="600"/>
              </a:spcAft>
              <a:defRPr sz="1800">
                <a:solidFill>
                  <a:srgbClr val="333333"/>
                </a:solidFill>
              </a:defRPr>
            </a:pPr>
            <a:r>
              <a:t>Session 7: WHAT does system do operationally? (Functional Analysis - behavior) ← TODAY</a:t>
            </a:r>
          </a:p>
          <a:p>
            <a:pPr>
              <a:spcAft>
                <a:spcPts val="600"/>
              </a:spcAft>
              <a:defRPr sz="1800">
                <a:solidFill>
                  <a:srgbClr val="333333"/>
                </a:solidFill>
              </a:defRPr>
            </a:pPr>
            <a:r>
              <a:t>Session 8: Did we build it right? (Verification) Did we build right thing? (Validation)</a:t>
            </a:r>
          </a:p>
          <a:p>
            <a:pPr>
              <a:spcAft>
                <a:spcPts val="1000"/>
              </a:spcAft>
              <a:defRPr sz="1800">
                <a:solidFill>
                  <a:srgbClr val="333333"/>
                </a:solidFill>
              </a:defRPr>
            </a:pPr>
            <a:r>
              <a:t>Functional analysis appears in: — Session 8: FFBDs become test sequences, scenarios become test cases</a:t>
            </a:r>
          </a:p>
          <a:p>
            <a:pPr>
              <a:spcAft>
                <a:spcPts val="600"/>
              </a:spcAft>
              <a:defRPr sz="1800">
                <a:solidFill>
                  <a:srgbClr val="333333"/>
                </a:solidFill>
              </a:defRPr>
            </a:pPr>
            <a:r>
              <a:t>Session 9: Timeline analysis identifies schedule and resource risks</a:t>
            </a:r>
          </a:p>
          <a:p>
            <a:pPr>
              <a:spcAft>
                <a:spcPts val="600"/>
              </a:spcAft>
              <a:defRPr sz="1800">
                <a:solidFill>
                  <a:srgbClr val="333333"/>
                </a:solidFill>
              </a:defRPr>
            </a:pPr>
            <a:r>
              <a:t>Session 12: Safety functional analysis (HARA → safety functions → safety FFBDs)</a:t>
            </a:r>
          </a:p>
          <a:p>
            <a:pPr>
              <a:spcAft>
                <a:spcPts val="600"/>
              </a:spcAft>
              <a:defRPr sz="1800">
                <a:solidFill>
                  <a:srgbClr val="333333"/>
                </a:solidFill>
              </a:defRPr>
            </a:pPr>
            <a:r>
              <a:t>Session 15: Technical baselines include functional architecture and FFBDs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Opening and Closing Strategies</a:t>
            </a:r>
          </a:p>
        </p:txBody>
      </p:sp>
      <p:sp>
        <p:nvSpPr>
          <p:cNvPr id="3" name="Content Placeholder 2"/>
          <p:cNvSpPr>
            <a:spLocks noGrp="1"/>
          </p:cNvSpPr>
          <p:nvPr>
            <p:ph idx="1"/>
          </p:nvPr>
        </p:nvSpPr>
        <p:spPr/>
        <p:txBody>
          <a:bodyPr/>
          <a:lstStyle/>
          <a:p>
            <a:pPr>
              <a:defRPr sz="2400" b="1">
                <a:solidFill>
                  <a:srgbClr val="2E5090"/>
                </a:solidFill>
              </a:defRPr>
            </a:pPr>
            <a:r>
              <a:t>Closing (Last 2 minutes):</a:t>
            </a:r>
          </a:p>
          <a:p>
            <a:pPr>
              <a:spcAft>
                <a:spcPts val="1000"/>
              </a:spcAft>
              <a:defRPr sz="1800">
                <a:solidFill>
                  <a:srgbClr val="333333"/>
                </a:solidFill>
              </a:defRPr>
            </a:pPr>
            <a:r>
              <a:t>Show LKA video (vehicle maintaining lane, correcting drift) on screen as students enter. Begin:</a:t>
            </a:r>
          </a:p>
          <a:p>
            <a:pPr>
              <a:spcAft>
                <a:spcPts val="1000"/>
              </a:spcAft>
              <a:defRPr sz="1800">
                <a:solidFill>
                  <a:srgbClr val="333333"/>
                </a:solidFill>
              </a:defRPr>
            </a:pPr>
            <a:r>
              <a:t>Watch this vehicle. It's keeping itself centered in the lane with no driver input. Simple, right?</a:t>
            </a:r>
          </a:p>
          <a:p>
            <a:pPr>
              <a:spcAft>
                <a:spcPts val="1000"/>
              </a:spcAft>
              <a:defRPr sz="1800">
                <a:solidFill>
                  <a:srgbClr val="333333"/>
                </a:solidFill>
              </a:defRPr>
            </a:pPr>
            <a:r>
              <a:t>Now answer me this: What happens if the lane lines disappear in a construction zone? What if a vehicle cuts in front while it's correcting? What if the camera gets dirty? What's the sequence of operations - camera to decision to steering?</a:t>
            </a:r>
          </a:p>
          <a:p>
            <a:pPr>
              <a:spcAft>
                <a:spcPts val="1000"/>
              </a:spcAft>
              <a:defRPr sz="1800">
                <a:solidFill>
                  <a:srgbClr val="333333"/>
                </a:solidFill>
              </a:defRPr>
            </a:pPr>
            <a:r>
              <a:t>[Pause - students realize they don't know]</a:t>
            </a:r>
          </a:p>
          <a:p>
            <a:pPr>
              <a:spcAft>
                <a:spcPts val="1000"/>
              </a:spcAft>
              <a:defRPr sz="1800">
                <a:solidFill>
                  <a:srgbClr val="333333"/>
                </a:solidFill>
              </a:defRPr>
            </a:pPr>
            <a:r>
              <a:t>You just saw the system work. But could you design it? Could you test it? Could you explain every operational scenario?</a:t>
            </a:r>
          </a:p>
          <a:p>
            <a:pPr>
              <a:spcAft>
                <a:spcPts val="1000"/>
              </a:spcAft>
              <a:defRPr sz="1800">
                <a:solidFill>
                  <a:srgbClr val="333333"/>
                </a:solidFill>
              </a:defRPr>
            </a:pPr>
            <a:r>
              <a:t>This is why we need Operational and Functional Analysis. We're going to learn how to systematically decompose behavior so that we FULLY understand what the system does, when it does it, and why.</a:t>
            </a:r>
          </a:p>
          <a:p>
            <a:pPr>
              <a:spcAft>
                <a:spcPts val="1000"/>
              </a:spcAft>
              <a:defRPr sz="1800">
                <a:solidFill>
                  <a:srgbClr val="333333"/>
                </a:solidFill>
              </a:defRPr>
            </a:pPr>
            <a:r>
              <a:t>Welcome to Session 7 - where we make behavior explicit.</a:t>
            </a:r>
          </a:p>
          <a:p>
            <a:pPr>
              <a:spcAft>
                <a:spcPts val="1000"/>
              </a:spcAft>
              <a:defRPr sz="1800">
                <a:solidFill>
                  <a:srgbClr val="333333"/>
                </a:solidFill>
              </a:defRPr>
            </a:pPr>
            <a:r>
              <a:t>Return to opening LKA video:</a:t>
            </a:r>
          </a:p>
          <a:p>
            <a:pPr>
              <a:spcAft>
                <a:spcPts val="1000"/>
              </a:spcAft>
              <a:defRPr sz="1800">
                <a:solidFill>
                  <a:srgbClr val="333333"/>
                </a:solidFill>
              </a:defRPr>
            </a:pPr>
            <a:r>
              <a:t>Remember the question I asked at the start: Could you design this lane keeping system?</a:t>
            </a:r>
          </a:p>
          <a:p>
            <a:pPr>
              <a:spcAft>
                <a:spcPts val="1000"/>
              </a:spcAft>
              <a:defRPr sz="1800">
                <a:solidFill>
                  <a:srgbClr val="333333"/>
                </a:solidFill>
              </a:defRPr>
            </a:pPr>
            <a:r>
              <a:t>Now you can. You know how to:</a:t>
            </a:r>
          </a:p>
          <a:p>
            <a:pPr>
              <a:spcAft>
                <a:spcPts val="600"/>
              </a:spcAft>
              <a:defRPr sz="1800">
                <a:solidFill>
                  <a:srgbClr val="333333"/>
                </a:solidFill>
              </a:defRPr>
            </a:pPr>
            <a:r>
              <a:t>Define all operational scenarios (including the edge cases that kill projects)</a:t>
            </a:r>
          </a:p>
          <a:p>
            <a:pPr>
              <a:spcAft>
                <a:spcPts val="600"/>
              </a:spcAft>
              <a:defRPr sz="1800">
                <a:solidFill>
                  <a:srgbClr val="333333"/>
                </a:solidFill>
              </a:defRPr>
            </a:pPr>
            <a:r>
              <a:t>Decompose behavior into functions systematically</a:t>
            </a:r>
          </a:p>
          <a:p>
            <a:pPr>
              <a:spcAft>
                <a:spcPts val="600"/>
              </a:spcAft>
              <a:defRPr sz="1800">
                <a:solidFill>
                  <a:srgbClr val="333333"/>
                </a:solidFill>
              </a:defRPr>
            </a:pPr>
            <a:r>
              <a:t>Model operational flows with FFBDs</a:t>
            </a:r>
          </a:p>
          <a:p>
            <a:pPr>
              <a:spcAft>
                <a:spcPts val="600"/>
              </a:spcAft>
              <a:defRPr sz="1800">
                <a:solidFill>
                  <a:srgbClr val="333333"/>
                </a:solidFill>
              </a:defRPr>
            </a:pPr>
            <a:r>
              <a:t>Allocate requirements and validate timing</a:t>
            </a:r>
          </a:p>
          <a:p>
            <a:pPr>
              <a:spcAft>
                <a:spcPts val="1000"/>
              </a:spcAft>
              <a:defRPr sz="1800">
                <a:solidFill>
                  <a:srgbClr val="333333"/>
                </a:solidFill>
              </a:defRPr>
            </a:pPr>
            <a:r>
              <a:t>You also know the consequences of skipping this work. [Show Tesla Autopilot crash image briefly] This wasn't a component failure. This was a functional analysis gap. A missing operational scenario.</a:t>
            </a:r>
          </a:p>
          <a:p>
            <a:pPr>
              <a:spcAft>
                <a:spcPts val="1000"/>
              </a:spcAft>
              <a:defRPr sz="1800">
                <a:solidFill>
                  <a:srgbClr val="333333"/>
                </a:solidFill>
              </a:defRPr>
            </a:pPr>
            <a:r>
              <a:t>Your exercise is your chance to practice preventing the next tragedy. Treat it seriously.</a:t>
            </a:r>
          </a:p>
          <a:p>
            <a:pPr>
              <a:spcAft>
                <a:spcPts val="1000"/>
              </a:spcAft>
              <a:defRPr sz="1800">
                <a:solidFill>
                  <a:srgbClr val="333333"/>
                </a:solidFill>
              </a:defRPr>
            </a:pPr>
            <a:r>
              <a:t>In Session 8, we'll take your functional model and verify every function works, then validate that operational scenarios execute correctly. That's the right side of the V-Model.</a:t>
            </a:r>
          </a:p>
          <a:p>
            <a:pPr>
              <a:spcAft>
                <a:spcPts val="1000"/>
              </a:spcAft>
              <a:defRPr sz="1800">
                <a:solidFill>
                  <a:srgbClr val="333333"/>
                </a:solidFill>
              </a:defRPr>
            </a:pPr>
            <a:r>
              <a:t>See you then.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Learning Objectives Mapping to Assessment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 Session Objective | Assessment Method | Success Criteria |</a:t>
            </a:r>
          </a:p>
          <a:p>
            <a:pPr>
              <a:spcAft>
                <a:spcPts val="1000"/>
              </a:spcAft>
              <a:defRPr sz="1800">
                <a:solidFill>
                  <a:srgbClr val="333333"/>
                </a:solidFill>
              </a:defRPr>
            </a:pPr>
            <a:r>
              <a:t>|-------------------|-------------------|------------------|</a:t>
            </a:r>
          </a:p>
          <a:p>
            <a:pPr>
              <a:spcAft>
                <a:spcPts val="1000"/>
              </a:spcAft>
              <a:defRPr sz="1800">
                <a:solidFill>
                  <a:srgbClr val="333333"/>
                </a:solidFill>
              </a:defRPr>
            </a:pPr>
            <a:r>
              <a:t>| Define operational scenarios | Exercise Part 1 | 6 scenarios covering normal, edge, failure cases; proper template use |</a:t>
            </a:r>
          </a:p>
          <a:p>
            <a:pPr>
              <a:spcAft>
                <a:spcPts val="1000"/>
              </a:spcAft>
              <a:defRPr sz="1800">
                <a:solidFill>
                  <a:srgbClr val="333333"/>
                </a:solidFill>
              </a:defRPr>
            </a:pPr>
            <a:r>
              <a:t>| Perform capability gap analysis | Conceptual understanding (in-class) | Can explain gap → functional requirement derivation |</a:t>
            </a:r>
          </a:p>
          <a:p>
            <a:pPr>
              <a:spcAft>
                <a:spcPts val="1000"/>
              </a:spcAft>
              <a:defRPr sz="1800">
                <a:solidFill>
                  <a:srgbClr val="333333"/>
                </a:solidFill>
              </a:defRPr>
            </a:pPr>
            <a:r>
              <a:t>| Decompose into functions | Exercise Part 2 | 3-level hierarchy, clear function names, appropriate granularity |</a:t>
            </a:r>
          </a:p>
          <a:p>
            <a:pPr>
              <a:spcAft>
                <a:spcPts val="1000"/>
              </a:spcAft>
              <a:defRPr sz="1800">
                <a:solidFill>
                  <a:srgbClr val="333333"/>
                </a:solidFill>
              </a:defRPr>
            </a:pPr>
            <a:r>
              <a:t>| Create FFBDs | Exercise Part 3 | Correct FFBD notation, logical flow, timing annotated |</a:t>
            </a:r>
          </a:p>
          <a:p>
            <a:pPr>
              <a:spcAft>
                <a:spcPts val="1000"/>
              </a:spcAft>
              <a:defRPr sz="1800">
                <a:solidFill>
                  <a:srgbClr val="333333"/>
                </a:solidFill>
              </a:defRPr>
            </a:pPr>
            <a:r>
              <a:t>| Allocate requirements to functions | Exercise Part 4 | All requirements mapped, RAM complete, verification method identified |</a:t>
            </a:r>
          </a:p>
          <a:p>
            <a:pPr>
              <a:spcAft>
                <a:spcPts val="1000"/>
              </a:spcAft>
              <a:defRPr sz="1800">
                <a:solidFill>
                  <a:srgbClr val="333333"/>
                </a:solidFill>
              </a:defRPr>
            </a:pPr>
            <a:r>
              <a:t>| Develop functional architectures | Exercise Part 2 (N² chart) | Complete N² chart showing function interfaces |</a:t>
            </a:r>
          </a:p>
          <a:p>
            <a:pPr>
              <a:spcAft>
                <a:spcPts val="1000"/>
              </a:spcAft>
              <a:defRPr sz="1800">
                <a:solidFill>
                  <a:srgbClr val="333333"/>
                </a:solidFill>
              </a:defRPr>
            </a:pPr>
            <a:r>
              <a:t>| Perform timeline analysis | Exercise Part 3 (FFBD timing) | Realistic timing estimates, total cycle time calculated |</a:t>
            </a:r>
          </a:p>
          <a:p>
            <a:pPr>
              <a:spcAft>
                <a:spcPts val="1000"/>
              </a:spcAft>
              <a:defRPr sz="1800">
                <a:solidFill>
                  <a:srgbClr val="333333"/>
                </a:solidFill>
              </a:defRPr>
            </a:pPr>
            <a:r>
              <a:t>| Apply to automotive systems | Overall exercise | AEB system functional model is complete and correct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End of Session 7 Framework</a:t>
            </a:r>
          </a:p>
          <a:p>
            <a:pPr>
              <a:spcAft>
                <a:spcPts val="1000"/>
              </a:spcAft>
              <a:defRPr sz="1800">
                <a:solidFill>
                  <a:srgbClr val="333333"/>
                </a:solidFill>
              </a:defRPr>
            </a:pPr>
            <a:r>
              <a:t>Next: Session 8 (System Integration, Verification &amp; Validation)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