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---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marp: true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theme: engineering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paginate: true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math: katex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header: 'Session 10: Decision and Quality Management'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472C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Decision and Quality Management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Session 10 | Automotive Vehicles (AEL ZC441)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Welcome to Session 10. Today we tackle two interconnected disciplines that separate successful systems engineering from failed projects: Decision Management and Quality Management.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These aren't separate topics - they're two sides of the same coin. Good decisions lead to quality outcomes. Quality metrics inform better decisions.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Connection to Previous Sessions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Let's connect where we've been: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Session 4: We learned to write requirements - but what if stakeholders want contradictory things? (Decision needed)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Session 5: We learned architecture - but how do we choose between competing designs? (Decision needed)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Session 8: We learned verification and validation - but how do we ensure quality throughout? (Quality management)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Session 9: We learned risk management - risks inform decisions about what to prioritize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Today's focus: How do we make systematic, defensible decisions? How do we ensure quality at every step?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Why Decision and Quality Management Are Critical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Let me show you sobering data: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Decision-making failures: — 72% of major projects exceed budget due to poor early decisions (McKinsey)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Average cost of poor technical decision: $2.5M in automotive programs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40% of product recalls trace to decisions made under uncertainty without systematic analysis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Quality management impact: — Cost of quality (prevention + appraisal + failure) = 15-25% of total project cost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Cost to fix defects grows 10x at each lifecycle stage (requirements → design → test → production)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Toyota's quality culture saves estimated $1B+ annually compared to competitors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Key insight: You WILL face decisions with incomplete information, conflicting objectives, and high stakes. How you decide determines success or failure.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Real-World Example - Boeing 737 MAX Decision Failure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Boeing 737 MAX: 346 deaths, $20B+ in losses, 20-month grounding. Let's analyze the decision failures: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Decision Point 1: Engine placement — Trade-off: Fuel efficiency vs flight characteristics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Decision made: Place larger engines forward and higher (efficiency priority)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Consequence: Changed aircraft pitch behavior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Decision Point 2: How to address pitch change — Options: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A) Redesign landing gear (expensive, time-consuming)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B) Software solution (MCAS system - cheap, fast)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Decision made: Option B (software fix)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Analysis used: Cost and schedule only - safety not weighted properly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Decision Point 3: Pilot training requirements — Trade-off: Safety (extensive training) vs marketability (no training difference from 737NG)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Decision made: Minimize training differences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Consequence: Pilots unaware of MCAS system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Quality management failure: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Single point of failure (one AoA sensor)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Inadequate testing of failure modes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No critical parameter monitoring for sensor disagreement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Root cause: Decisions optimized for cost/schedule without systematic multi-criteria analysis including safety. Quality gates failed to catch the gaps.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Today, I'll show you how to avoid these catastrophic decision failures.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The Battery Selection Challenge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You're the systems engineer for a new electric vehicle. Your manager says: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'Select the battery technology for our new EV. Decision needed by Friday.'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You have three options: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Option A: Lithium Iron Phosphate (LFP) — Cost: $90/kWh (lowest)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Energy density: 160 Wh/kg (lowest)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Safety: Excellent (most stable chemistry)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Lifespan: 3,000+ cycles (longest)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Charging speed: Moderate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Cold weather: Poor performance below -10°C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Supply chain: China-dependent (90% production)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Option B: NMC (Nickel Manganese Cobalt) — Cost: $140/kWh (medium)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Energy density: 250 Wh/kg (highest)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Safety: Good (requires thermal management)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Lifespan: 1,500-2,000 cycles (medium)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Charging speed: Fast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Cold weather: Good performance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Supply chain: Cobalt sourcing concerns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Option C: Solid-State (Emerging) — Cost: $250/kWh (highest, projected to decrease)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Energy density: 400+ Wh/kg (future potential)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Safety: Excellent (non-flammable)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Lifespan: Unknown (new technology)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Charging speed: Very fast (potential)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Cold weather: Excellent (projected)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Supply chain: Limited production capacity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How do you decide? Each stakeholder wants something different: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Finance: Choose LFP (lowest cost)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Marketing: Choose solid-state (best specs for brochure)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Engineering: Choose NMC (proven, balanced)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Safety: Choose LFP or solid-state (safest)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Product planning: Depends on target market (range vs price)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This is exactly what systematic decision analysis solves.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The Decision Analysis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Systematic decision-making follows a proven process. This is the foundation: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Step 1: Frame the decision — What exactly are we deciding?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What is the scope? (Battery chemistry only, or entire energy storage system?)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What is NOT being decided?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Example: 'Select battery chemistry for 75 kWh passenger EV with 400 km range target'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Step 2: Identify objectives — What do we want to achieve?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Fundamental objectives (ends) vs means objectives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Example objectives: Minimize cost, maximize safety, maximize range, ensure supply chain resilience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Step 3: Create alternatives — What are ALL viable options?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Don't eliminate prematurely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Include hybrid approaches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Example: Pure LFP, pure NMC, solid-state, LFP+NMC hybrid, defer decision (wait for solid-state maturity)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Step 4: Establish evaluation criteria — How will we measure each objective?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Must be measurable, objective where possible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Example: $/kWh (cost), Wh/kg (energy density), cycles to 80% capacity (lifespan)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Step 5: Evaluate alternatives — Score each alternative against each criterion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Use data, analysis, simulation, testing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Document assumptions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Step 6: Make decision — Apply decision method (we'll cover several)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Consider uncertainty and risk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Document rationale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Step 7: Implement and monitor — Execute decision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Track performance vs predictions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Be ready to adapt if conditions change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Key principle: The process is as important as the outcome. Traceable decisions that can be explained years later.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Decision Types and Appropriate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Not all decisions are equal. Different types need different approaches: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Type 1: Simple decisions (Low stakes, clear criteria) — Example: Which supplier for standard bolts?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Method: Simple comparison table, lowest cost with quality threshold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Time investment: Minutes to hours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Type 2: Complicated decisions (Multiple criteria, quantifiable) — Example: Battery chemistry selection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Method: Multi-criteria decision analysis (MCDA)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Time investment: Days to weeks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Type 3: Complex decisions (High uncertainty, many unknowns) — Example: Invest in hydrogen vs battery technology for 2030?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Method: Scenario analysis, real options analysis, decision trees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Time investment: Weeks to months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Type 4: Wicked decisions (Ill-defined problem, conflicting values) — Example: Autonomous vehicle ethical dilemmas (trolley problem)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Method: Stakeholder deliberation, value-focused thinking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Time investment: Months, ongoing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Common automotive examples: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Decision | Type | Appropriate Method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|----------|------|-------------------|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Supplier selection for seats | Simple | Weighted scoring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Powertrain architecture (ICE/Hybrid/BEV) | Complicated | MCDA (AHP, TOPSIS)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Platform strategy for next generation | Complex | Scenario planning + MCDA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ADAS feature prioritization | Complicated | Trade-off analysis + MCDA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Autonomous safety policies | Wicked | Value-focused thinking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Today's focus: Types 2 and 3 - systematic methods for complicated and complex decisions.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Decision-Making Under Uncertainty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Real engineering decisions are made with incomplete information. We must account for uncertainty: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Types of uncertainty: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1. Parameter uncertainty (We know what matters, but not exact values)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Example: 'Battery cost in 2027 will be $80-150/kWh'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Approach: Sensitivity analysis, Monte Carlo simulation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2. Model uncertainty (We're not sure of the relationships)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Example: 'How does battery degradation relate to fast-charging frequency?'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Approach: Multiple models, expert judgment, testing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3. Scenario uncertainty (Future states of the world)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Example: 'Will governments mandate solid-state batteries by 2030?'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Approach: Scenario planning, decision trees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4. Unknown unknowns (Things we don't know we don't know)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Example: Unforeseen battery chemistry breakthrough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Approach: Robustness analysis (choose options that work across many scenarios)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Decision under uncertainty framework: — Known knowns: Use deterministic analysis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Known unknowns: Use probabilistic analysis (expected value, decision trees)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Unknown unknowns: Use robust decision-making (choose options that don't fail catastrophically)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Automotive example - Range uncertainty: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You're designing for 400 km range, but actual range depends on: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Temperature (-20°C to +40°C) - known distribution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Driving style (aggressive vs eco) - statistical data available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Future regulation (unknown)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Battery degradation over 10 years (model uncertainty)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Approach: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Model parameter uncertainty (Monte Carlo)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Design for 90th percentile worst case (robustness)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Plan for future regulation scenarios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Include margin for degradation uncertainty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This leads to decisions that are defensible even when inputs are uncertain.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#### Part 2: Multi-Criteria Decision Analysis (MCDA) (Slides 11-14, ~12 minutes)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What is MCDA and Why It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Most engineering decisions involve MULTIPLE, CONFLICTING objectives. This is where MCDA shines.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Traditional approach (single criterion):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'Minimize cost' → Choose cheapest option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Problem: Ignores safety, quality, performance, schedule, risk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MCDA approach (multiple criteria):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Explicitly consider ALL important criteria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Weight criteria based on stakeholder priorities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Calculate overall score for each alternative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Make transparent, defensible decisions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When to use MCDA: — Multiple objectives that conflict (can't optimize all simultaneously)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Stakeholders with different priorities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Need documented, traceable rationale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High-stakes decisions (regulatory scrutiny, safety-critical)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Automotive applications: — Architecture selection (ICE vs Hybrid vs BEV)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Supplier selection (not just lowest cost)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Feature prioritization (which ADAS features for next release?)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Platform decisions (develop new platform or adapt existing?)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Technology roadmap (which technologies to invest in?)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Key benefit: MCDA forces EXPLICIT discussion of values and trade-offs. No hidden assumptions.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MCDA Method 1 - Weighted Sum Model (WSM)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The simplest and most common MCDA method: Weighted Sum Model (WSM).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Process: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Step 1: Define criteria and weights — List all evaluation criteria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Assign weights (must sum to 1.0 or 100%)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Weights reflect relative importance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Step 2: Score each alternative — Rate each alternative on each criterion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Use common scale (e.g., 1-10 or 0-100)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Based on data, analysis, or expert judgment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Step 3: Calculate weighted score — Multiply score × weight for each criterion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Sum across all criteria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Alternative with highest total score wins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Example: Battery selection with WSM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Criteria and weights: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Criterion | Weight | Rationale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|-----------|--------|-----------|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Cost | 0.25 | Important but not sole driver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Energy Density | 0.20 | Affects vehicle range and mass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Safety | 0.30 | Critical for liability and brand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Lifespan | 0.15 | Warranty cost impact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Technology Maturity | 0.10 | Risk consideration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Total | 1.00 |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Scoring (1-10 scale, higher is better):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Criterion | Weight | LFP Score | LFP Weighted | NMC Score | NMC Weighted | Solid-State Score | SS Weighted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|-----------|--------|-----------|--------------|-----------|--------------|-------------------|-------------|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Cost | 0.25 | 9 | 2.25 | 6 | 1.50 | 2 | 0.50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Energy Density | 0.20 | 5 | 1.00 | 9 | 1.80 | 10 | 2.00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Safety | 0.30 | 10 | 3.00 | 7 | 2.10 | 10 | 3.00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Lifespan | 0.15 | 9 | 1.35 | 6 | 0.90 | 4 | 0.60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Maturity | 0.10 | 10 | 1.00 | 10 | 1.00 | 3 | 0.30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TOTAL | | | 8.60 | | 7.30 | | 6.40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Result: LFP wins with this weighting scheme (8.60 vs 7.30 vs 6.40)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Key insight: If we change weights (e.g., energy density becomes 0.35, cost becomes 0.15), NMC might win. This shows how values drive decisions.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Sensitivity analysis: Test how decision changes with different weights. If decision is stable across reasonable weight variations → robust decision.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MCDA Method 2 - Analytic Hierarchy Process (AHP)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Analytic Hierarchy Process (AHP) — developed by Thomas Saaty, widely used in automotive and aerospace.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Key difference from WSM: AHP derives weights through pairwise comparisons rather than assigning them directly.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Process: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Step 1: Build hierarchy — Goal (top level): Select battery technology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Criteria (middle): Cost, safety, performance, etc.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Alternatives (bottom): LFP, NMC, Solid-State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Step 2: Pairwise comparison of criteria — Compare each criterion to every other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Use Saaty's 1-9 scale: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1 = Equal importance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3 = Moderate importance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5 = Strong importance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7 = Very strong importance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9 = Extreme importance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Example comparison: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'How much more important is Safety compared to Cost?'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→ Answer: Safety is moderately to strongly more important = 4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Step 3: Calculate criteria weights — Build pairwise comparison matrix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Calculate eigenvector (mathematical process)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Normalized eigenvector = criteria weights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Step 4: Check consistency — AHP includes consistency ratio (CR)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CR &lt; 0.10 means judgments are consistent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CR &gt; 0.10 means revisit pairwise comparisons (judgments are contradictory)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Step 5: Repeat for alternatives — For each criterion, compare alternatives pairwise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Calculate scores for each alternative on each criterion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Step 6: Synthesize — Combine criteria weights and alternative scores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Calculate overall priority for each alternative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Example pairwise comparison matrix (criteria):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 | Cost | Safety | Energy Density | Lifespan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|--|------|--------|----------------|----------|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Cost | 1 | 1/4 | 2 | 2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Safety | 4 | 1 | 5 | 5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Energy Density | 1/2 | 1/5 | 1 | 2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Lifespan | 1/2 | 1/5 | 1/2 | 1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Derived weights (after eigenvector calculation):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Safety: 0.52 (dominant)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Cost: 0.23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Energy Density: 0.14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Lifespan: 0.11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Advantage: Weights emerge from explicit comparisons, easier for stakeholders than directly assigning percentages.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Disadvantage: Time-consuming for many criteria (n criteria requires n×(n-1)/2 comparisons).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Tool support: Expert Choice, Super Decisions, online AHP calculators.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MCDA Method 3 - TOPSIS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TOPSIS (Technique for Order Preference by Similarity to Ideal Solution) - elegant method used in automotive engineering.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Core concept: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Best alternative is closest to the ideal solution (best score on all criteria)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Best alternative is farthest from the anti-ideal solution (worst score on all criteria)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Process: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Step 1: Create decision matrix — Rows = alternatives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Columns = criteria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Cells = scores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Step 2: Normalize scores — Convert to common scale (0-1)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Accounts for different units (cost in $, weight in kg, etc.)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Step 3: Apply weights — Multiply normalized scores by criterion weight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Step 4: Identify ideal and anti-ideal solutions — Ideal: Best score on each criterion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Anti-ideal: Worst score on each criterion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Step 5: Calculate distances — Euclidean distance from each alternative to ideal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Euclidean distance from each alternative to anti-ideal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Step 6: Calculate relative closeness — Closeness = Distance to anti-ideal / (Distance to ideal + Distance to anti-ideal)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Range: 0 to 1 (higher is better)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Step 7: Rank alternatives — Highest closeness score wins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Example (battery selection):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Assume normalized, weighted scores: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Alternative | Cost | Safety | Energy | Lifespan | Sum to Ideal | Sum to Anti-Ideal | Closeness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|-------------|------|--------|--------|----------|--------------|-------------------|-----------|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LFP | 0.23 | 0.30 | 0.10 | 0.14 | 0.15 | 0.42 | 0.74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NMC | 0.15 | 0.21 | 0.18 | 0.09 | 0.23 | 0.31 | 0.57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Solid-State | 0.05 | 0.30 | 0.20 | 0.06 | 0.28 | 0.25 | 0.47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Result: LFP wins (closeness = 0.74, closest to ideal, farthest from anti-ideal)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Advantages: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Mathematically rigorous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Handles any number of alternatives and criteria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Clear visual interpretation (geometric distance)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When to use: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Large number of alternatives (e.g., supplier selection from 20 candidates)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Quantitative criteria dominate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Need defensible, objective ranking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Automotive applications: Material selection, supplier scoring, architecture ranking, technology selection.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#### Part 3: Trade-off Analysis (Slides 15-17, ~10 minutes)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Understanding Trade-offs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In engineering, we rarely optimize a single objective. We TRADE OFF between competing goals.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Classic automotive trade-offs: — Performance vs Fuel Efficiency (power vs consumption)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Safety vs Weight (crashworthiness adds mass)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Cost vs Quality (cheaper materials may compromise durability)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Features vs Complexity (more features = more failure modes)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Development Speed vs Robustness (fast development may skip testing)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The Pareto Frontier concept: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 solution is Pareto optimal (or Pareto efficient) if you can't improve one objective without worsening another.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Example: Range vs Cost trade-off in EVs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Battery Size | Range (km) | Cost ($) | Pareto Optimal?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|--------------|------------|----------|-----------------|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50 kWh | 300 | $20,000 | Yes (cheapest)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60 kWh | 360 | $23,000 | Yes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75 kWh | 450 | $27,000 | Yes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90 kWh | 540 | $32,000 | Yes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65 kWh | 350 | $26,000 | No (dominated by 75 kWh - less range, more expensive)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All Pareto-optimal solutions lie on the Pareto frontier. Choice among them depends on stakeholder values.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Trade-off analysis process: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Identify conflicting objectives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Generate design alternatives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Evaluate each on both objectives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Plot trade-off curve (Pareto frontier)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Eliminate dominated solutions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Apply decision criteria to choose from Pareto set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Visual: [Show graph with Cost on X-axis, Range on Y-axis, Pareto frontier curve]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Key insight: Don't waste time analyzing dominated solutions. Focus on Pareto frontier.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Trade-off Analysis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How do we systematically analyze trade-offs? Multiple methods: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Method 1: Parametric Trade Studies — Vary design parameters, observe impact on objectives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Example: Vary battery size from 40-100 kWh, plot range vs cost vs weight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Tools: Excel, MATLAB, Python, design exploration software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Method 2: Utility Theory — Convert multiple objectives to single 'utility' value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Reflect stakeholder preferences mathematically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Example: Utility = w1×Range + w2×(1/Cost) + w3×(1/Weight)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Choose design with maximum utility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Method 3: Design Space Exploration (DSE) — Generate large number of design alternatives (1000s)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Evaluate all on multiple objectives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Visualize in multi-dimensional space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Filter to Pareto frontier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Tools: ModelCenter, Isight, MOEA (Multi-Objective Evolutionary Algorithms)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Method 4: Sensitivity Analysis — How sensitive is the decision to changes in parameters or weights?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Example: If battery cost drops 20%, does the decision change?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Identifies critical assumptions and uncertainties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Method 5: Knee of the Curve Analysis — On trade-off curve, find the 'knee' point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Point of diminishing returns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Example: 75 kWh battery at knee - going to 90 kWh adds 20% range but 35% cost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Automotive example - Aerodynamics vs Cooling trade-off: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Problem: Smaller grille improves aerodynamics (lower drag, better efficiency) but reduces radiator airflow (cooling performance)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Trade study approach: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Parametric variation: Grille sizes from 1000 cm² to 3000 cm²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CFD analysis: Drag coefficient (Cd) vs cooling air mass flow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System simulation: Vehicle performance in hot conditions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Identify Pareto frontier: Designs that balance Cd and cooling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Apply decision criteria: Choose based on target market (hot climate → larger grille; cold climate → smaller grille)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Result: Document WHY specific grille size was chosen, including trade-offs accepted.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This becomes critical when, 2 years later, someone asks: 'Why didn't we make the grille smaller for better efficiency?'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Real Automotive Case - Tesla Model 3 Trade-offs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Let's examine real trade-off decisions from Tesla Model 3 development: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Trade-off 1: Glass Roof vs Traditional Roof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Objectives in conflict: — Aesthetics / Differentiation (glass roof = premium feel)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Weight (glass heavier than stamped steel + insulation)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Cost (glass roof more expensive)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Thermal management (glass increases solar heat gain → larger AC required)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Crash safety (roof strength requirements)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Tesla's decision: Glass roof standard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Rationale: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Differentiation value outweighs cost/weight (~15 kg penalty)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UV-filtering glass mitigates thermal issue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Single-piece glass simplifies manufacturing (assembly cost offset)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Brand positioning (premium EV)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Trade-off accepted: Higher weight and thermal load for aesthetic/brand value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Trade-off 2: Minimalist Interior (No Instrument Cluster)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Objectives in conflict: — Cost reduction (eliminate instrument cluster = $150-200 savings)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User experience (drivers expect instrument cluster)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Safety (eyes off road to check center screen)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Differentiation (unique Tesla interface)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Tesla's decision: Center screen only, no instrument cluster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Rationale: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Cost savings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Simpler manufacturing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Software flexibility (all UI updates via OTA)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Brand differentiation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Trade-off accepted: User experience concerns for cost/simplicity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Market result: Polarizing - some love it, some hate it (design risk accepted)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Trade-off 3: Range vs Affordability (Battery Size)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Objectives: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Range (more range needs bigger battery)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Affordability (target $35k base price)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Profitability (larger battery reduces margin)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Tesla's approach: Multiple variants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Standard Range: 50 kWh, 260 km, $35k (later discontinued - unprofitable)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Long Range: 75 kWh, 520 km, $46k (Pareto optimal - good range, acceptable cost)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Performance: 75 kWh, 480 km, $56k (range traded for acceleration)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Decision: Optimize product portfolio across Pareto frontier to serve different customer values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Lessons learned: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Trade-offs must align with brand positioning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Different customers value objectives differently → multiple variants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Document trade-off rationale for future reference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Some trade-offs create risk (minimalist interior) - accept knowingly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Quantify trade-offs where possible (weight, cost, range all measurable)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#### Part 4: Quality Assurance vs Quality Control (Slides 18-20, ~8 minutes)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QA vs QC - The Critical Distinction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One of the most misunderstood distinctions in engineering: Quality Assurance vs Quality Control. They're complementary but fundamentally different.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Quality Assurance (QA) - PREVENTION — Definition: Process-focused activities to prevent defects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Timing: Throughout development, before defects occur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Approach: Design processes, standards, training, reviews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Question: 'Are we building quality IN?'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Responsibility: Everyone (QA team facilitates)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Quality Control (QC) - DETECTION — Definition: Product-focused activities to identify defects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Timing: During and after development, after defects exist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Approach: Testing, inspection, measurement, validation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Question: 'Are we finding defects OUT?'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Responsibility: QC/Test team (dedicated)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Simple analogy: — QA: Installing guardrails on a mountain road (prevents cars from going off cliff)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QC: Inspecting cars after they've crashed (detecting damage)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You want both, but QA is more cost-effective.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Automotive examples: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Activity | QA or QC? | Rationale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|----------|-----------|-----------|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Design FMEA workshop | QA | Prevents defects by identifying failure modes in design phase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Final vehicle inspection before delivery | QC | Detects defects after production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Supplier development program | QA | Prevents defects by improving supplier processes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Software code review | QA | Prevents defects by catching errors before code is compiled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Dynamometer testing | QC | Detects performance defects through testing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ISO 26262 compliance process | QA | Prevents safety issues through systematic process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X-ray inspection of welds | QC | Detects weld defects after welding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Cost comparison (Automotive Industry Action Group data):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Prevention (QA): $1 per unit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Appraisal (QC during production): $10 per unit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Internal failure (found before delivery): $100 per unit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External failure (found by customer): $1,000+ per unit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Recall: $10,000+ per unit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Key principle: Shift left - invest in QA to prevent defects rather than relying on QC to catch them.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Quality Management Systems (QMS)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 Quality Management System (QMS) integrates QA and QC into organizational processes.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QMS purpose: — Ensure consistent quality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Meet regulatory requirements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Enable continuous improvement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Provide objective evidence of quality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Key QMS standards in automotive: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1. ISO 9001 - General Quality Management — Applicable to all industries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Process approach, risk-based thinking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Customer focus, continual improvement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Required for most automotive suppliers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2. IATF 16949 - Automotive Quality Management — Built on ISO 9001, adds automotive-specific requirements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Mandatory for automotive OEM suppliers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Emphasizes defect prevention, variation reduction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Includes customer-specific requirements (GM, Ford, VW, etc.)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Core tools: APQP, PPAP, FMEA, SPC, MSA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3. ISO 26262 - Functional Safety — Quality management for safety-critical systems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V-model process, safety lifecycle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Required for ASIL-rated automotive systems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4. ASPICE - Automotive SPICE (Software Process Improvement and Capability Determination) — Process assessment model for automotive software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Capability levels 0-5 (similar to CMMI)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Many OEMs require suppliers to achieve Level 2 or 3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QMS structure: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Level 1: Quality Policy and Objectives — Top management commitment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Example: 'Zero defects, first-time quality, continuous improvement'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Level 2: Quality Manual — How organization meets QMS standard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Process map, responsibilities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Level 3: Procedures — How specific processes are executed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Example: Design review procedure, change control procedure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Level 4: Work Instructions — Detailed step-by-step instructions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Example: How to perform specific test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Level 5: Records — Evidence that processes were followed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Example: Test reports, inspection records, meeting minutes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Automotive QMS in practice: — Design reviews at phase gates (prevent design defects)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Supplier audits (prevent supply chain defects)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Production Part Approval Process (PPAP) - verify production readiness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Control plans (ensure process capability)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Reaction plans (contain defects quickly)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Lessons learned (prevent recurrence)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Certification: Third-party audits verify QMS compliance (e.g., TÜV, BSI, DNV)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Quality Gates and Phase Reviews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Quality gates are decision points where projects must demonstrate quality criteria before proceeding.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Purpose: — Prevent defects from propagating to next phase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Ensure readiness before major investment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Provide management visibility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Enforce disciplined process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Typical automotive quality gates (aligned with V-model):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Gate 0: Concept Approval — Entry criteria: Market analysis, business case, preliminary requirements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Quality checks: Requirements completeness, stakeholder alignment, feasibility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Exit criteria: Approved concept, funded program, assigned team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Gate 1: Requirements Review — Entry criteria: Complete stakeholder requirements, system requirements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Quality checks: Requirements quality attributes (clear, verifiable, traceable), RTM completeness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Exit criteria: Baselined requirements, approved for design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Gate 2: Design Review — Entry criteria: System architecture, subsystem designs, interface definitions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Quality checks: Design FMEA complete, design verification plan, traceability to requirements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Exit criteria: Approved design, released for implementation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Gate 3: Implementation Review — Entry criteria: Prototype/software complete, unit tested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Quality checks: Code reviews, unit test results, integration test plan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Exit criteria: Ready for integration testing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Gate 4: Verification Review — Entry criteria: System integrated, test results available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Quality checks: Requirements verification complete, test coverage, defect resolution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Exit criteria: Verified system, ready for validation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Gate 5: Validation Review (Production Readiness) — Entry criteria: Validation testing complete, PPAP submitted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Quality checks: Customer acceptance, manufacturing process capability (Cpk ≥ 1.33), regulatory compliance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Exit criteria: Approved for production launch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Gate 6: Launch Review — Entry criteria: Initial production complete, field monitoring data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Quality checks: Zero major defects, process stability, customer satisfaction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Exit criteria: Ramp-up to full production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Gate criteria example (Requirements Review):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All stakeholder needs documented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System requirements complete (100% of needs traced)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Requirements quality checked (0 ambiguous requirements, 100% verifiable)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Requirements Traceability Matrix complete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Regulatory requirements identified and mapped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Requirements baseline established in configuration management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Stakeholder sign-off obtained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Design FMEA initiated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Gate governance: — Go: Criteria met, proceed to next phase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Conditional Go: Minor issues, proceed with documented actions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No-Go: Significant gaps, do not proceed until resolved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Key principle: Quality gates are non-negotiable. Never skip gates under schedule pressure - that's when defects escape.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#### Part 5: Critical Parameter Management (Slides 21-22, ~6 minutes)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What Are Critical Parameters?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Not all parameters are created equal. Critical parameters are the few vital characteristics that determine system success.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Definition: Critical parameters are characteristics that: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Significantly affect customer satisfaction or safety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Have narrow acceptable tolerances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Require special controls to ensure conformance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Can cause system failure or major defect if out of spec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Categories: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Critical-to-Quality (CTQ) Parameters — Directly impact customer-perceived quality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Example: Brake pedal feel, 0-100 km/h acceleration time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Critical-to-Safety (CTS) Parameters — Affect occupant or pedestrian safety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Example: Airbag deployment time, ABS response time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Critical-to-Function (CTF) Parameters — Essential for system to perform intended function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Example: Battery voltage range, sensor accuracy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Critical-to-Process (CTP) Parameters — Manufacturing process variables that affect quality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Example: Welding current, paint booth temperature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Example - Electric Vehicle Battery System: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Parameter | Type | Specification | Why Critical | Control Method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|-----------|------|---------------|--------------|----------------|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Cell voltage | CTF, CTS | 2.5-4.2V | Over-voltage = fire risk, under-voltage = damage | 100% monitoring, BMS cutoff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Temperature | CTS | -20 to +60°C | Thermal runaway risk | Thermal sensors, active cooling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State of Charge (SOC) accuracy | CTQ | ±3% | Range anxiety if inaccurate | Kalman filter, calibration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Isolation resistance | CTS | &gt;100 Ω/V | Electrical shock hazard | Pre-drive check, ISO monitoring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Crash deformation limit | CTS | &lt;15mm intrusion | Prevents cell puncture | FEA analysis, crash testing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Critical parameter characteristics: — Measurable (quantitative specification)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Controlled (monitoring, process controls, inspection)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Documented (control plan, work instructions)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Traceable (linked to requirements and risks)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Pareto principle (80/20 rule):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20% of parameters cause 80% of defects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Identify and control the critical 20%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Critical Parameter Management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Systematic Critical Parameter Management (CPM) ensures vital characteristics are controlled: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Step 1: Identify Critical Parameters — Sources: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Requirements analysis (safety, performance requirements)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FMEA (high RPN failure modes)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Historical warranty data (known problem areas)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Regulatory requirements (crash, emissions, safety)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Customer complaints (VOC - Voice of Customer)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Tool: Critical Parameter Identification Matrix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Step 2: Classify and Prioritize — Rate by criticality (CTS &gt; CTQ &gt; CTF &gt; CTP)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Rate by risk (probability × severity)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Focus control effort on highest priority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Step 3: Define Specifications — Nominal value and tolerances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Based on capability studies and margin analysis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Example: Battery SOC accuracy = 50% ± 3% (nominal ± tolerance)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Step 4: Establish Control Methods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Prevention controls (QA):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Design for robustness (parameter insensitive to variation)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Process capability studies (Cpk ≥ 1.33 for critical params)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Poka-yoke (error-proofing)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Detection controls (QC):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100% inspection for safety-critical parameters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Statistical Process Control (SPC) for process parameters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Automated monitoring (sensors, BMS)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Step 5: Document in Control Plan — Control plan lists all critical parameters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For each: specification, measurement method, frequency, reaction plan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Example Control Plan (Battery Assembly):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Parameter | Spec | Measure Method | Frequency | Reaction if OOS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|-----------|------|----------------|-----------|-----------------|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Cell voltage | 3.6±0.1V | Digital voltmeter | 100% | Reject cell, investigate supplier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Torque (busbars) | 8±1 Nm | Torque wrench | 100% | Rework, retorque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Isolation resistance | &gt;500 kΩ | Megohmmeter | 100% | Do not ship, investigate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Leak test (pass/fail) | Pass | Helium leak detector | 100% | Rework seals, retest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Step 6: Monitor and React — Real-time monitoring where possible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Immediate reaction if out-of-spec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Root cause analysis for any critical parameter excursion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Step 7: Continuous Improvement — Track trends over time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Reduce variation (Six Sigma approach - Cpk ≥ 2.0 target)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Update control methods based on lessons learned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Tools: — Control charts (SPC)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Process capability studies (Cp, Cpk)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Measurement System Analysis (MSA) - ensure measurement accuracy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Reaction plans (immediate containment)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Automotive standard: AIAG Control Plan methodology, PPAP requirements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#### Part 6: Metrics and KPIs (Slides 23-24, ~8 minutes)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Systems Engineering Metrics and KPIs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'You can't manage what you don't measure.' — Peter Drucker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Systems engineering effectiveness must be measured. But measure the RIGHT things.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Metric vs KPI: — Metric: Any quantitative measurement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KPI (Key Performance Indicator): Metric that's critical to success, tracked by management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Categories of SE metrics: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1. Product Quality Metrics — Defect density (defects per 1000 requirements or KLOC)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Defect escape rate (defects found by customer vs total)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Mean Time Between Failures (MTBF)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Warranty claims per 1000 vehicles (CPV - Claims Per Vehicle)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2. Process Performance Metrics — Requirements volatility (% requirements changed after baseline)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Requirements test coverage (% requirements with test cases)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Design review effectiveness (defects found in reviews vs testing)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Phase containment (% defects found in phase where introduced)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3. Schedule Metrics — Schedule variance (actual vs planned)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Milestone achievement rate (% milestones met on time)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Cycle time (time from concept to production)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4. Cost Metrics — Cost variance (actual vs budget)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Cost of quality (prevention + appraisal + failure costs)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Rework cost as % of total development cost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5. Productivity Metrics — Requirements developed per engineer-month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Test cases executed per week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Defect closure rate (defects fixed per week)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Example KPIs for automotive program: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KPI | Target | Actual (Month 6) | Status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|-----|--------|------------------|--------|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Requirements stability | &lt;5% change/month | 3.2% | ✓ Green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Test coverage | 100% | 94% | ⚠ Yellow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Defect density | &lt;0.5 def/req | 0.7 def/req | ❌ Red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Schedule variance | ±5% | -8% (behind) | ❌ Red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Defect escape rate | &lt;5% | 3% | ✓ Green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Design review participation | &gt;90% | 85% | ⚠ Yellow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Balanced scorecard approach: Don't optimize one metric at expense of others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Optimizing schedule only → quality suffers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Optimizing cost only → safety compromised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Balance across quality, cost, schedule, innovation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Case Study - GM Ignition Switch Decision Failure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Let's analyze a catastrophic failure of both decision-making and quality management: GM ignition switch (2003-2014).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Background: — 124 deaths, 275 injuries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30 million vehicles recalled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$4.1B in costs and settlements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Criminal charges against GM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The problem: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Ignition switch could move from 'Run' to 'Accessory' or 'Off' if bumped or with heavy keychain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→ Engine shuts off while driving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→ Power steering and brakes lose assist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→ Airbags disabled (key not in 'Run' position)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Decision failure #1: Component selection (2002)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Trade-off: Ignition switch torque spec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Higher torque = harder to turn, safer (won't slip)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Lower torque = easier to turn, more comfortable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Decision made: Spec = 15±5 cN·m (very wide tolerance, lower end = 10 cN·m)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Decision method: Supplier recommendation, no systematic MCDA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What was missed: No safety analysis of low torque scenario (FMEA failure)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Result: Switches produced at 10 cN·m (low end) → too easy to move accidentally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Quality failure #1: Inadequate testing — QC testing did not include 'bump' scenario or heavy keychain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No validation of worst-case conditions (low torque + vibration + keychain weight)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Decision failure #2: Engineering change (2006)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Engineer discovered problem in 2005, authorized supplier to change switch design (increase torque) WITHOUT: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Formal change control process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New part number (unauthorized, against QMS)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Notification to manufacturing or service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Why this decision was made: Avoid paperwork and documentation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Consequence: Mix of old (defective) and new (fixed) switches in field, impossible to identify which vehicles have which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Quality failure #2: No critical parameter management — Ignition switch torque was NOT identified as critical parameter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No 100% testing of torque value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No statistical process control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Should have been CTS (Critical-to-Safety) with tight control and 100% inspection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Decision failure #3: Response to field reports (2003-2013)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Timeline: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2004: First crash report (airbag didn't deploy)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2005-2007: Multiple reports of stalling, moving ignition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2010: Internal committee reviewed issue → Decided NOT to recall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Trade-off in 2010 decision: — Recall cost: ~$100M (estimated)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Liability risk: Unknown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Brand reputation: Negative publicity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Decision made: Do nothing (no recall)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Decision method: Cost minimization, no systematic risk analysis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What was missed: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Safety consequence severely underestimated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Liability and brand damage severely underestimated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Ethical dimension ignored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Actual cost: $4.1B (41× more than recall would have cost)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Quality failure #3: Metrics didn't surface the problem — Warranty data showed stalling issues, but not aggregated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No KPI for 'airbag non-deployment in crashes' (should have been critical safety metric)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Data siloed in different departments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Root causes: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Decision-making: — No systematic decision framework (MCDA, risk analysis)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Cost prioritized over safety in trade-offs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Individual decisions, no oversight or challenge process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No documentation of decision rationale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Quality management: — Critical parameter (ignition torque) not identified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QMS violated (unauthorized change, no part number change)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Quality gates failed (issue known but not escalated)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Metrics didn't track safety-critical parameters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What should have been done: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2002 (Original design): — FMEA identifying low-torque risk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Ignition torque designated as CTS parameter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Tighter specification (15±2 cN·m)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100% torque testing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2006 (Change): — Formal ECN (Engineering Change Notice)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New part number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Field campaign to replace defective switches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2010 (Field reports): — Systematic decision analysis: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Criteria: Safety, cost, liability, reputation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Weight safety as primary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Decision: Immediate recall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Lessons learned: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Safety must be weighted explicitly in trade-off decisions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Critical parameters must be identified and controlled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QMS is non-negotiable - no shortcuts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Metrics must surface safety issues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Decision rationale must be documented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Cost of prevention &lt;&lt; cost of failure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Common Decision and Quality Pitfalls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Let me show you the systematic failures to avoid: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Decision-making pitfalls: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Pitfall 1: HiPPO decisions (Highest Paid Person's Opinion)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Senior executive overrides systematic analysis based on intuition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Example: 'I drove a competitor's car, we need to match their feature'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Fix: Require data-driven justification for overriding analysis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Pitfall 2: Analysis paralysis — Endless analysis, no decision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Fear of making wrong decision → make no decision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Fix: Set decision deadlines, 'good enough' threshold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Pitfall 3: Sunk cost fallacy — 'We've already invested $10M in this architecture, we can't change now'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Past costs shouldn't drive future decisions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Fix: Evaluate based on future costs/benefits only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Pitfall 4: Confirmation bias — Seeking data that supports preferred option, ignoring contradictory data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Example: Testing scenarios where Option A wins, avoiding scenarios where it fails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Fix: Red team review, devil's advocate, pre-commit to decision criteria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Pitfall 5: Groupthink — Team converges on consensus without critical analysis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No one challenges assumptions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Fix: Assign explicit challenger role, encourage dissent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Pitfall 6: Optimizing single criterion — 'Minimize cost' without considering quality, safety, schedule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GM ignition switch optimized cost → catastrophe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Fix: Multi-criteria decision analysis (MCDA)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Pitfall 7: Not documenting rationale — Decision made, but reasoning not recorded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2 years later: 'Why did we choose this?'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Fix: Decision log with criteria, alternatives, rationale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Quality management pitfalls: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Pitfall 8: Inspection over prevention — Rely on testing to find defects rather than preventing them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'We'll test quality in'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Fix: Shift to QA (prevention) - FMEA, design reviews, process improvement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Pitfall 9: Quality is QA team's job — Engineers think: 'I design, QA ensures quality'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Result: Defects designed in, expensive to fix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Fix: Quality is everyone's responsibility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Pitfall 10: Ignoring non-functional requirements — Focus on functional testing, neglect performance, reliability, safety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Example: Feature works in ideal conditions, fails in extreme temps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Fix: NFR test coverage equal to functional test coverage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Pitfall 11: No critical parameter identification — Treating all parameters equally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Result: Critical safety parameters not controlled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Fix: Systematic CPM process (FMEA-driven)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Pitfall 12: Metrics without action — Dashboards show red KPIs, but no response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'That's just how our metrics always look'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Fix: Define triggers and mandatory actions for out-of-spec KPIs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Pitfall 13: Gaming metrics — Optimizing metric instead of actual quality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Example: Closing bugs as 'not reproducible' to hit closure targets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Fix: Multiple complementary metrics, audit sample of closed bugs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Pitfall 14: No lessons learned — Same mistakes repeated across programs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No institutional memory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Fix: Formal lessons learned process, searchable database, design reviews reference previous failures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Let's consolidate what you've learned today: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1. Systematic Decision-Making — Use structured frameworks (MCDA, trade-off analysis)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Explicitly identify criteria and weights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Document rationale for traceability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Consider uncertainty and risk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2. Multi-Criteria Decision Analysis — WSM: Simple weighted scoring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AHP: Pairwise comparisons for weight derivation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TOPSIS: Distance to ideal solution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Choose method based on decision complexity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3. Trade-off Analysis — Engineering involves conflicting objectives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Pareto frontier identifies optimal solutions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Choice among Pareto options depends on values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Document trade-offs accepted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4. Quality Assurance vs Quality Control — QA = Prevention (design it in)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QC = Detection (test it out)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QA is more cost-effective (10:1 or better)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Both are necessary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5. Critical Parameter Management — Identify vital few (CTS, CTQ, CTF)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Define specifications with margin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Implement controls (prevention + detection)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Monitor and react to excursions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6. Metrics and KPIs — Measure to manage, not to punish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Leading + lagging indicators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Balanced scorecard (cost/schedule/quality)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Define action triggers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7. Integration — Good decisions lead to quality outcomes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Quality metrics inform better decisions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Both require systematic processes and culture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Remember: Boeing 737 MAX and GM ignition switch failures weren't due to technical inability - they were failures of decision-making and quality management. You now have the tools to prevent these catastrophes.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Connection to Other Sessions and Systems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Let's place today's learning in the systems engineering context: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Today (Session 10): Decision and Quality Management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Connections to previous sessions: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Session 4 (Requirements): — When stakeholder needs conflict → Decision analysis to prioritize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Requirements quality attributes → Quality management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Critical requirements → Critical parameters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Session 5 (Architecture): — Multiple architecture alternatives → MCDA to choose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Architecture trade-offs → Pareto analysis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Design decisions → Documented rationale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Session 8 (V&amp;V): — Verification = Quality control (detecting defects)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Test coverage = Quality metric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Quality gates at each V-model phase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Session 9 (Risk Management): — Risk informs decisions (uncertain scenarios)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FMEA identifies critical parameters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Risk metrics = KPIs for program health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What comes next: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Session 11 (Agreement and Infrastructure Management): — Supplier selection = MCDA application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Make-vs-buy decisions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Supplier quality management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Session 12 (Safety and Security): — Safety is critical decision criterion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Safety integrity levels → Critical parameters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Functional safety = Quality management for safety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Session 15 (Technical Management): — Configuration management supports quality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Measurement and analysis = Metrics programs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Decision management as technical process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Throughout SE lifecycle: — Every technical process involves decisions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Quality must be managed at every phase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Metrics track progress and inform decisions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Critical parameters flow from requirements through validation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Key integration point: Decision and quality management are ENABLING processes that support all technical processes.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📊 PPT DESIGN GUIDANCE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 b="1">
                <a:solidFill>
                  <a:srgbClr val="2E5090"/>
                </a:solidFill>
              </a:defRPr>
            </a:pPr>
            <a:r>
              <a:t>Real Examples to Include: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Practical Exercise (Due before Session 11):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You are the systems engineer for a new Advanced Driver Assistance System (ADAS) that combines Adaptive Cruise Control (ACC) and Lane Keeping Assist (LKA).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Part 1: Decision Analysis (40%)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Scenario: You must select the primary sensor architecture from three alternatives: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Option A: Camera-only — Cost: $150 per vehicle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Range: 100m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Weather performance: Poor (rain/fog degrades)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Object classification: Excellent (can read signs, detect pedestrians)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Redundancy: Single sensor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Option B: Radar-only — Cost: $200 per vehicle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Range: 200m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Weather performance: Excellent (unaffected)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Object classification: Poor (detects objects, can't classify type)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Redundancy: Single sensor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Option C: Camera + Radar fusion — Cost: $350 per vehicle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Range: 200m (radar determines)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Weather performance: Good (radar compensates for camera in bad weather)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Object classification: Excellent (camera provides)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Redundancy: Dual sensor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Your task: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Define decision criteria (minimum 5)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Assign weights to criteria (justify based on stakeholder needs)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Score each alternative on each criterion (1-10 scale, document rationale)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Calculate using WSM (Weighted Sum Model)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Perform sensitivity analysis (test 2 different weighting schemes)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Make recommendation with documented rationale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Part 2: Trade-off Analysis (20%)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For your chosen architecture, analyze the trade-off between: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System cost (sensor + processing)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Performance (detection range, weather capability)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Create trade-off table showing 5 design points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Plot Pareto frontier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Explain which point you would select and why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Part 3: Critical Parameter Management (40%)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Identify 5 critical parameters for the ADAS system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Classify each as CTS, CTQ, or CTF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Justify criticality (link to safety or performance requirements)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For the TOP 2 critical parameters: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Define specification (nominal ± tolerance)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Describe control method (prevention + detection)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Define monitoring approach and reaction plan if out-of-spec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Define 3 KPIs for tracking ADAS system quality during development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Each must be SMART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Define target value and decision trigger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Grading Criteria: — Decision analysis: Criteria completeness, weight justification, scoring rationale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Trade-off analysis: Correct Pareto identification, clear selection rationale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Critical parameters: Appropriate identification, realistic specs, comprehensive controls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KPIs: SMART criteria, actionability, alignment with quality objectives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Professional presentation: Clarity, formatting, traceability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Submission: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Part 1: Decision matrix + sensitivity analysis (2 pages)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Part 2: Trade-off plot + analysis (1 page)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Part 3: Critical parameter table + KPI definitions (2 pages)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Total: 5 pages maximum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Tips: — Research real ADAS systems (Tesla, GM Super Cruise, Mercedes Drive Pilot)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Consider ISO 26262 (functional safety) requirements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Think about regulatory requirements (Euro NCAP, NHTSA)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Reference Session 9 (FMEA) for critical parameter identification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Use real data where possible (sensor costs, performance specs)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Discussion Questions: — How would your decision change if target market is Arizona (sunny) vs Norway (dark, snowy)?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What if regulatory requirements mandate redundant sensors for Level 3 autonomy?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How do you handle the cost vs safety trade-off?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What metrics would indicate your chosen architecture is failing during validation?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30 minutes for your questions. —--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Professional analytical aesthetic: Clean, data-driven, decision-oriented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Color coding: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Blue for Decision Analysis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Green for Quality Assurance (prevention)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Orange for Quality Control (detection)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Red for critical parameters and warnings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Purple for metrics/KPIs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Use real automotive examples: Photos of decision boards, quality control stations, dashboards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Diagrams: Decision trees, Pareto frontiers, control charts, KPI dashboards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4 (Boeing 737 MAX) - Grabs attention with real consequences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8 (Decision process) - Systematic framework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12 (WSM example) - Practical application students will use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15 (Pareto frontier) - Core trade-off concept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18 (QA vs QC) - Critical distinction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21 (Critical parameters) - Automotive application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25 (GM ignition switch) - Comprehensive failure analysis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28 (Summary) - Students will photograph this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6: Build battery options table row by row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12: Highlight each criterion, then show weighted calculation step-by-step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15: Animate Pareto frontier curve, highlight dominated solutions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18: Split-screen animation showing QA (prevention) vs QC (detection) timeline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25: Timeline animation of GM ignition switch decision points and consequences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6: Battery comparison table (complete with real specs)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12: Full WSM calculation example (3 alternatives × 5 criteria)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22: Control plan example (automotive battery assembly)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23: KPI dashboard with RAG status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Actual MCDA studies from automotive industry (if public)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ISO 9001/IATF 16949 certification audit checklists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Real control plans from PPAP submissions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Actual automotive KPI dashboards (anonymized)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Cost of quality data from automotive industry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🎯 INSTRUCTOR 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 b="1">
                <a:solidFill>
                  <a:srgbClr val="2E5090"/>
                </a:solidFill>
              </a:defRPr>
            </a:pPr>
            <a:r>
              <a:t>Assessment Opportunities: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Start with crisis (Boeing 737 MAX), show systematic solution, return to preventing crisis — Balance theory (MCDA methods) with practice (worked examples) — Emphasize decision documentation and traceability — Connect decision quality to system quality — Use automotive examples throughout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Challenge 1: "Why not just use intuition for decisions?"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How to address: Show Slide 4 (Boeing) and Slide 25 (GM) - intuition failed catastrophically. Emphasize: Intuition for simple decisions is fine; complex multi-stakeholder decisions need systematic analysis. Systematic doesn't mean slow - WSM takes 30 minutes for a well-scoped decision.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Challenge 2: "MCDA seems complicated and time-consuming"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How to address: Show Slide 12 (WSM) - simple spreadsheet, 1-2 hours for important decision. Compare to cost of wrong decision (GM: $4.1B). Frame as insurance. Not every decision needs MCDA - use for Type 2/3 decisions (Slide 9).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Challenge 3: "How do we decide the weights in MCDA?"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How to address: Weights reflect stakeholder values. Use AHP (pairwise comparison) if direct weighting is difficult. Show sensitivity analysis - if decision is same across reasonable weight ranges, weights don't matter much. If decision flips with small weight changes, need careful stakeholder negotiation.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Challenge 4: "QA sounds good, but we don't have time for prevention"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How to address: Show cost multipliers (Slide 18): Prevention $1, Appraisal $10, Failure $100, Recall $10,000. Ask: "Can you afford NOT to do prevention?" QA is faster than fixing defects later. FMEA takes 2 days, but prevents 6 months of rework.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Challenge 5: "We track metrics but nothing changes"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How to address: Slide 24 - metrics without action are waste. Define triggers and mandatory actions. Example: Defect density &gt;0.5 → trigger additional design review. Make metrics part of governance, not just dashboards.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If running short: — Condense Slide 13 (AHP) - mention it exists, focus on WSM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Reduce Slide 14 (TOPSIS) to brief overview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Move some trade-off examples to backup slides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If running long: — Extend Slide 12 (WSM) with live calculation exercise (students participate)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Add interactive exercise: Give students a simple decision, have them do WSM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Show actual MCDA software demo (Expert Choice, AHP-OS)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Core content (must cover - non-negotiable): — Slides 8-12 (Decision process, types, MCDA/WSM)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Slides 15-17 (Trade-offs and Pareto)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Slides 18-20 (QA vs QC, QMS, quality gates)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Slides 21-22 (Critical parameters)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23 (Metrics and KPIs)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Slides 25-26 (Failure case studies and pitfalls)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28 (Summary)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Slide 6: Interactive - poll students: "Which battery would you choose?" before showing analysis. See how many choose differently and why.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Slide 12: Work through WSM together - have students suggest criteria and weights, calculate together.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Slide 18: Quick quiz - show 5 activities, ask students to classify as QA or QC.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Slide 25: Case study discussion - "At what point should GM have recalled? What decision framework would have led to the right choice?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Slide 27: Pair exercise - give pairs 3 minutes to identify which pitfalls their organization/project exhibits. Share anonymously.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Quick Poll (Slide 3): "How many have seen important decisions made without systematic analysis?" (normalize the problem)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Decision Exercise (Slide 12): Give students battery decision, 5 minutes to score one alternative, compare results, discuss variance.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QA vs QC Quiz (Slide 18): Present 6 activities, students vote QA or QC, discuss.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Metrics Design (Slide 24): Small groups design 2 KPIs for a given system, share, critique.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Before class: — [ ] WSM calculation spreadsheet template (for students)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[ ] Example AHP pairwise comparison matrix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[ ] Real control plan example (anonymized)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[ ] KPI dashboard template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[ ] Decision log template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Handouts: — [ ] Decision analysis process checklist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[ ] WSM template (Excel)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[ ] Critical parameter identification worksheet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[ ] QA vs QC comparison table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[ ] SMART KPI criteria checklist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Post-class: — [ ] Share slides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[ ] Post exercise assignment with templates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[ ] Post WSM and AHP templates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[ ] Share links to: ISO 9001, IATF 16949, AIAG FMEA handbook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[ ] Create discussion forum: "Share a bad decision you've witnessed and how MCDA would have helped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During lecture: — Quick quiz (Slide 9): "What decision method for supplier selection with 15 candidates and 8 criteria?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Quick quiz (Slide 18): "Is FMEA a QA or QC activity? Why?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Exercise assessment criteria: — Decision analysis: Are criteria comprehensive? Weights justified? Scores documented? Sensitivity analysis performed?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Trade-off analysis: Correct Pareto identification? Clear selection rationale?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Critical parameters: Appropriately identified? Linked to FMEA/requirements? Realistic control methods?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KPIs: Meet SMART criteria? Actionable? Aligned with objectives?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Common student mistakes to watch for: — Assigning weights without justification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Not documenting scoring rationale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Confusing dominated solutions with Pareto optimal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Identifying too many parameters as "critical" (critical means vital few, not everything)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Defining vanity metrics instead of actionable KPIs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Not linking critical parameters to requirements or FMEA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✅ Session Success Criteria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Students leave able to: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Apply systematic decision analysis to engineering trade-offs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Use Weighted Sum Model (WSM) for multi-criteria decisions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Identify and visualize trade-offs using Pareto frontier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Distinguish between QA (prevention) and QC (detection)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Identify critical parameters for automotive systems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Define SMART KPIs for systems engineering programs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Recognize decision and quality management failures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Document decision rationale for traceability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Critical outcome: Students can make and defend complex engineering decisions using systematic methods and implement quality management to prevent defects, not just detect them.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Evidence of success: — Student can perform WSM calculation for multi-criteria decision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Student can explain why QA is more cost-effective than QC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Student can identify critical parameters from FMEA and define control methods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Student can define actionable KPIs with decision triggers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Student understands that decision quality and product quality are interlinked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📚 Additional Resources for Students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Standards and Guidelines: — ISO 9001:2015: Quality Management Systems - Requirements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IATF 16949:2016: Automotive Quality Management System Requirements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ISO 26262-8:2018: Functional Safety - Supporting Processes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AIAG FMEA Handbook (5th Edition)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AIAG PPAP Manual (Production Part Approval Process)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Decision Analysis: — Keeney, R.L. &amp; Raiffa, H.: "Decisions with Multiple Objectives: Preferences and Value Trade-offs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Saaty, T.L.: "Decision Making with the Analytic Hierarchy Process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Triantaphyllou, E.: "Multi-Criteria Decision Making Methods: A Comparative Study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Quality Management: — Juran's Quality Handbook (7th Edition)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"Out of the Crisis" by W. Edwards Deming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"The Toyota Way" by Jeffrey Liker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ASQ Certified Quality Engineer Handbook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Automotive-Specific: — APQP Manual (Advanced Product Quality Planning) - AIAG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ASPICE (Automotive SPICE) - Process Assessment Model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VDA 6.3 - Process Audit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Online Tools: — AHP-OS (free online AHP calculator)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Super Decisions (free AHP software)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Minitab / JMP (statistical analysis for quality metrics)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🔗 Connections to Other Sessions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Builds on: — Session 4: Requirements provide criteria for decisions; quality requirements drive critical parameters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Session 5: Architecture selection is MCDA application; design quality gates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Session 8: V&amp;V is quality control; traceability enables quality management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Session 9: Risk analysis informs decisions; FMEA identifies critical parameters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Leads to: — Session 11: Supplier selection uses MCDA; supplier quality management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Session 12: Safety is critical decision criterion; safety = quality for life-critical systems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Session 15: Configuration management supports quality; measurement = metrics implementation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Key concept thread: — Session 9: HOW do we manage risk? (FMEA, risk analysis)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Session 10: HOW do we make decisions and ensure quality? (This session)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Session 11: HOW do we manage agreements and infrastructure? (Supplier/resource decisions)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Session 15: HOW do we manage information and configuration? (Technical management)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Decision-making appears in: — Session 5 (Architecture selection)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Session 11 (Make-vs-buy, supplier selection)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Session 13 (Life cycle cost trade-offs)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Every session implicitly (engineering is decision-making)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Quality management appears in: — Session 8 (V&amp;V processes)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Session 12 (Functional safety quality requirements)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Session 15 (Quality of technical management processes)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🎬 Opening and Closing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 b="1">
                <a:solidFill>
                  <a:srgbClr val="2E5090"/>
                </a:solidFill>
              </a:defRPr>
            </a:pPr>
            <a:r>
              <a:t>Closing (Last 2 minutes):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Start with Boeing 737 MAX image on screen as students enter. Begin: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Before we start, look at this aircraft. Boeing 737 MAX. 346 people died. $20 billion in losses. 20-month grounding.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This wasn't a technology failure. Boeing knows how to build aircraft. This was a failure of decision-making and quality management.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Today, we're going to learn how to make systematic, defensible decisions and how to build quality in from the start. Because in automotive, the stakes are just as high - and you will be making these decisions.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Welcome to Session 10: Decision and Quality Management.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Return to the opening images (Boeing and GM):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We started with two catastrophic failures: Boeing 737 MAX and GM ignition switch. Both resulted from failures you now know how to prevent: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You can make systematic decisions using MCDA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You can analyze trade-offs and choose from Pareto frontier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You can distinguish QA from QC and emphasize prevention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You can identify and control critical parameters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You can define metrics that drive improvement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The exercise I've given you is your chance to practice. When you're faced with a real decision - sensor architecture, supplier selection, architecture choice - you'll have systematic methods.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Quality and decisions aren't separate from engineering - they ARE engineering. Make them count.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See you in Session 11, where we'll apply these decision methods to supplier selection and make-vs-buy decisions.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📈 Learning Objectives Mapping to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Session Objective | Assessment Method | Success Criteria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|-------------------|-------------------|------------------|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Apply decision analysis techniques | Exercise Part 1 | Correctly applies WSM with documented criteria, weights, scores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Use MCDA for complex decisions | Exercise Part 1 | Complete decision matrix with sensitivity analysis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Distinguish QA vs QC | In-class quiz + conceptual understanding | Can classify activities correctly; explains prevention vs detection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Implement critical parameter management | Exercise Part 3 | Identifies appropriate critical parameters linked to FMEA/requirements; defines realistic controls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Define metrics and KPIs | Exercise Part 3 | KPIs meet SMART criteria; actionable decision triggers defined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Recognize decision/quality failures | Case study discussion | Can analyze GM/Boeing cases; identifies root causes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Select appropriate decision frameworks | Exercise Part 1 + in-class discussion | Chooses method appropriate to decision type; justifies choice |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End of Session 10 Framework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Next: Session 11 (Agreement and Infrastructure Management)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