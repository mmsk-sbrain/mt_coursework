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5: System Design and Architecture'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Design and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5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5: System Design and Architecture. Today marks a critical transition point in our systems engineering journey.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Session 4, we mastered requirements engineering - defining WHAT the system must do. Today, we answer the next question: HOW will we design the system to meet those requirements?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where engineering creativity meets engineering discipline. This is where we architect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Journey So Far - Connection to Previous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connect our journey: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We learned WHY systems engineering matters. Poor design decisions amplify requirements errors.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2: We learned the SE framework - ISO/IEC 15288 technical processes. After 'Requirements Definition' comes 'Architecture Definition.'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3: We explored MBSE. SysML has specific diagrams for architecture - Block Definition Diagrams, Internal Block Diagrams.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4: We defined requirements systematically. Now we must satisfy those requirements through architecture.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critical link: Requirements drive design. But design must not be embedded IN requirements. We separate WHAT (requirements) from HOW (architecture).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separation enables innovation, allows multiple solutions, and facilitates trade studies.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Requirements Drive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is the bridge between requirements and implementation.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relationship: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say WHAT: — 'The vehicle shall detect obstacles within 150m with ±0.5m accuracy'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'The system shall respond to driver inputs within 200ms'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'The system shall operate in temperatures from -40°C to +85°C'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says HOW (conceptually): — 'Use radar sensor subsystem for long-range detection, camera subsystem for classification'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'Implement distributed architecture with sensor ECUs, fusion ECU, and actuation ECU'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'Partition functions: sensing, perception, decision, control, actuation'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says HOW (specifically): — 'Use 77 GHz FMCW radar with antenna array configuration...'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'ECU network topology: star configuration with gateway...'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'Algorithms: Kalman filter for sensor fusion, PID for control...'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we focus on ARCHITECTURE - the high-level structural decisions that shape the entire system.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major automotive system failure involves architecture decisions: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Toyota unintended acceleration? Throttle control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Boeing 737 MAX MCAS? Sensor architecture and redundancy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 Autopilot incidents? Sensor fusion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is where we make or break system success.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IS System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give you the formal definition from INCOSE and ISO/IEC 42010: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Architecture: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'The fundamental organization of a system, embodied in its components, their relationships to each other and the environment, and the principles governing its design and evolution.'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Breaking this down: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Fundamental organization — High-level structure, not detailed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Components — Major subsystems, elements, modules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vehicle: Powertrain, chassis, body, electrical, ADAS, infotainment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ADAS: Sensors, perception, planning, control, actuation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Relationships — How components interact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Interfaces: CAN bus, Ethernet, mechanical connections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flows: Sensor data → perception → decisions → commands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Dependencies: Control ECU depends on sensor data quality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Environment — Context and boundaries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inside the system? What's outside?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External interfaces: Driver, road, regulations, other vehicles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Design principles — Governing rules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Modularity, redundancy, fail-safe behavior, maintainability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'All safety-critical functions shall have dual redundancy'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'Sensing and actuation shall be physically separated'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exists at multiple levels: — Enterprise: Entire vehicle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System: ADAS architecture, powertrain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Subsystem: Radar sensor architecture, brake system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we focus on SYSTEM-level architecture for automotive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Architecture in the V-Model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 does architecture fit in the systems engineering V-Model?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Left side (Design):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Requirements (Session 4) - What stakeholders need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Requirements (Session 4) - What system must do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SYSTEM ARCHITECTURE ← (Today) — How system is organized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Subsystem Requirements - Requirements allocated to subsystems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Detailed Design - Component-level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Right side (Verification):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verify architecture through integration testing - does the architecture work as designed?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insight from V-Model: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decisions made TODAY determine: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strategy (how we assemble the system)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verification (how subsystems communicate)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System-level testing approach (how we verify behavior)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architecture must be: — Traceable to requirements — Every requirement allocated to architectural element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Verifiable — Can we build and test this architecture?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Implementable — Can subsystems be developed in parallel?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Poor architecture = expensive integration problems downstream.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 architecture = smooth integration, modular testing, parallel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 Deceptively Complex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use Adaptive Cruise Control (ACC) as our running example. You might think: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Initial thought: 'ACC maintains speed and keeps distance from lead vehicle. Just need a radar and throttle control. Simple!'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Reality check - What's involved in ACC architecture?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Sensing layer: — Long-range radar (150m detection)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Camera (lane detection, sign recognition)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speed sensors (own vehicle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Yaw rate sensor (vehicle dynamics)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GPS (map context)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Processing layer: — Sensor fusion (combine radar + camera data)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Object tracking (maintain continuity of detected vehicles)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Threat assessment (is lead vehicle decelerating?)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Path planning (longitudinal trajectory)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algorithms (speed and spacing control)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Actuation layer: — Throttle control (acceleration requests to powertrain ECU)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control (deceleration requests to brake ECU)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control (gear selection optimization)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Interface layer: — Driver interface (buttons, displays, alerts)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Other vehicle systems (ESC, ABS, lane keeping, collision avoidance)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 systems (fault detection and logging)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OTA update capability (software updates)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Suddenly, we have 10+ subsystems, 20+ interfaces, 50+ requirements to allocate!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 we need systematic architecture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is CONOPS?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architect the system, we must understand HOW it will be used. This is the Concept of Operations (CONOPS).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CONOPS Definition: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'A verbal and graphic statement, in user-oriented terminology, describing how a system will be operated, who will operate it, and under what conditions it will be used to achieve mission objectives.'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CONOPS answers critical questions: — Who are the users? (Driver, passengers, service technicians, fleet managers)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will they do with the system? (Engage ACC, set speed, monitor, disengage)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will they use it? (Highway driving, traffic jams, long trips)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 will it operate? (Geographic regions, road types, weather conditions)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do they need it? (Reduce fatigue, improve fuel economy, enhance safety)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will they interact? (Steering wheel buttons, displays, voice commands)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CONOPS is NOT: — ❌ Detailed design (not HOW the system works internally)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System requirements (not WHAT the system must do)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User manual (not step-by-step instructions)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CONOPS IS: — ✓ Operational vision (HOW users will employ the system)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Context for architecture (shapes design decisions)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Communication tool (aligns stakeholders on operational concept)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automotive: — CONOPS developed early (concept phase)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Drives requirements (what capabilities enable operations?)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Shapes architecture (what structure supports operations?)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Guides testing (validate against operational scenarios)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ACC CONOPS Example - Operational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develop CONOPS for our ACC system through operational scenarios.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1: Highway Cruising (Normal Operation)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Context: — Driver: Experienced, highway driving, light traffic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Environment: Clear weather, dry road, daylight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speed: 120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Operational sequence: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accelerates to desired speed (120 km/h)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presses SET button on steering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activates ACC, displays status on cluster ('ACC Active, 120 km/h')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maintains speed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lead vehicle ahead → system maintains set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monitors traffic, keeps hands on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can adjust speed with +/- buttons (±1 km/h per press)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Expected system behavior: — Smooth speed maintenance (±2 km/h tolerance)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Fuel-efficient throttle modulation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Display shows status continuously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2: Following Vehicle (Adaptive Behavior)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Context: — ACC engaged at 120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Lead vehicle appears ahead, traveling at 100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Set following distance: 2.0 seconds time gap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Operational sequence: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detects lead vehicle at 100m distance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assesses: 'Lead vehicle slower, closing speed 20 km/h'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decelerates smoothly (gentle braking, 0.2g max)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achieves 2.0 sec following distance (55m at 100 km/h)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matches lead vehicle speed (100 km/h)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Display shows: 'ACC Active, Following, 100 km/h, Distance: 2.0s'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can adjust following distance (1.0s, 1.5s, 2.0s, 2.5s settings)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Expected system behavior: — Comfortable deceleration (not jerky)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Maintain safe following distance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Respond to lead vehicle speed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3: Lead Vehicle Cuts In (Dynamic Response)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Context: — ACC following at 100 km/h, 2.0s gap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from adjacent lane cuts in front suddenly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New lead vehicle now only 20m ahead (0.7s gap - too close!)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Operational sequence: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detects new target suddenly closer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identifies: 'Critical - following distance below threshold'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applies moderate braking (0.3g) immediately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Display alerts driver: 'Take Over' warning (visual + audible)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increases following distance to 2.0s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driver doesn't respond and gap keeps decreasing → system applies stronger braking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Expected system behavior: — Rapid but safe response to cut-ins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driver alerts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Maintain safety (don't cause rear-end collision)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4: Driver Override and Deactivation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Context: — ACC engaged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needs to take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Deactivation triggers: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presses brake pedal → ACC disengages immediately, driver controls braking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presses CANCEL button → ACC disengages, returns to manual throttle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presses accelerator &gt;50% → ACC suspends, driver controls speed temporarily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detects sensor failure → ACC disengages, alerts driver ('ACC Unavailable')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speed drops below 30 km/h → ACC disengages (designed for highway use)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Expected system behavior: — Instant response to driver inputs (driver always has authority)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status indication (driver knows ACC state)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 transitions (no sudden changes)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scenarios drive architecture requirements: — Need rapid sensor processing (detect cut-ins quickly)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smooth actuation (comfort during speed changes)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clear HMI (driver must understand system state)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fail-safe behavior (handle sensor failures)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From CONOPS to Architecture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CONOPS directly shapes architecture. Let's trace the connections: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Operational Need → Architectural Implication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'Detect lead vehicle at 150m in all weather'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Architecture must 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Long-range sensing capability (77 GHz radar, not just camera)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Weather-robust sensor (radar works in fog/rain, camera doesn't)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positioning (front bumper, unobstructed field of view)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'Respond to sudden cut-ins within 0.5 seconds'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Architecture must 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High-frequency sensor sampling (20+ Hz)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Low-latency processing (sensor → decision → actuation &lt;500ms)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High-priority CAN messaging (ACC messages preempt lower priority)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Fast actuator response (electronic throttle, brake-by-wire)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'Driver can override instantly by pressing brake'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Architecture must 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pedal monitoring (direct input to ACC ECU or via CAN)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Preemptive arbitration (brake command overrides ACC commands)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Fail-safe logic (on any fault, release control to driver)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'System operates in -40°C to +50°C ambient'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Architecture must 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Industrial-grade ECUs (automotive temperature range)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heating (radar lens heating, camera lens defogging)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Cold-start calibration (sensors may need warm-up time)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'Maintain operation even if one sensor fails'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Architecture must 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redundancy (radar + camera, not single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detection and isolation (FDI algorithms)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Degraded mode operation (fall back to reduced functionality)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'Driver must understand system state at all times'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Architecture must 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Dedicated HMI subsystem (instrument cluster integration)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Multiple indication methods (visual icon, text, color, sound)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State machine visibility (engaged, standby, following, error)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CONOPS forces us to think OPERATIONALLY, not just FUNCTIONALLY.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Many architecture failures come from designing the system in isolation, ignoring how it's actually used.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System Context and Boundaries (Slides 12-14, ~10 minutes)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Defining System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architecture step: Define what's IN the system and what's OUT.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boundaries matter: — Scope control: What are we responsible for designing?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identification: What do we interface with but don't control?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Responsibility allocation: Where does our system end and others begin?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ACC system, let's define boundaries: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INSIDE the ACC System (Our Responsibility): — ACC ECU (processing unit)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software (algorithms, control logic)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sensor (if dedicated to ACC)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ACC-specific HMI elements (dashboard icon, settings menu)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wiring harness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OUTSIDE the ACC System (External Interfaces): — Driver: User, operator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Steering wheel buttons (input), instrument cluster (output)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Powertrain ECU: Controls engine/motor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CAN messages (ACC sends torque requests)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ECU: Controls brake actuation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CAN messages (ACC sends deceleration requests)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ESC (Electronic Stability Control): Vehicle dynamics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CAN messages (wheel speeds, yaw rate data)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ECU: Gear selection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CAN messages (optimal gear for ACC operation)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Instrument Cluster: Driver displays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CAN messages (status, warnings, icons)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Body Control Module: Vehicle state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CAN messages (door status, ignition state)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Gateway ECU: Network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CAN bus connection, network routing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 System: Service and fault logging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OBD-II / UDS protocols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Infrastructure: Road, traffic, weather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Radar/camera perception (one-way, sensing only)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Other Vehicles: Lead vehicle, surrounding traffic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Radar/camera perception (one-way, sensing only)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Regulations: FMVSS, Euro NCAP, UN R79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Compliance requirements (constraints)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Boundary decisions drive: — Development responsibility (who develops what?)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testing (where are interface test points?)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isolation (if something fails, whose problem is it?)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allocation (budget and resources)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mistake: Vague boundaries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Is the camera 'inside' ACC or 'shared' with lane keeping?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shared: Need coordination, joint calibration, arbitration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dedicated: ACC team owns it fully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impacts architecture significantly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SysML representation: Context diagrams, Block Definition Diagrams (BDD) with boundary boxes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External Interface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Once boundaries are clear, we catalog ALL external interfaces.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Interface Identification Matrix - ACC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External Entity | Interface Type | Protocol/Physical | Data Flow | Criticality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|----------------|----------------|-------------------|-----------|-------------|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Driver | Human-Machine Interface | Steering wheel switches (resistive, 0-5V) | Bidirectional (commands in, status out) | High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Powertrain ECU | Electronic | CAN 2.0B, 500 kbps | Bidirectional (torque request out, engine status in) | Critical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Brake ECU | Electronic | CAN 2.0B, 500 kbps | Bidirectional (decel request out, brake status in) | Critical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ESC ECU | Electronic | CAN 2.0B, 500 kbps | Input only (wheel speeds, yaw rate) | Critical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Instrument Cluster | Electronic | CAN 2.0B, 500 kbps | Output only (status, warnings) | Medium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Radar Sensor | Electronic | CAN FD, 2 Mbps (or Ethernet) | Input only (object list, targets) | Critical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Camera Sensor | Electronic | Automotive Ethernet, 100 Mbps | Input only (video stream, lane data) | High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Gateway ECU | Electronic | CAN 2.0B, 500 kbps | Bidirectional (diagnostics, updates) | Medium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Road/Environment | Physical | Electromagnetic (radar, optical) | Input only (sensing) | N/A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each interface, specify: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Interface Control Document (ICD) Required — Physical layer: Connectors, pinouts, voltages, timing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Protocol layer: Message IDs, data formats, update rates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Behavioral layer: Sequence diagrams, state machines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Error handling: Fault detection, timeout behavior, defaults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- Powertrain Interface ICD: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Message: ACC_TorqueRequest</a:t>
            </a:r>
            <a:br/>
            <a:r>
              <a:t>CAN ID: 0x245</a:t>
            </a:r>
            <a:br/>
            <a:r>
              <a:t>DLC: 8 bytes</a:t>
            </a:r>
            <a:br/>
            <a:r>
              <a:t>Byte 0-1: Requested torque (Nm, scaled 0.1 Nm/bit, offset -500 Nm)</a:t>
            </a:r>
            <a:br/>
            <a:r>
              <a:t>Byte 2: Torque rate limit (Nm/s)</a:t>
            </a:r>
            <a:br/>
            <a:r>
              <a:t>Byte 3: Torque control mode (0=None, 1=Speed, 2=Torque)</a:t>
            </a:r>
            <a:br/>
            <a:r>
              <a:t>Byte 4-7: Reserved</a:t>
            </a:r>
            <a:br/>
            <a:r>
              <a:t>Update rate: 20 ms (50 Hz)</a:t>
            </a:r>
            <a:br/>
            <a:r>
              <a:t>Timeout: If no message for 100ms, powertrain reverts to driver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Interface Verification Plan — How will we test this interface?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Unit test (ECU bench), integration test (vehicle),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Interface Change Management — Who can change interface definition?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Approval process (both sides must agree)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Version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implication: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interface is a RISK. — Communication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Mismatched interpretations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principle: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Minimize interfaces. Simplify interfaces. Document interfaces rigorously.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80% of integration problems come from interface issues.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System Context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visualize the complete system context.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System Context Diagram: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[Visual shows ACC ECU in center, surrounded by external entities with labeled arrows]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elements: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Center: ACC System (boundary box)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External entities (outside boundary):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(top)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Road/Environment (bottom)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systems ECUs (left and right)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Diagnostic/service (bottom right)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Interface flows (arrows with labels):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→ ACC: Button presses (SET, RES, CANCEL, +/-), time gap selection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→ Driver: Status displays, warnings, alerts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Radar/Camera → ACC: Detected objects, distances, velocities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→ Powertrain: Torque requests, acceleration demands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→ Brake: Deceleration requests, braking intensity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ESC → ACC: Vehicle speed, yaw rate, wheel speeds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↔ Cluster: Status, mode, set speed, following distance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↔ Gateway: Diagnostics, fault codes, software updates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diagram answers critical questions: — What flows INTO our system? (Inputs we must handle)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flows OUT? (Outputs we must generate)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don't we control? (External dependencies)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decisions from context: — High sensor bandwidth (radar/camera) → Need fast network (Ethernet or CAN FD)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safety interfaces (brake, powertrain) → Need redundancy, fault detection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interaction (driver) → Need clear, unambiguous feedback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Multiple ECU interfaces → Need network architecture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context diagram becomes: — Foundation for detailed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Basis for interface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Communication tool with stakeholders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 to trade studies (where to partition functionality?)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SysML equivalent: BDD (Block Definition Diagram) with system context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Design Principles and Architecture Patterns (Slides 15-18, ~12 minutes)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High-Level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 architecture follows proven design principles. These are timeless guidelines that lead to robust systems.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Fundamental Design Principles for Automotive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MODULARITY - Decompose into Cohesive Modules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System divided into independent, interchangeable modules with well-defined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Parallel development (teams work independently)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Easier testing (test modules separately, then integrate)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Maintainability (replace/upgrade modules without touching others)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Reusability (use proven modules in multiple systems)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Sensing module (radar, camera)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Perception module (object detection, tracking)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Planning module (trajectory, spacing control)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Actuation module (throttle/brake commands)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HMI module (driver interface)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Each module has defined inputs/outputs, can be developed separately.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HIERARCHY - Organize in Levels of Abstraction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System organized in layers, each level abstracts complexity of levels below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Architecture Hierarchy: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Level 0: Complete ACC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Level 1: Subsystems (Sensing, Processing, Actuation, HMI)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Level 2: Components (Radar ECU, Fusion Algorithm, Brake Interface, Display Driver)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Level 3: Modules/Functions (Target Selection, Distance Control, PID Controller)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 complexity (understand one level at a time)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responsibility (each level has defined role)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strategy (test bottom-up: components → subsystems → system)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ABSTRACTION - Hide Implementation Details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Interface defines WHAT, not HOW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Bad: 'Radar ECU outputs raw ADC samples at 1 MHz'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Good: 'Sensor subsystem provides list of detected objects with position, velocity, confidence'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Abstraction allows changing implementation without affecting users of the interface.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SEPARATION OF CONCERNS - Isolate Responsibilities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Different aspects handled by different elements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Sensing concerns: Separated into dedicated sensor ECUs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concerns: Separated into monitoring function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 concerns: Separated into diagnostic manager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Don't mix safety-critical and non-critical in same module.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INFORMATION HIDING - Encapsulation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Internal details not visible to external users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Other ECUs don't need to know ACC's internal state machine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They interact via defined CAN messages only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can change internal algorithms without affecting others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INTERFACE STANDARDIZATION - Use Common Patterns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Reuse interface patterns across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actuator commands use same CAN message 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status messages use same format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Reduces learning curve, testing burden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REDUNDANCY - Critical Functions Have Backups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Duplicate critical capabilities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Safety Architecture: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Dual sensors (radar + camera, independent failures)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Plausibility checking (cross-check sensor data)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 fallback (if sensors fail, disable gracefully)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Trade-off: Redundancy adds cost and complexity but improves safety and availability.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8. FAIL-SAFE DESIGN - Fail to Safe State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On any fault, system transitions to safe configuration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Fail-Safe: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failure → Disable ACC, alert driver (don't guess)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Communication loss → Disable ACC (don't act on stale data)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crash → Watchdog resets ECU, ACC stays off until next ignition cycle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for automotive: Never fail in a way that causes accident.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principles guide every architecture decision we make.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Common Architecture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Beyond principles, we use proven architecture patterns - recurring solutions to common problems.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Pattern 1: LAYERED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Structure: System organized in horizontal layers, each layer uses services of layer below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 - ADAS Architecture: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Layer 4: Application                    │  (ACC, LKA, AEB functions)</a:t>
            </a:r>
            <a:br/>
            <a:r>
              <a:t>├─────────────────────────────────────────┤</a:t>
            </a:r>
            <a:br/>
            <a:r>
              <a:t>│  Layer 3: Planning &amp; Decision            │  (Trajectory planning, arbitration)</a:t>
            </a:r>
            <a:br/>
            <a:r>
              <a:t>├─────────────────────────────────────────┤</a:t>
            </a:r>
            <a:br/>
            <a:r>
              <a:t>│  Layer 2: Perception &amp; Fusion            │  (Object detection, tracking, fusion)</a:t>
            </a:r>
            <a:br/>
            <a:r>
              <a:t>├─────────────────────────────────────────┤</a:t>
            </a:r>
            <a:br/>
            <a:r>
              <a:t>│  Layer 1: Sensing &amp; Actuation            │  (Radar, camera, throttle, brake)</a:t>
            </a:r>
            <a:br/>
            <a:r>
              <a:t>└─────────────────────────────────────────┘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Rules: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Layer N can only call Layer N-1 (downward)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Layer N provides services to Layer N+1 (upward)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skipping layers (Layer 4 can't directly access Layer 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separation of concerns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Easy to replace a layer (if interface maintained)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Testable (test layers independently)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Drawback: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introduce latency (must pass through layers)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Rigid structure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to use: Complex systems with clear functional hierarchy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Pattern 2: PIPE-AND-FILTER (Data Flow Architecture)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Structure: Data flows through sequence of processing stages (filters), connected by data channels (pipes)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 - Sensor Processing Pipeline: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Raw Radar  →  Filtering  →  Detection  →  Tracking  →  Fusion  →  Object List</a:t>
            </a:r>
            <a:br/>
            <a:r>
              <a:t>Signals        (Filter)     (Filter)     (Filter)    (Filter)     (Output)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Intuitive for data processing tasks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Easy to add/remove stages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Parallel processing (stages can run concurrently)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Reusable filters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Drawback: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suitable for interactive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Assumes unidirectional flow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to use: Sensor processing, signal chains, data transformations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Pattern 3: DISTRIBUTED (NETWORKED)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Structure: Multiple ECUs connected via network, each handles subset of functions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 - Modern Vehicle Architecture: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┌─────────┐         ┌─────────┐         ┌─────────┐</a:t>
            </a:r>
            <a:br/>
            <a:r>
              <a:t>│Radar ECU│         │ACC ECU  │         │Brake ECU│</a:t>
            </a:r>
            <a:br/>
            <a:r>
              <a:t>└────┬────┘         └────┬────┘         └────┬────┘</a:t>
            </a:r>
            <a:br/>
            <a:r>
              <a:t>│                   │                   │</a:t>
            </a:r>
            <a:br/>
            <a:r>
              <a:t>─────┴───────────────────┴───────────────────┴─────  CAN Bus</a:t>
            </a:r>
            <a:br/>
            <a:r>
              <a:t>│                   │                   │</a:t>
            </a:r>
            <a:br/>
            <a:r>
              <a:t>┌────┴────┐         ┌────┴────┐         ┌────┴────┐</a:t>
            </a:r>
            <a:br/>
            <a:r>
              <a:t>│Camera   │         │Gateway  │         │Cluster  │</a:t>
            </a:r>
            <a:br/>
            <a:r>
              <a:t>│ECU      │         │ECU      │         │ECU      │</a:t>
            </a:r>
            <a:br/>
            <a:r>
              <a:t>└─────────┘         └─────────┘         └─────────┘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Scalability (add ECUs as needed)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isolation (one ECU failure doesn't crash system)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Supplier independence (different suppliers for different ECUs)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Drawback: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Network complexity (timing, bandwidth, reliability)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challenges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Network is single point of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to use: Complex vehicles with many functions (standard for automotive)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Pattern 4: CENTRALIZED (DOMAIN CONTROLLER)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Structure: Powerful central ECU handles multiple functions, reduces distributed ECUs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 - Tesla/Future Architecture: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┌──────────────────────────────────┐</a:t>
            </a:r>
            <a:br/>
            <a:r>
              <a:t>│   Central ADAS Computer          │</a:t>
            </a:r>
            <a:br/>
            <a:r>
              <a:t>│  (ACC + LKA + AEB + Parking...)  │</a:t>
            </a:r>
            <a:br/>
            <a:r>
              <a:t>│  (Multi-core, high performance)  │</a:t>
            </a:r>
            <a:br/>
            <a:r>
              <a:t>└────────┬─────────────────┬───────┘</a:t>
            </a:r>
            <a:br/>
            <a:r>
              <a:t>│                 │</a:t>
            </a:r>
            <a:br/>
            <a:r>
              <a:t>Ethernet            Ethernet</a:t>
            </a:r>
            <a:br/>
            <a:r>
              <a:t>│                 │</a:t>
            </a:r>
            <a:br/>
            <a:r>
              <a:t>┌────────┴──┐         ┌────┴─────────┐</a:t>
            </a:r>
            <a:br/>
            <a:r>
              <a:t>│Sensor Hub │         │Actuator Hub  │</a:t>
            </a:r>
            <a:br/>
            <a:r>
              <a:t>│(Cameras,  │         │(Throttle,    │</a:t>
            </a:r>
            <a:br/>
            <a:r>
              <a:t>│ Radar)    │         │ Brake, Steer)│</a:t>
            </a:r>
            <a:br/>
            <a:r>
              <a:t>└───────────┘         └──────────────┘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Reduced ECU count (cost savings, weight reduction)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Easier software updates (one central computer)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performance (powerful processor)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Simplified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Drawback: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Single point of failure (need redundancy for safety)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complexity in one unit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Expensive central computer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to use: Future vehicles, EVs, high-performance ADAS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Trend: Automotive moving from distributed → centralized (domain controllers)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Designing for Quality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must satisfy not just functional requirements but QUALITY attributes (Non-Functional Requirements from Session 4).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Attribute: SAFETY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Architectural strategies: — Redundancy: Dual sensors, dual processing paths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Monitoring: Watchdog timers, plausibility checks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Fail-safe defaults: On fault, disable function safely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Isolation: Safety-critical functions physically separated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+ Camera (redundant perception)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Watchdog monitors ACC ECU heartbeat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disagreement &gt; threshold → disable ACC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monitor runs on separate core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Attribute: RELIABILITY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Architectural strategies: — Fault detection: Self-diagnostics, health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Graceful degradation: Reduced functionality vs complete failure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Robust communication: Error detection (CRC), retransmission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camera fails but radar OK → Continue with reduced confidence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messages have CRC checksums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logs faults to non-volatile memory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Attribute: PERFORMANCE (Timing)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Architectural strategies: — Parallel processing: Distribute load across multiple cores/ECUs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Priority scheduling: Critical tasks run first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Efficient communication: High-bandwidth networks (Ethernet)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processing on dedicated cores (parallel)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loop runs at 20 Hz (highest priority task)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Object list transmitted on CAN FD (faster than CAN 2.0)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Attribute: MAINTAINABILITY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Architectural strategies: — Modularity: Replace modules independently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Standardized interfaces: Common connector types, protocols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Diagnostics: Extensive fault logging, diagnostic protocols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sensor is plug-and-play module (calibrated at factory)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OBD-II/UDS diagnostics expose fault codes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updatable via OTA or service tool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Attribute: TESTABILITY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Architectural strategies: — Test points: Accessible interfaces for measurement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Simulation interfaces: Inject test signals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Observability: Log internal states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bus accessible via OBD port (can monitor all messages)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can be fed simulated targets (test mode)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exposes internal state via diagnostic service ($22)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Attribute: EVOLVABILITY (Future-Proofing)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Architectural strategies: — Abstraction: Define stable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Modularity: Swap components without redesign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Extensibility: Design for future additions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Example: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interface abstracted (can add lidar without changing ACC logic)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Over-the-air (OTA) update capability designed 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Spare CAN bandwidth reserved (30% margin for future features)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insight: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can't add quality attributes AFTER architecture is fixed.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They must be designed in from the start.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Architecture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is about TRADE-OFFS. You can't optimize everything simultaneously.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Trade-offs in Automotive Architecture: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Safety vs Cost — High safety: Dual redundancy, expensive sensors, extra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cost: Minimum redundancy, cheaper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Depends on ASIL level (ISO 26262)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D (highest) → Must have redundancy, cost secondary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A (lowest) → Single sensor acceptable, cost matters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ACC: Typically ASIL B or C → Partial redundancy (radar + camera)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Performance vs Power Consumption — High performance: Powerful processors, fast networks, continuous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power: Lower clock speeds, sleep modes, minimal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Mission profile dependent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ADAS systems: Performance critical (safety), power secondary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Comfort systems: Power savings important (battery drain)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ACC: Performance dominates (can't compromise safety for power savings)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Flexibility vs Complexity — High flexibility: Configurable, many options, extensible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complexity: Fixed design, simple, easy to validate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Product strategy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Platform architecture: High flexibility (reuse across models)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Single-vehicle architecture: Simplicity (faster development)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ACC: Moderate flexibility (configurable time gap, speed limits, but core algorithm fixed)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Centralized vs Distributed — Centralized: Fewer ECUs, easier integration, single point of failure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Distributed: Fault isolation, supplier flexibility, network complexity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Technology maturity and safety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 vehicles: Distributed (proven, fail-safe)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Future vehicles: Centralized domain controllers (cost, performance)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ACC: Distributed (current), moving toward centralized (next generation)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COTS (Commercial Off-The-Shelf) vs Custom — COTS: Faster development, proven components, less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Custom: Optimized for application, higher development cost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Criticality and differentiation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Commodity functions: COTS (cost-effective)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Differentiating features: Custom (competitive advantage)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ACC: Hybrid (COTS radar sensors, custom fusion algorithms)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make trade-off decisions?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Trade Studies (we'll cover in Part 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Document: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Alternatives considered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Evaluation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 for decision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Risks accepted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trade-offs define the system. Choose deliberately.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Architecture Development Process (Slides 19-21, ~10 minutes)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Functional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 we go from requirements to architecture? Step 1: Functional Decomposition.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Functional Decomposition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Identify top-level functions (from requirements and CONOPS)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Top-Level Functions: — Monitor driver inputs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Sense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Detect and track objects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 desired speed and spacing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vehicle longitudinal motion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 driver feedback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 self-diagnostics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Decompose each function into sub-functions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'Sense Environment' decomposes to: — Emit radar signals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Receive radar reflections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radar returns → range, velocity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Capture camera images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images → lane markings, objects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Fuse sensor data → unified world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'Control Vehicle Longitudinal Motion' decomposes to: — Calculate required acceleration/deceleration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 actuator commands (throttle or brake)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Send commands to powertrain/brake ECUs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Monitor command execution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Detect actuator failures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Continue decomposition until functions are implementable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'Calculate Required Acceleration' decomposes to: — Determine speed error (target speed - current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 spacing error (desired gap - actual gap)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Apply speed control algorithm (PID, MPC,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Apply spacing control algorithm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Arbitrate between speed and spacing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Limit acceleration (comfort and safety bounds)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Create Functional Flow Block Diagram (FFBD)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[Visual shows FFBD with functions and logic flow]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Allocate requirements to functions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Allocation: — REQ-ACC-015: 'System shall detect vehicles up to 150m'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Allocated to 'Process Radar Returns' function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REQ-ACC-042: 'System shall respond to driver button within 200ms'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Allocated to 'Monitor Driver Inputs' function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Traceability: — Every requirement allocated to at least one function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Every function traces to at least one requirement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Functional decomposition outcomes: — Clear understanding of system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Basis for architecture (functions → components)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 parallel development (different teams, different functions)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planning (test each function)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7 goes deeper: Operational and Functional Analysis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Requirements Allocation to Subsystems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After functional decomposition, we allocate requirements to architectural elements (subsystems, components).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Allocation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Define architectural elements (physical subsystems)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Architecture Elements: — Radar Sensor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Camera Sensor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Control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HMI Module (part of Instrument Cluster)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Powertrain Interface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Interface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Communication Network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Map functions to architectural elements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 → Element Mapping: — 'Emit/Receive Radar Signals' → Radar Sensor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'Process Radar Returns' → Radar Sensor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'Process Camera Images' → Camera Sensor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'Fuse Sensor Data' → ACC Control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'Calculate Acceleration' → ACC Control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'Send Actuator Commands' → ACC Control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'Display Status' → HMI Module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Allocate requirements to elements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Allocation Matrix - 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Requirement | Allocated To | Derived Requirements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|-------------|--------------|---------------------|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REQ-ACC-010: Detect vehicles at 150m | Radar Sensor ECU | REQ-Radar-001: Range ≥150m&lt;br&gt;REQ-Radar-002: Update rate ≥20 Hz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REQ-ACC-020: Respond within 200ms | ACC Control ECU | REQ-ACC-ECU-015: Processing latency ≤100ms&lt;br&gt;REQ-CAN-005: Message latency ≤50ms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REQ-ACC-035: Maintain speed ±2 km/h | ACC Control ECU | REQ-ACC-ECU-025: Speed control accuracy ±1.5 km/h&lt;br&gt;REQ-Actuator-010: Throttle response ≤0.5 km/h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Derive subsystem requirements from system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Derivation: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Requirement: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REQ-ACC-100: 'System shall operate in -40°C to +85°C'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Derived Subsystem Requirements: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REQ-Radar-ECU-050: 'Radar ECU shall operate in -40°C to +85°C'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REQ-Camera-ECU-050: 'Camera ECU shall operate in -40°C to +85°C'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REQ-ACC-ECU-050: 'ACC ECU shall operate in -40°C to +85°C'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REQ-Radar-Lens-010: 'Radar lens shall include heating element for operation &lt;0°C'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Ensure complete coverage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Verification: — Every system requirement allocated? (100% coverage)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Every allocated requirement verifiable at subsystem level?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Any conflicts between allocations? (requirements pulling in opposite directions)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Allocation challenges: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Shared requirements — REQ-ACC-200: 'Total system cost &lt;$800'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Can't allocate to one subsystem - it's a system-level constraint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Derive cost budgets for each subsystem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ECU: $300, Camera ECU: $200, ACC ECU: $150, Other: $150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Interface requirements — REQ-ACC-250: 'CAN latency &lt;50ms'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Affects multiple elements (sender, network, receiver)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Allocate to interface definition, specify responsibilities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Emergent requirements — Some system behaviors emerge from interactions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'System stability' depends on control algorithm + actuator response + sensor noise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Allocate to integration-level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Outcome: Subsystem Requirements Specifications (SRS) — Each subsystem gets its own requirements document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Traceable to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Basis for subsystem design and verification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Interface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After allocating requirements, we define interfaces between architectural elements.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Interface Definition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Identify all interfaces from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Internal Interfaces: — Radar ECU ↔ ACC Control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Camera ECU ↔ ACC Control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Control ECU ↔ Powertrain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Control ECU ↔ Brake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Control ECU ↔ HMI Module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Control ECU ↔ Diagnostic Module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ECUs ↔ CAN Network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Define interface characteristics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each interface, specify: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A. Physical Interface — Connector type (e.g., HDSCS 16-pin connector)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Pin assignment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Electrical characteristics (voltage levels, current capacity)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Environmental protection (IP6K9K for exterior sensors)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B. Communication Protocol — Network type (CAN 2.0B, CAN FD, Ethernet)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Baud rate (500 kbps, 2 Mbps, 100 Mbps)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Addressing scheme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Error handling (CRC, acknowledgment, retransmission)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C. Data Interface — Message catalog (all CAN messages defined)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structures (byte layouts, scaling, offsets)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Update rates (how often data refreshes)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 constraints (max latency, synchronization)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D. Behavioral Interface — Initialization sequence (power-up, calibration)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Normal operation (steady-state message exchange)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handling (timeouts, error responses)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Shutdown sequence (graceful deactivation)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Interface Definition: ACC ECU → Powertrain ECU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Interface ID: IF-ACC-PWR-001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Physical: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Connection: Via CAN bus, no direct physical connection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transceiver: ISO 11898 compliant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Protocol: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Network: CAN 2.0B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Baud rate: 500 kbps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Bus: Powertrain CAN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Data Messages: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Message 1: ACC_TorqueRequest — CAN ID: 0x245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DLC: 8 bytes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Sender: ACC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Receiver: Powertrain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Rate: 20 ms (50 Hz)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Byte 0-1: Requested torque (Nm, signed, scale 0.1, offset -500, range -500 to 500 Nm)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Byte 2: Torque rate limit (Nm/s, unsigned, scale 1, range 0-255 Nm/s)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Byte 3: Control mode (0=Inactive, 1=Active, 2=Standby)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Byte 4-6: Reserved (0x00)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Byte 7: CRC-8 checksum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Message 2: Powertrain_Status — CAN ID: 0x312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Sender: Powertrain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Receiver: ACC ECU (+ others)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Rate: 10 ms (100 Hz)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torque actual (Nm)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Throttle position (%)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Powertrain ready flag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status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Behavioral: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Normal: ACC sends torque request, Powertrain responds with status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Timeout: If ACC doesn't receive Powertrain_Status for &gt;100ms → Disable ACC, alert driver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Error: If Powertrain_Status shows fault → ACC disengages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Create Interface Control Documents (ICDs)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ICD is a formal specification: — Agreed upon by both sides (ACC team and Powertrain team)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Version controlled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Changes require approval from both parties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Basis for interface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Define interface verification strategy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test interface? — Unit level: Simulate Powertrain ECU, verify ACC ECU sends correct messages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level: Connect actual ECUs, verify end-to-end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injection: Timeout scenarios, corrupted messages, unexpected values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Interface risks: — 80% of integration problems are interface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Misunderstood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 violations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Error handling gaps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Best practice: — Define interfaces EARLY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Review interfaces thoroughly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interfaces separately before system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SysML representation: Internal Block Diagrams (IBD) with ports and connectors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5: Architecture Frameworks and Views (Slides 22-23, ~8 minutes)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Multiple Architecture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Complex systems need multiple views to fully describe architecture. No single diagram captures everything.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Kruchten's 4+1 Architectural View Model (adapted for automotive):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LOGICAL VIEW - Functional Decomposition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Show system functionality and behavior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Diagrams: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block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State machines (system behavior)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flow diagrams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Logical View Example: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┌──────────────┐    ┌──────────────┐    ┌──────────────┐</a:t>
            </a:r>
            <a:br/>
            <a:r>
              <a:t>│ Environment  │───&gt;│  Perception  │───&gt;│   Planning   │</a:t>
            </a:r>
            <a:br/>
            <a:r>
              <a:t>│   Sensing    │    │   &amp; Fusion   │    │  &amp; Control   │</a:t>
            </a:r>
            <a:br/>
            <a:r>
              <a:t>└──────────────┘    └──────────────┘    └──────────────┘</a:t>
            </a:r>
            <a:br/>
            <a:r>
              <a:t>│</a:t>
            </a:r>
            <a:br/>
            <a:r>
              <a:t>V</a:t>
            </a:r>
            <a:br/>
            <a:r>
              <a:t>┌──────────────┐</a:t>
            </a:r>
            <a:br/>
            <a:r>
              <a:t>│  Actuation   │</a:t>
            </a:r>
            <a:br/>
            <a:r>
              <a:t>└──────────────┘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Stakeholders: Systems engineers, software architects, algorithm developers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PHYSICAL VIEW - Hardware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Show physical components and their deployment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Diagrams: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diagrams (ECUs, sensors, actuators)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Deployment diagrams (where software runs)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Network topology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Physical View Example: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[Radar Sensor]───────CAN FD─────┐</a:t>
            </a:r>
            <a:br/>
            <a:r>
              <a:t>│                          │</a:t>
            </a:r>
            <a:br/>
            <a:r>
              <a:t>[Radar ECU]                     │</a:t>
            </a:r>
            <a:br/>
            <a:r>
              <a:t>│                          V</a:t>
            </a:r>
            <a:br/>
            <a:r>
              <a:t>└─────CAN 2.0B────────&gt;[ACC ECU]────CAN──&gt;[Powertrain ECU]</a:t>
            </a:r>
            <a:br/>
            <a:r>
              <a:t>│</a:t>
            </a:r>
            <a:br/>
            <a:r>
              <a:t>[Camera Sensor]──Ethernet───────┤</a:t>
            </a:r>
            <a:br/>
            <a:r>
              <a:t>│                          │</a:t>
            </a:r>
            <a:br/>
            <a:r>
              <a:t>[Camera ECU]────CAN FD──────────┘</a:t>
            </a:r>
            <a:br/>
            <a:r>
              <a:t>│</a:t>
            </a:r>
            <a:br/>
            <a:r>
              <a:t>CAN Bus</a:t>
            </a:r>
            <a:br/>
            <a:r>
              <a:t>│</a:t>
            </a:r>
            <a:br/>
            <a:r>
              <a:t>[Instrument Cluster]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Stakeholders: Hardware engineers, integration team, manufacturing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DEVELOPMENT VIEW - Software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Show software organization, modules, layers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Diagrams: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Package diagrams (software modules)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Layer diagrams (AUTOSAR layers)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diagrams (software components)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Software View (AUTOSAR Layers):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Application Layer                  │  ACC_SpeedControl, ACC_DistanceControl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Runtime Environment (RTE)          │  Inter-component communication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Basic Software (BSW)               │  CAN drivers, diagnostics, OS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Microcontroller Abstraction        │  Hardware drivers</a:t>
            </a:r>
            <a:br/>
            <a:r>
              <a:t>└─────────────────────────────────────┘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Stakeholders: Software developers, software architects, testing team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PROCESS VIEW - Runtime Behavior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Show dynamic behavior, concurrency, timing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Diagrams: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Sequence diagrams (message exchanges)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 diagrams (real-time constraints)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Task/thread diagrams (concurrency)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Process View Example - Message Sequence: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Time</a:t>
            </a:r>
            <a:br/>
            <a:r>
              <a:t>│   Radar ECU          ACC ECU        Powertrain ECU</a:t>
            </a:r>
            <a:br/>
            <a:r>
              <a:t>│       │                 │                  │</a:t>
            </a:r>
            <a:br/>
            <a:r>
              <a:t>├──────&gt;│ Object List     │                  │ (20ms cycle)</a:t>
            </a:r>
            <a:br/>
            <a:r>
              <a:t>│       │────────────────&gt;│                  │</a:t>
            </a:r>
            <a:br/>
            <a:r>
              <a:t>│       │                 │ Compute Control  │</a:t>
            </a:r>
            <a:br/>
            <a:r>
              <a:t>│       │                 │ ─────────────&gt;   │</a:t>
            </a:r>
            <a:br/>
            <a:r>
              <a:t>│       │                 │ Torque Request   │</a:t>
            </a:r>
            <a:br/>
            <a:r>
              <a:t>│       │                 │─────────────────&gt;│</a:t>
            </a:r>
            <a:br/>
            <a:r>
              <a:t>│       │                 │                  │ Actuate</a:t>
            </a:r>
            <a:br/>
            <a:r>
              <a:t>│       │                 │&lt;────Status───────│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Stakeholders: Real-time engineers, integration team, verification team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SCENARIO VIEW (+1) - Use Cases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Tie views together through operational scenarios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Diagrams: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case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CONOPS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sequence diagrams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Scenario Example: Lead vehicle cut-in scenario (from Slide 10)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Stakeholders: All stakeholders (validates architecture meets needs)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multiple views? — Different stakeholders need different perspectives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single view shows everything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Views are CONSISTENT (describe same system from different angles)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tools (SysML, Enterprise Architect) generate multiple views from single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Best practice: Document all views, maintain consistency across views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Automotive Architecture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industry uses standardized architecture frameworks. These provide structure and common language.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Framework 1: AUTOSAR (AUTomotive Open System ARchitecture)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Standardize automotive software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Layered architecture (Application, RTE, Basic Software, Hardware)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Components (SWCs) with defined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Virtual Function Bus (VFB) abstracts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Standardized interfaces for common functions (CAN, diagnostics, OS)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in AUTOSAR: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implemented as Application SWCs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RTE handles communication between SWCs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BSW provides CAN communication, diagnostics, 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Portability (move software between ECUs)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Reusability (use same SWCs in different vehicles)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Supplier interoperability (common interfaces)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Adoption: Industry standard (most OEMs and suppliers use AUTOSAR)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Framework 2: ISO 26262 Safety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Structure architecture for functional safety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decomposition (break down safety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elements (Safety Mechanisms, Safety Monitor)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Freedom from Interference (safety and non-safety isolated)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tolerant architecture patterns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Safety Architecture: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function: ASIL B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monitor: ASIL B (independent check)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redundancy: Radar (ASIL B) + Camera (ASIL B)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Fail-safe: On fault → safe state (disable, alert driver)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Architectural Requirements from ISO 26262: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Hardware-software interface (HSI) clearly defined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partitioning (safety vs non-safety)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 coverage (detect faults)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Framework 3: E/E Architecture Reference Models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Standardize electrical/electronic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Models: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Distributed Architecture (Current vehicles):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Domain-based: Powertrain, Chassis, Body, Infotainment, ADAS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domain has multiple ECUs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Gateway for inter-domain 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Centralized Architecture (Future vehicles):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Zone controllers (front, rear, left, right zones)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Central compute (high-performance ADAS computer)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Simplified wiring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Service-Oriented Architecture (SOA) (Emerging):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services accessible over Ethernet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Dynamic service discovery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Similar to IT architectures (microservices)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Framework 4: DODAF / Zachman (Enterprise Architecture)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Comprehensive enterprise/system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DODAF Views (Department of Defense Architecture Framework):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View (OV): Operational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View (SV): System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View (TV): Standards and protocols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Zachman Framework: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Matrix: Perspectives (Planner, Owner, Designer, Builder, Implementer)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× Questions (What, How, Where, Who, When, Why)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Use: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common for vehicle-level (too heavyweight)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for enterprise architecture (OEM IT systems, manufacturing)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Choosing Framework: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ACC system: — Use AUTOSAR for software architecture (industry standard)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ISO 26262 for safety architecture (regulatory requirement)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multiple views (logical, physical, process, scenario)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 of frameworks: — Common language across teams and suppliers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Proven patterns (don't reinvent)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support (AUTOSAR tools, SysML tools)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Compliance (ISO 26262 requires architectural documentation)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Trade-off: Frameworks add structure but also complexity. Use appropriately.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6: Trade Studies and Configuration Management (Slides 24, ~10 minutes)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Design Freeze and Baseline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evolves during development. We must manage this evolution through baselines and design freeze.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Lifecycle: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1: Concept (Months 0-6) — Explore multiple architectures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 studies (like we just saw)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Preliminary architecture selected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Baseline 1: Concept Architecture (30% confidence)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2: Preliminary Design (Months 6-12) — Refine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definitions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Subsystem allocation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Baseline 2: Preliminary Architecture (70% confidence)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3: Detailed Design (Months 12-18) — Finalize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Detailed interface specs (ICDs)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Baseline 3: Critical Design Review (CDR) - DESIGN FREEZE (95% confidence)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4: Implementation (Months 18-30) — Architecture FROZEN (changes require formal approval)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Components developed to frozen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per frozen interface specs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Baseline 4: As-Built Architecture (100%, production)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is Design Freeze?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Point where architecture is locked; further changes require formal change control process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Design Freeze? — Enables parallel development: Teams develop components knowing interfaces won't change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Prevents chaos: Without freeze, constant changes disrupt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Allows integration: Can't integrate if architecture keeps changing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Supports verification: Tests written against frozen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gets frozen at Design Freeze?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Subsystem architecture (what components exist)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Interface definitions (ICDs locked)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Requirements allocation (which subsystem satisfies which requirement)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Safety architecture (ASIL decomposition, redundancy)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can still change after freeze? — Internal implementation details (algorithms, code structure)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Internal component design (if interfaces maintained)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Non-functional optimizations (performance tuning)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is Configuration Management (CM)?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'Formal process for identifying, controlling, and tracking configuration items (CIs) throughout lifecycle'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 Items for Architecture: — Architecture diagrams (logical, physical views)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Control Documents (ICDs)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Allocation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 study reports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decision logs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CM Activities: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Identification — Each architecture artifact has unique 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Version numbering (v1.0, v1.1, v2.0)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'ICD-ACC-PWR-v2.3' (Interface between ACC and Powertrain, version 2.3)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Change Control — Change Request (CR)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 analysis (what does this change affect?)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 Review Board (CRB) approves/rejects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Only approved changes implemented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Status Accounting — Track status of all CIs (draft, reviewed, approved, released, obsolete)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Know which version is current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Auditing — Physical Configuration Audit (PCA): Does as-built match design?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Configuration Audit (FCA): Does it meet requirements?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Change Control Process (Post-Freeze):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Change Request Submitted — Example: 'Need to increase CAN message frequency from 20ms to 10ms'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Improved control loop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Impact Analysis — Which subsystems affected? (ACC ECU software, CAN bus load)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changes required? (Software timing, CAN bus bandwidth analysis)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the risk? (May exceed CAN bandwidth limit)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impact? (+1 week development, $5k testing)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Review by Change Control Board (CCB) — Members: Chief Engineer, Systems Engineer, Safety Engineer, Project Manager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Evaluate: Is benefit worth cost and risk?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Approve / Reject / Defer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Implementation (if approved) — Update architecture documentation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Update ICDs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Notify affected teams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Re-verify affected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Verification — Test change (regression testing)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Update test cases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New Baseline — Release new version of affected CIs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Update configuration status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Freeze Trade-offs: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Freeze TOO EARLY: — ❌ Architecture not mature (high risk of changes needed)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Expensive late changes (rework)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Freeze TOO LATE: — ❌ Delays implementation start (schedule risk)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Teams waiting (idle resources)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Optimal timing: Freeze when architecture confidence is 90-95%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Some uncertainty remains, but major decisions made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Typical: After Critical Design Review (CDR)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typical timeline: — Concept freeze: Month 6 (explore → commit to direction)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freeze: Month 12 (preliminary → detailed)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freeze (CDR): Month 18 (start production development)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 of Production (SOP): Month 36-48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challenge: Agile vs Design Freeze — Agile: Embrace change, iterate quickly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Automotive: Safety-critical, long validation cycles, need stability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Hybrid approach: Freeze safety-critical interfaces, allow agility in non-critical areas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 is not bureaucracy - it's risk management for complex systems.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ACC Architecture -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synthesize everything we've learned by looking at the complete ACC architecture.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 System Architecture - Integrated Views: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Context View: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Boundaries: ACC system vs external vehicle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External interfaces: 8 major interfaces (driver, sensors, actuators, diagnostics)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Logical View (Functional):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Functions: Sensing → Perception → Planning → Control → Actuation → HMI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flow: Continuous loop (20 Hz control cycle)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Physical View (Hardware):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Components: Radar ECU, Camera ECU, ACC ECU, Instrument Cluster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Network: CAN 2.0B (500 kbps) + CAN FD (2 Mbps for sensors)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Topology: Star (all ECUs connect to CAN backbone)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Process View (Runtime):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Timing: 50 ms end-to-end latency (sensor → decision → actuation)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Tasks: Sensor processing (10 ms), Fusion (20 ms), Control (20 ms), HMI (100 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Priorities: Control (highest), Sensing (high), HMI (medium), Diagnostics (low)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Safety Architecture (ISO 26262):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ASIL: ASIL B (moderate safety-critical)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Redundancy: Radar + Camera (independent sensing)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monitor: Plausibility checks, watchdog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Fail-safe: On fault → disable ACC, alert driver, log fault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Architecture Decisions Recap: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1: Distributed architecture (Radar ECU + Camera ECU + ACC ECU)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Fault isolation, supplier flexibility, proven approach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 rejected: Centralized (single ECU) - less mature, higher risk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2: Radar + Camera sensor fusion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Trade study showed best cost-performance-safety balance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 rejected: Radar-only (insufficient classification), Lidar (too expensive)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3: CAN 2.0B for vehicle network, CAN FD for sensor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CAN 2.0B proven, CAN FD needed for high-bandwidth sensor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 rejected: Full Ethernet (not yet mature in all domains)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4: AUTOSAR software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Industry standard, reusability, portability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 rejected: Custom architecture (reinventing wheel)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5: Design freeze at Month 12 (after preliminary design)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90% architecture confidence, allows 18 months 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locked, internal algorithms can still evolve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Allocation (Sample): — REQ-ACC-010 'Detect vehicles at 150m' → Radar ECU + Fusion Algorithm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REQ-ACC-025 'Maintain ±2 km/h accuracy' → Control Algorithm + Powertrain Interface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REQ-ACC-050 'Respond within 200 ms' → System-level (sensor latency + processing + actuation)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architecture 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Traceable: All requirements allocated, all decisions justified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Verifiable: Clear test strategy for each interface and subsystem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Implementable: Subsystems can be developed in parallel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Safe: Redundancy, fail-safe, ISO 26262 compliant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Maintainable: Modular, documented, standardized (AUTOSAR)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requirements (Session 4) → Architecture (Session 5) → Implementation (design/code)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today's learning: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CONOPS Drives Architecture — Understand HOW the system will be used before designing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scenarios reveal architectural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CONOPS informs trade studies and design decisions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Context and Boundaries Matter — Define what's IN vs OUT explicitly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Catalog all external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are risk - minimize, simplify, document rigorously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Apply Design Principles — Modularity, hierarchy, abstraction, separation of concerns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Redundancy and fail-safe for safety-critical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Principles are timeless - patterns are proven solutions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Architecture Has Multiple Views — Logical (functional), Physical (hardware), Process (runtime), Development (software)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single view captures everything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standard frameworks (AUTOSAR, ISO 26262, SysML)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Systematic Architecture Development — Functional decomposition (requirements → functions)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allocation (functions → subsystems)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definition (subsystems ↔ subsystems)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trade studies to evaluate alternatives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Configuration Management is Essential — Baseline architecture at key milestones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freeze enables parallel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 control process post-freeze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Documentation must stay synchronized with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Trade Studies Justify Decisions — Identify alternatives, define criteria, evaluate systematically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rationale (defensible decisions)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Sensitivity analysis reveals risks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8. Architecture is Where We Make or Break the System — Poor architecture → expensive integration problems, late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 architecture → smooth integration, modular testing, maintainable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decisions have long-lasting consequences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connection: — Session 4: Requirements tell us WHAT to build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 (Today): Architecture tells us HOW to organize the solution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7: Functional analysis tells us HOW to allocate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Integration and verification tell us we built it right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is the bridge from requirements to implementation.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V-Model and Next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place today in the systems engineering journey.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V-Model Left Side (Design):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4 - Requirements Engineering: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needs and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the system must do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Output: Requirements Specification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5 - Architecture (Today):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architecture and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the system is organized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Output: System Architecture Description, ICDs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↓ Next step: Subsystem design (detailed design)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comes next: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7 - Operational and Functional Analysis: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Analyze operational scenarios in depth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flow block diagrams (FFBD)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 requirements to functions systematically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Timeline analysis (sequence of operations)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Connection: Session 5 created architecture; Session 7 allocates behavior to that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8 - Integration, Verification &amp; Validation: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Right side of V-Model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strategy (how to assemble system from subsystems)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(did we build architecture correctly?)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Validation (does architecture meet stakeholder needs?)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Connection: Verify architecture through integration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9 - Risk Management: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architectural risks (single points of failure, interface complexity)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DFMEA (Design Failure Mode and Effects Analysis)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Mitigate risks in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10 - Decision Management: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Advanced trade study techniques (AHP, multi-attribute utility theory)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Dealing with uncertainty in architecture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Connection: Extends trade studies from today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12 - Safety Engineering (ISO 26262):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architecture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decomposition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mechanisms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Connection: Today we mentioned safety architecture; Session 12 goes deep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thread: — Requirements → Architecture → Functional Allocation → Design → Implementation →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session builds on previous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is the pivotal link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 from V-Model: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decisions made on LEFT side determine integration approach on RIGHT side.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Modular architecture → modular integration and testing.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Real Examples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Practical Exercise (Due before Session 6):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are the lead systems architect for a Lane Keeping Assist (LKA) system.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1: CONOPS (20%) — Develop 3 operational scenarios for LKA (normal operation, lane departure, driver override)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scenario includes: context, operational sequence, expected system behavior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2: System Context (20%) — Create system context diagram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all external interfaces (minimum 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system boundary (what's IN vs OUT)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3: Architecture Development (40%) — Develop system architecture with: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decomposition (minimum 6 major functions)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Physical architecture (ECUs, sensors, actuators, network)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 10 system requirements to architectural elements (use requirements from your Session 4 exercise or create new ones)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3 key interfaces (create simplified ICDs with message definitions)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4: Trade Study (20%) — Conduct trade study for ONE architecture decision: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Camera configuration: Monocular vs Stereo vs Fisheye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 Actuation: Steering torque overlay vs Steering angle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 ECU architecture: Integrated (with ACC) vs Dedicated LKA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Include: alternatives, criteria (minimum 5), weighted scoring, recommendation, rationale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Deliverables: — Part 1: CONOPS document (1-2 pages)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2: Context diagram + interface table (1 page)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3: Architecture diagrams (logical, physical views) + allocation matrix (2-3 pages)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4: Trade study report (1-2 pages)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Total: 5-8 pages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Grading Criteria: — CONOPS quality: Operational scenarios realistic and detailed? (20%)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Context completeness: All interfaces identified? Boundary clear? (20%)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soundness: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decomposition logical? (10%)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Physical architecture feasible? (10%)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properly allocated? (10%)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well-defined? (10%)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 study rigor: Criteria justified? Scoring documented? Sensitivity considered? (20%)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Tips: — Research real LKA systems (Euro NCAP, SAE standards)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Think about safety architecture (ISO 26262 ASIL B typical for LKA)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Consider camera placement (windshield vs side mirrors)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Don't over-design (stay at system architecture level, not detailed design)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SysML notation if you know it (not required)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rationale for all major decisions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Bonus (Optional): — Create Process View showing message timing (sequence diagram)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potential failure modes and architectural mitigations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Compare your architecture to Tesla Autopilot LKA (publicly available info)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Questions: — How would LKA architecture differ from ACC architecture? (Similar sensors, different actuation)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if we combine LKA + ACC into single system? (Integration challenges? Benefits?)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camera placement affect architecture? (Windshield vs hood vs mirrors)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objectives: — Practice CONOPS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Practice architecture decomposition and allocation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Conduct systematic trade study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architecture professionally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engineering aesthetic: Clean, technical, systems-oriented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Blue for functional/logical 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physical/hardware 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 for safety/critical elements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Purple for trade-offs/decisions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real automotive examples: ACC system throughout, LKA references, Tesla/ADAS photos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Diagrams: Block diagrams, ICDs, context diagrams, architecture views (SysML/UML style)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 (Requirements Drive Architecture) - Critical connection from Session 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8 (Architecture Decisions) - Real decisions students will face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 (CONOPS Scenarios) - Operational thinking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 (Design Principles) - Timeless guidelines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16 (Architecture Patterns) - Proven solutions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22 (Multiple Views) - Comprehensive perspective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 (Trade Studies) - Systematic evaluation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 (Complete ACC Architecture) - Integration of all concepts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 (Takeaways) - Students will photograph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3: Animate flow from Requirements → Architecture → Design → 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8: Build architecture decision tree progressively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10: Animate CONOPS scenarios as timeline sequences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13: Highlight interfaces appearing one by one on context diagram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Build functional decomposition tree level by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22: Transition between architecture views (logical → physical → process)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Animate trade study scoring calculation step by step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27: Layer complete architecture views (build up final integrated view)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Context diagram with boundary box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13: Interface identification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16: Architecture pattern comparison (4 patterns side-by-side)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Functional hierarchy tree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20: Requirements allocation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22: 4+1 view model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Trade study evaluation matrix with calculations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26: Configuration management process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system (primary example throughout)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 architecture references (publicly available)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AUTOSAR layer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 safety architecture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message definitions (real format)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SysML diagrams (BDD, IBD examples)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Assessment Opportunities: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Concrete → Abstract → Concrete: Start with ACC example, teach principles, return to ACC complete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Multiple perspectives: Show that architecture needs multiple views (not just one diagram)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Decisions over perfection: Emphasize trade-offs and justified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 and standards: Expose students to industry practices (AUTOSAR, ISO 26262, SysML)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"Difference between architecture and design?"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Architecture = high-level structure, interfaces, major components. Design = detailed implementation (algorithms, data structures, code). Use analogy: Architecture = house floor plan; Design = electrical wiring diagram, plumbing details.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"How much detail in architecture?"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Goldilocks principle - enough detail to enable parallel development and integration, not so much that you constrain implementation. Interface definitions must be detailed; internal algorithms can remain abstract.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"Overwhelming number of diagrams/views"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Each view serves specific stakeholders. You don't create all views for every project - select relevant ones. Small project: Maybe 2-3 views. Large vehicle project: All views needed.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"When to freeze architecture?"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Freeze when confidence is 90-95%. Use design reviews as checkpoints. Too early = rework risk. Too late = schedule delays. Show timeline examples from real projects.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5: "Trade studies seem subjective"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They ARE subjective - criteria weights reflect priorities. Key is TRANSPARENCY and DOCUMENTATION. Sensitivity analysis reveals where subjectivity matters most. Even imperfect systematic approach beats gut decisions.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Slide 16 (patterns) - focus on 2-3 patterns most relevant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Slide 22 (views) to 3 views instead of 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Simplify Slide 24 (trade study) - show process, skip detailed calculation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Extend Slide 10 (CONOPS) with additional scenarios and student discussion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 live demo: Create simple SysML diagram using tool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Extend Slide 24 (trade study) with sensitivity analysis discussion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Show real automotive architecture documentation examples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 - non-negotiable): — Slides 9-11 (CONOPS)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12-14 (Context and boundaries)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15-17 (Design principles and patterns)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19-21 (Architecture development process)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 (Trade studies)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 (Design freeze and configuration management)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 (Complete example)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 (Summary)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7: Interactive - Ask students: "What subsystems would YOU include in ACC?" List on board, compare to complete answer.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8: Poll - "Which decision do you think is most critical?" Discuss why.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13: Work through one interface definition together - students suggest what needs to be specified.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16: Ask students to identify pattern in a system they know (smartphone, home automation).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24: Live trade study - pick a simple decision, have class suggest criteria and weights.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Poll (Slide 8): "How many have worked on projects where architecture changed late?" (Show of hands - normalizes the integration pain)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Think-Pair-Share (Slide 15): "Pick one design principle. How would you apply it to ACC?" (2 minutes individual, 2 minutes pairs, 3 minutes share)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Small Group Exercise (Slide 24): Break into groups, each evaluates one alternative for trade study, then combine scores.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class: — [ ] ACC architecture diagrams (all views)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Sample ICD (real or realistic)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Trade study template (spreadsheet)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SysML tool demo (Enterprise Architect, Cameo, or Papyrus)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Real automotive architecture examples (from publicly available sources)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Configuration management process flowchart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Handouts: — [ ] Architecture documentation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Trade study template (Excel with formulas)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Interface Control Document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Design principles checklist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Architecture review checklist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Post-class: — [ ] Share slides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exercise assignment with due date and rubric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architecture templates (SAD template, ICD template, trade study template)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Share links to AUTOSAR standard, ISO 26262 Part 4 (architecture), SysML tutorials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Create discussion forum: "Share an architecture decision from your experience and the trade-offs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During lecture: — Quick quiz (Slide 15): "Name three design principles and how they apply to ACC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quiz (Slide 22): "What's the purpose of Physical View vs Logical View?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Exercise assessment criteria: — CONOPS realism (Are scenarios operationally sound?)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Context completeness (All interfaces identified? Boundary clear?)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feasibility (Could this be built? Does it satisfy requirements?)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 study rigor (Systematic evaluation? Documented rationale?)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presentation (Industry-standard diagrams and formatting?)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student mistakes to watch for: — Confusing architecture with detailed design (too much detail)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Missing interfaces (incomplete context analysis)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Ignoring non-functional requirements in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traceability from requirements to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 studies with unjustified criteria or weights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Vague interface definitions (not specific enough for implementation)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Develop CONOPS for automotive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Define system context and identify all external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Apply design principles (modularity, hierarchy, abstraction, redundancy, fail-safe)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Decompose system functionally and allocate requirements to subsystems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Create multiple architecture views (logical, physical, process)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Conduct systematic trade studies for architecture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Understand design freeze and configuration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Document architecture professionally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outcome: Students understand that architecture is systematic, not ad-hoc, and that architecture decisions have long-term consequences for cost, safety, maintainability, and integration.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Evidence of success: — Student can develop a credible system architecture from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justify architecture decisions through trade studies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understands that multiple architecture views are necessary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trace requirements to architectural elements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define interfaces precisely enough for parallel development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📚 Additional Resources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Standards and Guidelines: — ISO/IEC/IEEE 42010:2011: Systems and Software Architecture Description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 15288:2015: System Architecture Definition Process (Section 6.4.4)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INCOSE Systems Engineering Handbook, Chapter 5: System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IEEE 1471: Architectural Description (predecessor to ISO 42010)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Automotive-Specific: — ISO 26262-4:2018: Road Vehicles - Functional Safety - Part 4: Product Development at System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AUTOSAR Architecture Specifications (www.autosar.org)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J3016: Taxonomy of Automated Driving (architecture implications)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EAST-ADL: Electronics Architecture and Software Technology - Architecture Description Language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Books: — "Software Systems Architecture" by Rozanski &amp; Woods (views and perspectives)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"Documenting Software Architectures" by Clements et al. (SEI)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"Automotive Software Engineering" by Schäuffele &amp; Zurawka (automotive-specific architecture)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"Design Patterns" by Gamma et al. (software patterns applicable to systems)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Online Resources: — AUTOSAR tutorials and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SysML tutorials (OMG SysML website)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 architecture examples (public case studies)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standards for automotive systems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🔗 Connections to Other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Builds on: — Session 1: Architecture failures cause system failures (case studies)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ISO/IEC 15288 Architecture Definition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3: MBSE - SysML diagrams for architecture (BDD, IBD)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drive architecture; architecture satisfies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Leads to: — Session 6: Case study applying requirements +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7: Functional analysis allocates behavior to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Integration strategy flows from architecture; verification tests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Risk management identifies architectural risks; DFMEA on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10: Advanced decision techniques for architecture trade-offs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12: Safety architecture (ISO 26262) - extends today's safety concepts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15: Configuration management and technical planning - extends baseline concepts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 thread: — Session 2: WHAT is the SE process? (ISO/IEC 15288 framework)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3: WHAT are the tools? (MBSE, SysML)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WHAT must the system do? (Requirements)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 (Today): HOW is the system organized? (Architecture)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7: HOW does the system behave? (Functional analysis)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HOW do we verify? (Integration and V&amp;V)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appears in: — Session 7 (functional allocation to architecture)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 (architecture-driven integration)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 (architecture risk analysis)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 (safety architecture)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13 (life cycle cost driven by architecture)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🎬 Opening and Closing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Closing (Last 2 minutes):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Show image of ACC system on screen. Begin: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Look at this image - an Adaptive Cruise Control system. Seems simple, right? Maintain speed, keep distance.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hidden inside this 'simple' system are 10+ subsystems, 20+ interfaces, decisions about sensors, networks, ECUs, safety mechanisms, fault handling...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difference between a $327 million failure and a successful system often comes down to architecture.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we learn how to architect automotive systems systematically. We transform requirements into structure.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5: System Design and Architecture.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Return to ACC image: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started with this seemingly simple ACC system. You now understand what's really inside: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CONOPS that drives design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Context boundaries and 20+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decomposition into 6 major functions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Physical architecture with distributed ECUs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principles: modularity, redundancy, fail-safe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 studies that justified sensor choices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Baselines and design freeze that enable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is where we make the system real. It's the bridge from WHAT (requirements) to HOW (implementation).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Your exercise: Apply these same principles to Lane Keeping Assist. Make deliberate, justified architecture decisions.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Session 7, we'll take this architecture and analyze how it operates. We'll allocate behavior through functional flow diagrams.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See you then!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📈 Learning Objectives Mapping to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Session Objective | Assessment Method | Success Criteria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|-------------------|-------------------|------------------|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Explain CONOPS and its role | Exercise Part 1 | 3 realistic operational scenarios developed with context, sequence, behavior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Define system context and boundaries | Exercise Part 2 | Context diagram with clear boundary, ≥8 interfaces identified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Apply design principles | Exercise Part 3 | Architecture demonstrates modularity, hierarchy, appropriate redundancy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Develop system architecture | Exercise Part 3 | Functional decomposition + physical architecture with traceable allocation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Compare architecture patterns | Discussion/Q&amp;A | Can explain when to use distributed vs centralized, layered vs pipe-filter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Understand design freeze and CM | Knowledge check (Q&amp;A) | Can explain when to freeze, what gets frozen, change control process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Perform trade studies | Exercise Part 4 | Complete trade study with alternatives, criteria, scoring, sensitivity, rationale |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5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Session 6 (Case Study 1) or Session 7 (Operational and Functional Analysis)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