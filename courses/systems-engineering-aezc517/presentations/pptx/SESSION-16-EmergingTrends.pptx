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16: Emerging Trends in Systems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Emerging Trends in Systems Engineering</a:t>
            </a:r>
          </a:p>
        </p:txBody>
      </p:sp>
      <p:sp>
        <p:nvSpPr>
          <p:cNvPr id="3" name="Subtitle 2"/>
          <p:cNvSpPr>
            <a:spLocks noGrp="1"/>
          </p:cNvSpPr>
          <p:nvPr>
            <p:ph type="subTitle" idx="1"/>
          </p:nvPr>
        </p:nvSpPr>
        <p:spPr/>
        <p:txBody>
          <a:bodyPr/>
          <a:lstStyle/>
          <a:p>
            <a:pPr>
              <a:defRPr sz="2000">
                <a:solidFill>
                  <a:srgbClr val="FFFFFF"/>
                </a:solidFill>
              </a:defRPr>
            </a:pPr>
            <a:r>
              <a:t>Session 16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Welcome to Session 16, our final session together. Today we look forward - not back at what systems engineering has been, but what it's BECOMING.</a:t>
            </a:r>
          </a:p>
          <a:p>
            <a:pPr>
              <a:spcAft>
                <a:spcPts val="1000"/>
              </a:spcAft>
              <a:defRPr sz="1800">
                <a:solidFill>
                  <a:srgbClr val="333333"/>
                </a:solidFill>
              </a:defRPr>
            </a:pPr>
            <a:r>
              <a:t>The landscape of systems engineering is transforming faster than at any time in its 60-year history. Digital technologies, artificial intelligence, agile methods, and sustainability imperatives are reshaping how we engineer complex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Connection to Previous Sessions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reflect on our journey through this course:</a:t>
            </a:r>
          </a:p>
          <a:p>
            <a:pPr>
              <a:spcAft>
                <a:spcPts val="1000"/>
              </a:spcAft>
              <a:defRPr sz="1800">
                <a:solidFill>
                  <a:srgbClr val="333333"/>
                </a:solidFill>
              </a:defRPr>
            </a:pPr>
            <a:r>
              <a:t>Module 1 (Sessions 1-4): We learned the FOUNDATIONS - systems thinking, MBSE, requirements engineering.</a:t>
            </a:r>
          </a:p>
          <a:p>
            <a:pPr>
              <a:spcAft>
                <a:spcPts val="1000"/>
              </a:spcAft>
              <a:defRPr sz="1800">
                <a:solidFill>
                  <a:srgbClr val="333333"/>
                </a:solidFill>
              </a:defRPr>
            </a:pPr>
            <a:r>
              <a:t>Module 2 (Sessions 5-8): We mastered DESIGN - architecture, functional analysis, verification and validation.</a:t>
            </a:r>
          </a:p>
          <a:p>
            <a:pPr>
              <a:spcAft>
                <a:spcPts val="1000"/>
              </a:spcAft>
              <a:defRPr sz="1800">
                <a:solidFill>
                  <a:srgbClr val="333333"/>
                </a:solidFill>
              </a:defRPr>
            </a:pPr>
            <a:r>
              <a:t>Module 3 (Sessions 9-12): We explored MANAGEMENT - projects, risk, quality, safety, security.</a:t>
            </a:r>
          </a:p>
          <a:p>
            <a:pPr>
              <a:spcAft>
                <a:spcPts val="1000"/>
              </a:spcAft>
              <a:defRPr sz="1800">
                <a:solidFill>
                  <a:srgbClr val="333333"/>
                </a:solidFill>
              </a:defRPr>
            </a:pPr>
            <a:r>
              <a:t>Module 4 (Sessions 13-15): We studied LIFECYCLE - cost analysis, technical management, enabling processes.</a:t>
            </a:r>
          </a:p>
          <a:p>
            <a:pPr>
              <a:spcAft>
                <a:spcPts val="1000"/>
              </a:spcAft>
              <a:defRPr sz="1800">
                <a:solidFill>
                  <a:srgbClr val="333333"/>
                </a:solidFill>
              </a:defRPr>
            </a:pPr>
            <a:r>
              <a:t>Today: Where is all of this heading?</a:t>
            </a:r>
          </a:p>
          <a:p>
            <a:pPr>
              <a:spcAft>
                <a:spcPts val="1000"/>
              </a:spcAft>
              <a:defRPr sz="1800">
                <a:solidFill>
                  <a:srgbClr val="333333"/>
                </a:solidFill>
              </a:defRPr>
            </a:pPr>
            <a:r>
              <a:t>The principles you've learned remain constant. But the TOOLS, METHODS, and CONTEXTS are evolving rapidly. As future systems engineers, you need to understand these emerging trends to stay relevant and competitive.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Pace of Change in Systems Engineering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Consider the pace of change in systems engineering:</a:t>
            </a:r>
          </a:p>
          <a:p>
            <a:pPr>
              <a:spcAft>
                <a:spcPts val="1000"/>
              </a:spcAft>
              <a:defRPr sz="1800">
                <a:solidFill>
                  <a:srgbClr val="333333"/>
                </a:solidFill>
              </a:defRPr>
            </a:pPr>
            <a:r>
              <a:t>1950s-1980s: Traditional document-based SE established (30 years)</a:t>
            </a:r>
          </a:p>
          <a:p>
            <a:pPr>
              <a:spcAft>
                <a:spcPts val="600"/>
              </a:spcAft>
              <a:defRPr sz="1800">
                <a:solidFill>
                  <a:srgbClr val="333333"/>
                </a:solidFill>
              </a:defRPr>
            </a:pPr>
            <a:r>
              <a:t>Paper specifications, manual calculations, physical prototypes</a:t>
            </a:r>
          </a:p>
          <a:p>
            <a:pPr>
              <a:spcAft>
                <a:spcPts val="1000"/>
              </a:spcAft>
              <a:defRPr sz="1800">
                <a:solidFill>
                  <a:srgbClr val="333333"/>
                </a:solidFill>
              </a:defRPr>
            </a:pPr>
            <a:r>
              <a:t>1990s-2010s: CAD/CAE, early MBSE, ISO 15288 standardization (20 years)</a:t>
            </a:r>
          </a:p>
          <a:p>
            <a:pPr>
              <a:spcAft>
                <a:spcPts val="600"/>
              </a:spcAft>
              <a:defRPr sz="1800">
                <a:solidFill>
                  <a:srgbClr val="333333"/>
                </a:solidFill>
              </a:defRPr>
            </a:pPr>
            <a:r>
              <a:t>Digital tools emerge, but still largely document-centric</a:t>
            </a:r>
          </a:p>
          <a:p>
            <a:pPr>
              <a:spcAft>
                <a:spcPts val="1000"/>
              </a:spcAft>
              <a:defRPr sz="1800">
                <a:solidFill>
                  <a:srgbClr val="333333"/>
                </a:solidFill>
              </a:defRPr>
            </a:pPr>
            <a:r>
              <a:t>2010-2020: MBSE acceleration, Agile SE, digital twins (10 years)</a:t>
            </a:r>
          </a:p>
          <a:p>
            <a:pPr>
              <a:spcAft>
                <a:spcPts val="600"/>
              </a:spcAft>
              <a:defRPr sz="1800">
                <a:solidFill>
                  <a:srgbClr val="333333"/>
                </a:solidFill>
              </a:defRPr>
            </a:pPr>
            <a:r>
              <a:t>Model-based approaches gain traction, agile methods adopted</a:t>
            </a:r>
          </a:p>
          <a:p>
            <a:pPr>
              <a:spcAft>
                <a:spcPts val="1000"/>
              </a:spcAft>
              <a:defRPr sz="1800">
                <a:solidFill>
                  <a:srgbClr val="333333"/>
                </a:solidFill>
              </a:defRPr>
            </a:pPr>
            <a:r>
              <a:t>2020-Present: Digital engineering, AI-augmented SE, autonomous systems (5 years)</a:t>
            </a:r>
          </a:p>
          <a:p>
            <a:pPr>
              <a:spcAft>
                <a:spcPts val="600"/>
              </a:spcAft>
              <a:defRPr sz="1800">
                <a:solidFill>
                  <a:srgbClr val="333333"/>
                </a:solidFill>
              </a:defRPr>
            </a:pPr>
            <a:r>
              <a:t>Transformation accelerating, new capabilities every year</a:t>
            </a:r>
          </a:p>
          <a:p>
            <a:pPr>
              <a:spcAft>
                <a:spcPts val="1000"/>
              </a:spcAft>
              <a:defRPr sz="1800">
                <a:solidFill>
                  <a:srgbClr val="333333"/>
                </a:solidFill>
              </a:defRPr>
            </a:pPr>
            <a:r>
              <a:t>Notice the pattern? Each era is HALF the duration of the previous one.</a:t>
            </a:r>
          </a:p>
          <a:p>
            <a:pPr>
              <a:spcAft>
                <a:spcPts val="1000"/>
              </a:spcAft>
              <a:defRPr sz="1800">
                <a:solidFill>
                  <a:srgbClr val="333333"/>
                </a:solidFill>
              </a:defRPr>
            </a:pPr>
            <a:r>
              <a:t>What we learned in Session 3 (MBSE) was cutting-edge 5 years ago. Today it's becoming standard practice. What's cutting-edge TODAY?</a:t>
            </a:r>
          </a:p>
          <a:p>
            <a:pPr>
              <a:spcAft>
                <a:spcPts val="1000"/>
              </a:spcAft>
              <a:defRPr sz="1800">
                <a:solidFill>
                  <a:srgbClr val="333333"/>
                </a:solidFill>
              </a:defRPr>
            </a:pPr>
            <a:r>
              <a:t>That's what we'll explore in this session.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Why Emerging Trends Matter to You</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Why should you care about emerging trends as students?</a:t>
            </a:r>
          </a:p>
          <a:p>
            <a:pPr>
              <a:spcAft>
                <a:spcPts val="1000"/>
              </a:spcAft>
              <a:defRPr sz="1800">
                <a:solidFill>
                  <a:srgbClr val="333333"/>
                </a:solidFill>
              </a:defRPr>
            </a:pPr>
            <a:r>
              <a:t>Career Readiness: — The systems engineering job you apply for in 2-3 years will require skills that didn't exist when you started this course</a:t>
            </a:r>
          </a:p>
          <a:p>
            <a:pPr>
              <a:spcAft>
                <a:spcPts val="600"/>
              </a:spcAft>
              <a:defRPr sz="1800">
                <a:solidFill>
                  <a:srgbClr val="333333"/>
                </a:solidFill>
              </a:defRPr>
            </a:pPr>
            <a:r>
              <a:t>Example: Today's automotive SE job postings increasingly require MBSE tools, DevOps knowledge, AI/ML familiarity</a:t>
            </a:r>
          </a:p>
          <a:p>
            <a:pPr>
              <a:spcAft>
                <a:spcPts val="1000"/>
              </a:spcAft>
              <a:defRPr sz="1800">
                <a:solidFill>
                  <a:srgbClr val="333333"/>
                </a:solidFill>
              </a:defRPr>
            </a:pPr>
            <a:r>
              <a:t>Competitive Advantage: — Engineers who understand emerging trends advance faster</a:t>
            </a:r>
          </a:p>
          <a:p>
            <a:pPr>
              <a:spcAft>
                <a:spcPts val="600"/>
              </a:spcAft>
              <a:defRPr sz="1800">
                <a:solidFill>
                  <a:srgbClr val="333333"/>
                </a:solidFill>
              </a:defRPr>
            </a:pPr>
            <a:r>
              <a:t>You can be ahead of the curve, not catching up</a:t>
            </a:r>
          </a:p>
          <a:p>
            <a:pPr>
              <a:spcAft>
                <a:spcPts val="1000"/>
              </a:spcAft>
              <a:defRPr sz="1800">
                <a:solidFill>
                  <a:srgbClr val="333333"/>
                </a:solidFill>
              </a:defRPr>
            </a:pPr>
            <a:r>
              <a:t>Problem-Solving Capability: — New tools enable solving previously impossible problems</a:t>
            </a:r>
          </a:p>
          <a:p>
            <a:pPr>
              <a:spcAft>
                <a:spcPts val="600"/>
              </a:spcAft>
              <a:defRPr sz="1800">
                <a:solidFill>
                  <a:srgbClr val="333333"/>
                </a:solidFill>
              </a:defRPr>
            </a:pPr>
            <a:r>
              <a:t>Example: Digital twins allow testing millions of scenarios virtually - impossible with physical prototypes</a:t>
            </a:r>
          </a:p>
          <a:p>
            <a:pPr>
              <a:spcAft>
                <a:spcPts val="1000"/>
              </a:spcAft>
              <a:defRPr sz="1800">
                <a:solidFill>
                  <a:srgbClr val="333333"/>
                </a:solidFill>
              </a:defRPr>
            </a:pPr>
            <a:r>
              <a:t>Industry Transformation: — Automotive industry is in midst of greatest transformation in 100 years</a:t>
            </a:r>
          </a:p>
          <a:p>
            <a:pPr>
              <a:spcAft>
                <a:spcPts val="600"/>
              </a:spcAft>
              <a:defRPr sz="1800">
                <a:solidFill>
                  <a:srgbClr val="333333"/>
                </a:solidFill>
              </a:defRPr>
            </a:pPr>
            <a:r>
              <a:t>Electric vehicles, autonomous driving, software-defined vehicles</a:t>
            </a:r>
          </a:p>
          <a:p>
            <a:pPr>
              <a:spcAft>
                <a:spcPts val="600"/>
              </a:spcAft>
              <a:defRPr sz="1800">
                <a:solidFill>
                  <a:srgbClr val="333333"/>
                </a:solidFill>
              </a:defRPr>
            </a:pPr>
            <a:r>
              <a:t>Traditional SE methods alone are insufficient</a:t>
            </a:r>
          </a:p>
          <a:p>
            <a:pPr>
              <a:spcAft>
                <a:spcPts val="1000"/>
              </a:spcAft>
              <a:defRPr sz="1800">
                <a:solidFill>
                  <a:srgbClr val="333333"/>
                </a:solidFill>
              </a:defRPr>
            </a:pPr>
            <a:r>
              <a:t>Sustainability Imperative: — Climate change requires rethinking how we engineer systems</a:t>
            </a:r>
          </a:p>
          <a:p>
            <a:pPr>
              <a:spcAft>
                <a:spcPts val="600"/>
              </a:spcAft>
              <a:defRPr sz="1800">
                <a:solidFill>
                  <a:srgbClr val="333333"/>
                </a:solidFill>
              </a:defRPr>
            </a:pPr>
            <a:r>
              <a:t>Life cycle sustainability is becoming mandatory, not optional</a:t>
            </a:r>
          </a:p>
          <a:p>
            <a:pPr>
              <a:spcAft>
                <a:spcPts val="1000"/>
              </a:spcAft>
              <a:defRPr sz="1800">
                <a:solidFill>
                  <a:srgbClr val="333333"/>
                </a:solidFill>
              </a:defRPr>
            </a:pPr>
            <a:r>
              <a:t>Today's session prepares you for the systems engineering of tomorrow.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Complexity Crisis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 me show you the challenge driving these emerging trends.</a:t>
            </a:r>
          </a:p>
          <a:p>
            <a:pPr>
              <a:spcAft>
                <a:spcPts val="1000"/>
              </a:spcAft>
              <a:defRPr sz="1800">
                <a:solidFill>
                  <a:srgbClr val="333333"/>
                </a:solidFill>
              </a:defRPr>
            </a:pPr>
            <a:r>
              <a:t>Automotive System Complexity Growth:</a:t>
            </a:r>
          </a:p>
          <a:p>
            <a:pPr>
              <a:spcAft>
                <a:spcPts val="1000"/>
              </a:spcAft>
              <a:defRPr sz="1800">
                <a:solidFill>
                  <a:srgbClr val="333333"/>
                </a:solidFill>
              </a:defRPr>
            </a:pPr>
            <a:r>
              <a:t>1990s Vehicle: — ~10 ECUs (Electronic Control Units)</a:t>
            </a:r>
          </a:p>
          <a:p>
            <a:pPr>
              <a:spcAft>
                <a:spcPts val="600"/>
              </a:spcAft>
              <a:defRPr sz="1800">
                <a:solidFill>
                  <a:srgbClr val="333333"/>
                </a:solidFill>
              </a:defRPr>
            </a:pPr>
            <a:r>
              <a:t>~1 million lines of code</a:t>
            </a:r>
          </a:p>
          <a:p>
            <a:pPr>
              <a:spcAft>
                <a:spcPts val="600"/>
              </a:spcAft>
              <a:defRPr sz="1800">
                <a:solidFill>
                  <a:srgbClr val="333333"/>
                </a:solidFill>
              </a:defRPr>
            </a:pPr>
            <a:r>
              <a:t>Mostly mechanical systems with some electronic controls</a:t>
            </a:r>
          </a:p>
          <a:p>
            <a:pPr>
              <a:spcAft>
                <a:spcPts val="600"/>
              </a:spcAft>
              <a:defRPr sz="1800">
                <a:solidFill>
                  <a:srgbClr val="333333"/>
                </a:solidFill>
              </a:defRPr>
            </a:pPr>
            <a:r>
              <a:t>Development cycle: 4-5 years</a:t>
            </a:r>
          </a:p>
          <a:p>
            <a:pPr>
              <a:spcAft>
                <a:spcPts val="1000"/>
              </a:spcAft>
              <a:defRPr sz="1800">
                <a:solidFill>
                  <a:srgbClr val="333333"/>
                </a:solidFill>
              </a:defRPr>
            </a:pPr>
            <a:r>
              <a:t>2010s Vehicle: — ~70-100 ECUs</a:t>
            </a:r>
          </a:p>
          <a:p>
            <a:pPr>
              <a:spcAft>
                <a:spcPts val="600"/>
              </a:spcAft>
              <a:defRPr sz="1800">
                <a:solidFill>
                  <a:srgbClr val="333333"/>
                </a:solidFill>
              </a:defRPr>
            </a:pPr>
            <a:r>
              <a:t>~100 million lines of code</a:t>
            </a:r>
          </a:p>
          <a:p>
            <a:pPr>
              <a:spcAft>
                <a:spcPts val="600"/>
              </a:spcAft>
              <a:defRPr sz="1800">
                <a:solidFill>
                  <a:srgbClr val="333333"/>
                </a:solidFill>
              </a:defRPr>
            </a:pPr>
            <a:r>
              <a:t>Complex electrical/electronic architecture</a:t>
            </a:r>
          </a:p>
          <a:p>
            <a:pPr>
              <a:spcAft>
                <a:spcPts val="600"/>
              </a:spcAft>
              <a:defRPr sz="1800">
                <a:solidFill>
                  <a:srgbClr val="333333"/>
                </a:solidFill>
              </a:defRPr>
            </a:pPr>
            <a:r>
              <a:t>Development cycle: 3-4 years (despite increased complexity!)</a:t>
            </a:r>
          </a:p>
          <a:p>
            <a:pPr>
              <a:spcAft>
                <a:spcPts val="1000"/>
              </a:spcAft>
              <a:defRPr sz="1800">
                <a:solidFill>
                  <a:srgbClr val="333333"/>
                </a:solidFill>
              </a:defRPr>
            </a:pPr>
            <a:r>
              <a:t>2025+ Software-Defined Vehicle: — Centralized computing platforms (zone controllers)</a:t>
            </a:r>
          </a:p>
          <a:p>
            <a:pPr>
              <a:spcAft>
                <a:spcPts val="600"/>
              </a:spcAft>
              <a:defRPr sz="1800">
                <a:solidFill>
                  <a:srgbClr val="333333"/>
                </a:solidFill>
              </a:defRPr>
            </a:pPr>
            <a:r>
              <a:t>~300-500 million lines of code</a:t>
            </a:r>
          </a:p>
          <a:p>
            <a:pPr>
              <a:spcAft>
                <a:spcPts val="600"/>
              </a:spcAft>
              <a:defRPr sz="1800">
                <a:solidFill>
                  <a:srgbClr val="333333"/>
                </a:solidFill>
              </a:defRPr>
            </a:pPr>
            <a:r>
              <a:t>Continuous OTA (over-the-air) updates</a:t>
            </a:r>
          </a:p>
          <a:p>
            <a:pPr>
              <a:spcAft>
                <a:spcPts val="600"/>
              </a:spcAft>
              <a:defRPr sz="1800">
                <a:solidFill>
                  <a:srgbClr val="333333"/>
                </a:solidFill>
              </a:defRPr>
            </a:pPr>
            <a:r>
              <a:t>AI/ML for perception, decision-making</a:t>
            </a:r>
          </a:p>
          <a:p>
            <a:pPr>
              <a:spcAft>
                <a:spcPts val="600"/>
              </a:spcAft>
              <a:defRPr sz="1800">
                <a:solidFill>
                  <a:srgbClr val="333333"/>
                </a:solidFill>
              </a:defRPr>
            </a:pPr>
            <a:r>
              <a:t>Expected development cycle: 2-3 years</a:t>
            </a:r>
          </a:p>
          <a:p>
            <a:pPr>
              <a:spcAft>
                <a:spcPts val="1000"/>
              </a:spcAft>
              <a:defRPr sz="1800">
                <a:solidFill>
                  <a:srgbClr val="333333"/>
                </a:solidFill>
              </a:defRPr>
            </a:pPr>
            <a:r>
              <a:t>The paradox: Complexity is INCREASING exponentially, but time-to-market must DECREASE.</a:t>
            </a:r>
          </a:p>
          <a:p>
            <a:pPr>
              <a:spcAft>
                <a:spcPts val="1000"/>
              </a:spcAft>
              <a:defRPr sz="1800">
                <a:solidFill>
                  <a:srgbClr val="333333"/>
                </a:solidFill>
              </a:defRPr>
            </a:pPr>
            <a:r>
              <a:t>Traditional systems engineering alone cannot handle this. We need new approaches, new tools, new methods.</a:t>
            </a:r>
          </a:p>
          <a:p>
            <a:pPr>
              <a:spcAft>
                <a:spcPts val="1000"/>
              </a:spcAft>
              <a:defRPr sz="1800">
                <a:solidFill>
                  <a:srgbClr val="333333"/>
                </a:solidFill>
              </a:defRPr>
            </a:pPr>
            <a:r>
              <a:t>This is why emerging trends matter.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What is Digital Engineering?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First major trend: Digital Engineering (DE).</a:t>
            </a:r>
          </a:p>
          <a:p>
            <a:pPr>
              <a:spcAft>
                <a:spcPts val="1000"/>
              </a:spcAft>
              <a:defRPr sz="1800">
                <a:solidFill>
                  <a:srgbClr val="333333"/>
                </a:solidFill>
              </a:defRPr>
            </a:pPr>
            <a:r>
              <a:t>Traditional Systems Engineering: — Information scattered across multiple tools and documents</a:t>
            </a:r>
          </a:p>
          <a:p>
            <a:pPr>
              <a:spcAft>
                <a:spcPts val="600"/>
              </a:spcAft>
              <a:defRPr sz="1800">
                <a:solidFill>
                  <a:srgbClr val="333333"/>
                </a:solidFill>
              </a:defRPr>
            </a:pPr>
            <a:r>
              <a:t>Word specifications, Excel spreadsheets, PowerPoint presentations</a:t>
            </a:r>
          </a:p>
          <a:p>
            <a:pPr>
              <a:spcAft>
                <a:spcPts val="600"/>
              </a:spcAft>
              <a:defRPr sz="1800">
                <a:solidFill>
                  <a:srgbClr val="333333"/>
                </a:solidFill>
              </a:defRPr>
            </a:pPr>
            <a:r>
              <a:t>Manual synchronization between disciplines</a:t>
            </a:r>
          </a:p>
          <a:p>
            <a:pPr>
              <a:spcAft>
                <a:spcPts val="600"/>
              </a:spcAft>
              <a:defRPr sz="1800">
                <a:solidFill>
                  <a:srgbClr val="333333"/>
                </a:solidFill>
              </a:defRPr>
            </a:pPr>
            <a:r>
              <a:t>Data silos between teams</a:t>
            </a:r>
          </a:p>
          <a:p>
            <a:pPr>
              <a:spcAft>
                <a:spcPts val="600"/>
              </a:spcAft>
              <a:defRPr sz="1800">
                <a:solidFill>
                  <a:srgbClr val="333333"/>
                </a:solidFill>
              </a:defRPr>
            </a:pPr>
            <a:r>
              <a:t>Static snapshots, not continuous updates</a:t>
            </a:r>
          </a:p>
          <a:p>
            <a:pPr>
              <a:spcAft>
                <a:spcPts val="1000"/>
              </a:spcAft>
              <a:defRPr sz="1800">
                <a:solidFill>
                  <a:srgbClr val="333333"/>
                </a:solidFill>
              </a:defRPr>
            </a:pPr>
            <a:r>
              <a:t>Digital Engineering: — Definition (per DoD): 'An integrated digital approach that uses authoritative sources of system data and models as a continuum across disciplines to support lifecycle activities from concept through disposal.'</a:t>
            </a:r>
          </a:p>
          <a:p>
            <a:pPr>
              <a:spcAft>
                <a:spcPts val="1000"/>
              </a:spcAft>
              <a:defRPr sz="1800">
                <a:solidFill>
                  <a:srgbClr val="333333"/>
                </a:solidFill>
              </a:defRPr>
            </a:pPr>
            <a:r>
              <a:t>Key concept: AUTHORITATIVE SOURCE OF TRUTH — Single, integrated digital model of the system</a:t>
            </a:r>
          </a:p>
          <a:p>
            <a:pPr>
              <a:spcAft>
                <a:spcPts val="600"/>
              </a:spcAft>
              <a:defRPr sz="1800">
                <a:solidFill>
                  <a:srgbClr val="333333"/>
                </a:solidFill>
              </a:defRPr>
            </a:pPr>
            <a:r>
              <a:t>All stakeholders access the same data</a:t>
            </a:r>
          </a:p>
          <a:p>
            <a:pPr>
              <a:spcAft>
                <a:spcPts val="600"/>
              </a:spcAft>
              <a:defRPr sz="1800">
                <a:solidFill>
                  <a:srgbClr val="333333"/>
                </a:solidFill>
              </a:defRPr>
            </a:pPr>
            <a:r>
              <a:t>Changes propagate automatically</a:t>
            </a:r>
          </a:p>
          <a:p>
            <a:pPr>
              <a:spcAft>
                <a:spcPts val="600"/>
              </a:spcAft>
              <a:defRPr sz="1800">
                <a:solidFill>
                  <a:srgbClr val="333333"/>
                </a:solidFill>
              </a:defRPr>
            </a:pPr>
            <a:r>
              <a:t>Real-time consistency across all views</a:t>
            </a:r>
          </a:p>
          <a:p>
            <a:pPr>
              <a:spcAft>
                <a:spcPts val="1000"/>
              </a:spcAft>
              <a:defRPr sz="1800">
                <a:solidFill>
                  <a:srgbClr val="333333"/>
                </a:solidFill>
              </a:defRPr>
            </a:pPr>
            <a:r>
              <a:t>Think of it as: — From document-based to data-based</a:t>
            </a:r>
          </a:p>
          <a:p>
            <a:pPr>
              <a:spcAft>
                <a:spcPts val="600"/>
              </a:spcAft>
              <a:defRPr sz="1800">
                <a:solidFill>
                  <a:srgbClr val="333333"/>
                </a:solidFill>
              </a:defRPr>
            </a:pPr>
            <a:r>
              <a:t>From static to dynamic</a:t>
            </a:r>
          </a:p>
          <a:p>
            <a:pPr>
              <a:spcAft>
                <a:spcPts val="600"/>
              </a:spcAft>
              <a:defRPr sz="1800">
                <a:solidFill>
                  <a:srgbClr val="333333"/>
                </a:solidFill>
              </a:defRPr>
            </a:pPr>
            <a:r>
              <a:t>From siloed to integrated</a:t>
            </a:r>
          </a:p>
          <a:p>
            <a:pPr>
              <a:spcAft>
                <a:spcPts val="600"/>
              </a:spcAft>
              <a:defRPr sz="1800">
                <a:solidFill>
                  <a:srgbClr val="333333"/>
                </a:solidFill>
              </a:defRPr>
            </a:pPr>
            <a:r>
              <a:t>From manual to automated synchronization</a:t>
            </a:r>
          </a:p>
          <a:p>
            <a:pPr>
              <a:spcAft>
                <a:spcPts val="1000"/>
              </a:spcAft>
              <a:defRPr sz="1800">
                <a:solidFill>
                  <a:srgbClr val="333333"/>
                </a:solidFill>
              </a:defRPr>
            </a:pPr>
            <a:r>
              <a:t>This is the infrastructure enabling all other trends we'll discuss.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Digital Thread</a:t>
            </a:r>
          </a:p>
        </p:txBody>
      </p:sp>
      <p:sp>
        <p:nvSpPr>
          <p:cNvPr id="3" name="Content Placeholder 2"/>
          <p:cNvSpPr>
            <a:spLocks noGrp="1"/>
          </p:cNvSpPr>
          <p:nvPr>
            <p:ph idx="1"/>
          </p:nvPr>
        </p:nvSpPr>
        <p:spPr/>
        <p:txBody>
          <a:bodyPr/>
          <a:lstStyle/>
          <a:p>
            <a:pPr>
              <a:spcAft>
                <a:spcPts val="1000"/>
              </a:spcAft>
              <a:defRPr sz="1800">
                <a:solidFill>
                  <a:srgbClr val="333333"/>
                </a:solidFill>
              </a:defRPr>
            </a:pPr>
            <a:r>
              <a:t>At the heart of digital engineering is the Digital Thread.</a:t>
            </a:r>
          </a:p>
          <a:p>
            <a:pPr>
              <a:spcAft>
                <a:spcPts val="1000"/>
              </a:spcAft>
              <a:defRPr sz="1800">
                <a:solidFill>
                  <a:srgbClr val="333333"/>
                </a:solidFill>
              </a:defRPr>
            </a:pPr>
            <a:r>
              <a:t>Definition: A digital thread is the communication framework that connects data flows and integrates information throughout a system's lifecycle across traditionally siloed functional perspectives.</a:t>
            </a:r>
          </a:p>
          <a:p>
            <a:pPr>
              <a:spcAft>
                <a:spcPts val="1000"/>
              </a:spcAft>
              <a:defRPr sz="1800">
                <a:solidFill>
                  <a:srgbClr val="333333"/>
                </a:solidFill>
              </a:defRPr>
            </a:pPr>
            <a:r>
              <a:t>Automotive Example - Brake System Digital Thread:</a:t>
            </a:r>
          </a:p>
          <a:p>
            <a:pPr>
              <a:spcAft>
                <a:spcPts val="1000"/>
              </a:spcAft>
              <a:defRPr sz="1800">
                <a:solidFill>
                  <a:srgbClr val="333333"/>
                </a:solidFill>
              </a:defRPr>
            </a:pPr>
            <a:r>
              <a:t>Requirements Phase: — Stakeholder need: 'Vehicle must stop safely in all conditions'</a:t>
            </a:r>
          </a:p>
          <a:p>
            <a:pPr>
              <a:spcAft>
                <a:spcPts val="600"/>
              </a:spcAft>
              <a:defRPr sz="1800">
                <a:solidFill>
                  <a:srgbClr val="333333"/>
                </a:solidFill>
              </a:defRPr>
            </a:pPr>
            <a:r>
              <a:t>Requirement: 'Braking distance from 100 km/h shall be ≤40m on dry asphalt'</a:t>
            </a:r>
          </a:p>
          <a:p>
            <a:pPr>
              <a:spcAft>
                <a:spcPts val="600"/>
              </a:spcAft>
              <a:defRPr sz="1800">
                <a:solidFill>
                  <a:srgbClr val="333333"/>
                </a:solidFill>
              </a:defRPr>
            </a:pPr>
            <a:r>
              <a:t>Stored in requirements management tool</a:t>
            </a:r>
          </a:p>
          <a:p>
            <a:pPr>
              <a:spcAft>
                <a:spcPts val="1000"/>
              </a:spcAft>
              <a:defRPr sz="1800">
                <a:solidFill>
                  <a:srgbClr val="333333"/>
                </a:solidFill>
              </a:defRPr>
            </a:pPr>
            <a:r>
              <a:t>Design Phase: — Brake system architecture (hydraulic + electronic)</a:t>
            </a:r>
          </a:p>
          <a:p>
            <a:pPr>
              <a:spcAft>
                <a:spcPts val="600"/>
              </a:spcAft>
              <a:defRPr sz="1800">
                <a:solidFill>
                  <a:srgbClr val="333333"/>
                </a:solidFill>
              </a:defRPr>
            </a:pPr>
            <a:r>
              <a:t>CAD models of brake components</a:t>
            </a:r>
          </a:p>
          <a:p>
            <a:pPr>
              <a:spcAft>
                <a:spcPts val="600"/>
              </a:spcAft>
              <a:defRPr sz="1800">
                <a:solidFill>
                  <a:srgbClr val="333333"/>
                </a:solidFill>
              </a:defRPr>
            </a:pPr>
            <a:r>
              <a:t>Control algorithm models</a:t>
            </a:r>
          </a:p>
          <a:p>
            <a:pPr>
              <a:spcAft>
                <a:spcPts val="600"/>
              </a:spcAft>
              <a:defRPr sz="1800">
                <a:solidFill>
                  <a:srgbClr val="333333"/>
                </a:solidFill>
              </a:defRPr>
            </a:pPr>
            <a:r>
              <a:t>Stored in PLM system, linked to requirements</a:t>
            </a:r>
          </a:p>
          <a:p>
            <a:pPr>
              <a:spcAft>
                <a:spcPts val="1000"/>
              </a:spcAft>
              <a:defRPr sz="1800">
                <a:solidFill>
                  <a:srgbClr val="333333"/>
                </a:solidFill>
              </a:defRPr>
            </a:pPr>
            <a:r>
              <a:t>Simulation Phase: — Virtual testing of braking performance</a:t>
            </a:r>
          </a:p>
          <a:p>
            <a:pPr>
              <a:spcAft>
                <a:spcPts val="600"/>
              </a:spcAft>
              <a:defRPr sz="1800">
                <a:solidFill>
                  <a:srgbClr val="333333"/>
                </a:solidFill>
              </a:defRPr>
            </a:pPr>
            <a:r>
              <a:t>Results automatically traced to requirements</a:t>
            </a:r>
          </a:p>
          <a:p>
            <a:pPr>
              <a:spcAft>
                <a:spcPts val="600"/>
              </a:spcAft>
              <a:defRPr sz="1800">
                <a:solidFill>
                  <a:srgbClr val="333333"/>
                </a:solidFill>
              </a:defRPr>
            </a:pPr>
            <a:r>
              <a:t>Stored in simulation database</a:t>
            </a:r>
          </a:p>
          <a:p>
            <a:pPr>
              <a:spcAft>
                <a:spcPts val="1000"/>
              </a:spcAft>
              <a:defRPr sz="1800">
                <a:solidFill>
                  <a:srgbClr val="333333"/>
                </a:solidFill>
              </a:defRPr>
            </a:pPr>
            <a:r>
              <a:t>Manufacturing Phase: — Production specifications derived from design models</a:t>
            </a:r>
          </a:p>
          <a:p>
            <a:pPr>
              <a:spcAft>
                <a:spcPts val="600"/>
              </a:spcAft>
              <a:defRPr sz="1800">
                <a:solidFill>
                  <a:srgbClr val="333333"/>
                </a:solidFill>
              </a:defRPr>
            </a:pPr>
            <a:r>
              <a:t>Quality control parameters</a:t>
            </a:r>
          </a:p>
          <a:p>
            <a:pPr>
              <a:spcAft>
                <a:spcPts val="600"/>
              </a:spcAft>
              <a:defRPr sz="1800">
                <a:solidFill>
                  <a:srgbClr val="333333"/>
                </a:solidFill>
              </a:defRPr>
            </a:pPr>
            <a:r>
              <a:t>MES system accesses design data</a:t>
            </a:r>
          </a:p>
          <a:p>
            <a:pPr>
              <a:spcAft>
                <a:spcPts val="1000"/>
              </a:spcAft>
              <a:defRPr sz="1800">
                <a:solidFill>
                  <a:srgbClr val="333333"/>
                </a:solidFill>
              </a:defRPr>
            </a:pPr>
            <a:r>
              <a:t>Operations Phase: — Brake wear sensors feed data back to digital twin</a:t>
            </a:r>
          </a:p>
          <a:p>
            <a:pPr>
              <a:spcAft>
                <a:spcPts val="600"/>
              </a:spcAft>
              <a:defRPr sz="1800">
                <a:solidFill>
                  <a:srgbClr val="333333"/>
                </a:solidFill>
              </a:defRPr>
            </a:pPr>
            <a:r>
              <a:t>Predictive maintenance algorithms</a:t>
            </a:r>
          </a:p>
          <a:p>
            <a:pPr>
              <a:spcAft>
                <a:spcPts val="600"/>
              </a:spcAft>
              <a:defRPr sz="1800">
                <a:solidFill>
                  <a:srgbClr val="333333"/>
                </a:solidFill>
              </a:defRPr>
            </a:pPr>
            <a:r>
              <a:t>Fleet data informs future designs</a:t>
            </a:r>
          </a:p>
          <a:p>
            <a:pPr>
              <a:spcAft>
                <a:spcPts val="1000"/>
              </a:spcAft>
              <a:defRPr sz="1800">
                <a:solidFill>
                  <a:srgbClr val="333333"/>
                </a:solidFill>
              </a:defRPr>
            </a:pPr>
            <a:r>
              <a:t>THE THREAD: All of this data is CONNECTED. A change in requirements automatically flags impacted designs, tests, and production specs.</a:t>
            </a:r>
          </a:p>
          <a:p>
            <a:pPr>
              <a:spcAft>
                <a:spcPts val="1000"/>
              </a:spcAft>
              <a:defRPr sz="1800">
                <a:solidFill>
                  <a:srgbClr val="333333"/>
                </a:solidFill>
              </a:defRPr>
            </a:pPr>
            <a:r>
              <a:t>Benefit: What took weeks of manual tracking now happens instantly.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Digital Twin Technology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Digital twins are a key enabler of digital engineering.</a:t>
            </a:r>
          </a:p>
          <a:p>
            <a:pPr>
              <a:spcAft>
                <a:spcPts val="1000"/>
              </a:spcAft>
              <a:defRPr sz="1800">
                <a:solidFill>
                  <a:srgbClr val="333333"/>
                </a:solidFill>
              </a:defRPr>
            </a:pPr>
            <a:r>
              <a:t>Definition: A digital twin is a virtual representation of a physical system that is updated with data from the physical system throughout its lifecycle.</a:t>
            </a:r>
          </a:p>
          <a:p>
            <a:pPr>
              <a:spcAft>
                <a:spcPts val="1000"/>
              </a:spcAft>
              <a:defRPr sz="1800">
                <a:solidFill>
                  <a:srgbClr val="333333"/>
                </a:solidFill>
              </a:defRPr>
            </a:pPr>
            <a:r>
              <a:t>Types of Digital Twins in Automotive:</a:t>
            </a:r>
          </a:p>
          <a:p>
            <a:pPr>
              <a:spcAft>
                <a:spcPts val="1000"/>
              </a:spcAft>
              <a:defRPr sz="1800">
                <a:solidFill>
                  <a:srgbClr val="333333"/>
                </a:solidFill>
              </a:defRPr>
            </a:pPr>
            <a:r>
              <a:t>1. Component Digital Twin — Example: Battery pack digital twin</a:t>
            </a:r>
          </a:p>
          <a:p>
            <a:pPr>
              <a:spcAft>
                <a:spcPts val="600"/>
              </a:spcAft>
              <a:defRPr sz="1800">
                <a:solidFill>
                  <a:srgbClr val="333333"/>
                </a:solidFill>
              </a:defRPr>
            </a:pPr>
            <a:r>
              <a:t>Tracks cell degradation, temperature, charge cycles</a:t>
            </a:r>
          </a:p>
          <a:p>
            <a:pPr>
              <a:spcAft>
                <a:spcPts val="600"/>
              </a:spcAft>
              <a:defRPr sz="1800">
                <a:solidFill>
                  <a:srgbClr val="333333"/>
                </a:solidFill>
              </a:defRPr>
            </a:pPr>
            <a:r>
              <a:t>Predicts remaining life, optimal charging strategy</a:t>
            </a:r>
          </a:p>
          <a:p>
            <a:pPr>
              <a:spcAft>
                <a:spcPts val="1000"/>
              </a:spcAft>
              <a:defRPr sz="1800">
                <a:solidFill>
                  <a:srgbClr val="333333"/>
                </a:solidFill>
              </a:defRPr>
            </a:pPr>
            <a:r>
              <a:t>2. System Digital Twin — Example: Powertrain digital twin</a:t>
            </a:r>
          </a:p>
          <a:p>
            <a:pPr>
              <a:spcAft>
                <a:spcPts val="600"/>
              </a:spcAft>
              <a:defRPr sz="1800">
                <a:solidFill>
                  <a:srgbClr val="333333"/>
                </a:solidFill>
              </a:defRPr>
            </a:pPr>
            <a:r>
              <a:t>Entire electric drivetrain modeled</a:t>
            </a:r>
          </a:p>
          <a:p>
            <a:pPr>
              <a:spcAft>
                <a:spcPts val="600"/>
              </a:spcAft>
              <a:defRPr sz="1800">
                <a:solidFill>
                  <a:srgbClr val="333333"/>
                </a:solidFill>
              </a:defRPr>
            </a:pPr>
            <a:r>
              <a:t>Used for performance optimization, fault diagnosis</a:t>
            </a:r>
          </a:p>
          <a:p>
            <a:pPr>
              <a:spcAft>
                <a:spcPts val="1000"/>
              </a:spcAft>
              <a:defRPr sz="1800">
                <a:solidFill>
                  <a:srgbClr val="333333"/>
                </a:solidFill>
              </a:defRPr>
            </a:pPr>
            <a:r>
              <a:t>3. Vehicle Digital Twin — Complete virtual representation of individual vehicle</a:t>
            </a:r>
          </a:p>
          <a:p>
            <a:pPr>
              <a:spcAft>
                <a:spcPts val="600"/>
              </a:spcAft>
              <a:defRPr sz="1800">
                <a:solidFill>
                  <a:srgbClr val="333333"/>
                </a:solidFill>
              </a:defRPr>
            </a:pPr>
            <a:r>
              <a:t>Updated with real-time sensor data</a:t>
            </a:r>
          </a:p>
          <a:p>
            <a:pPr>
              <a:spcAft>
                <a:spcPts val="600"/>
              </a:spcAft>
              <a:defRPr sz="1800">
                <a:solidFill>
                  <a:srgbClr val="333333"/>
                </a:solidFill>
              </a:defRPr>
            </a:pPr>
            <a:r>
              <a:t>Tesla creates digital twin of every vehicle produced</a:t>
            </a:r>
          </a:p>
          <a:p>
            <a:pPr>
              <a:spcAft>
                <a:spcPts val="1000"/>
              </a:spcAft>
              <a:defRPr sz="1800">
                <a:solidFill>
                  <a:srgbClr val="333333"/>
                </a:solidFill>
              </a:defRPr>
            </a:pPr>
            <a:r>
              <a:t>4. Fleet Digital Twin — Aggregated model across entire fleet</a:t>
            </a:r>
          </a:p>
          <a:p>
            <a:pPr>
              <a:spcAft>
                <a:spcPts val="600"/>
              </a:spcAft>
              <a:defRPr sz="1800">
                <a:solidFill>
                  <a:srgbClr val="333333"/>
                </a:solidFill>
              </a:defRPr>
            </a:pPr>
            <a:r>
              <a:t>Identifies patterns, informs future designs</a:t>
            </a:r>
          </a:p>
          <a:p>
            <a:pPr>
              <a:spcAft>
                <a:spcPts val="600"/>
              </a:spcAft>
              <a:defRPr sz="1800">
                <a:solidFill>
                  <a:srgbClr val="333333"/>
                </a:solidFill>
              </a:defRPr>
            </a:pPr>
            <a:r>
              <a:t>Example: BMW analyzes millions of vehicles to improve next generation</a:t>
            </a:r>
          </a:p>
          <a:p>
            <a:pPr>
              <a:spcAft>
                <a:spcPts val="1000"/>
              </a:spcAft>
              <a:defRPr sz="1800">
                <a:solidFill>
                  <a:srgbClr val="333333"/>
                </a:solidFill>
              </a:defRPr>
            </a:pPr>
            <a:r>
              <a:t>Applications:</a:t>
            </a:r>
          </a:p>
          <a:p>
            <a:pPr>
              <a:spcAft>
                <a:spcPts val="1000"/>
              </a:spcAft>
              <a:defRPr sz="1800">
                <a:solidFill>
                  <a:srgbClr val="333333"/>
                </a:solidFill>
              </a:defRPr>
            </a:pPr>
            <a:r>
              <a:t>Development: — Test designs virtually before building prototypes</a:t>
            </a:r>
          </a:p>
          <a:p>
            <a:pPr>
              <a:spcAft>
                <a:spcPts val="600"/>
              </a:spcAft>
              <a:defRPr sz="1800">
                <a:solidFill>
                  <a:srgbClr val="333333"/>
                </a:solidFill>
              </a:defRPr>
            </a:pPr>
            <a:r>
              <a:t>Explore thousands of scenarios in simulation</a:t>
            </a:r>
          </a:p>
          <a:p>
            <a:pPr>
              <a:spcAft>
                <a:spcPts val="600"/>
              </a:spcAft>
              <a:defRPr sz="1800">
                <a:solidFill>
                  <a:srgbClr val="333333"/>
                </a:solidFill>
              </a:defRPr>
            </a:pPr>
            <a:r>
              <a:t>Example: Waymo drives 20+ billion virtual miles annually</a:t>
            </a:r>
          </a:p>
          <a:p>
            <a:pPr>
              <a:spcAft>
                <a:spcPts val="1000"/>
              </a:spcAft>
              <a:defRPr sz="1800">
                <a:solidFill>
                  <a:srgbClr val="333333"/>
                </a:solidFill>
              </a:defRPr>
            </a:pPr>
            <a:r>
              <a:t>Operations: — Predictive maintenance (fix before failure)</a:t>
            </a:r>
          </a:p>
          <a:p>
            <a:pPr>
              <a:spcAft>
                <a:spcPts val="600"/>
              </a:spcAft>
              <a:defRPr sz="1800">
                <a:solidFill>
                  <a:srgbClr val="333333"/>
                </a:solidFill>
              </a:defRPr>
            </a:pPr>
            <a:r>
              <a:t>Performance optimization (adapt to driving patterns)</a:t>
            </a:r>
          </a:p>
          <a:p>
            <a:pPr>
              <a:spcAft>
                <a:spcPts val="600"/>
              </a:spcAft>
              <a:defRPr sz="1800">
                <a:solidFill>
                  <a:srgbClr val="333333"/>
                </a:solidFill>
              </a:defRPr>
            </a:pPr>
            <a:r>
              <a:t>Remote diagnostics</a:t>
            </a:r>
          </a:p>
          <a:p>
            <a:pPr>
              <a:spcAft>
                <a:spcPts val="1000"/>
              </a:spcAft>
              <a:defRPr sz="1800">
                <a:solidFill>
                  <a:srgbClr val="333333"/>
                </a:solidFill>
              </a:defRPr>
            </a:pPr>
            <a:r>
              <a:t>Service: — Technicians can query digital twin before touching vehicle</a:t>
            </a:r>
          </a:p>
          <a:p>
            <a:pPr>
              <a:spcAft>
                <a:spcPts val="600"/>
              </a:spcAft>
              <a:defRPr sz="1800">
                <a:solidFill>
                  <a:srgbClr val="333333"/>
                </a:solidFill>
              </a:defRPr>
            </a:pPr>
            <a:r>
              <a:t>Simulate repairs virtually</a:t>
            </a:r>
          </a:p>
          <a:p>
            <a:pPr>
              <a:spcAft>
                <a:spcPts val="600"/>
              </a:spcAft>
              <a:defRPr sz="1800">
                <a:solidFill>
                  <a:srgbClr val="333333"/>
                </a:solidFill>
              </a:defRPr>
            </a:pPr>
            <a:r>
              <a:t>Order correct parts before visit</a:t>
            </a:r>
          </a:p>
          <a:p>
            <a:pPr>
              <a:spcAft>
                <a:spcPts val="1000"/>
              </a:spcAft>
              <a:defRPr sz="1800">
                <a:solidFill>
                  <a:srgbClr val="333333"/>
                </a:solidFill>
              </a:defRPr>
            </a:pPr>
            <a:r>
              <a:t>This is the future of systems engineering - physical and digital worlds continuously synchronized.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Industry Adoption of Digital Engineering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Where is digital engineering adoption today?</a:t>
            </a:r>
          </a:p>
          <a:p>
            <a:pPr>
              <a:spcAft>
                <a:spcPts val="1000"/>
              </a:spcAft>
              <a:defRPr sz="1800">
                <a:solidFill>
                  <a:srgbClr val="333333"/>
                </a:solidFill>
              </a:defRPr>
            </a:pPr>
            <a:r>
              <a:t>Adoption Status (Industry Surveys 2024):</a:t>
            </a:r>
          </a:p>
          <a:p>
            <a:pPr>
              <a:spcAft>
                <a:spcPts val="1000"/>
              </a:spcAft>
              <a:defRPr sz="1800">
                <a:solidFill>
                  <a:srgbClr val="333333"/>
                </a:solidFill>
              </a:defRPr>
            </a:pPr>
            <a:r>
              <a:t>Aerospace/Defense: 65% actively implementing DE</a:t>
            </a:r>
          </a:p>
          <a:p>
            <a:pPr>
              <a:spcAft>
                <a:spcPts val="600"/>
              </a:spcAft>
              <a:defRPr sz="1800">
                <a:solidFill>
                  <a:srgbClr val="333333"/>
                </a:solidFill>
              </a:defRPr>
            </a:pPr>
            <a:r>
              <a:t>Driven by DoD mandates, complexity of systems</a:t>
            </a:r>
          </a:p>
          <a:p>
            <a:pPr>
              <a:spcAft>
                <a:spcPts val="600"/>
              </a:spcAft>
              <a:defRPr sz="1800">
                <a:solidFill>
                  <a:srgbClr val="333333"/>
                </a:solidFill>
              </a:defRPr>
            </a:pPr>
            <a:r>
              <a:t>Leaders: Lockheed Martin, Boeing, Northrop Grumman</a:t>
            </a:r>
          </a:p>
          <a:p>
            <a:pPr>
              <a:spcAft>
                <a:spcPts val="1000"/>
              </a:spcAft>
              <a:defRPr sz="1800">
                <a:solidFill>
                  <a:srgbClr val="333333"/>
                </a:solidFill>
              </a:defRPr>
            </a:pPr>
            <a:r>
              <a:t>Automotive OEMs: 45% actively implementing DE</a:t>
            </a:r>
          </a:p>
          <a:p>
            <a:pPr>
              <a:spcAft>
                <a:spcPts val="600"/>
              </a:spcAft>
              <a:defRPr sz="1800">
                <a:solidFill>
                  <a:srgbClr val="333333"/>
                </a:solidFill>
              </a:defRPr>
            </a:pPr>
            <a:r>
              <a:t>Leaders: Tesla, Mercedes, BMW, GM</a:t>
            </a:r>
          </a:p>
          <a:p>
            <a:pPr>
              <a:spcAft>
                <a:spcPts val="600"/>
              </a:spcAft>
              <a:defRPr sz="1800">
                <a:solidFill>
                  <a:srgbClr val="333333"/>
                </a:solidFill>
              </a:defRPr>
            </a:pPr>
            <a:r>
              <a:t>Laggards: Smaller OEMs, traditional suppliers</a:t>
            </a:r>
          </a:p>
          <a:p>
            <a:pPr>
              <a:spcAft>
                <a:spcPts val="1000"/>
              </a:spcAft>
              <a:defRPr sz="1800">
                <a:solidFill>
                  <a:srgbClr val="333333"/>
                </a:solidFill>
              </a:defRPr>
            </a:pPr>
            <a:r>
              <a:t>Tier 1 Suppliers: 30% actively implementing DE</a:t>
            </a:r>
          </a:p>
          <a:p>
            <a:pPr>
              <a:spcAft>
                <a:spcPts val="600"/>
              </a:spcAft>
              <a:defRPr sz="1800">
                <a:solidFill>
                  <a:srgbClr val="333333"/>
                </a:solidFill>
              </a:defRPr>
            </a:pPr>
            <a:r>
              <a:t>Bosch, Continental leading</a:t>
            </a:r>
          </a:p>
          <a:p>
            <a:pPr>
              <a:spcAft>
                <a:spcPts val="600"/>
              </a:spcAft>
              <a:defRPr sz="1800">
                <a:solidFill>
                  <a:srgbClr val="333333"/>
                </a:solidFill>
              </a:defRPr>
            </a:pPr>
            <a:r>
              <a:t>Challenged by customer requirements to integrate with OEM systems</a:t>
            </a:r>
          </a:p>
          <a:p>
            <a:pPr>
              <a:spcAft>
                <a:spcPts val="1000"/>
              </a:spcAft>
              <a:defRPr sz="1800">
                <a:solidFill>
                  <a:srgbClr val="333333"/>
                </a:solidFill>
              </a:defRPr>
            </a:pPr>
            <a:r>
              <a:t>Barriers to Adoption:</a:t>
            </a:r>
          </a:p>
          <a:p>
            <a:pPr>
              <a:spcAft>
                <a:spcPts val="1000"/>
              </a:spcAft>
              <a:defRPr sz="1800">
                <a:solidFill>
                  <a:srgbClr val="333333"/>
                </a:solidFill>
              </a:defRPr>
            </a:pPr>
            <a:r>
              <a:t>1. Cultural Resistance (58% cite this)</a:t>
            </a:r>
          </a:p>
          <a:p>
            <a:pPr>
              <a:spcAft>
                <a:spcPts val="600"/>
              </a:spcAft>
              <a:defRPr sz="1800">
                <a:solidFill>
                  <a:srgbClr val="333333"/>
                </a:solidFill>
              </a:defRPr>
            </a:pPr>
            <a:r>
              <a:t>'We've always used documents, why change?'</a:t>
            </a:r>
          </a:p>
          <a:p>
            <a:pPr>
              <a:spcAft>
                <a:spcPts val="600"/>
              </a:spcAft>
              <a:defRPr sz="1800">
                <a:solidFill>
                  <a:srgbClr val="333333"/>
                </a:solidFill>
              </a:defRPr>
            </a:pPr>
            <a:r>
              <a:t>Fear of job disruption</a:t>
            </a:r>
          </a:p>
          <a:p>
            <a:pPr>
              <a:spcAft>
                <a:spcPts val="600"/>
              </a:spcAft>
              <a:defRPr sz="1800">
                <a:solidFill>
                  <a:srgbClr val="333333"/>
                </a:solidFill>
              </a:defRPr>
            </a:pPr>
            <a:r>
              <a:t>Not-invented-here syndrome</a:t>
            </a:r>
          </a:p>
          <a:p>
            <a:pPr>
              <a:spcAft>
                <a:spcPts val="1000"/>
              </a:spcAft>
              <a:defRPr sz="1800">
                <a:solidFill>
                  <a:srgbClr val="333333"/>
                </a:solidFill>
              </a:defRPr>
            </a:pPr>
            <a:r>
              <a:t>2. Tool Integration Complexity (52%)</a:t>
            </a:r>
          </a:p>
          <a:p>
            <a:pPr>
              <a:spcAft>
                <a:spcPts val="600"/>
              </a:spcAft>
              <a:defRPr sz="1800">
                <a:solidFill>
                  <a:srgbClr val="333333"/>
                </a:solidFill>
              </a:defRPr>
            </a:pPr>
            <a:r>
              <a:t>20+ tools in typical enterprise (CAD, PLM, ALM, SIM, etc.)</a:t>
            </a:r>
          </a:p>
          <a:p>
            <a:pPr>
              <a:spcAft>
                <a:spcPts val="600"/>
              </a:spcAft>
              <a:defRPr sz="1800">
                <a:solidFill>
                  <a:srgbClr val="333333"/>
                </a:solidFill>
              </a:defRPr>
            </a:pPr>
            <a:r>
              <a:t>Integration is difficult, expensive</a:t>
            </a:r>
          </a:p>
          <a:p>
            <a:pPr>
              <a:spcAft>
                <a:spcPts val="1000"/>
              </a:spcAft>
              <a:defRPr sz="1800">
                <a:solidFill>
                  <a:srgbClr val="333333"/>
                </a:solidFill>
              </a:defRPr>
            </a:pPr>
            <a:r>
              <a:t>3. Skill Gaps (47%)</a:t>
            </a:r>
          </a:p>
          <a:p>
            <a:pPr>
              <a:spcAft>
                <a:spcPts val="600"/>
              </a:spcAft>
              <a:defRPr sz="1800">
                <a:solidFill>
                  <a:srgbClr val="333333"/>
                </a:solidFill>
              </a:defRPr>
            </a:pPr>
            <a:r>
              <a:t>Current workforce trained on documents, not models</a:t>
            </a:r>
          </a:p>
          <a:p>
            <a:pPr>
              <a:spcAft>
                <a:spcPts val="600"/>
              </a:spcAft>
              <a:defRPr sz="1800">
                <a:solidFill>
                  <a:srgbClr val="333333"/>
                </a:solidFill>
              </a:defRPr>
            </a:pPr>
            <a:r>
              <a:t>Need training in data management, modeling</a:t>
            </a:r>
          </a:p>
          <a:p>
            <a:pPr>
              <a:spcAft>
                <a:spcPts val="1000"/>
              </a:spcAft>
              <a:defRPr sz="1800">
                <a:solidFill>
                  <a:srgbClr val="333333"/>
                </a:solidFill>
              </a:defRPr>
            </a:pPr>
            <a:r>
              <a:t>4. Upfront Investment (43%)</a:t>
            </a:r>
          </a:p>
          <a:p>
            <a:pPr>
              <a:spcAft>
                <a:spcPts val="600"/>
              </a:spcAft>
              <a:defRPr sz="1800">
                <a:solidFill>
                  <a:srgbClr val="333333"/>
                </a:solidFill>
              </a:defRPr>
            </a:pPr>
            <a:r>
              <a:t>Tools, training, process change expensive</a:t>
            </a:r>
          </a:p>
          <a:p>
            <a:pPr>
              <a:spcAft>
                <a:spcPts val="600"/>
              </a:spcAft>
              <a:defRPr sz="1800">
                <a:solidFill>
                  <a:srgbClr val="333333"/>
                </a:solidFill>
              </a:defRPr>
            </a:pPr>
            <a:r>
              <a:t>ROI takes 2-3 years to realize</a:t>
            </a:r>
          </a:p>
          <a:p>
            <a:pPr>
              <a:spcAft>
                <a:spcPts val="1000"/>
              </a:spcAft>
              <a:defRPr sz="1800">
                <a:solidFill>
                  <a:srgbClr val="333333"/>
                </a:solidFill>
              </a:defRPr>
            </a:pPr>
            <a:r>
              <a:t>5. Legacy System Integration (39%)</a:t>
            </a:r>
          </a:p>
          <a:p>
            <a:pPr>
              <a:spcAft>
                <a:spcPts val="600"/>
              </a:spcAft>
              <a:defRPr sz="1800">
                <a:solidFill>
                  <a:srgbClr val="333333"/>
                </a:solidFill>
              </a:defRPr>
            </a:pPr>
            <a:r>
              <a:t>Existing projects can't easily convert</a:t>
            </a:r>
          </a:p>
          <a:p>
            <a:pPr>
              <a:spcAft>
                <a:spcPts val="600"/>
              </a:spcAft>
              <a:defRPr sz="1800">
                <a:solidFill>
                  <a:srgbClr val="333333"/>
                </a:solidFill>
              </a:defRPr>
            </a:pPr>
            <a:r>
              <a:t>Migration is risky</a:t>
            </a:r>
          </a:p>
          <a:p>
            <a:pPr>
              <a:spcAft>
                <a:spcPts val="1000"/>
              </a:spcAft>
              <a:defRPr sz="1800">
                <a:solidFill>
                  <a:srgbClr val="333333"/>
                </a:solidFill>
              </a:defRPr>
            </a:pPr>
            <a:r>
              <a:t>Success Factors: — Executive sponsorship</a:t>
            </a:r>
          </a:p>
          <a:p>
            <a:pPr>
              <a:spcAft>
                <a:spcPts val="600"/>
              </a:spcAft>
              <a:defRPr sz="1800">
                <a:solidFill>
                  <a:srgbClr val="333333"/>
                </a:solidFill>
              </a:defRPr>
            </a:pPr>
            <a:r>
              <a:t>Pilot projects to prove value</a:t>
            </a:r>
          </a:p>
          <a:p>
            <a:pPr>
              <a:spcAft>
                <a:spcPts val="600"/>
              </a:spcAft>
              <a:defRPr sz="1800">
                <a:solidFill>
                  <a:srgbClr val="333333"/>
                </a:solidFill>
              </a:defRPr>
            </a:pPr>
            <a:r>
              <a:t>Phased rollout, not big-bang</a:t>
            </a:r>
          </a:p>
          <a:p>
            <a:pPr>
              <a:spcAft>
                <a:spcPts val="600"/>
              </a:spcAft>
              <a:defRPr sz="1800">
                <a:solidFill>
                  <a:srgbClr val="333333"/>
                </a:solidFill>
              </a:defRPr>
            </a:pPr>
            <a:r>
              <a:t>Training and change management</a:t>
            </a:r>
          </a:p>
          <a:p>
            <a:pPr>
              <a:spcAft>
                <a:spcPts val="600"/>
              </a:spcAft>
              <a:defRPr sz="1800">
                <a:solidFill>
                  <a:srgbClr val="333333"/>
                </a:solidFill>
              </a:defRPr>
            </a:pPr>
            <a:r>
              <a:t>Clear ROI metrics</a:t>
            </a:r>
          </a:p>
          <a:p>
            <a:pPr>
              <a:spcAft>
                <a:spcPts val="1000"/>
              </a:spcAft>
              <a:defRPr sz="1800">
                <a:solidFill>
                  <a:srgbClr val="333333"/>
                </a:solidFill>
              </a:defRPr>
            </a:pPr>
            <a:r>
              <a:t>Your takeaway: Digital engineering is coming. Learn the concepts now, build skills early. You'll be ready when your employer adopts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2: AI/ML in Systems Engineering (Slides 12-14, ~8 minutes)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AI Augmenting Systems Engineers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Second major trend: Artificial Intelligence and Machine Learning augmenting systems engineering.</a:t>
            </a:r>
          </a:p>
          <a:p>
            <a:pPr>
              <a:spcAft>
                <a:spcPts val="1000"/>
              </a:spcAft>
              <a:defRPr sz="1800">
                <a:solidFill>
                  <a:srgbClr val="333333"/>
                </a:solidFill>
              </a:defRPr>
            </a:pPr>
            <a:r>
              <a:t>Let's be clear: AI is NOT replacing systems engineers. It's AUGMENTING us, making us more capable.</a:t>
            </a:r>
          </a:p>
          <a:p>
            <a:pPr>
              <a:spcAft>
                <a:spcPts val="1000"/>
              </a:spcAft>
              <a:defRPr sz="1800">
                <a:solidFill>
                  <a:srgbClr val="333333"/>
                </a:solidFill>
              </a:defRPr>
            </a:pPr>
            <a:r>
              <a:t>Current Applications of AI/ML in SE:</a:t>
            </a:r>
          </a:p>
          <a:p>
            <a:pPr>
              <a:spcAft>
                <a:spcPts val="1000"/>
              </a:spcAft>
              <a:defRPr sz="1800">
                <a:solidFill>
                  <a:srgbClr val="333333"/>
                </a:solidFill>
              </a:defRPr>
            </a:pPr>
            <a:r>
              <a:t>1. Requirements Analysis — Natural Language Processing (NLP) analyzes requirements documents</a:t>
            </a:r>
          </a:p>
          <a:p>
            <a:pPr>
              <a:spcAft>
                <a:spcPts val="600"/>
              </a:spcAft>
              <a:defRPr sz="1800">
                <a:solidFill>
                  <a:srgbClr val="333333"/>
                </a:solidFill>
              </a:defRPr>
            </a:pPr>
            <a:r>
              <a:t>Detects ambiguity, inconsistency, incompleteness</a:t>
            </a:r>
          </a:p>
          <a:p>
            <a:pPr>
              <a:spcAft>
                <a:spcPts val="600"/>
              </a:spcAft>
              <a:defRPr sz="1800">
                <a:solidFill>
                  <a:srgbClr val="333333"/>
                </a:solidFill>
              </a:defRPr>
            </a:pPr>
            <a:r>
              <a:t>Example: IBM Watson analyzes 10,000 requirements in minutes, flags issues</a:t>
            </a:r>
          </a:p>
          <a:p>
            <a:pPr>
              <a:spcAft>
                <a:spcPts val="600"/>
              </a:spcAft>
              <a:defRPr sz="1800">
                <a:solidFill>
                  <a:srgbClr val="333333"/>
                </a:solidFill>
              </a:defRPr>
            </a:pPr>
            <a:r>
              <a:t>Human SE reviews flagged items, makes decisions</a:t>
            </a:r>
          </a:p>
          <a:p>
            <a:pPr>
              <a:spcAft>
                <a:spcPts val="1000"/>
              </a:spcAft>
              <a:defRPr sz="1800">
                <a:solidFill>
                  <a:srgbClr val="333333"/>
                </a:solidFill>
              </a:defRPr>
            </a:pPr>
            <a:r>
              <a:t>2. Design Space Exploration — Generative design algorithms explore thousands of design alternatives</a:t>
            </a:r>
          </a:p>
          <a:p>
            <a:pPr>
              <a:spcAft>
                <a:spcPts val="600"/>
              </a:spcAft>
              <a:defRPr sz="1800">
                <a:solidFill>
                  <a:srgbClr val="333333"/>
                </a:solidFill>
              </a:defRPr>
            </a:pPr>
            <a:r>
              <a:t>Optimize for multiple objectives (weight, cost, performance, manufacturability)</a:t>
            </a:r>
          </a:p>
          <a:p>
            <a:pPr>
              <a:spcAft>
                <a:spcPts val="600"/>
              </a:spcAft>
              <a:defRPr sz="1800">
                <a:solidFill>
                  <a:srgbClr val="333333"/>
                </a:solidFill>
              </a:defRPr>
            </a:pPr>
            <a:r>
              <a:t>Example: Airbus uses AI to generate aircraft partition designs - 45% lighter than human designs</a:t>
            </a:r>
          </a:p>
          <a:p>
            <a:pPr>
              <a:spcAft>
                <a:spcPts val="600"/>
              </a:spcAft>
              <a:defRPr sz="1800">
                <a:solidFill>
                  <a:srgbClr val="333333"/>
                </a:solidFill>
              </a:defRPr>
            </a:pPr>
            <a:r>
              <a:t>Human SE sets constraints, selects final design</a:t>
            </a:r>
          </a:p>
          <a:p>
            <a:pPr>
              <a:spcAft>
                <a:spcPts val="1000"/>
              </a:spcAft>
              <a:defRPr sz="1800">
                <a:solidFill>
                  <a:srgbClr val="333333"/>
                </a:solidFill>
              </a:defRPr>
            </a:pPr>
            <a:r>
              <a:t>3. Test Case Generation — ML algorithms analyze system models and generate test cases</a:t>
            </a:r>
          </a:p>
          <a:p>
            <a:pPr>
              <a:spcAft>
                <a:spcPts val="600"/>
              </a:spcAft>
              <a:defRPr sz="1800">
                <a:solidFill>
                  <a:srgbClr val="333333"/>
                </a:solidFill>
              </a:defRPr>
            </a:pPr>
            <a:r>
              <a:t>Ensure coverage of edge cases humans might miss</a:t>
            </a:r>
          </a:p>
          <a:p>
            <a:pPr>
              <a:spcAft>
                <a:spcPts val="600"/>
              </a:spcAft>
              <a:defRPr sz="1800">
                <a:solidFill>
                  <a:srgbClr val="333333"/>
                </a:solidFill>
              </a:defRPr>
            </a:pPr>
            <a:r>
              <a:t>Example: Autonomous vehicle testing - AI generates dangerous scenarios</a:t>
            </a:r>
          </a:p>
          <a:p>
            <a:pPr>
              <a:spcAft>
                <a:spcPts val="600"/>
              </a:spcAft>
              <a:defRPr sz="1800">
                <a:solidFill>
                  <a:srgbClr val="333333"/>
                </a:solidFill>
              </a:defRPr>
            </a:pPr>
            <a:r>
              <a:t>Human SE validates test relevance</a:t>
            </a:r>
          </a:p>
          <a:p>
            <a:pPr>
              <a:spcAft>
                <a:spcPts val="1000"/>
              </a:spcAft>
              <a:defRPr sz="1800">
                <a:solidFill>
                  <a:srgbClr val="333333"/>
                </a:solidFill>
              </a:defRPr>
            </a:pPr>
            <a:r>
              <a:t>4. Fault Prediction and FMEA — ML models predict failure modes based on historical data</a:t>
            </a:r>
          </a:p>
          <a:p>
            <a:pPr>
              <a:spcAft>
                <a:spcPts val="600"/>
              </a:spcAft>
              <a:defRPr sz="1800">
                <a:solidFill>
                  <a:srgbClr val="333333"/>
                </a:solidFill>
              </a:defRPr>
            </a:pPr>
            <a:r>
              <a:t>Automate parts of FMEA process</a:t>
            </a:r>
          </a:p>
          <a:p>
            <a:pPr>
              <a:spcAft>
                <a:spcPts val="600"/>
              </a:spcAft>
              <a:defRPr sz="1800">
                <a:solidFill>
                  <a:srgbClr val="333333"/>
                </a:solidFill>
              </a:defRPr>
            </a:pPr>
            <a:r>
              <a:t>Example: Predictive maintenance systems</a:t>
            </a:r>
          </a:p>
          <a:p>
            <a:pPr>
              <a:spcAft>
                <a:spcPts val="600"/>
              </a:spcAft>
              <a:defRPr sz="1800">
                <a:solidFill>
                  <a:srgbClr val="333333"/>
                </a:solidFill>
              </a:defRPr>
            </a:pPr>
            <a:r>
              <a:t>Human SE interprets results, decides mitigations</a:t>
            </a:r>
          </a:p>
          <a:p>
            <a:pPr>
              <a:spcAft>
                <a:spcPts val="1000"/>
              </a:spcAft>
              <a:defRPr sz="1800">
                <a:solidFill>
                  <a:srgbClr val="333333"/>
                </a:solidFill>
              </a:defRPr>
            </a:pPr>
            <a:r>
              <a:t>5. Project Risk Prediction — ML analyzes past project data to predict risks</a:t>
            </a:r>
          </a:p>
          <a:p>
            <a:pPr>
              <a:spcAft>
                <a:spcPts val="600"/>
              </a:spcAft>
              <a:defRPr sz="1800">
                <a:solidFill>
                  <a:srgbClr val="333333"/>
                </a:solidFill>
              </a:defRPr>
            </a:pPr>
            <a:r>
              <a:t>Identifies patterns: 'Projects with X characteristic tend to overrun'</a:t>
            </a:r>
          </a:p>
          <a:p>
            <a:pPr>
              <a:spcAft>
                <a:spcPts val="600"/>
              </a:spcAft>
              <a:defRPr sz="1800">
                <a:solidFill>
                  <a:srgbClr val="333333"/>
                </a:solidFill>
              </a:defRPr>
            </a:pPr>
            <a:r>
              <a:t>Example: NASA uses ML to predict project delays</a:t>
            </a:r>
          </a:p>
          <a:p>
            <a:pPr>
              <a:spcAft>
                <a:spcPts val="600"/>
              </a:spcAft>
              <a:defRPr sz="1800">
                <a:solidFill>
                  <a:srgbClr val="333333"/>
                </a:solidFill>
              </a:defRPr>
            </a:pPr>
            <a:r>
              <a:t>Human SE takes preventive actions</a:t>
            </a:r>
          </a:p>
          <a:p>
            <a:pPr>
              <a:spcAft>
                <a:spcPts val="1000"/>
              </a:spcAft>
              <a:defRPr sz="1800">
                <a:solidFill>
                  <a:srgbClr val="333333"/>
                </a:solidFill>
              </a:defRPr>
            </a:pPr>
            <a:r>
              <a:t>Pattern: AI handles data-intensive, pattern-recognition tasks. Humans handle judgment, creativity, ethics, stakeholder engagement.</a:t>
            </a:r>
          </a:p>
          <a:p>
            <a:pPr>
              <a:spcAft>
                <a:spcPts val="1000"/>
              </a:spcAft>
              <a:defRPr sz="1800">
                <a:solidFill>
                  <a:srgbClr val="333333"/>
                </a:solidFill>
              </a:defRPr>
            </a:pPr>
            <a:r>
              <a:t>We're entering the era of augmented systems engineering.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AI in Autonomous Systems Development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The most intensive use of AI in SE today is in developing autonomous systems themselves.</a:t>
            </a:r>
          </a:p>
          <a:p>
            <a:pPr>
              <a:spcAft>
                <a:spcPts val="1000"/>
              </a:spcAft>
              <a:defRPr sz="1800">
                <a:solidFill>
                  <a:srgbClr val="333333"/>
                </a:solidFill>
              </a:defRPr>
            </a:pPr>
            <a:r>
              <a:t>Autonomous Vehicle Development - AI Throughout:</a:t>
            </a:r>
          </a:p>
          <a:p>
            <a:pPr>
              <a:spcAft>
                <a:spcPts val="1000"/>
              </a:spcAft>
              <a:defRPr sz="1800">
                <a:solidFill>
                  <a:srgbClr val="333333"/>
                </a:solidFill>
              </a:defRPr>
            </a:pPr>
            <a:r>
              <a:t>Perception: — Deep learning for object detection, classification</a:t>
            </a:r>
          </a:p>
          <a:p>
            <a:pPr>
              <a:spcAft>
                <a:spcPts val="600"/>
              </a:spcAft>
              <a:defRPr sz="1800">
                <a:solidFill>
                  <a:srgbClr val="333333"/>
                </a:solidFill>
              </a:defRPr>
            </a:pPr>
            <a:r>
              <a:t>Training on millions of labeled images</a:t>
            </a:r>
          </a:p>
          <a:p>
            <a:pPr>
              <a:spcAft>
                <a:spcPts val="600"/>
              </a:spcAft>
              <a:defRPr sz="1800">
                <a:solidFill>
                  <a:srgbClr val="333333"/>
                </a:solidFill>
              </a:defRPr>
            </a:pPr>
            <a:r>
              <a:t>Continuous learning from fleet data</a:t>
            </a:r>
          </a:p>
          <a:p>
            <a:pPr>
              <a:spcAft>
                <a:spcPts val="1000"/>
              </a:spcAft>
              <a:defRPr sz="1800">
                <a:solidFill>
                  <a:srgbClr val="333333"/>
                </a:solidFill>
              </a:defRPr>
            </a:pPr>
            <a:r>
              <a:t>Prediction: — ML models predict behavior of other road users</a:t>
            </a:r>
          </a:p>
          <a:p>
            <a:pPr>
              <a:spcAft>
                <a:spcPts val="600"/>
              </a:spcAft>
              <a:defRPr sz="1800">
                <a:solidFill>
                  <a:srgbClr val="333333"/>
                </a:solidFill>
              </a:defRPr>
            </a:pPr>
            <a:r>
              <a:t>'Will that pedestrian cross? Will that car change lanes?'</a:t>
            </a:r>
          </a:p>
          <a:p>
            <a:pPr>
              <a:spcAft>
                <a:spcPts val="1000"/>
              </a:spcAft>
              <a:defRPr sz="1800">
                <a:solidFill>
                  <a:srgbClr val="333333"/>
                </a:solidFill>
              </a:defRPr>
            </a:pPr>
            <a:r>
              <a:t>Planning: — Reinforcement learning for path planning</a:t>
            </a:r>
          </a:p>
          <a:p>
            <a:pPr>
              <a:spcAft>
                <a:spcPts val="600"/>
              </a:spcAft>
              <a:defRPr sz="1800">
                <a:solidFill>
                  <a:srgbClr val="333333"/>
                </a:solidFill>
              </a:defRPr>
            </a:pPr>
            <a:r>
              <a:t>Optimize for safety, comfort, efficiency</a:t>
            </a:r>
          </a:p>
          <a:p>
            <a:pPr>
              <a:spcAft>
                <a:spcPts val="1000"/>
              </a:spcAft>
              <a:defRPr sz="1800">
                <a:solidFill>
                  <a:srgbClr val="333333"/>
                </a:solidFill>
              </a:defRPr>
            </a:pPr>
            <a:r>
              <a:t>Validation: — Scenario generation using generative AI</a:t>
            </a:r>
          </a:p>
          <a:p>
            <a:pPr>
              <a:spcAft>
                <a:spcPts val="600"/>
              </a:spcAft>
              <a:defRPr sz="1800">
                <a:solidFill>
                  <a:srgbClr val="333333"/>
                </a:solidFill>
              </a:defRPr>
            </a:pPr>
            <a:r>
              <a:t>Create edge cases for testing</a:t>
            </a:r>
          </a:p>
          <a:p>
            <a:pPr>
              <a:spcAft>
                <a:spcPts val="600"/>
              </a:spcAft>
              <a:defRPr sz="1800">
                <a:solidFill>
                  <a:srgbClr val="333333"/>
                </a:solidFill>
              </a:defRPr>
            </a:pPr>
            <a:r>
              <a:t>Example: 'Generate 1000 near-collision scenarios'</a:t>
            </a:r>
          </a:p>
          <a:p>
            <a:pPr>
              <a:spcAft>
                <a:spcPts val="1000"/>
              </a:spcAft>
              <a:defRPr sz="1800">
                <a:solidFill>
                  <a:srgbClr val="333333"/>
                </a:solidFill>
              </a:defRPr>
            </a:pPr>
            <a:r>
              <a:t>Systems Engineering Challenge:</a:t>
            </a:r>
          </a:p>
          <a:p>
            <a:pPr>
              <a:spcAft>
                <a:spcPts val="1000"/>
              </a:spcAft>
              <a:defRPr sz="1800">
                <a:solidFill>
                  <a:srgbClr val="333333"/>
                </a:solidFill>
              </a:defRPr>
            </a:pPr>
            <a:r>
              <a:t>Traditional SE: We specify exact behavior</a:t>
            </a:r>
          </a:p>
          <a:p>
            <a:pPr>
              <a:spcAft>
                <a:spcPts val="600"/>
              </a:spcAft>
              <a:defRPr sz="1800">
                <a:solidFill>
                  <a:srgbClr val="333333"/>
                </a:solidFill>
              </a:defRPr>
            </a:pPr>
            <a:r>
              <a:t>'If sensor detects object at &lt;5m, brake'</a:t>
            </a:r>
          </a:p>
          <a:p>
            <a:pPr>
              <a:spcAft>
                <a:spcPts val="600"/>
              </a:spcAft>
              <a:defRPr sz="1800">
                <a:solidFill>
                  <a:srgbClr val="333333"/>
                </a:solidFill>
              </a:defRPr>
            </a:pPr>
            <a:r>
              <a:t>Deterministic, traceable, verifiable</a:t>
            </a:r>
          </a:p>
          <a:p>
            <a:pPr>
              <a:spcAft>
                <a:spcPts val="1000"/>
              </a:spcAft>
              <a:defRPr sz="1800">
                <a:solidFill>
                  <a:srgbClr val="333333"/>
                </a:solidFill>
              </a:defRPr>
            </a:pPr>
            <a:r>
              <a:t>AI/ML Systems: Behavior is learned, not specified</a:t>
            </a:r>
          </a:p>
          <a:p>
            <a:pPr>
              <a:spcAft>
                <a:spcPts val="600"/>
              </a:spcAft>
              <a:defRPr sz="1800">
                <a:solidFill>
                  <a:srgbClr val="333333"/>
                </a:solidFill>
              </a:defRPr>
            </a:pPr>
            <a:r>
              <a:t>Neural network trained on data</a:t>
            </a:r>
          </a:p>
          <a:p>
            <a:pPr>
              <a:spcAft>
                <a:spcPts val="600"/>
              </a:spcAft>
              <a:defRPr sz="1800">
                <a:solidFill>
                  <a:srgbClr val="333333"/>
                </a:solidFill>
              </a:defRPr>
            </a:pPr>
            <a:r>
              <a:t>Non-deterministic, hard to explain</a:t>
            </a:r>
          </a:p>
          <a:p>
            <a:pPr>
              <a:spcAft>
                <a:spcPts val="600"/>
              </a:spcAft>
              <a:defRPr sz="1800">
                <a:solidFill>
                  <a:srgbClr val="333333"/>
                </a:solidFill>
              </a:defRPr>
            </a:pPr>
            <a:r>
              <a:t>How do we verify? Validate? Certify?</a:t>
            </a:r>
          </a:p>
          <a:p>
            <a:pPr>
              <a:spcAft>
                <a:spcPts val="1000"/>
              </a:spcAft>
              <a:defRPr sz="1800">
                <a:solidFill>
                  <a:srgbClr val="333333"/>
                </a:solidFill>
              </a:defRPr>
            </a:pPr>
            <a:r>
              <a:t>New SE Methods Required:</a:t>
            </a:r>
          </a:p>
          <a:p>
            <a:pPr>
              <a:spcAft>
                <a:spcPts val="1000"/>
              </a:spcAft>
              <a:defRPr sz="1800">
                <a:solidFill>
                  <a:srgbClr val="333333"/>
                </a:solidFill>
              </a:defRPr>
            </a:pPr>
            <a:r>
              <a:t>1. Data-Centric Requirements — Requirements on training data quality, diversity</a:t>
            </a:r>
          </a:p>
          <a:p>
            <a:pPr>
              <a:spcAft>
                <a:spcPts val="600"/>
              </a:spcAft>
              <a:defRPr sz="1800">
                <a:solidFill>
                  <a:srgbClr val="333333"/>
                </a:solidFill>
              </a:defRPr>
            </a:pPr>
            <a:r>
              <a:t>'Training dataset shall include ≥10,000 pedestrian examples in varied lighting'</a:t>
            </a:r>
          </a:p>
          <a:p>
            <a:pPr>
              <a:spcAft>
                <a:spcPts val="1000"/>
              </a:spcAft>
              <a:defRPr sz="1800">
                <a:solidFill>
                  <a:srgbClr val="333333"/>
                </a:solidFill>
              </a:defRPr>
            </a:pPr>
            <a:r>
              <a:t>2. Performance Envelope Testing — Define operational design domain (ODD)</a:t>
            </a:r>
          </a:p>
          <a:p>
            <a:pPr>
              <a:spcAft>
                <a:spcPts val="600"/>
              </a:spcAft>
              <a:defRPr sz="1800">
                <a:solidFill>
                  <a:srgbClr val="333333"/>
                </a:solidFill>
              </a:defRPr>
            </a:pPr>
            <a:r>
              <a:t>Test at boundaries: 'Works in conditions A, B, C; not guaranteed in D'</a:t>
            </a:r>
          </a:p>
          <a:p>
            <a:pPr>
              <a:spcAft>
                <a:spcPts val="1000"/>
              </a:spcAft>
              <a:defRPr sz="1800">
                <a:solidFill>
                  <a:srgbClr val="333333"/>
                </a:solidFill>
              </a:defRPr>
            </a:pPr>
            <a:r>
              <a:t>3. Continuous Validation — Monitor AI performance in field</a:t>
            </a:r>
          </a:p>
          <a:p>
            <a:pPr>
              <a:spcAft>
                <a:spcPts val="600"/>
              </a:spcAft>
              <a:defRPr sz="1800">
                <a:solidFill>
                  <a:srgbClr val="333333"/>
                </a:solidFill>
              </a:defRPr>
            </a:pPr>
            <a:r>
              <a:t>Retrain when degradation detected</a:t>
            </a:r>
          </a:p>
          <a:p>
            <a:pPr>
              <a:spcAft>
                <a:spcPts val="1000"/>
              </a:spcAft>
              <a:defRPr sz="1800">
                <a:solidFill>
                  <a:srgbClr val="333333"/>
                </a:solidFill>
              </a:defRPr>
            </a:pPr>
            <a:r>
              <a:t>4. Explainable AI (XAI) — Techniques to understand AI decisions</a:t>
            </a:r>
          </a:p>
          <a:p>
            <a:pPr>
              <a:spcAft>
                <a:spcPts val="600"/>
              </a:spcAft>
              <a:defRPr sz="1800">
                <a:solidFill>
                  <a:srgbClr val="333333"/>
                </a:solidFill>
              </a:defRPr>
            </a:pPr>
            <a:r>
              <a:t>'Why did the system brake there?'</a:t>
            </a:r>
          </a:p>
          <a:p>
            <a:pPr>
              <a:spcAft>
                <a:spcPts val="1000"/>
              </a:spcAft>
              <a:defRPr sz="1800">
                <a:solidFill>
                  <a:srgbClr val="333333"/>
                </a:solidFill>
              </a:defRPr>
            </a:pPr>
            <a:r>
              <a:t>This is frontier systems engineering. Standards are still being written.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Ethical Considerations of AI in SE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AI in systems engineering raises profound ethical questions you must be prepared to address.</a:t>
            </a:r>
          </a:p>
          <a:p>
            <a:pPr>
              <a:spcAft>
                <a:spcPts val="1000"/>
              </a:spcAft>
              <a:defRPr sz="1800">
                <a:solidFill>
                  <a:srgbClr val="333333"/>
                </a:solidFill>
              </a:defRPr>
            </a:pPr>
            <a:r>
              <a:t>Key Ethical Issues:</a:t>
            </a:r>
          </a:p>
          <a:p>
            <a:pPr>
              <a:spcAft>
                <a:spcPts val="1000"/>
              </a:spcAft>
              <a:defRPr sz="1800">
                <a:solidFill>
                  <a:srgbClr val="333333"/>
                </a:solidFill>
              </a:defRPr>
            </a:pPr>
            <a:r>
              <a:t>1. Algorithmic Bias — AI systems inherit biases from training data</a:t>
            </a:r>
          </a:p>
          <a:p>
            <a:pPr>
              <a:spcAft>
                <a:spcPts val="600"/>
              </a:spcAft>
              <a:defRPr sz="1800">
                <a:solidFill>
                  <a:srgbClr val="333333"/>
                </a:solidFill>
              </a:defRPr>
            </a:pPr>
            <a:r>
              <a:t>Example: Facial recognition systems perform worse on darker skin tones</a:t>
            </a:r>
          </a:p>
          <a:p>
            <a:pPr>
              <a:spcAft>
                <a:spcPts val="600"/>
              </a:spcAft>
              <a:defRPr sz="1800">
                <a:solidFill>
                  <a:srgbClr val="333333"/>
                </a:solidFill>
              </a:defRPr>
            </a:pPr>
            <a:r>
              <a:t>SE Responsibility: Ensure diverse, representative training data; test for bias</a:t>
            </a:r>
          </a:p>
          <a:p>
            <a:pPr>
              <a:spcAft>
                <a:spcPts val="1000"/>
              </a:spcAft>
              <a:defRPr sz="1800">
                <a:solidFill>
                  <a:srgbClr val="333333"/>
                </a:solidFill>
              </a:defRPr>
            </a:pPr>
            <a:r>
              <a:t>2. Autonomous Decision-Making in Critical Situations — The 'trolley problem' in autonomous vehicles</a:t>
            </a:r>
          </a:p>
          <a:p>
            <a:pPr>
              <a:spcAft>
                <a:spcPts val="600"/>
              </a:spcAft>
              <a:defRPr sz="1800">
                <a:solidFill>
                  <a:srgbClr val="333333"/>
                </a:solidFill>
              </a:defRPr>
            </a:pPr>
            <a:r>
              <a:t>If crash unavoidable, who should the AI protect?</a:t>
            </a:r>
          </a:p>
          <a:p>
            <a:pPr>
              <a:spcAft>
                <a:spcPts val="600"/>
              </a:spcAft>
              <a:defRPr sz="1800">
                <a:solidFill>
                  <a:srgbClr val="333333"/>
                </a:solidFill>
              </a:defRPr>
            </a:pPr>
            <a:r>
              <a:t>SE Responsibility: Make value trade-offs explicit; involve stakeholders in ethical decisions</a:t>
            </a:r>
          </a:p>
          <a:p>
            <a:pPr>
              <a:spcAft>
                <a:spcPts val="1000"/>
              </a:spcAft>
              <a:defRPr sz="1800">
                <a:solidFill>
                  <a:srgbClr val="333333"/>
                </a:solidFill>
              </a:defRPr>
            </a:pPr>
            <a:r>
              <a:t>3. Accountability — If AI-designed system fails, who is responsible?</a:t>
            </a:r>
          </a:p>
          <a:p>
            <a:pPr>
              <a:spcAft>
                <a:spcPts val="600"/>
              </a:spcAft>
              <a:defRPr sz="1800">
                <a:solidFill>
                  <a:srgbClr val="333333"/>
                </a:solidFill>
              </a:defRPr>
            </a:pPr>
            <a:r>
              <a:t>The AI? The SE who deployed it? The organization?</a:t>
            </a:r>
          </a:p>
          <a:p>
            <a:pPr>
              <a:spcAft>
                <a:spcPts val="600"/>
              </a:spcAft>
              <a:defRPr sz="1800">
                <a:solidFill>
                  <a:srgbClr val="333333"/>
                </a:solidFill>
              </a:defRPr>
            </a:pPr>
            <a:r>
              <a:t>SE Responsibility: Maintain human oversight; document AI use; ensure interpretability</a:t>
            </a:r>
          </a:p>
          <a:p>
            <a:pPr>
              <a:spcAft>
                <a:spcPts val="1000"/>
              </a:spcAft>
              <a:defRPr sz="1800">
                <a:solidFill>
                  <a:srgbClr val="333333"/>
                </a:solidFill>
              </a:defRPr>
            </a:pPr>
            <a:r>
              <a:t>4. Job Displacement — AI automates some SE tasks</a:t>
            </a:r>
          </a:p>
          <a:p>
            <a:pPr>
              <a:spcAft>
                <a:spcPts val="600"/>
              </a:spcAft>
              <a:defRPr sz="1800">
                <a:solidFill>
                  <a:srgbClr val="333333"/>
                </a:solidFill>
              </a:defRPr>
            </a:pPr>
            <a:r>
              <a:t>What happens to engineers whose skills become automated?</a:t>
            </a:r>
          </a:p>
          <a:p>
            <a:pPr>
              <a:spcAft>
                <a:spcPts val="600"/>
              </a:spcAft>
              <a:defRPr sz="1800">
                <a:solidFill>
                  <a:srgbClr val="333333"/>
                </a:solidFill>
              </a:defRPr>
            </a:pPr>
            <a:r>
              <a:t>SE Responsibility: Continuous learning; focus on uniquely human skills (judgment, creativity, ethics)</a:t>
            </a:r>
          </a:p>
          <a:p>
            <a:pPr>
              <a:spcAft>
                <a:spcPts val="1000"/>
              </a:spcAft>
              <a:defRPr sz="1800">
                <a:solidFill>
                  <a:srgbClr val="333333"/>
                </a:solidFill>
              </a:defRPr>
            </a:pPr>
            <a:r>
              <a:t>5. Transparency and Explainability — Stakeholders need to understand system behavior</a:t>
            </a:r>
          </a:p>
          <a:p>
            <a:pPr>
              <a:spcAft>
                <a:spcPts val="600"/>
              </a:spcAft>
              <a:defRPr sz="1800">
                <a:solidFill>
                  <a:srgbClr val="333333"/>
                </a:solidFill>
              </a:defRPr>
            </a:pPr>
            <a:r>
              <a:t>'Black box' AI is problematic for safety-critical systems</a:t>
            </a:r>
          </a:p>
          <a:p>
            <a:pPr>
              <a:spcAft>
                <a:spcPts val="600"/>
              </a:spcAft>
              <a:defRPr sz="1800">
                <a:solidFill>
                  <a:srgbClr val="333333"/>
                </a:solidFill>
              </a:defRPr>
            </a:pPr>
            <a:r>
              <a:t>SE Responsibility: Use explainable AI techniques; maintain interpretability</a:t>
            </a:r>
          </a:p>
          <a:p>
            <a:pPr>
              <a:spcAft>
                <a:spcPts val="1000"/>
              </a:spcAft>
              <a:defRPr sz="1800">
                <a:solidFill>
                  <a:srgbClr val="333333"/>
                </a:solidFill>
              </a:defRPr>
            </a:pPr>
            <a:r>
              <a:t>Framework for Ethical AI Use in SE: — Beneficence: AI should benefit humans</a:t>
            </a:r>
          </a:p>
          <a:p>
            <a:pPr>
              <a:spcAft>
                <a:spcPts val="600"/>
              </a:spcAft>
              <a:defRPr sz="1800">
                <a:solidFill>
                  <a:srgbClr val="333333"/>
                </a:solidFill>
              </a:defRPr>
            </a:pPr>
            <a:r>
              <a:t>Non-maleficence: AI should not harm</a:t>
            </a:r>
          </a:p>
          <a:p>
            <a:pPr>
              <a:spcAft>
                <a:spcPts val="600"/>
              </a:spcAft>
              <a:defRPr sz="1800">
                <a:solidFill>
                  <a:srgbClr val="333333"/>
                </a:solidFill>
              </a:defRPr>
            </a:pPr>
            <a:r>
              <a:t>Autonomy: Preserve human decision-making authority</a:t>
            </a:r>
          </a:p>
          <a:p>
            <a:pPr>
              <a:spcAft>
                <a:spcPts val="600"/>
              </a:spcAft>
              <a:defRPr sz="1800">
                <a:solidFill>
                  <a:srgbClr val="333333"/>
                </a:solidFill>
              </a:defRPr>
            </a:pPr>
            <a:r>
              <a:t>Justice: AI benefits and risks should be fairly distributed</a:t>
            </a:r>
          </a:p>
          <a:p>
            <a:pPr>
              <a:spcAft>
                <a:spcPts val="600"/>
              </a:spcAft>
              <a:defRPr sz="1800">
                <a:solidFill>
                  <a:srgbClr val="333333"/>
                </a:solidFill>
              </a:defRPr>
            </a:pPr>
            <a:r>
              <a:t>Explicability: AI decisions should be explainable</a:t>
            </a:r>
          </a:p>
          <a:p>
            <a:pPr>
              <a:spcAft>
                <a:spcPts val="1000"/>
              </a:spcAft>
              <a:defRPr sz="1800">
                <a:solidFill>
                  <a:srgbClr val="333333"/>
                </a:solidFill>
              </a:defRPr>
            </a:pPr>
            <a:r>
              <a:t>As systems engineers, you are the ethical gatekeepers of AI deployment. —--</a:t>
            </a:r>
          </a:p>
          <a:p>
            <a:pPr>
              <a:spcAft>
                <a:spcPts val="1000"/>
              </a:spcAft>
              <a:defRPr sz="1800">
                <a:solidFill>
                  <a:srgbClr val="333333"/>
                </a:solidFill>
              </a:defRPr>
            </a:pPr>
            <a:r>
              <a:t>#### Part 3: DevOps for Systems Engineering (Slides 15-16, ~6 minutes)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Extending DevOps Beyond Software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Third trend: DevOps principles applied to systems engineering.</a:t>
            </a:r>
          </a:p>
          <a:p>
            <a:pPr>
              <a:spcAft>
                <a:spcPts val="1000"/>
              </a:spcAft>
              <a:defRPr sz="1800">
                <a:solidFill>
                  <a:srgbClr val="333333"/>
                </a:solidFill>
              </a:defRPr>
            </a:pPr>
            <a:r>
              <a:t>DevOps Background (Software Development): — Traditional: Developers write code, 'throw over wall' to operations</a:t>
            </a:r>
          </a:p>
          <a:p>
            <a:pPr>
              <a:spcAft>
                <a:spcPts val="600"/>
              </a:spcAft>
              <a:defRPr sz="1800">
                <a:solidFill>
                  <a:srgbClr val="333333"/>
                </a:solidFill>
              </a:defRPr>
            </a:pPr>
            <a:r>
              <a:t>Result: Conflicts, delays, finger-pointing</a:t>
            </a:r>
          </a:p>
          <a:p>
            <a:pPr>
              <a:spcAft>
                <a:spcPts val="600"/>
              </a:spcAft>
              <a:defRPr sz="1800">
                <a:solidFill>
                  <a:srgbClr val="333333"/>
                </a:solidFill>
              </a:defRPr>
            </a:pPr>
            <a:r>
              <a:t>DevOps Solution: Integrate development and operations</a:t>
            </a:r>
          </a:p>
          <a:p>
            <a:pPr>
              <a:spcAft>
                <a:spcPts val="600"/>
              </a:spcAft>
              <a:defRPr sz="1800">
                <a:solidFill>
                  <a:srgbClr val="333333"/>
                </a:solidFill>
              </a:defRPr>
            </a:pPr>
            <a:r>
              <a:t>Continuous integration (CI): Merge code frequently, test automatically</a:t>
            </a:r>
          </a:p>
          <a:p>
            <a:pPr>
              <a:spcAft>
                <a:spcPts val="600"/>
              </a:spcAft>
              <a:defRPr sz="1800">
                <a:solidFill>
                  <a:srgbClr val="333333"/>
                </a:solidFill>
              </a:defRPr>
            </a:pPr>
            <a:r>
              <a:t>Continuous delivery (CD): Deploy frequently, reliably</a:t>
            </a:r>
          </a:p>
          <a:p>
            <a:pPr>
              <a:spcAft>
                <a:spcPts val="600"/>
              </a:spcAft>
              <a:defRPr sz="1800">
                <a:solidFill>
                  <a:srgbClr val="333333"/>
                </a:solidFill>
              </a:defRPr>
            </a:pPr>
            <a:r>
              <a:t>Automation, monitoring, feedback loops</a:t>
            </a:r>
          </a:p>
          <a:p>
            <a:pPr>
              <a:spcAft>
                <a:spcPts val="1000"/>
              </a:spcAft>
              <a:defRPr sz="1800">
                <a:solidFill>
                  <a:srgbClr val="333333"/>
                </a:solidFill>
              </a:defRPr>
            </a:pPr>
            <a:r>
              <a:t>Can we apply DevOps to SYSTEMS (hardware + software)?</a:t>
            </a:r>
          </a:p>
          <a:p>
            <a:pPr>
              <a:spcAft>
                <a:spcPts val="1000"/>
              </a:spcAft>
              <a:defRPr sz="1800">
                <a:solidFill>
                  <a:srgbClr val="333333"/>
                </a:solidFill>
              </a:defRPr>
            </a:pPr>
            <a:r>
              <a:t>Yes - with adaptations. Emerging concept: DevSecOps for Systems Engineering.</a:t>
            </a:r>
          </a:p>
          <a:p>
            <a:pPr>
              <a:spcAft>
                <a:spcPts val="1000"/>
              </a:spcAft>
              <a:defRPr sz="1800">
                <a:solidFill>
                  <a:srgbClr val="333333"/>
                </a:solidFill>
              </a:defRPr>
            </a:pPr>
            <a:r>
              <a:t>DevOps for SE Principles:</a:t>
            </a:r>
          </a:p>
          <a:p>
            <a:pPr>
              <a:spcAft>
                <a:spcPts val="1000"/>
              </a:spcAft>
              <a:defRPr sz="1800">
                <a:solidFill>
                  <a:srgbClr val="333333"/>
                </a:solidFill>
              </a:defRPr>
            </a:pPr>
            <a:r>
              <a:t>1. Continuous Integration - System Level — Integrate subsystems frequently (weekly, not at end)</a:t>
            </a:r>
          </a:p>
          <a:p>
            <a:pPr>
              <a:spcAft>
                <a:spcPts val="600"/>
              </a:spcAft>
              <a:defRPr sz="1800">
                <a:solidFill>
                  <a:srgbClr val="333333"/>
                </a:solidFill>
              </a:defRPr>
            </a:pPr>
            <a:r>
              <a:t>Automated testing of integrations</a:t>
            </a:r>
          </a:p>
          <a:p>
            <a:pPr>
              <a:spcAft>
                <a:spcPts val="600"/>
              </a:spcAft>
              <a:defRPr sz="1800">
                <a:solidFill>
                  <a:srgbClr val="333333"/>
                </a:solidFill>
              </a:defRPr>
            </a:pPr>
            <a:r>
              <a:t>Example: BMW integrates vehicle systems weekly in virtual environment</a:t>
            </a:r>
          </a:p>
          <a:p>
            <a:pPr>
              <a:spcAft>
                <a:spcPts val="1000"/>
              </a:spcAft>
              <a:defRPr sz="1800">
                <a:solidFill>
                  <a:srgbClr val="333333"/>
                </a:solidFill>
              </a:defRPr>
            </a:pPr>
            <a:r>
              <a:t>2. Continuous Verification — Automated testing pipelines for system models</a:t>
            </a:r>
          </a:p>
          <a:p>
            <a:pPr>
              <a:spcAft>
                <a:spcPts val="600"/>
              </a:spcAft>
              <a:defRPr sz="1800">
                <a:solidFill>
                  <a:srgbClr val="333333"/>
                </a:solidFill>
              </a:defRPr>
            </a:pPr>
            <a:r>
              <a:t>Every model change triggers verification suite</a:t>
            </a:r>
          </a:p>
          <a:p>
            <a:pPr>
              <a:spcAft>
                <a:spcPts val="600"/>
              </a:spcAft>
              <a:defRPr sz="1800">
                <a:solidFill>
                  <a:srgbClr val="333333"/>
                </a:solidFill>
              </a:defRPr>
            </a:pPr>
            <a:r>
              <a:t>Example: MBSE models auto-tested against requirements</a:t>
            </a:r>
          </a:p>
          <a:p>
            <a:pPr>
              <a:spcAft>
                <a:spcPts val="1000"/>
              </a:spcAft>
              <a:defRPr sz="1800">
                <a:solidFill>
                  <a:srgbClr val="333333"/>
                </a:solidFill>
              </a:defRPr>
            </a:pPr>
            <a:r>
              <a:t>3. Continuous Deployment (for software-defined systems) — OTA updates to vehicles in field</a:t>
            </a:r>
          </a:p>
          <a:p>
            <a:pPr>
              <a:spcAft>
                <a:spcPts val="600"/>
              </a:spcAft>
              <a:defRPr sz="1800">
                <a:solidFill>
                  <a:srgbClr val="333333"/>
                </a:solidFill>
              </a:defRPr>
            </a:pPr>
            <a:r>
              <a:t>Tesla deploys software updates every 2-4 weeks</a:t>
            </a:r>
          </a:p>
          <a:p>
            <a:pPr>
              <a:spcAft>
                <a:spcPts val="600"/>
              </a:spcAft>
              <a:defRPr sz="1800">
                <a:solidFill>
                  <a:srgbClr val="333333"/>
                </a:solidFill>
              </a:defRPr>
            </a:pPr>
            <a:r>
              <a:t>Requires robust rollback mechanisms</a:t>
            </a:r>
          </a:p>
          <a:p>
            <a:pPr>
              <a:spcAft>
                <a:spcPts val="1000"/>
              </a:spcAft>
              <a:defRPr sz="1800">
                <a:solidFill>
                  <a:srgbClr val="333333"/>
                </a:solidFill>
              </a:defRPr>
            </a:pPr>
            <a:r>
              <a:t>4. Shift-Left Security — Cybersecurity testing early in development</a:t>
            </a:r>
          </a:p>
          <a:p>
            <a:pPr>
              <a:spcAft>
                <a:spcPts val="600"/>
              </a:spcAft>
              <a:defRPr sz="1800">
                <a:solidFill>
                  <a:srgbClr val="333333"/>
                </a:solidFill>
              </a:defRPr>
            </a:pPr>
            <a:r>
              <a:t>Automated security scans of system architectures</a:t>
            </a:r>
          </a:p>
          <a:p>
            <a:pPr>
              <a:spcAft>
                <a:spcPts val="1000"/>
              </a:spcAft>
              <a:defRPr sz="1800">
                <a:solidFill>
                  <a:srgbClr val="333333"/>
                </a:solidFill>
              </a:defRPr>
            </a:pPr>
            <a:r>
              <a:t>5. Infrastructure as Code — Test benches, HIL rigs defined in code</a:t>
            </a:r>
          </a:p>
          <a:p>
            <a:pPr>
              <a:spcAft>
                <a:spcPts val="600"/>
              </a:spcAft>
              <a:defRPr sz="1800">
                <a:solidFill>
                  <a:srgbClr val="333333"/>
                </a:solidFill>
              </a:defRPr>
            </a:pPr>
            <a:r>
              <a:t>Reproducible test environments</a:t>
            </a:r>
          </a:p>
          <a:p>
            <a:pPr>
              <a:spcAft>
                <a:spcPts val="1000"/>
              </a:spcAft>
              <a:defRPr sz="1800">
                <a:solidFill>
                  <a:srgbClr val="333333"/>
                </a:solidFill>
              </a:defRPr>
            </a:pPr>
            <a:r>
              <a:t>6. Monitoring and Feedback — Fleet data informs development</a:t>
            </a:r>
          </a:p>
          <a:p>
            <a:pPr>
              <a:spcAft>
                <a:spcPts val="600"/>
              </a:spcAft>
              <a:defRPr sz="1800">
                <a:solidFill>
                  <a:srgbClr val="333333"/>
                </a:solidFill>
              </a:defRPr>
            </a:pPr>
            <a:r>
              <a:t>Closes the loop from operations back to engineering</a:t>
            </a:r>
          </a:p>
          <a:p>
            <a:pPr>
              <a:spcAft>
                <a:spcPts val="1000"/>
              </a:spcAft>
              <a:defRPr sz="1800">
                <a:solidFill>
                  <a:srgbClr val="333333"/>
                </a:solidFill>
              </a:defRPr>
            </a:pPr>
            <a:r>
              <a:t>Key Enabler: Digital engineering and digital thread provide the data infrastructure for DevOps practices.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Case Study - Tesla's DevOps Approach</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Tesla is the poster child for DevOps applied to automotive systems engineering.</a:t>
            </a:r>
          </a:p>
          <a:p>
            <a:pPr>
              <a:spcAft>
                <a:spcPts val="1000"/>
              </a:spcAft>
              <a:defRPr sz="1800">
                <a:solidFill>
                  <a:srgbClr val="333333"/>
                </a:solidFill>
              </a:defRPr>
            </a:pPr>
            <a:r>
              <a:t>Tesla's Approach:</a:t>
            </a:r>
          </a:p>
          <a:p>
            <a:pPr>
              <a:spcAft>
                <a:spcPts val="1000"/>
              </a:spcAft>
              <a:defRPr sz="1800">
                <a:solidFill>
                  <a:srgbClr val="333333"/>
                </a:solidFill>
              </a:defRPr>
            </a:pPr>
            <a:r>
              <a:t>Continuous Integration: — Software builds integrated and tested daily</a:t>
            </a:r>
          </a:p>
          <a:p>
            <a:pPr>
              <a:spcAft>
                <a:spcPts val="600"/>
              </a:spcAft>
              <a:defRPr sz="1800">
                <a:solidFill>
                  <a:srgbClr val="333333"/>
                </a:solidFill>
              </a:defRPr>
            </a:pPr>
            <a:r>
              <a:t>Virtual vehicle simulation environment</a:t>
            </a:r>
          </a:p>
          <a:p>
            <a:pPr>
              <a:spcAft>
                <a:spcPts val="600"/>
              </a:spcAft>
              <a:defRPr sz="1800">
                <a:solidFill>
                  <a:srgbClr val="333333"/>
                </a:solidFill>
              </a:defRPr>
            </a:pPr>
            <a:r>
              <a:t>Hardware-in-the-loop (HIL) testing automated</a:t>
            </a:r>
          </a:p>
          <a:p>
            <a:pPr>
              <a:spcAft>
                <a:spcPts val="1000"/>
              </a:spcAft>
              <a:defRPr sz="1800">
                <a:solidFill>
                  <a:srgbClr val="333333"/>
                </a:solidFill>
              </a:defRPr>
            </a:pPr>
            <a:r>
              <a:t>Continuous Deployment: — ~4-week release cycles for major updates</a:t>
            </a:r>
          </a:p>
          <a:p>
            <a:pPr>
              <a:spcAft>
                <a:spcPts val="600"/>
              </a:spcAft>
              <a:defRPr sz="1800">
                <a:solidFill>
                  <a:srgbClr val="333333"/>
                </a:solidFill>
              </a:defRPr>
            </a:pPr>
            <a:r>
              <a:t>OTA deployment to entire fleet (millions of vehicles)</a:t>
            </a:r>
          </a:p>
          <a:p>
            <a:pPr>
              <a:spcAft>
                <a:spcPts val="600"/>
              </a:spcAft>
              <a:defRPr sz="1800">
                <a:solidFill>
                  <a:srgbClr val="333333"/>
                </a:solidFill>
              </a:defRPr>
            </a:pPr>
            <a:r>
              <a:t>Phased rollout: 'Early access' users → wider deployment</a:t>
            </a:r>
          </a:p>
          <a:p>
            <a:pPr>
              <a:spcAft>
                <a:spcPts val="1000"/>
              </a:spcAft>
              <a:defRPr sz="1800">
                <a:solidFill>
                  <a:srgbClr val="333333"/>
                </a:solidFill>
              </a:defRPr>
            </a:pPr>
            <a:r>
              <a:t>Fleet as Development Platform: — Every vehicle is a sensor platform</a:t>
            </a:r>
          </a:p>
          <a:p>
            <a:pPr>
              <a:spcAft>
                <a:spcPts val="600"/>
              </a:spcAft>
              <a:defRPr sz="1800">
                <a:solidFill>
                  <a:srgbClr val="333333"/>
                </a:solidFill>
              </a:defRPr>
            </a:pPr>
            <a:r>
              <a:t>Collect billions of data points daily</a:t>
            </a:r>
          </a:p>
          <a:p>
            <a:pPr>
              <a:spcAft>
                <a:spcPts val="600"/>
              </a:spcAft>
              <a:defRPr sz="1800">
                <a:solidFill>
                  <a:srgbClr val="333333"/>
                </a:solidFill>
              </a:defRPr>
            </a:pPr>
            <a:r>
              <a:t>Use data to improve algorithms (shadow mode testing)</a:t>
            </a:r>
          </a:p>
          <a:p>
            <a:pPr>
              <a:spcAft>
                <a:spcPts val="1000"/>
              </a:spcAft>
              <a:defRPr sz="1800">
                <a:solidFill>
                  <a:srgbClr val="333333"/>
                </a:solidFill>
              </a:defRPr>
            </a:pPr>
            <a:r>
              <a:t>Rapid Iteration: — Feature development: weeks, not years</a:t>
            </a:r>
          </a:p>
          <a:p>
            <a:pPr>
              <a:spcAft>
                <a:spcPts val="600"/>
              </a:spcAft>
              <a:defRPr sz="1800">
                <a:solidFill>
                  <a:srgbClr val="333333"/>
                </a:solidFill>
              </a:defRPr>
            </a:pPr>
            <a:r>
              <a:t>Example: Navigate on Autopilot developed and deployed in months</a:t>
            </a:r>
          </a:p>
          <a:p>
            <a:pPr>
              <a:spcAft>
                <a:spcPts val="600"/>
              </a:spcAft>
              <a:defRPr sz="1800">
                <a:solidFill>
                  <a:srgbClr val="333333"/>
                </a:solidFill>
              </a:defRPr>
            </a:pPr>
            <a:r>
              <a:t>Compare: Traditional OEM feature development takes 3-5 years</a:t>
            </a:r>
          </a:p>
          <a:p>
            <a:pPr>
              <a:spcAft>
                <a:spcPts val="1000"/>
              </a:spcAft>
              <a:defRPr sz="1800">
                <a:solidFill>
                  <a:srgbClr val="333333"/>
                </a:solidFill>
              </a:defRPr>
            </a:pPr>
            <a:r>
              <a:t>Challenges Tesla Faces:</a:t>
            </a:r>
          </a:p>
          <a:p>
            <a:pPr>
              <a:spcAft>
                <a:spcPts val="1000"/>
              </a:spcAft>
              <a:defRPr sz="1800">
                <a:solidFill>
                  <a:srgbClr val="333333"/>
                </a:solidFill>
              </a:defRPr>
            </a:pPr>
            <a:r>
              <a:t>Quality Control: — Rapid updates can introduce bugs</a:t>
            </a:r>
          </a:p>
          <a:p>
            <a:pPr>
              <a:spcAft>
                <a:spcPts val="600"/>
              </a:spcAft>
              <a:defRPr sz="1800">
                <a:solidFill>
                  <a:srgbClr val="333333"/>
                </a:solidFill>
              </a:defRPr>
            </a:pPr>
            <a:r>
              <a:t>Recalls for software issues</a:t>
            </a:r>
          </a:p>
          <a:p>
            <a:pPr>
              <a:spcAft>
                <a:spcPts val="600"/>
              </a:spcAft>
              <a:defRPr sz="1800">
                <a:solidFill>
                  <a:srgbClr val="333333"/>
                </a:solidFill>
              </a:defRPr>
            </a:pPr>
            <a:r>
              <a:t>Balance speed with thorough testing</a:t>
            </a:r>
          </a:p>
          <a:p>
            <a:pPr>
              <a:spcAft>
                <a:spcPts val="1000"/>
              </a:spcAft>
              <a:defRPr sz="1800">
                <a:solidFill>
                  <a:srgbClr val="333333"/>
                </a:solidFill>
              </a:defRPr>
            </a:pPr>
            <a:r>
              <a:t>Regulatory Compliance: — How do regulators certify a continuously changing system?</a:t>
            </a:r>
          </a:p>
          <a:p>
            <a:pPr>
              <a:spcAft>
                <a:spcPts val="600"/>
              </a:spcAft>
              <a:defRPr sz="1800">
                <a:solidFill>
                  <a:srgbClr val="333333"/>
                </a:solidFill>
              </a:defRPr>
            </a:pPr>
            <a:r>
              <a:t>Current regulations assume static vehicles</a:t>
            </a:r>
          </a:p>
          <a:p>
            <a:pPr>
              <a:spcAft>
                <a:spcPts val="600"/>
              </a:spcAft>
              <a:defRPr sz="1800">
                <a:solidFill>
                  <a:srgbClr val="333333"/>
                </a:solidFill>
              </a:defRPr>
            </a:pPr>
            <a:r>
              <a:t>Tesla working with NHTSA on new frameworks</a:t>
            </a:r>
          </a:p>
          <a:p>
            <a:pPr>
              <a:spcAft>
                <a:spcPts val="1000"/>
              </a:spcAft>
              <a:defRPr sz="1800">
                <a:solidFill>
                  <a:srgbClr val="333333"/>
                </a:solidFill>
              </a:defRPr>
            </a:pPr>
            <a:r>
              <a:t>Cybersecurity: — OTA is attack vector</a:t>
            </a:r>
          </a:p>
          <a:p>
            <a:pPr>
              <a:spcAft>
                <a:spcPts val="600"/>
              </a:spcAft>
              <a:defRPr sz="1800">
                <a:solidFill>
                  <a:srgbClr val="333333"/>
                </a:solidFill>
              </a:defRPr>
            </a:pPr>
            <a:r>
              <a:t>Must ensure authenticated, encrypted updates</a:t>
            </a:r>
          </a:p>
          <a:p>
            <a:pPr>
              <a:spcAft>
                <a:spcPts val="600"/>
              </a:spcAft>
              <a:defRPr sz="1800">
                <a:solidFill>
                  <a:srgbClr val="333333"/>
                </a:solidFill>
              </a:defRPr>
            </a:pPr>
            <a:r>
              <a:t>Rollback capability if update causes issues</a:t>
            </a:r>
          </a:p>
          <a:p>
            <a:pPr>
              <a:spcAft>
                <a:spcPts val="1000"/>
              </a:spcAft>
              <a:defRPr sz="1800">
                <a:solidFill>
                  <a:srgbClr val="333333"/>
                </a:solidFill>
              </a:defRPr>
            </a:pPr>
            <a:r>
              <a:t>Lessons for Other OEMs: — DevOps works for automotive systems, but requires:</a:t>
            </a:r>
          </a:p>
          <a:p>
            <a:pPr>
              <a:spcAft>
                <a:spcPts val="600"/>
              </a:spcAft>
              <a:defRPr sz="1800">
                <a:solidFill>
                  <a:srgbClr val="333333"/>
                </a:solidFill>
              </a:defRPr>
            </a:pPr>
            <a:r>
              <a:t>Culture change (embrace iteration)</a:t>
            </a:r>
          </a:p>
          <a:p>
            <a:pPr>
              <a:spcAft>
                <a:spcPts val="600"/>
              </a:spcAft>
              <a:defRPr sz="1800">
                <a:solidFill>
                  <a:srgbClr val="333333"/>
                </a:solidFill>
              </a:defRPr>
            </a:pPr>
            <a:r>
              <a:t>Architecture change (software-defined vehicles)</a:t>
            </a:r>
          </a:p>
          <a:p>
            <a:pPr>
              <a:spcAft>
                <a:spcPts val="600"/>
              </a:spcAft>
              <a:defRPr sz="1800">
                <a:solidFill>
                  <a:srgbClr val="333333"/>
                </a:solidFill>
              </a:defRPr>
            </a:pPr>
            <a:r>
              <a:t>Process change (automation, CI/CD pipelines)</a:t>
            </a:r>
          </a:p>
          <a:p>
            <a:pPr>
              <a:spcAft>
                <a:spcPts val="600"/>
              </a:spcAft>
              <a:defRPr sz="1800">
                <a:solidFill>
                  <a:srgbClr val="333333"/>
                </a:solidFill>
              </a:defRPr>
            </a:pPr>
            <a:r>
              <a:t>Regulatory engagement</a:t>
            </a:r>
          </a:p>
          <a:p>
            <a:pPr>
              <a:spcAft>
                <a:spcPts val="1000"/>
              </a:spcAft>
              <a:defRPr sz="1800">
                <a:solidFill>
                  <a:srgbClr val="333333"/>
                </a:solidFill>
              </a:defRPr>
            </a:pPr>
            <a:r>
              <a:t>This is the future of automotive development - continuous, data-driven, rapid. —--</a:t>
            </a:r>
          </a:p>
          <a:p>
            <a:pPr>
              <a:spcAft>
                <a:spcPts val="1000"/>
              </a:spcAft>
              <a:defRPr sz="1800">
                <a:solidFill>
                  <a:srgbClr val="333333"/>
                </a:solidFill>
              </a:defRPr>
            </a:pPr>
            <a:r>
              <a:t>#### Part 4: Future of Agile Systems Engineering (Slides 17-18, ~6 minutes)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Agile SE - From Software to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Fourth trend: Agile methodologies extending from software to systems engineering.</a:t>
            </a:r>
          </a:p>
          <a:p>
            <a:pPr>
              <a:spcAft>
                <a:spcPts val="1000"/>
              </a:spcAft>
              <a:defRPr sz="1800">
                <a:solidFill>
                  <a:srgbClr val="333333"/>
                </a:solidFill>
              </a:defRPr>
            </a:pPr>
            <a:r>
              <a:t>We discussed Agile SE in Session 9. Let's look at where it's heading.</a:t>
            </a:r>
          </a:p>
          <a:p>
            <a:pPr>
              <a:spcAft>
                <a:spcPts val="1000"/>
              </a:spcAft>
              <a:defRPr sz="1800">
                <a:solidFill>
                  <a:srgbClr val="333333"/>
                </a:solidFill>
              </a:defRPr>
            </a:pPr>
            <a:r>
              <a:t>Agile Software Development (Recap): — Iterative, incremental development</a:t>
            </a:r>
          </a:p>
          <a:p>
            <a:pPr>
              <a:spcAft>
                <a:spcPts val="600"/>
              </a:spcAft>
              <a:defRPr sz="1800">
                <a:solidFill>
                  <a:srgbClr val="333333"/>
                </a:solidFill>
              </a:defRPr>
            </a:pPr>
            <a:r>
              <a:t>Short sprints (2-4 weeks)</a:t>
            </a:r>
          </a:p>
          <a:p>
            <a:pPr>
              <a:spcAft>
                <a:spcPts val="600"/>
              </a:spcAft>
              <a:defRPr sz="1800">
                <a:solidFill>
                  <a:srgbClr val="333333"/>
                </a:solidFill>
              </a:defRPr>
            </a:pPr>
            <a:r>
              <a:t>Continuous stakeholder feedback</a:t>
            </a:r>
          </a:p>
          <a:p>
            <a:pPr>
              <a:spcAft>
                <a:spcPts val="600"/>
              </a:spcAft>
              <a:defRPr sz="1800">
                <a:solidFill>
                  <a:srgbClr val="333333"/>
                </a:solidFill>
              </a:defRPr>
            </a:pPr>
            <a:r>
              <a:t>Embrace change</a:t>
            </a:r>
          </a:p>
          <a:p>
            <a:pPr>
              <a:spcAft>
                <a:spcPts val="600"/>
              </a:spcAft>
              <a:defRPr sz="1800">
                <a:solidFill>
                  <a:srgbClr val="333333"/>
                </a:solidFill>
              </a:defRPr>
            </a:pPr>
            <a:r>
              <a:t>Works well for software (easy to iterate)</a:t>
            </a:r>
          </a:p>
          <a:p>
            <a:pPr>
              <a:spcAft>
                <a:spcPts val="1000"/>
              </a:spcAft>
              <a:defRPr sz="1800">
                <a:solidFill>
                  <a:srgbClr val="333333"/>
                </a:solidFill>
              </a:defRPr>
            </a:pPr>
            <a:r>
              <a:t>Challenge for Systems: — Hardware is expensive to change</a:t>
            </a:r>
          </a:p>
          <a:p>
            <a:pPr>
              <a:spcAft>
                <a:spcPts val="600"/>
              </a:spcAft>
              <a:defRPr sz="1800">
                <a:solidFill>
                  <a:srgbClr val="333333"/>
                </a:solidFill>
              </a:defRPr>
            </a:pPr>
            <a:r>
              <a:t>Long lead times for procurement</a:t>
            </a:r>
          </a:p>
          <a:p>
            <a:pPr>
              <a:spcAft>
                <a:spcPts val="600"/>
              </a:spcAft>
              <a:defRPr sz="1800">
                <a:solidFill>
                  <a:srgbClr val="333333"/>
                </a:solidFill>
              </a:defRPr>
            </a:pPr>
            <a:r>
              <a:t>Safety certification requires upfront rigor</a:t>
            </a:r>
          </a:p>
          <a:p>
            <a:pPr>
              <a:spcAft>
                <a:spcPts val="600"/>
              </a:spcAft>
              <a:defRPr sz="1800">
                <a:solidFill>
                  <a:srgbClr val="333333"/>
                </a:solidFill>
              </a:defRPr>
            </a:pPr>
            <a:r>
              <a:t>How do we apply agile principles?</a:t>
            </a:r>
          </a:p>
          <a:p>
            <a:pPr>
              <a:spcAft>
                <a:spcPts val="1000"/>
              </a:spcAft>
              <a:defRPr sz="1800">
                <a:solidFill>
                  <a:srgbClr val="333333"/>
                </a:solidFill>
              </a:defRPr>
            </a:pPr>
            <a:r>
              <a:t>Evolution of Agile SE:</a:t>
            </a:r>
          </a:p>
          <a:p>
            <a:pPr>
              <a:spcAft>
                <a:spcPts val="1000"/>
              </a:spcAft>
              <a:defRPr sz="1800">
                <a:solidFill>
                  <a:srgbClr val="333333"/>
                </a:solidFill>
              </a:defRPr>
            </a:pPr>
            <a:r>
              <a:t>Phase 1 (2010-2015): Agile for Software in Systems — Software components developed using Agile</a:t>
            </a:r>
          </a:p>
          <a:p>
            <a:pPr>
              <a:spcAft>
                <a:spcPts val="600"/>
              </a:spcAft>
              <a:defRPr sz="1800">
                <a:solidFill>
                  <a:srgbClr val="333333"/>
                </a:solidFill>
              </a:defRPr>
            </a:pPr>
            <a:r>
              <a:t>Hardware still waterfall</a:t>
            </a:r>
          </a:p>
          <a:p>
            <a:pPr>
              <a:spcAft>
                <a:spcPts val="600"/>
              </a:spcAft>
              <a:defRPr sz="1800">
                <a:solidFill>
                  <a:srgbClr val="333333"/>
                </a:solidFill>
              </a:defRPr>
            </a:pPr>
            <a:r>
              <a:t>Integration challenges at interfaces</a:t>
            </a:r>
          </a:p>
          <a:p>
            <a:pPr>
              <a:spcAft>
                <a:spcPts val="1000"/>
              </a:spcAft>
              <a:defRPr sz="1800">
                <a:solidFill>
                  <a:srgbClr val="333333"/>
                </a:solidFill>
              </a:defRPr>
            </a:pPr>
            <a:r>
              <a:t>Phase 2 (2015-2020): Hybrid Approaches — 'Agile within a waterfall envelope'</a:t>
            </a:r>
          </a:p>
          <a:p>
            <a:pPr>
              <a:spcAft>
                <a:spcPts val="600"/>
              </a:spcAft>
              <a:defRPr sz="1800">
                <a:solidFill>
                  <a:srgbClr val="333333"/>
                </a:solidFill>
              </a:defRPr>
            </a:pPr>
            <a:r>
              <a:t>High-level requirements stable (waterfall)</a:t>
            </a:r>
          </a:p>
          <a:p>
            <a:pPr>
              <a:spcAft>
                <a:spcPts val="600"/>
              </a:spcAft>
              <a:defRPr sz="1800">
                <a:solidFill>
                  <a:srgbClr val="333333"/>
                </a:solidFill>
              </a:defRPr>
            </a:pPr>
            <a:r>
              <a:t>Detailed implementation agile</a:t>
            </a:r>
          </a:p>
          <a:p>
            <a:pPr>
              <a:spcAft>
                <a:spcPts val="600"/>
              </a:spcAft>
              <a:defRPr sz="1800">
                <a:solidFill>
                  <a:srgbClr val="333333"/>
                </a:solidFill>
              </a:defRPr>
            </a:pPr>
            <a:r>
              <a:t>Example: SAFe (Scaled Agile Framework)</a:t>
            </a:r>
          </a:p>
          <a:p>
            <a:pPr>
              <a:spcAft>
                <a:spcPts val="1000"/>
              </a:spcAft>
              <a:defRPr sz="1800">
                <a:solidFill>
                  <a:srgbClr val="333333"/>
                </a:solidFill>
              </a:defRPr>
            </a:pPr>
            <a:r>
              <a:t>Phase 3 (2020-Present): Model-Based Agile SE — MBSE enables agile for full systems</a:t>
            </a:r>
          </a:p>
          <a:p>
            <a:pPr>
              <a:spcAft>
                <a:spcPts val="600"/>
              </a:spcAft>
              <a:defRPr sz="1800">
                <a:solidFill>
                  <a:srgbClr val="333333"/>
                </a:solidFill>
              </a:defRPr>
            </a:pPr>
            <a:r>
              <a:t>Iterate on models, not hardware</a:t>
            </a:r>
          </a:p>
          <a:p>
            <a:pPr>
              <a:spcAft>
                <a:spcPts val="600"/>
              </a:spcAft>
              <a:defRPr sz="1800">
                <a:solidFill>
                  <a:srgbClr val="333333"/>
                </a:solidFill>
              </a:defRPr>
            </a:pPr>
            <a:r>
              <a:t>Virtual prototyping reduces physical build cycles</a:t>
            </a:r>
          </a:p>
          <a:p>
            <a:pPr>
              <a:spcAft>
                <a:spcPts val="600"/>
              </a:spcAft>
              <a:defRPr sz="1800">
                <a:solidFill>
                  <a:srgbClr val="333333"/>
                </a:solidFill>
              </a:defRPr>
            </a:pPr>
            <a:r>
              <a:t>Hardware defined late, when requirements stable</a:t>
            </a:r>
          </a:p>
          <a:p>
            <a:pPr>
              <a:spcAft>
                <a:spcPts val="1000"/>
              </a:spcAft>
              <a:defRPr sz="1800">
                <a:solidFill>
                  <a:srgbClr val="333333"/>
                </a:solidFill>
              </a:defRPr>
            </a:pPr>
            <a:r>
              <a:t>Phase 4 (Emerging): Continuous Systems Engineering — Enabled by digital twins, OTA updates</a:t>
            </a:r>
          </a:p>
          <a:p>
            <a:pPr>
              <a:spcAft>
                <a:spcPts val="600"/>
              </a:spcAft>
              <a:defRPr sz="1800">
                <a:solidFill>
                  <a:srgbClr val="333333"/>
                </a:solidFill>
              </a:defRPr>
            </a:pPr>
            <a:r>
              <a:t>System continues evolving after deployment</a:t>
            </a:r>
          </a:p>
          <a:p>
            <a:pPr>
              <a:spcAft>
                <a:spcPts val="600"/>
              </a:spcAft>
              <a:defRPr sz="1800">
                <a:solidFill>
                  <a:srgbClr val="333333"/>
                </a:solidFill>
              </a:defRPr>
            </a:pPr>
            <a:r>
              <a:t>Requirements emerge from field data</a:t>
            </a:r>
          </a:p>
          <a:p>
            <a:pPr>
              <a:spcAft>
                <a:spcPts val="600"/>
              </a:spcAft>
              <a:defRPr sz="1800">
                <a:solidFill>
                  <a:srgbClr val="333333"/>
                </a:solidFill>
              </a:defRPr>
            </a:pPr>
            <a:r>
              <a:t>Lines blur between development and operations</a:t>
            </a:r>
          </a:p>
          <a:p>
            <a:pPr>
              <a:spcAft>
                <a:spcPts val="1000"/>
              </a:spcAft>
              <a:defRPr sz="1800">
                <a:solidFill>
                  <a:srgbClr val="333333"/>
                </a:solidFill>
              </a:defRPr>
            </a:pPr>
            <a:r>
              <a:t>This is the trajectory: toward continuous, adaptive systems engineering.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Scaling Agile - SAFe for Automotive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For large systems like vehicles, we need Scaled Agile frameworks.</a:t>
            </a:r>
          </a:p>
          <a:p>
            <a:pPr>
              <a:spcAft>
                <a:spcPts val="1000"/>
              </a:spcAft>
              <a:defRPr sz="1800">
                <a:solidFill>
                  <a:srgbClr val="333333"/>
                </a:solidFill>
              </a:defRPr>
            </a:pPr>
            <a:r>
              <a:t>SAFe (Scaled Agile Framework) in Automotive:</a:t>
            </a:r>
          </a:p>
          <a:p>
            <a:pPr>
              <a:spcAft>
                <a:spcPts val="1000"/>
              </a:spcAft>
              <a:defRPr sz="1800">
                <a:solidFill>
                  <a:srgbClr val="333333"/>
                </a:solidFill>
              </a:defRPr>
            </a:pPr>
            <a:r>
              <a:t>Team Level (Agile Teams): — 5-9 person teams (software, controls, testing)</a:t>
            </a:r>
          </a:p>
          <a:p>
            <a:pPr>
              <a:spcAft>
                <a:spcPts val="600"/>
              </a:spcAft>
              <a:defRPr sz="1800">
                <a:solidFill>
                  <a:srgbClr val="333333"/>
                </a:solidFill>
              </a:defRPr>
            </a:pPr>
            <a:r>
              <a:t>2-week sprints</a:t>
            </a:r>
          </a:p>
          <a:p>
            <a:pPr>
              <a:spcAft>
                <a:spcPts val="600"/>
              </a:spcAft>
              <a:defRPr sz="1800">
                <a:solidFill>
                  <a:srgbClr val="333333"/>
                </a:solidFill>
              </a:defRPr>
            </a:pPr>
            <a:r>
              <a:t>Work on features for specific subsystems</a:t>
            </a:r>
          </a:p>
          <a:p>
            <a:pPr>
              <a:spcAft>
                <a:spcPts val="600"/>
              </a:spcAft>
              <a:defRPr sz="1800">
                <a:solidFill>
                  <a:srgbClr val="333333"/>
                </a:solidFill>
              </a:defRPr>
            </a:pPr>
            <a:r>
              <a:t>Example: Adaptive Cruise Control feature team</a:t>
            </a:r>
          </a:p>
          <a:p>
            <a:pPr>
              <a:spcAft>
                <a:spcPts val="1000"/>
              </a:spcAft>
              <a:defRPr sz="1800">
                <a:solidFill>
                  <a:srgbClr val="333333"/>
                </a:solidFill>
              </a:defRPr>
            </a:pPr>
            <a:r>
              <a:t>Program Level (Agile Release Train - ART): — 50-125 people</a:t>
            </a:r>
          </a:p>
          <a:p>
            <a:pPr>
              <a:spcAft>
                <a:spcPts val="600"/>
              </a:spcAft>
              <a:defRPr sz="1800">
                <a:solidFill>
                  <a:srgbClr val="333333"/>
                </a:solidFill>
              </a:defRPr>
            </a:pPr>
            <a:r>
              <a:t>Develop major system (e.g., ADAS system)</a:t>
            </a:r>
          </a:p>
          <a:p>
            <a:pPr>
              <a:spcAft>
                <a:spcPts val="600"/>
              </a:spcAft>
              <a:defRPr sz="1800">
                <a:solidFill>
                  <a:srgbClr val="333333"/>
                </a:solidFill>
              </a:defRPr>
            </a:pPr>
            <a:r>
              <a:t>Program Increments (PI): 10-12 weeks</a:t>
            </a:r>
          </a:p>
          <a:p>
            <a:pPr>
              <a:spcAft>
                <a:spcPts val="600"/>
              </a:spcAft>
              <a:defRPr sz="1800">
                <a:solidFill>
                  <a:srgbClr val="333333"/>
                </a:solidFill>
              </a:defRPr>
            </a:pPr>
            <a:r>
              <a:t>All teams synchronize to PI cadence</a:t>
            </a:r>
          </a:p>
          <a:p>
            <a:pPr>
              <a:spcAft>
                <a:spcPts val="1000"/>
              </a:spcAft>
              <a:defRPr sz="1800">
                <a:solidFill>
                  <a:srgbClr val="333333"/>
                </a:solidFill>
              </a:defRPr>
            </a:pPr>
            <a:r>
              <a:t>Portfolio Level: — Multiple ARTs working on vehicle platform</a:t>
            </a:r>
          </a:p>
          <a:p>
            <a:pPr>
              <a:spcAft>
                <a:spcPts val="600"/>
              </a:spcAft>
              <a:defRPr sz="1800">
                <a:solidFill>
                  <a:srgbClr val="333333"/>
                </a:solidFill>
              </a:defRPr>
            </a:pPr>
            <a:r>
              <a:t>Coordinate dependencies</a:t>
            </a:r>
          </a:p>
          <a:p>
            <a:pPr>
              <a:spcAft>
                <a:spcPts val="600"/>
              </a:spcAft>
              <a:defRPr sz="1800">
                <a:solidFill>
                  <a:srgbClr val="333333"/>
                </a:solidFill>
              </a:defRPr>
            </a:pPr>
            <a:r>
              <a:t>Align to strategic themes</a:t>
            </a:r>
          </a:p>
          <a:p>
            <a:pPr>
              <a:spcAft>
                <a:spcPts val="1000"/>
              </a:spcAft>
              <a:defRPr sz="1800">
                <a:solidFill>
                  <a:srgbClr val="333333"/>
                </a:solidFill>
              </a:defRPr>
            </a:pPr>
            <a:r>
              <a:t>Key Practices:</a:t>
            </a:r>
          </a:p>
          <a:p>
            <a:pPr>
              <a:spcAft>
                <a:spcPts val="1000"/>
              </a:spcAft>
              <a:defRPr sz="1800">
                <a:solidFill>
                  <a:srgbClr val="333333"/>
                </a:solidFill>
              </a:defRPr>
            </a:pPr>
            <a:r>
              <a:t>PI Planning: — Every 10-12 weeks, entire program plans together (in-person or virtual)</a:t>
            </a:r>
          </a:p>
          <a:p>
            <a:pPr>
              <a:spcAft>
                <a:spcPts val="600"/>
              </a:spcAft>
              <a:defRPr sz="1800">
                <a:solidFill>
                  <a:srgbClr val="333333"/>
                </a:solidFill>
              </a:defRPr>
            </a:pPr>
            <a:r>
              <a:t>Align on objectives, identify dependencies</a:t>
            </a:r>
          </a:p>
          <a:p>
            <a:pPr>
              <a:spcAft>
                <a:spcPts val="600"/>
              </a:spcAft>
              <a:defRPr sz="1800">
                <a:solidFill>
                  <a:srgbClr val="333333"/>
                </a:solidFill>
              </a:defRPr>
            </a:pPr>
            <a:r>
              <a:t>Builds commitment and coordination</a:t>
            </a:r>
          </a:p>
          <a:p>
            <a:pPr>
              <a:spcAft>
                <a:spcPts val="1000"/>
              </a:spcAft>
              <a:defRPr sz="1800">
                <a:solidFill>
                  <a:srgbClr val="333333"/>
                </a:solidFill>
              </a:defRPr>
            </a:pPr>
            <a:r>
              <a:t>System Demo: — End of each iteration, integrated system demo</a:t>
            </a:r>
          </a:p>
          <a:p>
            <a:pPr>
              <a:spcAft>
                <a:spcPts val="600"/>
              </a:spcAft>
              <a:defRPr sz="1800">
                <a:solidFill>
                  <a:srgbClr val="333333"/>
                </a:solidFill>
              </a:defRPr>
            </a:pPr>
            <a:r>
              <a:t>Stakeholders see working system (in simulation if hardware not ready)</a:t>
            </a:r>
          </a:p>
          <a:p>
            <a:pPr>
              <a:spcAft>
                <a:spcPts val="600"/>
              </a:spcAft>
              <a:defRPr sz="1800">
                <a:solidFill>
                  <a:srgbClr val="333333"/>
                </a:solidFill>
              </a:defRPr>
            </a:pPr>
            <a:r>
              <a:t>Feedback informs next iteration</a:t>
            </a:r>
          </a:p>
          <a:p>
            <a:pPr>
              <a:spcAft>
                <a:spcPts val="1000"/>
              </a:spcAft>
              <a:defRPr sz="1800">
                <a:solidFill>
                  <a:srgbClr val="333333"/>
                </a:solidFill>
              </a:defRPr>
            </a:pPr>
            <a:r>
              <a:t>Inspect and Adapt: — After each PI, retrospective</a:t>
            </a:r>
          </a:p>
          <a:p>
            <a:pPr>
              <a:spcAft>
                <a:spcPts val="600"/>
              </a:spcAft>
              <a:defRPr sz="1800">
                <a:solidFill>
                  <a:srgbClr val="333333"/>
                </a:solidFill>
              </a:defRPr>
            </a:pPr>
            <a:r>
              <a:t>Quantitative: measure velocity, quality</a:t>
            </a:r>
          </a:p>
          <a:p>
            <a:pPr>
              <a:spcAft>
                <a:spcPts val="600"/>
              </a:spcAft>
              <a:defRPr sz="1800">
                <a:solidFill>
                  <a:srgbClr val="333333"/>
                </a:solidFill>
              </a:defRPr>
            </a:pPr>
            <a:r>
              <a:t>Qualitative: what worked, what didn't</a:t>
            </a:r>
          </a:p>
          <a:p>
            <a:pPr>
              <a:spcAft>
                <a:spcPts val="600"/>
              </a:spcAft>
              <a:defRPr sz="1800">
                <a:solidFill>
                  <a:srgbClr val="333333"/>
                </a:solidFill>
              </a:defRPr>
            </a:pPr>
            <a:r>
              <a:t>Continuous improvement</a:t>
            </a:r>
          </a:p>
          <a:p>
            <a:pPr>
              <a:spcAft>
                <a:spcPts val="1000"/>
              </a:spcAft>
              <a:defRPr sz="1800">
                <a:solidFill>
                  <a:srgbClr val="333333"/>
                </a:solidFill>
              </a:defRPr>
            </a:pPr>
            <a:r>
              <a:t>Automotive Companies Using SAFe: — BMW, Ford, GM, Volvo, Continental, Bosch</a:t>
            </a:r>
          </a:p>
          <a:p>
            <a:pPr>
              <a:spcAft>
                <a:spcPts val="600"/>
              </a:spcAft>
              <a:defRPr sz="1800">
                <a:solidFill>
                  <a:srgbClr val="333333"/>
                </a:solidFill>
              </a:defRPr>
            </a:pPr>
            <a:r>
              <a:t>Reporting 20-30% productivity improvements</a:t>
            </a:r>
          </a:p>
          <a:p>
            <a:pPr>
              <a:spcAft>
                <a:spcPts val="600"/>
              </a:spcAft>
              <a:defRPr sz="1800">
                <a:solidFill>
                  <a:srgbClr val="333333"/>
                </a:solidFill>
              </a:defRPr>
            </a:pPr>
            <a:r>
              <a:t>Faster time-to-market, better quality</a:t>
            </a:r>
          </a:p>
          <a:p>
            <a:pPr>
              <a:spcAft>
                <a:spcPts val="1000"/>
              </a:spcAft>
              <a:defRPr sz="1800">
                <a:solidFill>
                  <a:srgbClr val="333333"/>
                </a:solidFill>
              </a:defRPr>
            </a:pPr>
            <a:r>
              <a:t>Challenges:</a:t>
            </a:r>
          </a:p>
          <a:p>
            <a:pPr>
              <a:spcAft>
                <a:spcPts val="1000"/>
              </a:spcAft>
              <a:defRPr sz="1800">
                <a:solidFill>
                  <a:srgbClr val="333333"/>
                </a:solidFill>
              </a:defRPr>
            </a:pPr>
            <a:r>
              <a:t>Safety Certification: — ISO 26262 requires documented evidence</a:t>
            </a:r>
          </a:p>
          <a:p>
            <a:pPr>
              <a:spcAft>
                <a:spcPts val="600"/>
              </a:spcAft>
              <a:defRPr sz="1800">
                <a:solidFill>
                  <a:srgbClr val="333333"/>
                </a:solidFill>
              </a:defRPr>
            </a:pPr>
            <a:r>
              <a:t>How do we maintain traceability in agile?</a:t>
            </a:r>
          </a:p>
          <a:p>
            <a:pPr>
              <a:spcAft>
                <a:spcPts val="600"/>
              </a:spcAft>
              <a:defRPr sz="1800">
                <a:solidFill>
                  <a:srgbClr val="333333"/>
                </a:solidFill>
              </a:defRPr>
            </a:pPr>
            <a:r>
              <a:t>Solution: Continuous documentation, automated traceability</a:t>
            </a:r>
          </a:p>
          <a:p>
            <a:pPr>
              <a:spcAft>
                <a:spcPts val="1000"/>
              </a:spcAft>
              <a:defRPr sz="1800">
                <a:solidFill>
                  <a:srgbClr val="333333"/>
                </a:solidFill>
              </a:defRPr>
            </a:pPr>
            <a:r>
              <a:t>Hardware Constraints: — Can't iterate physical prototypes every 2 weeks</a:t>
            </a:r>
          </a:p>
          <a:p>
            <a:pPr>
              <a:spcAft>
                <a:spcPts val="600"/>
              </a:spcAft>
              <a:defRPr sz="1800">
                <a:solidFill>
                  <a:srgbClr val="333333"/>
                </a:solidFill>
              </a:defRPr>
            </a:pPr>
            <a:r>
              <a:t>Solution: Shift to virtual prototypes (MBSE, digital twins)</a:t>
            </a:r>
          </a:p>
          <a:p>
            <a:pPr>
              <a:spcAft>
                <a:spcPts val="1000"/>
              </a:spcAft>
              <a:defRPr sz="1800">
                <a:solidFill>
                  <a:srgbClr val="333333"/>
                </a:solidFill>
              </a:defRPr>
            </a:pPr>
            <a:r>
              <a:t>Supplier Integration: — Tier 1 suppliers may not be agile</a:t>
            </a:r>
          </a:p>
          <a:p>
            <a:pPr>
              <a:spcAft>
                <a:spcPts val="600"/>
              </a:spcAft>
              <a:defRPr sz="1800">
                <a:solidFill>
                  <a:srgbClr val="333333"/>
                </a:solidFill>
              </a:defRPr>
            </a:pPr>
            <a:r>
              <a:t>Interface management critical</a:t>
            </a:r>
          </a:p>
          <a:p>
            <a:pPr>
              <a:spcAft>
                <a:spcPts val="600"/>
              </a:spcAft>
              <a:defRPr sz="1800">
                <a:solidFill>
                  <a:srgbClr val="333333"/>
                </a:solidFill>
              </a:defRPr>
            </a:pPr>
            <a:r>
              <a:t>Solution: Clearly defined interface requirements (stable), internal implementation agile</a:t>
            </a:r>
          </a:p>
          <a:p>
            <a:pPr>
              <a:spcAft>
                <a:spcPts val="1000"/>
              </a:spcAft>
              <a:defRPr sz="1800">
                <a:solidFill>
                  <a:srgbClr val="333333"/>
                </a:solidFill>
              </a:defRPr>
            </a:pPr>
            <a:r>
              <a:t>Future Direction: Agile SE is maturing. It's no longer experimental - it's becoming mainstream for automotive.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5: MBSE Adoption - Industry Reality Check (Slides 19-20, ~6 minutes)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State of MBSE Adoption (2025)</a:t>
            </a:r>
          </a:p>
        </p:txBody>
      </p:sp>
      <p:sp>
        <p:nvSpPr>
          <p:cNvPr id="3" name="Content Placeholder 2"/>
          <p:cNvSpPr>
            <a:spLocks noGrp="1"/>
          </p:cNvSpPr>
          <p:nvPr>
            <p:ph idx="1"/>
          </p:nvPr>
        </p:nvSpPr>
        <p:spPr/>
        <p:txBody>
          <a:bodyPr/>
          <a:lstStyle/>
          <a:p>
            <a:pPr>
              <a:spcAft>
                <a:spcPts val="1000"/>
              </a:spcAft>
              <a:defRPr sz="1800">
                <a:solidFill>
                  <a:srgbClr val="333333"/>
                </a:solidFill>
              </a:defRPr>
            </a:pPr>
            <a:r>
              <a:t>Fifth trend: Model-Based Systems Engineering (MBSE) adoption status.</a:t>
            </a:r>
          </a:p>
          <a:p>
            <a:pPr>
              <a:spcAft>
                <a:spcPts val="1000"/>
              </a:spcAft>
              <a:defRPr sz="1800">
                <a:solidFill>
                  <a:srgbClr val="333333"/>
                </a:solidFill>
              </a:defRPr>
            </a:pPr>
            <a:r>
              <a:t>In Session 3, we learned WHAT MBSE is. Today: WHERE is industry in actually using it?</a:t>
            </a:r>
          </a:p>
          <a:p>
            <a:pPr>
              <a:spcAft>
                <a:spcPts val="1000"/>
              </a:spcAft>
              <a:defRPr sz="1800">
                <a:solidFill>
                  <a:srgbClr val="333333"/>
                </a:solidFill>
              </a:defRPr>
            </a:pPr>
            <a:r>
              <a:t>Adoption Rates (Industry Surveys 2024-2025):</a:t>
            </a:r>
          </a:p>
          <a:p>
            <a:pPr>
              <a:spcAft>
                <a:spcPts val="1000"/>
              </a:spcAft>
              <a:defRPr sz="1800">
                <a:solidFill>
                  <a:srgbClr val="333333"/>
                </a:solidFill>
              </a:defRPr>
            </a:pPr>
            <a:r>
              <a:t>Aerospace/Defense: 70% actively using MBSE</a:t>
            </a:r>
          </a:p>
          <a:p>
            <a:pPr>
              <a:spcAft>
                <a:spcPts val="600"/>
              </a:spcAft>
              <a:defRPr sz="1800">
                <a:solidFill>
                  <a:srgbClr val="333333"/>
                </a:solidFill>
              </a:defRPr>
            </a:pPr>
            <a:r>
              <a:t>NASA, ESA mandate MBSE for major programs</a:t>
            </a:r>
          </a:p>
          <a:p>
            <a:pPr>
              <a:spcAft>
                <a:spcPts val="600"/>
              </a:spcAft>
              <a:defRPr sz="1800">
                <a:solidFill>
                  <a:srgbClr val="333333"/>
                </a:solidFill>
              </a:defRPr>
            </a:pPr>
            <a:r>
              <a:t>Lockheed Martin: MBSE standard practice for 10+ years</a:t>
            </a:r>
          </a:p>
          <a:p>
            <a:pPr>
              <a:spcAft>
                <a:spcPts val="600"/>
              </a:spcAft>
              <a:defRPr sz="1800">
                <a:solidFill>
                  <a:srgbClr val="333333"/>
                </a:solidFill>
              </a:defRPr>
            </a:pPr>
            <a:r>
              <a:t>DoD: Digital engineering strategy requires MBSE</a:t>
            </a:r>
          </a:p>
          <a:p>
            <a:pPr>
              <a:spcAft>
                <a:spcPts val="1000"/>
              </a:spcAft>
              <a:defRPr sz="1800">
                <a:solidFill>
                  <a:srgbClr val="333333"/>
                </a:solidFill>
              </a:defRPr>
            </a:pPr>
            <a:r>
              <a:t>Automotive OEMs: 40% actively using MBSE</a:t>
            </a:r>
          </a:p>
          <a:p>
            <a:pPr>
              <a:spcAft>
                <a:spcPts val="600"/>
              </a:spcAft>
              <a:defRPr sz="1800">
                <a:solidFill>
                  <a:srgbClr val="333333"/>
                </a:solidFill>
              </a:defRPr>
            </a:pPr>
            <a:r>
              <a:t>Leaders: BMW (full SysML adoption), Mercedes, Audi</a:t>
            </a:r>
          </a:p>
          <a:p>
            <a:pPr>
              <a:spcAft>
                <a:spcPts val="600"/>
              </a:spcAft>
              <a:defRPr sz="1800">
                <a:solidFill>
                  <a:srgbClr val="333333"/>
                </a:solidFill>
              </a:defRPr>
            </a:pPr>
            <a:r>
              <a:t>Experimenters: GM, Ford, Toyota (pilot projects)</a:t>
            </a:r>
          </a:p>
          <a:p>
            <a:pPr>
              <a:spcAft>
                <a:spcPts val="600"/>
              </a:spcAft>
              <a:defRPr sz="1800">
                <a:solidFill>
                  <a:srgbClr val="333333"/>
                </a:solidFill>
              </a:defRPr>
            </a:pPr>
            <a:r>
              <a:t>Laggards: Smaller OEMs, traditional manufacturers</a:t>
            </a:r>
          </a:p>
          <a:p>
            <a:pPr>
              <a:spcAft>
                <a:spcPts val="1000"/>
              </a:spcAft>
              <a:defRPr sz="1800">
                <a:solidFill>
                  <a:srgbClr val="333333"/>
                </a:solidFill>
              </a:defRPr>
            </a:pPr>
            <a:r>
              <a:t>Tier 1 Suppliers: 25% actively using MBSE</a:t>
            </a:r>
          </a:p>
          <a:p>
            <a:pPr>
              <a:spcAft>
                <a:spcPts val="600"/>
              </a:spcAft>
              <a:defRPr sz="1800">
                <a:solidFill>
                  <a:srgbClr val="333333"/>
                </a:solidFill>
              </a:defRPr>
            </a:pPr>
            <a:r>
              <a:t>Continental, Bosch leading</a:t>
            </a:r>
          </a:p>
          <a:p>
            <a:pPr>
              <a:spcAft>
                <a:spcPts val="600"/>
              </a:spcAft>
              <a:defRPr sz="1800">
                <a:solidFill>
                  <a:srgbClr val="333333"/>
                </a:solidFill>
              </a:defRPr>
            </a:pPr>
            <a:r>
              <a:t>Most still document-based</a:t>
            </a:r>
          </a:p>
          <a:p>
            <a:pPr>
              <a:spcAft>
                <a:spcPts val="1000"/>
              </a:spcAft>
              <a:defRPr sz="1800">
                <a:solidFill>
                  <a:srgbClr val="333333"/>
                </a:solidFill>
              </a:defRPr>
            </a:pPr>
            <a:r>
              <a:t>Why Slow Adoption Despite Clear Benefits?</a:t>
            </a:r>
          </a:p>
          <a:p>
            <a:pPr>
              <a:spcAft>
                <a:spcPts val="1000"/>
              </a:spcAft>
              <a:defRPr sz="1800">
                <a:solidFill>
                  <a:srgbClr val="333333"/>
                </a:solidFill>
              </a:defRPr>
            </a:pPr>
            <a:r>
              <a:t>Barrier 1: Steep Learning Curve (73% cite this)</a:t>
            </a:r>
          </a:p>
          <a:p>
            <a:pPr>
              <a:spcAft>
                <a:spcPts val="600"/>
              </a:spcAft>
              <a:defRPr sz="1800">
                <a:solidFill>
                  <a:srgbClr val="333333"/>
                </a:solidFill>
              </a:defRPr>
            </a:pPr>
            <a:r>
              <a:t>SysML is complex, takes 6-12 months to become proficient</a:t>
            </a:r>
          </a:p>
          <a:p>
            <a:pPr>
              <a:spcAft>
                <a:spcPts val="600"/>
              </a:spcAft>
              <a:defRPr sz="1800">
                <a:solidFill>
                  <a:srgbClr val="333333"/>
                </a:solidFill>
              </a:defRPr>
            </a:pPr>
            <a:r>
              <a:t>Paradigm shift: from documents to models</a:t>
            </a:r>
          </a:p>
          <a:p>
            <a:pPr>
              <a:spcAft>
                <a:spcPts val="600"/>
              </a:spcAft>
              <a:defRPr sz="1800">
                <a:solidFill>
                  <a:srgbClr val="333333"/>
                </a:solidFill>
              </a:defRPr>
            </a:pPr>
            <a:r>
              <a:t>Resistance: 'Documents worked for 30 years, why change?'</a:t>
            </a:r>
          </a:p>
          <a:p>
            <a:pPr>
              <a:spcAft>
                <a:spcPts val="1000"/>
              </a:spcAft>
              <a:defRPr sz="1800">
                <a:solidFill>
                  <a:srgbClr val="333333"/>
                </a:solidFill>
              </a:defRPr>
            </a:pPr>
            <a:r>
              <a:t>Barrier 2: Tool Complexity and Cost (61%)</a:t>
            </a:r>
          </a:p>
          <a:p>
            <a:pPr>
              <a:spcAft>
                <a:spcPts val="600"/>
              </a:spcAft>
              <a:defRPr sz="1800">
                <a:solidFill>
                  <a:srgbClr val="333333"/>
                </a:solidFill>
              </a:defRPr>
            </a:pPr>
            <a:r>
              <a:t>MBSE tools expensive ($5k-$15k per license)</a:t>
            </a:r>
          </a:p>
          <a:p>
            <a:pPr>
              <a:spcAft>
                <a:spcPts val="600"/>
              </a:spcAft>
              <a:defRPr sz="1800">
                <a:solidFill>
                  <a:srgbClr val="333333"/>
                </a:solidFill>
              </a:defRPr>
            </a:pPr>
            <a:r>
              <a:t>Integration with existing tools (CAD, PLM, ALM) is challenging</a:t>
            </a:r>
          </a:p>
          <a:p>
            <a:pPr>
              <a:spcAft>
                <a:spcPts val="600"/>
              </a:spcAft>
              <a:defRPr sz="1800">
                <a:solidFill>
                  <a:srgbClr val="333333"/>
                </a:solidFill>
              </a:defRPr>
            </a:pPr>
            <a:r>
              <a:t>No single tool does everything</a:t>
            </a:r>
          </a:p>
          <a:p>
            <a:pPr>
              <a:spcAft>
                <a:spcPts val="1000"/>
              </a:spcAft>
              <a:defRPr sz="1800">
                <a:solidFill>
                  <a:srgbClr val="333333"/>
                </a:solidFill>
              </a:defRPr>
            </a:pPr>
            <a:r>
              <a:t>Barrier 3: Lack of Standards (54%)</a:t>
            </a:r>
          </a:p>
          <a:p>
            <a:pPr>
              <a:spcAft>
                <a:spcPts val="600"/>
              </a:spcAft>
              <a:defRPr sz="1800">
                <a:solidFill>
                  <a:srgbClr val="333333"/>
                </a:solidFill>
              </a:defRPr>
            </a:pPr>
            <a:r>
              <a:t>Multiple modeling languages (SysML, UAF, Arcadia)</a:t>
            </a:r>
          </a:p>
          <a:p>
            <a:pPr>
              <a:spcAft>
                <a:spcPts val="600"/>
              </a:spcAft>
              <a:defRPr sz="1800">
                <a:solidFill>
                  <a:srgbClr val="333333"/>
                </a:solidFill>
              </a:defRPr>
            </a:pPr>
            <a:r>
              <a:t>Inconsistent practices across organizations</a:t>
            </a:r>
          </a:p>
          <a:p>
            <a:pPr>
              <a:spcAft>
                <a:spcPts val="600"/>
              </a:spcAft>
              <a:defRPr sz="1800">
                <a:solidFill>
                  <a:srgbClr val="333333"/>
                </a:solidFill>
              </a:defRPr>
            </a:pPr>
            <a:r>
              <a:t>Hard to exchange models with suppliers</a:t>
            </a:r>
          </a:p>
          <a:p>
            <a:pPr>
              <a:spcAft>
                <a:spcPts val="1000"/>
              </a:spcAft>
              <a:defRPr sz="1800">
                <a:solidFill>
                  <a:srgbClr val="333333"/>
                </a:solidFill>
              </a:defRPr>
            </a:pPr>
            <a:r>
              <a:t>Barrier 4: Unproven ROI (48%)</a:t>
            </a:r>
          </a:p>
          <a:p>
            <a:pPr>
              <a:spcAft>
                <a:spcPts val="600"/>
              </a:spcAft>
              <a:defRPr sz="1800">
                <a:solidFill>
                  <a:srgbClr val="333333"/>
                </a:solidFill>
              </a:defRPr>
            </a:pPr>
            <a:r>
              <a:t>Benefits take 2-3 projects to realize</a:t>
            </a:r>
          </a:p>
          <a:p>
            <a:pPr>
              <a:spcAft>
                <a:spcPts val="600"/>
              </a:spcAft>
              <a:defRPr sz="1800">
                <a:solidFill>
                  <a:srgbClr val="333333"/>
                </a:solidFill>
              </a:defRPr>
            </a:pPr>
            <a:r>
              <a:t>Upfront investment high</a:t>
            </a:r>
          </a:p>
          <a:p>
            <a:pPr>
              <a:spcAft>
                <a:spcPts val="600"/>
              </a:spcAft>
              <a:defRPr sz="1800">
                <a:solidFill>
                  <a:srgbClr val="333333"/>
                </a:solidFill>
              </a:defRPr>
            </a:pPr>
            <a:r>
              <a:t>Management skeptical</a:t>
            </a:r>
          </a:p>
          <a:p>
            <a:pPr>
              <a:spcAft>
                <a:spcPts val="1000"/>
              </a:spcAft>
              <a:defRPr sz="1800">
                <a:solidFill>
                  <a:srgbClr val="333333"/>
                </a:solidFill>
              </a:defRPr>
            </a:pPr>
            <a:r>
              <a:t>Barrier 5: Skill Gaps (67%)</a:t>
            </a:r>
          </a:p>
          <a:p>
            <a:pPr>
              <a:spcAft>
                <a:spcPts val="600"/>
              </a:spcAft>
              <a:defRPr sz="1800">
                <a:solidFill>
                  <a:srgbClr val="333333"/>
                </a:solidFill>
              </a:defRPr>
            </a:pPr>
            <a:r>
              <a:t>Current workforce trained on documents</a:t>
            </a:r>
          </a:p>
          <a:p>
            <a:pPr>
              <a:spcAft>
                <a:spcPts val="600"/>
              </a:spcAft>
              <a:defRPr sz="1800">
                <a:solidFill>
                  <a:srgbClr val="333333"/>
                </a:solidFill>
              </a:defRPr>
            </a:pPr>
            <a:r>
              <a:t>Universities only recently teaching MBSE</a:t>
            </a:r>
          </a:p>
          <a:p>
            <a:pPr>
              <a:spcAft>
                <a:spcPts val="600"/>
              </a:spcAft>
              <a:defRPr sz="1800">
                <a:solidFill>
                  <a:srgbClr val="333333"/>
                </a:solidFill>
              </a:defRPr>
            </a:pPr>
            <a:r>
              <a:t>Limited pool of experienced MBSE practitioners</a:t>
            </a:r>
          </a:p>
          <a:p>
            <a:pPr>
              <a:spcAft>
                <a:spcPts val="1000"/>
              </a:spcAft>
              <a:defRPr sz="1800">
                <a:solidFill>
                  <a:srgbClr val="333333"/>
                </a:solidFill>
              </a:defRPr>
            </a:pPr>
            <a:r>
              <a:t>Tipping Point Approaching: — OEMs with MBSE experience outperforming those without</a:t>
            </a:r>
          </a:p>
          <a:p>
            <a:pPr>
              <a:spcAft>
                <a:spcPts val="600"/>
              </a:spcAft>
              <a:defRPr sz="1800">
                <a:solidFill>
                  <a:srgbClr val="333333"/>
                </a:solidFill>
              </a:defRPr>
            </a:pPr>
            <a:r>
              <a:t>Next generation of engineers (you!) are MBSE-native</a:t>
            </a:r>
          </a:p>
          <a:p>
            <a:pPr>
              <a:spcAft>
                <a:spcPts val="600"/>
              </a:spcAft>
              <a:defRPr sz="1800">
                <a:solidFill>
                  <a:srgbClr val="333333"/>
                </a:solidFill>
              </a:defRPr>
            </a:pPr>
            <a:r>
              <a:t>Tools improving, becoming more accessible</a:t>
            </a:r>
          </a:p>
          <a:p>
            <a:pPr>
              <a:spcAft>
                <a:spcPts val="600"/>
              </a:spcAft>
              <a:defRPr sz="1800">
                <a:solidFill>
                  <a:srgbClr val="333333"/>
                </a:solidFill>
              </a:defRPr>
            </a:pPr>
            <a:r>
              <a:t>Prediction: By 2030, MBSE will be standard practice in automotive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Success Patterns in MBSE Adoption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What separates successful MBSE adopters from failures?</a:t>
            </a:r>
          </a:p>
          <a:p>
            <a:pPr>
              <a:spcAft>
                <a:spcPts val="1000"/>
              </a:spcAft>
              <a:defRPr sz="1800">
                <a:solidFill>
                  <a:srgbClr val="333333"/>
                </a:solidFill>
              </a:defRPr>
            </a:pPr>
            <a:r>
              <a:t>Success Pattern 1: Start with Pilot Project — Bad: 'We're going full MBSE on our next vehicle platform'</a:t>
            </a:r>
          </a:p>
          <a:p>
            <a:pPr>
              <a:spcAft>
                <a:spcPts val="600"/>
              </a:spcAft>
              <a:defRPr sz="1800">
                <a:solidFill>
                  <a:srgbClr val="333333"/>
                </a:solidFill>
              </a:defRPr>
            </a:pPr>
            <a:r>
              <a:t>Good: 'We'll use MBSE on one subsystem (e.g., HVAC) and learn'</a:t>
            </a:r>
          </a:p>
          <a:p>
            <a:pPr>
              <a:spcAft>
                <a:spcPts val="600"/>
              </a:spcAft>
              <a:defRPr sz="1800">
                <a:solidFill>
                  <a:srgbClr val="333333"/>
                </a:solidFill>
              </a:defRPr>
            </a:pPr>
            <a:r>
              <a:t>Example: BMW started with powertrain, expanded incrementally</a:t>
            </a:r>
          </a:p>
          <a:p>
            <a:pPr>
              <a:spcAft>
                <a:spcPts val="1000"/>
              </a:spcAft>
              <a:defRPr sz="1800">
                <a:solidFill>
                  <a:srgbClr val="333333"/>
                </a:solidFill>
              </a:defRPr>
            </a:pPr>
            <a:r>
              <a:t>Success Pattern 2: Invest in Training — Bad: 'Buy tools, engineers will figure it out'</a:t>
            </a:r>
          </a:p>
          <a:p>
            <a:pPr>
              <a:spcAft>
                <a:spcPts val="600"/>
              </a:spcAft>
              <a:defRPr sz="1800">
                <a:solidFill>
                  <a:srgbClr val="333333"/>
                </a:solidFill>
              </a:defRPr>
            </a:pPr>
            <a:r>
              <a:t>Good: 'Structured training program, mentorship, communities of practice'</a:t>
            </a:r>
          </a:p>
          <a:p>
            <a:pPr>
              <a:spcAft>
                <a:spcPts val="600"/>
              </a:spcAft>
              <a:defRPr sz="1800">
                <a:solidFill>
                  <a:srgbClr val="333333"/>
                </a:solidFill>
              </a:defRPr>
            </a:pPr>
            <a:r>
              <a:t>Example: Airbus provides 6 months training before engineers use MBSE on programs</a:t>
            </a:r>
          </a:p>
          <a:p>
            <a:pPr>
              <a:spcAft>
                <a:spcPts val="1000"/>
              </a:spcAft>
              <a:defRPr sz="1800">
                <a:solidFill>
                  <a:srgbClr val="333333"/>
                </a:solidFill>
              </a:defRPr>
            </a:pPr>
            <a:r>
              <a:t>Success Pattern 3: Define Modeling Standards — Bad: 'Everyone model however you want'</a:t>
            </a:r>
          </a:p>
          <a:p>
            <a:pPr>
              <a:spcAft>
                <a:spcPts val="600"/>
              </a:spcAft>
              <a:defRPr sz="1800">
                <a:solidFill>
                  <a:srgbClr val="333333"/>
                </a:solidFill>
              </a:defRPr>
            </a:pPr>
            <a:r>
              <a:t>Good: 'Standardized patterns, templates, review checklists'</a:t>
            </a:r>
          </a:p>
          <a:p>
            <a:pPr>
              <a:spcAft>
                <a:spcPts val="600"/>
              </a:spcAft>
              <a:defRPr sz="1800">
                <a:solidFill>
                  <a:srgbClr val="333333"/>
                </a:solidFill>
              </a:defRPr>
            </a:pPr>
            <a:r>
              <a:t>Example: JPL has 'SysML style guide' ensuring consistent models</a:t>
            </a:r>
          </a:p>
          <a:p>
            <a:pPr>
              <a:spcAft>
                <a:spcPts val="1000"/>
              </a:spcAft>
              <a:defRPr sz="1800">
                <a:solidFill>
                  <a:srgbClr val="333333"/>
                </a:solidFill>
              </a:defRPr>
            </a:pPr>
            <a:r>
              <a:t>Success Pattern 4: Integrate with Existing Workflows — Bad: 'MBSE is separate from our regular process'</a:t>
            </a:r>
          </a:p>
          <a:p>
            <a:pPr>
              <a:spcAft>
                <a:spcPts val="600"/>
              </a:spcAft>
              <a:defRPr sz="1800">
                <a:solidFill>
                  <a:srgbClr val="333333"/>
                </a:solidFill>
              </a:defRPr>
            </a:pPr>
            <a:r>
              <a:t>Good: 'MBSE replaces document steps in existing process'</a:t>
            </a:r>
          </a:p>
          <a:p>
            <a:pPr>
              <a:spcAft>
                <a:spcPts val="600"/>
              </a:spcAft>
              <a:defRPr sz="1800">
                <a:solidFill>
                  <a:srgbClr val="333333"/>
                </a:solidFill>
              </a:defRPr>
            </a:pPr>
            <a:r>
              <a:t>Example: Link SysML requirements to Jira user stories, to test cases</a:t>
            </a:r>
          </a:p>
          <a:p>
            <a:pPr>
              <a:spcAft>
                <a:spcPts val="1000"/>
              </a:spcAft>
              <a:defRPr sz="1800">
                <a:solidFill>
                  <a:srgbClr val="333333"/>
                </a:solidFill>
              </a:defRPr>
            </a:pPr>
            <a:r>
              <a:t>Success Pattern 5: Executive Sponsorship — Bad: 'Bottom-up grassroots adoption'</a:t>
            </a:r>
          </a:p>
          <a:p>
            <a:pPr>
              <a:spcAft>
                <a:spcPts val="600"/>
              </a:spcAft>
              <a:defRPr sz="1800">
                <a:solidFill>
                  <a:srgbClr val="333333"/>
                </a:solidFill>
              </a:defRPr>
            </a:pPr>
            <a:r>
              <a:t>Good: 'Top-down mandate with resource commitment'</a:t>
            </a:r>
          </a:p>
          <a:p>
            <a:pPr>
              <a:spcAft>
                <a:spcPts val="600"/>
              </a:spcAft>
              <a:defRPr sz="1800">
                <a:solidFill>
                  <a:srgbClr val="333333"/>
                </a:solidFill>
              </a:defRPr>
            </a:pPr>
            <a:r>
              <a:t>Example: BMW CTO mandated MBSE, funded tools and training</a:t>
            </a:r>
          </a:p>
          <a:p>
            <a:pPr>
              <a:spcAft>
                <a:spcPts val="1000"/>
              </a:spcAft>
              <a:defRPr sz="1800">
                <a:solidFill>
                  <a:srgbClr val="333333"/>
                </a:solidFill>
              </a:defRPr>
            </a:pPr>
            <a:r>
              <a:t>Success Pattern 6: Measure and Communicate Value — Bad: 'We're doing MBSE because it's cool'</a:t>
            </a:r>
          </a:p>
          <a:p>
            <a:pPr>
              <a:spcAft>
                <a:spcPts val="600"/>
              </a:spcAft>
              <a:defRPr sz="1800">
                <a:solidFill>
                  <a:srgbClr val="333333"/>
                </a:solidFill>
              </a:defRPr>
            </a:pPr>
            <a:r>
              <a:t>Good: 'MBSE reduced our requirements defects by 40%'</a:t>
            </a:r>
          </a:p>
          <a:p>
            <a:pPr>
              <a:spcAft>
                <a:spcPts val="600"/>
              </a:spcAft>
              <a:defRPr sz="1800">
                <a:solidFill>
                  <a:srgbClr val="333333"/>
                </a:solidFill>
              </a:defRPr>
            </a:pPr>
            <a:r>
              <a:t>Metrics: defect rates, rework, time to find information</a:t>
            </a:r>
          </a:p>
          <a:p>
            <a:pPr>
              <a:spcAft>
                <a:spcPts val="1000"/>
              </a:spcAft>
              <a:defRPr sz="1800">
                <a:solidFill>
                  <a:srgbClr val="333333"/>
                </a:solidFill>
              </a:defRPr>
            </a:pPr>
            <a:r>
              <a:t>ROI Evidence from Adopters: — JPL: 10% reduction in project cost on MBSE projects</a:t>
            </a:r>
          </a:p>
          <a:p>
            <a:pPr>
              <a:spcAft>
                <a:spcPts val="600"/>
              </a:spcAft>
              <a:defRPr sz="1800">
                <a:solidFill>
                  <a:srgbClr val="333333"/>
                </a:solidFill>
              </a:defRPr>
            </a:pPr>
            <a:r>
              <a:t>BMW: 30% reduction in requirements-related defects</a:t>
            </a:r>
          </a:p>
          <a:p>
            <a:pPr>
              <a:spcAft>
                <a:spcPts val="600"/>
              </a:spcAft>
              <a:defRPr sz="1800">
                <a:solidFill>
                  <a:srgbClr val="333333"/>
                </a:solidFill>
              </a:defRPr>
            </a:pPr>
            <a:r>
              <a:t>Lockheed Martin: 50% reduction in time to perform trade studies</a:t>
            </a:r>
          </a:p>
          <a:p>
            <a:pPr>
              <a:spcAft>
                <a:spcPts val="1000"/>
              </a:spcAft>
              <a:defRPr sz="1800">
                <a:solidFill>
                  <a:srgbClr val="333333"/>
                </a:solidFill>
              </a:defRPr>
            </a:pPr>
            <a:r>
              <a:t>Your Opportunity: The industry NEEDS MBSE-skilled engineers. Learn it now, you'll be in high demand.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6: Autonomous Systems Engineering Challenges (Slides 21-22, ~8 minutes)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Unique Challenges of Autonomous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Sixth trend: Engineering autonomous systems - unprecedented challenges.</a:t>
            </a:r>
          </a:p>
          <a:p>
            <a:pPr>
              <a:spcAft>
                <a:spcPts val="1000"/>
              </a:spcAft>
              <a:defRPr sz="1800">
                <a:solidFill>
                  <a:srgbClr val="333333"/>
                </a:solidFill>
              </a:defRPr>
            </a:pPr>
            <a:r>
              <a:t>Why Autonomous Systems Are Different:</a:t>
            </a:r>
          </a:p>
          <a:p>
            <a:pPr>
              <a:spcAft>
                <a:spcPts val="1000"/>
              </a:spcAft>
              <a:defRPr sz="1800">
                <a:solidFill>
                  <a:srgbClr val="333333"/>
                </a:solidFill>
              </a:defRPr>
            </a:pPr>
            <a:r>
              <a:t>Traditional Automotive System (e.g., ABS): — Defined operating envelope (speed range, road conditions)</a:t>
            </a:r>
          </a:p>
          <a:p>
            <a:pPr>
              <a:spcAft>
                <a:spcPts val="600"/>
              </a:spcAft>
              <a:defRPr sz="1800">
                <a:solidFill>
                  <a:srgbClr val="333333"/>
                </a:solidFill>
              </a:defRPr>
            </a:pPr>
            <a:r>
              <a:t>Deterministic behavior (if X, then Y)</a:t>
            </a:r>
          </a:p>
          <a:p>
            <a:pPr>
              <a:spcAft>
                <a:spcPts val="600"/>
              </a:spcAft>
              <a:defRPr sz="1800">
                <a:solidFill>
                  <a:srgbClr val="333333"/>
                </a:solidFill>
              </a:defRPr>
            </a:pPr>
            <a:r>
              <a:t>Complete specification possible</a:t>
            </a:r>
          </a:p>
          <a:p>
            <a:pPr>
              <a:spcAft>
                <a:spcPts val="600"/>
              </a:spcAft>
              <a:defRPr sz="1800">
                <a:solidFill>
                  <a:srgbClr val="333333"/>
                </a:solidFill>
              </a:defRPr>
            </a:pPr>
            <a:r>
              <a:t>Test all scenarios in controlled environment</a:t>
            </a:r>
          </a:p>
          <a:p>
            <a:pPr>
              <a:spcAft>
                <a:spcPts val="600"/>
              </a:spcAft>
              <a:defRPr sz="1800">
                <a:solidFill>
                  <a:srgbClr val="333333"/>
                </a:solidFill>
              </a:defRPr>
            </a:pPr>
            <a:r>
              <a:t>Certification based on meeting specifications</a:t>
            </a:r>
          </a:p>
          <a:p>
            <a:pPr>
              <a:spcAft>
                <a:spcPts val="1000"/>
              </a:spcAft>
              <a:defRPr sz="1800">
                <a:solidFill>
                  <a:srgbClr val="333333"/>
                </a:solidFill>
              </a:defRPr>
            </a:pPr>
            <a:r>
              <a:t>Autonomous System (e.g., Self-Driving Car): — Nearly infinite operating envelope (any road, any condition, any scenario)</a:t>
            </a:r>
          </a:p>
          <a:p>
            <a:pPr>
              <a:spcAft>
                <a:spcPts val="600"/>
              </a:spcAft>
              <a:defRPr sz="1800">
                <a:solidFill>
                  <a:srgbClr val="333333"/>
                </a:solidFill>
              </a:defRPr>
            </a:pPr>
            <a:r>
              <a:t>Probabilistic behavior (ML-based perception and decision-making)</a:t>
            </a:r>
          </a:p>
          <a:p>
            <a:pPr>
              <a:spcAft>
                <a:spcPts val="600"/>
              </a:spcAft>
              <a:defRPr sz="1800">
                <a:solidFill>
                  <a:srgbClr val="333333"/>
                </a:solidFill>
              </a:defRPr>
            </a:pPr>
            <a:r>
              <a:t>Complete specification impossible</a:t>
            </a:r>
          </a:p>
          <a:p>
            <a:pPr>
              <a:spcAft>
                <a:spcPts val="600"/>
              </a:spcAft>
              <a:defRPr sz="1800">
                <a:solidFill>
                  <a:srgbClr val="333333"/>
                </a:solidFill>
              </a:defRPr>
            </a:pPr>
            <a:r>
              <a:t>Cannot test all scenarios (combinatorial explosion)</a:t>
            </a:r>
          </a:p>
          <a:p>
            <a:pPr>
              <a:spcAft>
                <a:spcPts val="600"/>
              </a:spcAft>
              <a:defRPr sz="1800">
                <a:solidFill>
                  <a:srgbClr val="333333"/>
                </a:solidFill>
              </a:defRPr>
            </a:pPr>
            <a:r>
              <a:t>Certification framework still being developed</a:t>
            </a:r>
          </a:p>
          <a:p>
            <a:pPr>
              <a:spcAft>
                <a:spcPts val="1000"/>
              </a:spcAft>
              <a:defRPr sz="1800">
                <a:solidFill>
                  <a:srgbClr val="333333"/>
                </a:solidFill>
              </a:defRPr>
            </a:pPr>
            <a:r>
              <a:t>Specific SE Challenges:</a:t>
            </a:r>
          </a:p>
          <a:p>
            <a:pPr>
              <a:spcAft>
                <a:spcPts val="1000"/>
              </a:spcAft>
              <a:defRPr sz="1800">
                <a:solidFill>
                  <a:srgbClr val="333333"/>
                </a:solidFill>
              </a:defRPr>
            </a:pPr>
            <a:r>
              <a:t>1. Requirements Engineering: — Traditional: 'System shall brake if obstacle detected at &lt;5m'</a:t>
            </a:r>
          </a:p>
          <a:p>
            <a:pPr>
              <a:spcAft>
                <a:spcPts val="600"/>
              </a:spcAft>
              <a:defRPr sz="1800">
                <a:solidFill>
                  <a:srgbClr val="333333"/>
                </a:solidFill>
              </a:defRPr>
            </a:pPr>
            <a:r>
              <a:t>Autonomous: 'System shall safely navigate all plausible driving scenarios'</a:t>
            </a:r>
          </a:p>
          <a:p>
            <a:pPr>
              <a:spcAft>
                <a:spcPts val="600"/>
              </a:spcAft>
              <a:defRPr sz="1800">
                <a:solidFill>
                  <a:srgbClr val="333333"/>
                </a:solidFill>
              </a:defRPr>
            </a:pPr>
            <a:r>
              <a:t>How do you specify 'all plausible scenarios'? (You can't.)</a:t>
            </a:r>
          </a:p>
          <a:p>
            <a:pPr>
              <a:spcAft>
                <a:spcPts val="600"/>
              </a:spcAft>
              <a:defRPr sz="1800">
                <a:solidFill>
                  <a:srgbClr val="333333"/>
                </a:solidFill>
              </a:defRPr>
            </a:pPr>
            <a:r>
              <a:t>New approach: Operational Design Domain (ODD) requirements</a:t>
            </a:r>
          </a:p>
          <a:p>
            <a:pPr>
              <a:spcAft>
                <a:spcPts val="600"/>
              </a:spcAft>
              <a:defRPr sz="1800">
                <a:solidFill>
                  <a:srgbClr val="333333"/>
                </a:solidFill>
              </a:defRPr>
            </a:pPr>
            <a:r>
              <a:t>'System shall operate safely in conditions: X, Y, Z'</a:t>
            </a:r>
          </a:p>
          <a:p>
            <a:pPr>
              <a:spcAft>
                <a:spcPts val="600"/>
              </a:spcAft>
              <a:defRPr sz="1800">
                <a:solidFill>
                  <a:srgbClr val="333333"/>
                </a:solidFill>
              </a:defRPr>
            </a:pPr>
            <a:r>
              <a:t>'System shall detect when outside ODD and transition to safe state'</a:t>
            </a:r>
          </a:p>
          <a:p>
            <a:pPr>
              <a:spcAft>
                <a:spcPts val="1000"/>
              </a:spcAft>
              <a:defRPr sz="1800">
                <a:solidFill>
                  <a:srgbClr val="333333"/>
                </a:solidFill>
              </a:defRPr>
            </a:pPr>
            <a:r>
              <a:t>2. Verification &amp; Validation: — Traditional: Test against specifications</a:t>
            </a:r>
          </a:p>
          <a:p>
            <a:pPr>
              <a:spcAft>
                <a:spcPts val="600"/>
              </a:spcAft>
              <a:defRPr sz="1800">
                <a:solidFill>
                  <a:srgbClr val="333333"/>
                </a:solidFill>
              </a:defRPr>
            </a:pPr>
            <a:r>
              <a:t>Autonomous: No complete specification exists</a:t>
            </a:r>
          </a:p>
          <a:p>
            <a:pPr>
              <a:spcAft>
                <a:spcPts val="600"/>
              </a:spcAft>
              <a:defRPr sz="1800">
                <a:solidFill>
                  <a:srgbClr val="333333"/>
                </a:solidFill>
              </a:defRPr>
            </a:pPr>
            <a:r>
              <a:t>New approach: — Scenario-based testing (millions of scenarios)</a:t>
            </a:r>
          </a:p>
          <a:p>
            <a:pPr>
              <a:spcAft>
                <a:spcPts val="600"/>
              </a:spcAft>
              <a:defRPr sz="1800">
                <a:solidFill>
                  <a:srgbClr val="333333"/>
                </a:solidFill>
              </a:defRPr>
            </a:pPr>
            <a:r>
              <a:t>Statistical validation (confidence intervals)</a:t>
            </a:r>
          </a:p>
          <a:p>
            <a:pPr>
              <a:spcAft>
                <a:spcPts val="600"/>
              </a:spcAft>
              <a:defRPr sz="1800">
                <a:solidFill>
                  <a:srgbClr val="333333"/>
                </a:solidFill>
              </a:defRPr>
            </a:pPr>
            <a:r>
              <a:t>Field testing (real-world miles)</a:t>
            </a:r>
          </a:p>
          <a:p>
            <a:pPr>
              <a:spcAft>
                <a:spcPts val="600"/>
              </a:spcAft>
              <a:defRPr sz="1800">
                <a:solidFill>
                  <a:srgbClr val="333333"/>
                </a:solidFill>
              </a:defRPr>
            </a:pPr>
            <a:r>
              <a:t>Continuous monitoring (after deployment)</a:t>
            </a:r>
          </a:p>
          <a:p>
            <a:pPr>
              <a:spcAft>
                <a:spcPts val="600"/>
              </a:spcAft>
              <a:defRPr sz="1800">
                <a:solidFill>
                  <a:srgbClr val="333333"/>
                </a:solidFill>
              </a:defRPr>
            </a:pPr>
            <a:r>
              <a:t>Example: Waymo requires billions of virtual miles + millions of real miles</a:t>
            </a:r>
          </a:p>
          <a:p>
            <a:pPr>
              <a:spcAft>
                <a:spcPts val="1000"/>
              </a:spcAft>
              <a:defRPr sz="1800">
                <a:solidFill>
                  <a:srgbClr val="333333"/>
                </a:solidFill>
              </a:defRPr>
            </a:pPr>
            <a:r>
              <a:t>3. Safety Assurance: — Traditional: Failure rate targets (e.g., &lt;10 FIT)</a:t>
            </a:r>
          </a:p>
          <a:p>
            <a:pPr>
              <a:spcAft>
                <a:spcPts val="600"/>
              </a:spcAft>
              <a:defRPr sz="1800">
                <a:solidFill>
                  <a:srgbClr val="333333"/>
                </a:solidFill>
              </a:defRPr>
            </a:pPr>
            <a:r>
              <a:t>Autonomous: How do we prove self-driving is safer than human?</a:t>
            </a:r>
          </a:p>
          <a:p>
            <a:pPr>
              <a:spcAft>
                <a:spcPts val="600"/>
              </a:spcAft>
              <a:defRPr sz="1800">
                <a:solidFill>
                  <a:srgbClr val="333333"/>
                </a:solidFill>
              </a:defRPr>
            </a:pPr>
            <a:r>
              <a:t>New approach: — Safety cases (structured argument)</a:t>
            </a:r>
          </a:p>
          <a:p>
            <a:pPr>
              <a:spcAft>
                <a:spcPts val="600"/>
              </a:spcAft>
              <a:defRPr sz="1800">
                <a:solidFill>
                  <a:srgbClr val="333333"/>
                </a:solidFill>
              </a:defRPr>
            </a:pPr>
            <a:r>
              <a:t>Dissimilar redundancy (different sensors, algorithms)</a:t>
            </a:r>
          </a:p>
          <a:p>
            <a:pPr>
              <a:spcAft>
                <a:spcPts val="600"/>
              </a:spcAft>
              <a:defRPr sz="1800">
                <a:solidFill>
                  <a:srgbClr val="333333"/>
                </a:solidFill>
              </a:defRPr>
            </a:pPr>
            <a:r>
              <a:t>Human oversight / takeover capability</a:t>
            </a:r>
          </a:p>
          <a:p>
            <a:pPr>
              <a:spcAft>
                <a:spcPts val="600"/>
              </a:spcAft>
              <a:defRPr sz="1800">
                <a:solidFill>
                  <a:srgbClr val="333333"/>
                </a:solidFill>
              </a:defRPr>
            </a:pPr>
            <a:r>
              <a:t>ISO 21448 (SOTIF - Safety Of The Intended Functionality) addresses this</a:t>
            </a:r>
          </a:p>
          <a:p>
            <a:pPr>
              <a:spcAft>
                <a:spcPts val="1000"/>
              </a:spcAft>
              <a:defRPr sz="1800">
                <a:solidFill>
                  <a:srgbClr val="333333"/>
                </a:solidFill>
              </a:defRPr>
            </a:pPr>
            <a:r>
              <a:t>4. Ethical Decision-Making: — Traditional: Engineer makes all decisions</a:t>
            </a:r>
          </a:p>
          <a:p>
            <a:pPr>
              <a:spcAft>
                <a:spcPts val="600"/>
              </a:spcAft>
              <a:defRPr sz="1800">
                <a:solidFill>
                  <a:srgbClr val="333333"/>
                </a:solidFill>
              </a:defRPr>
            </a:pPr>
            <a:r>
              <a:t>Autonomous: System makes real-time ethical decisions</a:t>
            </a:r>
          </a:p>
          <a:p>
            <a:pPr>
              <a:spcAft>
                <a:spcPts val="600"/>
              </a:spcAft>
              <a:defRPr sz="1800">
                <a:solidFill>
                  <a:srgbClr val="333333"/>
                </a:solidFill>
              </a:defRPr>
            </a:pPr>
            <a:r>
              <a:t>Example: Unavoidable collision - who should AI protect?</a:t>
            </a:r>
          </a:p>
          <a:p>
            <a:pPr>
              <a:spcAft>
                <a:spcPts val="600"/>
              </a:spcAft>
              <a:defRPr sz="1800">
                <a:solidFill>
                  <a:srgbClr val="333333"/>
                </a:solidFill>
              </a:defRPr>
            </a:pPr>
            <a:r>
              <a:t>New approach: Make value trade-offs explicit, involve society</a:t>
            </a:r>
          </a:p>
          <a:p>
            <a:pPr>
              <a:spcAft>
                <a:spcPts val="1000"/>
              </a:spcAft>
              <a:defRPr sz="1800">
                <a:solidFill>
                  <a:srgbClr val="333333"/>
                </a:solidFill>
              </a:defRPr>
            </a:pPr>
            <a:r>
              <a:t>This is the frontier of systems engineering. Standards are being written NOW.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SAE Levels of Autonomy and SE Complexity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connect autonomous systems to the SAE levels framework.</a:t>
            </a:r>
          </a:p>
          <a:p>
            <a:pPr>
              <a:spcAft>
                <a:spcPts val="1000"/>
              </a:spcAft>
              <a:defRPr sz="1800">
                <a:solidFill>
                  <a:srgbClr val="333333"/>
                </a:solidFill>
              </a:defRPr>
            </a:pPr>
            <a:r>
              <a:t>SAE J3016 Levels of Driving Automation:</a:t>
            </a:r>
          </a:p>
          <a:p>
            <a:pPr>
              <a:spcAft>
                <a:spcPts val="1000"/>
              </a:spcAft>
              <a:defRPr sz="1800">
                <a:solidFill>
                  <a:srgbClr val="333333"/>
                </a:solidFill>
              </a:defRPr>
            </a:pPr>
            <a:r>
              <a:t>Level 0 - No Automation — Human does everything</a:t>
            </a:r>
          </a:p>
          <a:p>
            <a:pPr>
              <a:spcAft>
                <a:spcPts val="600"/>
              </a:spcAft>
              <a:defRPr sz="1800">
                <a:solidFill>
                  <a:srgbClr val="333333"/>
                </a:solidFill>
              </a:defRPr>
            </a:pPr>
            <a:r>
              <a:t>SE Complexity: LOW</a:t>
            </a:r>
          </a:p>
          <a:p>
            <a:pPr>
              <a:spcAft>
                <a:spcPts val="600"/>
              </a:spcAft>
              <a:defRPr sz="1800">
                <a:solidFill>
                  <a:srgbClr val="333333"/>
                </a:solidFill>
              </a:defRPr>
            </a:pPr>
            <a:r>
              <a:t>Example: 1990s vehicle</a:t>
            </a:r>
          </a:p>
          <a:p>
            <a:pPr>
              <a:spcAft>
                <a:spcPts val="1000"/>
              </a:spcAft>
              <a:defRPr sz="1800">
                <a:solidFill>
                  <a:srgbClr val="333333"/>
                </a:solidFill>
              </a:defRPr>
            </a:pPr>
            <a:r>
              <a:t>Level 1 - Driver Assistance — System assists with EITHER steering OR acceleration/braking</a:t>
            </a:r>
          </a:p>
          <a:p>
            <a:pPr>
              <a:spcAft>
                <a:spcPts val="600"/>
              </a:spcAft>
              <a:defRPr sz="1800">
                <a:solidFill>
                  <a:srgbClr val="333333"/>
                </a:solidFill>
              </a:defRPr>
            </a:pPr>
            <a:r>
              <a:t>Human monitors and controls</a:t>
            </a:r>
          </a:p>
          <a:p>
            <a:pPr>
              <a:spcAft>
                <a:spcPts val="600"/>
              </a:spcAft>
              <a:defRPr sz="1800">
                <a:solidFill>
                  <a:srgbClr val="333333"/>
                </a:solidFill>
              </a:defRPr>
            </a:pPr>
            <a:r>
              <a:t>SE Complexity: MODERATE</a:t>
            </a:r>
          </a:p>
          <a:p>
            <a:pPr>
              <a:spcAft>
                <a:spcPts val="600"/>
              </a:spcAft>
              <a:defRPr sz="1800">
                <a:solidFill>
                  <a:srgbClr val="333333"/>
                </a:solidFill>
              </a:defRPr>
            </a:pPr>
            <a:r>
              <a:t>Examples: Adaptive Cruise Control, Lane Keeping Assist</a:t>
            </a:r>
          </a:p>
          <a:p>
            <a:pPr>
              <a:spcAft>
                <a:spcPts val="600"/>
              </a:spcAft>
              <a:defRPr sz="1800">
                <a:solidFill>
                  <a:srgbClr val="333333"/>
                </a:solidFill>
              </a:defRPr>
            </a:pPr>
            <a:r>
              <a:t>Challenges: Human-machine interface, mode confusion</a:t>
            </a:r>
          </a:p>
          <a:p>
            <a:pPr>
              <a:spcAft>
                <a:spcPts val="1000"/>
              </a:spcAft>
              <a:defRPr sz="1800">
                <a:solidFill>
                  <a:srgbClr val="333333"/>
                </a:solidFill>
              </a:defRPr>
            </a:pPr>
            <a:r>
              <a:t>Level 2 - Partial Automation — System controls BOTH steering AND acceleration/braking simultaneously</a:t>
            </a:r>
          </a:p>
          <a:p>
            <a:pPr>
              <a:spcAft>
                <a:spcPts val="600"/>
              </a:spcAft>
              <a:defRPr sz="1800">
                <a:solidFill>
                  <a:srgbClr val="333333"/>
                </a:solidFill>
              </a:defRPr>
            </a:pPr>
            <a:r>
              <a:t>Human monitors, ready to take over</a:t>
            </a:r>
          </a:p>
          <a:p>
            <a:pPr>
              <a:spcAft>
                <a:spcPts val="600"/>
              </a:spcAft>
              <a:defRPr sz="1800">
                <a:solidFill>
                  <a:srgbClr val="333333"/>
                </a:solidFill>
              </a:defRPr>
            </a:pPr>
            <a:r>
              <a:t>SE Complexity: HIGH</a:t>
            </a:r>
          </a:p>
          <a:p>
            <a:pPr>
              <a:spcAft>
                <a:spcPts val="600"/>
              </a:spcAft>
              <a:defRPr sz="1800">
                <a:solidFill>
                  <a:srgbClr val="333333"/>
                </a:solidFill>
              </a:defRPr>
            </a:pPr>
            <a:r>
              <a:t>Examples: Tesla Autopilot, GM Super Cruise</a:t>
            </a:r>
          </a:p>
          <a:p>
            <a:pPr>
              <a:spcAft>
                <a:spcPts val="600"/>
              </a:spcAft>
              <a:defRPr sz="1800">
                <a:solidFill>
                  <a:srgbClr val="333333"/>
                </a:solidFill>
              </a:defRPr>
            </a:pPr>
            <a:r>
              <a:t>Challenges: Driver attention monitoring, safe handoff</a:t>
            </a:r>
          </a:p>
          <a:p>
            <a:pPr>
              <a:spcAft>
                <a:spcPts val="1000"/>
              </a:spcAft>
              <a:defRPr sz="1800">
                <a:solidFill>
                  <a:srgbClr val="333333"/>
                </a:solidFill>
              </a:defRPr>
            </a:pPr>
            <a:r>
              <a:t>Level 3 - Conditional Automation — System drives in specific conditions</a:t>
            </a:r>
          </a:p>
          <a:p>
            <a:pPr>
              <a:spcAft>
                <a:spcPts val="600"/>
              </a:spcAft>
              <a:defRPr sz="1800">
                <a:solidFill>
                  <a:srgbClr val="333333"/>
                </a:solidFill>
              </a:defRPr>
            </a:pPr>
            <a:r>
              <a:t>Human must be ready to take over when requested</a:t>
            </a:r>
          </a:p>
          <a:p>
            <a:pPr>
              <a:spcAft>
                <a:spcPts val="600"/>
              </a:spcAft>
              <a:defRPr sz="1800">
                <a:solidFill>
                  <a:srgbClr val="333333"/>
                </a:solidFill>
              </a:defRPr>
            </a:pPr>
            <a:r>
              <a:t>SE Complexity: VERY HIGH</a:t>
            </a:r>
          </a:p>
          <a:p>
            <a:pPr>
              <a:spcAft>
                <a:spcPts val="600"/>
              </a:spcAft>
              <a:defRPr sz="1800">
                <a:solidFill>
                  <a:srgbClr val="333333"/>
                </a:solidFill>
              </a:defRPr>
            </a:pPr>
            <a:r>
              <a:t>Example: Mercedes Drive Pilot (traffic jam pilot)</a:t>
            </a:r>
          </a:p>
          <a:p>
            <a:pPr>
              <a:spcAft>
                <a:spcPts val="600"/>
              </a:spcAft>
              <a:defRPr sz="1800">
                <a:solidFill>
                  <a:srgbClr val="333333"/>
                </a:solidFill>
              </a:defRPr>
            </a:pPr>
            <a:r>
              <a:t>Challenges: Defining ODD precisely, safe takeover request mechanism</a:t>
            </a:r>
          </a:p>
          <a:p>
            <a:pPr>
              <a:spcAft>
                <a:spcPts val="1000"/>
              </a:spcAft>
              <a:defRPr sz="1800">
                <a:solidFill>
                  <a:srgbClr val="333333"/>
                </a:solidFill>
              </a:defRPr>
            </a:pPr>
            <a:r>
              <a:t>Level 4 - High Automation — System drives in specific conditions</a:t>
            </a:r>
          </a:p>
          <a:p>
            <a:pPr>
              <a:spcAft>
                <a:spcPts val="600"/>
              </a:spcAft>
              <a:defRPr sz="1800">
                <a:solidFill>
                  <a:srgbClr val="333333"/>
                </a:solidFill>
              </a:defRPr>
            </a:pPr>
            <a:r>
              <a:t>NO human intervention needed within ODD</a:t>
            </a:r>
          </a:p>
          <a:p>
            <a:pPr>
              <a:spcAft>
                <a:spcPts val="600"/>
              </a:spcAft>
              <a:defRPr sz="1800">
                <a:solidFill>
                  <a:srgbClr val="333333"/>
                </a:solidFill>
              </a:defRPr>
            </a:pPr>
            <a:r>
              <a:t>System handles takeover (e.g., pull over safely)</a:t>
            </a:r>
          </a:p>
          <a:p>
            <a:pPr>
              <a:spcAft>
                <a:spcPts val="600"/>
              </a:spcAft>
              <a:defRPr sz="1800">
                <a:solidFill>
                  <a:srgbClr val="333333"/>
                </a:solidFill>
              </a:defRPr>
            </a:pPr>
            <a:r>
              <a:t>SE Complexity: EXTREME</a:t>
            </a:r>
          </a:p>
          <a:p>
            <a:pPr>
              <a:spcAft>
                <a:spcPts val="600"/>
              </a:spcAft>
              <a:defRPr sz="1800">
                <a:solidFill>
                  <a:srgbClr val="333333"/>
                </a:solidFill>
              </a:defRPr>
            </a:pPr>
            <a:r>
              <a:t>Examples: Waymo, Cruise robotaxis (limited geographic areas)</a:t>
            </a:r>
          </a:p>
          <a:p>
            <a:pPr>
              <a:spcAft>
                <a:spcPts val="600"/>
              </a:spcAft>
              <a:defRPr sz="1800">
                <a:solidFill>
                  <a:srgbClr val="333333"/>
                </a:solidFill>
              </a:defRPr>
            </a:pPr>
            <a:r>
              <a:t>Challenges: Handle all scenarios within ODD, safe degradation</a:t>
            </a:r>
          </a:p>
          <a:p>
            <a:pPr>
              <a:spcAft>
                <a:spcPts val="1000"/>
              </a:spcAft>
              <a:defRPr sz="1800">
                <a:solidFill>
                  <a:srgbClr val="333333"/>
                </a:solidFill>
              </a:defRPr>
            </a:pPr>
            <a:r>
              <a:t>Level 5 - Full Automation — System drives everywhere, all conditions</a:t>
            </a:r>
          </a:p>
          <a:p>
            <a:pPr>
              <a:spcAft>
                <a:spcPts val="600"/>
              </a:spcAft>
              <a:defRPr sz="1800">
                <a:solidFill>
                  <a:srgbClr val="333333"/>
                </a:solidFill>
              </a:defRPr>
            </a:pPr>
            <a:r>
              <a:t>No human driver needed</a:t>
            </a:r>
          </a:p>
          <a:p>
            <a:pPr>
              <a:spcAft>
                <a:spcPts val="600"/>
              </a:spcAft>
              <a:defRPr sz="1800">
                <a:solidFill>
                  <a:srgbClr val="333333"/>
                </a:solidFill>
              </a:defRPr>
            </a:pPr>
            <a:r>
              <a:t>SE Complexity: CURRENTLY IMPOSSIBLE?</a:t>
            </a:r>
          </a:p>
          <a:p>
            <a:pPr>
              <a:spcAft>
                <a:spcPts val="600"/>
              </a:spcAft>
              <a:defRPr sz="1800">
                <a:solidFill>
                  <a:srgbClr val="333333"/>
                </a:solidFill>
              </a:defRPr>
            </a:pPr>
            <a:r>
              <a:t>Example: None in production</a:t>
            </a:r>
          </a:p>
          <a:p>
            <a:pPr>
              <a:spcAft>
                <a:spcPts val="600"/>
              </a:spcAft>
              <a:defRPr sz="1800">
                <a:solidFill>
                  <a:srgbClr val="333333"/>
                </a:solidFill>
              </a:defRPr>
            </a:pPr>
            <a:r>
              <a:t>Challenges: 'All conditions' is unbounded, cannot verify</a:t>
            </a:r>
          </a:p>
          <a:p>
            <a:pPr>
              <a:spcAft>
                <a:spcPts val="1000"/>
              </a:spcAft>
              <a:defRPr sz="1800">
                <a:solidFill>
                  <a:srgbClr val="333333"/>
                </a:solidFill>
              </a:defRPr>
            </a:pPr>
            <a:r>
              <a:t>SE Complexity Drivers: — Perception: L0-L2 use simple sensors. L3-L5 need sensor fusion (camera, radar, lidar), ML perception</a:t>
            </a:r>
          </a:p>
          <a:p>
            <a:pPr>
              <a:spcAft>
                <a:spcPts val="600"/>
              </a:spcAft>
              <a:defRPr sz="1800">
                <a:solidFill>
                  <a:srgbClr val="333333"/>
                </a:solidFill>
              </a:defRPr>
            </a:pPr>
            <a:r>
              <a:t>Decision-Making: L0-L2 simple rules. L3-L5 complex planning, prediction of other agents</a:t>
            </a:r>
          </a:p>
          <a:p>
            <a:pPr>
              <a:spcAft>
                <a:spcPts val="600"/>
              </a:spcAft>
              <a:defRPr sz="1800">
                <a:solidFill>
                  <a:srgbClr val="333333"/>
                </a:solidFill>
              </a:defRPr>
            </a:pPr>
            <a:r>
              <a:t>Validation: L0-L2 traditional testing. L3-L5 require billions of test miles (virtual + real)</a:t>
            </a:r>
          </a:p>
          <a:p>
            <a:pPr>
              <a:spcAft>
                <a:spcPts val="600"/>
              </a:spcAft>
              <a:defRPr sz="1800">
                <a:solidFill>
                  <a:srgbClr val="333333"/>
                </a:solidFill>
              </a:defRPr>
            </a:pPr>
            <a:r>
              <a:t>Safety: L0-L2 fail to safe state (human takes over). L3-L5 must handle failures autonomously</a:t>
            </a:r>
          </a:p>
          <a:p>
            <a:pPr>
              <a:spcAft>
                <a:spcPts val="1000"/>
              </a:spcAft>
              <a:defRPr sz="1800">
                <a:solidFill>
                  <a:srgbClr val="333333"/>
                </a:solidFill>
              </a:defRPr>
            </a:pPr>
            <a:r>
              <a:t>Industry Reality: — Most production systems: L2 (human in the loop)</a:t>
            </a:r>
          </a:p>
          <a:p>
            <a:pPr>
              <a:spcAft>
                <a:spcPts val="600"/>
              </a:spcAft>
              <a:defRPr sz="1800">
                <a:solidFill>
                  <a:srgbClr val="333333"/>
                </a:solidFill>
              </a:defRPr>
            </a:pPr>
            <a:r>
              <a:t>Few L3 systems (Mercedes, Honda in limited conditions)</a:t>
            </a:r>
          </a:p>
          <a:p>
            <a:pPr>
              <a:spcAft>
                <a:spcPts val="600"/>
              </a:spcAft>
              <a:defRPr sz="1800">
                <a:solidFill>
                  <a:srgbClr val="333333"/>
                </a:solidFill>
              </a:defRPr>
            </a:pPr>
            <a:r>
              <a:t>L4 robotaxis in limited areas (Waymo, Cruise)</a:t>
            </a:r>
          </a:p>
          <a:p>
            <a:pPr>
              <a:spcAft>
                <a:spcPts val="600"/>
              </a:spcAft>
              <a:defRPr sz="1800">
                <a:solidFill>
                  <a:srgbClr val="333333"/>
                </a:solidFill>
              </a:defRPr>
            </a:pPr>
            <a:r>
              <a:t>L5 is research, not near-term production</a:t>
            </a:r>
          </a:p>
          <a:p>
            <a:pPr>
              <a:spcAft>
                <a:spcPts val="1000"/>
              </a:spcAft>
              <a:defRPr sz="1800">
                <a:solidFill>
                  <a:srgbClr val="333333"/>
                </a:solidFill>
              </a:defRPr>
            </a:pPr>
            <a:r>
              <a:t>Your role as future SE: Engineering L3-L5 autonomy is the grand challenge of our generation.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 Part 7: Sustainability in Systems Engineering (Slides 23-24, ~8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Green Systems Engineering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Seventh trend: Sustainability as a core systems engineering concern.</a:t>
            </a:r>
          </a:p>
          <a:p>
            <a:pPr>
              <a:spcAft>
                <a:spcPts val="1000"/>
              </a:spcAft>
              <a:defRPr sz="1800">
                <a:solidFill>
                  <a:srgbClr val="333333"/>
                </a:solidFill>
              </a:defRPr>
            </a:pPr>
            <a:r>
              <a:t>The Imperative: — Climate change is existential threat</a:t>
            </a:r>
          </a:p>
          <a:p>
            <a:pPr>
              <a:spcAft>
                <a:spcPts val="600"/>
              </a:spcAft>
              <a:defRPr sz="1800">
                <a:solidFill>
                  <a:srgbClr val="333333"/>
                </a:solidFill>
              </a:defRPr>
            </a:pPr>
            <a:r>
              <a:t>Transportation sector: 25% of global CO2 emissions</a:t>
            </a:r>
          </a:p>
          <a:p>
            <a:pPr>
              <a:spcAft>
                <a:spcPts val="600"/>
              </a:spcAft>
              <a:defRPr sz="1800">
                <a:solidFill>
                  <a:srgbClr val="333333"/>
                </a:solidFill>
              </a:defRPr>
            </a:pPr>
            <a:r>
              <a:t>Automotive industry must decarbonize</a:t>
            </a:r>
          </a:p>
          <a:p>
            <a:pPr>
              <a:spcAft>
                <a:spcPts val="600"/>
              </a:spcAft>
              <a:defRPr sz="1800">
                <a:solidFill>
                  <a:srgbClr val="333333"/>
                </a:solidFill>
              </a:defRPr>
            </a:pPr>
            <a:r>
              <a:t>Systems engineers are key to this transformation</a:t>
            </a:r>
          </a:p>
          <a:p>
            <a:pPr>
              <a:spcAft>
                <a:spcPts val="1000"/>
              </a:spcAft>
              <a:defRPr sz="1800">
                <a:solidFill>
                  <a:srgbClr val="333333"/>
                </a:solidFill>
              </a:defRPr>
            </a:pPr>
            <a:r>
              <a:t>Traditional SE: Optimize for performance, cost, safety</a:t>
            </a:r>
          </a:p>
          <a:p>
            <a:pPr>
              <a:spcAft>
                <a:spcPts val="1000"/>
              </a:spcAft>
              <a:defRPr sz="1800">
                <a:solidFill>
                  <a:srgbClr val="333333"/>
                </a:solidFill>
              </a:defRPr>
            </a:pPr>
            <a:r>
              <a:t>Green SE: ADD sustainability to optimization objectives</a:t>
            </a:r>
          </a:p>
          <a:p>
            <a:pPr>
              <a:spcAft>
                <a:spcPts val="1000"/>
              </a:spcAft>
              <a:defRPr sz="1800">
                <a:solidFill>
                  <a:srgbClr val="333333"/>
                </a:solidFill>
              </a:defRPr>
            </a:pPr>
            <a:r>
              <a:t>Sustainability Across System Lifecycle:</a:t>
            </a:r>
          </a:p>
          <a:p>
            <a:pPr>
              <a:spcAft>
                <a:spcPts val="1000"/>
              </a:spcAft>
              <a:defRPr sz="1800">
                <a:solidFill>
                  <a:srgbClr val="333333"/>
                </a:solidFill>
              </a:defRPr>
            </a:pPr>
            <a:r>
              <a:t>1. Concept Phase: — Sustainable architecture decisions — Example: EV vs. hybrid vs. hydrogen</a:t>
            </a:r>
          </a:p>
          <a:p>
            <a:pPr>
              <a:spcAft>
                <a:spcPts val="600"/>
              </a:spcAft>
              <a:defRPr sz="1800">
                <a:solidFill>
                  <a:srgbClr val="333333"/>
                </a:solidFill>
              </a:defRPr>
            </a:pPr>
            <a:r>
              <a:t>Life cycle carbon footprint analysis</a:t>
            </a:r>
          </a:p>
          <a:p>
            <a:pPr>
              <a:spcAft>
                <a:spcPts val="600"/>
              </a:spcAft>
              <a:defRPr sz="1800">
                <a:solidFill>
                  <a:srgbClr val="333333"/>
                </a:solidFill>
              </a:defRPr>
            </a:pPr>
            <a:r>
              <a:t>Circular economy design (design for disassembly, reuse)</a:t>
            </a:r>
          </a:p>
          <a:p>
            <a:pPr>
              <a:spcAft>
                <a:spcPts val="1000"/>
              </a:spcAft>
              <a:defRPr sz="1800">
                <a:solidFill>
                  <a:srgbClr val="333333"/>
                </a:solidFill>
              </a:defRPr>
            </a:pPr>
            <a:r>
              <a:t>2. Development Phase: — Sustainable materials selection — Recyclable materials preferred</a:t>
            </a:r>
          </a:p>
          <a:p>
            <a:pPr>
              <a:spcAft>
                <a:spcPts val="600"/>
              </a:spcAft>
              <a:defRPr sz="1800">
                <a:solidFill>
                  <a:srgbClr val="333333"/>
                </a:solidFill>
              </a:defRPr>
            </a:pPr>
            <a:r>
              <a:t>Reduced use of rare earth elements</a:t>
            </a:r>
          </a:p>
          <a:p>
            <a:pPr>
              <a:spcAft>
                <a:spcPts val="600"/>
              </a:spcAft>
              <a:defRPr sz="1800">
                <a:solidFill>
                  <a:srgbClr val="333333"/>
                </a:solidFill>
              </a:defRPr>
            </a:pPr>
            <a:r>
              <a:t>Example: BMW i3 uses recycled carbon fiber, sustainable textiles</a:t>
            </a:r>
          </a:p>
          <a:p>
            <a:pPr>
              <a:spcAft>
                <a:spcPts val="1000"/>
              </a:spcAft>
              <a:defRPr sz="1800">
                <a:solidFill>
                  <a:srgbClr val="333333"/>
                </a:solidFill>
              </a:defRPr>
            </a:pPr>
            <a:r>
              <a:t>3. Manufacturing Phase: — Energy-efficient production — Renewable energy in factories</a:t>
            </a:r>
          </a:p>
          <a:p>
            <a:pPr>
              <a:spcAft>
                <a:spcPts val="600"/>
              </a:spcAft>
              <a:defRPr sz="1800">
                <a:solidFill>
                  <a:srgbClr val="333333"/>
                </a:solidFill>
              </a:defRPr>
            </a:pPr>
            <a:r>
              <a:t>Example: Tesla Gigafactory powered by solar/wind</a:t>
            </a:r>
          </a:p>
          <a:p>
            <a:pPr>
              <a:spcAft>
                <a:spcPts val="600"/>
              </a:spcAft>
              <a:defRPr sz="1800">
                <a:solidFill>
                  <a:srgbClr val="333333"/>
                </a:solidFill>
              </a:defRPr>
            </a:pPr>
            <a:r>
              <a:t>Waste reduction, closed-loop manufacturing</a:t>
            </a:r>
          </a:p>
          <a:p>
            <a:pPr>
              <a:spcAft>
                <a:spcPts val="1000"/>
              </a:spcAft>
              <a:defRPr sz="1800">
                <a:solidFill>
                  <a:srgbClr val="333333"/>
                </a:solidFill>
              </a:defRPr>
            </a:pPr>
            <a:r>
              <a:t>4. Operations Phase: — Use-phase efficiency — For EVs: Minimize energy consumption (lightweight, aerodynamics, efficient motors)</a:t>
            </a:r>
          </a:p>
          <a:p>
            <a:pPr>
              <a:spcAft>
                <a:spcPts val="600"/>
              </a:spcAft>
              <a:defRPr sz="1800">
                <a:solidFill>
                  <a:srgbClr val="333333"/>
                </a:solidFill>
              </a:defRPr>
            </a:pPr>
            <a:r>
              <a:t>For ICE: Maximize fuel efficiency</a:t>
            </a:r>
          </a:p>
          <a:p>
            <a:pPr>
              <a:spcAft>
                <a:spcPts val="600"/>
              </a:spcAft>
              <a:defRPr sz="1800">
                <a:solidFill>
                  <a:srgbClr val="333333"/>
                </a:solidFill>
              </a:defRPr>
            </a:pPr>
            <a:r>
              <a:t>Example: Mercedes EQS achieves 0.20 drag coefficient (most aerodynamic production car)</a:t>
            </a:r>
          </a:p>
          <a:p>
            <a:pPr>
              <a:spcAft>
                <a:spcPts val="1000"/>
              </a:spcAft>
              <a:defRPr sz="1800">
                <a:solidFill>
                  <a:srgbClr val="333333"/>
                </a:solidFill>
              </a:defRPr>
            </a:pPr>
            <a:r>
              <a:t>5. End-of-Life Phase: — Design for recycling — Battery second-life applications (EV batteries → grid storage)</a:t>
            </a:r>
          </a:p>
          <a:p>
            <a:pPr>
              <a:spcAft>
                <a:spcPts val="600"/>
              </a:spcAft>
              <a:defRPr sz="1800">
                <a:solidFill>
                  <a:srgbClr val="333333"/>
                </a:solidFill>
              </a:defRPr>
            </a:pPr>
            <a:r>
              <a:t>Material recovery (90%+ recyclability targets)</a:t>
            </a:r>
          </a:p>
          <a:p>
            <a:pPr>
              <a:spcAft>
                <a:spcPts val="600"/>
              </a:spcAft>
              <a:defRPr sz="1800">
                <a:solidFill>
                  <a:srgbClr val="333333"/>
                </a:solidFill>
              </a:defRPr>
            </a:pPr>
            <a:r>
              <a:t>Example: BMW recycles 95% of vehicle mass</a:t>
            </a:r>
          </a:p>
          <a:p>
            <a:pPr>
              <a:spcAft>
                <a:spcPts val="1000"/>
              </a:spcAft>
              <a:defRPr sz="1800">
                <a:solidFill>
                  <a:srgbClr val="333333"/>
                </a:solidFill>
              </a:defRPr>
            </a:pPr>
            <a:r>
              <a:t>SE Methods for Sustainability:</a:t>
            </a:r>
          </a:p>
          <a:p>
            <a:pPr>
              <a:spcAft>
                <a:spcPts val="1000"/>
              </a:spcAft>
              <a:defRPr sz="1800">
                <a:solidFill>
                  <a:srgbClr val="333333"/>
                </a:solidFill>
              </a:defRPr>
            </a:pPr>
            <a:r>
              <a:t>Life Cycle Assessment (LCA): — Quantify environmental impact from cradle-to-grave</a:t>
            </a:r>
          </a:p>
          <a:p>
            <a:pPr>
              <a:spcAft>
                <a:spcPts val="600"/>
              </a:spcAft>
              <a:defRPr sz="1800">
                <a:solidFill>
                  <a:srgbClr val="333333"/>
                </a:solidFill>
              </a:defRPr>
            </a:pPr>
            <a:r>
              <a:t>ISO 14040 standard</a:t>
            </a:r>
          </a:p>
          <a:p>
            <a:pPr>
              <a:spcAft>
                <a:spcPts val="600"/>
              </a:spcAft>
              <a:defRPr sz="1800">
                <a:solidFill>
                  <a:srgbClr val="333333"/>
                </a:solidFill>
              </a:defRPr>
            </a:pPr>
            <a:r>
              <a:t>Example: Compare total CO2 of EV vs ICE vehicle over 200,000 km</a:t>
            </a:r>
          </a:p>
          <a:p>
            <a:pPr>
              <a:spcAft>
                <a:spcPts val="600"/>
              </a:spcAft>
              <a:defRPr sz="1800">
                <a:solidFill>
                  <a:srgbClr val="333333"/>
                </a:solidFill>
              </a:defRPr>
            </a:pPr>
            <a:r>
              <a:t>Includes: manufacturing, energy production, use phase, disposal</a:t>
            </a:r>
          </a:p>
          <a:p>
            <a:pPr>
              <a:spcAft>
                <a:spcPts val="600"/>
              </a:spcAft>
              <a:defRPr sz="1800">
                <a:solidFill>
                  <a:srgbClr val="333333"/>
                </a:solidFill>
              </a:defRPr>
            </a:pPr>
            <a:r>
              <a:t>Result: EVs have lower lifetime CO2 (if grid is low-carbon)</a:t>
            </a:r>
          </a:p>
          <a:p>
            <a:pPr>
              <a:spcAft>
                <a:spcPts val="1000"/>
              </a:spcAft>
              <a:defRPr sz="1800">
                <a:solidFill>
                  <a:srgbClr val="333333"/>
                </a:solidFill>
              </a:defRPr>
            </a:pPr>
            <a:r>
              <a:t>Eco-Design Requirements: — Integrate sustainability into requirements</a:t>
            </a:r>
          </a:p>
          <a:p>
            <a:pPr>
              <a:spcAft>
                <a:spcPts val="600"/>
              </a:spcAft>
              <a:defRPr sz="1800">
                <a:solidFill>
                  <a:srgbClr val="333333"/>
                </a:solidFill>
              </a:defRPr>
            </a:pPr>
            <a:r>
              <a:t>Example: 'Vehicle shall achieve ≤120g CO2/km over WLTP cycle'</a:t>
            </a:r>
          </a:p>
          <a:p>
            <a:pPr>
              <a:spcAft>
                <a:spcPts val="600"/>
              </a:spcAft>
              <a:defRPr sz="1800">
                <a:solidFill>
                  <a:srgbClr val="333333"/>
                </a:solidFill>
              </a:defRPr>
            </a:pPr>
            <a:r>
              <a:t>Example: 'Battery shall use ≤5% cobalt (conflict mineral reduction)'</a:t>
            </a:r>
          </a:p>
          <a:p>
            <a:pPr>
              <a:spcAft>
                <a:spcPts val="600"/>
              </a:spcAft>
              <a:defRPr sz="1800">
                <a:solidFill>
                  <a:srgbClr val="333333"/>
                </a:solidFill>
              </a:defRPr>
            </a:pPr>
            <a:r>
              <a:t>Example: 'Vehicle interior shall use ≥30% recycled materials'</a:t>
            </a:r>
          </a:p>
          <a:p>
            <a:pPr>
              <a:spcAft>
                <a:spcPts val="1000"/>
              </a:spcAft>
              <a:defRPr sz="1800">
                <a:solidFill>
                  <a:srgbClr val="333333"/>
                </a:solidFill>
              </a:defRPr>
            </a:pPr>
            <a:r>
              <a:t>Circular Economy Principles: — Design out waste</a:t>
            </a:r>
          </a:p>
          <a:p>
            <a:pPr>
              <a:spcAft>
                <a:spcPts val="600"/>
              </a:spcAft>
              <a:defRPr sz="1800">
                <a:solidFill>
                  <a:srgbClr val="333333"/>
                </a:solidFill>
              </a:defRPr>
            </a:pPr>
            <a:r>
              <a:t>Keep materials in use</a:t>
            </a:r>
          </a:p>
          <a:p>
            <a:pPr>
              <a:spcAft>
                <a:spcPts val="600"/>
              </a:spcAft>
              <a:defRPr sz="1800">
                <a:solidFill>
                  <a:srgbClr val="333333"/>
                </a:solidFill>
              </a:defRPr>
            </a:pPr>
            <a:r>
              <a:t>Regenerate natural systems</a:t>
            </a:r>
          </a:p>
          <a:p>
            <a:pPr>
              <a:spcAft>
                <a:spcPts val="600"/>
              </a:spcAft>
              <a:defRPr sz="1800">
                <a:solidFill>
                  <a:srgbClr val="333333"/>
                </a:solidFill>
              </a:defRPr>
            </a:pPr>
            <a:r>
              <a:t>Example: Renault's Re-Factory remanufactures components, extends life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How Trends Intersect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We've explored seven trends. The real power is how they CONVERGE and AMPLIFY each other.</a:t>
            </a:r>
          </a:p>
          <a:p>
            <a:pPr>
              <a:spcAft>
                <a:spcPts val="1000"/>
              </a:spcAft>
              <a:defRPr sz="1800">
                <a:solidFill>
                  <a:srgbClr val="333333"/>
                </a:solidFill>
              </a:defRPr>
            </a:pPr>
            <a:r>
              <a:t>Convergence Example: Future Autonomous EV Development</a:t>
            </a:r>
          </a:p>
          <a:p>
            <a:pPr>
              <a:spcAft>
                <a:spcPts val="1000"/>
              </a:spcAft>
              <a:defRPr sz="1800">
                <a:solidFill>
                  <a:srgbClr val="333333"/>
                </a:solidFill>
              </a:defRPr>
            </a:pPr>
            <a:r>
              <a:t>Scenario: Engineering a Level 4 autonomous electric delivery van (2027 project).</a:t>
            </a:r>
          </a:p>
          <a:p>
            <a:pPr>
              <a:spcAft>
                <a:spcPts val="1000"/>
              </a:spcAft>
              <a:defRPr sz="1800">
                <a:solidFill>
                  <a:srgbClr val="333333"/>
                </a:solidFill>
              </a:defRPr>
            </a:pPr>
            <a:r>
              <a:t>Digital Engineering + Digital Thread: — Entire vehicle exists as integrated digital model</a:t>
            </a:r>
          </a:p>
          <a:p>
            <a:pPr>
              <a:spcAft>
                <a:spcPts val="600"/>
              </a:spcAft>
              <a:defRPr sz="1800">
                <a:solidFill>
                  <a:srgbClr val="333333"/>
                </a:solidFill>
              </a:defRPr>
            </a:pPr>
            <a:r>
              <a:t>Requirements, architecture, simulations, manufacturing specs all connected</a:t>
            </a:r>
          </a:p>
          <a:p>
            <a:pPr>
              <a:spcAft>
                <a:spcPts val="600"/>
              </a:spcAft>
              <a:defRPr sz="1800">
                <a:solidFill>
                  <a:srgbClr val="333333"/>
                </a:solidFill>
              </a:defRPr>
            </a:pPr>
            <a:r>
              <a:t>Change propagates automatically</a:t>
            </a:r>
          </a:p>
          <a:p>
            <a:pPr>
              <a:spcAft>
                <a:spcPts val="600"/>
              </a:spcAft>
              <a:defRPr sz="1800">
                <a:solidFill>
                  <a:srgbClr val="333333"/>
                </a:solidFill>
              </a:defRPr>
            </a:pPr>
            <a:r>
              <a:t>Digital twin of every deployed vehicle</a:t>
            </a:r>
          </a:p>
          <a:p>
            <a:pPr>
              <a:spcAft>
                <a:spcPts val="1000"/>
              </a:spcAft>
              <a:defRPr sz="1800">
                <a:solidFill>
                  <a:srgbClr val="333333"/>
                </a:solidFill>
              </a:defRPr>
            </a:pPr>
            <a:r>
              <a:t>AI/ML: — AI generates design alternatives optimized for weight, cost, efficiency</a:t>
            </a:r>
          </a:p>
          <a:p>
            <a:pPr>
              <a:spcAft>
                <a:spcPts val="600"/>
              </a:spcAft>
              <a:defRPr sz="1800">
                <a:solidFill>
                  <a:srgbClr val="333333"/>
                </a:solidFill>
              </a:defRPr>
            </a:pPr>
            <a:r>
              <a:t>ML-based perception and planning for autonomy</a:t>
            </a:r>
          </a:p>
          <a:p>
            <a:pPr>
              <a:spcAft>
                <a:spcPts val="600"/>
              </a:spcAft>
              <a:defRPr sz="1800">
                <a:solidFill>
                  <a:srgbClr val="333333"/>
                </a:solidFill>
              </a:defRPr>
            </a:pPr>
            <a:r>
              <a:t>AI analyzes fleet data to identify improvements</a:t>
            </a:r>
          </a:p>
          <a:p>
            <a:pPr>
              <a:spcAft>
                <a:spcPts val="1000"/>
              </a:spcAft>
              <a:defRPr sz="1800">
                <a:solidFill>
                  <a:srgbClr val="333333"/>
                </a:solidFill>
              </a:defRPr>
            </a:pPr>
            <a:r>
              <a:t>DevOps: — Continuous integration of software and system models</a:t>
            </a:r>
          </a:p>
          <a:p>
            <a:pPr>
              <a:spcAft>
                <a:spcPts val="600"/>
              </a:spcAft>
              <a:defRPr sz="1800">
                <a:solidFill>
                  <a:srgbClr val="333333"/>
                </a:solidFill>
              </a:defRPr>
            </a:pPr>
            <a:r>
              <a:t>OTA updates deploy new features monthly</a:t>
            </a:r>
          </a:p>
          <a:p>
            <a:pPr>
              <a:spcAft>
                <a:spcPts val="600"/>
              </a:spcAft>
              <a:defRPr sz="1800">
                <a:solidFill>
                  <a:srgbClr val="333333"/>
                </a:solidFill>
              </a:defRPr>
            </a:pPr>
            <a:r>
              <a:t>Virtual testing pipeline (millions of scenarios nightly)</a:t>
            </a:r>
          </a:p>
          <a:p>
            <a:pPr>
              <a:spcAft>
                <a:spcPts val="600"/>
              </a:spcAft>
              <a:defRPr sz="1800">
                <a:solidFill>
                  <a:srgbClr val="333333"/>
                </a:solidFill>
              </a:defRPr>
            </a:pPr>
            <a:r>
              <a:t>Fleet data feeds back to development team</a:t>
            </a:r>
          </a:p>
          <a:p>
            <a:pPr>
              <a:spcAft>
                <a:spcPts val="1000"/>
              </a:spcAft>
              <a:defRPr sz="1800">
                <a:solidFill>
                  <a:srgbClr val="333333"/>
                </a:solidFill>
              </a:defRPr>
            </a:pPr>
            <a:r>
              <a:t>Agile SE: — 10-week program increments</a:t>
            </a:r>
          </a:p>
          <a:p>
            <a:pPr>
              <a:spcAft>
                <a:spcPts val="600"/>
              </a:spcAft>
              <a:defRPr sz="1800">
                <a:solidFill>
                  <a:srgbClr val="333333"/>
                </a:solidFill>
              </a:defRPr>
            </a:pPr>
            <a:r>
              <a:t>Iterative development on digital models</a:t>
            </a:r>
          </a:p>
          <a:p>
            <a:pPr>
              <a:spcAft>
                <a:spcPts val="600"/>
              </a:spcAft>
              <a:defRPr sz="1800">
                <a:solidFill>
                  <a:srgbClr val="333333"/>
                </a:solidFill>
              </a:defRPr>
            </a:pPr>
            <a:r>
              <a:t>Stakeholder demos every 2 weeks (in simulation)</a:t>
            </a:r>
          </a:p>
          <a:p>
            <a:pPr>
              <a:spcAft>
                <a:spcPts val="600"/>
              </a:spcAft>
              <a:defRPr sz="1800">
                <a:solidFill>
                  <a:srgbClr val="333333"/>
                </a:solidFill>
              </a:defRPr>
            </a:pPr>
            <a:r>
              <a:t>Rapid adaptation to emerging requirements</a:t>
            </a:r>
          </a:p>
          <a:p>
            <a:pPr>
              <a:spcAft>
                <a:spcPts val="1000"/>
              </a:spcAft>
              <a:defRPr sz="1800">
                <a:solidFill>
                  <a:srgbClr val="333333"/>
                </a:solidFill>
              </a:defRPr>
            </a:pPr>
            <a:r>
              <a:t>MBSE: — SysML model is authoritative source</a:t>
            </a:r>
          </a:p>
          <a:p>
            <a:pPr>
              <a:spcAft>
                <a:spcPts val="600"/>
              </a:spcAft>
              <a:defRPr sz="1800">
                <a:solidFill>
                  <a:srgbClr val="333333"/>
                </a:solidFill>
              </a:defRPr>
            </a:pPr>
            <a:r>
              <a:t>Automatic traceability from needs to verification</a:t>
            </a:r>
          </a:p>
          <a:p>
            <a:pPr>
              <a:spcAft>
                <a:spcPts val="600"/>
              </a:spcAft>
              <a:defRPr sz="1800">
                <a:solidFill>
                  <a:srgbClr val="333333"/>
                </a:solidFill>
              </a:defRPr>
            </a:pPr>
            <a:r>
              <a:t>Simulation models auto-generated from SysML</a:t>
            </a:r>
          </a:p>
          <a:p>
            <a:pPr>
              <a:spcAft>
                <a:spcPts val="1000"/>
              </a:spcAft>
              <a:defRPr sz="1800">
                <a:solidFill>
                  <a:srgbClr val="333333"/>
                </a:solidFill>
              </a:defRPr>
            </a:pPr>
            <a:r>
              <a:t>Autonomous Systems: — L4 autonomy in geo-fenced delivery zones</a:t>
            </a:r>
          </a:p>
          <a:p>
            <a:pPr>
              <a:spcAft>
                <a:spcPts val="600"/>
              </a:spcAft>
              <a:defRPr sz="1800">
                <a:solidFill>
                  <a:srgbClr val="333333"/>
                </a:solidFill>
              </a:defRPr>
            </a:pPr>
            <a:r>
              <a:t>Safety case developed using ISO 21448 (SOTIF)</a:t>
            </a:r>
          </a:p>
          <a:p>
            <a:pPr>
              <a:spcAft>
                <a:spcPts val="600"/>
              </a:spcAft>
              <a:defRPr sz="1800">
                <a:solidFill>
                  <a:srgbClr val="333333"/>
                </a:solidFill>
              </a:defRPr>
            </a:pPr>
            <a:r>
              <a:t>Billions of virtual miles + real-world testing</a:t>
            </a:r>
          </a:p>
          <a:p>
            <a:pPr>
              <a:spcAft>
                <a:spcPts val="1000"/>
              </a:spcAft>
              <a:defRPr sz="1800">
                <a:solidFill>
                  <a:srgbClr val="333333"/>
                </a:solidFill>
              </a:defRPr>
            </a:pPr>
            <a:r>
              <a:t>Sustainability: — LCA integrated into design decisions</a:t>
            </a:r>
          </a:p>
          <a:p>
            <a:pPr>
              <a:spcAft>
                <a:spcPts val="600"/>
              </a:spcAft>
              <a:defRPr sz="1800">
                <a:solidFill>
                  <a:srgbClr val="333333"/>
                </a:solidFill>
              </a:defRPr>
            </a:pPr>
            <a:r>
              <a:t>Optimized for lifecycle CO2 (not just use phase)</a:t>
            </a:r>
          </a:p>
          <a:p>
            <a:pPr>
              <a:spcAft>
                <a:spcPts val="600"/>
              </a:spcAft>
              <a:defRPr sz="1800">
                <a:solidFill>
                  <a:srgbClr val="333333"/>
                </a:solidFill>
              </a:defRPr>
            </a:pPr>
            <a:r>
              <a:t>Battery designed for second-life grid storage</a:t>
            </a:r>
          </a:p>
          <a:p>
            <a:pPr>
              <a:spcAft>
                <a:spcPts val="600"/>
              </a:spcAft>
              <a:defRPr sz="1800">
                <a:solidFill>
                  <a:srgbClr val="333333"/>
                </a:solidFill>
              </a:defRPr>
            </a:pPr>
            <a:r>
              <a:t>95% recyclability target</a:t>
            </a:r>
          </a:p>
          <a:p>
            <a:pPr>
              <a:spcAft>
                <a:spcPts val="1000"/>
              </a:spcAft>
              <a:defRPr sz="1800">
                <a:solidFill>
                  <a:srgbClr val="333333"/>
                </a:solidFill>
              </a:defRPr>
            </a:pPr>
            <a:r>
              <a:t>The Result: — Development time: 24 months (vs. 48 months traditional)</a:t>
            </a:r>
          </a:p>
          <a:p>
            <a:pPr>
              <a:spcAft>
                <a:spcPts val="600"/>
              </a:spcAft>
              <a:defRPr sz="1800">
                <a:solidFill>
                  <a:srgbClr val="333333"/>
                </a:solidFill>
              </a:defRPr>
            </a:pPr>
            <a:r>
              <a:t>Cost: 30% reduction (virtual testing, fewer prototypes)</a:t>
            </a:r>
          </a:p>
          <a:p>
            <a:pPr>
              <a:spcAft>
                <a:spcPts val="600"/>
              </a:spcAft>
              <a:defRPr sz="1800">
                <a:solidFill>
                  <a:srgbClr val="333333"/>
                </a:solidFill>
              </a:defRPr>
            </a:pPr>
            <a:r>
              <a:t>Quality: 40% fewer defects (continuous verification)</a:t>
            </a:r>
          </a:p>
          <a:p>
            <a:pPr>
              <a:spcAft>
                <a:spcPts val="600"/>
              </a:spcAft>
              <a:defRPr sz="1800">
                <a:solidFill>
                  <a:srgbClr val="333333"/>
                </a:solidFill>
              </a:defRPr>
            </a:pPr>
            <a:r>
              <a:t>Sustainability: 60% lower lifecycle CO2 than diesel van</a:t>
            </a:r>
          </a:p>
          <a:p>
            <a:pPr>
              <a:spcAft>
                <a:spcPts val="600"/>
              </a:spcAft>
              <a:defRPr sz="1800">
                <a:solidFill>
                  <a:srgbClr val="333333"/>
                </a:solidFill>
              </a:defRPr>
            </a:pPr>
            <a:r>
              <a:t>Safety: Exceeds human driver safety performance</a:t>
            </a:r>
          </a:p>
          <a:p>
            <a:pPr>
              <a:spcAft>
                <a:spcPts val="1000"/>
              </a:spcAft>
              <a:defRPr sz="1800">
                <a:solidFill>
                  <a:srgbClr val="333333"/>
                </a:solidFill>
              </a:defRPr>
            </a:pPr>
            <a:r>
              <a:t>This is not science fiction. Leading companies are doing this TODAY.</a:t>
            </a:r>
          </a:p>
          <a:p>
            <a:pPr>
              <a:spcAft>
                <a:spcPts val="1000"/>
              </a:spcAft>
              <a:defRPr sz="1800">
                <a:solidFill>
                  <a:srgbClr val="333333"/>
                </a:solidFill>
              </a:defRPr>
            </a:pPr>
            <a:r>
              <a:t>These trends are not separate. They're a SYSTEM of interrelated innovations transforming systems engineering.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Preparing for the Future - Skills You Need</a:t>
            </a:r>
          </a:p>
        </p:txBody>
      </p:sp>
      <p:sp>
        <p:nvSpPr>
          <p:cNvPr id="3" name="Content Placeholder 2"/>
          <p:cNvSpPr>
            <a:spLocks noGrp="1"/>
          </p:cNvSpPr>
          <p:nvPr>
            <p:ph idx="1"/>
          </p:nvPr>
        </p:nvSpPr>
        <p:spPr/>
        <p:txBody>
          <a:bodyPr/>
          <a:lstStyle/>
          <a:p>
            <a:pPr>
              <a:spcAft>
                <a:spcPts val="1000"/>
              </a:spcAft>
              <a:defRPr sz="1800">
                <a:solidFill>
                  <a:srgbClr val="333333"/>
                </a:solidFill>
              </a:defRPr>
            </a:pPr>
            <a:r>
              <a:t>How do you prepare for this future? What skills do you need?</a:t>
            </a:r>
          </a:p>
          <a:p>
            <a:pPr>
              <a:spcAft>
                <a:spcPts val="1000"/>
              </a:spcAft>
              <a:defRPr sz="1800">
                <a:solidFill>
                  <a:srgbClr val="333333"/>
                </a:solidFill>
              </a:defRPr>
            </a:pPr>
            <a:r>
              <a:t>Technical Skills:</a:t>
            </a:r>
          </a:p>
          <a:p>
            <a:pPr>
              <a:spcAft>
                <a:spcPts val="1000"/>
              </a:spcAft>
              <a:defRPr sz="1800">
                <a:solidFill>
                  <a:srgbClr val="333333"/>
                </a:solidFill>
              </a:defRPr>
            </a:pPr>
            <a:r>
              <a:t>1. Model-Based Systems Engineering (MBSE) — SysML proficiency (or emerging languages)</a:t>
            </a:r>
          </a:p>
          <a:p>
            <a:pPr>
              <a:spcAft>
                <a:spcPts val="600"/>
              </a:spcAft>
              <a:defRPr sz="1800">
                <a:solidFill>
                  <a:srgbClr val="333333"/>
                </a:solidFill>
              </a:defRPr>
            </a:pPr>
            <a:r>
              <a:t>System modeling tools (Cameo, Enterprise Architect, Rhapsody)</a:t>
            </a:r>
          </a:p>
          <a:p>
            <a:pPr>
              <a:spcAft>
                <a:spcPts val="600"/>
              </a:spcAft>
              <a:defRPr sz="1800">
                <a:solidFill>
                  <a:srgbClr val="333333"/>
                </a:solidFill>
              </a:defRPr>
            </a:pPr>
            <a:r>
              <a:t>Integration of models with simulation, PLM, ALM</a:t>
            </a:r>
          </a:p>
          <a:p>
            <a:pPr>
              <a:spcAft>
                <a:spcPts val="600"/>
              </a:spcAft>
              <a:defRPr sz="1800">
                <a:solidFill>
                  <a:srgbClr val="333333"/>
                </a:solidFill>
              </a:defRPr>
            </a:pPr>
            <a:r>
              <a:t>Action: Take MBSE courses, get certified (OCSMP - OMG Certified Systems Modeling Professional)</a:t>
            </a:r>
          </a:p>
          <a:p>
            <a:pPr>
              <a:spcAft>
                <a:spcPts val="1000"/>
              </a:spcAft>
              <a:defRPr sz="1800">
                <a:solidFill>
                  <a:srgbClr val="333333"/>
                </a:solidFill>
              </a:defRPr>
            </a:pPr>
            <a:r>
              <a:t>2. Data and Analytics — Data management, databases</a:t>
            </a:r>
          </a:p>
          <a:p>
            <a:pPr>
              <a:spcAft>
                <a:spcPts val="600"/>
              </a:spcAft>
              <a:defRPr sz="1800">
                <a:solidFill>
                  <a:srgbClr val="333333"/>
                </a:solidFill>
              </a:defRPr>
            </a:pPr>
            <a:r>
              <a:t>Statistical analysis, visualization</a:t>
            </a:r>
          </a:p>
          <a:p>
            <a:pPr>
              <a:spcAft>
                <a:spcPts val="600"/>
              </a:spcAft>
              <a:defRPr sz="1800">
                <a:solidFill>
                  <a:srgbClr val="333333"/>
                </a:solidFill>
              </a:defRPr>
            </a:pPr>
            <a:r>
              <a:t>Understand (not necessarily program) ML/AI</a:t>
            </a:r>
          </a:p>
          <a:p>
            <a:pPr>
              <a:spcAft>
                <a:spcPts val="600"/>
              </a:spcAft>
              <a:defRPr sz="1800">
                <a:solidFill>
                  <a:srgbClr val="333333"/>
                </a:solidFill>
              </a:defRPr>
            </a:pPr>
            <a:r>
              <a:t>Action: Learn Python, SQL, data science fundamentals</a:t>
            </a:r>
          </a:p>
          <a:p>
            <a:pPr>
              <a:spcAft>
                <a:spcPts val="1000"/>
              </a:spcAft>
              <a:defRPr sz="1800">
                <a:solidFill>
                  <a:srgbClr val="333333"/>
                </a:solidFill>
              </a:defRPr>
            </a:pPr>
            <a:r>
              <a:t>3. Simulation and Digital Twins — Simulation tools (MATLAB/Simulink, ANSYS, etc.)</a:t>
            </a:r>
          </a:p>
          <a:p>
            <a:pPr>
              <a:spcAft>
                <a:spcPts val="600"/>
              </a:spcAft>
              <a:defRPr sz="1800">
                <a:solidFill>
                  <a:srgbClr val="333333"/>
                </a:solidFill>
              </a:defRPr>
            </a:pPr>
            <a:r>
              <a:t>Understand virtual verification &amp; validation</a:t>
            </a:r>
          </a:p>
          <a:p>
            <a:pPr>
              <a:spcAft>
                <a:spcPts val="600"/>
              </a:spcAft>
              <a:defRPr sz="1800">
                <a:solidFill>
                  <a:srgbClr val="333333"/>
                </a:solidFill>
              </a:defRPr>
            </a:pPr>
            <a:r>
              <a:t>Digital twin concepts</a:t>
            </a:r>
          </a:p>
          <a:p>
            <a:pPr>
              <a:spcAft>
                <a:spcPts val="600"/>
              </a:spcAft>
              <a:defRPr sz="1800">
                <a:solidFill>
                  <a:srgbClr val="333333"/>
                </a:solidFill>
              </a:defRPr>
            </a:pPr>
            <a:r>
              <a:t>Action: Projects using simulation, build simple digital twins</a:t>
            </a:r>
          </a:p>
          <a:p>
            <a:pPr>
              <a:spcAft>
                <a:spcPts val="1000"/>
              </a:spcAft>
              <a:defRPr sz="1800">
                <a:solidFill>
                  <a:srgbClr val="333333"/>
                </a:solidFill>
              </a:defRPr>
            </a:pPr>
            <a:r>
              <a:t>4. Software Engineering Fundamentals — Modern systems are software-intensive</a:t>
            </a:r>
          </a:p>
          <a:p>
            <a:pPr>
              <a:spcAft>
                <a:spcPts val="600"/>
              </a:spcAft>
              <a:defRPr sz="1800">
                <a:solidFill>
                  <a:srgbClr val="333333"/>
                </a:solidFill>
              </a:defRPr>
            </a:pPr>
            <a:r>
              <a:t>Understand software architecture, DevOps, CI/CD</a:t>
            </a:r>
          </a:p>
          <a:p>
            <a:pPr>
              <a:spcAft>
                <a:spcPts val="600"/>
              </a:spcAft>
              <a:defRPr sz="1800">
                <a:solidFill>
                  <a:srgbClr val="333333"/>
                </a:solidFill>
              </a:defRPr>
            </a:pPr>
            <a:r>
              <a:t>Code literacy (read/understand code, even if not full developer)</a:t>
            </a:r>
          </a:p>
          <a:p>
            <a:pPr>
              <a:spcAft>
                <a:spcPts val="600"/>
              </a:spcAft>
              <a:defRPr sz="1800">
                <a:solidFill>
                  <a:srgbClr val="333333"/>
                </a:solidFill>
              </a:defRPr>
            </a:pPr>
            <a:r>
              <a:t>Action: Learn version control (Git), agile methods, basic programming</a:t>
            </a:r>
          </a:p>
          <a:p>
            <a:pPr>
              <a:spcAft>
                <a:spcPts val="1000"/>
              </a:spcAft>
              <a:defRPr sz="1800">
                <a:solidFill>
                  <a:srgbClr val="333333"/>
                </a:solidFill>
              </a:defRPr>
            </a:pPr>
            <a:r>
              <a:t>5. Cybersecurity — Connected systems are attack surfaces</a:t>
            </a:r>
          </a:p>
          <a:p>
            <a:pPr>
              <a:spcAft>
                <a:spcPts val="600"/>
              </a:spcAft>
              <a:defRPr sz="1800">
                <a:solidFill>
                  <a:srgbClr val="333333"/>
                </a:solidFill>
              </a:defRPr>
            </a:pPr>
            <a:r>
              <a:t>Understand threat modeling, security requirements</a:t>
            </a:r>
          </a:p>
          <a:p>
            <a:pPr>
              <a:spcAft>
                <a:spcPts val="600"/>
              </a:spcAft>
              <a:defRPr sz="1800">
                <a:solidFill>
                  <a:srgbClr val="333333"/>
                </a:solidFill>
              </a:defRPr>
            </a:pPr>
            <a:r>
              <a:t>Action: Cybersecurity fundamentals course, ISO 21434 (automotive cybersecurity)</a:t>
            </a:r>
          </a:p>
          <a:p>
            <a:pPr>
              <a:spcAft>
                <a:spcPts val="1000"/>
              </a:spcAft>
              <a:defRPr sz="1800">
                <a:solidFill>
                  <a:srgbClr val="333333"/>
                </a:solidFill>
              </a:defRPr>
            </a:pPr>
            <a:r>
              <a:t>6. Domain Expertise (Automotive) — Vehicle architectures, E/E systems</a:t>
            </a:r>
          </a:p>
          <a:p>
            <a:pPr>
              <a:spcAft>
                <a:spcPts val="600"/>
              </a:spcAft>
              <a:defRPr sz="1800">
                <a:solidFill>
                  <a:srgbClr val="333333"/>
                </a:solidFill>
              </a:defRPr>
            </a:pPr>
            <a:r>
              <a:t>Autonomous systems, ADAS</a:t>
            </a:r>
          </a:p>
          <a:p>
            <a:pPr>
              <a:spcAft>
                <a:spcPts val="600"/>
              </a:spcAft>
              <a:defRPr sz="1800">
                <a:solidFill>
                  <a:srgbClr val="333333"/>
                </a:solidFill>
              </a:defRPr>
            </a:pPr>
            <a:r>
              <a:t>Electrification, battery systems</a:t>
            </a:r>
          </a:p>
          <a:p>
            <a:pPr>
              <a:spcAft>
                <a:spcPts val="600"/>
              </a:spcAft>
              <a:defRPr sz="1800">
                <a:solidFill>
                  <a:srgbClr val="333333"/>
                </a:solidFill>
              </a:defRPr>
            </a:pPr>
            <a:r>
              <a:t>Action: Internships, projects, stay current with industry</a:t>
            </a:r>
          </a:p>
          <a:p>
            <a:pPr>
              <a:spcAft>
                <a:spcPts val="1000"/>
              </a:spcAft>
              <a:defRPr sz="1800">
                <a:solidFill>
                  <a:srgbClr val="333333"/>
                </a:solidFill>
              </a:defRPr>
            </a:pPr>
            <a:r>
              <a:t>Non-Technical Skills (Equally Important!):</a:t>
            </a:r>
          </a:p>
          <a:p>
            <a:pPr>
              <a:spcAft>
                <a:spcPts val="1000"/>
              </a:spcAft>
              <a:defRPr sz="1800">
                <a:solidFill>
                  <a:srgbClr val="333333"/>
                </a:solidFill>
              </a:defRPr>
            </a:pPr>
            <a:r>
              <a:t>7. Systems Thinking — See the big picture, interconnections</a:t>
            </a:r>
          </a:p>
          <a:p>
            <a:pPr>
              <a:spcAft>
                <a:spcPts val="600"/>
              </a:spcAft>
              <a:defRPr sz="1800">
                <a:solidFill>
                  <a:srgbClr val="333333"/>
                </a:solidFill>
              </a:defRPr>
            </a:pPr>
            <a:r>
              <a:t>Holistic perspective, not just subsystems</a:t>
            </a:r>
          </a:p>
          <a:p>
            <a:pPr>
              <a:spcAft>
                <a:spcPts val="600"/>
              </a:spcAft>
              <a:defRPr sz="1800">
                <a:solidFill>
                  <a:srgbClr val="333333"/>
                </a:solidFill>
              </a:defRPr>
            </a:pPr>
            <a:r>
              <a:t>This entire course builds this skill</a:t>
            </a:r>
          </a:p>
          <a:p>
            <a:pPr>
              <a:spcAft>
                <a:spcPts val="1000"/>
              </a:spcAft>
              <a:defRPr sz="1800">
                <a:solidFill>
                  <a:srgbClr val="333333"/>
                </a:solidFill>
              </a:defRPr>
            </a:pPr>
            <a:r>
              <a:t>8. Communication — Explain complex systems to non-technical stakeholders</a:t>
            </a:r>
          </a:p>
          <a:p>
            <a:pPr>
              <a:spcAft>
                <a:spcPts val="600"/>
              </a:spcAft>
              <a:defRPr sz="1800">
                <a:solidFill>
                  <a:srgbClr val="333333"/>
                </a:solidFill>
              </a:defRPr>
            </a:pPr>
            <a:r>
              <a:t>Write clear requirements, documents</a:t>
            </a:r>
          </a:p>
          <a:p>
            <a:pPr>
              <a:spcAft>
                <a:spcPts val="600"/>
              </a:spcAft>
              <a:defRPr sz="1800">
                <a:solidFill>
                  <a:srgbClr val="333333"/>
                </a:solidFill>
              </a:defRPr>
            </a:pPr>
            <a:r>
              <a:t>Presentations, visualizations</a:t>
            </a:r>
          </a:p>
          <a:p>
            <a:pPr>
              <a:spcAft>
                <a:spcPts val="600"/>
              </a:spcAft>
              <a:defRPr sz="1800">
                <a:solidFill>
                  <a:srgbClr val="333333"/>
                </a:solidFill>
              </a:defRPr>
            </a:pPr>
            <a:r>
              <a:t>Action: Practice, seek feedback, take communication courses</a:t>
            </a:r>
          </a:p>
          <a:p>
            <a:pPr>
              <a:spcAft>
                <a:spcPts val="1000"/>
              </a:spcAft>
              <a:defRPr sz="1800">
                <a:solidFill>
                  <a:srgbClr val="333333"/>
                </a:solidFill>
              </a:defRPr>
            </a:pPr>
            <a:r>
              <a:t>9. Collaboration — Work in multidisciplinary teams</a:t>
            </a:r>
          </a:p>
          <a:p>
            <a:pPr>
              <a:spcAft>
                <a:spcPts val="600"/>
              </a:spcAft>
              <a:defRPr sz="1800">
                <a:solidFill>
                  <a:srgbClr val="333333"/>
                </a:solidFill>
              </a:defRPr>
            </a:pPr>
            <a:r>
              <a:t>Navigate organizational dynamics</a:t>
            </a:r>
          </a:p>
          <a:p>
            <a:pPr>
              <a:spcAft>
                <a:spcPts val="600"/>
              </a:spcAft>
              <a:defRPr sz="1800">
                <a:solidFill>
                  <a:srgbClr val="333333"/>
                </a:solidFill>
              </a:defRPr>
            </a:pPr>
            <a:r>
              <a:t>Conflict resolution, negotiation</a:t>
            </a:r>
          </a:p>
          <a:p>
            <a:pPr>
              <a:spcAft>
                <a:spcPts val="600"/>
              </a:spcAft>
              <a:defRPr sz="1800">
                <a:solidFill>
                  <a:srgbClr val="333333"/>
                </a:solidFill>
              </a:defRPr>
            </a:pPr>
            <a:r>
              <a:t>Action: Team projects, develop emotional intelligence</a:t>
            </a:r>
          </a:p>
          <a:p>
            <a:pPr>
              <a:spcAft>
                <a:spcPts val="1000"/>
              </a:spcAft>
              <a:defRPr sz="1800">
                <a:solidFill>
                  <a:srgbClr val="333333"/>
                </a:solidFill>
              </a:defRPr>
            </a:pPr>
            <a:r>
              <a:t>10. Adaptability and Continuous Learning — Technology changes rapidly</a:t>
            </a:r>
          </a:p>
          <a:p>
            <a:pPr>
              <a:spcAft>
                <a:spcPts val="600"/>
              </a:spcAft>
              <a:defRPr sz="1800">
                <a:solidFill>
                  <a:srgbClr val="333333"/>
                </a:solidFill>
              </a:defRPr>
            </a:pPr>
            <a:r>
              <a:t>What you learn today may be obsolete in 5 years</a:t>
            </a:r>
          </a:p>
          <a:p>
            <a:pPr>
              <a:spcAft>
                <a:spcPts val="600"/>
              </a:spcAft>
              <a:defRPr sz="1800">
                <a:solidFill>
                  <a:srgbClr val="333333"/>
                </a:solidFill>
              </a:defRPr>
            </a:pPr>
            <a:r>
              <a:t>Growth mindset, embrace change</a:t>
            </a:r>
          </a:p>
          <a:p>
            <a:pPr>
              <a:spcAft>
                <a:spcPts val="600"/>
              </a:spcAft>
              <a:defRPr sz="1800">
                <a:solidFill>
                  <a:srgbClr val="333333"/>
                </a:solidFill>
              </a:defRPr>
            </a:pPr>
            <a:r>
              <a:t>Action: Develop learning habits (read, courses, conferences, professional networks)</a:t>
            </a:r>
          </a:p>
          <a:p>
            <a:pPr>
              <a:spcAft>
                <a:spcPts val="1000"/>
              </a:spcAft>
              <a:defRPr sz="1800">
                <a:solidFill>
                  <a:srgbClr val="333333"/>
                </a:solidFill>
              </a:defRPr>
            </a:pPr>
            <a:r>
              <a:t>11. Ethics and Responsibility — Autonomous systems raise ethical questions</a:t>
            </a:r>
          </a:p>
          <a:p>
            <a:pPr>
              <a:spcAft>
                <a:spcPts val="600"/>
              </a:spcAft>
              <a:defRPr sz="1800">
                <a:solidFill>
                  <a:srgbClr val="333333"/>
                </a:solidFill>
              </a:defRPr>
            </a:pPr>
            <a:r>
              <a:t>Sustainability requires value-based decisions</a:t>
            </a:r>
          </a:p>
          <a:p>
            <a:pPr>
              <a:spcAft>
                <a:spcPts val="600"/>
              </a:spcAft>
              <a:defRPr sz="1800">
                <a:solidFill>
                  <a:srgbClr val="333333"/>
                </a:solidFill>
              </a:defRPr>
            </a:pPr>
            <a:r>
              <a:t>You will face dilemmas without clear 'right' answers</a:t>
            </a:r>
          </a:p>
          <a:p>
            <a:pPr>
              <a:spcAft>
                <a:spcPts val="600"/>
              </a:spcAft>
              <a:defRPr sz="1800">
                <a:solidFill>
                  <a:srgbClr val="333333"/>
                </a:solidFill>
              </a:defRPr>
            </a:pPr>
            <a:r>
              <a:t>Action: Study engineering ethics, engage in ethical discussions</a:t>
            </a:r>
          </a:p>
          <a:p>
            <a:pPr>
              <a:spcAft>
                <a:spcPts val="1000"/>
              </a:spcAft>
              <a:defRPr sz="1800">
                <a:solidFill>
                  <a:srgbClr val="333333"/>
                </a:solidFill>
              </a:defRPr>
            </a:pPr>
            <a:r>
              <a:t>Career Advice:</a:t>
            </a:r>
          </a:p>
          <a:p>
            <a:pPr>
              <a:spcAft>
                <a:spcPts val="1000"/>
              </a:spcAft>
              <a:defRPr sz="1800">
                <a:solidFill>
                  <a:srgbClr val="333333"/>
                </a:solidFill>
              </a:defRPr>
            </a:pPr>
            <a:r>
              <a:t>T-Shaped Engineer: — Deep expertise in 1-2 areas (vertical bar of T)</a:t>
            </a:r>
          </a:p>
          <a:p>
            <a:pPr>
              <a:spcAft>
                <a:spcPts val="600"/>
              </a:spcAft>
              <a:defRPr sz="1800">
                <a:solidFill>
                  <a:srgbClr val="333333"/>
                </a:solidFill>
              </a:defRPr>
            </a:pPr>
            <a:r>
              <a:t>Broad knowledge across many areas (horizontal bar of T)</a:t>
            </a:r>
          </a:p>
          <a:p>
            <a:pPr>
              <a:spcAft>
                <a:spcPts val="600"/>
              </a:spcAft>
              <a:defRPr sz="1800">
                <a:solidFill>
                  <a:srgbClr val="333333"/>
                </a:solidFill>
              </a:defRPr>
            </a:pPr>
            <a:r>
              <a:t>Example: Deep in MBSE + autonomous systems; broad in cybersecurity, sustainability, agile</a:t>
            </a:r>
          </a:p>
          <a:p>
            <a:pPr>
              <a:spcAft>
                <a:spcPts val="1000"/>
              </a:spcAft>
              <a:defRPr sz="1800">
                <a:solidFill>
                  <a:srgbClr val="333333"/>
                </a:solidFill>
              </a:defRPr>
            </a:pPr>
            <a:r>
              <a:t>Continuous Learning: — Dedicate time weekly to learning new skills</a:t>
            </a:r>
          </a:p>
          <a:p>
            <a:pPr>
              <a:spcAft>
                <a:spcPts val="600"/>
              </a:spcAft>
              <a:defRPr sz="1800">
                <a:solidFill>
                  <a:srgbClr val="333333"/>
                </a:solidFill>
              </a:defRPr>
            </a:pPr>
            <a:r>
              <a:t>Online courses (Coursera, edX, Udemy)</a:t>
            </a:r>
          </a:p>
          <a:p>
            <a:pPr>
              <a:spcAft>
                <a:spcPts val="600"/>
              </a:spcAft>
              <a:defRPr sz="1800">
                <a:solidFill>
                  <a:srgbClr val="333333"/>
                </a:solidFill>
              </a:defRPr>
            </a:pPr>
            <a:r>
              <a:t>Industry conferences (INCOSE, SAE)</a:t>
            </a:r>
          </a:p>
          <a:p>
            <a:pPr>
              <a:spcAft>
                <a:spcPts val="600"/>
              </a:spcAft>
              <a:defRPr sz="1800">
                <a:solidFill>
                  <a:srgbClr val="333333"/>
                </a:solidFill>
              </a:defRPr>
            </a:pPr>
            <a:r>
              <a:t>Professional certifications (CSEP, OCSMP, ASQ)</a:t>
            </a:r>
          </a:p>
          <a:p>
            <a:pPr>
              <a:spcAft>
                <a:spcPts val="1000"/>
              </a:spcAft>
              <a:defRPr sz="1800">
                <a:solidFill>
                  <a:srgbClr val="333333"/>
                </a:solidFill>
              </a:defRPr>
            </a:pPr>
            <a:r>
              <a:t>Build Portfolio: — GitHub projects (digital twins, simulations, MBSE models)</a:t>
            </a:r>
          </a:p>
          <a:p>
            <a:pPr>
              <a:spcAft>
                <a:spcPts val="600"/>
              </a:spcAft>
              <a:defRPr sz="1800">
                <a:solidFill>
                  <a:srgbClr val="333333"/>
                </a:solidFill>
              </a:defRPr>
            </a:pPr>
            <a:r>
              <a:t>Contributions to open source</a:t>
            </a:r>
          </a:p>
          <a:p>
            <a:pPr>
              <a:spcAft>
                <a:spcPts val="600"/>
              </a:spcAft>
              <a:defRPr sz="1800">
                <a:solidFill>
                  <a:srgbClr val="333333"/>
                </a:solidFill>
              </a:defRPr>
            </a:pPr>
            <a:r>
              <a:t>Publications, presentations</a:t>
            </a:r>
          </a:p>
          <a:p>
            <a:pPr>
              <a:spcAft>
                <a:spcPts val="1000"/>
              </a:spcAft>
              <a:defRPr sz="1800">
                <a:solidFill>
                  <a:srgbClr val="333333"/>
                </a:solidFill>
              </a:defRPr>
            </a:pPr>
            <a:r>
              <a:t>Network: — Join INCOSE student chapter</a:t>
            </a:r>
          </a:p>
          <a:p>
            <a:pPr>
              <a:spcAft>
                <a:spcPts val="600"/>
              </a:spcAft>
              <a:defRPr sz="1800">
                <a:solidFill>
                  <a:srgbClr val="333333"/>
                </a:solidFill>
              </a:defRPr>
            </a:pPr>
            <a:r>
              <a:t>LinkedIn connections with SE professionals</a:t>
            </a:r>
          </a:p>
          <a:p>
            <a:pPr>
              <a:spcAft>
                <a:spcPts val="600"/>
              </a:spcAft>
              <a:defRPr sz="1800">
                <a:solidFill>
                  <a:srgbClr val="333333"/>
                </a:solidFill>
              </a:defRPr>
            </a:pPr>
            <a:r>
              <a:t>Attend industry events</a:t>
            </a:r>
          </a:p>
          <a:p>
            <a:pPr>
              <a:spcAft>
                <a:spcPts val="1000"/>
              </a:spcAft>
              <a:defRPr sz="1800">
                <a:solidFill>
                  <a:srgbClr val="333333"/>
                </a:solidFill>
              </a:defRPr>
            </a:pPr>
            <a:r>
              <a:t>You are entering the profession at the most exciting time in systems engineering history. Embrace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Key Takeaways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consolidate the seven emerging trends:</a:t>
            </a:r>
          </a:p>
          <a:p>
            <a:pPr>
              <a:spcAft>
                <a:spcPts val="1000"/>
              </a:spcAft>
              <a:defRPr sz="1800">
                <a:solidFill>
                  <a:srgbClr val="333333"/>
                </a:solidFill>
              </a:defRPr>
            </a:pPr>
            <a:r>
              <a:t>1. Digital Engineering &amp; Digital Thread — From documents to data</a:t>
            </a:r>
          </a:p>
          <a:p>
            <a:pPr>
              <a:spcAft>
                <a:spcPts val="600"/>
              </a:spcAft>
              <a:defRPr sz="1800">
                <a:solidFill>
                  <a:srgbClr val="333333"/>
                </a:solidFill>
              </a:defRPr>
            </a:pPr>
            <a:r>
              <a:t>Integrated, authoritative digital model</a:t>
            </a:r>
          </a:p>
          <a:p>
            <a:pPr>
              <a:spcAft>
                <a:spcPts val="600"/>
              </a:spcAft>
              <a:defRPr sz="1800">
                <a:solidFill>
                  <a:srgbClr val="333333"/>
                </a:solidFill>
              </a:defRPr>
            </a:pPr>
            <a:r>
              <a:t>Enables all other trends</a:t>
            </a:r>
          </a:p>
          <a:p>
            <a:pPr>
              <a:spcAft>
                <a:spcPts val="1000"/>
              </a:spcAft>
              <a:defRPr sz="1800">
                <a:solidFill>
                  <a:srgbClr val="333333"/>
                </a:solidFill>
              </a:defRPr>
            </a:pPr>
            <a:r>
              <a:t>2. AI/ML in Systems Engineering — Augments (not replaces) human engineers</a:t>
            </a:r>
          </a:p>
          <a:p>
            <a:pPr>
              <a:spcAft>
                <a:spcPts val="600"/>
              </a:spcAft>
              <a:defRPr sz="1800">
                <a:solidFill>
                  <a:srgbClr val="333333"/>
                </a:solidFill>
              </a:defRPr>
            </a:pPr>
            <a:r>
              <a:t>Applications: requirements analysis, design optimization, test generation, prediction</a:t>
            </a:r>
          </a:p>
          <a:p>
            <a:pPr>
              <a:spcAft>
                <a:spcPts val="600"/>
              </a:spcAft>
              <a:defRPr sz="1800">
                <a:solidFill>
                  <a:srgbClr val="333333"/>
                </a:solidFill>
              </a:defRPr>
            </a:pPr>
            <a:r>
              <a:t>Ethical responsibility for SE practitioners</a:t>
            </a:r>
          </a:p>
          <a:p>
            <a:pPr>
              <a:spcAft>
                <a:spcPts val="1000"/>
              </a:spcAft>
              <a:defRPr sz="1800">
                <a:solidFill>
                  <a:srgbClr val="333333"/>
                </a:solidFill>
              </a:defRPr>
            </a:pPr>
            <a:r>
              <a:t>3. DevOps for SE — Continuous integration, verification, deployment</a:t>
            </a:r>
          </a:p>
          <a:p>
            <a:pPr>
              <a:spcAft>
                <a:spcPts val="600"/>
              </a:spcAft>
              <a:defRPr sz="1800">
                <a:solidFill>
                  <a:srgbClr val="333333"/>
                </a:solidFill>
              </a:defRPr>
            </a:pPr>
            <a:r>
              <a:t>Automation, rapid iteration</a:t>
            </a:r>
          </a:p>
          <a:p>
            <a:pPr>
              <a:spcAft>
                <a:spcPts val="600"/>
              </a:spcAft>
              <a:defRPr sz="1800">
                <a:solidFill>
                  <a:srgbClr val="333333"/>
                </a:solidFill>
              </a:defRPr>
            </a:pPr>
            <a:r>
              <a:t>OTA updates enable continuous evolution</a:t>
            </a:r>
          </a:p>
          <a:p>
            <a:pPr>
              <a:spcAft>
                <a:spcPts val="1000"/>
              </a:spcAft>
              <a:defRPr sz="1800">
                <a:solidFill>
                  <a:srgbClr val="333333"/>
                </a:solidFill>
              </a:defRPr>
            </a:pPr>
            <a:r>
              <a:t>4. Agile Systems Engineering — Iterative, adaptive development</a:t>
            </a:r>
          </a:p>
          <a:p>
            <a:pPr>
              <a:spcAft>
                <a:spcPts val="600"/>
              </a:spcAft>
              <a:defRPr sz="1800">
                <a:solidFill>
                  <a:srgbClr val="333333"/>
                </a:solidFill>
              </a:defRPr>
            </a:pPr>
            <a:r>
              <a:t>Scaling frameworks (SAFe) for large systems</a:t>
            </a:r>
          </a:p>
          <a:p>
            <a:pPr>
              <a:spcAft>
                <a:spcPts val="600"/>
              </a:spcAft>
              <a:defRPr sz="1800">
                <a:solidFill>
                  <a:srgbClr val="333333"/>
                </a:solidFill>
              </a:defRPr>
            </a:pPr>
            <a:r>
              <a:t>Enabled by MBSE and virtual prototyping</a:t>
            </a:r>
          </a:p>
          <a:p>
            <a:pPr>
              <a:spcAft>
                <a:spcPts val="1000"/>
              </a:spcAft>
              <a:defRPr sz="1800">
                <a:solidFill>
                  <a:srgbClr val="333333"/>
                </a:solidFill>
              </a:defRPr>
            </a:pPr>
            <a:r>
              <a:t>5. MBSE Adoption — Growing but still maturing</a:t>
            </a:r>
          </a:p>
          <a:p>
            <a:pPr>
              <a:spcAft>
                <a:spcPts val="600"/>
              </a:spcAft>
              <a:defRPr sz="1800">
                <a:solidFill>
                  <a:srgbClr val="333333"/>
                </a:solidFill>
              </a:defRPr>
            </a:pPr>
            <a:r>
              <a:t>Barriers: learning curve, tools, culture</a:t>
            </a:r>
          </a:p>
          <a:p>
            <a:pPr>
              <a:spcAft>
                <a:spcPts val="600"/>
              </a:spcAft>
              <a:defRPr sz="1800">
                <a:solidFill>
                  <a:srgbClr val="333333"/>
                </a:solidFill>
              </a:defRPr>
            </a:pPr>
            <a:r>
              <a:t>Success requires training, standards, executive support</a:t>
            </a:r>
          </a:p>
          <a:p>
            <a:pPr>
              <a:spcAft>
                <a:spcPts val="600"/>
              </a:spcAft>
              <a:defRPr sz="1800">
                <a:solidFill>
                  <a:srgbClr val="333333"/>
                </a:solidFill>
              </a:defRPr>
            </a:pPr>
            <a:r>
              <a:t>Your opportunity: be MBSE-native</a:t>
            </a:r>
          </a:p>
          <a:p>
            <a:pPr>
              <a:spcAft>
                <a:spcPts val="1000"/>
              </a:spcAft>
              <a:defRPr sz="1800">
                <a:solidFill>
                  <a:srgbClr val="333333"/>
                </a:solidFill>
              </a:defRPr>
            </a:pPr>
            <a:r>
              <a:t>6. Autonomous Systems Challenges — Unprecedented SE complexity</a:t>
            </a:r>
          </a:p>
          <a:p>
            <a:pPr>
              <a:spcAft>
                <a:spcPts val="600"/>
              </a:spcAft>
              <a:defRPr sz="1800">
                <a:solidFill>
                  <a:srgbClr val="333333"/>
                </a:solidFill>
              </a:defRPr>
            </a:pPr>
            <a:r>
              <a:t>New methods: ODD requirements, scenario-based V&amp;V, safety cases</a:t>
            </a:r>
          </a:p>
          <a:p>
            <a:pPr>
              <a:spcAft>
                <a:spcPts val="600"/>
              </a:spcAft>
              <a:defRPr sz="1800">
                <a:solidFill>
                  <a:srgbClr val="333333"/>
                </a:solidFill>
              </a:defRPr>
            </a:pPr>
            <a:r>
              <a:t>Standards emerging (ISO 21448 SOTIF)</a:t>
            </a:r>
          </a:p>
          <a:p>
            <a:pPr>
              <a:spcAft>
                <a:spcPts val="600"/>
              </a:spcAft>
              <a:defRPr sz="1800">
                <a:solidFill>
                  <a:srgbClr val="333333"/>
                </a:solidFill>
              </a:defRPr>
            </a:pPr>
            <a:r>
              <a:t>Frontier of SE practice</a:t>
            </a:r>
          </a:p>
          <a:p>
            <a:pPr>
              <a:spcAft>
                <a:spcPts val="1000"/>
              </a:spcAft>
              <a:defRPr sz="1800">
                <a:solidFill>
                  <a:srgbClr val="333333"/>
                </a:solidFill>
              </a:defRPr>
            </a:pPr>
            <a:r>
              <a:t>7. Sustainability in SE — Environmental impact = core requirement</a:t>
            </a:r>
          </a:p>
          <a:p>
            <a:pPr>
              <a:spcAft>
                <a:spcPts val="600"/>
              </a:spcAft>
              <a:defRPr sz="1800">
                <a:solidFill>
                  <a:srgbClr val="333333"/>
                </a:solidFill>
              </a:defRPr>
            </a:pPr>
            <a:r>
              <a:t>Life cycle perspective</a:t>
            </a:r>
          </a:p>
          <a:p>
            <a:pPr>
              <a:spcAft>
                <a:spcPts val="600"/>
              </a:spcAft>
              <a:defRPr sz="1800">
                <a:solidFill>
                  <a:srgbClr val="333333"/>
                </a:solidFill>
              </a:defRPr>
            </a:pPr>
            <a:r>
              <a:t>Circular economy, green design</a:t>
            </a:r>
          </a:p>
          <a:p>
            <a:pPr>
              <a:spcAft>
                <a:spcPts val="600"/>
              </a:spcAft>
              <a:defRPr sz="1800">
                <a:solidFill>
                  <a:srgbClr val="333333"/>
                </a:solidFill>
              </a:defRPr>
            </a:pPr>
            <a:r>
              <a:t>Mandatory for your generation</a:t>
            </a:r>
          </a:p>
          <a:p>
            <a:pPr>
              <a:spcAft>
                <a:spcPts val="1000"/>
              </a:spcAft>
              <a:defRPr sz="1800">
                <a:solidFill>
                  <a:srgbClr val="333333"/>
                </a:solidFill>
              </a:defRPr>
            </a:pPr>
            <a:r>
              <a:t>Convergence: These trends reinforce each other. Digital engineering enables DevOps and agile. MBSE supports autonomous systems V&amp;V. AI optimizes for sustainability.</a:t>
            </a:r>
          </a:p>
          <a:p>
            <a:pPr>
              <a:spcAft>
                <a:spcPts val="1000"/>
              </a:spcAft>
              <a:defRPr sz="1800">
                <a:solidFill>
                  <a:srgbClr val="333333"/>
                </a:solidFill>
              </a:defRPr>
            </a:pPr>
            <a:r>
              <a:t>Your role: Master these trends to be the systems engineers of tomorrow.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Reflecting on the Course Journey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Let's reflect on our complete journey through this course.</a:t>
            </a:r>
          </a:p>
          <a:p>
            <a:pPr>
              <a:spcAft>
                <a:spcPts val="1000"/>
              </a:spcAft>
              <a:defRPr sz="1800">
                <a:solidFill>
                  <a:srgbClr val="333333"/>
                </a:solidFill>
              </a:defRPr>
            </a:pPr>
            <a:r>
              <a:t>Module 1 - Foundations (Sessions 1-4): — Why SE matters (failures teach us)</a:t>
            </a:r>
          </a:p>
          <a:p>
            <a:pPr>
              <a:spcAft>
                <a:spcPts val="600"/>
              </a:spcAft>
              <a:defRPr sz="1800">
                <a:solidFill>
                  <a:srgbClr val="333333"/>
                </a:solidFill>
              </a:defRPr>
            </a:pPr>
            <a:r>
              <a:t>SE fundamentals (ISO 15288, systems thinking)</a:t>
            </a:r>
          </a:p>
          <a:p>
            <a:pPr>
              <a:spcAft>
                <a:spcPts val="600"/>
              </a:spcAft>
              <a:defRPr sz="1800">
                <a:solidFill>
                  <a:srgbClr val="333333"/>
                </a:solidFill>
              </a:defRPr>
            </a:pPr>
            <a:r>
              <a:t>Traditional vs. MBSE</a:t>
            </a:r>
          </a:p>
          <a:p>
            <a:pPr>
              <a:spcAft>
                <a:spcPts val="600"/>
              </a:spcAft>
              <a:defRPr sz="1800">
                <a:solidFill>
                  <a:srgbClr val="333333"/>
                </a:solidFill>
              </a:defRPr>
            </a:pPr>
            <a:r>
              <a:t>Requirements engineering</a:t>
            </a:r>
          </a:p>
          <a:p>
            <a:pPr>
              <a:spcAft>
                <a:spcPts val="600"/>
              </a:spcAft>
              <a:defRPr sz="1800">
                <a:solidFill>
                  <a:srgbClr val="333333"/>
                </a:solidFill>
              </a:defRPr>
            </a:pPr>
            <a:r>
              <a:t>Takeaway: SE is a disciplined approach to managing complexity</a:t>
            </a:r>
          </a:p>
          <a:p>
            <a:pPr>
              <a:spcAft>
                <a:spcPts val="1000"/>
              </a:spcAft>
              <a:defRPr sz="1800">
                <a:solidFill>
                  <a:srgbClr val="333333"/>
                </a:solidFill>
              </a:defRPr>
            </a:pPr>
            <a:r>
              <a:t>Module 2 - Design and Analysis (Sessions 5-8): — System architecture</a:t>
            </a:r>
          </a:p>
          <a:p>
            <a:pPr>
              <a:spcAft>
                <a:spcPts val="600"/>
              </a:spcAft>
              <a:defRPr sz="1800">
                <a:solidFill>
                  <a:srgbClr val="333333"/>
                </a:solidFill>
              </a:defRPr>
            </a:pPr>
            <a:r>
              <a:t>Case study 1</a:t>
            </a:r>
          </a:p>
          <a:p>
            <a:pPr>
              <a:spcAft>
                <a:spcPts val="600"/>
              </a:spcAft>
              <a:defRPr sz="1800">
                <a:solidFill>
                  <a:srgbClr val="333333"/>
                </a:solidFill>
              </a:defRPr>
            </a:pPr>
            <a:r>
              <a:t>Functional/operational analysis</a:t>
            </a:r>
          </a:p>
          <a:p>
            <a:pPr>
              <a:spcAft>
                <a:spcPts val="600"/>
              </a:spcAft>
              <a:defRPr sz="1800">
                <a:solidFill>
                  <a:srgbClr val="333333"/>
                </a:solidFill>
              </a:defRPr>
            </a:pPr>
            <a:r>
              <a:t>Integration, verification, validation</a:t>
            </a:r>
          </a:p>
          <a:p>
            <a:pPr>
              <a:spcAft>
                <a:spcPts val="600"/>
              </a:spcAft>
              <a:defRPr sz="1800">
                <a:solidFill>
                  <a:srgbClr val="333333"/>
                </a:solidFill>
              </a:defRPr>
            </a:pPr>
            <a:r>
              <a:t>Takeaway: Transform requirements into verified systems</a:t>
            </a:r>
          </a:p>
          <a:p>
            <a:pPr>
              <a:spcAft>
                <a:spcPts val="1000"/>
              </a:spcAft>
              <a:defRPr sz="1800">
                <a:solidFill>
                  <a:srgbClr val="333333"/>
                </a:solidFill>
              </a:defRPr>
            </a:pPr>
            <a:r>
              <a:t>Module 3 - Management (Sessions 9-12): — Project and risk management, agile SE</a:t>
            </a:r>
          </a:p>
          <a:p>
            <a:pPr>
              <a:spcAft>
                <a:spcPts val="600"/>
              </a:spcAft>
              <a:defRPr sz="1800">
                <a:solidFill>
                  <a:srgbClr val="333333"/>
                </a:solidFill>
              </a:defRPr>
            </a:pPr>
            <a:r>
              <a:t>Decision and quality management</a:t>
            </a:r>
          </a:p>
          <a:p>
            <a:pPr>
              <a:spcAft>
                <a:spcPts val="600"/>
              </a:spcAft>
              <a:defRPr sz="1800">
                <a:solidFill>
                  <a:srgbClr val="333333"/>
                </a:solidFill>
              </a:defRPr>
            </a:pPr>
            <a:r>
              <a:t>Agreements and infrastructure</a:t>
            </a:r>
          </a:p>
          <a:p>
            <a:pPr>
              <a:spcAft>
                <a:spcPts val="600"/>
              </a:spcAft>
              <a:defRPr sz="1800">
                <a:solidFill>
                  <a:srgbClr val="333333"/>
                </a:solidFill>
              </a:defRPr>
            </a:pPr>
            <a:r>
              <a:t>Specialty engineering (safety, security)</a:t>
            </a:r>
          </a:p>
          <a:p>
            <a:pPr>
              <a:spcAft>
                <a:spcPts val="600"/>
              </a:spcAft>
              <a:defRPr sz="1800">
                <a:solidFill>
                  <a:srgbClr val="333333"/>
                </a:solidFill>
              </a:defRPr>
            </a:pPr>
            <a:r>
              <a:t>Takeaway: SE is both technical and managerial</a:t>
            </a:r>
          </a:p>
          <a:p>
            <a:pPr>
              <a:spcAft>
                <a:spcPts val="1000"/>
              </a:spcAft>
              <a:defRPr sz="1800">
                <a:solidFill>
                  <a:srgbClr val="333333"/>
                </a:solidFill>
              </a:defRPr>
            </a:pPr>
            <a:r>
              <a:t>Module 4 - Lifecycle and Future (Sessions 13-16): — Life cycle cost and TCO</a:t>
            </a:r>
          </a:p>
          <a:p>
            <a:pPr>
              <a:spcAft>
                <a:spcPts val="600"/>
              </a:spcAft>
              <a:defRPr sz="1800">
                <a:solidFill>
                  <a:srgbClr val="333333"/>
                </a:solidFill>
              </a:defRPr>
            </a:pPr>
            <a:r>
              <a:t>Case study 2</a:t>
            </a:r>
          </a:p>
          <a:p>
            <a:pPr>
              <a:spcAft>
                <a:spcPts val="600"/>
              </a:spcAft>
              <a:defRPr sz="1800">
                <a:solidFill>
                  <a:srgbClr val="333333"/>
                </a:solidFill>
              </a:defRPr>
            </a:pPr>
            <a:r>
              <a:t>Technical management and enabling processes</a:t>
            </a:r>
          </a:p>
          <a:p>
            <a:pPr>
              <a:spcAft>
                <a:spcPts val="600"/>
              </a:spcAft>
              <a:defRPr sz="1800">
                <a:solidFill>
                  <a:srgbClr val="333333"/>
                </a:solidFill>
              </a:defRPr>
            </a:pPr>
            <a:r>
              <a:t>Emerging trends (today)</a:t>
            </a:r>
          </a:p>
          <a:p>
            <a:pPr>
              <a:spcAft>
                <a:spcPts val="600"/>
              </a:spcAft>
              <a:defRPr sz="1800">
                <a:solidFill>
                  <a:srgbClr val="333333"/>
                </a:solidFill>
              </a:defRPr>
            </a:pPr>
            <a:r>
              <a:t>Takeaway: SE spans entire lifecycle and continues evolving</a:t>
            </a:r>
          </a:p>
          <a:p>
            <a:pPr>
              <a:spcAft>
                <a:spcPts val="1000"/>
              </a:spcAft>
              <a:defRPr sz="1800">
                <a:solidFill>
                  <a:srgbClr val="333333"/>
                </a:solidFill>
              </a:defRPr>
            </a:pPr>
            <a:r>
              <a:t>The Thread Through All Sessions:</a:t>
            </a:r>
          </a:p>
          <a:p>
            <a:pPr>
              <a:spcAft>
                <a:spcPts val="1000"/>
              </a:spcAft>
              <a:defRPr sz="1800">
                <a:solidFill>
                  <a:srgbClr val="333333"/>
                </a:solidFill>
              </a:defRPr>
            </a:pPr>
            <a:r>
              <a:t>Systems engineering is about:</a:t>
            </a:r>
          </a:p>
          <a:p>
            <a:pPr>
              <a:spcAft>
                <a:spcPts val="600"/>
              </a:spcAft>
              <a:defRPr sz="1800">
                <a:solidFill>
                  <a:srgbClr val="333333"/>
                </a:solidFill>
              </a:defRPr>
            </a:pPr>
            <a:r>
              <a:t>Understanding stakeholder needs (requirements)</a:t>
            </a:r>
          </a:p>
          <a:p>
            <a:pPr>
              <a:spcAft>
                <a:spcPts val="600"/>
              </a:spcAft>
              <a:defRPr sz="1800">
                <a:solidFill>
                  <a:srgbClr val="333333"/>
                </a:solidFill>
              </a:defRPr>
            </a:pPr>
            <a:r>
              <a:t>Designing solutions (architecture, analysis)</a:t>
            </a:r>
          </a:p>
          <a:p>
            <a:pPr>
              <a:spcAft>
                <a:spcPts val="600"/>
              </a:spcAft>
              <a:defRPr sz="1800">
                <a:solidFill>
                  <a:srgbClr val="333333"/>
                </a:solidFill>
              </a:defRPr>
            </a:pPr>
            <a:r>
              <a:t>Managing complexity (processes, methods, tools)</a:t>
            </a:r>
          </a:p>
          <a:p>
            <a:pPr>
              <a:spcAft>
                <a:spcPts val="600"/>
              </a:spcAft>
              <a:defRPr sz="1800">
                <a:solidFill>
                  <a:srgbClr val="333333"/>
                </a:solidFill>
              </a:defRPr>
            </a:pPr>
            <a:r>
              <a:t>Ensuring quality (verification, validation, quality management)</a:t>
            </a:r>
          </a:p>
          <a:p>
            <a:pPr>
              <a:spcAft>
                <a:spcPts val="600"/>
              </a:spcAft>
              <a:defRPr sz="1800">
                <a:solidFill>
                  <a:srgbClr val="333333"/>
                </a:solidFill>
              </a:defRPr>
            </a:pPr>
            <a:r>
              <a:t>Balancing trade-offs (cost, performance, risk, sustainability)</a:t>
            </a:r>
          </a:p>
          <a:p>
            <a:pPr>
              <a:spcAft>
                <a:spcPts val="600"/>
              </a:spcAft>
              <a:defRPr sz="1800">
                <a:solidFill>
                  <a:srgbClr val="333333"/>
                </a:solidFill>
              </a:defRPr>
            </a:pPr>
            <a:r>
              <a:t>Continuous improvement (lessons learned, emerging trends)</a:t>
            </a:r>
          </a:p>
          <a:p>
            <a:pPr>
              <a:spcAft>
                <a:spcPts val="1000"/>
              </a:spcAft>
              <a:defRPr sz="1800">
                <a:solidFill>
                  <a:srgbClr val="333333"/>
                </a:solidFill>
              </a:defRPr>
            </a:pPr>
            <a:r>
              <a:t>You now have a systems engineering mindset.</a:t>
            </a:r>
          </a:p>
          <a:p>
            <a:pPr>
              <a:spcAft>
                <a:spcPts val="1000"/>
              </a:spcAft>
              <a:defRPr sz="1800">
                <a:solidFill>
                  <a:srgbClr val="333333"/>
                </a:solidFill>
              </a:defRPr>
            </a:pPr>
            <a:r>
              <a:t>When you encounter complex problems, you'll instinctively:</a:t>
            </a:r>
          </a:p>
          <a:p>
            <a:pPr>
              <a:spcAft>
                <a:spcPts val="600"/>
              </a:spcAft>
              <a:defRPr sz="1800">
                <a:solidFill>
                  <a:srgbClr val="333333"/>
                </a:solidFill>
              </a:defRPr>
            </a:pPr>
            <a:r>
              <a:t>Identify stakeholders</a:t>
            </a:r>
          </a:p>
          <a:p>
            <a:pPr>
              <a:spcAft>
                <a:spcPts val="600"/>
              </a:spcAft>
              <a:defRPr sz="1800">
                <a:solidFill>
                  <a:srgbClr val="333333"/>
                </a:solidFill>
              </a:defRPr>
            </a:pPr>
            <a:r>
              <a:t>Define requirements</a:t>
            </a:r>
          </a:p>
          <a:p>
            <a:pPr>
              <a:spcAft>
                <a:spcPts val="600"/>
              </a:spcAft>
              <a:defRPr sz="1800">
                <a:solidFill>
                  <a:srgbClr val="333333"/>
                </a:solidFill>
              </a:defRPr>
            </a:pPr>
            <a:r>
              <a:t>Think architecturally</a:t>
            </a:r>
          </a:p>
          <a:p>
            <a:pPr>
              <a:spcAft>
                <a:spcPts val="600"/>
              </a:spcAft>
              <a:defRPr sz="1800">
                <a:solidFill>
                  <a:srgbClr val="333333"/>
                </a:solidFill>
              </a:defRPr>
            </a:pPr>
            <a:r>
              <a:t>Consider interfaces</a:t>
            </a:r>
          </a:p>
          <a:p>
            <a:pPr>
              <a:spcAft>
                <a:spcPts val="600"/>
              </a:spcAft>
              <a:defRPr sz="1800">
                <a:solidFill>
                  <a:srgbClr val="333333"/>
                </a:solidFill>
              </a:defRPr>
            </a:pPr>
            <a:r>
              <a:t>Manage risk</a:t>
            </a:r>
          </a:p>
          <a:p>
            <a:pPr>
              <a:spcAft>
                <a:spcPts val="600"/>
              </a:spcAft>
              <a:defRPr sz="1800">
                <a:solidFill>
                  <a:srgbClr val="333333"/>
                </a:solidFill>
              </a:defRPr>
            </a:pPr>
            <a:r>
              <a:t>Plan verification</a:t>
            </a:r>
          </a:p>
          <a:p>
            <a:pPr>
              <a:spcAft>
                <a:spcPts val="600"/>
              </a:spcAft>
              <a:defRPr sz="1800">
                <a:solidFill>
                  <a:srgbClr val="333333"/>
                </a:solidFill>
              </a:defRPr>
            </a:pPr>
            <a:r>
              <a:t>Think lifecycle</a:t>
            </a:r>
          </a:p>
          <a:p>
            <a:pPr>
              <a:spcAft>
                <a:spcPts val="1000"/>
              </a:spcAft>
              <a:defRPr sz="1800">
                <a:solidFill>
                  <a:srgbClr val="333333"/>
                </a:solidFill>
              </a:defRPr>
            </a:pPr>
            <a:r>
              <a:t>This is the value of this course. Not memorizing facts, but developing a way of thinking.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PPT DESIGN GUIDANCE</a:t>
            </a:r>
          </a:p>
        </p:txBody>
      </p:sp>
      <p:sp>
        <p:nvSpPr>
          <p:cNvPr id="3" name="Content Placeholder 2"/>
          <p:cNvSpPr>
            <a:spLocks noGrp="1"/>
          </p:cNvSpPr>
          <p:nvPr>
            <p:ph idx="1"/>
          </p:nvPr>
        </p:nvSpPr>
        <p:spPr/>
        <p:txBody>
          <a:bodyPr/>
          <a:lstStyle/>
          <a:p>
            <a:pPr>
              <a:defRPr sz="2400" b="1">
                <a:solidFill>
                  <a:srgbClr val="2E5090"/>
                </a:solidFill>
              </a:defRPr>
            </a:pPr>
            <a:r>
              <a:t>Real Examples to Include:</a:t>
            </a:r>
          </a:p>
          <a:p>
            <a:pPr>
              <a:spcAft>
                <a:spcPts val="1000"/>
              </a:spcAft>
              <a:defRPr sz="1800">
                <a:solidFill>
                  <a:srgbClr val="333333"/>
                </a:solidFill>
              </a:defRPr>
            </a:pPr>
            <a:r>
              <a:t>This is Session 16, our final session. But it's not an ending - it's a beginning.</a:t>
            </a:r>
          </a:p>
          <a:p>
            <a:pPr>
              <a:spcAft>
                <a:spcPts val="1000"/>
              </a:spcAft>
              <a:defRPr sz="1800">
                <a:solidFill>
                  <a:srgbClr val="333333"/>
                </a:solidFill>
              </a:defRPr>
            </a:pPr>
            <a:r>
              <a:t>Immediate Next Steps:</a:t>
            </a:r>
          </a:p>
          <a:p>
            <a:pPr>
              <a:spcAft>
                <a:spcPts val="1000"/>
              </a:spcAft>
              <a:defRPr sz="1800">
                <a:solidFill>
                  <a:srgbClr val="333333"/>
                </a:solidFill>
              </a:defRPr>
            </a:pPr>
            <a:r>
              <a:t>1. Final Exam Preparation: — Review all 16 session materials</a:t>
            </a:r>
          </a:p>
          <a:p>
            <a:pPr>
              <a:spcAft>
                <a:spcPts val="600"/>
              </a:spcAft>
              <a:defRPr sz="1800">
                <a:solidFill>
                  <a:srgbClr val="333333"/>
                </a:solidFill>
              </a:defRPr>
            </a:pPr>
            <a:r>
              <a:t>Focus on connections between sessions</a:t>
            </a:r>
          </a:p>
          <a:p>
            <a:pPr>
              <a:spcAft>
                <a:spcPts val="600"/>
              </a:spcAft>
              <a:defRPr sz="1800">
                <a:solidFill>
                  <a:srgbClr val="333333"/>
                </a:solidFill>
              </a:defRPr>
            </a:pPr>
            <a:r>
              <a:t>Practice applying SE methods to scenarios</a:t>
            </a:r>
          </a:p>
          <a:p>
            <a:pPr>
              <a:spcAft>
                <a:spcPts val="600"/>
              </a:spcAft>
              <a:defRPr sz="1800">
                <a:solidFill>
                  <a:srgbClr val="333333"/>
                </a:solidFill>
              </a:defRPr>
            </a:pPr>
            <a:r>
              <a:t>Understand WHY, not just WHAT</a:t>
            </a:r>
          </a:p>
          <a:p>
            <a:pPr>
              <a:spcAft>
                <a:spcPts val="1000"/>
              </a:spcAft>
              <a:defRPr sz="1800">
                <a:solidFill>
                  <a:srgbClr val="333333"/>
                </a:solidFill>
              </a:defRPr>
            </a:pPr>
            <a:r>
              <a:t>2. Reflect on Learning: — What concepts resonated most?</a:t>
            </a:r>
          </a:p>
          <a:p>
            <a:pPr>
              <a:spcAft>
                <a:spcPts val="600"/>
              </a:spcAft>
              <a:defRPr sz="1800">
                <a:solidFill>
                  <a:srgbClr val="333333"/>
                </a:solidFill>
              </a:defRPr>
            </a:pPr>
            <a:r>
              <a:t>What areas do you want to go deeper?</a:t>
            </a:r>
          </a:p>
          <a:p>
            <a:pPr>
              <a:spcAft>
                <a:spcPts val="600"/>
              </a:spcAft>
              <a:defRPr sz="1800">
                <a:solidFill>
                  <a:srgbClr val="333333"/>
                </a:solidFill>
              </a:defRPr>
            </a:pPr>
            <a:r>
              <a:t>How will you apply SE in your career?</a:t>
            </a:r>
          </a:p>
          <a:p>
            <a:pPr>
              <a:spcAft>
                <a:spcPts val="1000"/>
              </a:spcAft>
              <a:defRPr sz="1800">
                <a:solidFill>
                  <a:srgbClr val="333333"/>
                </a:solidFill>
              </a:defRPr>
            </a:pPr>
            <a:r>
              <a:t>3. Course Feedback: — Help improve this course for future students</a:t>
            </a:r>
          </a:p>
          <a:p>
            <a:pPr>
              <a:spcAft>
                <a:spcPts val="600"/>
              </a:spcAft>
              <a:defRPr sz="1800">
                <a:solidFill>
                  <a:srgbClr val="333333"/>
                </a:solidFill>
              </a:defRPr>
            </a:pPr>
            <a:r>
              <a:t>What worked? What didn't?</a:t>
            </a:r>
          </a:p>
          <a:p>
            <a:pPr>
              <a:spcAft>
                <a:spcPts val="600"/>
              </a:spcAft>
              <a:defRPr sz="1800">
                <a:solidFill>
                  <a:srgbClr val="333333"/>
                </a:solidFill>
              </a:defRPr>
            </a:pPr>
            <a:r>
              <a:t>What topics should be added/expanded?</a:t>
            </a:r>
          </a:p>
          <a:p>
            <a:pPr>
              <a:spcAft>
                <a:spcPts val="1000"/>
              </a:spcAft>
              <a:defRPr sz="1800">
                <a:solidFill>
                  <a:srgbClr val="333333"/>
                </a:solidFill>
              </a:defRPr>
            </a:pPr>
            <a:r>
              <a:t>Beyond This Course:</a:t>
            </a:r>
          </a:p>
          <a:p>
            <a:pPr>
              <a:spcAft>
                <a:spcPts val="1000"/>
              </a:spcAft>
              <a:defRPr sz="1800">
                <a:solidFill>
                  <a:srgbClr val="333333"/>
                </a:solidFill>
              </a:defRPr>
            </a:pPr>
            <a:r>
              <a:t>Professional Development: — Join INCOSE (International Council on Systems Engineering) - student membership available</a:t>
            </a:r>
          </a:p>
          <a:p>
            <a:pPr>
              <a:spcAft>
                <a:spcPts val="600"/>
              </a:spcAft>
              <a:defRPr sz="1800">
                <a:solidFill>
                  <a:srgbClr val="333333"/>
                </a:solidFill>
              </a:defRPr>
            </a:pPr>
            <a:r>
              <a:t>Pursue certification:</a:t>
            </a:r>
          </a:p>
          <a:p>
            <a:pPr>
              <a:spcAft>
                <a:spcPts val="600"/>
              </a:spcAft>
              <a:defRPr sz="1800">
                <a:solidFill>
                  <a:srgbClr val="333333"/>
                </a:solidFill>
              </a:defRPr>
            </a:pPr>
            <a:r>
              <a:t>ASEP (Associate Systems Engineering Professional)</a:t>
            </a:r>
          </a:p>
          <a:p>
            <a:pPr>
              <a:spcAft>
                <a:spcPts val="600"/>
              </a:spcAft>
              <a:defRPr sz="1800">
                <a:solidFill>
                  <a:srgbClr val="333333"/>
                </a:solidFill>
              </a:defRPr>
            </a:pPr>
            <a:r>
              <a:t>CSEP (Certified Systems Engineering Professional)</a:t>
            </a:r>
          </a:p>
          <a:p>
            <a:pPr>
              <a:spcAft>
                <a:spcPts val="600"/>
              </a:spcAft>
              <a:defRPr sz="1800">
                <a:solidFill>
                  <a:srgbClr val="333333"/>
                </a:solidFill>
              </a:defRPr>
            </a:pPr>
            <a:r>
              <a:t>OCSMP (OMG Certified Systems Modeling Professional - MBSE)</a:t>
            </a:r>
          </a:p>
          <a:p>
            <a:pPr>
              <a:spcAft>
                <a:spcPts val="1000"/>
              </a:spcAft>
              <a:defRPr sz="1800">
                <a:solidFill>
                  <a:srgbClr val="333333"/>
                </a:solidFill>
              </a:defRPr>
            </a:pPr>
            <a:r>
              <a:t>Continuous Learning: — Read: INCOSE Systems Engineering Handbook (keep as reference)</a:t>
            </a:r>
          </a:p>
          <a:p>
            <a:pPr>
              <a:spcAft>
                <a:spcPts val="600"/>
              </a:spcAft>
              <a:defRPr sz="1800">
                <a:solidFill>
                  <a:srgbClr val="333333"/>
                </a:solidFill>
              </a:defRPr>
            </a:pPr>
            <a:r>
              <a:t>Follow: Industry blogs, podcasts (Systems Engineering Podcast, INCOSE Insight)</a:t>
            </a:r>
          </a:p>
          <a:p>
            <a:pPr>
              <a:spcAft>
                <a:spcPts val="600"/>
              </a:spcAft>
              <a:defRPr sz="1800">
                <a:solidFill>
                  <a:srgbClr val="333333"/>
                </a:solidFill>
              </a:defRPr>
            </a:pPr>
            <a:r>
              <a:t>Attend: Conferences (INCOSE International Symposium, SAE World Congress)</a:t>
            </a:r>
          </a:p>
          <a:p>
            <a:pPr>
              <a:spcAft>
                <a:spcPts val="1000"/>
              </a:spcAft>
              <a:defRPr sz="1800">
                <a:solidFill>
                  <a:srgbClr val="333333"/>
                </a:solidFill>
              </a:defRPr>
            </a:pPr>
            <a:r>
              <a:t>Build Your Network: — Connect with classmates (future colleagues!)</a:t>
            </a:r>
          </a:p>
          <a:p>
            <a:pPr>
              <a:spcAft>
                <a:spcPts val="600"/>
              </a:spcAft>
              <a:defRPr sz="1800">
                <a:solidFill>
                  <a:srgbClr val="333333"/>
                </a:solidFill>
              </a:defRPr>
            </a:pPr>
            <a:r>
              <a:t>LinkedIn: Follow SE thought leaders, companies</a:t>
            </a:r>
          </a:p>
          <a:p>
            <a:pPr>
              <a:spcAft>
                <a:spcPts val="600"/>
              </a:spcAft>
              <a:defRPr sz="1800">
                <a:solidFill>
                  <a:srgbClr val="333333"/>
                </a:solidFill>
              </a:defRPr>
            </a:pPr>
            <a:r>
              <a:t>Mentorship: Find experienced SE professionals to guide you</a:t>
            </a:r>
          </a:p>
          <a:p>
            <a:pPr>
              <a:spcAft>
                <a:spcPts val="1000"/>
              </a:spcAft>
              <a:defRPr sz="1800">
                <a:solidFill>
                  <a:srgbClr val="333333"/>
                </a:solidFill>
              </a:defRPr>
            </a:pPr>
            <a:r>
              <a:t>Gain Experience: — Internships in automotive systems engineering</a:t>
            </a:r>
          </a:p>
          <a:p>
            <a:pPr>
              <a:spcAft>
                <a:spcPts val="600"/>
              </a:spcAft>
              <a:defRPr sz="1800">
                <a:solidFill>
                  <a:srgbClr val="333333"/>
                </a:solidFill>
              </a:defRPr>
            </a:pPr>
            <a:r>
              <a:t>Apply SE methods to your projects (thesis, capstone)</a:t>
            </a:r>
          </a:p>
          <a:p>
            <a:pPr>
              <a:spcAft>
                <a:spcPts val="600"/>
              </a:spcAft>
              <a:defRPr sz="1800">
                <a:solidFill>
                  <a:srgbClr val="333333"/>
                </a:solidFill>
              </a:defRPr>
            </a:pPr>
            <a:r>
              <a:t>Contribute to open-source automotive projects</a:t>
            </a:r>
          </a:p>
          <a:p>
            <a:pPr>
              <a:spcAft>
                <a:spcPts val="1000"/>
              </a:spcAft>
              <a:defRPr sz="1800">
                <a:solidFill>
                  <a:srgbClr val="333333"/>
                </a:solidFill>
              </a:defRPr>
            </a:pPr>
            <a:r>
              <a:t>Stay Current: — Technology evolves rapidly</a:t>
            </a:r>
          </a:p>
          <a:p>
            <a:pPr>
              <a:spcAft>
                <a:spcPts val="600"/>
              </a:spcAft>
              <a:defRPr sz="1800">
                <a:solidFill>
                  <a:srgbClr val="333333"/>
                </a:solidFill>
              </a:defRPr>
            </a:pPr>
            <a:r>
              <a:t>The trends we discussed today will evolve</a:t>
            </a:r>
          </a:p>
          <a:p>
            <a:pPr>
              <a:spcAft>
                <a:spcPts val="600"/>
              </a:spcAft>
              <a:defRPr sz="1800">
                <a:solidFill>
                  <a:srgbClr val="333333"/>
                </a:solidFill>
              </a:defRPr>
            </a:pPr>
            <a:r>
              <a:t>New trends will emerge</a:t>
            </a:r>
          </a:p>
          <a:p>
            <a:pPr>
              <a:spcAft>
                <a:spcPts val="600"/>
              </a:spcAft>
              <a:defRPr sz="1800">
                <a:solidFill>
                  <a:srgbClr val="333333"/>
                </a:solidFill>
              </a:defRPr>
            </a:pPr>
            <a:r>
              <a:t>Commit to lifelong learning</a:t>
            </a:r>
          </a:p>
          <a:p>
            <a:pPr>
              <a:spcAft>
                <a:spcPts val="1000"/>
              </a:spcAft>
              <a:defRPr sz="1800">
                <a:solidFill>
                  <a:srgbClr val="333333"/>
                </a:solidFill>
              </a:defRPr>
            </a:pPr>
            <a:r>
              <a:t>Career Paths:</a:t>
            </a:r>
          </a:p>
          <a:p>
            <a:pPr>
              <a:spcAft>
                <a:spcPts val="1000"/>
              </a:spcAft>
              <a:defRPr sz="1800">
                <a:solidFill>
                  <a:srgbClr val="333333"/>
                </a:solidFill>
              </a:defRPr>
            </a:pPr>
            <a:r>
              <a:t>Systems Engineer (typical entry): — Requirements engineer</a:t>
            </a:r>
          </a:p>
          <a:p>
            <a:pPr>
              <a:spcAft>
                <a:spcPts val="600"/>
              </a:spcAft>
              <a:defRPr sz="1800">
                <a:solidFill>
                  <a:srgbClr val="333333"/>
                </a:solidFill>
              </a:defRPr>
            </a:pPr>
            <a:r>
              <a:t>Integration engineer</a:t>
            </a:r>
          </a:p>
          <a:p>
            <a:pPr>
              <a:spcAft>
                <a:spcPts val="600"/>
              </a:spcAft>
              <a:defRPr sz="1800">
                <a:solidFill>
                  <a:srgbClr val="333333"/>
                </a:solidFill>
              </a:defRPr>
            </a:pPr>
            <a:r>
              <a:t>V&amp;V engineer</a:t>
            </a:r>
          </a:p>
          <a:p>
            <a:pPr>
              <a:spcAft>
                <a:spcPts val="1000"/>
              </a:spcAft>
              <a:defRPr sz="1800">
                <a:solidFill>
                  <a:srgbClr val="333333"/>
                </a:solidFill>
              </a:defRPr>
            </a:pPr>
            <a:r>
              <a:t>Specialized SE Roles: — MBSE specialist</a:t>
            </a:r>
          </a:p>
          <a:p>
            <a:pPr>
              <a:spcAft>
                <a:spcPts val="600"/>
              </a:spcAft>
              <a:defRPr sz="1800">
                <a:solidFill>
                  <a:srgbClr val="333333"/>
                </a:solidFill>
              </a:defRPr>
            </a:pPr>
            <a:r>
              <a:t>Safety engineer (ISO 26262)</a:t>
            </a:r>
          </a:p>
          <a:p>
            <a:pPr>
              <a:spcAft>
                <a:spcPts val="600"/>
              </a:spcAft>
              <a:defRPr sz="1800">
                <a:solidFill>
                  <a:srgbClr val="333333"/>
                </a:solidFill>
              </a:defRPr>
            </a:pPr>
            <a:r>
              <a:t>Cybersecurity engineer (ISO 21434)</a:t>
            </a:r>
          </a:p>
          <a:p>
            <a:pPr>
              <a:spcAft>
                <a:spcPts val="600"/>
              </a:spcAft>
              <a:defRPr sz="1800">
                <a:solidFill>
                  <a:srgbClr val="333333"/>
                </a:solidFill>
              </a:defRPr>
            </a:pPr>
            <a:r>
              <a:t>Autonomous systems engineer</a:t>
            </a:r>
          </a:p>
          <a:p>
            <a:pPr>
              <a:spcAft>
                <a:spcPts val="1000"/>
              </a:spcAft>
              <a:defRPr sz="1800">
                <a:solidFill>
                  <a:srgbClr val="333333"/>
                </a:solidFill>
              </a:defRPr>
            </a:pPr>
            <a:r>
              <a:t>Leadership Tracks: — Chief engineer / System architect</a:t>
            </a:r>
          </a:p>
          <a:p>
            <a:pPr>
              <a:spcAft>
                <a:spcPts val="600"/>
              </a:spcAft>
              <a:defRPr sz="1800">
                <a:solidFill>
                  <a:srgbClr val="333333"/>
                </a:solidFill>
              </a:defRPr>
            </a:pPr>
            <a:r>
              <a:t>Engineering manager</a:t>
            </a:r>
          </a:p>
          <a:p>
            <a:pPr>
              <a:spcAft>
                <a:spcPts val="600"/>
              </a:spcAft>
              <a:defRPr sz="1800">
                <a:solidFill>
                  <a:srgbClr val="333333"/>
                </a:solidFill>
              </a:defRPr>
            </a:pPr>
            <a:r>
              <a:t>Program manager</a:t>
            </a:r>
          </a:p>
          <a:p>
            <a:pPr>
              <a:spcAft>
                <a:spcPts val="1000"/>
              </a:spcAft>
              <a:defRPr sz="1800">
                <a:solidFill>
                  <a:srgbClr val="333333"/>
                </a:solidFill>
              </a:defRPr>
            </a:pPr>
            <a:r>
              <a:t>Final Reflection:</a:t>
            </a:r>
          </a:p>
          <a:p>
            <a:pPr>
              <a:spcAft>
                <a:spcPts val="1000"/>
              </a:spcAft>
              <a:defRPr sz="1800">
                <a:solidFill>
                  <a:srgbClr val="333333"/>
                </a:solidFill>
              </a:defRPr>
            </a:pPr>
            <a:r>
              <a:t>You started Session 1 learning about failures - Mars Climate Orbiter, Therac-25, Toyota unintended acceleration.</a:t>
            </a:r>
          </a:p>
          <a:p>
            <a:pPr>
              <a:spcAft>
                <a:spcPts val="1000"/>
              </a:spcAft>
              <a:defRPr sz="1800">
                <a:solidFill>
                  <a:srgbClr val="333333"/>
                </a:solidFill>
              </a:defRPr>
            </a:pPr>
            <a:r>
              <a:t>You learned that poor systems engineering costs lives, billions of dollars, and reputations.</a:t>
            </a:r>
          </a:p>
          <a:p>
            <a:pPr>
              <a:spcAft>
                <a:spcPts val="1000"/>
              </a:spcAft>
              <a:defRPr sz="1800">
                <a:solidFill>
                  <a:srgbClr val="333333"/>
                </a:solidFill>
              </a:defRPr>
            </a:pPr>
            <a:r>
              <a:t>You now have the knowledge to PREVENT those failures.</a:t>
            </a:r>
          </a:p>
          <a:p>
            <a:pPr>
              <a:spcAft>
                <a:spcPts val="1000"/>
              </a:spcAft>
              <a:defRPr sz="1800">
                <a:solidFill>
                  <a:srgbClr val="333333"/>
                </a:solidFill>
              </a:defRPr>
            </a:pPr>
            <a:r>
              <a:t>With knowledge comes responsibility.</a:t>
            </a:r>
          </a:p>
          <a:p>
            <a:pPr>
              <a:spcAft>
                <a:spcPts val="1000"/>
              </a:spcAft>
              <a:defRPr sz="1800">
                <a:solidFill>
                  <a:srgbClr val="333333"/>
                </a:solidFill>
              </a:defRPr>
            </a:pPr>
            <a:r>
              <a:t>The systems you'll engineer will transport people, support critical infrastructure, impact the environment.</a:t>
            </a:r>
          </a:p>
          <a:p>
            <a:pPr>
              <a:spcAft>
                <a:spcPts val="1000"/>
              </a:spcAft>
              <a:defRPr sz="1800">
                <a:solidFill>
                  <a:srgbClr val="333333"/>
                </a:solidFill>
              </a:defRPr>
            </a:pPr>
            <a:r>
              <a:t>Do it with:</a:t>
            </a:r>
          </a:p>
          <a:p>
            <a:pPr>
              <a:spcAft>
                <a:spcPts val="600"/>
              </a:spcAft>
              <a:defRPr sz="1800">
                <a:solidFill>
                  <a:srgbClr val="333333"/>
                </a:solidFill>
              </a:defRPr>
            </a:pPr>
            <a:r>
              <a:t>Rigor (follow the SE process)</a:t>
            </a:r>
          </a:p>
          <a:p>
            <a:pPr>
              <a:spcAft>
                <a:spcPts val="600"/>
              </a:spcAft>
              <a:defRPr sz="1800">
                <a:solidFill>
                  <a:srgbClr val="333333"/>
                </a:solidFill>
              </a:defRPr>
            </a:pPr>
            <a:r>
              <a:t>Ethics (consider societal impact)</a:t>
            </a:r>
          </a:p>
          <a:p>
            <a:pPr>
              <a:spcAft>
                <a:spcPts val="600"/>
              </a:spcAft>
              <a:defRPr sz="1800">
                <a:solidFill>
                  <a:srgbClr val="333333"/>
                </a:solidFill>
              </a:defRPr>
            </a:pPr>
            <a:r>
              <a:t>Humility (systems are complex, mistakes happen)</a:t>
            </a:r>
          </a:p>
          <a:p>
            <a:pPr>
              <a:spcAft>
                <a:spcPts val="600"/>
              </a:spcAft>
              <a:defRPr sz="1800">
                <a:solidFill>
                  <a:srgbClr val="333333"/>
                </a:solidFill>
              </a:defRPr>
            </a:pPr>
            <a:r>
              <a:t>Curiosity (keep learning, stay current)</a:t>
            </a:r>
          </a:p>
          <a:p>
            <a:pPr>
              <a:spcAft>
                <a:spcPts val="600"/>
              </a:spcAft>
              <a:defRPr sz="1800">
                <a:solidFill>
                  <a:srgbClr val="333333"/>
                </a:solidFill>
              </a:defRPr>
            </a:pPr>
            <a:r>
              <a:t>Responsibility (lives may depend on your work)</a:t>
            </a:r>
          </a:p>
          <a:p>
            <a:pPr>
              <a:spcAft>
                <a:spcPts val="1000"/>
              </a:spcAft>
              <a:defRPr sz="1800">
                <a:solidFill>
                  <a:srgbClr val="333333"/>
                </a:solidFill>
              </a:defRPr>
            </a:pPr>
            <a:r>
              <a:t>Thank you for your engagement throughout this course.</a:t>
            </a:r>
          </a:p>
          <a:p>
            <a:pPr>
              <a:spcAft>
                <a:spcPts val="1000"/>
              </a:spcAft>
              <a:defRPr sz="1800">
                <a:solidFill>
                  <a:srgbClr val="333333"/>
                </a:solidFill>
              </a:defRPr>
            </a:pPr>
            <a:r>
              <a:t>Go forth and engineer amazing systems.</a:t>
            </a:r>
          </a:p>
          <a:p>
            <a:pPr>
              <a:spcAft>
                <a:spcPts val="1000"/>
              </a:spcAft>
              <a:defRPr sz="1800">
                <a:solidFill>
                  <a:srgbClr val="333333"/>
                </a:solidFill>
              </a:defRPr>
            </a:pPr>
            <a:r>
              <a:t>30 minutes for your final questions. —--</a:t>
            </a:r>
          </a:p>
          <a:p>
            <a:pPr>
              <a:spcAft>
                <a:spcPts val="600"/>
              </a:spcAft>
              <a:defRPr sz="1800">
                <a:solidFill>
                  <a:srgbClr val="333333"/>
                </a:solidFill>
              </a:defRPr>
            </a:pPr>
            <a:r>
              <a:t>Future-focused aesthetic: Modern, clean, tech-forward design</a:t>
            </a:r>
          </a:p>
          <a:p>
            <a:pPr>
              <a:spcAft>
                <a:spcPts val="600"/>
              </a:spcAft>
              <a:defRPr sz="1800">
                <a:solidFill>
                  <a:srgbClr val="333333"/>
                </a:solidFill>
              </a:defRPr>
            </a:pPr>
            <a:r>
              <a:t>Color coding:</a:t>
            </a:r>
          </a:p>
          <a:p>
            <a:pPr>
              <a:spcAft>
                <a:spcPts val="600"/>
              </a:spcAft>
              <a:defRPr sz="1800">
                <a:solidFill>
                  <a:srgbClr val="333333"/>
                </a:solidFill>
              </a:defRPr>
            </a:pPr>
            <a:r>
              <a:t>Blue for digital engineering concepts</a:t>
            </a:r>
          </a:p>
          <a:p>
            <a:pPr>
              <a:spcAft>
                <a:spcPts val="600"/>
              </a:spcAft>
              <a:defRPr sz="1800">
                <a:solidFill>
                  <a:srgbClr val="333333"/>
                </a:solidFill>
              </a:defRPr>
            </a:pPr>
            <a:r>
              <a:t>Green for sustainability</a:t>
            </a:r>
          </a:p>
          <a:p>
            <a:pPr>
              <a:spcAft>
                <a:spcPts val="600"/>
              </a:spcAft>
              <a:defRPr sz="1800">
                <a:solidFill>
                  <a:srgbClr val="333333"/>
                </a:solidFill>
              </a:defRPr>
            </a:pPr>
            <a:r>
              <a:t>Purple for AI/ML</a:t>
            </a:r>
          </a:p>
          <a:p>
            <a:pPr>
              <a:spcAft>
                <a:spcPts val="600"/>
              </a:spcAft>
              <a:defRPr sz="1800">
                <a:solidFill>
                  <a:srgbClr val="333333"/>
                </a:solidFill>
              </a:defRPr>
            </a:pPr>
            <a:r>
              <a:t>Orange for agile/DevOps</a:t>
            </a:r>
          </a:p>
          <a:p>
            <a:pPr>
              <a:spcAft>
                <a:spcPts val="600"/>
              </a:spcAft>
              <a:defRPr sz="1800">
                <a:solidFill>
                  <a:srgbClr val="333333"/>
                </a:solidFill>
              </a:defRPr>
            </a:pPr>
            <a:r>
              <a:t>Red for challenges and warnings</a:t>
            </a:r>
          </a:p>
          <a:p>
            <a:pPr>
              <a:spcAft>
                <a:spcPts val="600"/>
              </a:spcAft>
              <a:defRPr sz="1800">
                <a:solidFill>
                  <a:srgbClr val="333333"/>
                </a:solidFill>
              </a:defRPr>
            </a:pPr>
            <a:r>
              <a:t>Use cutting-edge examples: Tesla, Waymo, Mercedes EQS, autonomous systems</a:t>
            </a:r>
          </a:p>
          <a:p>
            <a:pPr>
              <a:spcAft>
                <a:spcPts val="600"/>
              </a:spcAft>
              <a:defRPr sz="1800">
                <a:solidFill>
                  <a:srgbClr val="333333"/>
                </a:solidFill>
              </a:defRPr>
            </a:pPr>
            <a:r>
              <a:t>Diagrams: Network connections showing trend convergence, timelines, adoption curves</a:t>
            </a:r>
          </a:p>
          <a:p>
            <a:pPr>
              <a:spcAft>
                <a:spcPts val="600"/>
              </a:spcAft>
              <a:defRPr sz="1800">
                <a:solidFill>
                  <a:srgbClr val="333333"/>
                </a:solidFill>
              </a:defRPr>
            </a:pPr>
            <a:r>
              <a:t>Slide 3 (Pace of Change) - Shows acceleration of innovation</a:t>
            </a:r>
          </a:p>
          <a:p>
            <a:pPr>
              <a:spcAft>
                <a:spcPts val="600"/>
              </a:spcAft>
              <a:defRPr sz="1800">
                <a:solidFill>
                  <a:srgbClr val="333333"/>
                </a:solidFill>
              </a:defRPr>
            </a:pPr>
            <a:r>
              <a:t>Slide 7 (Industry Leaders) - Real examples students can research</a:t>
            </a:r>
          </a:p>
          <a:p>
            <a:pPr>
              <a:spcAft>
                <a:spcPts val="600"/>
              </a:spcAft>
              <a:defRPr sz="1800">
                <a:solidFill>
                  <a:srgbClr val="333333"/>
                </a:solidFill>
              </a:defRPr>
            </a:pPr>
            <a:r>
              <a:t>Slide 9 (Digital Thread) - Core enabling concept</a:t>
            </a:r>
          </a:p>
          <a:p>
            <a:pPr>
              <a:spcAft>
                <a:spcPts val="600"/>
              </a:spcAft>
              <a:defRPr sz="1800">
                <a:solidFill>
                  <a:srgbClr val="333333"/>
                </a:solidFill>
              </a:defRPr>
            </a:pPr>
            <a:r>
              <a:t>Slide 13 (AI in Autonomous Systems) - Frontier challenge</a:t>
            </a:r>
          </a:p>
          <a:p>
            <a:pPr>
              <a:spcAft>
                <a:spcPts val="600"/>
              </a:spcAft>
              <a:defRPr sz="1800">
                <a:solidFill>
                  <a:srgbClr val="333333"/>
                </a:solidFill>
              </a:defRPr>
            </a:pPr>
            <a:r>
              <a:t>Slide 22 (SAE Levels) - Framework students should memorize</a:t>
            </a:r>
          </a:p>
          <a:p>
            <a:pPr>
              <a:spcAft>
                <a:spcPts val="600"/>
              </a:spcAft>
              <a:defRPr sz="1800">
                <a:solidFill>
                  <a:srgbClr val="333333"/>
                </a:solidFill>
              </a:defRPr>
            </a:pPr>
            <a:r>
              <a:t>Slide 25 (Trend Convergence) - Shows big picture</a:t>
            </a:r>
          </a:p>
          <a:p>
            <a:pPr>
              <a:spcAft>
                <a:spcPts val="600"/>
              </a:spcAft>
              <a:defRPr sz="1800">
                <a:solidFill>
                  <a:srgbClr val="333333"/>
                </a:solidFill>
              </a:defRPr>
            </a:pPr>
            <a:r>
              <a:t>Slide 26 (Skills You Need) - Students will photograph this</a:t>
            </a:r>
          </a:p>
          <a:p>
            <a:pPr>
              <a:spcAft>
                <a:spcPts val="600"/>
              </a:spcAft>
              <a:defRPr sz="1800">
                <a:solidFill>
                  <a:srgbClr val="333333"/>
                </a:solidFill>
              </a:defRPr>
            </a:pPr>
            <a:r>
              <a:t>Slide 30 (Your Next Steps) - Actionable guidance</a:t>
            </a:r>
          </a:p>
          <a:p>
            <a:pPr>
              <a:spcAft>
                <a:spcPts val="600"/>
              </a:spcAft>
              <a:defRPr sz="1800">
                <a:solidFill>
                  <a:srgbClr val="333333"/>
                </a:solidFill>
              </a:defRPr>
            </a:pPr>
            <a:r>
              <a:t>Slide 3: Timeline animation building from 1950s to present</a:t>
            </a:r>
          </a:p>
          <a:p>
            <a:pPr>
              <a:spcAft>
                <a:spcPts val="600"/>
              </a:spcAft>
              <a:defRPr sz="1800">
                <a:solidFill>
                  <a:srgbClr val="333333"/>
                </a:solidFill>
              </a:defRPr>
            </a:pPr>
            <a:r>
              <a:t>Slide 9: Digital thread flowing through lifecycle stages</a:t>
            </a:r>
          </a:p>
          <a:p>
            <a:pPr>
              <a:spcAft>
                <a:spcPts val="600"/>
              </a:spcAft>
              <a:defRPr sz="1800">
                <a:solidFill>
                  <a:srgbClr val="333333"/>
                </a:solidFill>
              </a:defRPr>
            </a:pPr>
            <a:r>
              <a:t>Slide 22: SAE levels building from 0 to 5 with complexity overlay</a:t>
            </a:r>
          </a:p>
          <a:p>
            <a:pPr>
              <a:spcAft>
                <a:spcPts val="600"/>
              </a:spcAft>
              <a:defRPr sz="1800">
                <a:solidFill>
                  <a:srgbClr val="333333"/>
                </a:solidFill>
              </a:defRPr>
            </a:pPr>
            <a:r>
              <a:t>Slide 25: Network diagram with trends connecting and reinforcing</a:t>
            </a:r>
          </a:p>
          <a:p>
            <a:pPr>
              <a:spcAft>
                <a:spcPts val="600"/>
              </a:spcAft>
              <a:defRPr sz="1800">
                <a:solidFill>
                  <a:srgbClr val="333333"/>
                </a:solidFill>
              </a:defRPr>
            </a:pPr>
            <a:r>
              <a:t>Slide 29: Course journey map highlighting key learnings</a:t>
            </a:r>
          </a:p>
          <a:p>
            <a:pPr>
              <a:spcAft>
                <a:spcPts val="600"/>
              </a:spcAft>
              <a:defRPr sz="1800">
                <a:solidFill>
                  <a:srgbClr val="333333"/>
                </a:solidFill>
              </a:defRPr>
            </a:pPr>
            <a:r>
              <a:t>Slide 11: Digital engineering adoption rates by sector</a:t>
            </a:r>
          </a:p>
          <a:p>
            <a:pPr>
              <a:spcAft>
                <a:spcPts val="600"/>
              </a:spcAft>
              <a:defRPr sz="1800">
                <a:solidFill>
                  <a:srgbClr val="333333"/>
                </a:solidFill>
              </a:defRPr>
            </a:pPr>
            <a:r>
              <a:t>Slide 19: MBSE adoption barriers (survey data)</a:t>
            </a:r>
          </a:p>
          <a:p>
            <a:pPr>
              <a:spcAft>
                <a:spcPts val="600"/>
              </a:spcAft>
              <a:defRPr sz="1800">
                <a:solidFill>
                  <a:srgbClr val="333333"/>
                </a:solidFill>
              </a:defRPr>
            </a:pPr>
            <a:r>
              <a:t>Slide 22: SAE levels with SE complexity comparison</a:t>
            </a:r>
          </a:p>
          <a:p>
            <a:pPr>
              <a:spcAft>
                <a:spcPts val="600"/>
              </a:spcAft>
              <a:defRPr sz="1800">
                <a:solidFill>
                  <a:srgbClr val="333333"/>
                </a:solidFill>
              </a:defRPr>
            </a:pPr>
            <a:r>
              <a:t>Slide 26: Skills framework for future SEs</a:t>
            </a:r>
          </a:p>
          <a:p>
            <a:pPr>
              <a:spcAft>
                <a:spcPts val="600"/>
              </a:spcAft>
              <a:defRPr sz="1800">
                <a:solidFill>
                  <a:srgbClr val="333333"/>
                </a:solidFill>
              </a:defRPr>
            </a:pPr>
            <a:r>
              <a:t>Tesla OTA updates and development approach</a:t>
            </a:r>
          </a:p>
          <a:p>
            <a:pPr>
              <a:spcAft>
                <a:spcPts val="600"/>
              </a:spcAft>
              <a:defRPr sz="1800">
                <a:solidFill>
                  <a:srgbClr val="333333"/>
                </a:solidFill>
              </a:defRPr>
            </a:pPr>
            <a:r>
              <a:t>Waymo simulation statistics (billions of virtual miles)</a:t>
            </a:r>
          </a:p>
          <a:p>
            <a:pPr>
              <a:spcAft>
                <a:spcPts val="600"/>
              </a:spcAft>
              <a:defRPr sz="1800">
                <a:solidFill>
                  <a:srgbClr val="333333"/>
                </a:solidFill>
              </a:defRPr>
            </a:pPr>
            <a:r>
              <a:t>Mercedes MBSE adoption story</a:t>
            </a:r>
          </a:p>
          <a:p>
            <a:pPr>
              <a:spcAft>
                <a:spcPts val="600"/>
              </a:spcAft>
              <a:defRPr sz="1800">
                <a:solidFill>
                  <a:srgbClr val="333333"/>
                </a:solidFill>
              </a:defRPr>
            </a:pPr>
            <a:r>
              <a:t>BMW sustainability initiatives (i-series)</a:t>
            </a:r>
          </a:p>
          <a:p>
            <a:pPr>
              <a:spcAft>
                <a:spcPts val="600"/>
              </a:spcAft>
              <a:defRPr sz="1800">
                <a:solidFill>
                  <a:srgbClr val="333333"/>
                </a:solidFill>
              </a:defRPr>
            </a:pPr>
            <a:r>
              <a:t>Actual job postings showing required skills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defRPr sz="2400" b="1">
                <a:solidFill>
                  <a:srgbClr val="2E5090"/>
                </a:solidFill>
              </a:defRPr>
            </a:pPr>
            <a:r>
              <a:t>Assessment Opportunities:</a:t>
            </a:r>
          </a:p>
          <a:p>
            <a:pPr>
              <a:spcAft>
                <a:spcPts val="600"/>
              </a:spcAft>
              <a:defRPr sz="1800">
                <a:solidFill>
                  <a:srgbClr val="333333"/>
                </a:solidFill>
              </a:defRPr>
            </a:pPr>
            <a:r>
              <a:t>Future-oriented mindset: Prepare students for rapid change</a:t>
            </a:r>
          </a:p>
          <a:p>
            <a:pPr>
              <a:spcAft>
                <a:spcPts val="600"/>
              </a:spcAft>
              <a:defRPr sz="1800">
                <a:solidFill>
                  <a:srgbClr val="333333"/>
                </a:solidFill>
              </a:defRPr>
            </a:pPr>
            <a:r>
              <a:t>Practical focus: These trends are happening NOW, not theoretical</a:t>
            </a:r>
          </a:p>
          <a:p>
            <a:pPr>
              <a:spcAft>
                <a:spcPts val="600"/>
              </a:spcAft>
              <a:defRPr sz="1800">
                <a:solidFill>
                  <a:srgbClr val="333333"/>
                </a:solidFill>
              </a:defRPr>
            </a:pPr>
            <a:r>
              <a:t>Balanced optimism and realism: Trends are exciting but have barriers</a:t>
            </a:r>
          </a:p>
          <a:p>
            <a:pPr>
              <a:spcAft>
                <a:spcPts val="600"/>
              </a:spcAft>
              <a:defRPr sz="1800">
                <a:solidFill>
                  <a:srgbClr val="333333"/>
                </a:solidFill>
              </a:defRPr>
            </a:pPr>
            <a:r>
              <a:t>Empowerment: Students can be ahead of curve by learning now</a:t>
            </a:r>
          </a:p>
          <a:p>
            <a:pPr>
              <a:spcAft>
                <a:spcPts val="600"/>
              </a:spcAft>
              <a:defRPr sz="1800">
                <a:solidFill>
                  <a:srgbClr val="333333"/>
                </a:solidFill>
              </a:defRPr>
            </a:pPr>
            <a:r>
              <a:t>Ethical grounding: With new capabilities come new responsibilities</a:t>
            </a:r>
          </a:p>
          <a:p>
            <a:pPr>
              <a:spcAft>
                <a:spcPts val="1000"/>
              </a:spcAft>
              <a:defRPr sz="1800">
                <a:solidFill>
                  <a:srgbClr val="333333"/>
                </a:solidFill>
              </a:defRPr>
            </a:pPr>
            <a:r>
              <a:t>Challenge 1: "These trends seem overwhelming - how can I learn all this?"</a:t>
            </a:r>
          </a:p>
          <a:p>
            <a:pPr>
              <a:spcAft>
                <a:spcPts val="1000"/>
              </a:spcAft>
              <a:defRPr sz="1800">
                <a:solidFill>
                  <a:srgbClr val="333333"/>
                </a:solidFill>
              </a:defRPr>
            </a:pPr>
            <a:r>
              <a:t>How to address: You don't need to master everything. Develop T-shaped skills (deep in 1-2 areas, broad awareness of rest). Focus on fundamentals (SE principles don't change), then layer on emerging tools/methods. Show Slide 26 - actionable learning path.</a:t>
            </a:r>
          </a:p>
          <a:p>
            <a:pPr>
              <a:spcAft>
                <a:spcPts val="1000"/>
              </a:spcAft>
              <a:defRPr sz="1800">
                <a:solidFill>
                  <a:srgbClr val="333333"/>
                </a:solidFill>
              </a:defRPr>
            </a:pPr>
            <a:r>
              <a:t>Challenge 2: "Will AI replace systems engineers?"</a:t>
            </a:r>
          </a:p>
          <a:p>
            <a:pPr>
              <a:spcAft>
                <a:spcPts val="1000"/>
              </a:spcAft>
              <a:defRPr sz="1800">
                <a:solidFill>
                  <a:srgbClr val="333333"/>
                </a:solidFill>
              </a:defRPr>
            </a:pPr>
            <a:r>
              <a:t>How to address: AI augments, not replaces. Show Slide 12 - AI handles data-intensive tasks, humans handle judgment, creativity, ethics, stakeholder engagement. Emphasize uniquely human skills. Historical precedent: CAD didn't replace engineers, it made us more productive.</a:t>
            </a:r>
          </a:p>
          <a:p>
            <a:pPr>
              <a:spcAft>
                <a:spcPts val="1000"/>
              </a:spcAft>
              <a:defRPr sz="1800">
                <a:solidFill>
                  <a:srgbClr val="333333"/>
                </a:solidFill>
              </a:defRPr>
            </a:pPr>
            <a:r>
              <a:t>Challenge 3: "My future employer might not use these new methods"</a:t>
            </a:r>
          </a:p>
          <a:p>
            <a:pPr>
              <a:spcAft>
                <a:spcPts val="1000"/>
              </a:spcAft>
              <a:defRPr sz="1800">
                <a:solidFill>
                  <a:srgbClr val="333333"/>
                </a:solidFill>
              </a:defRPr>
            </a:pPr>
            <a:r>
              <a:t>How to address: True, adoption varies. But: (1) Knowledge helps you recognize when new methods are needed, (2) You can be change agent, (3) Over career, you'll likely work for multiple companies - pick those embracing innovation. Leaders adopting these trends are outperforming laggards.</a:t>
            </a:r>
          </a:p>
          <a:p>
            <a:pPr>
              <a:spcAft>
                <a:spcPts val="1000"/>
              </a:spcAft>
              <a:defRPr sz="1800">
                <a:solidFill>
                  <a:srgbClr val="333333"/>
                </a:solidFill>
              </a:defRPr>
            </a:pPr>
            <a:r>
              <a:t>Challenge 4: "How do I stay current when technology changes so fast?"</a:t>
            </a:r>
          </a:p>
          <a:p>
            <a:pPr>
              <a:spcAft>
                <a:spcPts val="1000"/>
              </a:spcAft>
              <a:defRPr sz="1800">
                <a:solidFill>
                  <a:srgbClr val="333333"/>
                </a:solidFill>
              </a:defRPr>
            </a:pPr>
            <a:r>
              <a:t>How to address: Develop continuous learning habits (Slide 26). Follow industry news, take online courses, join professional societies (INCOSE), attend conferences. Dedicate 2-3 hours/week to learning. Career is 40+ years - staying current is not optional.</a:t>
            </a:r>
          </a:p>
          <a:p>
            <a:pPr>
              <a:spcAft>
                <a:spcPts val="1000"/>
              </a:spcAft>
              <a:defRPr sz="1800">
                <a:solidFill>
                  <a:srgbClr val="333333"/>
                </a:solidFill>
              </a:defRPr>
            </a:pPr>
            <a:r>
              <a:t>Challenge 5: "These trends seem to conflict - Agile vs. safety rigor, speed vs. thoroughness"</a:t>
            </a:r>
          </a:p>
          <a:p>
            <a:pPr>
              <a:spcAft>
                <a:spcPts val="1000"/>
              </a:spcAft>
              <a:defRPr sz="1800">
                <a:solidFill>
                  <a:srgbClr val="333333"/>
                </a:solidFill>
              </a:defRPr>
            </a:pPr>
            <a:r>
              <a:t>How to address: This is the art of SE - balancing trade-offs. Agile and rigor can coexist (Slide 18 - SAFe framework). Speed comes from automation and virtual testing, not cutting corners. Show how trends complement each other (Slide 25).</a:t>
            </a:r>
          </a:p>
          <a:p>
            <a:pPr>
              <a:spcAft>
                <a:spcPts val="1000"/>
              </a:spcAft>
              <a:defRPr sz="1800">
                <a:solidFill>
                  <a:srgbClr val="333333"/>
                </a:solidFill>
              </a:defRPr>
            </a:pPr>
            <a:r>
              <a:t>If running short: — Condense Slide 11 (DE adoption) - high-level summary</a:t>
            </a:r>
          </a:p>
          <a:p>
            <a:pPr>
              <a:spcAft>
                <a:spcPts val="600"/>
              </a:spcAft>
              <a:defRPr sz="1800">
                <a:solidFill>
                  <a:srgbClr val="333333"/>
                </a:solidFill>
              </a:defRPr>
            </a:pPr>
            <a:r>
              <a:t>Reduce Slide 15 (DevOps) to key concepts only</a:t>
            </a:r>
          </a:p>
          <a:p>
            <a:pPr>
              <a:spcAft>
                <a:spcPts val="600"/>
              </a:spcAft>
              <a:defRPr sz="1800">
                <a:solidFill>
                  <a:srgbClr val="333333"/>
                </a:solidFill>
              </a:defRPr>
            </a:pPr>
            <a:r>
              <a:t>Move detailed MBSE barriers (Slide 19) to backup</a:t>
            </a:r>
          </a:p>
          <a:p>
            <a:pPr>
              <a:spcAft>
                <a:spcPts val="1000"/>
              </a:spcAft>
              <a:defRPr sz="1800">
                <a:solidFill>
                  <a:srgbClr val="333333"/>
                </a:solidFill>
              </a:defRPr>
            </a:pPr>
            <a:r>
              <a:t>If running long: — Expand Slide 7 with more industry examples (videos of Tesla FSD, Waymo demos)</a:t>
            </a:r>
          </a:p>
          <a:p>
            <a:pPr>
              <a:spcAft>
                <a:spcPts val="600"/>
              </a:spcAft>
              <a:defRPr sz="1800">
                <a:solidFill>
                  <a:srgbClr val="333333"/>
                </a:solidFill>
              </a:defRPr>
            </a:pPr>
            <a:r>
              <a:t>Deep dive on one trend based on student interest</a:t>
            </a:r>
          </a:p>
          <a:p>
            <a:pPr>
              <a:spcAft>
                <a:spcPts val="600"/>
              </a:spcAft>
              <a:defRPr sz="1800">
                <a:solidFill>
                  <a:srgbClr val="333333"/>
                </a:solidFill>
              </a:defRPr>
            </a:pPr>
            <a:r>
              <a:t>Interactive: Students research and present one trend</a:t>
            </a:r>
          </a:p>
          <a:p>
            <a:pPr>
              <a:spcAft>
                <a:spcPts val="1000"/>
              </a:spcAft>
              <a:defRPr sz="1800">
                <a:solidFill>
                  <a:srgbClr val="333333"/>
                </a:solidFill>
              </a:defRPr>
            </a:pPr>
            <a:r>
              <a:t>Core content (must cover - non-negotiable): — Slides 8-10 (Digital engineering and digital thread)</a:t>
            </a:r>
          </a:p>
          <a:p>
            <a:pPr>
              <a:spcAft>
                <a:spcPts val="600"/>
              </a:spcAft>
              <a:defRPr sz="1800">
                <a:solidFill>
                  <a:srgbClr val="333333"/>
                </a:solidFill>
              </a:defRPr>
            </a:pPr>
            <a:r>
              <a:t>Slides 12-13 (AI in SE and autonomous systems)</a:t>
            </a:r>
          </a:p>
          <a:p>
            <a:pPr>
              <a:spcAft>
                <a:spcPts val="600"/>
              </a:spcAft>
              <a:defRPr sz="1800">
                <a:solidFill>
                  <a:srgbClr val="333333"/>
                </a:solidFill>
              </a:defRPr>
            </a:pPr>
            <a:r>
              <a:t>Slide 18 (Agile SE scaling)</a:t>
            </a:r>
          </a:p>
          <a:p>
            <a:pPr>
              <a:spcAft>
                <a:spcPts val="600"/>
              </a:spcAft>
              <a:defRPr sz="1800">
                <a:solidFill>
                  <a:srgbClr val="333333"/>
                </a:solidFill>
              </a:defRPr>
            </a:pPr>
            <a:r>
              <a:t>Slides 21-22 (Autonomous systems challenges)</a:t>
            </a:r>
          </a:p>
          <a:p>
            <a:pPr>
              <a:spcAft>
                <a:spcPts val="600"/>
              </a:spcAft>
              <a:defRPr sz="1800">
                <a:solidFill>
                  <a:srgbClr val="333333"/>
                </a:solidFill>
              </a:defRPr>
            </a:pPr>
            <a:r>
              <a:t>Slides 23-24 (Sustainability)</a:t>
            </a:r>
          </a:p>
          <a:p>
            <a:pPr>
              <a:spcAft>
                <a:spcPts val="600"/>
              </a:spcAft>
              <a:defRPr sz="1800">
                <a:solidFill>
                  <a:srgbClr val="333333"/>
                </a:solidFill>
              </a:defRPr>
            </a:pPr>
            <a:r>
              <a:t>Slides 25-27 (Convergence, skills, challenges)</a:t>
            </a:r>
          </a:p>
          <a:p>
            <a:pPr>
              <a:spcAft>
                <a:spcPts val="600"/>
              </a:spcAft>
              <a:defRPr sz="1800">
                <a:solidFill>
                  <a:srgbClr val="333333"/>
                </a:solidFill>
              </a:defRPr>
            </a:pPr>
            <a:r>
              <a:t>Slides 28-30 (Summary and next steps)</a:t>
            </a:r>
          </a:p>
          <a:p>
            <a:pPr>
              <a:spcAft>
                <a:spcPts val="1000"/>
              </a:spcAft>
              <a:defRPr sz="1800">
                <a:solidFill>
                  <a:srgbClr val="333333"/>
                </a:solidFill>
              </a:defRPr>
            </a:pPr>
            <a:r>
              <a:t>Slide 4: Ask: "How many plan to work in automotive industry?" Then: "How many of you think your first job will require MBSE? AI knowledge? Agile methods?</a:t>
            </a:r>
          </a:p>
          <a:p>
            <a:pPr>
              <a:spcAft>
                <a:spcPts val="1000"/>
              </a:spcAft>
              <a:defRPr sz="1800">
                <a:solidFill>
                  <a:srgbClr val="333333"/>
                </a:solidFill>
              </a:defRPr>
            </a:pPr>
            <a:r>
              <a:t>Slide 7: Show videos: Tesla FSD beta, Waymo passenger ride. Make trends tangible.</a:t>
            </a:r>
          </a:p>
          <a:p>
            <a:pPr>
              <a:spcAft>
                <a:spcPts val="1000"/>
              </a:spcAft>
              <a:defRPr sz="1800">
                <a:solidFill>
                  <a:srgbClr val="333333"/>
                </a:solidFill>
              </a:defRPr>
            </a:pPr>
            <a:r>
              <a:t>Slide 13: Discuss: "If an AI makes a design decision that leads to a failure, who is responsible?" Ethical debate.</a:t>
            </a:r>
          </a:p>
          <a:p>
            <a:pPr>
              <a:spcAft>
                <a:spcPts val="1000"/>
              </a:spcAft>
              <a:defRPr sz="1800">
                <a:solidFill>
                  <a:srgbClr val="333333"/>
                </a:solidFill>
              </a:defRPr>
            </a:pPr>
            <a:r>
              <a:t>Slide 22: Poll: "What SAE level do you think will be common in 10 years?" (Gauge student expectations)</a:t>
            </a:r>
          </a:p>
          <a:p>
            <a:pPr>
              <a:spcAft>
                <a:spcPts val="1000"/>
              </a:spcAft>
              <a:defRPr sz="1800">
                <a:solidFill>
                  <a:srgbClr val="333333"/>
                </a:solidFill>
              </a:defRPr>
            </a:pPr>
            <a:r>
              <a:t>Slide 27: Brainstorm: "What challenges did we NOT discuss that you think will be important?</a:t>
            </a:r>
          </a:p>
          <a:p>
            <a:pPr>
              <a:spcAft>
                <a:spcPts val="1000"/>
              </a:spcAft>
              <a:defRPr sz="1800">
                <a:solidFill>
                  <a:srgbClr val="333333"/>
                </a:solidFill>
              </a:defRPr>
            </a:pPr>
            <a:r>
              <a:t>Opening Poll (Slide 3): "Which trend are you most excited about? Most concerned about?</a:t>
            </a:r>
          </a:p>
          <a:p>
            <a:pPr>
              <a:spcAft>
                <a:spcPts val="1000"/>
              </a:spcAft>
              <a:defRPr sz="1800">
                <a:solidFill>
                  <a:srgbClr val="333333"/>
                </a:solidFill>
              </a:defRPr>
            </a:pPr>
            <a:r>
              <a:t>Case Discussion (Slide 16): Debate: "Should all vehicles have OTA update capability? What are risks/benefits?</a:t>
            </a:r>
          </a:p>
          <a:p>
            <a:pPr>
              <a:spcAft>
                <a:spcPts val="1000"/>
              </a:spcAft>
              <a:defRPr sz="1800">
                <a:solidFill>
                  <a:srgbClr val="333333"/>
                </a:solidFill>
              </a:defRPr>
            </a:pPr>
            <a:r>
              <a:t>Skills Self-Assessment (Slide 26): Students rate themselves on each skill area, identify gaps, make learning plan.</a:t>
            </a:r>
          </a:p>
          <a:p>
            <a:pPr>
              <a:spcAft>
                <a:spcPts val="1000"/>
              </a:spcAft>
              <a:defRPr sz="1800">
                <a:solidFill>
                  <a:srgbClr val="333333"/>
                </a:solidFill>
              </a:defRPr>
            </a:pPr>
            <a:r>
              <a:t>Course Reflection (Slide 29): Think-pair-share: "What was your biggest learning from this course?</a:t>
            </a:r>
          </a:p>
          <a:p>
            <a:pPr>
              <a:spcAft>
                <a:spcPts val="1000"/>
              </a:spcAft>
              <a:defRPr sz="1800">
                <a:solidFill>
                  <a:srgbClr val="333333"/>
                </a:solidFill>
              </a:defRPr>
            </a:pPr>
            <a:r>
              <a:t>Before class: — [ ] Videos: Tesla Autopilot, Waymo demo, digital twin visualization</a:t>
            </a:r>
          </a:p>
          <a:p>
            <a:pPr>
              <a:spcAft>
                <a:spcPts val="600"/>
              </a:spcAft>
              <a:defRPr sz="1800">
                <a:solidFill>
                  <a:srgbClr val="333333"/>
                </a:solidFill>
              </a:defRPr>
            </a:pPr>
            <a:r>
              <a:t>[ ] Guest speaker (optional): Industry SE working with emerging trends</a:t>
            </a:r>
          </a:p>
          <a:p>
            <a:pPr>
              <a:spcAft>
                <a:spcPts val="600"/>
              </a:spcAft>
              <a:defRPr sz="1800">
                <a:solidFill>
                  <a:srgbClr val="333333"/>
                </a:solidFill>
              </a:defRPr>
            </a:pPr>
            <a:r>
              <a:t>[ ] Survey data on trend adoption (updated to current year)</a:t>
            </a:r>
          </a:p>
          <a:p>
            <a:pPr>
              <a:spcAft>
                <a:spcPts val="600"/>
              </a:spcAft>
              <a:defRPr sz="1800">
                <a:solidFill>
                  <a:srgbClr val="333333"/>
                </a:solidFill>
              </a:defRPr>
            </a:pPr>
            <a:r>
              <a:t>[ ] Job postings showing required skills</a:t>
            </a:r>
          </a:p>
          <a:p>
            <a:pPr>
              <a:spcAft>
                <a:spcPts val="600"/>
              </a:spcAft>
              <a:defRPr sz="1800">
                <a:solidFill>
                  <a:srgbClr val="333333"/>
                </a:solidFill>
              </a:defRPr>
            </a:pPr>
            <a:r>
              <a:t>[ ] Case study materials: Tesla, Waymo, Mercedes</a:t>
            </a:r>
          </a:p>
          <a:p>
            <a:pPr>
              <a:spcAft>
                <a:spcPts val="1000"/>
              </a:spcAft>
              <a:defRPr sz="1800">
                <a:solidFill>
                  <a:srgbClr val="333333"/>
                </a:solidFill>
              </a:defRPr>
            </a:pPr>
            <a:r>
              <a:t>Handouts: — [ ] Skills development roadmap (Slide 26 expanded)</a:t>
            </a:r>
          </a:p>
          <a:p>
            <a:pPr>
              <a:spcAft>
                <a:spcPts val="600"/>
              </a:spcAft>
              <a:defRPr sz="1800">
                <a:solidFill>
                  <a:srgbClr val="333333"/>
                </a:solidFill>
              </a:defRPr>
            </a:pPr>
            <a:r>
              <a:t>[ ] Resources list: INCOSE, certifications, online courses, books, podcasts</a:t>
            </a:r>
          </a:p>
          <a:p>
            <a:pPr>
              <a:spcAft>
                <a:spcPts val="600"/>
              </a:spcAft>
              <a:defRPr sz="1800">
                <a:solidFill>
                  <a:srgbClr val="333333"/>
                </a:solidFill>
              </a:defRPr>
            </a:pPr>
            <a:r>
              <a:t>[ ] Industry trend reports (links to public reports from McKinsey, Deloitte on automotive trends)</a:t>
            </a:r>
          </a:p>
          <a:p>
            <a:pPr>
              <a:spcAft>
                <a:spcPts val="600"/>
              </a:spcAft>
              <a:defRPr sz="1800">
                <a:solidFill>
                  <a:srgbClr val="333333"/>
                </a:solidFill>
              </a:defRPr>
            </a:pPr>
            <a:r>
              <a:t>[ ] Career pathways in systems engineering</a:t>
            </a:r>
          </a:p>
          <a:p>
            <a:pPr>
              <a:spcAft>
                <a:spcPts val="1000"/>
              </a:spcAft>
              <a:defRPr sz="1800">
                <a:solidFill>
                  <a:srgbClr val="333333"/>
                </a:solidFill>
              </a:defRPr>
            </a:pPr>
            <a:r>
              <a:t>Post-class: — [ ] Share slides and resources</a:t>
            </a:r>
          </a:p>
          <a:p>
            <a:pPr>
              <a:spcAft>
                <a:spcPts val="600"/>
              </a:spcAft>
              <a:defRPr sz="1800">
                <a:solidFill>
                  <a:srgbClr val="333333"/>
                </a:solidFill>
              </a:defRPr>
            </a:pPr>
            <a:r>
              <a:t>[ ] Post final exam information and study guide</a:t>
            </a:r>
          </a:p>
          <a:p>
            <a:pPr>
              <a:spcAft>
                <a:spcPts val="600"/>
              </a:spcAft>
              <a:defRPr sz="1800">
                <a:solidFill>
                  <a:srgbClr val="333333"/>
                </a:solidFill>
              </a:defRPr>
            </a:pPr>
            <a:r>
              <a:t>[ ] Course evaluation survey</a:t>
            </a:r>
          </a:p>
          <a:p>
            <a:pPr>
              <a:spcAft>
                <a:spcPts val="600"/>
              </a:spcAft>
              <a:defRPr sz="1800">
                <a:solidFill>
                  <a:srgbClr val="333333"/>
                </a:solidFill>
              </a:defRPr>
            </a:pPr>
            <a:r>
              <a:t>[ ] LinkedIn article: "7 Trends Shaping the Future of Systems Engineering" (students can share)</a:t>
            </a:r>
          </a:p>
          <a:p>
            <a:pPr>
              <a:spcAft>
                <a:spcPts val="600"/>
              </a:spcAft>
              <a:defRPr sz="1800">
                <a:solidFill>
                  <a:srgbClr val="333333"/>
                </a:solidFill>
              </a:defRPr>
            </a:pPr>
            <a:r>
              <a:t>[ ] Stay connected: Create alumni group for networking</a:t>
            </a:r>
          </a:p>
          <a:p>
            <a:pPr>
              <a:spcAft>
                <a:spcPts val="1000"/>
              </a:spcAft>
              <a:defRPr sz="1800">
                <a:solidFill>
                  <a:srgbClr val="333333"/>
                </a:solidFill>
              </a:defRPr>
            </a:pPr>
            <a:r>
              <a:t>During lecture: — Quick quiz (Slide 9): "What is a digital thread?</a:t>
            </a:r>
          </a:p>
          <a:p>
            <a:pPr>
              <a:spcAft>
                <a:spcPts val="600"/>
              </a:spcAft>
              <a:defRPr sz="1800">
                <a:solidFill>
                  <a:srgbClr val="333333"/>
                </a:solidFill>
              </a:defRPr>
            </a:pPr>
            <a:r>
              <a:t>Quick quiz (Slide 22): "At what SAE level does the system handle failures without human intervention?</a:t>
            </a:r>
          </a:p>
          <a:p>
            <a:pPr>
              <a:spcAft>
                <a:spcPts val="1000"/>
              </a:spcAft>
              <a:defRPr sz="1800">
                <a:solidFill>
                  <a:srgbClr val="333333"/>
                </a:solidFill>
              </a:defRPr>
            </a:pPr>
            <a:r>
              <a:t>Final exam relevance: — Comprehensive exam should include emerging trends questions</a:t>
            </a:r>
          </a:p>
          <a:p>
            <a:pPr>
              <a:spcAft>
                <a:spcPts val="600"/>
              </a:spcAft>
              <a:defRPr sz="1800">
                <a:solidFill>
                  <a:srgbClr val="333333"/>
                </a:solidFill>
              </a:defRPr>
            </a:pPr>
            <a:r>
              <a:t>Example: "How does digital engineering enable agile systems engineering?</a:t>
            </a:r>
          </a:p>
          <a:p>
            <a:pPr>
              <a:spcAft>
                <a:spcPts val="600"/>
              </a:spcAft>
              <a:defRPr sz="1800">
                <a:solidFill>
                  <a:srgbClr val="333333"/>
                </a:solidFill>
              </a:defRPr>
            </a:pPr>
            <a:r>
              <a:t>Example: "What SE challenges are unique to autonomous systems?</a:t>
            </a:r>
          </a:p>
          <a:p>
            <a:pPr>
              <a:spcAft>
                <a:spcPts val="1000"/>
              </a:spcAft>
              <a:defRPr sz="1800">
                <a:solidFill>
                  <a:srgbClr val="333333"/>
                </a:solidFill>
              </a:defRPr>
            </a:pPr>
            <a:r>
              <a:t>Bonus assignment (optional): — Research paper: Deep dive on one emerging trend</a:t>
            </a:r>
          </a:p>
          <a:p>
            <a:pPr>
              <a:spcAft>
                <a:spcPts val="600"/>
              </a:spcAft>
              <a:defRPr sz="1800">
                <a:solidFill>
                  <a:srgbClr val="333333"/>
                </a:solidFill>
              </a:defRPr>
            </a:pPr>
            <a:r>
              <a:t>Interview SE professional about trend adoption in their company</a:t>
            </a:r>
          </a:p>
          <a:p>
            <a:pPr>
              <a:spcAft>
                <a:spcPts val="600"/>
              </a:spcAft>
              <a:defRPr sz="1800">
                <a:solidFill>
                  <a:srgbClr val="333333"/>
                </a:solidFill>
              </a:defRPr>
            </a:pPr>
            <a:r>
              <a:t>MBSE model of a future system (autonomous, sustainable, etc.)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Success Criteria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Students leave able to:</a:t>
            </a:r>
          </a:p>
          <a:p>
            <a:pPr>
              <a:spcAft>
                <a:spcPts val="600"/>
              </a:spcAft>
              <a:defRPr sz="1800">
                <a:solidFill>
                  <a:srgbClr val="333333"/>
                </a:solidFill>
              </a:defRPr>
            </a:pPr>
            <a:r>
              <a:t>✓ Explain digital engineering and digital thread concepts</a:t>
            </a:r>
          </a:p>
          <a:p>
            <a:pPr>
              <a:spcAft>
                <a:spcPts val="600"/>
              </a:spcAft>
              <a:defRPr sz="1800">
                <a:solidFill>
                  <a:srgbClr val="333333"/>
                </a:solidFill>
              </a:defRPr>
            </a:pPr>
            <a:r>
              <a:t>✓ Identify applications of AI/ML in systems engineering</a:t>
            </a:r>
          </a:p>
          <a:p>
            <a:pPr>
              <a:spcAft>
                <a:spcPts val="600"/>
              </a:spcAft>
              <a:defRPr sz="1800">
                <a:solidFill>
                  <a:srgbClr val="333333"/>
                </a:solidFill>
              </a:defRPr>
            </a:pPr>
            <a:r>
              <a:t>✓ Understand how DevOps principles apply to systems</a:t>
            </a:r>
          </a:p>
          <a:p>
            <a:pPr>
              <a:spcAft>
                <a:spcPts val="600"/>
              </a:spcAft>
              <a:defRPr sz="1800">
                <a:solidFill>
                  <a:srgbClr val="333333"/>
                </a:solidFill>
              </a:defRPr>
            </a:pPr>
            <a:r>
              <a:t>✓ Recognize evolution and scaling of agile SE</a:t>
            </a:r>
          </a:p>
          <a:p>
            <a:pPr>
              <a:spcAft>
                <a:spcPts val="600"/>
              </a:spcAft>
              <a:defRPr sz="1800">
                <a:solidFill>
                  <a:srgbClr val="333333"/>
                </a:solidFill>
              </a:defRPr>
            </a:pPr>
            <a:r>
              <a:t>✓ Assess current state of MBSE adoption and barriers</a:t>
            </a:r>
          </a:p>
          <a:p>
            <a:pPr>
              <a:spcAft>
                <a:spcPts val="600"/>
              </a:spcAft>
              <a:defRPr sz="1800">
                <a:solidFill>
                  <a:srgbClr val="333333"/>
                </a:solidFill>
              </a:defRPr>
            </a:pPr>
            <a:r>
              <a:t>✓ Articulate unique challenges of autonomous systems engineering</a:t>
            </a:r>
          </a:p>
          <a:p>
            <a:pPr>
              <a:spcAft>
                <a:spcPts val="600"/>
              </a:spcAft>
              <a:defRPr sz="1800">
                <a:solidFill>
                  <a:srgbClr val="333333"/>
                </a:solidFill>
              </a:defRPr>
            </a:pPr>
            <a:r>
              <a:t>✓ Apply sustainability principles to SE decisions</a:t>
            </a:r>
          </a:p>
          <a:p>
            <a:pPr>
              <a:spcAft>
                <a:spcPts val="600"/>
              </a:spcAft>
              <a:defRPr sz="1800">
                <a:solidFill>
                  <a:srgbClr val="333333"/>
                </a:solidFill>
              </a:defRPr>
            </a:pPr>
            <a:r>
              <a:t>✓ See how trends converge and reinforce each other</a:t>
            </a:r>
          </a:p>
          <a:p>
            <a:pPr>
              <a:spcAft>
                <a:spcPts val="600"/>
              </a:spcAft>
              <a:defRPr sz="1800">
                <a:solidFill>
                  <a:srgbClr val="333333"/>
                </a:solidFill>
              </a:defRPr>
            </a:pPr>
            <a:r>
              <a:t>✓ Identify skills needed for future SE careers</a:t>
            </a:r>
          </a:p>
          <a:p>
            <a:pPr>
              <a:spcAft>
                <a:spcPts val="600"/>
              </a:spcAft>
              <a:defRPr sz="1800">
                <a:solidFill>
                  <a:srgbClr val="333333"/>
                </a:solidFill>
              </a:defRPr>
            </a:pPr>
            <a:r>
              <a:t>✓ Feel prepared and excited (not overwhelmed) for SE future</a:t>
            </a:r>
          </a:p>
          <a:p>
            <a:pPr>
              <a:spcAft>
                <a:spcPts val="1000"/>
              </a:spcAft>
              <a:defRPr sz="1800">
                <a:solidFill>
                  <a:srgbClr val="333333"/>
                </a:solidFill>
              </a:defRPr>
            </a:pPr>
            <a:r>
              <a:t>Critical outcome: Students understand that systems engineering is continuously evolving and that continuous learning is essential. They have a roadmap for staying current and relevant.</a:t>
            </a:r>
          </a:p>
          <a:p>
            <a:pPr>
              <a:spcAft>
                <a:spcPts val="1000"/>
              </a:spcAft>
              <a:defRPr sz="1800">
                <a:solidFill>
                  <a:srgbClr val="333333"/>
                </a:solidFill>
              </a:defRPr>
            </a:pPr>
            <a:r>
              <a:t>Evidence of success: — Student can explain how digital thread enables DevOps for systems</a:t>
            </a:r>
          </a:p>
          <a:p>
            <a:pPr>
              <a:spcAft>
                <a:spcPts val="600"/>
              </a:spcAft>
              <a:defRPr sz="1800">
                <a:solidFill>
                  <a:srgbClr val="333333"/>
                </a:solidFill>
              </a:defRPr>
            </a:pPr>
            <a:r>
              <a:t>Student can articulate why autonomous systems require new SE methods</a:t>
            </a:r>
          </a:p>
          <a:p>
            <a:pPr>
              <a:spcAft>
                <a:spcPts val="600"/>
              </a:spcAft>
              <a:defRPr sz="1800">
                <a:solidFill>
                  <a:srgbClr val="333333"/>
                </a:solidFill>
              </a:defRPr>
            </a:pPr>
            <a:r>
              <a:t>Student can identify 3-5 skills to develop for their career</a:t>
            </a:r>
          </a:p>
          <a:p>
            <a:pPr>
              <a:spcAft>
                <a:spcPts val="600"/>
              </a:spcAft>
              <a:defRPr sz="1800">
                <a:solidFill>
                  <a:srgbClr val="333333"/>
                </a:solidFill>
              </a:defRPr>
            </a:pPr>
            <a:r>
              <a:t>Student feels confident about future, not anxious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Additional Resources for Students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Digital Engineering: — DoD Digital Engineering Strategy (2018) - Public document</a:t>
            </a:r>
          </a:p>
          <a:p>
            <a:pPr>
              <a:spcAft>
                <a:spcPts val="600"/>
              </a:spcAft>
              <a:defRPr sz="1800">
                <a:solidFill>
                  <a:srgbClr val="333333"/>
                </a:solidFill>
              </a:defRPr>
            </a:pPr>
            <a:r>
              <a:t>"Digital Thread and Digital Twin: Overview and Opportunities" - INCOSE webinar</a:t>
            </a:r>
          </a:p>
          <a:p>
            <a:pPr>
              <a:spcAft>
                <a:spcPts val="600"/>
              </a:spcAft>
              <a:defRPr sz="1800">
                <a:solidFill>
                  <a:srgbClr val="333333"/>
                </a:solidFill>
              </a:defRPr>
            </a:pPr>
            <a:r>
              <a:t>MIT Digital Transformation course materials</a:t>
            </a:r>
          </a:p>
          <a:p>
            <a:pPr>
              <a:spcAft>
                <a:spcPts val="1000"/>
              </a:spcAft>
              <a:defRPr sz="1800">
                <a:solidFill>
                  <a:srgbClr val="333333"/>
                </a:solidFill>
              </a:defRPr>
            </a:pPr>
            <a:r>
              <a:t>AI/ML in SE: — "Artificial Intelligence: A Guide for Thinking Humans" by Melanie Mitchell</a:t>
            </a:r>
          </a:p>
          <a:p>
            <a:pPr>
              <a:spcAft>
                <a:spcPts val="600"/>
              </a:spcAft>
              <a:defRPr sz="1800">
                <a:solidFill>
                  <a:srgbClr val="333333"/>
                </a:solidFill>
              </a:defRPr>
            </a:pPr>
            <a:r>
              <a:t>Google AI course (free online)</a:t>
            </a:r>
          </a:p>
          <a:p>
            <a:pPr>
              <a:spcAft>
                <a:spcPts val="600"/>
              </a:spcAft>
              <a:defRPr sz="1800">
                <a:solidFill>
                  <a:srgbClr val="333333"/>
                </a:solidFill>
              </a:defRPr>
            </a:pPr>
            <a:r>
              <a:t>ISO/IEC TR 5469: AI Engineering Framework</a:t>
            </a:r>
          </a:p>
          <a:p>
            <a:pPr>
              <a:spcAft>
                <a:spcPts val="1000"/>
              </a:spcAft>
              <a:defRPr sz="1800">
                <a:solidFill>
                  <a:srgbClr val="333333"/>
                </a:solidFill>
              </a:defRPr>
            </a:pPr>
            <a:r>
              <a:t>Agile SE: — SAFe framework website (scaledagileframework.com)</a:t>
            </a:r>
          </a:p>
          <a:p>
            <a:pPr>
              <a:spcAft>
                <a:spcPts val="600"/>
              </a:spcAft>
              <a:defRPr sz="1800">
                <a:solidFill>
                  <a:srgbClr val="333333"/>
                </a:solidFill>
              </a:defRPr>
            </a:pPr>
            <a:r>
              <a:t>"Agile Systems Engineering" by Bruce Douglass</a:t>
            </a:r>
          </a:p>
          <a:p>
            <a:pPr>
              <a:spcAft>
                <a:spcPts val="600"/>
              </a:spcAft>
              <a:defRPr sz="1800">
                <a:solidFill>
                  <a:srgbClr val="333333"/>
                </a:solidFill>
              </a:defRPr>
            </a:pPr>
            <a:r>
              <a:t>INCOSE Agile Systems Engineering Working Group</a:t>
            </a:r>
          </a:p>
          <a:p>
            <a:pPr>
              <a:spcAft>
                <a:spcPts val="1000"/>
              </a:spcAft>
              <a:defRPr sz="1800">
                <a:solidFill>
                  <a:srgbClr val="333333"/>
                </a:solidFill>
              </a:defRPr>
            </a:pPr>
            <a:r>
              <a:t>MBSE: — "Systems Engineering with SysML/UML" by Tim Weilkiens</a:t>
            </a:r>
          </a:p>
          <a:p>
            <a:pPr>
              <a:spcAft>
                <a:spcPts val="600"/>
              </a:spcAft>
              <a:defRPr sz="1800">
                <a:solidFill>
                  <a:srgbClr val="333333"/>
                </a:solidFill>
              </a:defRPr>
            </a:pPr>
            <a:r>
              <a:t>OCSMP certification program (OMG)</a:t>
            </a:r>
          </a:p>
          <a:p>
            <a:pPr>
              <a:spcAft>
                <a:spcPts val="600"/>
              </a:spcAft>
              <a:defRPr sz="1800">
                <a:solidFill>
                  <a:srgbClr val="333333"/>
                </a:solidFill>
              </a:defRPr>
            </a:pPr>
            <a:r>
              <a:t>No Magic (Cameo) tutorials</a:t>
            </a:r>
          </a:p>
          <a:p>
            <a:pPr>
              <a:spcAft>
                <a:spcPts val="1000"/>
              </a:spcAft>
              <a:defRPr sz="1800">
                <a:solidFill>
                  <a:srgbClr val="333333"/>
                </a:solidFill>
              </a:defRPr>
            </a:pPr>
            <a:r>
              <a:t>Autonomous Systems: — "Safety of the Intended Functionality (SOTIF)" - ISO/PAS 21448</a:t>
            </a:r>
          </a:p>
          <a:p>
            <a:pPr>
              <a:spcAft>
                <a:spcPts val="600"/>
              </a:spcAft>
              <a:defRPr sz="1800">
                <a:solidFill>
                  <a:srgbClr val="333333"/>
                </a:solidFill>
              </a:defRPr>
            </a:pPr>
            <a:r>
              <a:t>SAE J3016: Levels of Driving Automation</a:t>
            </a:r>
          </a:p>
          <a:p>
            <a:pPr>
              <a:spcAft>
                <a:spcPts val="600"/>
              </a:spcAft>
              <a:defRPr sz="1800">
                <a:solidFill>
                  <a:srgbClr val="333333"/>
                </a:solidFill>
              </a:defRPr>
            </a:pPr>
            <a:r>
              <a:t>Waymo Safety Report (public document)</a:t>
            </a:r>
          </a:p>
          <a:p>
            <a:pPr>
              <a:spcAft>
                <a:spcPts val="1000"/>
              </a:spcAft>
              <a:defRPr sz="1800">
                <a:solidFill>
                  <a:srgbClr val="333333"/>
                </a:solidFill>
              </a:defRPr>
            </a:pPr>
            <a:r>
              <a:t>Sustainability: — ISO 14040: Life Cycle Assessment</a:t>
            </a:r>
          </a:p>
          <a:p>
            <a:pPr>
              <a:spcAft>
                <a:spcPts val="600"/>
              </a:spcAft>
              <a:defRPr sz="1800">
                <a:solidFill>
                  <a:srgbClr val="333333"/>
                </a:solidFill>
              </a:defRPr>
            </a:pPr>
            <a:r>
              <a:t>"Cradle to Cradle" by William McDonough</a:t>
            </a:r>
          </a:p>
          <a:p>
            <a:pPr>
              <a:spcAft>
                <a:spcPts val="600"/>
              </a:spcAft>
              <a:defRPr sz="1800">
                <a:solidFill>
                  <a:srgbClr val="333333"/>
                </a:solidFill>
              </a:defRPr>
            </a:pPr>
            <a:r>
              <a:t>Ellen MacArthur Foundation: Circular Economy resources</a:t>
            </a:r>
          </a:p>
          <a:p>
            <a:pPr>
              <a:spcAft>
                <a:spcPts val="1000"/>
              </a:spcAft>
              <a:defRPr sz="1800">
                <a:solidFill>
                  <a:srgbClr val="333333"/>
                </a:solidFill>
              </a:defRPr>
            </a:pPr>
            <a:r>
              <a:t>General: — INCOSE webinars (free for members)</a:t>
            </a:r>
          </a:p>
          <a:p>
            <a:pPr>
              <a:spcAft>
                <a:spcPts val="600"/>
              </a:spcAft>
              <a:defRPr sz="1800">
                <a:solidFill>
                  <a:srgbClr val="333333"/>
                </a:solidFill>
              </a:defRPr>
            </a:pPr>
            <a:r>
              <a:t>Systems Engineering Podcast</a:t>
            </a:r>
          </a:p>
          <a:p>
            <a:pPr>
              <a:spcAft>
                <a:spcPts val="600"/>
              </a:spcAft>
              <a:defRPr sz="1800">
                <a:solidFill>
                  <a:srgbClr val="333333"/>
                </a:solidFill>
              </a:defRPr>
            </a:pPr>
            <a:r>
              <a:t>SAE Mobilus (technical papers)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Connections to Other Sessions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Builds on: — Session 1: Failures → need for rigorous SE → emerging methods provide better tools</a:t>
            </a:r>
          </a:p>
          <a:p>
            <a:pPr>
              <a:spcAft>
                <a:spcPts val="600"/>
              </a:spcAft>
              <a:defRPr sz="1800">
                <a:solidFill>
                  <a:srgbClr val="333333"/>
                </a:solidFill>
              </a:defRPr>
            </a:pPr>
            <a:r>
              <a:t>Session 2: ISO 15288 processes → now executed with digital tools, AI augmentation</a:t>
            </a:r>
          </a:p>
          <a:p>
            <a:pPr>
              <a:spcAft>
                <a:spcPts val="600"/>
              </a:spcAft>
              <a:defRPr sz="1800">
                <a:solidFill>
                  <a:srgbClr val="333333"/>
                </a:solidFill>
              </a:defRPr>
            </a:pPr>
            <a:r>
              <a:t>Session 3: MBSE foundation → now see adoption status, integration with digital engineering</a:t>
            </a:r>
          </a:p>
          <a:p>
            <a:pPr>
              <a:spcAft>
                <a:spcPts val="600"/>
              </a:spcAft>
              <a:defRPr sz="1800">
                <a:solidFill>
                  <a:srgbClr val="333333"/>
                </a:solidFill>
              </a:defRPr>
            </a:pPr>
            <a:r>
              <a:t>Session 4: Requirements engineering → now see AI-assisted requirements analysis</a:t>
            </a:r>
          </a:p>
          <a:p>
            <a:pPr>
              <a:spcAft>
                <a:spcPts val="600"/>
              </a:spcAft>
              <a:defRPr sz="1800">
                <a:solidFill>
                  <a:srgbClr val="333333"/>
                </a:solidFill>
              </a:defRPr>
            </a:pPr>
            <a:r>
              <a:t>Session 5: Architecture → now see generative design, digital twins</a:t>
            </a:r>
          </a:p>
          <a:p>
            <a:pPr>
              <a:spcAft>
                <a:spcPts val="600"/>
              </a:spcAft>
              <a:defRPr sz="1800">
                <a:solidFill>
                  <a:srgbClr val="333333"/>
                </a:solidFill>
              </a:defRPr>
            </a:pPr>
            <a:r>
              <a:t>Session 8: V&amp;V → now see continuous verification, scenario-based testing</a:t>
            </a:r>
          </a:p>
          <a:p>
            <a:pPr>
              <a:spcAft>
                <a:spcPts val="600"/>
              </a:spcAft>
              <a:defRPr sz="1800">
                <a:solidFill>
                  <a:srgbClr val="333333"/>
                </a:solidFill>
              </a:defRPr>
            </a:pPr>
            <a:r>
              <a:t>Session 9: Agile SE → now see evolution, scaling (SAFe)</a:t>
            </a:r>
          </a:p>
          <a:p>
            <a:pPr>
              <a:spcAft>
                <a:spcPts val="600"/>
              </a:spcAft>
              <a:defRPr sz="1800">
                <a:solidFill>
                  <a:srgbClr val="333333"/>
                </a:solidFill>
              </a:defRPr>
            </a:pPr>
            <a:r>
              <a:t>Session 12: Safety/security → now see challenges with autonomous systems, AI</a:t>
            </a:r>
          </a:p>
          <a:p>
            <a:pPr>
              <a:spcAft>
                <a:spcPts val="600"/>
              </a:spcAft>
              <a:defRPr sz="1800">
                <a:solidFill>
                  <a:srgbClr val="333333"/>
                </a:solidFill>
              </a:defRPr>
            </a:pPr>
            <a:r>
              <a:t>Session 13: LCC → now see sustainability requirements driving life cycle optimization</a:t>
            </a:r>
          </a:p>
          <a:p>
            <a:pPr>
              <a:spcAft>
                <a:spcPts val="1000"/>
              </a:spcAft>
              <a:defRPr sz="1800">
                <a:solidFill>
                  <a:srgbClr val="333333"/>
                </a:solidFill>
              </a:defRPr>
            </a:pPr>
            <a:r>
              <a:t>Culminates: — This session synthesizes the entire course</a:t>
            </a:r>
          </a:p>
          <a:p>
            <a:pPr>
              <a:spcAft>
                <a:spcPts val="600"/>
              </a:spcAft>
              <a:defRPr sz="1800">
                <a:solidFill>
                  <a:srgbClr val="333333"/>
                </a:solidFill>
              </a:defRPr>
            </a:pPr>
            <a:r>
              <a:t>Shows how foundational SE principles (Sessions 1-15) are applied with emerging tools and methods</a:t>
            </a:r>
          </a:p>
          <a:p>
            <a:pPr>
              <a:spcAft>
                <a:spcPts val="600"/>
              </a:spcAft>
              <a:defRPr sz="1800">
                <a:solidFill>
                  <a:srgbClr val="333333"/>
                </a:solidFill>
              </a:defRPr>
            </a:pPr>
            <a:r>
              <a:t>Prepares students for future practice</a:t>
            </a:r>
          </a:p>
          <a:p>
            <a:pPr>
              <a:spcAft>
                <a:spcPts val="1000"/>
              </a:spcAft>
              <a:defRPr sz="1800">
                <a:solidFill>
                  <a:srgbClr val="333333"/>
                </a:solidFill>
              </a:defRPr>
            </a:pPr>
            <a:r>
              <a:t>Key concept thread: — Sessions 1-4: WHAT is systems engineering?</a:t>
            </a:r>
          </a:p>
          <a:p>
            <a:pPr>
              <a:spcAft>
                <a:spcPts val="600"/>
              </a:spcAft>
              <a:defRPr sz="1800">
                <a:solidFill>
                  <a:srgbClr val="333333"/>
                </a:solidFill>
              </a:defRPr>
            </a:pPr>
            <a:r>
              <a:t>Sessions 5-8: HOW do we design and verify systems?</a:t>
            </a:r>
          </a:p>
          <a:p>
            <a:pPr>
              <a:spcAft>
                <a:spcPts val="600"/>
              </a:spcAft>
              <a:defRPr sz="1800">
                <a:solidFill>
                  <a:srgbClr val="333333"/>
                </a:solidFill>
              </a:defRPr>
            </a:pPr>
            <a:r>
              <a:t>Sessions 9-12: HOW do we manage SE processes?</a:t>
            </a:r>
          </a:p>
          <a:p>
            <a:pPr>
              <a:spcAft>
                <a:spcPts val="600"/>
              </a:spcAft>
              <a:defRPr sz="1800">
                <a:solidFill>
                  <a:srgbClr val="333333"/>
                </a:solidFill>
              </a:defRPr>
            </a:pPr>
            <a:r>
              <a:t>Sessions 13-15: HOW do we optimize across lifecycle?</a:t>
            </a:r>
          </a:p>
          <a:p>
            <a:pPr>
              <a:spcAft>
                <a:spcPts val="600"/>
              </a:spcAft>
              <a:defRPr sz="1800">
                <a:solidFill>
                  <a:srgbClr val="333333"/>
                </a:solidFill>
              </a:defRPr>
            </a:pPr>
            <a:r>
              <a:t>Session 16: WHERE is systems engineering going?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Opening and Closing Strategies</a:t>
            </a:r>
          </a:p>
        </p:txBody>
      </p:sp>
      <p:sp>
        <p:nvSpPr>
          <p:cNvPr id="3" name="Content Placeholder 2"/>
          <p:cNvSpPr>
            <a:spLocks noGrp="1"/>
          </p:cNvSpPr>
          <p:nvPr>
            <p:ph idx="1"/>
          </p:nvPr>
        </p:nvSpPr>
        <p:spPr/>
        <p:txBody>
          <a:bodyPr/>
          <a:lstStyle/>
          <a:p>
            <a:pPr>
              <a:defRPr sz="2400" b="1">
                <a:solidFill>
                  <a:srgbClr val="2E5090"/>
                </a:solidFill>
              </a:defRPr>
            </a:pPr>
            <a:r>
              <a:t>Closing (Last 2 minutes):</a:t>
            </a:r>
          </a:p>
          <a:p>
            <a:pPr>
              <a:spcAft>
                <a:spcPts val="1000"/>
              </a:spcAft>
              <a:defRPr sz="1800">
                <a:solidFill>
                  <a:srgbClr val="333333"/>
                </a:solidFill>
              </a:defRPr>
            </a:pPr>
            <a:r>
              <a:t>Start with a dramatic video montage on screen as students enter: Tesla Autopilot, Waymo robotaxi, SpaceX Starship, sustainable factories, digital twins. Begin:</a:t>
            </a:r>
          </a:p>
          <a:p>
            <a:pPr>
              <a:spcAft>
                <a:spcPts val="1000"/>
              </a:spcAft>
              <a:defRPr sz="1800">
                <a:solidFill>
                  <a:srgbClr val="333333"/>
                </a:solidFill>
              </a:defRPr>
            </a:pPr>
            <a:r>
              <a:t>What you just saw represents the future of systems engineering. Autonomous vehicles navigating cities. Rockets that land themselves. Factories with zero waste. Digital twins predicting failures before they happen.</a:t>
            </a:r>
          </a:p>
          <a:p>
            <a:pPr>
              <a:spcAft>
                <a:spcPts val="1000"/>
              </a:spcAft>
              <a:defRPr sz="1800">
                <a:solidFill>
                  <a:srgbClr val="333333"/>
                </a:solidFill>
              </a:defRPr>
            </a:pPr>
            <a:r>
              <a:t>These aren't concepts. They're real. They're happening NOW.</a:t>
            </a:r>
          </a:p>
          <a:p>
            <a:pPr>
              <a:spcAft>
                <a:spcPts val="1000"/>
              </a:spcAft>
              <a:defRPr sz="1800">
                <a:solidFill>
                  <a:srgbClr val="333333"/>
                </a:solidFill>
              </a:defRPr>
            </a:pPr>
            <a:r>
              <a:t>And they're all enabled by the emerging trends we'll explore today.</a:t>
            </a:r>
          </a:p>
          <a:p>
            <a:pPr>
              <a:spcAft>
                <a:spcPts val="1000"/>
              </a:spcAft>
              <a:defRPr sz="1800">
                <a:solidFill>
                  <a:srgbClr val="333333"/>
                </a:solidFill>
              </a:defRPr>
            </a:pPr>
            <a:r>
              <a:t>Welcome to Session 16: The Future of Systems Engineering - and YOUR future.</a:t>
            </a:r>
          </a:p>
          <a:p>
            <a:pPr>
              <a:spcAft>
                <a:spcPts val="1000"/>
              </a:spcAft>
              <a:defRPr sz="1800">
                <a:solidFill>
                  <a:srgbClr val="333333"/>
                </a:solidFill>
              </a:defRPr>
            </a:pPr>
            <a:r>
              <a:t>Return to the opening montage video:</a:t>
            </a:r>
          </a:p>
          <a:p>
            <a:pPr>
              <a:spcAft>
                <a:spcPts val="1000"/>
              </a:spcAft>
              <a:defRPr sz="1800">
                <a:solidFill>
                  <a:srgbClr val="333333"/>
                </a:solidFill>
              </a:defRPr>
            </a:pPr>
            <a:r>
              <a:t>We opened with this vision of the future. You now understand the systems engineering methods making it possible:</a:t>
            </a:r>
          </a:p>
          <a:p>
            <a:pPr>
              <a:spcAft>
                <a:spcPts val="600"/>
              </a:spcAft>
              <a:defRPr sz="1800">
                <a:solidFill>
                  <a:srgbClr val="333333"/>
                </a:solidFill>
              </a:defRPr>
            </a:pPr>
            <a:r>
              <a:t>Digital engineering connecting data across lifecycle</a:t>
            </a:r>
          </a:p>
          <a:p>
            <a:pPr>
              <a:spcAft>
                <a:spcPts val="600"/>
              </a:spcAft>
              <a:defRPr sz="1800">
                <a:solidFill>
                  <a:srgbClr val="333333"/>
                </a:solidFill>
              </a:defRPr>
            </a:pPr>
            <a:r>
              <a:t>AI augmenting human expertise</a:t>
            </a:r>
          </a:p>
          <a:p>
            <a:pPr>
              <a:spcAft>
                <a:spcPts val="600"/>
              </a:spcAft>
              <a:defRPr sz="1800">
                <a:solidFill>
                  <a:srgbClr val="333333"/>
                </a:solidFill>
              </a:defRPr>
            </a:pPr>
            <a:r>
              <a:t>DevOps enabling continuous evolution</a:t>
            </a:r>
          </a:p>
          <a:p>
            <a:pPr>
              <a:spcAft>
                <a:spcPts val="600"/>
              </a:spcAft>
              <a:defRPr sz="1800">
                <a:solidFill>
                  <a:srgbClr val="333333"/>
                </a:solidFill>
              </a:defRPr>
            </a:pPr>
            <a:r>
              <a:t>Agile methods scaling to complex systems</a:t>
            </a:r>
          </a:p>
          <a:p>
            <a:pPr>
              <a:spcAft>
                <a:spcPts val="600"/>
              </a:spcAft>
              <a:defRPr sz="1800">
                <a:solidFill>
                  <a:srgbClr val="333333"/>
                </a:solidFill>
              </a:defRPr>
            </a:pPr>
            <a:r>
              <a:t>MBSE providing integrated models</a:t>
            </a:r>
          </a:p>
          <a:p>
            <a:pPr>
              <a:spcAft>
                <a:spcPts val="600"/>
              </a:spcAft>
              <a:defRPr sz="1800">
                <a:solidFill>
                  <a:srgbClr val="333333"/>
                </a:solidFill>
              </a:defRPr>
            </a:pPr>
            <a:r>
              <a:t>New methods for autonomous systems safety</a:t>
            </a:r>
          </a:p>
          <a:p>
            <a:pPr>
              <a:spcAft>
                <a:spcPts val="600"/>
              </a:spcAft>
              <a:defRPr sz="1800">
                <a:solidFill>
                  <a:srgbClr val="333333"/>
                </a:solidFill>
              </a:defRPr>
            </a:pPr>
            <a:r>
              <a:t>Sustainability as core requirement</a:t>
            </a:r>
          </a:p>
          <a:p>
            <a:pPr>
              <a:spcAft>
                <a:spcPts val="1000"/>
              </a:spcAft>
              <a:defRPr sz="1800">
                <a:solidFill>
                  <a:srgbClr val="333333"/>
                </a:solidFill>
              </a:defRPr>
            </a:pPr>
            <a:r>
              <a:t>This is Session 16, our final session together.</a:t>
            </a:r>
          </a:p>
          <a:p>
            <a:pPr>
              <a:spcAft>
                <a:spcPts val="1000"/>
              </a:spcAft>
              <a:defRPr sz="1800">
                <a:solidFill>
                  <a:srgbClr val="333333"/>
                </a:solidFill>
              </a:defRPr>
            </a:pPr>
            <a:r>
              <a:t>You've learned systems engineering fundamentals. You've seen emerging trends. You have the tools.</a:t>
            </a:r>
          </a:p>
          <a:p>
            <a:pPr>
              <a:spcAft>
                <a:spcPts val="1000"/>
              </a:spcAft>
              <a:defRPr sz="1800">
                <a:solidFill>
                  <a:srgbClr val="333333"/>
                </a:solidFill>
              </a:defRPr>
            </a:pPr>
            <a:r>
              <a:t>Now it's your turn.</a:t>
            </a:r>
          </a:p>
          <a:p>
            <a:pPr>
              <a:spcAft>
                <a:spcPts val="1000"/>
              </a:spcAft>
              <a:defRPr sz="1800">
                <a:solidFill>
                  <a:srgbClr val="333333"/>
                </a:solidFill>
              </a:defRPr>
            </a:pPr>
            <a:r>
              <a:t>The grand challenges - safe autonomy, sustainable transportation, smart cities, AI ethics - these are waiting for YOU.</a:t>
            </a:r>
          </a:p>
          <a:p>
            <a:pPr>
              <a:spcAft>
                <a:spcPts val="1000"/>
              </a:spcAft>
              <a:defRPr sz="1800">
                <a:solidFill>
                  <a:srgbClr val="333333"/>
                </a:solidFill>
              </a:defRPr>
            </a:pPr>
            <a:r>
              <a:t>The automotive industry is in the midst of its greatest transformation in 100 years.</a:t>
            </a:r>
          </a:p>
          <a:p>
            <a:pPr>
              <a:spcAft>
                <a:spcPts val="1000"/>
              </a:spcAft>
              <a:defRPr sz="1800">
                <a:solidFill>
                  <a:srgbClr val="333333"/>
                </a:solidFill>
              </a:defRPr>
            </a:pPr>
            <a:r>
              <a:t>This is the most exciting time to be a systems engineer.</a:t>
            </a:r>
          </a:p>
          <a:p>
            <a:pPr>
              <a:spcAft>
                <a:spcPts val="1000"/>
              </a:spcAft>
              <a:defRPr sz="1800">
                <a:solidFill>
                  <a:srgbClr val="333333"/>
                </a:solidFill>
              </a:defRPr>
            </a:pPr>
            <a:r>
              <a:t>Thank you for your engagement. Good luck on the final exam. Go build the future.</a:t>
            </a:r>
          </a:p>
          <a:p>
            <a:pPr>
              <a:spcAft>
                <a:spcPts val="1000"/>
              </a:spcAft>
              <a:defRPr sz="1800">
                <a:solidFill>
                  <a:srgbClr val="333333"/>
                </a:solidFill>
              </a:defRPr>
            </a:pPr>
            <a:r>
              <a:t>Questions?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Learning Objectives Mapping to Assessment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 Session Objective | Assessment Method | Success Criteria |</a:t>
            </a:r>
          </a:p>
          <a:p>
            <a:pPr>
              <a:spcAft>
                <a:spcPts val="1000"/>
              </a:spcAft>
              <a:defRPr sz="1800">
                <a:solidFill>
                  <a:srgbClr val="333333"/>
                </a:solidFill>
              </a:defRPr>
            </a:pPr>
            <a:r>
              <a:t>|-------------------|-------------------|------------------|</a:t>
            </a:r>
          </a:p>
          <a:p>
            <a:pPr>
              <a:spcAft>
                <a:spcPts val="1000"/>
              </a:spcAft>
              <a:defRPr sz="1800">
                <a:solidFill>
                  <a:srgbClr val="333333"/>
                </a:solidFill>
              </a:defRPr>
            </a:pPr>
            <a:r>
              <a:t>| Understand digital engineering and digital thread | Final exam question | Can explain concepts, give example applications |</a:t>
            </a:r>
          </a:p>
          <a:p>
            <a:pPr>
              <a:spcAft>
                <a:spcPts val="1000"/>
              </a:spcAft>
              <a:defRPr sz="1800">
                <a:solidFill>
                  <a:srgbClr val="333333"/>
                </a:solidFill>
              </a:defRPr>
            </a:pPr>
            <a:r>
              <a:t>| Recognize AI/ML applications in SE | Class discussion + exam | Identifies 3+ applications, understands augmentation vs. replacement |</a:t>
            </a:r>
          </a:p>
          <a:p>
            <a:pPr>
              <a:spcAft>
                <a:spcPts val="1000"/>
              </a:spcAft>
              <a:defRPr sz="1800">
                <a:solidFill>
                  <a:srgbClr val="333333"/>
                </a:solidFill>
              </a:defRPr>
            </a:pPr>
            <a:r>
              <a:t>| Explain DevOps for SE | Exam question | Can describe CI/CD for systems, give automotive example |</a:t>
            </a:r>
          </a:p>
          <a:p>
            <a:pPr>
              <a:spcAft>
                <a:spcPts val="1000"/>
              </a:spcAft>
              <a:defRPr sz="1800">
                <a:solidFill>
                  <a:srgbClr val="333333"/>
                </a:solidFill>
              </a:defRPr>
            </a:pPr>
            <a:r>
              <a:t>| Envision future of agile SE | Class discussion | Understands evolution from software agile to system agile, scaling challenges |</a:t>
            </a:r>
          </a:p>
          <a:p>
            <a:pPr>
              <a:spcAft>
                <a:spcPts val="1000"/>
              </a:spcAft>
              <a:defRPr sz="1800">
                <a:solidFill>
                  <a:srgbClr val="333333"/>
                </a:solidFill>
              </a:defRPr>
            </a:pPr>
            <a:r>
              <a:t>| Assess MBSE adoption | Exam question | Knows adoption rates, barriers, success factors |</a:t>
            </a:r>
          </a:p>
          <a:p>
            <a:pPr>
              <a:spcAft>
                <a:spcPts val="1000"/>
              </a:spcAft>
              <a:defRPr sz="1800">
                <a:solidFill>
                  <a:srgbClr val="333333"/>
                </a:solidFill>
              </a:defRPr>
            </a:pPr>
            <a:r>
              <a:t>| Identify autonomous systems challenges | Exam question | Can explain why autonomous systems are harder to engineer, new methods needed |</a:t>
            </a:r>
          </a:p>
          <a:p>
            <a:pPr>
              <a:spcAft>
                <a:spcPts val="1000"/>
              </a:spcAft>
              <a:defRPr sz="1800">
                <a:solidFill>
                  <a:srgbClr val="333333"/>
                </a:solidFill>
              </a:defRPr>
            </a:pPr>
            <a:r>
              <a:t>| Apply sustainability principles | Exam scenario | Can integrate sustainability into SE decisions, use LCA thinking |</a:t>
            </a:r>
          </a:p>
          <a:p>
            <a:pPr>
              <a:spcAft>
                <a:spcPts val="1000"/>
              </a:spcAft>
              <a:defRPr sz="1800">
                <a:solidFill>
                  <a:srgbClr val="333333"/>
                </a:solidFill>
              </a:defRPr>
            </a:pPr>
            <a:r>
              <a:t>| Synthesize trends | Final exam essay | Demonstrates understanding of how trends converge and reinforce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16 Framework</a:t>
            </a:r>
          </a:p>
          <a:p>
            <a:pPr>
              <a:spcAft>
                <a:spcPts val="1000"/>
              </a:spcAft>
              <a:defRPr sz="1800">
                <a:solidFill>
                  <a:srgbClr val="333333"/>
                </a:solidFill>
              </a:defRPr>
            </a:pPr>
            <a:r>
              <a:t>End of Course: Automotive Systems Engineering (AEZC517)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