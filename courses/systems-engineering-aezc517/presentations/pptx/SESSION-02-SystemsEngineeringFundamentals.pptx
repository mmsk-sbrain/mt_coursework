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2: Systems Engineering Fundamentals'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Systems Engineering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2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back. Last session, we explored why systems engineering matters through the lens of failure. We saw Therac-25, Apollo 13, and Toyota recalls. Today, we answer the fundamental question: What exactly IS systems engineering, and how do we practice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Recap - The Cost of Getting It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remind you what we learned: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Therac-25: 6 deaths, $600M+ in liability and redesign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Toyota unintended acceleration: 89 deaths, $1.2B settlement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Mars Climate Orbiter: $327M lost due to units mismatch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weren't random accidents. They were systematic failures in how complex systems were engineered.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question is: How do we prevent this? What methodology, what discipline, what approach gives us the best chance of success?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Pattern Behind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it's not all doom and gloom. Consider these successes: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Boeing 787: 2.3 million parts from 50 countries, works seamlessly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SpaceX Falcon 9: Reusable rocket with 200+ successful landings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automobiles: 30,000+ parts, 150+ ECUs, incredibly reliable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the difference? What do successful complex systems have in common?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answer: Disciplined systems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Missing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 gave you the WHY. Today, we build the WHAT and HOW.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of today's session as receiving a professional toolkit. By the end, you'll understand: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formal definition of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systems engineers think differently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standard framework used worldwide (ISO/IEC 15288)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life cycle of systems from birth to retirement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stakeholders are critical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V-model that guides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your foundation. Everything else in this course builds on what you learn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Systems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challenge. Before I show you the formal definition, I want you to think about this: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would YOU define systems engineering based on what we've discussed?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[Pause for 30 seconds - let students think]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It's harder than it seems, right? Because systems engineering is simultaneously: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 engineering discipline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 management approach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 way of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 set of processes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how the professionals define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INCOSE Definition (The Gold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International Council on Systems Engineering (INCOSE) - the world's premier professional body for systems engineers - defines it as: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'Systems engineering is a transdisciplinary and integrative approach to enable the successful realization, use, and retirement of engineered systems, using systems principles and concepts, and scientific, technological, and management methods.'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dense. Let me break it down word by word, because each part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Traditional vs Systems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 practice systems engineering, you must first learn to THINK like a systems engineer. Let me show you the difference.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Engineering Thinking: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Optimize individual parts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Linear cause-effect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Discipline-specific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Thinking: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relationships between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Optimize the whole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Recognize feedback loops and emergent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Cross-disciplinary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Traditional engineer makes the best possible engine. Systems engineer asks: 'What engine characteristics serve the OVERALL vehicle performance, cost, and user needs?'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Seven Principles of Systems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thinking rests on seven core principles: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Holistic thinking: See the forest AND the trees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Hierarchy: Systems contain subsystems; systems exist in super-systems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Emergence: System behavior isn't just sum of parts (2+2=5)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Boundaries: Define what's IN the system vs the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Interfaces: Critical connections between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Context: Systems exist in specific operational environments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Trade-offs: Optimize for system goals, not local optima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real examples of 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Example - Emergence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Emergence is critical. Consider an automobile: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component: Tire (provides friction)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component: Engine (generates torque)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component: Steering (changes direction)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component: Brake (provides deceleration)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Emergent system behavior: Vehicle dynamics, handling characteristics, driver experience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CANNOT predict handling characteristics by analyzing tires alone. It emerges from the INTERACTION of suspension, steering, tires, weight distribution, and more.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systems engineering matters. We manage these emergent properties.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Example - Boundaries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Boundaries define scope. Consider designing a car: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IN the system? — Vehicle hardware and software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Onboard diagnostics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OUTSIDE but interfaces? — Roads and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Traffic regulations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 facilities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supply chain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conditions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does this matter? Because you design INTERFACES for external elements, but you don't control them. You must account for their variability.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Wrong boundary definition = missed requirements =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Systems Thinking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example: You're designing an electric vehicle charging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 thinker says: 'Maximize charging speed.'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thinker asks: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fast charging affect battery life (system performance over time)?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grid infrastructure impact (context)?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it affect user wait times and experience (stakeholder needs)?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cost-performance trade-off for different use cases?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this interface with home charging, public charging, fleet charging?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the difference? Systems thinking expands the problem space to find better solutions.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ISO/IEC 15288 - The Standard Framework (Slides 14-17, ~10 minutes)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Standards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I introduce the framework, let me explain why standards matter in systems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Imagine you're Boeing collaborating with suppliers in 50 countries. You need a COMMON LANGUAGE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processes to follow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artifacts to produce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verify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manage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is that common language. It's the international standard for system life cycle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Published jointly by ISO (International Organization for Standardization) and IEC (International Electrotechnical Commission), it's used worldwide in aerospace, automotive, defense, medical devices, and more.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ISO/IEC 15288 Process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organizes all systems engineering activities into FOUR process groups: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Agreement Processes (with customers, suppliers)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Acquisition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Organizational Project-Enabling Processes (infrastructure, resources)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 cycle model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Portfolio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resource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Technical Management Processes (planning, controlling)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assessment and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Technical Processes (the actual engineering)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and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Disposal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we'll focus on Technical Processes - the core engineering activities.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Technical Processes - The Engineering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walk you through the technical process flow: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Stakeholder Needs → Requirements Definition — Who are the stakeholders?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do they need?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Convert needs to verifiable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Requirements Analysis — Analyze feasibility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performance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Architecture Design — Define system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Implementation — Build/code/fabricate components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Integration — Combine components into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subsystems into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Verification — Did we build it right?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against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Validation — Did we build the right thing?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against stakeholder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Operation → Maintenance → Disposal — Use in field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and maintain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Retire safely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Notice: It's NOT linear. These processes iterate and interact.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Framework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might think: 'This seems bureaucratic. Why not just build it?'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why it matters: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Without framework: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Ad-hoc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Missed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Poor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nightmares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Late-stage rework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 ISO/IEC 15288: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Systematic approach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Nothing falls through cracks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accountability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Early issue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Predictable outcomes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It's the difference between amateur and professional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We'll dive deep into specific processes in upcoming sessions. Today is about seeing the big picture.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System Life Cycle Stages (Slides 18-20, ~8 minutes)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Life Cycle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aren't just designed and built. They have a LIFE CYCLE - from conception to disposal.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of it like a living organism: birth, growth, maturity, aging, death.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defines distinct stages. Understanding these stages helps you: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 activities appropriately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 transitions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Anticipate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stages.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Six Life Cycle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1: Concept — Identify need or opportunity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Feasibility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Business case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'Should we do this?'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2: Development —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and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and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'Can we build this?'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3: Production — Manufacturing/coding at scale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assurance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Delivery preparation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'Can we make many of these reliably?'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4: Utilization — Deployment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 in field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'Does it deliver value?'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5: Support — Maintenance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Upgrades and modifications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Spare parts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'How do we keep it working?'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6: Retirement — Decommissioning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Disposal or recycling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archival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question: 'How do we end responsibly?'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Different stages require different processes, skills, and resources.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Life Cycle Example - Commercial Aircraft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example: Boeing 787 Dreamliner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 (2003-2004): Market research, business case, airline input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(2004-2011): Design, prototyping, testing (7 years!)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Production (2011-present): Manufacturing ramp-up, continuous production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Utilization (2011-present): Airlines operating ~1,000 aircraft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(ongoing): Maintenance, software updates, fleet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Retirement (future, 2040s+): Will require decommissioning processes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took 7 years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Production and utilization overlap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spans 20-30+ years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life cycle: 40+ years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 cycle cost: Development (~$32B), but total cost of ownership for airlines is FAR higher when you include operation, maintenance, fuel, crew, etc.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engineers must think across ALL stages, not just development.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Stakeholder Engagement (Slides 21-22, ~6 minutes)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Who Are Stakeholders?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critical truth: A system is only successful if it satisfies its stakeholders.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who ARE the stakeholders? It's not just the customer.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 categories: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Users: People who operate the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Customers: People who buy/commission the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Acquirers: Organizations that fund the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Operators: People who manage system operations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Maintainers: People who support the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Developers: Engineers building the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Suppliers: Provide components or services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Regulators: Ensure compliance with laws/standards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Society: Affected by system externalities (safety, environment)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stakeholder group has DIFFERENT needs, often conflicting.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Car buyers want low price. Regulators want high safety. Users want performance. Maintainers want serviceability. Manufacturers want profitability.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balances these competing needs.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Stakeholder Engagement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we engage stakeholders systematically?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Identify stakeholders — Who will be affected?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 has influence?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 has valuable input?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Analyze stakeholder needs — What are their goals?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constraints do they impose?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measures of success do they use?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Prioritize and negotiate — Which needs are essential vs desirable?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 are the conflicts?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trade-offs are acceptable?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Document requirements — Convert needs to verifiable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Establish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Get stakeholder agreement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Maintain engagement — Regular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 throughout life cycle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iterative. Stakeholder needs evolve, and so must the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4, we'll deep-dive into requirements engineering. Today, just understand: stakeholders are at the HEART of systems engineering.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The V-Model (Slides 23-24, ~14 minutes)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Introducing the V-Model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I want to show you the most widely used model for understanding system development: The V-Model.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It's called the V-Model because... well, it looks like the letter V.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it's much more than a visual. It represents the fundamental relationship between: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Left side: Decomposition (breaking down requirements into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side: Integration and verification (building up and testing)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key insight: Each decomposition step on the left has a corresponding verification step on the right.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walk you through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V-Model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LEFT SIDE - Decomposition and Definition: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Top: Stakeholder Needs &amp;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do stakeholders actually need?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concepts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Requirements — System-level functional and performance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boundaries and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Architecture — Allocation 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definitions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Subsystem/Component Design — Detailed design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Component-level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BOTTOM - Implementation — Build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Write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Fabricate hardware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RIGHT SIDE - Integration and Verification: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 Verification — Unit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Component-level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'Does this component meet its specs?'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Subsystem Verification — Integration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'Do components work together?'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Verification — System-level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'Does the system meet requirements?'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- System Validation — Acceptance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'Does it solve the stakeholder's problem?'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magic of the V: Notice the horizontal connections. Each level on the left defines WHAT to test on the right.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→ Validation test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 → System verification test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→ Integration test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design → Unit test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ensures traceability from needs to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the V-Model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is the V-Model so powerful?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Traceability: Every requirement is verified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Early test planning: You define tests BEFORE implementation, not after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Systematic integration: Build from components → subsystems →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Risk reduction: Catch errors early at component level, not late at system level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Clear milestones: Each verification step is a measurable milestone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example: Consider Toyota's unintended acceleration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proper V-Model approach would have: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Left: Defined safety requirements for throttle control at system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Right: Created test cases for those safety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Verification: Tested failure modes, error handling, sensor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They likely HAD requirements, but the verification on the right side was insufficient. The V-Model forces you to think about testing AS you define requirements.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Bringing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synthesize what we've covered. Systems engineering 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MINDSET (Systems Thinking):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Holistic perspective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relationships and emergence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 boundaries and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STANDARD FRAMEWORK (ISO/IEC 15288):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processes: requirements → design → implementation → verification →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management: planning, risk, configuration,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Organizational enablers: infrastructure, resources,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Agreement processes: acquisition, supply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LIFE CYCLE PERSPECTIVE: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 → Development → Production → Utilization → Support → Retirement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stages require different processes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STAKEHOLDER-CENTRIC APPROACH: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all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Elicit and balance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 against stakeholder success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 EXECUTION MODEL (V-Model):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Decompose requirements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 and verify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 against stakeholder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your framework. This is how professionals engineer complex systems.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Your Systems Engineering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you received the foundation. You now understand: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systems engineering IS (INCOSE definition)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systems engineers THINK (systems thinking principles)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FRAMEWORK to use (ISO/IEC 15288)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systems EVOLVE (life cycle stages)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 MATTERS (stakeholders)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EXECUTE (V-Model)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we go from here: — Session 3: Traditional vs MBSE - How do we implement these processes with models instead of documents?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 - Deep dive into the most critical technical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5-8: Design, analysis, integration, verification - Working through the V-Model in detail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9-12: Project management, risk, quality, safety - Technical management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13-16: Life cycle cost, enabling processes, emerging trends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session builds on this foundation. This is your conceptual scaffold.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Memorize these: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Systems engineering is transdisciplinary, integrative, and covers entire life 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Systems thinking focuses on relationships, emergence, boundaries, and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provides standard technical, management, and organizational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 cycle spans concept to retirement - design for ALL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Stakeholders drive requirements - engage them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ensures traceability from requirements to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for next session: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Read INCOSE Handbook Chapter 1 (Introduction to Systems Engineering)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Read ISO/IEC 15288 overview (provided in eLearn)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Case study: Identify stakeholders for a system of your choice (1-page analysis)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Reflection questions: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systems thinking differ from your previous engineering education?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Which life cycle stage requires the most resources in your industry?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would you apply the V-Model to a software project? A hardware project?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questions.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Text Guidelines: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Clean diagrams: Use professional process diagrams (avoid clipart)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Consistent colors for different process groups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V-Model: Make it prominent and clear with annotations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Icons: Use consistent iconography for stakeholders, processes,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7 (INCOSE Definition) - The foundational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 (Seven Principles of Systems Thinking) - Core mindset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15-16 (ISO/IEC 15288 Process Groups) - The standard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24-25 (V-Model) - Most important execution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(Synthesis) - Integration of all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Build V-Model progressively (left side, bottom, right side)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27: Reveal each component of integrated framework sequentially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diagrams: Animate flow between process boxes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network: Animate connections between stakeholder 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Official ISO/IEC 15288 process diagrams (if licensing permits, otherwise redraw)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V-Model from automotive or aerospace standard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system life cycle example (Boeing 787 timeline)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map from real project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INCOSE definition verbatim on Slide 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Keep process names consistent with ISO/IEC 15288 terminology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Avoid jargon without explanation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bold for key terms on first introduction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Assessment Opportunities: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Conceptual scaffolding: Build from definition → thinking → processes → execution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Concrete examples: Every abstract concept gets a real-world example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 to Session 1: Explicitly show how SE prevents the failures discussed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Forward-looking: Preview upcoming sessions to show progression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Frameworks over details: Focus on understanding the BIG PICTURE today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Abstract concepts: Systems thinking is counterintuitive for component-focused engineers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Use concrete examples (Slides 11-13)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overload: ISO/IEC 15288 has many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Focus on technical processes today, others come later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confusion: Students confuse verification with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Emphasize "built it right" vs "built right thing" (Slide 24)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section (Slides 23-26): Don't rush - allocate full 14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the most important concept for students to grasp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(Slides 14-17): Can compress to 8 minutes if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Students will see these processes in detail throughout the course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Systems thinking (Slides 9-13): Essential foundation - don't skip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6: Interactive - ask students to define SE before showing INCOSE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Pair-share - discuss a systems thinking example from their experience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Class discussion - which framework failure was most critical in each disaster?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Have INCOSE Handbook available for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standard overview (distribute to students)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diagram poster (if teaching in classroom)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(Slide 10): Can students name the 7 principles?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(Slide 22): Can students identify stakeholders for a given system?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Synthesis (Slide 28): Can students map Session 1 failures to SE framework gaps?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Recite and explain the INCOSE definition of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the difference between traditional and systems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Name the four process groups in ISO/IEC 15288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List the six system life cycle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stakeholder categories for a given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the V-Model structure and purpose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Connect SE framework to prevention of engineering failures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understand that systems engineering is a disciplined, standardized approach with established frameworks (not ad-hoc problem-solving). They can articulate WHY each framework element matters.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Instructor Preparation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Review INCOSE Handbook Chapter 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Review ISO/IEC 15288 standard overview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V-Model diagram with clear annotations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Identify additional examples from your industry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assignment handout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Test animations in slides 24 and 27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Materials to provide: — [ ] ISO/IEC 15288 overview document (PDF)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Recommended reading list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Case study assignment description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Glossary of key terms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 with students (via eLearn)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assignment with rubric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discussion forum: "How does systems thinking apply in your work?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Session 3 connection: "How MBSE implements these frameworks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Motivation (failures) → Framework (how to prevent them)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3: How do we implement SE? (Traditional vs MBSE)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How do we capture requirements? (Requirements engineering)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How do we verify and validate? (Right side of V-Model)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9-12: How do we manage the process? (Technical management processes)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1: WHY systems engineering?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WHAT is systems engineering?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HOW do we practice it (tools and approaches)?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3 (Traditional vs Model-Based Systems Engineering)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