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8: System Integration, Verification &amp; Validation'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Integration, Verification &amp;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8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8: System Integration, Verification &amp; Validation. This is where the rubber meets the road in systems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spent 7 sessions learning to define, design, and decompose systems. Today: How do we prove our system actually works?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SESSION 8: SYSTEM INTEGRATION, VERIFICATION &amp; VALIDATION</a:t>
            </a:r>
            <a:br/>
            <a:r>
              <a:t>Testing, Proving, and Delivering Systems That Work</a:t>
            </a:r>
            <a:br/>
            <a:br/>
            <a:r>
              <a:t>Module 2: System Design and Analysis</a:t>
            </a:r>
            <a:br/>
            <a:r>
              <a:t>Automotive Systems Engineering (AE ZG517 / AEL ZG517)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Outcomes Addressed: Setting context for LO2, LO4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Sessions 1-7 (Mid-Semester Review)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dive in, let's see how everything connects. This is your mid-semester integration point: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1: Learned WHY SE matters - failures like Apollo 13, Therac-25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2: Learned SE fundamentals - ISO/IEC 15288, V-Model, systems thinking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3: Traditional vs MBSE - modern approaches to complexity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Engineering - defining WHAT the system must do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5: Architecture &amp; Design - HOW the system is structured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6: Case Study 1 - Boeing 737 MAX failure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7: Functional Analysis - decomposing system behaviors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 (Today): Proving the system meets requirements - closing the V-Model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Everything we've learned culminates in V&amp;V. Without verification and validation, we have no proof our system works.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THE SYSTEMS ENGINEERING JOURNEY SO FAR</a:t>
            </a:r>
            <a:br/>
            <a:br/>
            <a:r>
              <a:t>Sessions 1-3: Foundation</a:t>
            </a:r>
            <a:br/>
            <a:r>
              <a:t>  • Why SE matters (failures)</a:t>
            </a:r>
            <a:br/>
            <a:r>
              <a:t>  • SE processes &amp; frameworks</a:t>
            </a:r>
            <a:br/>
            <a:r>
              <a:t>  • MBSE evolution</a:t>
            </a:r>
            <a:br/>
            <a:br/>
            <a:r>
              <a:t>Sessions 4-5: Requirements &amp; Design</a:t>
            </a:r>
            <a:br/>
            <a:r>
              <a:t>  • Requirements engineering</a:t>
            </a:r>
            <a:br/>
            <a:r>
              <a:t>  • System architecture</a:t>
            </a:r>
            <a:br/>
            <a:br/>
            <a:r>
              <a:t>Sessions 6-7: Analysis &amp; Case Study</a:t>
            </a:r>
            <a:br/>
            <a:r>
              <a:t>  • Real-world failure analysis</a:t>
            </a:r>
            <a:br/>
            <a:r>
              <a:t>  • Functional decomposition</a:t>
            </a:r>
            <a:br/>
            <a:br/>
            <a:r>
              <a:t>Session 8: Proving It Works ← TODAY</a:t>
            </a:r>
            <a:br/>
            <a:r>
              <a:t>  • Integration, verification,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V-Model Right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 the V-Model from Session 2? We've been working down the left side: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→ High-level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Architecture → Detailed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Functions →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we climb back up the right side: — Unit testing → Integration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testing → Acceptance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Each level on the left has a corresponding verification level on the right.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defined in Session 4? Validated in acceptance testing.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designed in Session 5? Verified in integration testing.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Functions from Session 7? Tested in unit and integration tests.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called bidirectional traceability.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THE V-MODEL: CLIMBING BACK UP</a:t>
            </a:r>
            <a:br/>
            <a:br/>
            <a:r>
              <a:t>Left Side (Done):          Right Side (Today):</a:t>
            </a:r>
            <a:br/>
            <a:r>
              <a:t>  Requirements    ←————→    Acceptance Testing</a:t>
            </a:r>
            <a:br/>
            <a:r>
              <a:t>  Architecture    ←————→    System Testing</a:t>
            </a:r>
            <a:br/>
            <a:r>
              <a:t>  Design          ←————→    Integration Testing</a:t>
            </a:r>
            <a:br/>
            <a:r>
              <a:t>  Implementation  ←————→    Unit Testing</a:t>
            </a:r>
            <a:br/>
            <a:br/>
            <a:r>
              <a:t>Each decomposition step has a corresponding verification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Integration and V&amp;V Matter - Real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why today's topic is critical: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Industry data on V&amp;V: — 40-50% of project budgets go to testing and V&amp;V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70% of defects found in testing were preventable with better V&amp;V planning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Cost multiplier: 1x (requirements) → 10x (design) → 100x (testing) → 1000x (field)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examples: — Toyota unintended acceleration (Session 6 case): Inadequate testing of ETCS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Takata airbag recall: $10 billion, inadequate validation of propellant aging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Tesla Autopilot incidents: Insufficient scenario coverage in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paradox: V&amp;V is expensive, but NOT doing it properly is catastrophically more expensive.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WHY V&amp;V MATTERS: THE COST OF FAILURE</a:t>
            </a:r>
            <a:br/>
            <a:br/>
            <a:r>
              <a:t>Industry Statistics:</a:t>
            </a:r>
            <a:br/>
            <a:r>
              <a:t>  • 40-50% of project budget goes to V&amp;V</a:t>
            </a:r>
            <a:br/>
            <a:r>
              <a:t>  • Defect cost multiplier: 1x → 10x → 100x → 1000x</a:t>
            </a:r>
            <a:br/>
            <a:r>
              <a:t>  • 70% of defects preventable with better V&amp;V planning</a:t>
            </a:r>
            <a:br/>
            <a:br/>
            <a:r>
              <a:t>Automotive Recalls (V&amp;V Failures):</a:t>
            </a:r>
            <a:br/>
            <a:r>
              <a:t>  • Takata airbags: $10B, 100M vehicles</a:t>
            </a:r>
            <a:br/>
            <a:r>
              <a:t>  • GM ignition switch: $4.1B, 124 deaths</a:t>
            </a:r>
            <a:br/>
            <a:r>
              <a:t>  • Toyota ETCS: $1.2B, inadequate software testing</a:t>
            </a:r>
            <a:br/>
            <a:br/>
            <a:r>
              <a:t>**V&amp;V is expensive. Not doing it is catastrophic.**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Three Critical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V&amp;V strategy must answer three fundamental questions: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 1: Did we build the system right? (VERIFICATION)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Does the system meet its specifications?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Are all requirements implemented correctly?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Does the design match the architecture?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 2: Did we build the right system? (VALIDATION)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Does the system solve the customer's problem?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Does it meet stakeholder needs?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Will it work in the real operational environment?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 3: How do we know? (EVIDENCE)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tests prove it?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analysis supports it?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documentation demonstrates it?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Adaptive Cruise Control (ACC) — Verification: Does ACC maintain the specified 2-second gap? (Specification)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Validation: Does ACC make drivers feel safe and comfortable? (Need)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Evidence: Test reports, data logs, customer feedback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questions guide everything we do today.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THREE CRITICAL V&amp;V QUESTIONS</a:t>
            </a:r>
            <a:br/>
            <a:br/>
            <a:r>
              <a:t>1. Did we build the system RIGHT? → VERIFICATION</a:t>
            </a:r>
            <a:br/>
            <a:r>
              <a:t>   • Meets specifications</a:t>
            </a:r>
            <a:br/>
            <a:r>
              <a:t>   • Requirements implemented correctly</a:t>
            </a:r>
            <a:br/>
            <a:r>
              <a:t>   • Conforms to design</a:t>
            </a:r>
            <a:br/>
            <a:br/>
            <a:r>
              <a:t>2. Did we build the RIGHT system? → VALIDATION</a:t>
            </a:r>
            <a:br/>
            <a:r>
              <a:t>   • Solves customer problem</a:t>
            </a:r>
            <a:br/>
            <a:r>
              <a:t>   • Meets stakeholder needs</a:t>
            </a:r>
            <a:br/>
            <a:r>
              <a:t>   • Works in real environment</a:t>
            </a:r>
            <a:br/>
            <a:br/>
            <a:r>
              <a:t>3. How do we KNOW? → EVIDENCE</a:t>
            </a:r>
            <a:br/>
            <a:r>
              <a:t>   • Test results</a:t>
            </a:r>
            <a:br/>
            <a:r>
              <a:t>   • Analysis data</a:t>
            </a:r>
            <a:br/>
            <a:r>
              <a:t>   • Documentation</a:t>
            </a:r>
            <a:br/>
            <a:br/>
            <a:r>
              <a:t>**All three must be answered with traceable evidence**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Lane Keep Assist Integration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start with a real challenge. You're the integration lead for a Lane Keep Assist (LKA) system with these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 Components to integrate: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Forward camera (lane detection)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Image processing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Lane detection algorithm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Steering torque actuator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CAN bus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HMI warning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monitoring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challenge: How do you integrate these? What's your strategy?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extreme approaches: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Approach A - 'Big Bang': Get all 8 components, connect them all at once, power on, hope it works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Approach B - 'Incremental': Integrate components step-by-step, testing each integration point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Which would you choose? Why?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Think about what could go wrong with each approach.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INTEGRATION CHALLENGE: LANE KEEP ASSIST (LKA)</a:t>
            </a:r>
            <a:br/>
            <a:br/>
            <a:r>
              <a:t>System Components (8):</a:t>
            </a:r>
            <a:br/>
            <a:r>
              <a:t>  1. Forward camera</a:t>
            </a:r>
            <a:br/>
            <a:r>
              <a:t>  2. Image processing ECU</a:t>
            </a:r>
            <a:br/>
            <a:r>
              <a:t>  3. Lane detection algorithm</a:t>
            </a:r>
            <a:br/>
            <a:r>
              <a:t>  4. Control ECU</a:t>
            </a:r>
            <a:br/>
            <a:r>
              <a:t>  5. Steering actuator</a:t>
            </a:r>
            <a:br/>
            <a:r>
              <a:t>  6. CAN bus interface</a:t>
            </a:r>
            <a:br/>
            <a:r>
              <a:t>  7. HMI warning display</a:t>
            </a:r>
            <a:br/>
            <a:r>
              <a:t>  8. Driver monitoring</a:t>
            </a:r>
            <a:br/>
            <a:br/>
            <a:r>
              <a:t>Question: How do you integrate 8 components with 12+ interfaces?</a:t>
            </a:r>
            <a:br/>
            <a:br/>
            <a:r>
              <a:t>Option A: Big Bang (all at once)</a:t>
            </a:r>
            <a:br/>
            <a:r>
              <a:t>Option B: Incremental (step-by-step)</a:t>
            </a:r>
            <a:br/>
            <a:br/>
            <a:r>
              <a:t>**What are the risks and benefits of each?**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What Usually Happens (The Failure Mode)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what typically happens with big bang integration: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Week 1: Assemble all components, power on 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Doesn't work. Multiple failures.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Week 2: Debug. Is it the camera? The ECU? The algorithm? The CAN bus? All of the above?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Problem: With 8 components and 12 interfaces, you have: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 × 7 / 2 = 28 possible pairwise interactions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Hundreds of possible fault combinations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idea where to start debugging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 example - Tesla Autopilot early integration: — 2015: Integrated camera, radar, ultrasonic, GPS all at once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Result: Sensor conflicts, phantom braking, weeks of debugging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Lesson: Switched to incremental integration with Hardware-in-the-Loop (HIL)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why integration strategy matters.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 need a systematic approach. That's what we'll learn today.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BIG BANG INTEGRATION: WHAT GOES WRONG</a:t>
            </a:r>
            <a:br/>
            <a:br/>
            <a:r>
              <a:t>Timeline:</a:t>
            </a:r>
            <a:br/>
            <a:r>
              <a:t>  Week 1: Integrate all components → System fails</a:t>
            </a:r>
            <a:br/>
            <a:r>
              <a:t>  Week 2: Debug → Can't isolate root cause</a:t>
            </a:r>
            <a:br/>
            <a:r>
              <a:t>  Week 3: Still debugging → Multiple interacting faults</a:t>
            </a:r>
            <a:br/>
            <a:r>
              <a:t>  Week 4: Project delay</a:t>
            </a:r>
            <a:br/>
            <a:br/>
            <a:r>
              <a:t>With 8 components:</a:t>
            </a:r>
            <a:br/>
            <a:r>
              <a:t>  • 28 pairwise interactions</a:t>
            </a:r>
            <a:br/>
            <a:r>
              <a:t>  • 100+ fault combinations</a:t>
            </a:r>
            <a:br/>
            <a:r>
              <a:t>  • Impossible to isolate failures</a:t>
            </a:r>
            <a:br/>
            <a:br/>
            <a:r>
              <a:t>**Real Example: Early Tesla Autopilot**</a:t>
            </a:r>
            <a:br/>
            <a:r>
              <a:t>  Integrated all sensors at once → sensor conflicts</a:t>
            </a:r>
            <a:br/>
            <a:r>
              <a:t>  Switched to incremental + HIL testing</a:t>
            </a:r>
            <a:br/>
            <a:br/>
            <a:r>
              <a:t>**Lesson: Integration strategy is critical**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Defining Verification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nail down the most important distinction in V&amp;V: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VERIFICATION: 'Are we building the product right?'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Confirms product meets specifications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Objective, measurable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Based on requirements and design documents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Does it match what we specified?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VALIDATION: 'Are we building the right product?'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Confirms product meets user needs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Subjective, user-centered evaluation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Based on stakeholder expectations and operational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Question: Does it solve the real problem?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House analogy: — Verification: Does the house match the blueprint? (measurements, materials, code compliance)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Validation: Does the house meet the family's needs? (comfortable, functional, suitable)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 have perfect verification and still fail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A house built exactly to spec (verified) but family hates the layout (not validated).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VERIFICATION vs VALIDATION: THE DISTINCTION</a:t>
            </a:r>
            <a:br/>
            <a:br/>
            <a:r>
              <a:t>VERIFICATION: "Building the product RIGHT</a:t>
            </a:r>
            <a:br/>
            <a:r>
              <a:t>  • Meets specifications</a:t>
            </a:r>
            <a:br/>
            <a:r>
              <a:t>  • Objective criteria</a:t>
            </a:r>
            <a:br/>
            <a:r>
              <a:t>  • Based on requirements</a:t>
            </a:r>
            <a:br/>
            <a:r>
              <a:t>  • Question: Does it match specs?</a:t>
            </a:r>
            <a:br/>
            <a:br/>
            <a:r>
              <a:t>VALIDATION: "Building the RIGHT product</a:t>
            </a:r>
            <a:br/>
            <a:r>
              <a:t>  • Meets user needs</a:t>
            </a:r>
            <a:br/>
            <a:r>
              <a:t>  • Subjective evaluation</a:t>
            </a:r>
            <a:br/>
            <a:r>
              <a:t>  • Based on stakeholder expectations</a:t>
            </a:r>
            <a:br/>
            <a:r>
              <a:t>  • Question: Does it solve the problem?</a:t>
            </a:r>
            <a:br/>
            <a:br/>
            <a:r>
              <a:t>**House Analogy:**</a:t>
            </a:r>
            <a:br/>
            <a:r>
              <a:t>  Verification → Matches blueprint?</a:t>
            </a:r>
            <a:br/>
            <a:r>
              <a:t>  Validation → Family happy with it?</a:t>
            </a:r>
            <a:br/>
            <a:br/>
            <a:r>
              <a:t>**You can verify perfectly but still fail to validate**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Automotive Example - Verification vs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make this concrete with Automatic Emergency Braking (AEB):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VERIFICATION Activities: — Test: AEB activates when closing speed &gt; 40 km/h and TTC &lt; 1.5s (requirement AEB-FR-012)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Test: Braking deceleration = 6 m/s² ± 0.5 m/s² (requirement AEB-FR-018)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Inspection: CAN message ID 0x234 transmitted every 10ms (requirement AEB-IF-003)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Analysis: Brake response time &lt; 150ms (requirement AEB-NFR-001)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verify the system meets its specifications.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VALIDATION Activities: — Real-world testing: Does AEB prevent crashes in actual traffic?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studies: Do drivers trust and accept AEB interventions?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Scenario testing: Works in rain, fog, night conditions?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Field trials: Reduces rear-end collisions in fleet data?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validate the system solves the safety problem.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You can perfectly verify AEB (all specs met) but if drivers disable it because they don't trust it, you've failed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Both are required for success.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AUTOMOTIVE EXAMPLE: AEB VERIFICATION vs VALIDATION</a:t>
            </a:r>
            <a:br/>
            <a:br/>
            <a:r>
              <a:t>VERIFICATION (Meets Specs):</a:t>
            </a:r>
            <a:br/>
            <a:r>
              <a:t>  ✓ Activation threshold: TTC &lt; 1.5s, speed &gt; 40 km/h</a:t>
            </a:r>
            <a:br/>
            <a:r>
              <a:t>  ✓ Brake deceleration: 6 m/s² ± 0.5 m/s²</a:t>
            </a:r>
            <a:br/>
            <a:r>
              <a:t>  ✓ CAN timing: 10ms message period</a:t>
            </a:r>
            <a:br/>
            <a:r>
              <a:t>  ✓ Response time: &lt; 150ms</a:t>
            </a:r>
            <a:br/>
            <a:br/>
            <a:r>
              <a:t>VALIDATION (Meets Needs):</a:t>
            </a:r>
            <a:br/>
            <a:r>
              <a:t>  ✓ Prevents crashes in real traffic?</a:t>
            </a:r>
            <a:br/>
            <a:r>
              <a:t>  ✓ Drivers trust interventions?</a:t>
            </a:r>
            <a:br/>
            <a:r>
              <a:t>  ✓ Works in rain/fog/night?</a:t>
            </a:r>
            <a:br/>
            <a:r>
              <a:t>  ✓ Reduces fleet collision rates?</a:t>
            </a:r>
            <a:br/>
            <a:br/>
            <a:r>
              <a:t>**Success = Verification AND Validation**</a:t>
            </a:r>
            <a:br/>
            <a:br/>
            <a:r>
              <a:t>**Failure mode:** Perfect specs, but users disable feature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When to Verify vs Validate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do we do verification vs validation?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VERIFICATION: Throughout development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phase: Verify requirements are complete, consistent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phase: Verify design implements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Implementation: Verify code implements design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Integration: Verify interfaces work correctly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test: Verify all requirements met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Continuous activity at every stage.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VALIDATION: At key milestones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Concept validation: Does concept meet needs? (Before detailed design)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validation: Will design solve problem? (Before implementation)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validation: Does system work in real environment? (Before production)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validation: Meets needs in service? (After deployment)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Gate-based activity at decision points.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practice: Verification is more frequent, validation is more expensive and time-consuming.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 (ISO 26262): Validation required at phase transitions.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WHEN TO VERIFY vs VALIDATE</a:t>
            </a:r>
            <a:br/>
            <a:br/>
            <a:r>
              <a:t>VERIFICATION: Throughout Development</a:t>
            </a:r>
            <a:br/>
            <a:r>
              <a:t>  • Requirements → Design → Code → Integration → Test</a:t>
            </a:r>
            <a:br/>
            <a:r>
              <a:t>  • Continuous activity</a:t>
            </a:r>
            <a:br/>
            <a:r>
              <a:t>  • Frequent, incremental</a:t>
            </a:r>
            <a:br/>
            <a:r>
              <a:t>  • Lower cost per activity</a:t>
            </a:r>
            <a:br/>
            <a:br/>
            <a:r>
              <a:t>VALIDATION: At Key Milestones</a:t>
            </a:r>
            <a:br/>
            <a:r>
              <a:t>  • Concept → Design → System → Operations</a:t>
            </a:r>
            <a:br/>
            <a:r>
              <a:t>  • Gate-based activity</a:t>
            </a:r>
            <a:br/>
            <a:r>
              <a:t>  • Infrequent, comprehensive</a:t>
            </a:r>
            <a:br/>
            <a:r>
              <a:t>  • Higher cost per activity</a:t>
            </a:r>
            <a:br/>
            <a:br/>
            <a:r>
              <a:t>**ISO 26262 Requirement:**</a:t>
            </a:r>
            <a:br/>
            <a:r>
              <a:t>  Validation at each phase transition</a:t>
            </a:r>
            <a:br/>
            <a:br/>
            <a:r>
              <a:t>**Practical Rule:**</a:t>
            </a:r>
            <a:br/>
            <a:r>
              <a:t>  Verify often (daily/weekly)</a:t>
            </a:r>
            <a:br/>
            <a:r>
              <a:t>  Validate at gates (monthly/quarterly)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Integration Strategy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let's address the integration challenge from Slide 7. There are four main integration strategies: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Big Bang Integration — Integrate all components at once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Pros: Fast if it works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Cons: Debugging nightmare, high risk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to use: Simple systems (&lt;5 components), well-tested components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Bottom-Up Integration — Start with lowest-level components, build up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Pros: Early hardware testing, realistic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Cons: No system-level view until late, requires test drivers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to use: Hardware-dependent systems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Top-Down Integration — Start with high-level control, stub lower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Pros: Early system-level behavior, validates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Cons: Stubs may not represent real performance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to use: Software-intensive systems, architecture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Sandwich/Hybrid Integration — Top-down for control logic, bottom-up for hardware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Pros: Best of both worlds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Cons: More complex to manage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to use: Complex automotive systems (most cases)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standard: Most OEMs use sandwich with HIL testing.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INTEGRATION STRATEGIES: FOUR OPTIONS</a:t>
            </a:r>
            <a:br/>
            <a:br/>
            <a:r>
              <a:t>1. Big Bang</a:t>
            </a:r>
            <a:br/>
            <a:r>
              <a:t>   • All at once</a:t>
            </a:r>
            <a:br/>
            <a:r>
              <a:t>   • Fast but risky</a:t>
            </a:r>
            <a:br/>
            <a:br/>
            <a:r>
              <a:t>2. Bottom-Up</a:t>
            </a:r>
            <a:br/>
            <a:r>
              <a:t>   • Start with hardware</a:t>
            </a:r>
            <a:br/>
            <a:r>
              <a:t>   • Realistic performance</a:t>
            </a:r>
            <a:br/>
            <a:br/>
            <a:r>
              <a:t>3. Top-Down</a:t>
            </a:r>
            <a:br/>
            <a:r>
              <a:t>   • Start with control logic</a:t>
            </a:r>
            <a:br/>
            <a:r>
              <a:t>   • Early system validation</a:t>
            </a:r>
            <a:br/>
            <a:br/>
            <a:r>
              <a:t>4. Sandwich/Hybrid ← AUTOMOTIVE STANDARD</a:t>
            </a:r>
            <a:br/>
            <a:r>
              <a:t>   • Combination approach</a:t>
            </a:r>
            <a:br/>
            <a:r>
              <a:t>   • Best for complex systems</a:t>
            </a:r>
            <a:br/>
            <a:br/>
            <a:r>
              <a:t>**Selection criteria:** System complexity, hardware dependencies, schedule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Bottom-Up Integration Example (LKA)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see bottom-up integration for our LKA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Sequence: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Test camera hardware standalone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camera captures images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CAN interface works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with known patterns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Integrate camera + image processing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image data transfer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Check processing latency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with real road images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Add lane detection algorithm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lane line detection accuracy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Check processing time &lt; 50ms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various lighting conditions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Integrate control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control calculations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steering torque commands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Validate safety limits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Add steering actuator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 actual steering response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Measure end-to-end latency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force limits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Steps 6-8: Add CAN bus, HMI, driver monitoring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Benefit: At each step, only ONE new component. If something breaks, you know what caused it.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Drawback: Don't see complete system behavior until Step 8.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BOTTOM-UP INTEGRATION: LKA EXAMPLE</a:t>
            </a:r>
            <a:br/>
            <a:br/>
            <a:r>
              <a:t>Step 1: Camera (standalone)</a:t>
            </a:r>
            <a:br/>
            <a:r>
              <a:t>  ↓</a:t>
            </a:r>
            <a:br/>
            <a:r>
              <a:t>Step 2: + Image Processing ECU</a:t>
            </a:r>
            <a:br/>
            <a:r>
              <a:t>  ↓</a:t>
            </a:r>
            <a:br/>
            <a:r>
              <a:t>Step 3: + Lane Detection Algorithm</a:t>
            </a:r>
            <a:br/>
            <a:r>
              <a:t>  ↓</a:t>
            </a:r>
            <a:br/>
            <a:r>
              <a:t>Step 4: + Control ECU</a:t>
            </a:r>
            <a:br/>
            <a:r>
              <a:t>  ↓</a:t>
            </a:r>
            <a:br/>
            <a:r>
              <a:t>Step 5: + Steering Actuator</a:t>
            </a:r>
            <a:br/>
            <a:r>
              <a:t>  ↓</a:t>
            </a:r>
            <a:br/>
            <a:r>
              <a:t>Step 6-8: + CAN, HMI, Driver Monitor</a:t>
            </a:r>
            <a:br/>
            <a:br/>
            <a:r>
              <a:t>At each step:</a:t>
            </a:r>
            <a:br/>
            <a:r>
              <a:t>  ✓ Test ONE new component</a:t>
            </a:r>
            <a:br/>
            <a:r>
              <a:t>  ✓ Easy to isolate failures</a:t>
            </a:r>
            <a:br/>
            <a:r>
              <a:t>  ✗ No system-level view until late</a:t>
            </a:r>
            <a:br/>
            <a:br/>
            <a:r>
              <a:t>**Best for: Hardware-intensive systems**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Top-Down Integration with Stubs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Top-down integration works differently. We start with the system-level controller and 'stub' the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Implement main control ECU with ALL components stubbed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Stub camera: Returns simulated lane lines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Stub actuator: Logs steering commands (doesn't move)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Validates overall control logic and state machine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Replace camera stub with real camera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Now using real image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logic unchanged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Validates camera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Replace actuator stub with real actuator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Now producing real steering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Validates safety-critical path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Steps 4-8: Replace remaining stubs one by one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Benefit: See system-level behavior from Day 1. Validates architecture early.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Drawback: Stubs may not capture real timing, performance issues. Can give false confidence.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use case: Software-in-the-Loop (SIL) testing uses stubbed sensors/actuators extensively.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TOP-DOWN INTEGRATION: WITH STUBS</a:t>
            </a:r>
            <a:br/>
            <a:br/>
            <a:r>
              <a:t>Step 1: Control ECU + ALL STUBS</a:t>
            </a:r>
            <a:br/>
            <a:r>
              <a:t>  • Stub camera → simulated data</a:t>
            </a:r>
            <a:br/>
            <a:r>
              <a:t>  • Stub actuator → log commands</a:t>
            </a:r>
            <a:br/>
            <a:r>
              <a:t>  • Validate control logic</a:t>
            </a:r>
            <a:br/>
            <a:r>
              <a:t>  ↓</a:t>
            </a:r>
            <a:br/>
            <a:r>
              <a:t>Step 2: Replace camera stub → REAL camera</a:t>
            </a:r>
            <a:br/>
            <a:r>
              <a:t>  ↓</a:t>
            </a:r>
            <a:br/>
            <a:r>
              <a:t>Step 3: Replace actuator stub → REAL actuator</a:t>
            </a:r>
            <a:br/>
            <a:r>
              <a:t>  ↓</a:t>
            </a:r>
            <a:br/>
            <a:r>
              <a:t>Steps 4-8: Replace remaining stubs</a:t>
            </a:r>
            <a:br/>
            <a:br/>
            <a:r>
              <a:t>Benefits:</a:t>
            </a:r>
            <a:br/>
            <a:r>
              <a:t>  ✓ Early system-level validation</a:t>
            </a:r>
            <a:br/>
            <a:r>
              <a:t>  ✓ Architecture validation from Day 1</a:t>
            </a:r>
            <a:br/>
            <a:r>
              <a:t>  ✗ Stubs may not capture real performance</a:t>
            </a:r>
            <a:br/>
            <a:br/>
            <a:r>
              <a:t>**Best for: Software-intensive systems, early integration**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Sandwich Integration (Automotive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 practice, automotive systems use sandwich integration: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 layer (Top-Down):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System controller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State machine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High-level decision logic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Validated early with SIL (Software-in-the-Loop)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Bottom layer (Bottom-Up):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Sensors (camera, radar, lidar)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Actuators (steering, braking)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Validated early with HIL (Hardware-in-the-Loop)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Middle layer (Last):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Sensor fusion algorithms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algorithms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Integrated after top and bottom layers proven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Timeline for LKA: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Weeks 1-4: Top layer SIL + Bottom layer HIL (parallel)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Weeks 5-8: Integrate middle layer algorithms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Weeks 9-12: Full system integration and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this works: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Reduces integration risk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Parallel development (software + hardware teams)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Early detection of interface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Industry standard approach (Tesla, BMW, Toyota all use variations)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what you'll use in practice.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SANDWICH INTEGRATION: AUTOMOTIVE STANDARD</a:t>
            </a:r>
            <a:br/>
            <a:br/>
            <a:r>
              <a:t>TOP LAYER (Top-Down):</a:t>
            </a:r>
            <a:br/>
            <a:r>
              <a:t>  System controller, state machine</a:t>
            </a:r>
            <a:br/>
            <a:r>
              <a:t>  Validated: SIL (Software-in-Loop)</a:t>
            </a:r>
            <a:br/>
            <a:br/>
            <a:r>
              <a:t>MIDDLE LAYER (Last):</a:t>
            </a:r>
            <a:br/>
            <a:r>
              <a:t>  Algorithms, sensor fusion</a:t>
            </a:r>
            <a:br/>
            <a:r>
              <a:t>  Integrated: After top/bottom proven</a:t>
            </a:r>
            <a:br/>
            <a:br/>
            <a:r>
              <a:t>BOTTOM LAYER (Bottom-Up):</a:t>
            </a:r>
            <a:br/>
            <a:r>
              <a:t>  Sensors, actuators, CAN</a:t>
            </a:r>
            <a:br/>
            <a:r>
              <a:t>  Validated: HIL (Hardware-in-Loop)</a:t>
            </a:r>
            <a:br/>
            <a:br/>
            <a:r>
              <a:t>Timeline:</a:t>
            </a:r>
            <a:br/>
            <a:r>
              <a:t>  Weeks 1-4: Top SIL + Bottom HIL (parallel)</a:t>
            </a:r>
            <a:br/>
            <a:r>
              <a:t>  Weeks 5-8: Middle layer integration</a:t>
            </a:r>
            <a:br/>
            <a:r>
              <a:t>  Weeks 9-12: Full system validation</a:t>
            </a:r>
            <a:br/>
            <a:br/>
            <a:r>
              <a:t>**Industry standard for ADAS/autonomous systems**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Four Verification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ISO/IEC 15288 and IEEE 15288 define FOUR verification methods. Every requirement must specify which method(s) will be used: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TEST (Most common) — Stimulate system with inputs, measure outputs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Pros: High confidence, finds integration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Cons: Expensive, time-consuming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Road testing, HIL testing, EMC testing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when: Safety-critical functions, customer-facing features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ANALYSIS (Mathematical/simulation) — Mathematical proof, simulation, modeling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Pros: Early feedback, explores parameter space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Cons: Only as good as model assumptions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Thermal analysis, stress analysis, timing analysis, simulation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when: Physical properties, performance prediction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INSPECTION (Visual/manual) — Visual examination, code review, document review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Pros: Low cost, simple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Cons: Subjective, may miss issues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Code review, design review, drawing inspection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when: Qualitative requirements, documentation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DEMONSTRATION (Show it works) — Demonstrate functionality in realistic scenario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Pros: Convincing, user-focused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Cons: May not cover edge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Customer demo, pilot program, trade show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when: User acceptance, stakeholder confidence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Automotive: Typically 70% test, 20% analysis, 8% inspection, 2% demonstration.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FOUR VERIFICATION METHODS (ISO/IEC 15288)</a:t>
            </a:r>
            <a:br/>
            <a:br/>
            <a:r>
              <a:t>1. TEST</a:t>
            </a:r>
            <a:br/>
            <a:r>
              <a:t>   • Stimulate inputs, measure outputs</a:t>
            </a:r>
            <a:br/>
            <a:r>
              <a:t>   • High confidence, expensive</a:t>
            </a:r>
            <a:br/>
            <a:r>
              <a:t>   • Example: Road testing, HIL</a:t>
            </a:r>
            <a:br/>
            <a:br/>
            <a:r>
              <a:t>2. ANALYSIS</a:t>
            </a:r>
            <a:br/>
            <a:r>
              <a:t>   • Mathematical/simulation</a:t>
            </a:r>
            <a:br/>
            <a:r>
              <a:t>   • Early feedback, model-dependent</a:t>
            </a:r>
            <a:br/>
            <a:r>
              <a:t>   • Example: Thermal, timing, stress</a:t>
            </a:r>
            <a:br/>
            <a:br/>
            <a:r>
              <a:t>3. INSPECTION</a:t>
            </a:r>
            <a:br/>
            <a:r>
              <a:t>   • Visual/manual examination</a:t>
            </a:r>
            <a:br/>
            <a:r>
              <a:t>   • Low cost, subjective</a:t>
            </a:r>
            <a:br/>
            <a:r>
              <a:t>   • Example: Code review, drawing check</a:t>
            </a:r>
            <a:br/>
            <a:br/>
            <a:r>
              <a:t>4. DEMONSTRATION</a:t>
            </a:r>
            <a:br/>
            <a:r>
              <a:t>   • Show it works in scenario</a:t>
            </a:r>
            <a:br/>
            <a:r>
              <a:t>   • Convincing, may miss edge cases</a:t>
            </a:r>
            <a:br/>
            <a:r>
              <a:t>   • Example: Customer demo</a:t>
            </a:r>
            <a:br/>
            <a:br/>
            <a:r>
              <a:t>**Automotive typical: 70% test, 20% analysis, 8% inspect, 2% demo**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Verification Method Selection (AEB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see how to select verification methods for AEB requirements: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 AEB-FR-001: 'System shall detect vehicles ahead within 150m range'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method: TEST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Safety-critical, must prove in real conditions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Test: Place target vehicle at 140m, 150m, 160m. Verify detection.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 AEB-NFR-002: 'System response time shall be &lt; 150ms from detection to brake command'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method: ANALYSIS + TEST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Timing analysis can predict, test confirms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Analysis: WCET analysis of software timing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Test: Measure actual response time with oscilloscope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 AEB-IF-005: 'CAN message format shall comply with J1939 standard'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method: INSPECTION + TEST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Standards compliance check + functional test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Inspection: Review CAN database file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Test: CAN bus analyzer capture and decode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 AEB-SAF-010: 'System shall meet ISO 26262 ASIL-B'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method: INSPECTION + DEMONSTRATION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Rationale: Process compliance + assessment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Inspection: Review safety artifacts (FMEA, FTA, safety case)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Demonstration: Present safety case to assessor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Notice: Most requirements use MULTIPLE methods for higher confidence.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VERIFICATION METHOD SELECTION: AEB EXAMPLE</a:t>
            </a:r>
            <a:br/>
            <a:br/>
            <a:r>
              <a:t>Req ID          | Requirement                    | Method(s)</a:t>
            </a:r>
            <a:br/>
            <a:r>
              <a:t>----------------|--------------------------------|------------------</a:t>
            </a:r>
            <a:br/>
            <a:r>
              <a:t>AEB-FR-001      | Detect vehicles within 150m   | TEST</a:t>
            </a:r>
            <a:br/>
            <a:r>
              <a:t>AEB-NFR-002     | Response time &lt; 150ms          | ANALYSIS + TEST</a:t>
            </a:r>
            <a:br/>
            <a:r>
              <a:t>AEB-IF-005      | CAN format per J1939           | INSPECTION + TEST</a:t>
            </a:r>
            <a:br/>
            <a:r>
              <a:t>AEB-SAF-010     | Meet ISO 26262 ASIL-B          | INSPECTION + DEMO</a:t>
            </a:r>
            <a:br/>
            <a:br/>
            <a:r>
              <a:t>**Key Insight:** Most requirements need MULTIPLE methods</a:t>
            </a:r>
            <a:br/>
            <a:br/>
            <a:r>
              <a:t>**ISO 26262 guidance:** Safety requirements require at minimum:</a:t>
            </a:r>
            <a:br/>
            <a:r>
              <a:t>  • Analysis (FMEA/FTA)</a:t>
            </a:r>
            <a:br/>
            <a:r>
              <a:t>  • Test (functional + fault injection)</a:t>
            </a:r>
            <a:br/>
            <a:r>
              <a:t>  • Inspection (safety case review)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Verification Traceability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requirement must be traceable to its verification. This is the Requirements Verification Traceability Matrix (RVTM):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RVTM Structure: — Requirement 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 text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method(s)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case ID / Analysis ID / Inspection 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status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Pass/Fail result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Evidence (test report reference)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RVTM for AEB (5 requirements shown):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Req ID | Requirement | Method | Test ID | Status | Result | Evidence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|--------|-------------|--------|---------|--------|--------|----------|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AEB-FR-001 | Detect vehicle 150m | Test | TC-AEB-001 | Complete | Pass | TR-2024-01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AEB-FR-002 | Brake if TTC&lt;1.5s | Test | TC-AEB-002 | Complete | Pass | TR-2024-02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AEB-NFR-001 | Response &lt;150ms | Analysis+Test | AN-001, TC-003 | Complete | Pass | AR-2024-01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AEB-IF-001 | CAN per J1939 | Inspect+Test | IN-001, TC-004 | Complete | Pass | IR-2024-01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AEB-SAF-001 | ASIL-B | Inspect+Demo | IN-002, DM-001 | In Progress | - | Pending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benefits: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Every requirement has verification plan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from requirement → test → evidence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Status tracking for program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Compliance evidence for assessors (ISO 26262, Automotive SPICE)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Tools: IBM DOORS, Jama Connect, Polarion, Excel (for small projects)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matrix is your V&amp;V roadmap.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REQUIREMENTS VERIFICATION TRACEABILITY MATRIX (RVTM)</a:t>
            </a:r>
            <a:br/>
            <a:br/>
            <a:r>
              <a:t>Columns:</a:t>
            </a:r>
            <a:br/>
            <a:r>
              <a:t>  • Requirement ID</a:t>
            </a:r>
            <a:br/>
            <a:r>
              <a:t>  • Requirement Text</a:t>
            </a:r>
            <a:br/>
            <a:r>
              <a:t>  • Verification Method(s)</a:t>
            </a:r>
            <a:br/>
            <a:r>
              <a:t>  • Test/Analysis/Inspection ID</a:t>
            </a:r>
            <a:br/>
            <a:r>
              <a:t>  • Status (Not Started / In Progress / Complete)</a:t>
            </a:r>
            <a:br/>
            <a:r>
              <a:t>  • Result (Pass / Fail / Pending)</a:t>
            </a:r>
            <a:br/>
            <a:r>
              <a:t>  • Evidence Reference</a:t>
            </a:r>
            <a:br/>
            <a:br/>
            <a:r>
              <a:t>Benefits:</a:t>
            </a:r>
            <a:br/>
            <a:r>
              <a:t>  ✓ Every requirement has verification plan</a:t>
            </a:r>
            <a:br/>
            <a:r>
              <a:t>  ✓ Traceability: Req → Test → Evidence</a:t>
            </a:r>
            <a:br/>
            <a:r>
              <a:t>  ✓ Status tracking</a:t>
            </a:r>
            <a:br/>
            <a:r>
              <a:t>  ✓ Compliance documentation</a:t>
            </a:r>
            <a:br/>
            <a:br/>
            <a:r>
              <a:t>**RVTM = Your V&amp;V roadmap and proof of completion**</a:t>
            </a:r>
            <a:br/>
            <a:br/>
            <a:r>
              <a:t>Tools: DOORS, Jama, Polarion, Excel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Four Testing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Testing happens at FOUR levels, corresponding to the V-Model: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1: UNIT TESTING (Bottom of 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Test: Individual software modules, hardware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Scope: Single function, single file, single component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Who: Developers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Coverage: 80-100% code coverage target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Test lane detection algorithm function, test CAN driver module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2: INTEGRATION TESTING (Lower-middle of 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Test: Interfaces between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Scope: 2-5 components interacting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Who: Integration engineers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Coverage: All interface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Camera + image processing, Control ECU + actuator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3: SYSTEM TESTING (Upper-middle of 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Test: Complete system against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Scope: All components integrated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Who: Test engineers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Coverage: All system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Full LKA system on test bench, HIL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Level 4: ACCEPTANCE TESTING (Top of 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Test: System in operational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Scope: Real-world usage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Who: Validation engineers + customers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Coverage: User needs and expectations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Examples: Road testing, beta fleet, customer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Key: Each level builds on the previous. Don't skip levels.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FOUR TESTING LEVELS (V-Model Alignment)</a:t>
            </a:r>
            <a:br/>
            <a:br/>
            <a:r>
              <a:t>Level 4: ACCEPTANCE TESTING ← Validates needs</a:t>
            </a:r>
            <a:br/>
            <a:r>
              <a:t>         Real-world scenarios</a:t>
            </a:r>
            <a:br/>
            <a:r>
              <a:t>         Who: Validation + Customer</a:t>
            </a:r>
            <a:br/>
            <a:br/>
            <a:r>
              <a:t>Level 3: SYSTEM TESTING ← Verifies requirements</a:t>
            </a:r>
            <a:br/>
            <a:r>
              <a:t>         Complete system</a:t>
            </a:r>
            <a:br/>
            <a:r>
              <a:t>         Who: Test engineers</a:t>
            </a:r>
            <a:br/>
            <a:br/>
            <a:r>
              <a:t>Level 2: INTEGRATION TESTING ← Verifies interfaces</a:t>
            </a:r>
            <a:br/>
            <a:r>
              <a:t>         Component interactions</a:t>
            </a:r>
            <a:br/>
            <a:r>
              <a:t>         Who: Integration engineers</a:t>
            </a:r>
            <a:br/>
            <a:br/>
            <a:r>
              <a:t>Level 1: UNIT TESTING ← Verifies implementation</a:t>
            </a:r>
            <a:br/>
            <a:r>
              <a:t>         Individual modules</a:t>
            </a:r>
            <a:br/>
            <a:r>
              <a:t>         Who: Developers</a:t>
            </a:r>
            <a:br/>
            <a:br/>
            <a:r>
              <a:t>**Test Pyramid:** More unit tests, fewer acceptance tests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Unit Testing - Software and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Unit testing for automotive systems includes BOTH software and hardware: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SOFTWARE UNIT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Testing `calculateSteeringTorque()` function in LKA controller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 cases: — TC-UT-001: Lane offset = 0.0m → Torque = 0.0 Nm (centered)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TC-UT-002: Lane offset = 0.3m right → Torque = +2.5 Nm (correct left)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TC-UT-003: Lane offset = 0.3m left → Torque = -2.5 Nm (correct right)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TC-UT-004: Lane offset = 1.0m → Torque clamped to ±8.0 Nm (safety limit)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TC-UT-005: No lane detected → Torque = 0.0 Nm (safe fallback)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Tool: Unit test framework (Google Test, CUnit, VectorCAST)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Coverage: Statement coverage 100%, branch coverage 95%+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HARDWARE UNIT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Example: Testing camera module standalone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 cases: — TC-HW-001: Power supply 12V ± 1V → Camera outputs video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TC-HW-002: CAN bus 500 kbps → Camera sends frame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TC-HW-003: Temperature -40°C to +85°C → Camera operates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TC-HW-004: Lens obstruction → Camera reports fault code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Tool: Bench test setup, oscilloscope, CAN analyzer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 (ASPICE): Unit testing is a MANDATORY practice.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UNIT TESTING: SOFTWARE + HARDWARE</a:t>
            </a:r>
            <a:br/>
            <a:br/>
            <a:r>
              <a:t>SOFTWARE UNIT TEST:</a:t>
            </a:r>
            <a:br/>
            <a:r>
              <a:t>  Function: calculateSteeringTorque()</a:t>
            </a:r>
            <a:br/>
            <a:br/>
            <a:r>
              <a:t>  Test Cases:</a:t>
            </a:r>
            <a:br/>
            <a:r>
              <a:t>    • Lane centered → 0 Nm</a:t>
            </a:r>
            <a:br/>
            <a:r>
              <a:t>    • 0.3m offset → ±2.5 Nm</a:t>
            </a:r>
            <a:br/>
            <a:r>
              <a:t>    • 1.0m offset → clamp to ±8 Nm</a:t>
            </a:r>
            <a:br/>
            <a:r>
              <a:t>    • No lane → 0 Nm (safe)</a:t>
            </a:r>
            <a:br/>
            <a:br/>
            <a:r>
              <a:t>  Coverage: 100% statement, 95%+ branch</a:t>
            </a:r>
            <a:br/>
            <a:br/>
            <a:r>
              <a:t>HARDWARE UNIT TEST:</a:t>
            </a:r>
            <a:br/>
            <a:r>
              <a:t>  Component: Camera module</a:t>
            </a:r>
            <a:br/>
            <a:br/>
            <a:r>
              <a:t>  Test Cases:</a:t>
            </a:r>
            <a:br/>
            <a:r>
              <a:t>    • Power 12V±1V → video output</a:t>
            </a:r>
            <a:br/>
            <a:r>
              <a:t>    • CAN 500kbps → frame data</a:t>
            </a:r>
            <a:br/>
            <a:r>
              <a:t>    • Temp -40 to +85°C → operates</a:t>
            </a:r>
            <a:br/>
            <a:r>
              <a:t>    • Lens blocked → fault code</a:t>
            </a:r>
            <a:br/>
            <a:br/>
            <a:r>
              <a:t>**ASPICE Requirement: Unit testing mandatory**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Integration Testing - Interface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testing focuses on INTERFACES between components. This is where many automotive defects hide.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Integration Test Example: Camera → Image Processing ECU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 Scenario 1: Data Transfer — TC-IT-001: Camera sends 1280x720 frame at 30 fps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ECU receives all frames, no data loss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Frame timestamps correct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No CAN bus overrun errors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 Scenario 2: Timing — TC-IT-002: Measure end-to-end latency camera → ECU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Latency &lt; 50ms (requirement)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Jitter &lt; 5ms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 Scenario 3: Error Handling — TC-IT-003: Camera sends corrupted frame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ECU detects checksum error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ECU requests retransmission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ECU continues operation (graceful degradation)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Test Scenario 4: Fault Injection — TC-IT-004: Disconnect camera CAN cable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ECU detects timeout (within 100ms)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ECU sets DTC (Diagnostic Trouble Code)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Verify: ECU reports fault to vehicle supervisor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integration testing matters: — 40% of automotive defects found at integration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Interface specifications often ambiguous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Timing issues only appear when components interact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Tool: HIL (Hardware-in-the-Loop) simulators (dSPACE, Vector, National Instruments)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INTEGRATION TESTING: INTERFACE FOCUS</a:t>
            </a:r>
            <a:br/>
            <a:br/>
            <a:r>
              <a:t>Test: Camera → Image Processing ECU</a:t>
            </a:r>
            <a:br/>
            <a:br/>
            <a:r>
              <a:t>Scenarios:</a:t>
            </a:r>
            <a:br/>
            <a:r>
              <a:t>  1. Data Transfer</a:t>
            </a:r>
            <a:br/>
            <a:r>
              <a:t>     • 1280x720 @ 30fps</a:t>
            </a:r>
            <a:br/>
            <a:r>
              <a:t>     • Verify: No frame loss, correct timing</a:t>
            </a:r>
            <a:br/>
            <a:br/>
            <a:r>
              <a:t>  2. Latency</a:t>
            </a:r>
            <a:br/>
            <a:r>
              <a:t>     • Measure end-to-end &lt; 50ms</a:t>
            </a:r>
            <a:br/>
            <a:r>
              <a:t>     • Jitter &lt; 5ms</a:t>
            </a:r>
            <a:br/>
            <a:br/>
            <a:r>
              <a:t>  3. Error Handling</a:t>
            </a:r>
            <a:br/>
            <a:r>
              <a:t>     • Corrupted frame → detect &amp; recover</a:t>
            </a:r>
            <a:br/>
            <a:br/>
            <a:r>
              <a:t>  4. Fault Injection</a:t>
            </a:r>
            <a:br/>
            <a:r>
              <a:t>     • Disconnect → timeout, DTC, report</a:t>
            </a:r>
            <a:br/>
            <a:br/>
            <a:r>
              <a:t>**40% of automotive defects found at integration level**</a:t>
            </a:r>
            <a:br/>
            <a:br/>
            <a:r>
              <a:t>Tools: HIL (dSPACE, Vector, NI)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System and Acceptance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top two testing levels validate the complete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SYSTEM TESTING (Level 3)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Verify ALL system requirements in controlled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LKA System Test Examples: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TC-ST-001: Verify LKA keeps vehicle centered in lane on straight road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TC-ST-002: Verify LKA handles curves (radius &gt; 250m)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TC-ST-003: Verify LKA disengages if driver overrides steering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TC-ST-004: Verify HMI warnings display correctly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TC-ST-005: Verify system works 10°C to 40°C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TC-ST-020: Verify emergency scenarios (brake during LKA, sudden lane change)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Environment: Test track, proving ground, HIL simulator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Coverage: 100% of system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Tools: Test vehicles, data logging, automated test scripts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ACCEPTANCE TESTING (Level 4)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Purpose: Validate system meets user needs in REAL operational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LKA Acceptance Test Examples: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Field testing: 100,000 km on public roads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Weather conditions: Rain, snow, fog, night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Road types: Highway, city, rural, construction zones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variability: Different driving styles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feedback: Surveys, interviews, usability studies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Environment: Real roads, real traffic, real customers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Coverage: Operational scenarios and stakeholder needs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Duration: Months (beta fleets, pilot programs)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Acceptance testing answers: 'Does this solve the customer's problem?'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validation, not just verification.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SYSTEM TESTING (Level 3): Verify Requirements</a:t>
            </a:r>
            <a:br/>
            <a:br/>
            <a:r>
              <a:t>Environment: Controlled (test track, HIL)</a:t>
            </a:r>
            <a:br/>
            <a:r>
              <a:t>Coverage: 100% system requirements</a:t>
            </a:r>
            <a:br/>
            <a:r>
              <a:t>Examples:</a:t>
            </a:r>
            <a:br/>
            <a:r>
              <a:t>  • LKA keeps centered in lane</a:t>
            </a:r>
            <a:br/>
            <a:r>
              <a:t>  • Handles curves, disengages on override</a:t>
            </a:r>
            <a:br/>
            <a:r>
              <a:t>  • HMI warnings correct</a:t>
            </a:r>
            <a:br/>
            <a:r>
              <a:t>  • Temperature 10-40°C</a:t>
            </a:r>
            <a:br/>
            <a:br/>
            <a:r>
              <a:t>Tools: Test vehicles, data logging, automation</a:t>
            </a:r>
            <a:br/>
            <a:br/>
            <a:r>
              <a:t>ACCEPTANCE TESTING (Level 4): Validate Needs</a:t>
            </a:r>
            <a:br/>
            <a:br/>
            <a:r>
              <a:t>Environment: Real-world (public roads)</a:t>
            </a:r>
            <a:br/>
            <a:r>
              <a:t>Coverage: Operational scenarios</a:t>
            </a:r>
            <a:br/>
            <a:r>
              <a:t>Examples:</a:t>
            </a:r>
            <a:br/>
            <a:r>
              <a:t>  • 100,000 km field testing</a:t>
            </a:r>
            <a:br/>
            <a:r>
              <a:t>  • Rain, snow, fog, night</a:t>
            </a:r>
            <a:br/>
            <a:r>
              <a:t>  • Highway, city, rural</a:t>
            </a:r>
            <a:br/>
            <a:r>
              <a:t>  • User feedback surveys</a:t>
            </a:r>
            <a:br/>
            <a:br/>
            <a:r>
              <a:t>Duration: Months (beta fleets)</a:t>
            </a:r>
            <a:br/>
            <a:br/>
            <a:r>
              <a:t>**Acceptance = Does it solve the customer problem?**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V&amp;V Plan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automotive system needs a comprehensive V&amp;V Plan. Here's the standard structure: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Section 1: Introduction — System overview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 objectives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Scope and boundaries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References (requirements, standards)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Section 2: V&amp;V Strategy — Verification approach (methods: test, analysis, inspection, demo)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Validation approach (field testing, user studies)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strategy (big bang / bottom-up / top-down / sandwich)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levels (unit / integration / system / acceptance)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Section 3: Test Environment — Test facilities (track, lab, HIL)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equipment (sensors, data acquisition, CAN tools)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vehicles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Environmental conditions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Section 4: Test Cases and Procedures — Requirements Verification Traceability Matrix (RVTM)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Detailed test procedures for each test case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Pass/fail criteria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Expected results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Section 5: Test Schedule — Timeline for each test level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Dependencies and sequencing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allocation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Milestones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Section 6: Roles and Responsibilities — Test manager, test engineers, developers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Approval authorities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Escalation procedures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Section 7: Risks and Mitigation — Test environment unavailability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Schedule delays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Resource constraints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Contingency plans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Section 8: Reporting and Documentation — Test reports format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Defect tracking process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Compliance evidence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standards: ISO 26262 mandates V&amp;V plan for ASIL B+ systems.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V&amp;V PLAN STRUCTURE (ISO 26262 Compliant)</a:t>
            </a:r>
            <a:br/>
            <a:br/>
            <a:r>
              <a:t>1. Introduction (system, objectives, scope)</a:t>
            </a:r>
            <a:br/>
            <a:r>
              <a:t>2. V&amp;V Strategy (methods, levels, integration)</a:t>
            </a:r>
            <a:br/>
            <a:r>
              <a:t>3. Test Environment (facilities, equipment, vehicles)</a:t>
            </a:r>
            <a:br/>
            <a:r>
              <a:t>4. Test Cases &amp; Procedures (RVTM, detailed tests)</a:t>
            </a:r>
            <a:br/>
            <a:r>
              <a:t>5. Test Schedule (timeline, dependencies, milestones)</a:t>
            </a:r>
            <a:br/>
            <a:r>
              <a:t>6. Roles &amp; Responsibilities (team, approvals)</a:t>
            </a:r>
            <a:br/>
            <a:r>
              <a:t>7. Risks &amp; Mitigation (environment, schedule, resources)</a:t>
            </a:r>
            <a:br/>
            <a:r>
              <a:t>8. Reporting &amp; Documentation (reports, defects, evidence)</a:t>
            </a:r>
            <a:br/>
            <a:br/>
            <a:r>
              <a:t>**ISO 26262:** V&amp;V plan mandatory for ASIL B+</a:t>
            </a:r>
            <a:br/>
            <a:br/>
            <a:r>
              <a:t>**Typical size:** 50-200 pages for ADAS system</a:t>
            </a:r>
            <a:br/>
            <a:br/>
            <a:r>
              <a:t>**Tools:** DOORS, Jama (requirements trace), JIRA (defect tracking)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Test Coverage - How Much Is Enough?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One of the most common questions: 'How much testing is enough?' Let's look at coverage metrics: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SOFTWARE CODE COVERAGE: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Statement Coverage: Every line of code executed?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100% for safety-critical (ISO 26262 ASIL C/D)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80-90% for ASIL A/B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Tool: VectorCAST, LDRA, Cantata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Branch Coverage: Every decision (if/else) tested both ways?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95%+ for safety-critical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More rigorous than statement coverage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Path Coverage: Every execution path tested?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Infeasible for large systems (combinatorial explosion)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Focus on critical paths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 COVERAGE: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Functional Coverage: Every requirement has passing test?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100% (non-negotiable)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Tracked in RVTM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 Coverage: Operational scenarios tested?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Cover normal, boundary, exceptional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 AEB: 30 km/h, 50 km/h, 80 km/h, 120 km/h (speed range)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 AEB: Dry, wet, snow, ice (surface conditions)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INTERFACE COVERAGE: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Message Coverage: Every CAN message sent/received?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100% of defined messages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Tool: CANoe, CANalyzer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Fault Coverage: Error scenarios tested?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Target: All single-point failures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Sensor failures, communication timeouts, invalid data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Automotive Standard (ISO 26262):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A: 80% statement + branch coverage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B: 90% statement + branch coverage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C: 95% statement + branch + MC/DC coverage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ASIL D: 100% statement + branch + MC/DC coverage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Reality: 100% coverage doesn't guarantee zero defects. But it's a necessary baseline.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TEST COVERAGE: HOW MUCH IS ENOUGH?</a:t>
            </a:r>
            <a:br/>
            <a:br/>
            <a:r>
              <a:t>CODE COVERAGE:</a:t>
            </a:r>
            <a:br/>
            <a:r>
              <a:t>  • Statement: Every line executed</a:t>
            </a:r>
            <a:br/>
            <a:r>
              <a:t>  • Branch: Every decision both ways</a:t>
            </a:r>
            <a:br/>
            <a:r>
              <a:t>  • Path: Every execution path</a:t>
            </a:r>
            <a:br/>
            <a:br/>
            <a:r>
              <a:t>  ISO 26262 Targets:</a:t>
            </a:r>
            <a:br/>
            <a:r>
              <a:t>    ASIL A: 80% | ASIL B: 90% | ASIL C: 95% | ASIL D: 100%</a:t>
            </a:r>
            <a:br/>
            <a:br/>
            <a:r>
              <a:t>REQUIREMENTS COVERAGE:</a:t>
            </a:r>
            <a:br/>
            <a:r>
              <a:t>  • Functional: Every requirement tested → 100%</a:t>
            </a:r>
            <a:br/>
            <a:r>
              <a:t>  • Scenario: Normal + boundary + exceptional</a:t>
            </a:r>
            <a:br/>
            <a:br/>
            <a:r>
              <a:t>INTERFACE COVERAGE:</a:t>
            </a:r>
            <a:br/>
            <a:r>
              <a:t>  • Message: Every CAN message → 100%</a:t>
            </a:r>
            <a:br/>
            <a:r>
              <a:t>  • Fault: All single-point failures</a:t>
            </a:r>
            <a:br/>
            <a:br/>
            <a:r>
              <a:t>**100% coverage ≠ zero defects, but it's the baseline**</a:t>
            </a:r>
            <a:br/>
            <a:br/>
            <a:r>
              <a:t>Tools: VectorCAST, LDRA, CANoe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Tesla Model S Autopilot Crash - V&amp;V Failure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examine a tragic V&amp;V failure: the 2016 Tesla Model S Autopilot crash in Florida.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Incident Overview: — May 7, 2016: Model S in Autopilot mode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White tractor-trailer crossing highway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Autopilot failed to detect trailer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failed to take control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Fatal collision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V&amp;V Failure Analysis: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Incomplete Scenario Coverage — What was tested: Standard vehicle detection (cars, trucks on same lane)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wasn't tested: Perpendicular white vehicles against bright sky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Gap: Cross-traffic scenarios not in test suite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Lesson: Validation must include operational context, not just requirements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Sensor Fusion Validation Inadequate — Camera: Detected trailer but classified as overhead sign (white + high)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Radar: Detected metal but classified as overhead structure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Fusion logic: Both sensors agreed 'not a vehicle' → ignored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Gap: No validation of conflicting sensor interpretations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Lesson: Integration testing must stress-test fusion logic with ambiguous inputs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Human Factors Validation Missing — System name 'Autopilot' implied full autonomy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Users treated it as self-driving (validation gap)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adequate driver monitoring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Gap: Validation of human-system interaction inadequate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Lesson: Validate system in realistic usage, not just ideal usage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Edge Case Testing Insufficient — White vehicle + bright sky = unusual scenario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But not impossible or unforeseeable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Should have been in acceptance test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Gap: Edge case identification incomplete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Lesson: Validation must explore 'rare but possible' scenarios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NTSB Findings: — 'Tesla's validation process did not account for driver misuse scenarios'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'System tested primarily in highway scenarios with conventional vehicles'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'Inadequate testing of perception system in unusual lighting conditions'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should have been tested (but wasn't):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Cross-traffic scenarios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White vehicles in high-contrast lighting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monitoring effectiveness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Realistic driver behavior (not just attentive drivers)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Tesla added cross-traffic detection, improved driver monitoring, clarified Autopilot limitations.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CASE STUDY: 2016 TESLA MODEL S AUTOPILOT CRASH</a:t>
            </a:r>
            <a:br/>
            <a:br/>
            <a:r>
              <a:t>Incident: Autopilot failed to detect white trailer crossing highway</a:t>
            </a:r>
            <a:br/>
            <a:br/>
            <a:r>
              <a:t>V&amp;V FAILURES IDENTIFIED:</a:t>
            </a:r>
            <a:br/>
            <a:br/>
            <a:r>
              <a:t>1. Incomplete Scenario Coverage</a:t>
            </a:r>
            <a:br/>
            <a:r>
              <a:t>   ✗ Cross-traffic not tested</a:t>
            </a:r>
            <a:br/>
            <a:r>
              <a:t>   Lesson: Validate operational context</a:t>
            </a:r>
            <a:br/>
            <a:br/>
            <a:r>
              <a:t>2. Sensor Fusion Validation Inadequate</a:t>
            </a:r>
            <a:br/>
            <a:r>
              <a:t>   ✗ Ambiguous input cases not tested</a:t>
            </a:r>
            <a:br/>
            <a:r>
              <a:t>   Lesson: Stress-test fusion logic</a:t>
            </a:r>
            <a:br/>
            <a:br/>
            <a:r>
              <a:t>3. Human Factors Validation Missing</a:t>
            </a:r>
            <a:br/>
            <a:r>
              <a:t>   ✗ Realistic usage not validated</a:t>
            </a:r>
            <a:br/>
            <a:r>
              <a:t>   Lesson: Test actual user behavior</a:t>
            </a:r>
            <a:br/>
            <a:br/>
            <a:r>
              <a:t>4. Edge Case Testing Insufficient</a:t>
            </a:r>
            <a:br/>
            <a:r>
              <a:t>   ✗ Rare scenarios not covered</a:t>
            </a:r>
            <a:br/>
            <a:r>
              <a:t>   Lesson: Explore 'possible but unusual'</a:t>
            </a:r>
            <a:br/>
            <a:br/>
            <a:r>
              <a:t>**NTSB: "Validation did not account for real usage scenarios"**</a:t>
            </a:r>
            <a:br/>
            <a:br/>
            <a:r>
              <a:t>Changes: Added cross-traffic detection, driver monitoring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V&amp;V Best Practices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the best practices for automotive V&amp;V: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Planning Phase: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Create V&amp;V plan early (during requirements phase)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Select verification methods for each requirement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Build Requirements Verification Traceability Matrix (RVTM)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Define test coverage targets (ISO 26262 compliance)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Plan integration strategy (sandwich recommended)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Execution Phase: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Start testing early (unit tests during development)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Test at all four levels (unit → integration → system → acceptance)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Use multiple verification methods (test + analysis + inspection)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Automate regression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Document evidence for every test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Quality Phase: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Achieve code coverage targets (80-100% per ASIL)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Ensure 100% requirements coverage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Test edge cases and fault scenarios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Validate human-system interaction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Conduct real-world field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Documentation Phase: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Maintain bidirectional traceability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Generate test reports with pass/fail evidence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Track and close all defects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Create safety case (ISO 26262)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Archive configuration and test data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Continuous Improvement: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Analyze field failures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Update test cases based on field data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Improve V&amp;V process each iteration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Share lessons learned across projects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Follow these practices, and your V&amp;V will be robust.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V&amp;V BEST PRACTICES CHECKLIST</a:t>
            </a:r>
            <a:br/>
            <a:br/>
            <a:r>
              <a:t>PLANNING:</a:t>
            </a:r>
            <a:br/>
            <a:r>
              <a:t>  ✓ V&amp;V plan early (requirements phase)</a:t>
            </a:r>
            <a:br/>
            <a:r>
              <a:t>  ✓ Verification methods per requirement</a:t>
            </a:r>
            <a:br/>
            <a:r>
              <a:t>  ✓ Build RVTM</a:t>
            </a:r>
            <a:br/>
            <a:r>
              <a:t>  ✓ Define coverage targets (ISO 26262)</a:t>
            </a:r>
            <a:br/>
            <a:r>
              <a:t>  ✓ Integration strategy (sandwich)</a:t>
            </a:r>
            <a:br/>
            <a:br/>
            <a:r>
              <a:t>EXECUTION:</a:t>
            </a:r>
            <a:br/>
            <a:r>
              <a:t>  ✓ Test early (unit tests in development)</a:t>
            </a:r>
            <a:br/>
            <a:r>
              <a:t>  ✓ All four levels (unit → accept)</a:t>
            </a:r>
            <a:br/>
            <a:r>
              <a:t>  ✓ Multiple methods (test + analysis)</a:t>
            </a:r>
            <a:br/>
            <a:r>
              <a:t>  ✓ Automate regression</a:t>
            </a:r>
            <a:br/>
            <a:r>
              <a:t>  ✓ Document evidence</a:t>
            </a:r>
            <a:br/>
            <a:br/>
            <a:r>
              <a:t>QUALITY:</a:t>
            </a:r>
            <a:br/>
            <a:r>
              <a:t>  ✓ Code coverage (80-100%)</a:t>
            </a:r>
            <a:br/>
            <a:r>
              <a:t>  ✓ 100% requirements coverage</a:t>
            </a:r>
            <a:br/>
            <a:r>
              <a:t>  ✓ Edge cases + faults</a:t>
            </a:r>
            <a:br/>
            <a:r>
              <a:t>  ✓ Human factors validation</a:t>
            </a:r>
            <a:br/>
            <a:r>
              <a:t>  ✓ Real-world field testing</a:t>
            </a:r>
            <a:br/>
            <a:br/>
            <a:r>
              <a:t>DOCUMENTATION:</a:t>
            </a:r>
            <a:br/>
            <a:r>
              <a:t>  ✓ Bidirectional traceability</a:t>
            </a:r>
            <a:br/>
            <a:r>
              <a:t>  ✓ Test reports</a:t>
            </a:r>
            <a:br/>
            <a:r>
              <a:t>  ✓ Defect closure</a:t>
            </a:r>
            <a:br/>
            <a:r>
              <a:t>  ✓ Safety case</a:t>
            </a:r>
            <a:br/>
            <a:r>
              <a:t>  ✓ Archive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Remaining Sessions and Mid-Semester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 completes our first half. Let's connect everything and preview what's ahead: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Sessions 1-8 Completed: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Module 1: Foundations (Sessions 1-4)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1: Why SE matters (failures)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SE fundamentals (ISO/IEC 15288, V-Model)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3: Traditional vs MBSE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Module 2: Design &amp; Analysis (Sessions 5-8)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5: System Architecture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6: Case Study 1 (Boeing 737 MAX)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7: Functional Analysis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8: Integration &amp; V&amp;V ← TODAY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now know: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define systems (requirements)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design systems (architecture)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analyze systems (functional decomposition)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to verify and validate systems (V&amp;V)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is the core SE lifecycle.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Sessions 9-16 Ahead: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Module 3: Management (Sessions 9-12)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Project &amp; Risk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10: Decision &amp; Quality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11: Agreement &amp; Infrastructure Management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12: Specialty Engineering (Safety &amp; Security)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Module 4: Lifecycle &amp; Trends (Sessions 13-16)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13: Life Cycle Cost (LCC) &amp; TCO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14: Case Study 2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15: Technical Management &amp; Enabling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16: Emerging Trends in 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Coming up: Management processes that enable successful SE execution.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Mid-semester exam covers Sessions 1-8. Use this session as your integration point.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MID-SEMESTER CHECKPOINT: SESSIONS 1-8 COMPLETE</a:t>
            </a:r>
            <a:br/>
            <a:br/>
            <a:r>
              <a:t>MODULE 1: Foundations (Sessions 1-4)</a:t>
            </a:r>
            <a:br/>
            <a:r>
              <a:t>  ✓ Why SE matters</a:t>
            </a:r>
            <a:br/>
            <a:r>
              <a:t>  ✓ SE fundamentals</a:t>
            </a:r>
            <a:br/>
            <a:r>
              <a:t>  ✓ Traditional vs MBSE</a:t>
            </a:r>
            <a:br/>
            <a:r>
              <a:t>  ✓ Requirements engineering</a:t>
            </a:r>
            <a:br/>
            <a:br/>
            <a:r>
              <a:t>MODULE 2: Design &amp; Analysis (Sessions 5-8)</a:t>
            </a:r>
            <a:br/>
            <a:r>
              <a:t>  ✓ System architecture</a:t>
            </a:r>
            <a:br/>
            <a:r>
              <a:t>  ✓ Case study 1</a:t>
            </a:r>
            <a:br/>
            <a:r>
              <a:t>  ✓ Functional analysis</a:t>
            </a:r>
            <a:br/>
            <a:r>
              <a:t>  ✓ Integration &amp; V&amp;V ← TODAY</a:t>
            </a:r>
            <a:br/>
            <a:br/>
            <a:r>
              <a:t>**Core SE Lifecycle Complete**</a:t>
            </a:r>
            <a:br/>
            <a:br/>
            <a:r>
              <a:t>AHEAD: Modules 3-4 (Sessions 9-16)</a:t>
            </a:r>
            <a:br/>
            <a:r>
              <a:t>  • Management (project, risk, quality)</a:t>
            </a:r>
            <a:br/>
            <a:r>
              <a:t>  • Lifecycle cost</a:t>
            </a:r>
            <a:br/>
            <a:r>
              <a:t>  • Emerging trends</a:t>
            </a:r>
            <a:br/>
            <a:br/>
            <a:r>
              <a:t>**Mid-semester exam: Sessions 1-8**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 and 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lock in the key takeaways from Session 8: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1: Verification asks 'Did we build it right?' (meets specs), Validation asks 'Did we build the right thing?' (meets needs). Both required.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2: Integration strategy matters. Use sandwich integration (top-down + bottom-up) for automotive systems. Avoid big bang.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3: Four verification methods (test, analysis, inspection, demonstration). Use multiple methods for safety-critical requirements.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4: Test at four levels (unit, integration, system, acceptance). Each level serves a purpose. Don't skip levels.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5: Coverage is necessary but not sufficient. Achieve 100% requirements coverage and ISO 26262 code coverage targets.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6: Bidirectional traceability from need → requirement → design → code → test → evidence is your proof.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Takeaway 7: Validation must include edge cases, human factors, and real-world scenarios. Simulator alone is insufficient.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PRACTICE EXERCISE: Develop V&amp;V Plan for Adaptive Cruise Control (ACC)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Create a 5-8 page V&amp;V plan for an Adaptive Cruise Control system covering: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 Strategy (integration approach, verification methods)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Levels (unit, integration, system, acceptance examples)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Requirements Verification Traceability Matrix (RVTM) for 10 ACC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Coverage Plan (code, requirements, scenarios)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Schedule (timeline for 12-week V&amp;V program)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Deliverables: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 Plan document (follow structure from Slide 23)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RVTM with 10 requirements mapped to test cases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test sequence diagram (show order of component integration)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Due: One week before mid-semester exam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Grading: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 strategy completeness (30%)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RVTM quality (30%)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coverage plan (20%)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sequence (10%)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Professional formatting (10%)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exercise prepares you for the mid-semester exam and real-world V&amp;V planning.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PPT Content:</a:t>
            </a:r>
          </a:p>
          <a:p>
            <a:pPr>
              <a:defRPr sz="1400">
                <a:solidFill>
                  <a:srgbClr val="787878"/>
                </a:solidFill>
                <a:latin typeface="Consolas"/>
              </a:defRPr>
            </a:pPr>
            <a:r>
              <a:t>SESSION 8 KEY TAKEAWAYS</a:t>
            </a:r>
            <a:br/>
            <a:br/>
            <a:r>
              <a:t>1. Verification (right) vs Validation (right thing) → Both needed</a:t>
            </a:r>
            <a:br/>
            <a:r>
              <a:t>2. Sandwich integration (top + bottom) for automotive</a:t>
            </a:r>
            <a:br/>
            <a:r>
              <a:t>3. Four verification methods → Use multiple for safety</a:t>
            </a:r>
            <a:br/>
            <a:r>
              <a:t>4. Four test levels (unit → accept) → Don't skip</a:t>
            </a:r>
            <a:br/>
            <a:r>
              <a:t>5. 100% requirements coverage + ISO 26262 targets</a:t>
            </a:r>
            <a:br/>
            <a:r>
              <a:t>6. Bidirectional traceability = proof</a:t>
            </a:r>
            <a:br/>
            <a:r>
              <a:t>7. Validate edge cases + human factors + real-world</a:t>
            </a:r>
            <a:br/>
            <a:br/>
            <a:r>
              <a:t>PRACTICE EXERCISE: ACC V&amp;V Plan</a:t>
            </a:r>
            <a:br/>
            <a:br/>
            <a:r>
              <a:t>Create 5-8 page V&amp;V plan covering:</a:t>
            </a:r>
            <a:br/>
            <a:r>
              <a:t>  • V&amp;V strategy (integration, methods)</a:t>
            </a:r>
            <a:br/>
            <a:r>
              <a:t>  • Test levels (examples for each)</a:t>
            </a:r>
            <a:br/>
            <a:r>
              <a:t>  • RVTM (10 requirements)</a:t>
            </a:r>
            <a:br/>
            <a:r>
              <a:t>  • Coverage plan (code, req, scenarios)</a:t>
            </a:r>
            <a:br/>
            <a:r>
              <a:t>  • Test schedule (12-week timeline)</a:t>
            </a:r>
            <a:br/>
            <a:br/>
            <a:r>
              <a:t>Due: 1 week before mid-semester</a:t>
            </a:r>
            <a:br/>
            <a:r>
              <a:t>Grading: Strategy 30%, RVTM 30%, Coverage 20%</a:t>
            </a:r>
            <a:br/>
            <a:br/>
            <a:r>
              <a:t>**Prepares you for exam and real-world V&amp;V**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📝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Additional Resources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Approach: Process-Focused/Technical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session requires balancing theoretical V&amp;V concepts with practical automotive application. The pedagogy emphasizes: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Clear Distinctions: Verification vs validation is foundational. Use multiple examples to cement this.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Practical Integration: Sandwich integration is industry standard. Show why through LKA example.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Consequences: Use Tesla, Toyota cases to show V&amp;V failures have real costs.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Comprehensive Coverage: Four methods × four levels = complete V&amp;V framework.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Traceability Emphasis: This is what separates amateur from professional V&amp;V.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Mid-Semester Integration: This session serves as the capstone for Sessions 1-7. Explicitly connect V&amp;V back to requirements (S4), architecture (S5), and functional analysis (S7).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"Isn't verification just testing?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Response: No. Testing is ONE verification method. Analysis (simulation, math), inspection (review), and demonstration are equally valid. Show examples where testing is insufficient (timing analysis, thermal analysis).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"Why is integration so complicated? Just connect everything.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Response: Use the LKA debugging nightmare example (Slide 8). When 8 components have 28 interactions, big bang fails. Show how sandwich systematically reduces debug complexity.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"100% code coverage means zero bugs, right?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Response: No. Coverage metrics tell you what you tested, not what you didn't test. Therac-25 example: all paths tested, but race condition timing not tested. Coverage is necessary, not sufficient.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"Validation seems subjective. How do we measure it?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Response: Validation IS more subjective than verification, but still measurable: user surveys, field trial data, incident rates, customer acceptance criteria. Show AEB example: measure actual collision reduction in fleet.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Critical timing considerations: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3 (Verification Methods) can run long if you demo tools. Limit tool demos to 2 minutes each, focus on concepts.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 4 (Testing Levels) is the most detailed. Budget full 12 minutes. Students need concrete examples at each level.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Case Study (Slide 26-27) can generate extensive discussion. Set 8-minute timer, defer detailed debate to case study session.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Reserve 5 minutes at end for Q&amp;A on mid-semester exam scope.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 on time: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Condensed: Combine Slides 12-15 into high-level integration overview (5 min instead of 12 min)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Skip: Slide 18 (RVTM details) can be assigned as reading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extra time: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Tool demonstration: Show actual DOORS/Jama traceability or CANoe integration test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V&amp;V plan review: Walk through real automotive V&amp;V plan (if available)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Extended case discussion: Tesla Autopilot regulatory response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7: Poll students - "Who would choose big bang? Who incremental?" Show of hands before revealing answer.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10: Interactive question - "Is AEB verification or validation?" Have students argue both sides.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16: Quick exercise - "For this requirement (provide example), which verification method?" Students vote.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22: "What scenarios should we test for LKA acceptance?" Brainstorm as group, capture on whiteboard.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26: "What V&amp;V would have prevented Tesla crash?" Small group discussion (3 minutes).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class: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Load Tesla Autopilot crash video (2-3 minute clip)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V-Model diagram animation showing bidirectional flow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Print sample RVTM for handout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Load CANoe or similar tool for optional integration test demo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 ] Prepare ACC V&amp;V plan template for exercise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Optional materials: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 automotive V&amp;V plan (redacted) for show-and-tell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 Part 4 (V&amp;V requirements) excerpt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reports from automotive projects (sanitized)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Formative Assessment (During Session):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check after Slide 11: "Give me one verification example and one validation example for your car's ABS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check after Slide 19: "At which test level would you find this defect?" (provide scenario)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Quick check after Slide 25: "If requirement SR-045 changes, what must you update?" (test traceability)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Summative Assessment (Exercise):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 V&amp;V Plan development (detailed in Slide 30)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Graded against professional V&amp;V plan standards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Provides mid-semester exam preparation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Mid-Semester Exam Coverage: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 contributes 15-20% of mid-semester exam questions: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vs validation distinction (definition question)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Integration strategy selection (scenario question)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Verification method selection for requirements (application question)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 level identification (case-based question)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RVTM interpretation (analysis question)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successfully understand Session 8 if they can: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verification and validation, giving automotive examples of each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Select appropriate integration strategy for a given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Choose verification methods for different requirement types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Design test cases at all four test levels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Calculate test coverage and identify gaps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 traceability matrix linking requirements to tests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Analyze V&amp;V failures in case studies and propose improvements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Backward Links: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2: V-Model right side connects to Session 2's V-Model introduction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Requirements from Session 4 must have verification methods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5: Architecture from Session 5 drives integration strategy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7: Functions from Session 7 are verified at unit/integration levels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Forward Links: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9: V&amp;V risks are managed through risk management processes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10: V&amp;V is a key quality management activity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12: Safety V&amp;V (ISO 26262) is covered in specialty engineering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14: Case Study 2 will apply V&amp;V analysis to another failure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Standards: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ISO/IEC/IEEE 15288:2023 (Systems and software engineering - System life cycle processes)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26262:2018 Part 4 (Product development at the system level - V&amp;V)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Automotive SPICE v3.1 (SWE.4: Software Unit Verification, SWE.5: Software Integration)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Tools: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VectorCAST (code coverage)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IBM DOORS / Jama Connect (requirements traceability)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CANoe / CANalyzer (integration testing)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dSPACE / ETAS (HIL testing)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Further Reading: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"Software Testing" by Ron Patton (Chapter 3: Test Levels)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"Systems Engineering Handbook" INCOSE (Chapter 7: Verification and Validation)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ISO 26262 Part 4 (full standard for automotive safety V&amp;V)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END OF SESSION 8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Prepared for: Automotive Systems Engineering (AE ZG517 / AEL ZG517)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Session: 8 of 16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Status: Ready for PPT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Estimated PPT Slides: 28-30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Instructor Preparation Time: 3-4 hours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