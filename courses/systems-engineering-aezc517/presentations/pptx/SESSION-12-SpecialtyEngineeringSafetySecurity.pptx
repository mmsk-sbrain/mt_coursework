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marp: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theme: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paginate: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math: katex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header: 'Session 12: Specialty Engineering - Safety &amp; Security'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Specialty Engineering - Safety &amp;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Session 12 | Automotive Vehicles (AEL ZC441)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Welcome to Session 12. Today we tackle a critical reality of modern automotive systems engineering: Safety and Security are no longer separate concerns - they are deeply intertwined.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Get safety wrong, and people die. Get security wrong, and your safe system becomes a weapon. Today, we learn how to engineer both simultaneously.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Previous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connect our journey to where we are today: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1: We learned from engineering failures. Many were safety failures - Therac-25, Toyota unintended acceleration.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4: We learned requirements engineering. Safety and security requirements need EXTRA rigor.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8: We learned verification and validation. Safety-critical systems require specialized V&amp;V approaches.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9: We learned risk management and DFMEA. Today, we go deeper into safety-specific risk analysis.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Today's focus: Specialty Engineering - the disciplines that keep systems safe, secure, and usable.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Why Safety &amp; Security Engineering Is Critical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the stakes we're dealing with: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Safety Statistics: — 1.19 million road traffic deaths globally per year (WHO)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10-30% of crashes involve system/component failures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Average recall cost: $300M+ for major OEMs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Legal liability: Multi-billion dollar settlements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Security Incidents: — 2015: Jeep Cherokee hacked remotely, 1.4M vehicles recalled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2016: Tesla Model S hacked via browser exploit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2020: Mercedes E-Class encryption broken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2022: Toyota production halted due to supplier cyberattack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convergence: — Modern vehicles: 100+ ECUs, 100M+ lines of code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Connected vehicles: Remote attack surface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Autonomous vehicles: Safety + Security + AI uncertainty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insight: A cybersecurity breach can CAUSE safety failures. These disciplines must be integrated.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why specialty engineering is not optional - it's fundamental to modern automotive systems engineering.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Real-World Example - The Jeep Cherokee Hack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Remember this case: July 2015, security researchers Charlie Miller and Chris Valasek demonstrated: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attack: — Remote access via cellular connection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Exploited vulnerability in Uconnect infotainment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Gained control of steering, brakes, transmission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Attack possible from anywhere in the US (cellular network)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impact: — 1.4 million vehicles recalled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$1.4 billion settlement fund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NHTSA investigation and new regulations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Fundamental shift in automotive cybersecurity awareness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failed: — Security failure: Infotainment system connected to CAN bus without isolation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failure: No defense-in-depth - single exploit compromised safety-critical functions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Interoperability failure: Mixing security zones (entertainment + safety-critical)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Human factors failure: No driver indication of compromise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demonstrates why we need INTEGRATED specialty engineering.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Today, I'll show you how to prevent this through systematic safety and security engineering.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 Deceptively Complex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give you a challenge. Your manager says: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'Design an Adaptive Cruise Control system with automatic emergency braking.'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From Session 4, you know how to write requirements. But now, consider the specialty engineering questions: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Safety Questions: — What if the radar sensor fails? (Safety hazard)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if the system brakes when it shouldn't? (False positive - safety risk)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if it doesn't brake when it should? (False negative - safety critical)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What's the acceptable failure rate? (Quantitative safety requirement)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safety integrity level is required? (ASIL classification)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Security Questions: — Can an attacker spoof the radar? (Sensor security)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 someone remotely disable emergency braking? (System security)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 they cause unintended braking? (Safety through security)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 we authenticate sensor data? (Secure communication)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Human Factors Questions: — Will drivers understand when the system is active? (Situational awareness)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Will they over-rely on it? (Automation complacency)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 they override it in emergencies? (Human-in-the-loop)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 the interface intuitive under stress? (Cognitive load)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Suddenly, our 'simple' ACC is a complex specialty engineering challenge.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Safety Analysis - The Systematic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Safety engineering is NOT about testing more. It's about ANALYZING systematically to identify what could go wrong BEFORE it happens.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safety analysis process: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Hazard Identification — What can go wrong? (Brainstorming, historical data, standards)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'Vehicle accelerates when driver didn't command it'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Risk Analysis — How likely? (Probability)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severe? (Consequence)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 = Severity × Probability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Risk Evaluation — Is this risk acceptable?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What's our risk tolerance?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Automotive: ISO 26262 defines acceptability criteria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Risk Treatment — Eliminate (design out the hazard)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Mitigate (reduce probability or severity)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Accept (if below threshold)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Transfer (insurance, contractual)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5: Verification — Prove the risk has been adequately addressed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testing, analysis, review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Three powerful methods we'll explore: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Fault Tree Analysis (FTA) - Top-down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Failure Mode and Effects Analysis (FMEA) - Bottom-up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HAZOP (Hazard and Operability Study) - Systematic deviation analysis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each.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Fault Tree Analysis (FTA)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Fault Tree Analysis (FTA) is a TOP-DOWN deductive method.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it works: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Start with top event (hazardous situation):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'Vehicle fails to brake for obstacle'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Work backward — what could cause this?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Radar sensor failure 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processing failure 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Brake actuator failure 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Software algorithm failure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Continue decomposing each cause: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Radar sensor failure caused by: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Power supply failure AND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backup sensor available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Use logic gates: — AND gate: All inputs must occur (Power fail AND no backup)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OR gate: Any input causes event (Sensor OR ECU OR actuator fail)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Calculate probability: — If each component has known failure rate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AND gate: P(A AND B) = P(A) × P(B)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OR gate: P(A OR B) = P(A) + P(B) - P(A)×P(B)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Real automotive example - Brake System FTA: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Top Event: 'Loss of braking function'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├─ OR ─ Hydraulic failure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│   ├─ AND ─ Master cylinder leak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│   │   ├─ Seal degradation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│   │   └─ No brake fluid level warning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│   └─ OR ─ Brake line rupture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├─ OR ─ Electronic control failure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│   ├─ AND ─ ECU failure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│   │   ├─ Software bug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│   │   └─ Watchdog timer disabled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│   └─ OR ─ Sensor failure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└─ OR ─ Driver input failure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└─ Pedal mechanism broken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FTA benefits: — Visual representation of failure paths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Quantitative risk assessment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Identifies single points of failure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Shows where redundancy is needed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FTA limitations: — Time-consuming for complex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Requires knowing all failure modes upfront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Complement with bottom-up methods (FMEA)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Failure Mode and Effects Analysis (FMEA)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FMEA is a BOTTOM-UP inductive method. We looked at this in Session 9 for design. Now we apply it specifically for safety.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FMEA Process: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Identify components/functions — Example: ACC radar sensor, ECU, brake actuator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For each component, ask: — What are the possible failure modes? (How can it fail?)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are the effects? (What happens when it fails?)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are the causes? (Why does it fail?)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 we detect it? (How do we know it failed?)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Rate each failure mode: — Severity (S): 1-10 (1=no effect, 10=catastrophic)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Occurrence (O): 1-10 (1=rare, 10=frequent)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Detection (D): 1-10 (1=certain detection, 10=no detection)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RPN (Risk Priority Number): S × O × 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Prioritize actions: — High RPN = high priority for mitigation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example - ACC Radar Sensor FMEA: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Component | Failure Mode | Effect | S | Cause | O | Detection | D | RPN | Action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|-----------|--------------|--------|---|-------|---|-----------|---|-----|--------|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Radar sensor | No output signal | Loss of ACC/AEB function | 9 | Power supply failure | 3 | Self-diagnostic detects | 2 | 54 | Add redundant power, driver warning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Radar sensor | False object detection | Unintended braking | 8 | Rain/snow interference | 5 | Plausibility check with camera | 4 | 160 | Sensor fusion, false positive filtering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Radar sensor | Degraded range | Reduced reaction time | 7 | Sensor blockage (dirt) | 6 | Range monitoring | 3 | 126 | Sensor cleaning system, blockage detection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ECU | Processing delay &gt;100ms | Late braking response | 9 | CPU overload | 2 | Watchdog timer | 2 | 36 | Task prioritization, WCET analysis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Brake actuator | Stuck inactive | No emergency braking | 10 | Mechanical jam | 1 | Actuation monitoring | 3 | 30 | Regular maintenance, redundancy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ISO 26262 enhancement: — In functional safety FMEA, we add ASIL (Automotive Safety Integrity Level)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ASIL A (lowest) to ASIL D (highest)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Determines required safety measures and verification rigor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difference from Session 9: — Design FMEA: Focus on design robustness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FMEA: Focus on hazardous failures with safety consequences — Safety FMEA feeds into HARA (next section)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FMEA benefits: — Systematic, comprehensive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Quantitative prioritization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Cross-functional team exercise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FMEA limitations: — Doesn't capture combinations of failures (use FTA for that)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Time-intensive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depends on team expertise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HAZOP (Hazard and Operability Study)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HAZOP is a structured brainstorming method using guide words to systematically explore deviations.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HAZOP Guide Words: — NO/NOT: Complete negation (e.g., no braking)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MORE: Quantitative increase (e.g., more braking force)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LESS: Quantitative decrease (e.g., less braking force)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 WELL AS: Qualitative addition (e.g., braking + steering)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OF: Qualitative decrease (e.g., only front brakes)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REVERSE: Opposite (e.g., acceleration instead of braking)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OTHER THAN: Complete substitution (e.g., steering instead of braking)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HAZOP Process: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Define system and boundaries — Example: ACC with AEB system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Break into nodes/sections — Node 1: Object detection (radar + camera)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Node 2: Decision logic (ECU)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Node 3: Brake actuation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For each node, apply guide words: — Design intent: 'Radar detects obstacle at 150m range'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NO: Radar detects NO obstacle → Missed detection → Collision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MORE: Radar range MORE than 150m → Earlier braking → False positives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LESS: Radar range LESS than 150m → Late detection → Insufficient stopping distance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REVERSE: Radar reports object moving toward instead of away → Wrong TTC calculation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Analyze each deviation: — Is it hazardous?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are the causes?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are the consequences?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safeguards exist?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actions are needed?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HAZOP for ACC 'Set Speed' function: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Parameter | Guide Word | Deviation | Cause | Consequence | Safeguard | Action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|-----------|------------|-----------|-------|-------------|-----------|--------|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Speed | NO | No speed set | Switch failure | No ACC activation | Driver awareness | Add diagnostic check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Speed | MORE | Speed set higher than current | Sensor error | Sudden acceleration | Speed limit check | Add plausibility check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Speed | LESS | Speed set lower than current | Software bug | Hard braking | Deceleration rate limit | Code review, testing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Speed | REVERSE | Speed increases when should decrease | Control logic inversion | Dangerous acceleration | Independent safety monitor | Add inverse logic check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HAZOP benefits: — Catches creative failure modes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Good for complex interactions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Team-based (different perspectives)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HAZOP limitations: — Requires experienced facilitator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 be exhaustive (time-consuming)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Qualitative (not quantitative like FTA/FMEA)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application: — HAZOP used in early design phases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FMEA used for detailed component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FTA used for critical hazard investigation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three are complementary - use together for comprehensive safety analysis —--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2: HARA and ISO 26262 Functional Safety (Slides 12-15, ~12 minutes)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ISO 26262 - The Automotive Functional Safety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ISO 26262 is the international standard for functional safety in automotive electrical/electronic systems. It's based on IEC 61508 but tailored for automotive.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is Functional Safety? — 'Absence of unreasonable risk due to hazards caused by malfunctioning behavior of E/E systems'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Focus: Safety failures caused by SYSTEM MALFUNCTIONS (not physical crashes, driver error, etc.)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ISO 26262 Structure (12 parts): — Part 1: Vocabulary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2: Management of functional safety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3: Concept phase (← HARA is here)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4: Product development - System level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5: Product development - Hardware level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6: Product development - Software level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7: Production and operation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8: Supporting processes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9: ASIL-oriented and safety-oriented analyses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10: Guidelines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11: Semiconductors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12: Motorcycles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concepts: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Safety Lifecycle (V-Model for safety):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Concept phase → System development → Hardware/Software development → Integration → Testing → Operation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Each phase has safety requirements, activities, and work products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ASIL (Automotive Safety Integrity Level): — ASIL A (lowest) → B → C → ASIL D (highest)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Determines rigor of safety requirements and verification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Higher ASIL = more stringent methods, more verification, more independence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Safety Mechanisms: — Technical measures to detect/control faults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Examples: Watchdog timers, CRC checks, redundancy, diverse programming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Traceability: — Every safety requirement must trace to hazard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Every safety requirement must be verified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Bidirectional traceability (remember Session 4!)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ISO 26262 is MANDATORY for new vehicle developments in most markets.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the critical starting point: HARA.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HARA - Hazard Analysis and 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HARA is the foundation of ISO 26262. It determines WHAT safety measures are needed and HOW rigorous they must be.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HARA Process (4 steps):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Hazard Identification — Systematically identify hazards (What can go wrong at vehicle level?)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Focus on E/E system malfunctions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Sources: Brainstorming, FTA, FMEA, historical data, standards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hazards for ACC/AEB: — Unintended braking (false positive)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Failure to brake (false negative)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Insufficient braking force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Delayed braking response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Loss of ACC function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Situational Analysis — In what driving situations can this hazard occur?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Operational situations: Highway, urban, parking, off-road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— Hazard: 'Unintended full braking'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Situation 1: Highway at 120 km/h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Situation 2: Urban at 50 km/h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Situation 3: Parking lot at 10 km/h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Risk Classification (The core of HARA)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each hazard + situation, rate three parameters: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a) Severity (S) — Consequence of hazard: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S0: No injuries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S1: Light to moderate injuries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S2: Severe/life-threatening injuries (survival probable)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S3: Life-threatening/fatal injuries (survival uncertain)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b) Exposure (E) — Probability of operational situation: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E0: Incredible (&lt;0.1% of operating time)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E1: Very low probability (0.1%-1%)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E2: Low probability (1%-10%)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E3: Medium probability (10%-50%)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E4: High probability (&gt;50%)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c) Controllability (C) — Can driver/others avoid harm?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C0: Controllable in general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C1: Simply controllable (&gt;99% of drivers)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C2: Normally controllable (&gt;90% of drivers)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C3: Difficult/uncontrollable (&lt;90% of drivers)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ASIL Determination — Combine S + E + C using ISO 26262 table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Result: ASIL QM (no safety requirements) or ASIL A/B/C/D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ASIL Table (simplified):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Severity | Exposure | Controllability | ASIL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|----------|----------|-----------------|------|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S3 | E4 | C3 | ASIL D (Highest)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S3 | E3 | C3 | ASIL D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S3 | E4 | C2 | ASIL C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S2 | E4 | C3 | ASIL C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S3 | E2 | C2 | ASIL B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S2 | E3 | C2 | ASIL B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S1 | E4 | C2 | ASIL A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S1 | E2 | C1 | QM (Quality Management)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a real example.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HARA Example - Adaptive Cruise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work through a complete HARA for an ACC system.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HARA Example - ACC System: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ID | Hazard | Situation | S | E | C | ASIL | Rationale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|----|--------|-----------|---|---|---|------|-----------|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H-ACC-01 | Unintended full braking | Highway 120 km/h, dry road, following vehicle | S3 | E3 | C2 | C | S3: Rear-end collision likely fatal&lt;br&gt;E3: ACC used 20% on highway&lt;br&gt;C2: Most drivers can steer to shoulder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H-ACC-02 | Unintended full braking | Urban 50 km/h, intersection | S2 | E2 | C1 | A | S2: Rear-end at lower speed&lt;br&gt;E2: ACC rarely used in urban&lt;br&gt;C1: Driver easily stops/steers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H-ACC-03 | Failure to brake for stopped vehicle | Highway 120 km/h, lead vehicle emergency stops | S3 | E4 | C3 | D | S3: Fatal collision likely&lt;br&gt;E4: Common scenario&lt;br&gt;C3: Insufficient time to react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H-ACC-04 | Insufficient braking force | Highway 100 km/h, lead vehicle decelerates | S2 | E4 | C2 | B | S2: Minor collision possible&lt;br&gt;E4: Common scenario&lt;br&gt;C2: Driver can brake manually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H-ACC-05 | Late braking response (&gt;500ms delay) | Highway 120 km/h, lead vehicle brakes | S3 | E3 | C2 | C | S3: Collision likely severe&lt;br&gt;E3: Moderate frequency&lt;br&gt;C2: Driver can react if alerted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H-ACC-06 | Loss of ACC function | Highway cruising | S0 | E4 | C0 | QM | S0: No safety impact (driver takes over)&lt;br&gt;E4: N/A&lt;br&gt;C0: Normal driving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this tells us: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ASIL D (H-ACC-03: Failure to brake for stopped vehicle):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Highest rigor required — Independent safety element required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Extensive verification (fault injection, statistical testing)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 qualification for software tools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Hardware random failure metrics (PMHF &lt;10 FIT)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Software development per ASIL D (defensive programming, diverse implementation)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ASIL C (H-ACC-01, H-ACC-05):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 rigor (but less than 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mechanisms required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Comprehensive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ASIL B (H-ACC-04):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Moderate rigor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Basic safety mechanisms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Standard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ASIL A (H-ACC-02):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Low rigor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Best practices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QM (H-ACC-06):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management (no safety requirements)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Standard development process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insight: — Different hazards → Different ASIL → Different development effort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ASIL D functions may require 10x more effort than ASIL 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 must consider ASIL decomposition (break ASIL D into multiple lower ASIL)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Safety Concept and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After HARA, we develop the Safety Concept — HOW we'll address each hazard.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From HARA to Implementation: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Safety Goals (Top-level)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One safety goal per hazard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Inherits ASIL from hazard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(H-ACC-03: Failure to brake): — SG-ACC-03: 'Prevent collision with stopped vehicle ahead' [ASIL D]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Functional Safety Requirements (FSR) — Decompose safety goal into specific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Allocate to vehicle functions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FSRs for SG-ACC-03: — FSR-ACC-03.1: 'Detect stopped vehicles at ≥150m range with 99.9% probability' [ASIL D]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FSR-ACC-03.2: 'Calculate time-to-collision (TTC) with ≤50ms latency' [ASIL D]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FSR-ACC-03.3: 'Initiate emergency braking when TTC &lt;2.5s' [ASIL D]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FSR-ACC-03.4: 'Achieve minimum deceleration of 6 m/s² within 300ms' [ASIL D]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FSR-ACC-03.5: 'Provide independent monitoring of braking function' [ASIL D]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Technical Safety Requirements (TSR) — Allocate FSRs to system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Hardware + Software + Safety Mechanisms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TSRs: — TSR-ACC-HW-01: 'Radar sensor shall have dual-channel processing' [ASIL D]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TSR-ACC-SW-01: 'Object detection algorithm shall use sensor fusion (radar + camera)' [ASIL D]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TSR-ACC-SW-02: 'Software shall implement E2E (end-to-end) protection for CAN messages' [ASIL D]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TSR-ACC-SM-01: 'Independent safety monitor shall check TTC calculation with diverse algorithm' [ASIL D]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Safety Mechanisms (Examples for ASIL D): — Hardware level: — Dual-core lockstep processor (detects transient faults)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ECC (Error Correcting Code) memory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Watchdog timer with windowed monitoring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Voltage/clock monitoring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Software level: — Plausibility checks (range, rate-of-change)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Defensive programming (assertions, boundary checks)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Control flow monitoring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CRC for data integrity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E2E protection for communication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level: — Sensor fusion (radar + camera)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Diverse redundancy (different algorithms)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 state transition (warn driver, gradual degradation)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Verification per ASIL D: — Back-to-back testing (compare diverse implementations)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Fault injection (test safety mechanisms)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 coverage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Code coverage (MC/DC for ASIL 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Independent safety assessment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Traceability (critical for ISO 26262):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Hazard → Safety Goal → FSR → TSR → Implementation → Test Cases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takeaway: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ISO 26262 provides a SYSTEMATIC framework from hazard identification to verified safe system. It's not bureaucracy - it's disciplined engineering that saves lives.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3: Cybersecurity in Automotive Systems (Slides 16-19, ~12 minutes)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Cybersecurity Imperative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Modern vehicles are computers on wheels — and computers can be hacked.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evolution of automotive attack surface: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1990s vehicle: — Standalone ECUs, no external connectivity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Physical access required for any attack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Attack surface: ~1 (diagnostic port)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2010s vehicle: — 100+ ECUs, connected via CAN/LIN/FlexRay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Cellular (telematics), WiFi, Bluetooth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Attack surface: ~10-20 entry points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2020s+ vehicle: — Vehicle-to-Everything (V2X) communication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Over-the-air (OTA) updates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Cloud connectivity, mobile apps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Third-party app integration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Attack surface: 100+ potential entry points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cybersecurity is critical: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Safety impact: — Jeep Cherokee: Hacked steering/brakes (safety-critical)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Tesla: Hacked via browser, could control vehicle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Attack on safety function = SAFETY FAILURE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Privacy impact: — Vehicles collect location, driving behavior, personal data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GDPR and privacy regulations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Data breach liability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Business impact: — Recalls (1.4M Jeep vehicles)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Brand reputation damage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Legal liability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Regulatory drivers: — UN R155 (Cybersecurity): Mandatory for new vehicle types (2024+)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UN R156 (Software Updates): Mandatory for OTA updates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SAE J3061: Cybersecurity guidebook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ISO/SAE 21434: Automotive cybersecurity standard (2021)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convergence of safety and security: — Cybersecurity vulnerability can CAUSE safety hazard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Disable AEB via remote exploit → Collision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 26262 + ISO 21434 must be integrated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why we need systematic cybersecurity engineering — not just penetration testing.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ISO/SAE 21434 - Automotive Cybersecurity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ISO/SAE 21434 (published 2021) is to cybersecurity what ISO 26262 is to functional safety.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Cybersecurity Engineering Lifecycle: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Concept Phase: — Asset identification: What are we protecting? (Data, functions, vehicle control)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Threat modeling: What attacks are possible? (STRIDE, attack trees)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 assessment: TARA (Threat Analysis and Risk Assessment)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Cybersecurity goals: What must be protected and to what level?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Product Development: — Cybersecurity requirements: Derived from cybersecurity goals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Design: Security architecture, defense-in-depth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Implementation: Secure coding, cryptography, key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Verification: Penetration testing, fuzz testing, vulnerability scanning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Production: — Secure manufacturing (prevent supply chain attacks)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injection and provisioning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Operations: — Vulnerability monitoring (CVE databases)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Incident response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Security updates (OTA)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Decommissioning: — Secure data deletion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Certificate revocation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concepts: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CAL (Cybersecurity Assurance Level): — Similar to ASIL for safety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 1 (low) → CAL 4 (high)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Determined by attack feasibility and impact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Higher CAL = more rigorous security measures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TARA (Threat Analysis and Risk Assessment): — Parallel to HARA for safety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Identify assets → Threats → Attack paths → Risk rating → Cybersecurity goals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how TARA works.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TARA - Threat Analysis and 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TARA is the cybersecurity equivalent of HARA. It identifies threats and determines required security levels.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TARA Process (5 steps):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Asset Identification — Assets: What has value and must be protected?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(ACC/AEB system): — Asset 1: Vehicle control (braking, acceleration)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Asset 2: Driver personal data (location, routes, behavior)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Asset 3: Vehicle identity (VIN, authentication credentials)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Asset 4: Software/firmware integrity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Threat Scenario Identification — Use STRIDE model or attack libraries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STRIDE Model: — Spoofing (fake identity)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Tampering (modify data/code)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Repudiation (deny actions)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Information disclosure (data leak)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Denial of service (make unavailable)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Elevation of privilege (gain unauthorized access)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threats for ACC: — T1: Spoof radar sensor data (S - Spoofing)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T2: Tamper with ECU software to disable AEB (T - Tampering)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T3: Intercept and modify CAN messages (T - Tampering)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T4: Denial of service on brake control (D - DoS)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T5: Extract encryption keys from ECU (I - Information disclosure)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Attack Path Analysis — How can attacker achieve threat?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Attack vector: Entry point (cellular, OBD-II, Bluetooth, etc.)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Attack feasibility: How difficult?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(T2: Tamper with ECU software): — Attack path: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Exploit vulnerability in infotainment system (cellular connection)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Pivot to internal vehicle network (CAN bus)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Send malicious CAN messages to ACC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Exploit buffer overflow in ECU to inject code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Modify safety-critical braking function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Attack Feasibility Rating (per ISO 21434): — Elapsed time: Minutes to months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Specialist expertise: Layman to expert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Knowledge of system: Public to confidential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Window of opportunity: Unlimited to limited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Equipment: Standard to bespoke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Feasibility: Very High / High / Medium / Low / Very Low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Impact Rating — Safety impact: Could cause injury/death? (S0-S3, like HARA)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Financial impact: Cost of attack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Operational impact: Vehicle unusable?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Privacy impact: Data exposure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5: Risk Determination — Combine Attack Feasibility + Impact — Result: CAL (Cybersecurity Assurance Level) 1-4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Risk Matrix (simplified):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Impact | Attack Feasibility | CAL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|--------|--------------------|-----|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Severe (Safety) | High | CAL 4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Severe (Safety) | Medium | CAL 3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Major (Operational) | High | CAL 3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Moderate | Medium | CAL 2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Minor | Low | CAL 1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TARA for ACC: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Threat ID | Threat | Attack Feasibility | Impact | CAL | Cybersecurity Goal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|-----------|--------|--------------------|--------|-----|---------------------|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T1 | Spoof radar sensor data | Medium (requires RF equipment) | Severe (false braking or no braking) | CAL 3 | CG-1: Protect sensor data integrity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T2 | Tamper with ECU software | High (remote via cellular) | Severe (disable AEB) | CAL 4 | CG-2: Prevent unauthorized software modification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T3 | Modify CAN messages | High (access via OBD-II) | Severe (vehicle control) | CAL 4 | CG-3: Authenticate and protect CAN messages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T4 | DoS on brake control | Medium (requires CAN access) | Severe (loss of braking) | CAL 3 | CG-4: Ensure availability of safety functions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T5 | Extract encryption keys | Low (requires physical access + expert) | Major (enables other attacks) | CAL 2 | CG-5: Protect cryptographic material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From cybersecurity goals to requirements (like safety):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CG-2: Prevent unauthorized software modification [CAL 4]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CSR-2.1: 'ECU shall implement secure boot with cryptographic verification of firmware integrity'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CSR-2.2: 'Software updates shall be authenticated using asymmetric cryptography (RSA-2048 or ECC-256)'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CSR-2.3: 'ECU shall detect tampering attempts and enter secure mode within 500ms'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takeaway: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TARA provides systematic framework to identify threats, assess risk, and determine cybersecurity requirements - parallel to HARA for safety.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Cybersecurity Architecture - Defense in Depth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key principle of cybersecurity architecture is Defense in Depth — multiple layers of protection.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Layered Security Architecture for Automotive: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Layer 1: Perimeter Security — Goal: Prevent unauthorized external access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Mechanisms: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Firewall between external interfaces (cellular, WiFi) and vehicle network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Intrusion Detection System (IDS) monitoring network traffic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Whitelisting of allowed communication patterns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Gateway ECU filters all external-to-CAN traffic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Layer 2: Network Security — Goal: Protect communication between ECUs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Mechanisms: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Network segmentation (separate safety-critical from infotainment)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Message Authentication Code (MAC) on CAN messages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End-to-End (E2E) protection (crypto + sequence counter)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Encrypted communication for sensitive data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ACC ECU verifies MAC on all received CAN messages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Layer 3: ECU Security — Goal: Protect individual ECUs from compromise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Mechanisms: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Secure boot: Verify firmware integrity before execution (cryptographic signature)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Runtime integrity: Monitor for code tampering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Memory protection: Isolate safety-critical code (MPU - Memory Protection Unit)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Secure storage: Encrypted key storage (HSM - Hardware Security Module)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ACC ECU uses secure boot - won't execute unsigned firmware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Layer 4: Application Security — Goal: Prevent exploitation of software vulnerabilities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Mechanisms: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Secure coding: MISRA C, buffer overflow protection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Input validation: Sanitize all external inputs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Least privilege: Functions run with minimum necessary permissions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Sandboxing: Isolate untrusted code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Radar processing validates all sensor data ranges before use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Layer 5: Data Security — Goal: Protect confidential and personal data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Mechanisms: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Encryption at rest (stored data)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Encryption in transit (transmitted data)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Access control (who can read what)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Data anonymization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Driver location data encrypted using AES-256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Layer 6: Monitoring and Response — Goal: Detect attacks and respond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Mechanisms: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IDS (Intrusion Detection): Detect anomalous behavior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Logging: Record security events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Incident response: Automated reaction to attacks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OTA updates: Patch vulnerabilities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Vehicle logs all authentication failures, reports to cloud for analysis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Real Architecture Example - ACC/AEB System: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External Interface (Cellular/WiFi)</a:t>
            </a:r>
            <a:br/>
            <a:r>
              <a:t>↓</a:t>
            </a:r>
            <a:br/>
            <a:r>
              <a:t>[Firewall/IDS in Gateway ECU] ← Layer 1</a:t>
            </a:r>
            <a:br/>
            <a:r>
              <a:t>↓</a:t>
            </a:r>
            <a:br/>
            <a:r>
              <a:t>CAN Bus with MAC/E2E ← Layer 2</a:t>
            </a:r>
            <a:br/>
            <a:r>
              <a:t>↓</a:t>
            </a:r>
            <a:br/>
            <a:r>
              <a:t>[ACC ECU with Secure Boot + HSM] ← Layer 3</a:t>
            </a:r>
            <a:br/>
            <a:r>
              <a:t>↓</a:t>
            </a:r>
            <a:br/>
            <a:r>
              <a:t>[Safety-Critical Software with Input Validation] ← Layer 4</a:t>
            </a:r>
            <a:br/>
            <a:r>
              <a:t>↓</a:t>
            </a:r>
            <a:br/>
            <a:r>
              <a:t>[Encrypted Data Storage] ← Layer 5</a:t>
            </a:r>
            <a:br/>
            <a:r>
              <a:t>↓</a:t>
            </a:r>
            <a:br/>
            <a:r>
              <a:t>[Anomaly Detection + Logging] ← Layer 6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Security Mechanisms Mapped to CAL: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CAL 4 (highest): All 6 layers required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Secure boot + HSM mandatory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E2E protection on all messages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Independent security monitoring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Penetration testing by external experts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CAL 3: Layers 1-5 required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Secure boot recommended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MAC on critical messages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Code review and static analysis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CAL 2: Layers 1-4 required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Basic authentication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Input validation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CAL 1: Layers 1-3 required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Basic firewall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Standard secure coding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Integration with Safety: — Safety-critical functions (ASIL D) typically also CAL 3-4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Security failure → Safety failure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If attacker disables AEB (security breach), collision occurs (safety hazard)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ASIL D + CAL 4 = Maximum rigor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principle: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 single layer is perfect - assume each can be breached. Defense in depth ensures attacker must breach MULTIPLE layers.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4: Interoperability Engineering (Slides 20-21, ~8 minutes)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Interoperability - Connecting Systems Safely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Modern vehicles don't operate in isolation - they're part of a complex ecosystem. Interoperability is the ability of systems to work together.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Interoperability Challenge: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Internal interoperability (within vehicle):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100+ ECUs from multiple suppliers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Different communication protocols (CAN, LIN, FlexRay, Ethernet)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Mixed criticality (ASIL D + QM on same network)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Different update cycles (infotainment changes yearly, powertrain lasts 10+ years)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External interoperability (beyond vehicle):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V2V (Vehicle-to-Vehicle): Collision avoidance, platooning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V2I (Vehicle-to-Infrastructure): Traffic lights, road signs, tolling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V2P (Vehicle-to-Pedestrian): Smartphone detection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V2N (Vehicle-to-Network): Cloud services, OTA updates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Collectively: V2X (Vehicle-to-Everything)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Interoperability Requirements: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Protocol Compatibility — Standards-based communication (IEEE 802.11p, C-V2X, DSRC)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Consistent message formats (SAE J2735 for V2X messages)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Semantic Interoperability — Same meaning of data across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What is 'vehicle speed'? GPS speed? Wheel speed? CAN speed?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Coordinate systems: Different ECUs may use different reference frames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Timing and Synchronization — Critical for distributed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Sensor fusion requires synchronized timestamps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IEEE 1588 (Precision Time Protocol) for automotive Ethernet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Security Interoperability — Trust across organizations (OEM ↔ Infrastructure provider)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PKI (Public Key Infrastructure) for authentication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Certificate management (issuance, revocation, renewal)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Safety Interoperability — Fail-safe behavior across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If V2I signal is lost, vehicle must degrade gracefully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Real-world example - V2X for Emergency Braking: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Scenario: Lead vehicle emergency brakes, sends V2V alert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Interoperability requirements: — Protocol: Both vehicles use same V2V protocol (C-V2X)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Message: Standard 'Emergency Electronic Brake Lights' message (SAE J2735)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Timing: Message received within 100ms (latency requirement)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Security: Message authenticated (prevent spoofing)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Safety: Receiving vehicle verifies with onboard sensors (defense in depth)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Human factors: Driver alerted appropriately (avoid distraction)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Standards enabling interoperability: — SAE J2735: Message set dictionary for V2X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SAE J2945: Dedicated Short Range Communications (DSRC) applications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3GPP C-V2X: Cellular V2X communication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 20077: Extended Vehicle (ExVe) - standardized data exchange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AUTOSAR: Standardized software architecture for ECUs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Challenges: — Fragmentation: Different regions use different standards (US vs EU vs China)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Legacy compatibility: New vehicles must work with old infrastructure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Graceful degradation: System must work even if interoperability fails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design principle: — Don't rely solely on external systems for safety — Example: V2V alert is supplementary; onboard sensors are primary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This is defense in depth applied to interoperability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AUTOSAR - Automotive Open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AUTOSAR (Automotive Open System Architecture) is a key enabler of interoperability within vehicles.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is AUTOSAR? — Standardized software architecture for automotive ECUs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Developed by OEMs and suppliers (partnership)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Goal: Portability, reusability, interoperability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AUTOSAR Layered Architecture: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Layer 1: Application Layer — Software components (SWCs)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Business logic (e.g., cruise control algorithm)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Standardized interfaces (ports)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Layer 2: Runtime Environment (RTE) — Communication abstraction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SWCs communicate via RTE (don't know about hardware)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Layer 3: Basic Software (BSW) — Services: Operating system, communication, diagnostics, memory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Abstraction: Hides hardware details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Microcontroller Abstraction: Driver layer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Layer 4: Microcontroller — Hardware (CPU, peripherals)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Benefits for interoperability: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Supplier independence: — SWCs are portable across different ECU hardware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ACC algorithm from Supplier A runs on ECU from Supplier B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Standardized communication: — CAN, LIN, FlexRay, Ethernet handled by BSW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Application layer doesn't need to know protocol details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Configuration over coding: — System integration via configuration files (ARXML)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Less error-prone than manual coding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Diagnostics and calibration: — Standardized diagnostic services (UDS - Unified Diagnostic Services)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Standardized calibration interfaces (XCP, CCP)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AUTOSAR for Safety (AUTOSAR Safety Extensions): — E2E protection: End-to-end communication safety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Timing protection: OS-level monitoring of task execution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Memory protection: MPU configuration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Supports ISO 26262 compliance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AUTOSAR Adaptive (for high-performance ECUs): — Service-oriented architecture (SOA)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Dynamic configuration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POSIX OS (e.g., Linux)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 ADAS, autonomous driving, high-performance compute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Real impact: — Without AUTOSAR: Every OEM-supplier pair has custom integration (N×M problem)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With AUTOSAR: Standardized interfaces (N+M problem)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Reduces integration effort by orders of magnitude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Interoperability enabled: — ECUs from different suppliers work together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Software reusable across vehicle platforms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Faster time-to-market, lower cost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AUTOSAR is foundational to modern automotive systems engineering - not just for interoperability, but for managing complexity.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5: Human Factors Engineering (Slides 22-23, ~8 minutes)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Human Factors - Designing for Real Humans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We've engineered safety and security. But if humans can't use the system correctly, all that engineering is wasted.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Human Factors Engineering (also called Ergonomics or Human-Machine Interface design) ensures systems are: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Usable: Humans can operate them effectively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Safe: Humans don't make dangerous errors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Efficient: Humans can perform tasks quickly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Satisfying: Users have positive experience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human factors matter in automotive: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Failure cases: — Tesla Autopilot crashes: Drivers misunderstood automation level (thought it was Level 4 when it's Level 2)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NHTSA study: 94% of crashes involve human error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Toyota unintended acceleration: Pedal misapplication (human error) + poor floor mat design (design error)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challenge: — Drivers have limited attention — Drivers have limited training (no engineering degree required!)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Drivers operate under stress (emergencies)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Drivers have diverse capabilities (young, elderly, disabled)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Drivers over-trust automation (complacency)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Drivers under-trust automation (disuse)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human factors principles for automotive: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Situational Awareness — Driver must understand system state at all times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Is ACC active? What speed is set? Is AEB enabled?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Design: Clear visual indicators, consistent location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Mode Confusion Prevention — Different modes must be visually distinct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Bad example: Autopilot icon looks similar whether active or standby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Good example: Active = green border + animation, Inactive = gray icon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Attention Management — Don't overload driver with information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Prioritize critical information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Collision warning gets central display + sound + haptic, non-critical info on side screen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Affordances and Mappings — Controls should suggest their function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Steering wheel buttons for speed control (intuitive location)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Bad example: Touchscreen-only controls (no tactile feedback, requires looking away)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Error Tolerance — System should prevent/recover from human errors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If driver accidentally presses SET while speeding, system limits to legal maximum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Confirmation required for critical actions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Feedback and Transparency — System provides clear feedback for user actions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Audible beep when cruise speed is set, visual confirmation on display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specific examples.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Human Factors Analysis - Automation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One of the most critical human factors issues in modern automotive: Understanding automation levels.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SAE J3016 - Levels of Driving Automation: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0 - No Automation — Human does everything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Human factors: Traditional vehicle ergonomics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1 - Driver Assistance — System: Either steering OR speed control (not both)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Traditional cruise control, lane keeping assist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Human: Monitors environment, ready to take over immediately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Human factors challenge: Knowing when system is active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2 - Partial Automation — System: Both steering AND speed control simultaneously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Tesla Autopilot, GM Super Cruise, ACC with lane centering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Human: MUST monitor environment constantly, hands on wheel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Human factors challenge: Over-reliance, distraction, 'it's driving itself' misconception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Critical requirement: Driver monitoring system (camera watching driver)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3 - Conditional Automation — System: Full driving in specific conditions (e.g., highway traffic jam)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Human: Can disengage (look at phone) but must respond to takeover request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Audi A8 Traffic Jam Pilot (limited deployment)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Human factors challenge: Transition time - how long does driver need to regain situational awareness?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 requirement: Minimum takeover time (typically 10+ seconds)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4 - High Automation — System: Full driving in defined conditions, no human intervention needed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Human: Passenger (can sleep)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Fallback: System handles emergencies (e.g., pulls over safely)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Waymo robotaxis (geo-fenced areas)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Human factors challenge: What happens at boundary of operational design domain (ODD)?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5 - Full Automation — System: Drives anywhere, anytime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Human: Just a passenger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 yet available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Level 2-3 Transition Problem: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2: Driver MUST monitor constantly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3: Driver CAN disengage but must respond to takeover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Human factors issue: — Humans are TERRIBLE at vigilance tasks (monitoring with no action)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After 10-20 minutes of no intervention, driver attention drifts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Studies show takeover performance degrades severely after distraction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Design solutions: — Driver monitoring: Eye tracking, head position, steering wheel sensors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Escalating warnings: Visual → Audible → Haptic (seat vibration) → Automatic pullover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Clear mode indication: Large, central, unambiguous display of automation level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Training: Educate drivers on system capabilities and limitations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Real example - GM Super Cruise: — Level 2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Human factors engineering: — Eye tracking camera on steering column (monitors driver attention)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Light bar on steering wheel (green = hands-free OK, red = hands required)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Escalating alerts if driver not attending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Automatic pullover if driver unresponsive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Geo-fenced to mapped highways only (clear ODD)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Name avoids 'autopilot' misconception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human factors requirements for ADAS: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Mode awareness: — REQ-HF-01: 'System shall display automation level on primary instrument cluster with ≥99% visibility'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Attention management: — REQ-HF-02: 'Level 2 system shall monitor driver attention with ≤2s detection latency'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REQ-HF-03: 'System shall issue escalating alerts if driver attention not detected for &gt;5s'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Takeover performance: — REQ-HF-04: 'System shall provide ≥10s warning before requiring driver takeover'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REQ-HF-05: 'Takeover request shall use multi-modal alert (visual + audible + haptic)'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Transparency: — REQ-HF-06: 'System shall explain limitations and operational design domain in owner's manual and in-vehicle tutorial'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Error tolerance: — REQ-HF-07: 'If driver fails to respond to takeover request, system shall execute safe stop maneuver'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Human factors engineering is NOT an afterthought - it must be integrated from concept phase.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NHTSA and Euro NCAP now include human factors assessment in safety ratings.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6: Integration - Bringing It All Together (Slide 24, ~4 minutes)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Case Study - Designing a Secure, Safe, Usable ACC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walk through a complete example integrating everything we've learned.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Project: Design an Adaptive Cruise Control (ACC) system with Automatic Emergency Braking (AEB) for a passenger vehicle.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Hazard and Threat Analysis (Parallel)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HARA (Safety): — Hazard: 'Failure to brake for stopped vehicle' → ASIL 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Hazard: 'Unintended braking at high speed' → ASIL 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Hazard: 'Insufficient braking force' → ASIL B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TARA (Security): — Threat: 'Remote attacker disables AEB' → CAL 4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Threat: 'Attacker spoofs radar sensor' → CAL 3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Threat: 'Attacker causes false braking' → CAL 3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Human Factors Analysis: — Use case: Highway driving, driver partially attentive (Level 2)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Risk: Driver over-relies on system, doesn't monitor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Risk: Driver doesn't understand when system is active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Interoperability Analysis: — Interface: CAN bus to brake ECU (existing vehicle network)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Interface: V2V communication (future capability)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Constraint: Must work with existing vehicle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Goals and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Safety Goal [ASIL D]: — SG-ACC-01: 'Prevent collision with stopped or slow-moving vehicle ahead'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Cybersecurity Goal [CAL 4]: — CG-ACC-01: 'Prevent unauthorized modification of braking function'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Human Factors Goal: — HFG-ACC-01: 'Enable driver to maintain situational awareness of system state and limitations'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Interoperability Goal: — IOP-ACC-01: 'Integrate with existing vehicle CAN network without disrupting other functions'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Derived Requirements (integrated):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Detection &amp; Decision: — REQ-ACC-010: 'System shall detect stopped vehicles at ≥150m with 99.9% probability' [ASIL D, Functional]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REQ-ACC-011: 'Radar sensor data shall be authenticated using AES-128 MAC' [CAL 4, Security]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REQ-ACC-012: 'System shall use sensor fusion (radar + camera) with diverse algorithms' [ASIL D, Safety]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Braking: — REQ-ACC-020: 'System shall command braking within 200ms of detecting collision risk' [ASIL D, Safety]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REQ-ACC-021: 'Brake commands shall use E2E protection per AUTOSAR' [ASIL D + CAL 3, Safety + Security]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Fail-Safe: — REQ-ACC-030: 'Upon sensor failure, system shall transition to safe state within 300ms' [ASIL D, Safety]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REQ-ACC-031: 'System shall detect firmware tampering at boot using secure boot' [CAL 4, Security]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Driver Interface: — REQ-ACC-040: 'System shall display ACC status on instrument cluster with ≥12mm icon' [Human Factors]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REQ-ACC-041: 'System shall monitor driver eye gaze every 500ms' [Level 2, Human Factors]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REQ-ACC-042: 'If driver not attending for &gt;10s, system shall issue escalating alerts' [Safety + Human Factors]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Interoperability: — REQ-ACC-050: 'System shall communicate via CAN FD at 2 Mbps per ISO 11898-1' [Interoperability]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REQ-ACC-051: 'System shall support future V2V using SAE J2735 message set' [Interoperability]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Architecture (Integrated)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[External: V2V (future)] ← Interoperability</a:t>
            </a:r>
            <a:br/>
            <a:r>
              <a:t>↓</a:t>
            </a:r>
            <a:br/>
            <a:r>
              <a:t>[Gateway ECU with Firewall + IDS] ← Security Layer 1</a:t>
            </a:r>
            <a:br/>
            <a:r>
              <a:t>↓</a:t>
            </a:r>
            <a:br/>
            <a:r>
              <a:t>[CAN FD Bus with E2E Protection] ← Safety + Security Layer 2</a:t>
            </a:r>
            <a:br/>
            <a:r>
              <a:t>↓</a:t>
            </a:r>
            <a:br/>
            <a:r>
              <a:t>┌─────────────────────────────────────┐</a:t>
            </a:r>
            <a:br/>
            <a:r>
              <a:t>│ ACC ECU (ASIL D + CAL 4)            │ ← Integrated Safety + Security</a:t>
            </a:r>
            <a:br/>
            <a:r>
              <a:t>│ - Dual-core lockstep CPU            │ ← Safety (ASIL D)</a:t>
            </a:r>
            <a:br/>
            <a:r>
              <a:t>│ - HSM (Hardware Security Module)    │ ← Security (CAL 4)</a:t>
            </a:r>
            <a:br/>
            <a:r>
              <a:t>│ - Secure Boot                        │ ← Security (CAL 4)</a:t>
            </a:r>
            <a:br/>
            <a:r>
              <a:t>│ - Watchdog Timer                     │ ← Safety (ASIL D)</a:t>
            </a:r>
            <a:br/>
            <a:r>
              <a:t>│ - Sensor Fusion Algorithm (diverse) │ ← Safety (ASIL D)</a:t>
            </a:r>
            <a:br/>
            <a:r>
              <a:t>│ - Plausibility Checks                │ ← Safety + Security</a:t>
            </a:r>
            <a:br/>
            <a:r>
              <a:t>└─────────────────────────────────────┘</a:t>
            </a:r>
            <a:br/>
            <a:r>
              <a:t>↓ (authenticated messages)</a:t>
            </a:r>
            <a:br/>
            <a:r>
              <a:t>[Radar Sensor] [Camera Sensor] ← Safety (redundancy)</a:t>
            </a:r>
            <a:br/>
            <a:r>
              <a:t>↓</a:t>
            </a:r>
            <a:br/>
            <a:r>
              <a:t>[Brake ECU] ← Safety (ASIL D)</a:t>
            </a:r>
            <a:br/>
            <a:r>
              <a:t>↓</a:t>
            </a:r>
            <a:br/>
            <a:r>
              <a:t>┌─────────────────────────────────────┐</a:t>
            </a:r>
            <a:br/>
            <a:r>
              <a:t>│ Driver Interface                     │ ← Human Factors</a:t>
            </a:r>
            <a:br/>
            <a:r>
              <a:t>│ - Instrument Cluster (ACC status)    │</a:t>
            </a:r>
            <a:br/>
            <a:r>
              <a:t>│ - Eye Tracking Camera                │</a:t>
            </a:r>
            <a:br/>
            <a:r>
              <a:t>│ - Audible + Haptic Alerts            │</a:t>
            </a:r>
            <a:br/>
            <a:r>
              <a:t>└─────────────────────────────────────┘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Verification (Integrated Testing)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Safety Testing: — Fault injection: Simulate sensor failures, verify safe state transition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Edge cases: Test at ASIL D coverage (MC/DC code coverage)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Independent assessment: External safety auditor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Security Testing: — Penetration testing: Try to remotely disable AEB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Fuzz testing: Send malformed CAN messages, verify robustness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Secure boot verification: Attempt to load unsigned firmware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Interoperability Testing: — CAN conformance: Verify message timing, format per ISO 11898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 testing: Test with actual brake ECU from vehicle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Human Factors Testing: — Usability study: 50 drivers, measure comprehension of system state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Cognitive workload: Assess driver attention during ACC operation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Takeover testing: Measure response time to alerts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Integrated Scenario Testing: — Scenario: Cyberattack attempts to spoof radar sensor (security) during actual stopped vehicle ahead (safety) with distracted driver (human factors)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Expected result: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MAC verification detects spoofed data (security defense)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Plausibility check flags inconsistency (safety + security)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Camera sensor provides redundant detection (safety)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brakes based on camera data (safety)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monitoring detects inattention, issues alert (human factors)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Attack logged for incident response (security)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integrated specialty engineering in action - safety, security, interoperability, and human factors working together, not in silos.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consolidate what you've learned today: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Safety Analysis Methods — FTA (top-down): Start with hazard, find causes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FMEA (bottom-up): Start with components, find effects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HAZOP: Systematic deviation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all three for comprehensive safety analysis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ISO 26262 and HARA — HARA: Hazard + Situation → Severity + Exposure + Controllability → ASIL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ASIL (A-D) determines rigor of safety engineering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goals → FSR → TSR → Implementation → Verification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Traceability is mandatory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Cybersecurity — TARA: Assets → Threats → Attack paths → Risk → CAL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Defense in depth: Multiple layers of security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Security failure can cause safety failure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 21434 provides systematic framework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Interoperability — Modern vehicles are part of ecosystem (V2X)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Standards enable interoperability (AUTOSAR, SAE, ISO)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 for graceful degradation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Interoperability ≠ safety (verify with onboard sensors)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Human Factors — Design for real human capabilities and limitations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Automation levels (SAE J3016) have different human factors needs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Level 2: Driver monitoring essential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 awareness, attention management, error tolerance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Integration — Safety + Security + Interoperability + Human Factors must be co-designed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Unified architecture and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Integrated testing scenarios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Remember: These specialty engineering disciplines are not bureaucracy - they are life-saving, systematic approaches that prevent disasters like Toyota unintended acceleration and Jeep Cherokee hacks.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Systems Engineering V-Model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place specialty engineering in the systems engineering context.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Left side of V-Model (Development):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Concept Phase: — Safety: HARA, safety goals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Security: TARA, cybersecurity goals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Human Factors: User research, task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Interoperability: Interface identification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 Requirements (Session 4): — Integrate safety (FSR with ASIL), security (CSR with CAL), HF, and interoperability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Traceability to hazards and threats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 Design (Session 5): — Architecture addresses safety (redundancy, fail-safe), security (defense in depth), interoperability (standards), HF (interface design)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Implementation: — Safety mechanisms, secure coding, AUTOSAR integration, HMI implementation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Right side of V-Model (Verification &amp; Validation):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Component Testing: — Unit tests with safety and security coverage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Integration Testing: — Interoperability testing, fault injection, penetration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 Testing: — ASIL-specific testing, CAL-specific testing, usability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Validation: — Prove safety goals met, cybersecurity goals met, user needs met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Throughout lifecycle (Session 9, 15): — Configuration management: Baseline safety and security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Change management: Impact analysis for safety and security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Measurement: Safety metrics (residual risk), security metrics (vulnerabilities found), HF metrics (usability scores)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Specialty engineering is NOT a separate process - it's integrated into the systems engineering lifecycle at every phase.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Other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Today's session connects to many others: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Builds on: — Session 1: Failures (Therac-25, Toyota) were specialty engineering failures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4: Requirements engineering - specialty requirements need extra rigor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8: V&amp;V - specialty engineering requires specialized verification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9: Risk management and FMEA - HARA extends these concepts for safety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Leads to: — Session 13: Life cycle cost analysis includes cost of safety/security failures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14: Case study 2 will apply specialty engineering concepts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15: Technical management includes safety and security configuration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Integration points: — MBSE (Session 3): SysML has safety and security extensions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 (Session 5): Safety and security drive architecture decisions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(Session 10): Safety and security are quality attributes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Agreements (Session 11): Supplier contracts must address safety and security responsibilities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concept thread: — Session 4: WHAT requirements are needed (including safety/security)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9: HOW to analyze risk (DFMEA → HARA)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12 (today): HOW to systematically engineer safety, security, interoperability, human factors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8: HOW to verify specialty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Specialty engineering is foundational to modern automotive systems engineering.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📊 PPT DESIGN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Real Examples to Include: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Practical Exercise (Due before Session 13):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are the systems engineer for a Level 2 Autonomous Lane Keeping Assist (LKAS) system for a highway vehicle.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1: Safety Analysis (30%) — Identify at least 5 hazards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Conduct HARA for each (Severity, Exposure, Controllability → ASIL)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 the highest ASIL hazard, create an FMEA table (minimum 5 failure modes)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safety goal and 3 functional safety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2: Security Analysis (25%) — Identify at least 3 assets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Conduct TARA for at least 3 threats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Determine CAL for each threat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cybersecurity goal and 3 cybersecurity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3: Human Factors Analysis (25%) — Define the automation level (per SAE J3016)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Identify 3 human factors risks (e.g., mode confusion, over-reliance)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3 human factors requirements to mitigate these risks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Sketch HMI mockup showing system status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4: Integration (20%) — Create integrated architecture diagram showing safety mechanisms, security layers, and HMI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Create traceability matrix: Hazards/Threats → Goals → Requirements (Safety + Security + HF)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1 integrated test scenario combining safety, security, and human factors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Grading Criteria: — Correct application of HARA methodology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Correct application of TARA methodology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of safety and security requirements (clear, verifiable, traced)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Human factors analysis depth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 and traceability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Professional formatting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Submission: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1: 2 pages (HARA table + FMEA + safety requirements)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2: 1.5 pages (TARA table + security requirements)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3: 1.5 pages (HF analysis + requirements + HMI sketch)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4: 2 pages (Architecture diagram + traceability matrix + test scenario)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Total: 7 pages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Tips: — Research real LKAS systems (Euro NCAP requirements, Tesla, GM Super Cruise)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ISO 26262 ASIL table correctly (don't guess S/E/C)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Consider realistic attack vectors (cellular, OBD-II, sensor spoofing)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Think about driver monitoring (how do you ensure driver is attentive?)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Discussion Questions: — How would ASIL change if this was Level 3 (conditional automation) instead of Level 2?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What's the relationship between safety ASIL and security CAL for the same function?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 you prevent drivers from over-relying on a Level 2 system?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interoperability standards would be needed if this system used V2V data?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30 minutes for your questions. —--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Professional safety/security aesthetic: Clean, technical, serious tone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Color coding: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 for hazards and threats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Blue for safety measures and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Green for security measures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Orange for human factors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Purple for integration points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real automotive examples: Photos of ACC systems, HMI interfaces, attack demonstrations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Diagrams: HARA tables, TARA tables, FTA/FMEA, architecture diagrams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4 (Jeep Cherokee hack) - Real-world consequences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9-11 (Safety analysis methods) - Core techniques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13 (HARA process) - Foundation of ISO 26262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18 (TARA process) - Foundation of ISO 21434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19 (Defense in depth) - Security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23 (Automation levels + HF) - Critical for modern vehicles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25 (Integrated case study) - Putting it all together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27 (Summary) - Students will photograph this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9: Build fault tree from top event downward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13: Step-by-step HARA process with example values appearing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18: Step-by-step TARA process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19: Layer-by-layer defense in depth (reveal each layer sequentially)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24: Integration flow showing parallel to convergence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25: Case study flow with requirements appearing in stages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10: FMEA table template (automotive example)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13: ASIL determination table (ISO 26262)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14: Complete HARA example (ACC system)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18: TARA table with attack feasibility rating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25: Integrated requirements table (ASIL + CAL columns)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Jeep Cherokee hack details (2015)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Tesla Autopilot crashes (human factors)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 26262 ASIL table (actual standard)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 21434 attack feasibility table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GM Super Cruise driver monitoring (good HF example)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AUTOSAR architecture diagram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SAE J3016 automation levels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🎯 INSTRUCTOR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Assessment Opportunities: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Start with real failure (Jeep hack), show systematic methods, return to how methods prevent failure — Parallel structure: Safety (HARA) and Security (TARA) taught in parallel to show similarities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 emphasis: Constantly reinforce that these disciplines must work together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Industry standards focus: ISO 26262, ISO 21434, SAE J3016 - use actual standards terminology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Hands-on mindset: Students should be able to conduct HARA and TARA after today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1: "Why do we need both safety AND security engineering?"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Use Jeep Cherokee example - security breach CAUSED safety failure. Modern vehicles are connected, so security vulnerabilities create safety hazards. They are no longer separate concerns.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2: "HARA and TARA seem complicated - can't we just test more?"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Testing can only find what you think to test. HARA/TARA systematically identify hazards/threats you didn't think of. Show Toyota example - inadequate hazard analysis led to missing critical failure modes. Analysis PRECEDES testing.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3: "How do I determine ASIL or CAL accurately?"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Use ISO 26262 tables exactly as specified - don't guess. Severity, Exposure, Controllability have defined criteria. When uncertain, consult with safety experts, use conservative (higher) rating. Show worked examples (Slides 13-14).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4: "This seems like it adds a lot of development cost"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Compare cost of HARA (maybe 40 hours of engineering time = $5K) vs cost of recall (1.4M vehicles = $1.4B). Prevention is 1000x cheaper than failure. Also, ISO 26262 and UN R155 are MANDATORY - not optional. Frame as risk reduction investment.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5: "How do safety and security requirements interact?"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Use Slide 24 integrated example. Some requirements address both (e.g., E2E protection provides safety integrity AND security authentication). Some conflict (e.g., encryption latency vs real-time safety). Architecture must resolve conflicts through design (e.g., dedicated safety channel).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running short: — Condense Slide 11 (HAZOP) - brief overview, details in reading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 Slide 20-21 (interoperability) to overview only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Move some FMEA examples to backup slides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running long: — Extend Slide 25 (case study) with more detailed walkthrough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Add live demo of HARA/TARA worksheet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Show video of GM Super Cruise or Tesla Autopilot HMI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Core content (must cover - non-negotiable): — Slides 8-10 (Safety analysis methods: FTA, FMEA)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12-14 (ISO 26262 and HARA)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16-18 (Cybersecurity and TARA)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19 (Defense in depth)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23 (Automation levels and human factors)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25 (Integrated case study)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27 (Summary)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4: Ask "Has anyone experienced a software bug in a vehicle?" (normalize the issue)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7: Interactive - "What could go wrong with ACC?" - let students brainstorm hazards before showing analysis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13: Work through HARA together - give a hazard, have students rate S/E/C before revealing ASIL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18: Work through TARA together - identify attack path for one threat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23: Poll - "How many would trust Level 2 automation on a highway?" (segue to human factors discussion)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Quick Exercise (Slide 14): Give students a new hazard for ACC (e.g., "Vehicle accelerates instead of braking"), have them determine S/E/C/ASIL in pairs (3 minutes), then discuss.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Group Discussion (Slide 19): "If you could only implement 3 of the 6 security layers, which would you choose and why?" (trade-off thinking)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Case Analysis (Slide 26): "What would you do differently in the Toyota case?" (apply lessons learned)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Before class: — [ ] ISO 26262-3 ASIL table (official or recreated)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ISO 21434 attack feasibility table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HARA worksheet template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TARA worksheet template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SAE J3016 summary (automation levels)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Jeep Cherokee hack case study materials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Example FMEA for automotive component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Handouts: — [ ] HARA worksheet template (Excel/PDF)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TARA worksheet template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FTA symbols reference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FMEA template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SAE J3016 one-pager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Defense in depth checklist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Post-class: — [ ] Share slides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Post exercise assignment with templates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Post ISO 26262 and ISO 21434 overview documents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Post links to UN R155 (cybersecurity regulation), UN R156 (software updates)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Create discussion forum: "Share safety or security analysis examples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During lecture: — Quick quiz (Slide 14): "What ASIL would you assign to this hazard?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Quick quiz (Slide 18): "What's the attack feasibility for this threat?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Exercise assessment criteria: — HARA correctness (Did they apply S/E/C criteria correctly?)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TARA correctness (Did they identify realistic threats and attack paths?)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 quality (Traceable to hazards/threats? Verifiable? Include ASIL/CAL?)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 (Is architecture coherent? Does traceability matrix connect everything?)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Common student mistakes to watch for: — Confusing ASIL with CAL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Guessing S/E/C values instead of using criteria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Writing safety/security requirements without traceability to hazards/threats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Treating safety and security independently (not integrating)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Forgetting human factors entirely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✅ Session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Students leave able to: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Apply FTA, FMEA, HAZOP methods to identify hazards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Conduct HARA per ISO 26262 and determine ASIL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Conduct TARA per ISO 21434 and determine CAL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Design defense-in-depth security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Define interoperability requirements using standards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Apply human factors principles to automation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Integrate safety, security, interoperability, and human factors into unified system design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Understand that specialty engineering is systematic, not ad-hoc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 outcome: Students understand that safety, security, interoperability, and human factors are not add-ons - they are foundational to automotive systems engineering and must be integrated from concept phase.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Evidence of success: — Student can conduct HARA and determine correct ASIL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Student can conduct TARA and identify realistic threats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Student can explain why security failures cause safety failures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Student can design architecture integrating safety mechanisms and security layers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Student understands SAE automation levels and associated human factors risks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📚 Additional Resources for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Standards and Guidelines: — ISO 26262:2018: Road Vehicles - Functional Safety (Parts 1-12)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ISO/SAE 21434:2021: Road Vehicles - Cybersecurity Engineering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SAE J3061: Cybersecurity Guidebook for Cyber-Physical Vehicle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SAE J3016: Taxonomy and Definitions for Terms Related to Driving Automation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UN Regulation No. 155: Cyber Security and Cyber Security Management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UN Regulation No. 156: Software Update and Software Updates Management System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Safety Analysis: — IEC 61025: Fault Tree Analysis (FTA)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IEC 60812: Failure Mode and Effects Analysis (FMEA and FMECA)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IEC 61882: Hazard and Operability Studies (HAZOP)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Interoperability: — AUTOSAR (Automotive Open System Architecture) specifications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SAE J2735: Dedicated Short Range Communications (DSRC) Message Set Dictionary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 20077: Extended Vehicle (ExVe) - Standardized access to data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Books: — "ISO 26262 - A Practical Guide" by Jürgen Mottok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"Automotive Cybersecurity Engineering Handbook" by Dr. Ahmad MK Nasser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"The Car Hacker's Handbook" by Craig Smith (security perspective)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"Introduction to Human Factors and Ergonomics" by Robert Bridger (HF fundamentals)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Online Resources: — NHTSA Cybersecurity Best Practices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SAE International webinars on functional safety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 26262 training courses (TÜV, SGS)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MISRA C coding guidelines (secure coding)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🔗 Connections to Other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Builds on: — Session 1: Engineering failures (Therac-25, Toyota) were specialty engineering failures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2: ISO/IEC 15288 life cycle includes specialty engineering processes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4: Requirements engineering - safety/security requirements need traceability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8: V&amp;V - specialty engineering requires specialized verification methods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9: Risk management and DFMEA - HARA extends FMEA for safety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Leads to: — Session 13: LCC/TCO includes cost of safety/security failures and recalls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14: Case Study 2 will apply safety, security, and human factors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15: Technical management includes safety/security configuration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concept thread: — Session 9: Risk management basics (DFMEA)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12 (today): Specialty engineering for safety, security, interoperability, human factors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15: Technical processes supporting specialty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Specialty engineering appears in: — Session 5 (architecture driven by safety/security)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8 (safety/security verification)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10 (quality includes safety/security)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13 (cost of safety/security failures)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🎬 Opening and Closing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Closing (Last 2 minutes):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Start with image of Jeep Cherokee on screen as students enter. Begin: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Before we start, look at this vehicle. In July 2015, security researchers remotely took control of its steering, brakes, and transmission. 1.4 million vehicles recalled. $1.4 billion settlement.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attack was possible because safety and security were engineered separately. The infotainment system had no firewall to the safety-critical CAN bus. One exploit, total vehicle control.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Today, we learn how to prevent this through integrated specialty engineering: safety, security, interoperability, and human factors.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Welcome to Session 12: Specialty Engineering - Safety &amp; Security.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Return to the opening image: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 started with the Jeep Cherokee - a catastrophic failure of integrated specialty engineering. You now have the knowledge to prevent this: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 can conduct HARA to systematically identify safety hazards and determine ASIL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 can conduct TARA to identify security threats and determine CAL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 can design defense-in-depth architectures integrating safety and security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 understand that human factors and interoperability must be engineered, not assumed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exercise I've given you is your chance to practice integrated specialty engineering. Imagine you're the engineer responsible for a Level 2 LKAS system. Lives depend on getting safety, security, and human factors right.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Because in automotive, specialty engineering is not optional. It's the difference between life and death.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See you in Session 13, where we'll analyze the cost of getting this wrong.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📈 Learning Objectives Mapping to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Session Objective | Assessment Method | Success Criteria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|-------------------|-------------------|------------------|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Apply safety analysis methods | Exercise Part 1 (HARA + FMEA) | Correctly applies S/E/C criteria, determines ASIL, creates FMEA with RPN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Conduct HARA per ISO 26262 | Exercise Part 1 | At least 5 hazards identified, correct ASIL determination, safety requirements traced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Apply cybersecurity principles | Exercise Part 2 (TARA) | Identifies realistic threats, correct attack feasibility rating, determines CAL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Define interoperability requirements | Discussion + exercise integration | Mentions standards (AUTOSAR, V2X), defines interface requirements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Incorporate human factors | Exercise Part 3 | Identifies HF risks, defines HF requirements, creates HMI mockup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Integrate specialty engineering | Exercise Part 4 | Unified architecture, integrated traceability matrix, combined test scenario |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End of Session 12 Framework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Next: Session 13 (Life Cycle Cost and Total Cost of Ownership)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