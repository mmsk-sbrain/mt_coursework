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a:t>
            </a:r>
          </a:p>
          <a:p>
            <a:pPr>
              <a:spcAft>
                <a:spcPts val="1000"/>
              </a:spcAft>
              <a:defRPr sz="1800">
                <a:solidFill>
                  <a:srgbClr val="333333"/>
                </a:solidFill>
              </a:defRPr>
            </a:pPr>
            <a:r>
              <a:t>marp: true</a:t>
            </a:r>
          </a:p>
          <a:p>
            <a:pPr>
              <a:spcAft>
                <a:spcPts val="1000"/>
              </a:spcAft>
              <a:defRPr sz="1800">
                <a:solidFill>
                  <a:srgbClr val="333333"/>
                </a:solidFill>
              </a:defRPr>
            </a:pPr>
            <a:r>
              <a:t>theme: engineering</a:t>
            </a:r>
          </a:p>
          <a:p>
            <a:pPr>
              <a:spcAft>
                <a:spcPts val="1000"/>
              </a:spcAft>
              <a:defRPr sz="1800">
                <a:solidFill>
                  <a:srgbClr val="333333"/>
                </a:solidFill>
              </a:defRPr>
            </a:pPr>
            <a:r>
              <a:t>paginate: true</a:t>
            </a:r>
          </a:p>
          <a:p>
            <a:pPr>
              <a:spcAft>
                <a:spcPts val="1000"/>
              </a:spcAft>
              <a:defRPr sz="1800">
                <a:solidFill>
                  <a:srgbClr val="333333"/>
                </a:solidFill>
              </a:defRPr>
            </a:pPr>
            <a:r>
              <a:t>math: katex</a:t>
            </a:r>
          </a:p>
          <a:p>
            <a:pPr>
              <a:spcAft>
                <a:spcPts val="1000"/>
              </a:spcAft>
              <a:defRPr sz="1800">
                <a:solidFill>
                  <a:srgbClr val="333333"/>
                </a:solidFill>
              </a:defRPr>
            </a:pPr>
            <a:r>
              <a:t>header: 'Session 1: Introduction to Systems Engineering'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4472C4"/>
        </a:solidFill>
        <a:effectLst/>
      </p:bgPr>
    </p:bg>
    <p:spTree>
      <p:nvGrpSpPr>
        <p:cNvPr id="1" name=""/>
        <p:cNvGrpSpPr/>
        <p:nvPr/>
      </p:nvGrpSpPr>
      <p:grpSpPr/>
      <p:sp>
        <p:nvSpPr>
          <p:cNvPr id="2" name="Title 1"/>
          <p:cNvSpPr>
            <a:spLocks noGrp="1"/>
          </p:cNvSpPr>
          <p:nvPr>
            <p:ph type="ctrTitle"/>
          </p:nvPr>
        </p:nvSpPr>
        <p:spPr/>
        <p:txBody>
          <a:bodyPr/>
          <a:lstStyle/>
          <a:p>
            <a:pPr>
              <a:defRPr sz="4400" b="1">
                <a:solidFill>
                  <a:srgbClr val="FFFFFF"/>
                </a:solidFill>
              </a:defRPr>
            </a:pPr>
            <a:r>
              <a:t>Introduction to Systems Engineering</a:t>
            </a:r>
          </a:p>
        </p:txBody>
      </p:sp>
      <p:sp>
        <p:nvSpPr>
          <p:cNvPr id="3" name="Subtitle 2"/>
          <p:cNvSpPr>
            <a:spLocks noGrp="1"/>
          </p:cNvSpPr>
          <p:nvPr>
            <p:ph type="subTitle" idx="1"/>
          </p:nvPr>
        </p:nvSpPr>
        <p:spPr/>
        <p:txBody>
          <a:bodyPr/>
          <a:lstStyle/>
          <a:p>
            <a:pPr>
              <a:defRPr sz="2000">
                <a:solidFill>
                  <a:srgbClr val="FFFFFF"/>
                </a:solidFill>
              </a:defRPr>
            </a:pPr>
            <a:r>
              <a:t>Session 1 | Automotive Vehicles (AEL ZC441)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Title Slide</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Welcome to Automotive Systems Engineering. This course is going to change how you think about engineering. Not what you engineer, but how you think about it. And we're going to start with some failures. Spectacular, expensive, deadly failures. Because that's where the most important lessons live.</a:t>
            </a:r>
          </a:p>
          <a:p>
            <a:pPr>
              <a:spcAft>
                <a:spcPts val="1000"/>
              </a:spcAft>
              <a:defRPr sz="1800">
                <a:solidFill>
                  <a:srgbClr val="333333"/>
                </a:solidFill>
              </a:defRPr>
            </a:pPr>
            <a:r>
              <a:t>PPT Content:</a:t>
            </a:r>
          </a:p>
          <a:p>
            <a:pPr>
              <a:defRPr sz="1400">
                <a:solidFill>
                  <a:srgbClr val="787878"/>
                </a:solidFill>
                <a:latin typeface="Consolas"/>
              </a:defRPr>
            </a:pPr>
            <a:r>
              <a:t>AUTOMOTIVE SYSTEMS ENGINEERING</a:t>
            </a:r>
            <a:br/>
            <a:r>
              <a:t>AE ZG517 / AEL ZG517</a:t>
            </a:r>
            <a:br/>
            <a:r>
              <a:t>Session 1: Introduction to Systems Engineering</a:t>
            </a:r>
            <a:br/>
            <a:br/>
            <a:r>
              <a:t>Instructor: Sajeeth Kumar</a:t>
            </a:r>
            <a:br/>
            <a:r>
              <a:t>Duration: 120 minutes</a:t>
            </a:r>
          </a:p>
          <a:p>
            <a:pPr>
              <a:spcAft>
                <a:spcPts val="1000"/>
              </a:spcAft>
              <a:defRPr sz="1800">
                <a:solidFill>
                  <a:srgbClr val="333333"/>
                </a:solidFill>
              </a:defRPr>
            </a:pPr>
            <a:r>
              <a:t>Learning Outcomes: Setting context for LO1, LO3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A Question to Start</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Look at this dashboard. Fifty years ago, a car had maybe five gauges. Today? This vehicle has over 100 million lines of code, more than 150 electronic control units, thousands of components, and they all have to work together. Here's my question for you: How do we make sure all these pieces work together without killing someone?</a:t>
            </a:r>
          </a:p>
          <a:p>
            <a:pPr>
              <a:spcAft>
                <a:spcPts val="1000"/>
              </a:spcAft>
              <a:defRPr sz="1800">
                <a:solidFill>
                  <a:srgbClr val="333333"/>
                </a:solidFill>
              </a:defRPr>
            </a:pPr>
            <a:r>
              <a:t>That's not dramatic exaggeration. That's the literal challenge of systems engineering. And when we get it wrong, people die.</a:t>
            </a:r>
          </a:p>
          <a:p>
            <a:pPr>
              <a:spcAft>
                <a:spcPts val="1000"/>
              </a:spcAft>
              <a:defRPr sz="1800">
                <a:solidFill>
                  <a:srgbClr val="333333"/>
                </a:solidFill>
              </a:defRPr>
            </a:pPr>
            <a:r>
              <a:t>PPT Content:</a:t>
            </a:r>
          </a:p>
          <a:p>
            <a:pPr>
              <a:defRPr sz="1400">
                <a:solidFill>
                  <a:srgbClr val="787878"/>
                </a:solidFill>
                <a:latin typeface="Consolas"/>
              </a:defRPr>
            </a:pPr>
            <a:r>
              <a:t>Modern Automotive Complexity:</a:t>
            </a:r>
            <a:br/>
            <a:r>
              <a:t>• 100+ million lines of code</a:t>
            </a:r>
            <a:br/>
            <a:r>
              <a:t>• 150+ Electronic Control Units (ECUs)</a:t>
            </a:r>
            <a:br/>
            <a:r>
              <a:t>• 30,000+ components</a:t>
            </a:r>
            <a:br/>
            <a:r>
              <a:t>• Multiple suppliers, teams, disciplines</a:t>
            </a:r>
            <a:br/>
            <a:r>
              <a:t>• Safety-critical requirements</a:t>
            </a:r>
            <a:br/>
            <a:br/>
            <a:r>
              <a:t>THE QUESTION: How do we make it all work together?</a:t>
            </a:r>
          </a:p>
          <a:p>
            <a:pPr>
              <a:spcAft>
                <a:spcPts val="1000"/>
              </a:spcAft>
              <a:defRPr sz="1800">
                <a:solidFill>
                  <a:srgbClr val="333333"/>
                </a:solidFill>
              </a:defRPr>
            </a:pPr>
            <a:r>
              <a:t>Learning Outcomes: LO3 - Recognizing the need for systems engineering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Case Study Preview - Three Disasters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Today, I'm going to tell you three stories. Three very different systems. Three catastrophic failures. And all three have the same root cause: failures in systems engineering.</a:t>
            </a:r>
          </a:p>
          <a:p>
            <a:pPr>
              <a:spcAft>
                <a:spcPts val="600"/>
              </a:spcAft>
              <a:defRPr sz="1800">
                <a:solidFill>
                  <a:srgbClr val="333333"/>
                </a:solidFill>
              </a:defRPr>
            </a:pPr>
            <a:r>
              <a:t>Apollo 13: Lost in space, 200,000 miles from Earth</a:t>
            </a:r>
          </a:p>
          <a:p>
            <a:pPr>
              <a:spcAft>
                <a:spcPts val="600"/>
              </a:spcAft>
              <a:defRPr sz="1800">
                <a:solidFill>
                  <a:srgbClr val="333333"/>
                </a:solidFill>
              </a:defRPr>
            </a:pPr>
            <a:r>
              <a:t>Therac-25: Six patients killed by radiation overdoses</a:t>
            </a:r>
          </a:p>
          <a:p>
            <a:pPr>
              <a:spcAft>
                <a:spcPts val="600"/>
              </a:spcAft>
              <a:defRPr sz="1800">
                <a:solidFill>
                  <a:srgbClr val="333333"/>
                </a:solidFill>
              </a:defRPr>
            </a:pPr>
            <a:r>
              <a:t>Toyota Unintended Acceleration: 89 deaths, 9 million vehicles recalled</a:t>
            </a:r>
          </a:p>
          <a:p>
            <a:pPr>
              <a:spcAft>
                <a:spcPts val="1000"/>
              </a:spcAft>
              <a:defRPr sz="1800">
                <a:solidFill>
                  <a:srgbClr val="333333"/>
                </a:solidFill>
              </a:defRPr>
            </a:pPr>
            <a:r>
              <a:t>These aren't just history lessons. Each one changed how we practice engineering. Each one has lessons for automotive engineers today.</a:t>
            </a:r>
          </a:p>
          <a:p>
            <a:pPr>
              <a:spcAft>
                <a:spcPts val="1000"/>
              </a:spcAft>
              <a:defRPr sz="1800">
                <a:solidFill>
                  <a:srgbClr val="333333"/>
                </a:solidFill>
              </a:defRPr>
            </a:pPr>
            <a:r>
              <a:t>PPT Content:</a:t>
            </a:r>
          </a:p>
          <a:p>
            <a:pPr>
              <a:defRPr sz="1400">
                <a:solidFill>
                  <a:srgbClr val="787878"/>
                </a:solidFill>
                <a:latin typeface="Consolas"/>
              </a:defRPr>
            </a:pPr>
            <a:r>
              <a:t>Three Failure Case Studies:</a:t>
            </a:r>
            <a:br/>
            <a:r>
              <a:t>1. Apollo 13 (1970) - Space exploration</a:t>
            </a:r>
            <a:br/>
            <a:r>
              <a:t>2. Therac-25 (1985-1987) - Medical device</a:t>
            </a:r>
            <a:br/>
            <a:r>
              <a:t>3. Toyota Recalls (2009-2011) - Automotive</a:t>
            </a:r>
            <a:br/>
            <a:br/>
            <a:r>
              <a:t>Common Thread: Systems Engineering Failures</a:t>
            </a:r>
          </a:p>
          <a:p>
            <a:pPr>
              <a:spcAft>
                <a:spcPts val="1000"/>
              </a:spcAft>
              <a:defRPr sz="1800">
                <a:solidFill>
                  <a:srgbClr val="333333"/>
                </a:solidFill>
              </a:defRPr>
            </a:pPr>
            <a:r>
              <a:t>Learning Outcomes: LO3 - Recognizing systems engineering failures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Why Start with Failures?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You might wonder why we're starting a course with disasters. Here's why: Success is invisible. When systems engineering works, everything just... works. Nobody notices. But failures? Failures teach us what happens when we ignore systems engineering principles.</a:t>
            </a:r>
          </a:p>
          <a:p>
            <a:pPr>
              <a:spcAft>
                <a:spcPts val="1000"/>
              </a:spcAft>
              <a:defRPr sz="1800">
                <a:solidFill>
                  <a:srgbClr val="333333"/>
                </a:solidFill>
              </a:defRPr>
            </a:pPr>
            <a:r>
              <a:t>As Henry Petroski wrote, 'Success is foreseeing failure.' That's what we're doing today. We're going to study failure so you can foresee it, prevent it, and succeed where others failed.</a:t>
            </a:r>
          </a:p>
          <a:p>
            <a:pPr>
              <a:spcAft>
                <a:spcPts val="1000"/>
              </a:spcAft>
              <a:defRPr sz="1800">
                <a:solidFill>
                  <a:srgbClr val="333333"/>
                </a:solidFill>
              </a:defRPr>
            </a:pPr>
            <a:r>
              <a:t>PPT Content:</a:t>
            </a:r>
          </a:p>
          <a:p>
            <a:pPr>
              <a:defRPr sz="1400">
                <a:solidFill>
                  <a:srgbClr val="787878"/>
                </a:solidFill>
                <a:latin typeface="Consolas"/>
              </a:defRPr>
            </a:pPr>
            <a:r>
              <a:t>Success is foreseeing failure.</a:t>
            </a:r>
            <a:br/>
            <a:r>
              <a:t>- Henry Petroski</a:t>
            </a:r>
            <a:br/>
            <a:br/>
            <a:r>
              <a:t>Why Study Failures?</a:t>
            </a:r>
            <a:br/>
            <a:r>
              <a:t>✓ Failures reveal what we miss</a:t>
            </a:r>
            <a:br/>
            <a:r>
              <a:t>✓ Success is invisible; failure is instructive</a:t>
            </a:r>
            <a:br/>
            <a:r>
              <a:t>✓ Learn from others' mistakes</a:t>
            </a:r>
            <a:br/>
            <a:r>
              <a:t>✓ Understand consequences of poor systems engineering</a:t>
            </a:r>
            <a:br/>
            <a:r>
              <a:t>✓ Build intuition for systems thinking</a:t>
            </a:r>
          </a:p>
          <a:p>
            <a:pPr>
              <a:spcAft>
                <a:spcPts val="1000"/>
              </a:spcAft>
              <a:defRPr sz="1800">
                <a:solidFill>
                  <a:srgbClr val="333333"/>
                </a:solidFill>
              </a:defRPr>
            </a:pPr>
            <a:r>
              <a:t>Learning Outcomes: LO3 - Understanding systems engineering practices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Your Engineering Context</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Most of your engineering education so far has focused on components: design this gear, analyze this circuit, optimize this algorithm. And that's important. But in the real world, you're never building just a component. You're building a system.</a:t>
            </a:r>
          </a:p>
          <a:p>
            <a:pPr>
              <a:spcAft>
                <a:spcPts val="1000"/>
              </a:spcAft>
              <a:defRPr sz="1800">
                <a:solidFill>
                  <a:srgbClr val="333333"/>
                </a:solidFill>
              </a:defRPr>
            </a:pPr>
            <a:r>
              <a:t>A component works in isolation. A system works in context. And that context changes everything. Today, we begin shifting your mindset from component engineer to systems engineer.</a:t>
            </a:r>
          </a:p>
          <a:p>
            <a:pPr>
              <a:spcAft>
                <a:spcPts val="1000"/>
              </a:spcAft>
              <a:defRPr sz="1800">
                <a:solidFill>
                  <a:srgbClr val="333333"/>
                </a:solidFill>
              </a:defRPr>
            </a:pPr>
            <a:r>
              <a:t>PPT Content:</a:t>
            </a:r>
          </a:p>
          <a:p>
            <a:pPr>
              <a:defRPr sz="1400">
                <a:solidFill>
                  <a:srgbClr val="787878"/>
                </a:solidFill>
                <a:latin typeface="Consolas"/>
              </a:defRPr>
            </a:pPr>
            <a:r>
              <a:t>Component Engineering vs. Systems Engineering</a:t>
            </a:r>
            <a:br/>
            <a:br/>
            <a:r>
              <a:t>COMPONENT FOCUS:</a:t>
            </a:r>
            <a:br/>
            <a:r>
              <a:t>• Design individual parts</a:t>
            </a:r>
            <a:br/>
            <a:r>
              <a:t>• Optimize single functions</a:t>
            </a:r>
            <a:br/>
            <a:r>
              <a:t>• Controlled conditions</a:t>
            </a:r>
            <a:br/>
            <a:r>
              <a:t>• Known interfaces</a:t>
            </a:r>
            <a:br/>
            <a:br/>
            <a:r>
              <a:t>SYSTEMS FOCUS:</a:t>
            </a:r>
            <a:br/>
            <a:r>
              <a:t>• Integrate multiple parts</a:t>
            </a:r>
            <a:br/>
            <a:r>
              <a:t>• Balance competing requirements</a:t>
            </a:r>
            <a:br/>
            <a:r>
              <a:t>• Operating in real environments</a:t>
            </a:r>
            <a:br/>
            <a:r>
              <a:t>• Emergent behaviors and interactions</a:t>
            </a:r>
            <a:br/>
            <a:br/>
            <a:r>
              <a:t>→ Both are necessary. Systems engineering provides the framework.</a:t>
            </a:r>
          </a:p>
          <a:p>
            <a:pPr>
              <a:spcAft>
                <a:spcPts val="1000"/>
              </a:spcAft>
              <a:defRPr sz="1800">
                <a:solidFill>
                  <a:srgbClr val="333333"/>
                </a:solidFill>
              </a:defRPr>
            </a:pPr>
            <a:r>
              <a:t>Learning Outcomes: LO1, LO3 - Understanding systems engineering approach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Today's Learning Journey</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Here's our path today. We start with three failure stories that illustrate what goes wrong. Then we extract the lessons—why systems engineering matters. From there, we'll build the foundation: what is a system, what are its characteristics, and how do we think about systems differently.</a:t>
            </a:r>
          </a:p>
          <a:p>
            <a:pPr>
              <a:spcAft>
                <a:spcPts val="1000"/>
              </a:spcAft>
              <a:defRPr sz="1800">
                <a:solidFill>
                  <a:srgbClr val="333333"/>
                </a:solidFill>
              </a:defRPr>
            </a:pPr>
            <a:r>
              <a:t>By the end, you won't just understand that systems engineering matters. You'll understand why, and you'll begin developing the mindset to practice it.</a:t>
            </a:r>
          </a:p>
          <a:p>
            <a:pPr>
              <a:spcAft>
                <a:spcPts val="1000"/>
              </a:spcAft>
              <a:defRPr sz="1800">
                <a:solidFill>
                  <a:srgbClr val="333333"/>
                </a:solidFill>
              </a:defRPr>
            </a:pPr>
            <a:r>
              <a:t>PPT Content:</a:t>
            </a:r>
          </a:p>
          <a:p>
            <a:pPr>
              <a:defRPr sz="1400">
                <a:solidFill>
                  <a:srgbClr val="787878"/>
                </a:solidFill>
                <a:latin typeface="Consolas"/>
              </a:defRPr>
            </a:pPr>
            <a:r>
              <a:t>Today's Journey:</a:t>
            </a:r>
            <a:br/>
            <a:br/>
            <a:r>
              <a:t>1. Failures (20 min) - Three case studies</a:t>
            </a:r>
            <a:br/>
            <a:r>
              <a:t>2. Consequences (15 min) - Cost of poor SE</a:t>
            </a:r>
            <a:br/>
            <a:r>
              <a:t>3. Foundations (25 min) - What is a system?</a:t>
            </a:r>
            <a:br/>
            <a:r>
              <a:t>4. Systems Thinking (20 min) - New mindset</a:t>
            </a:r>
            <a:br/>
            <a:r>
              <a:t>5. Application (10 min) - Automotive context</a:t>
            </a:r>
            <a:br/>
            <a:br/>
            <a:r>
              <a:t>Goal: Understand WHY systems engineering exists</a:t>
            </a:r>
          </a:p>
          <a:p>
            <a:pPr>
              <a:spcAft>
                <a:spcPts val="1000"/>
              </a:spcAft>
              <a:defRPr sz="1800">
                <a:solidFill>
                  <a:srgbClr val="333333"/>
                </a:solidFill>
              </a:defRPr>
            </a:pPr>
            <a:r>
              <a:t>Learning Outcomes: LO1, LO3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Ground Rules for Case Studies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Before we dive into the failures, three ground rules:</a:t>
            </a:r>
          </a:p>
          <a:p>
            <a:pPr>
              <a:spcAft>
                <a:spcPts val="1000"/>
              </a:spcAft>
              <a:defRPr sz="1800">
                <a:solidFill>
                  <a:srgbClr val="333333"/>
                </a:solidFill>
              </a:defRPr>
            </a:pPr>
            <a:r>
              <a:t>First, we're not here to blame individuals. These failures involved brilliant engineers. The problem was systemic, not personal.</a:t>
            </a:r>
          </a:p>
          <a:p>
            <a:pPr>
              <a:spcAft>
                <a:spcPts val="1000"/>
              </a:spcAft>
              <a:defRPr sz="1800">
                <a:solidFill>
                  <a:srgbClr val="333333"/>
                </a:solidFill>
              </a:defRPr>
            </a:pPr>
            <a:r>
              <a:t>Second, ask yourself during each story: 'Could this happen in automotive engineering?' The answer is almost always yes.</a:t>
            </a:r>
          </a:p>
          <a:p>
            <a:pPr>
              <a:spcAft>
                <a:spcPts val="1000"/>
              </a:spcAft>
              <a:defRPr sz="1800">
                <a:solidFill>
                  <a:srgbClr val="333333"/>
                </a:solidFill>
              </a:defRPr>
            </a:pPr>
            <a:r>
              <a:t>Third, focus on the how and why, not just the what. We want to understand the systems engineering failures, not just the technical ones.</a:t>
            </a:r>
          </a:p>
          <a:p>
            <a:pPr>
              <a:spcAft>
                <a:spcPts val="1000"/>
              </a:spcAft>
              <a:defRPr sz="1800">
                <a:solidFill>
                  <a:srgbClr val="333333"/>
                </a:solidFill>
              </a:defRPr>
            </a:pPr>
            <a:r>
              <a:t>Ready? Let's start with Apollo 13.</a:t>
            </a:r>
          </a:p>
          <a:p>
            <a:pPr>
              <a:spcAft>
                <a:spcPts val="1000"/>
              </a:spcAft>
              <a:defRPr sz="1800">
                <a:solidFill>
                  <a:srgbClr val="333333"/>
                </a:solidFill>
              </a:defRPr>
            </a:pPr>
            <a:r>
              <a:t>PPT Content:</a:t>
            </a:r>
          </a:p>
          <a:p>
            <a:pPr>
              <a:defRPr sz="1400">
                <a:solidFill>
                  <a:srgbClr val="787878"/>
                </a:solidFill>
                <a:latin typeface="Consolas"/>
              </a:defRPr>
            </a:pPr>
            <a:r>
              <a:t>Case Study Ground Rules:</a:t>
            </a:r>
            <a:br/>
            <a:br/>
            <a:r>
              <a:t>1. No blame - Systemic failures, not personal</a:t>
            </a:r>
            <a:br/>
            <a:r>
              <a:t>2. Automotive relevance - Ask "Could this happen here?</a:t>
            </a:r>
            <a:br/>
            <a:r>
              <a:t>3. Focus on SE process - Not just technical details</a:t>
            </a:r>
            <a:br/>
            <a:br/>
            <a:r>
              <a:t>Questions to Consider:</a:t>
            </a:r>
            <a:br/>
            <a:r>
              <a:t>• What systems engineering practices were missing?</a:t>
            </a:r>
            <a:br/>
            <a:r>
              <a:t>• What assumptions failed?</a:t>
            </a:r>
            <a:br/>
            <a:r>
              <a:t>• How could this have been prevented?</a:t>
            </a:r>
          </a:p>
          <a:p>
            <a:pPr>
              <a:spcAft>
                <a:spcPts val="1000"/>
              </a:spcAft>
              <a:defRPr sz="1800">
                <a:solidFill>
                  <a:srgbClr val="333333"/>
                </a:solidFill>
              </a:defRPr>
            </a:pPr>
            <a:r>
              <a:t>Learning Outcomes: LO3 - Framework for analyzing SE failures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Case Study 1 - Apollo 13: "Houston, We've Had a Problem"</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April 13, 1970. Three astronauts are two days into their journey to the moon. 200,000 miles from Earth. Then, at 55 hours into the mission, they hear a bang. Oxygen tank 2 has exploded.</a:t>
            </a:r>
          </a:p>
          <a:p>
            <a:pPr>
              <a:spcAft>
                <a:spcPts val="1000"/>
              </a:spcAft>
              <a:defRPr sz="1800">
                <a:solidFill>
                  <a:srgbClr val="333333"/>
                </a:solidFill>
              </a:defRPr>
            </a:pPr>
            <a:r>
              <a:t>The explosion disables the Command Module's power, water, and oxygen. Three men, hurtling through space, in a crippled spacecraft. This is not just an engineering failure. This is a systems engineering failure that began years before launch.</a:t>
            </a:r>
          </a:p>
          <a:p>
            <a:pPr>
              <a:spcAft>
                <a:spcPts val="1000"/>
              </a:spcAft>
              <a:defRPr sz="1800">
                <a:solidFill>
                  <a:srgbClr val="333333"/>
                </a:solidFill>
              </a:defRPr>
            </a:pPr>
            <a:r>
              <a:t>PPT Content:</a:t>
            </a:r>
          </a:p>
          <a:p>
            <a:pPr>
              <a:defRPr sz="1400">
                <a:solidFill>
                  <a:srgbClr val="787878"/>
                </a:solidFill>
                <a:latin typeface="Consolas"/>
              </a:defRPr>
            </a:pPr>
            <a:r>
              <a:t>APOLLO 13 OXYGEN TANK EXPLOSION</a:t>
            </a:r>
            <a:br/>
            <a:r>
              <a:t>April 13, 1970 | 55 hours into mission</a:t>
            </a:r>
            <a:br/>
            <a:br/>
            <a:r>
              <a:t>THE INCIDENT:</a:t>
            </a:r>
            <a:br/>
            <a:r>
              <a:t>• Oxygen tank 2 explodes</a:t>
            </a:r>
            <a:br/>
            <a:r>
              <a:t>• Command Module disabled</a:t>
            </a:r>
            <a:br/>
            <a:r>
              <a:t>• 3 astronauts, 200,000 miles from Earth</a:t>
            </a:r>
            <a:br/>
            <a:r>
              <a:t>• Need to survive 4 days on backup systems</a:t>
            </a:r>
            <a:br/>
            <a:br/>
            <a:r>
              <a:t>Critical Question: How did this happen?</a:t>
            </a:r>
          </a:p>
          <a:p>
            <a:pPr>
              <a:spcAft>
                <a:spcPts val="1000"/>
              </a:spcAft>
              <a:defRPr sz="1800">
                <a:solidFill>
                  <a:srgbClr val="333333"/>
                </a:solidFill>
              </a:defRPr>
            </a:pPr>
            <a:r>
              <a:t>Learning Outcomes: LO3 - Case study introduction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Apollo 13 - The Systems Engineering Failure</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Here's what happened. During pre-flight testing, ground crews couldn't remove oxygen from tank 2. So they ran the heater to boil it off. But here's the problem: the thermostatic switches were rated for 28 volts. The ground equipment used 65 volts.</a:t>
            </a:r>
          </a:p>
          <a:p>
            <a:pPr>
              <a:spcAft>
                <a:spcPts val="1000"/>
              </a:spcAft>
              <a:defRPr sz="1800">
                <a:solidFill>
                  <a:srgbClr val="333333"/>
                </a:solidFill>
              </a:defRPr>
            </a:pPr>
            <a:r>
              <a:t>The switches welded shut. Nobody noticed. During the mission, the heater cycled on and off... but the switches couldn't open. The temperature soared. Teflon insulation ignited in the pure oxygen environment. Boom.</a:t>
            </a:r>
          </a:p>
          <a:p>
            <a:pPr>
              <a:spcAft>
                <a:spcPts val="1000"/>
              </a:spcAft>
              <a:defRPr sz="1800">
                <a:solidFill>
                  <a:srgbClr val="333333"/>
                </a:solidFill>
              </a:defRPr>
            </a:pPr>
            <a:r>
              <a:t>Now, was this a design failure? Yes. But more importantly, it was a systems engineering failure. Let me show you how.</a:t>
            </a:r>
          </a:p>
          <a:p>
            <a:pPr>
              <a:spcAft>
                <a:spcPts val="1000"/>
              </a:spcAft>
              <a:defRPr sz="1800">
                <a:solidFill>
                  <a:srgbClr val="333333"/>
                </a:solidFill>
              </a:defRPr>
            </a:pPr>
            <a:r>
              <a:t>PPT Content:</a:t>
            </a:r>
          </a:p>
          <a:p>
            <a:pPr>
              <a:defRPr sz="1400">
                <a:solidFill>
                  <a:srgbClr val="787878"/>
                </a:solidFill>
                <a:latin typeface="Consolas"/>
              </a:defRPr>
            </a:pPr>
            <a:r>
              <a:t>THE SYSTEMS ENGINEERING FAILURES:</a:t>
            </a:r>
            <a:br/>
            <a:br/>
            <a:r>
              <a:t>1. Interface Mismatch</a:t>
            </a:r>
            <a:br/>
            <a:r>
              <a:t>   • Tank designed for 28V spacecraft systems</a:t>
            </a:r>
            <a:br/>
            <a:r>
              <a:t>   • Ground equipment operated at 65V</a:t>
            </a:r>
            <a:br/>
            <a:r>
              <a:t>   • No verification of compatibility</a:t>
            </a:r>
            <a:br/>
            <a:br/>
            <a:r>
              <a:t>2. Design Change Propagation</a:t>
            </a:r>
            <a:br/>
            <a:r>
              <a:t>   • Upgraded to 65V spacecraft systems</a:t>
            </a:r>
            <a:br/>
            <a:r>
              <a:t>   • Did NOT upgrade tank components</a:t>
            </a:r>
            <a:br/>
            <a:r>
              <a:t>   • Change impact analysis failed</a:t>
            </a:r>
            <a:br/>
            <a:br/>
            <a:r>
              <a:t>3. Testing Limitations</a:t>
            </a:r>
            <a:br/>
            <a:r>
              <a:t>   • Ground test anomaly (couldn't remove O2)</a:t>
            </a:r>
            <a:br/>
            <a:r>
              <a:t>   • Workaround implemented (heat it out)</a:t>
            </a:r>
            <a:br/>
            <a:r>
              <a:t>   • Nobody recognized danger signal</a:t>
            </a:r>
            <a:br/>
            <a:br/>
            <a:r>
              <a:t>4. Requirements Gap</a:t>
            </a:r>
            <a:br/>
            <a:r>
              <a:t>   • No requirement for ground equipment compatibility</a:t>
            </a:r>
            <a:br/>
            <a:r>
              <a:t>   • No verification of thermostatic switch ratings</a:t>
            </a:r>
          </a:p>
          <a:p>
            <a:pPr>
              <a:spcAft>
                <a:spcPts val="1000"/>
              </a:spcAft>
              <a:defRPr sz="1800">
                <a:solidFill>
                  <a:srgbClr val="333333"/>
                </a:solidFill>
              </a:defRPr>
            </a:pPr>
            <a:r>
              <a:t>Learning Outcomes: LO1, LO3 - Understanding SE process failures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Apollo 13 - The Systems Lesson</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Here's the systems engineering lesson: Every component exists in a context. The oxygen tank worked fine in isolation. But in the context of ground support equipment, in the context of the 65-volt upgrade, in the context of the testing procedures... it was a bomb waiting to go off.</a:t>
            </a:r>
          </a:p>
          <a:p>
            <a:pPr>
              <a:spcAft>
                <a:spcPts val="1000"/>
              </a:spcAft>
              <a:defRPr sz="1800">
                <a:solidFill>
                  <a:srgbClr val="333333"/>
                </a:solidFill>
              </a:defRPr>
            </a:pPr>
            <a:r>
              <a:t>Good component engineering. Failed systems engineering. The tank designers focused on their component. Nobody looked at the whole system context. Nobody asked, 'What else changed? What are the interfaces? What are the hidden interactions?'</a:t>
            </a:r>
          </a:p>
          <a:p>
            <a:pPr>
              <a:spcAft>
                <a:spcPts val="1000"/>
              </a:spcAft>
              <a:defRPr sz="1800">
                <a:solidFill>
                  <a:srgbClr val="333333"/>
                </a:solidFill>
              </a:defRPr>
            </a:pPr>
            <a:r>
              <a:t>That's systems engineering. And when you don't do it, this is what happens.</a:t>
            </a:r>
          </a:p>
          <a:p>
            <a:pPr>
              <a:spcAft>
                <a:spcPts val="1000"/>
              </a:spcAft>
              <a:defRPr sz="1800">
                <a:solidFill>
                  <a:srgbClr val="333333"/>
                </a:solidFill>
              </a:defRPr>
            </a:pPr>
            <a:r>
              <a:t>PPT Content:</a:t>
            </a:r>
          </a:p>
          <a:p>
            <a:pPr>
              <a:defRPr sz="1400">
                <a:solidFill>
                  <a:srgbClr val="787878"/>
                </a:solidFill>
                <a:latin typeface="Consolas"/>
              </a:defRPr>
            </a:pPr>
            <a:r>
              <a:t>SYSTEMS ENGINEERING LESSONS:</a:t>
            </a:r>
            <a:br/>
            <a:br/>
            <a:r>
              <a:t>✗ Component worked in isolation</a:t>
            </a:r>
            <a:br/>
            <a:r>
              <a:t>✗ Failed in system context</a:t>
            </a:r>
            <a:br/>
            <a:r>
              <a:t>✗ Interface assumptions were wrong</a:t>
            </a:r>
            <a:br/>
            <a:r>
              <a:t>✗ Design changes didn't propagate</a:t>
            </a:r>
            <a:br/>
            <a:r>
              <a:t>✗ Testing didn't reveal system-level issue</a:t>
            </a:r>
            <a:br/>
            <a:br/>
            <a:r>
              <a:t>CRITICAL SE PRACTICES MISSING:</a:t>
            </a:r>
            <a:br/>
            <a:r>
              <a:t>• Interface control and verification</a:t>
            </a:r>
            <a:br/>
            <a:r>
              <a:t>• Change impact analysis</a:t>
            </a:r>
            <a:br/>
            <a:r>
              <a:t>• System-level requirements</a:t>
            </a:r>
            <a:br/>
            <a:r>
              <a:t>• Context-aware testing</a:t>
            </a:r>
            <a:br/>
            <a:r>
              <a:t>• Cross-functional communication</a:t>
            </a:r>
            <a:br/>
            <a:br/>
            <a:r>
              <a:t>Good parts do not guarantee a good system.</a:t>
            </a:r>
          </a:p>
          <a:p>
            <a:pPr>
              <a:spcAft>
                <a:spcPts val="1000"/>
              </a:spcAft>
              <a:defRPr sz="1800">
                <a:solidFill>
                  <a:srgbClr val="333333"/>
                </a:solidFill>
              </a:defRPr>
            </a:pPr>
            <a:r>
              <a:t>Learning Outcomes: LO1, LO3 - SE principles and practices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Case Study 2 - Therac-25: When Software Kills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1985 to 1987. Six patients receiving radiation therapy. What should have been healing doses became lethal. Massive radiation overdoses—100 times the intended amount. Three patients died within months. Three more suffered severe injuries.</a:t>
            </a:r>
          </a:p>
          <a:p>
            <a:pPr>
              <a:spcAft>
                <a:spcPts val="1000"/>
              </a:spcAft>
              <a:defRPr sz="1800">
                <a:solidFill>
                  <a:srgbClr val="333333"/>
                </a:solidFill>
              </a:defRPr>
            </a:pPr>
            <a:r>
              <a:t>The machine? Therac-25. A computer-controlled radiation therapy device. And this case study should terrify every software engineer in this room. Because the root cause was software. More specifically, it was the systems engineering of software.</a:t>
            </a:r>
          </a:p>
          <a:p>
            <a:pPr>
              <a:spcAft>
                <a:spcPts val="1000"/>
              </a:spcAft>
              <a:defRPr sz="1800">
                <a:solidFill>
                  <a:srgbClr val="333333"/>
                </a:solidFill>
              </a:defRPr>
            </a:pPr>
            <a:r>
              <a:t>PPT Content:</a:t>
            </a:r>
          </a:p>
          <a:p>
            <a:pPr>
              <a:defRPr sz="1400">
                <a:solidFill>
                  <a:srgbClr val="787878"/>
                </a:solidFill>
                <a:latin typeface="Consolas"/>
              </a:defRPr>
            </a:pPr>
            <a:r>
              <a:t>THERAC-25 RADIATION OVERDOSES</a:t>
            </a:r>
            <a:br/>
            <a:r>
              <a:t>1985-1987 | Six incidents</a:t>
            </a:r>
            <a:br/>
            <a:br/>
            <a:r>
              <a:t>THE INCIDENTS:</a:t>
            </a:r>
            <a:br/>
            <a:r>
              <a:t>• 6 patients received massive radiation overdoses</a:t>
            </a:r>
            <a:br/>
            <a:r>
              <a:t>• 100x intended dosage</a:t>
            </a:r>
            <a:br/>
            <a:r>
              <a:t>• 3 deaths, 3 severe injuries</a:t>
            </a:r>
            <a:br/>
            <a:r>
              <a:t>• Machine continued operating normally</a:t>
            </a:r>
            <a:br/>
            <a:r>
              <a:t>• Operators saw error codes, but no explanation</a:t>
            </a:r>
            <a:br/>
            <a:br/>
            <a:r>
              <a:t>The Problem: Software failure + Systems engineering failure</a:t>
            </a:r>
          </a:p>
          <a:p>
            <a:pPr>
              <a:spcAft>
                <a:spcPts val="1000"/>
              </a:spcAft>
              <a:defRPr sz="1800">
                <a:solidFill>
                  <a:srgbClr val="333333"/>
                </a:solidFill>
              </a:defRPr>
            </a:pPr>
            <a:r>
              <a:t>Learning Outcomes: LO3 - Software-intensive system failure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Therac-25 - The Systems Engineering Catastrophe</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Previous versions—Therac-6 and Therac-20—had hardware interlocks. Physical safety mechanisms that prevented overdoses even if software failed. But Therac-25 removed those. Why? Cost savings. Space savings. And confidence in software.</a:t>
            </a:r>
          </a:p>
          <a:p>
            <a:pPr>
              <a:spcAft>
                <a:spcPts val="1000"/>
              </a:spcAft>
              <a:defRPr sz="1800">
                <a:solidFill>
                  <a:srgbClr val="333333"/>
                </a:solidFill>
              </a:defRPr>
            </a:pPr>
            <a:r>
              <a:t>The engineers made the software responsible for safety. But the software had race conditions, inadequate error handling, and cryptic error messages. Operators saw 'Malfunction 54' and were told to continue treatment.</a:t>
            </a:r>
          </a:p>
          <a:p>
            <a:pPr>
              <a:spcAft>
                <a:spcPts val="1000"/>
              </a:spcAft>
              <a:defRPr sz="1800">
                <a:solidFill>
                  <a:srgbClr val="333333"/>
                </a:solidFill>
              </a:defRPr>
            </a:pPr>
            <a:r>
              <a:t>Here's the systems engineering failure: They removed redundant safety layers without understanding the system-level risks. They optimized for cost, not safety. They trusted a single layer of defense.</a:t>
            </a:r>
          </a:p>
          <a:p>
            <a:pPr>
              <a:spcAft>
                <a:spcPts val="1000"/>
              </a:spcAft>
              <a:defRPr sz="1800">
                <a:solidFill>
                  <a:srgbClr val="333333"/>
                </a:solidFill>
              </a:defRPr>
            </a:pPr>
            <a:r>
              <a:t>PPT Content:</a:t>
            </a:r>
          </a:p>
          <a:p>
            <a:pPr>
              <a:defRPr sz="1400">
                <a:solidFill>
                  <a:srgbClr val="787878"/>
                </a:solidFill>
                <a:latin typeface="Consolas"/>
              </a:defRPr>
            </a:pPr>
            <a:r>
              <a:t>THE SYSTEMS ENGINEERING FAILURES:</a:t>
            </a:r>
            <a:br/>
            <a:br/>
            <a:r>
              <a:t>1. Safety Architecture Degradation</a:t>
            </a:r>
            <a:br/>
            <a:r>
              <a:t>   • Removed hardware safety interlocks</a:t>
            </a:r>
            <a:br/>
            <a:r>
              <a:t>   • Relied solely on software for safety</a:t>
            </a:r>
            <a:br/>
            <a:r>
              <a:t>   • No defense-in-depth strategy</a:t>
            </a:r>
            <a:br/>
            <a:br/>
            <a:r>
              <a:t>2. Software Requirements Gap</a:t>
            </a:r>
            <a:br/>
            <a:r>
              <a:t>   • No formal safety requirements for software</a:t>
            </a:r>
            <a:br/>
            <a:r>
              <a:t>   • Race conditions in critical code</a:t>
            </a:r>
            <a:br/>
            <a:r>
              <a:t>   • Inadequate error handling</a:t>
            </a:r>
            <a:br/>
            <a:br/>
            <a:r>
              <a:t>3. Human-System Interface Failure</a:t>
            </a:r>
            <a:br/>
            <a:r>
              <a:t>   • Cryptic error messages ("Malfunction 54")</a:t>
            </a:r>
            <a:br/>
            <a:r>
              <a:t>   • Operators not trained on error meanings</a:t>
            </a:r>
            <a:br/>
            <a:r>
              <a:t>   • No clear safety guidance</a:t>
            </a:r>
            <a:br/>
            <a:br/>
            <a:r>
              <a:t>4. Inadequate Testing</a:t>
            </a:r>
            <a:br/>
            <a:r>
              <a:t>   • Software tested in isolation</a:t>
            </a:r>
            <a:br/>
            <a:r>
              <a:t>   • Not tested for race conditions under realistic timing</a:t>
            </a:r>
            <a:br/>
            <a:r>
              <a:t>   • System-level safety scenarios not exercised</a:t>
            </a:r>
            <a:br/>
            <a:br/>
            <a:r>
              <a:t>5. Lack of System Safety Analysis</a:t>
            </a:r>
            <a:br/>
            <a:r>
              <a:t>   • No failure modes and effects analysis (FMEA)</a:t>
            </a:r>
            <a:br/>
            <a:r>
              <a:t>   • No hazard analysis</a:t>
            </a:r>
            <a:br/>
            <a:r>
              <a:t>   • Didn't understand system-level failure modes</a:t>
            </a:r>
          </a:p>
          <a:p>
            <a:pPr>
              <a:spcAft>
                <a:spcPts val="1000"/>
              </a:spcAft>
              <a:defRPr sz="1800">
                <a:solidFill>
                  <a:srgbClr val="333333"/>
                </a:solidFill>
              </a:defRPr>
            </a:pPr>
            <a:r>
              <a:t>Learning Outcomes: LO1, LO3 - SE safety practices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Therac-25 - The Systems Lesson</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The lesson here is about system safety architecture. In previous versions, if software failed, hardware caught it. There were layers of defense. Therac-25 had a single point of failure: the software. And it failed.</a:t>
            </a:r>
          </a:p>
          <a:p>
            <a:pPr>
              <a:spcAft>
                <a:spcPts val="1000"/>
              </a:spcAft>
              <a:defRPr sz="1800">
                <a:solidFill>
                  <a:srgbClr val="333333"/>
                </a:solidFill>
              </a:defRPr>
            </a:pPr>
            <a:r>
              <a:t>This introduced the concept of defense-in-depth to medical device regulation. It changed how we think about software safety. And it's directly relevant to automotive systems today.</a:t>
            </a:r>
          </a:p>
          <a:p>
            <a:pPr>
              <a:spcAft>
                <a:spcPts val="1000"/>
              </a:spcAft>
              <a:defRPr sz="1800">
                <a:solidFill>
                  <a:srgbClr val="333333"/>
                </a:solidFill>
              </a:defRPr>
            </a:pPr>
            <a:r>
              <a:t>Think about it: Your autonomous emergency braking system. Your lane-keeping assist. Your adaptive cruise control. All software-intensive. All safety-critical. Are you building Therac-25, or are you building defensible systems?</a:t>
            </a:r>
          </a:p>
          <a:p>
            <a:pPr>
              <a:spcAft>
                <a:spcPts val="1000"/>
              </a:spcAft>
              <a:defRPr sz="1800">
                <a:solidFill>
                  <a:srgbClr val="333333"/>
                </a:solidFill>
              </a:defRPr>
            </a:pPr>
            <a:r>
              <a:t>PPT Content:</a:t>
            </a:r>
          </a:p>
          <a:p>
            <a:pPr>
              <a:defRPr sz="1400">
                <a:solidFill>
                  <a:srgbClr val="787878"/>
                </a:solidFill>
                <a:latin typeface="Consolas"/>
              </a:defRPr>
            </a:pPr>
            <a:r>
              <a:t>SYSTEMS ENGINEERING LESSONS:</a:t>
            </a:r>
            <a:br/>
            <a:br/>
            <a:r>
              <a:t>✗ Single point of failure (software only)</a:t>
            </a:r>
            <a:br/>
            <a:r>
              <a:t>✗ No redundant safety layers</a:t>
            </a:r>
            <a:br/>
            <a:r>
              <a:t>✗ Inadequate hazard analysis</a:t>
            </a:r>
            <a:br/>
            <a:r>
              <a:t>✗ Poor human-system interface</a:t>
            </a:r>
            <a:br/>
            <a:r>
              <a:t>✗ Testing didn't cover system failure modes</a:t>
            </a:r>
            <a:br/>
            <a:br/>
            <a:r>
              <a:t>CRITICAL SE PRACTICES MISSING:</a:t>
            </a:r>
            <a:br/>
            <a:r>
              <a:t>• System safety analysis (FMEA, hazard analysis)</a:t>
            </a:r>
            <a:br/>
            <a:r>
              <a:t>• Defense-in-depth architecture</a:t>
            </a:r>
            <a:br/>
            <a:r>
              <a:t>• Safety requirements for software</a:t>
            </a:r>
            <a:br/>
            <a:r>
              <a:t>• Human factors engineering</a:t>
            </a:r>
            <a:br/>
            <a:r>
              <a:t>• System-level integration testing</a:t>
            </a:r>
            <a:br/>
            <a:br/>
            <a:r>
              <a:t>Removing redundancy without system analysis is gambling with lives.</a:t>
            </a:r>
            <a:br/>
            <a:br/>
            <a:r>
              <a:t>AUTOMOTIVE RELEVANCE: Software-intensive safety systems today</a:t>
            </a:r>
          </a:p>
          <a:p>
            <a:pPr>
              <a:spcAft>
                <a:spcPts val="1000"/>
              </a:spcAft>
              <a:defRPr sz="1800">
                <a:solidFill>
                  <a:srgbClr val="333333"/>
                </a:solidFill>
              </a:defRPr>
            </a:pPr>
            <a:r>
              <a:t>Learning Outcomes: LO1, LO3, LO4 - SE safety for automotive context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Case Study 3 - Toyota Unintended Acceleration</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600"/>
              </a:spcAft>
              <a:defRPr sz="1800">
                <a:solidFill>
                  <a:srgbClr val="333333"/>
                </a:solidFill>
              </a:defRPr>
            </a:pPr>
            <a:r>
              <a:t>Reports start flooding in: Toyota vehicles accelerating uncontrollably. Drivers pressing the brake, but the car keeps going. 89 people die. Toyota denies a problem, then recalls 9 million vehicles. First blaming floor mats, then the accelerator pedal, then... nothing definitive.</a:t>
            </a:r>
          </a:p>
          <a:p>
            <a:pPr>
              <a:spcAft>
                <a:spcPts val="1000"/>
              </a:spcAft>
              <a:defRPr sz="1800">
                <a:solidFill>
                  <a:srgbClr val="333333"/>
                </a:solidFill>
              </a:defRPr>
            </a:pPr>
            <a:r>
              <a:t>NASA engineers spent months analyzing the software. The result? They couldn't prove the software caused it, but they couldn't prove it didn't. The system was too complex to fully verify.</a:t>
            </a:r>
          </a:p>
          <a:p>
            <a:pPr>
              <a:spcAft>
                <a:spcPts val="1000"/>
              </a:spcAft>
              <a:defRPr sz="1800">
                <a:solidFill>
                  <a:srgbClr val="333333"/>
                </a:solidFill>
              </a:defRPr>
            </a:pPr>
            <a:r>
              <a:t>This is the most important case study for you as automotive engineers. Because this is your domain. And the lessons are profound.</a:t>
            </a:r>
          </a:p>
          <a:p>
            <a:pPr>
              <a:spcAft>
                <a:spcPts val="1000"/>
              </a:spcAft>
              <a:defRPr sz="1800">
                <a:solidFill>
                  <a:srgbClr val="333333"/>
                </a:solidFill>
              </a:defRPr>
            </a:pPr>
            <a:r>
              <a:t>PPT Content:</a:t>
            </a:r>
          </a:p>
          <a:p>
            <a:pPr>
              <a:defRPr sz="1400">
                <a:solidFill>
                  <a:srgbClr val="787878"/>
                </a:solidFill>
                <a:latin typeface="Consolas"/>
              </a:defRPr>
            </a:pPr>
            <a:r>
              <a:t>TOYOTA UNINTENDED ACCELERATION</a:t>
            </a:r>
            <a:br/>
            <a:r>
              <a:t>2009-2011 | Massive recall crisis</a:t>
            </a:r>
            <a:br/>
            <a:br/>
            <a:r>
              <a:t>THE INCIDENTS:</a:t>
            </a:r>
            <a:br/>
            <a:r>
              <a:t>• 89 confirmed deaths</a:t>
            </a:r>
            <a:br/>
            <a:r>
              <a:t>• Thousands of unintended acceleration reports</a:t>
            </a:r>
            <a:br/>
            <a:r>
              <a:t>• 9 million vehicles recalled globally</a:t>
            </a:r>
            <a:br/>
            <a:r>
              <a:t>• $3 billion in costs</a:t>
            </a:r>
            <a:br/>
            <a:r>
              <a:t>• Congressional hearings</a:t>
            </a:r>
            <a:br/>
            <a:r>
              <a:t>• NASA investigation</a:t>
            </a:r>
            <a:br/>
            <a:br/>
            <a:r>
              <a:t>Initial Causes Blamed:</a:t>
            </a:r>
            <a:br/>
            <a:r>
              <a:t>1. Floor mats</a:t>
            </a:r>
            <a:br/>
            <a:r>
              <a:t>2. Sticky accelerator pedals</a:t>
            </a:r>
            <a:br/>
            <a:r>
              <a:t>3. Software? (Never definitively proven)</a:t>
            </a:r>
            <a:br/>
            <a:br/>
            <a:r>
              <a:t>The Real Problem: System complexity beyond verification</a:t>
            </a:r>
          </a:p>
          <a:p>
            <a:pPr>
              <a:spcAft>
                <a:spcPts val="1000"/>
              </a:spcAft>
              <a:defRPr sz="1800">
                <a:solidFill>
                  <a:srgbClr val="333333"/>
                </a:solidFill>
              </a:defRPr>
            </a:pPr>
            <a:r>
              <a:t>Learning Outcomes: LO3, LO4 - Automotive SE failure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Common Patterns Across All Three Failures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Step back and look at all three disasters. Different decades. Different technologies. Different industries. But notice the patterns:</a:t>
            </a:r>
          </a:p>
          <a:p>
            <a:pPr>
              <a:spcAft>
                <a:spcPts val="1000"/>
              </a:spcAft>
              <a:defRPr sz="1800">
                <a:solidFill>
                  <a:srgbClr val="333333"/>
                </a:solidFill>
              </a:defRPr>
            </a:pPr>
            <a:r>
              <a:t>All three had interface failures—Apollo's voltage mismatch, Therac's software-hardware interface, Toyota's task interactions.</a:t>
            </a:r>
          </a:p>
          <a:p>
            <a:pPr>
              <a:spcAft>
                <a:spcPts val="1000"/>
              </a:spcAft>
              <a:defRPr sz="1800">
                <a:solidFill>
                  <a:srgbClr val="333333"/>
                </a:solidFill>
              </a:defRPr>
            </a:pPr>
            <a:r>
              <a:t>All three had complexity beyond verification—Apollo's ground equipment interactions, Therac's timing-dependent race conditions, Toyota's unverifiable software.</a:t>
            </a:r>
          </a:p>
          <a:p>
            <a:pPr>
              <a:spcAft>
                <a:spcPts val="1000"/>
              </a:spcAft>
              <a:defRPr sz="1800">
                <a:solidFill>
                  <a:srgbClr val="333333"/>
                </a:solidFill>
              </a:defRPr>
            </a:pPr>
            <a:r>
              <a:t>All three had inadequate system-level thinking—focused on components, missed system behaviors.</a:t>
            </a:r>
          </a:p>
          <a:p>
            <a:pPr>
              <a:spcAft>
                <a:spcPts val="1000"/>
              </a:spcAft>
              <a:defRPr sz="1800">
                <a:solidFill>
                  <a:srgbClr val="333333"/>
                </a:solidFill>
              </a:defRPr>
            </a:pPr>
            <a:r>
              <a:t>These aren't random failures. These are systems engineering failures. And they follow predictable patterns.</a:t>
            </a:r>
          </a:p>
          <a:p>
            <a:pPr>
              <a:spcAft>
                <a:spcPts val="1000"/>
              </a:spcAft>
              <a:defRPr sz="1800">
                <a:solidFill>
                  <a:srgbClr val="333333"/>
                </a:solidFill>
              </a:defRPr>
            </a:pPr>
            <a:r>
              <a:t>PPT Content:</a:t>
            </a:r>
          </a:p>
          <a:p>
            <a:pPr>
              <a:defRPr sz="1400">
                <a:solidFill>
                  <a:srgbClr val="787878"/>
                </a:solidFill>
                <a:latin typeface="Consolas"/>
              </a:defRPr>
            </a:pPr>
            <a:r>
              <a:t>COMMON FAILURE PATTERNS:</a:t>
            </a:r>
            <a:br/>
            <a:br/>
            <a:r>
              <a:t>1. INTERFACE FAILURES</a:t>
            </a:r>
            <a:br/>
            <a:r>
              <a:t>   • Apollo: 28V vs 65V mismatch</a:t>
            </a:r>
            <a:br/>
            <a:r>
              <a:t>   • Therac: Hardware-software safety interface</a:t>
            </a:r>
            <a:br/>
            <a:r>
              <a:t>   • Toyota: Inter-task communication errors</a:t>
            </a:r>
            <a:br/>
            <a:br/>
            <a:r>
              <a:t>2. EMERGENT COMPLEXITY</a:t>
            </a:r>
            <a:br/>
            <a:r>
              <a:t>   • Apollo: Ground equipment interaction</a:t>
            </a:r>
            <a:br/>
            <a:r>
              <a:t>   • Therac: Race conditions under timing scenarios</a:t>
            </a:r>
            <a:br/>
            <a:r>
              <a:t>   • Toyota: Global variable interactions</a:t>
            </a:r>
            <a:br/>
            <a:br/>
            <a:r>
              <a:t>3. VERIFICATION GAPS</a:t>
            </a:r>
            <a:br/>
            <a:r>
              <a:t>   • Apollo: Ground compatibility not verified</a:t>
            </a:r>
            <a:br/>
            <a:r>
              <a:t>   • Therac: Timing-dependent behaviors not tested</a:t>
            </a:r>
            <a:br/>
            <a:r>
              <a:t>   • Toyota: Too complex to fully verify</a:t>
            </a:r>
            <a:br/>
            <a:br/>
            <a:r>
              <a:t>4. MISSING SYSTEM-LEVEL REQUIREMENTS</a:t>
            </a:r>
            <a:br/>
            <a:r>
              <a:t>   • Apollo: No ground equipment compatibility spec</a:t>
            </a:r>
            <a:br/>
            <a:r>
              <a:t>   • Therac: No system safety architecture requirement</a:t>
            </a:r>
            <a:br/>
            <a:r>
              <a:t>   • Toyota: No software complexity limits</a:t>
            </a:r>
            <a:br/>
            <a:br/>
            <a:r>
              <a:t>→ These are SYSTEMS ENGINEERING failures, not component failures</a:t>
            </a:r>
          </a:p>
          <a:p>
            <a:pPr>
              <a:spcAft>
                <a:spcPts val="1000"/>
              </a:spcAft>
              <a:defRPr sz="1800">
                <a:solidFill>
                  <a:srgbClr val="333333"/>
                </a:solidFill>
              </a:defRPr>
            </a:pPr>
            <a:r>
              <a:t>Learning Outcomes: LO1, LO3 - Recognizing SE failure patterns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The Cost of Poor Systems Engineering</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Let's talk about cost. Not just money, though that's significant. Let's talk about the full cost of poor systems engineering.</a:t>
            </a:r>
          </a:p>
          <a:p>
            <a:pPr>
              <a:spcAft>
                <a:spcPts val="1000"/>
              </a:spcAft>
              <a:defRPr sz="1800">
                <a:solidFill>
                  <a:srgbClr val="333333"/>
                </a:solidFill>
              </a:defRPr>
            </a:pPr>
            <a:r>
              <a:t>Financial: Toyota: $3 billion. Mars Climate Orbiter (metric/imperial unit error): $125 million. Boeing 737 MAX: over $20 billion and counting.</a:t>
            </a:r>
          </a:p>
          <a:p>
            <a:pPr>
              <a:spcAft>
                <a:spcPts val="1000"/>
              </a:spcAft>
              <a:defRPr sz="1800">
                <a:solidFill>
                  <a:srgbClr val="333333"/>
                </a:solidFill>
              </a:defRPr>
            </a:pPr>
            <a:r>
              <a:t>Human: Therac-25: 6 victims. Toyota: 89 deaths. Boeing 737 MAX: 346 deaths. Apollo 13: three astronauts nearly lost.</a:t>
            </a:r>
          </a:p>
          <a:p>
            <a:pPr>
              <a:spcAft>
                <a:spcPts val="1000"/>
              </a:spcAft>
              <a:defRPr sz="1800">
                <a:solidFill>
                  <a:srgbClr val="333333"/>
                </a:solidFill>
              </a:defRPr>
            </a:pPr>
            <a:r>
              <a:t>Reputation: Toyota lost its reputation for quality. Boeing lost decades of safety credibility.</a:t>
            </a:r>
          </a:p>
          <a:p>
            <a:pPr>
              <a:spcAft>
                <a:spcPts val="1000"/>
              </a:spcAft>
              <a:defRPr sz="1800">
                <a:solidFill>
                  <a:srgbClr val="333333"/>
                </a:solidFill>
              </a:defRPr>
            </a:pPr>
            <a:r>
              <a:t>But here's the key: Every one of these was preventable with proper systems engineering. These weren't acts of God. These were process failures.</a:t>
            </a:r>
          </a:p>
          <a:p>
            <a:pPr>
              <a:spcAft>
                <a:spcPts val="1000"/>
              </a:spcAft>
              <a:defRPr sz="1800">
                <a:solidFill>
                  <a:srgbClr val="333333"/>
                </a:solidFill>
              </a:defRPr>
            </a:pPr>
            <a:r>
              <a:t>PPT Content:</a:t>
            </a:r>
          </a:p>
          <a:p>
            <a:pPr>
              <a:defRPr sz="1400">
                <a:solidFill>
                  <a:srgbClr val="787878"/>
                </a:solidFill>
                <a:latin typeface="Consolas"/>
              </a:defRPr>
            </a:pPr>
            <a:r>
              <a:t>THE COST OF POOR SYSTEMS ENGINEERING</a:t>
            </a:r>
            <a:br/>
            <a:br/>
            <a:r>
              <a:t>FINANCIAL COSTS:</a:t>
            </a:r>
            <a:br/>
            <a:r>
              <a:t>• Toyota recalls: $3B+</a:t>
            </a:r>
            <a:br/>
            <a:r>
              <a:t>• Mars Climate Orbiter: $125M (unit conversion error)</a:t>
            </a:r>
            <a:br/>
            <a:r>
              <a:t>• Boeing 737 MAX: $20B+</a:t>
            </a:r>
            <a:br/>
            <a:r>
              <a:t>• Average automotive recall: $500M-$1B</a:t>
            </a:r>
            <a:br/>
            <a:br/>
            <a:r>
              <a:t>HUMAN COSTS:</a:t>
            </a:r>
            <a:br/>
            <a:r>
              <a:t>• Therac-25: 6 casualties</a:t>
            </a:r>
            <a:br/>
            <a:r>
              <a:t>• Toyota: 89 confirmed deaths</a:t>
            </a:r>
            <a:br/>
            <a:r>
              <a:t>• Boeing 737 MAX: 346 deaths</a:t>
            </a:r>
            <a:br/>
            <a:r>
              <a:t>• Countless injuries and trauma</a:t>
            </a:r>
            <a:br/>
            <a:br/>
            <a:r>
              <a:t>REPUTATIONAL COSTS:</a:t>
            </a:r>
            <a:br/>
            <a:r>
              <a:t>• Decades to rebuild trust</a:t>
            </a:r>
            <a:br/>
            <a:r>
              <a:t>• Lost market share</a:t>
            </a:r>
            <a:br/>
            <a:r>
              <a:t>• Regulatory scrutiny</a:t>
            </a:r>
            <a:br/>
            <a:r>
              <a:t>• Industry-wide impacts</a:t>
            </a:r>
            <a:br/>
            <a:br/>
            <a:r>
              <a:t>TIME COSTS:</a:t>
            </a:r>
            <a:br/>
            <a:r>
              <a:t>• Years of investigation</a:t>
            </a:r>
            <a:br/>
            <a:r>
              <a:t>• Development delays</a:t>
            </a:r>
            <a:br/>
            <a:r>
              <a:t>• Rework and redesign</a:t>
            </a:r>
            <a:br/>
            <a:r>
              <a:t>• Regulatory approval delays</a:t>
            </a:r>
            <a:br/>
            <a:br/>
            <a:r>
              <a:t>→ ALL PREVENTABLE WITH RIGOROUS SYSTEMS ENGINEERING</a:t>
            </a:r>
          </a:p>
          <a:p>
            <a:pPr>
              <a:spcAft>
                <a:spcPts val="1000"/>
              </a:spcAft>
              <a:defRPr sz="1800">
                <a:solidFill>
                  <a:srgbClr val="333333"/>
                </a:solidFill>
              </a:defRPr>
            </a:pPr>
            <a:r>
              <a:t>Learning Outcomes: LO3 - Understanding SE value proposition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The ROI of Systems Engineering</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Now let's flip it around. What's the return on investment for good systems engineering?</a:t>
            </a:r>
          </a:p>
          <a:p>
            <a:pPr>
              <a:spcAft>
                <a:spcPts val="1000"/>
              </a:spcAft>
              <a:defRPr sz="1800">
                <a:solidFill>
                  <a:srgbClr val="333333"/>
                </a:solidFill>
              </a:defRPr>
            </a:pPr>
            <a:r>
              <a:t>Studies show that every dollar spent on early systems engineering saves seven to ten dollars later in development. Finding a requirements error before design? Costs $100. Finding it after production? Costs $10,000 to $1,000,000.</a:t>
            </a:r>
          </a:p>
          <a:p>
            <a:pPr>
              <a:spcAft>
                <a:spcPts val="1000"/>
              </a:spcAft>
              <a:defRPr sz="1800">
                <a:solidFill>
                  <a:srgbClr val="333333"/>
                </a:solidFill>
              </a:defRPr>
            </a:pPr>
            <a:r>
              <a:t>More importantly: systems engineering front-loads the work. You spend more time upfront in requirements, architecture, planning. But you spend dramatically less time in rework, recalls, and firefighting.</a:t>
            </a:r>
          </a:p>
          <a:p>
            <a:pPr>
              <a:spcAft>
                <a:spcPts val="1000"/>
              </a:spcAft>
              <a:defRPr sz="1800">
                <a:solidFill>
                  <a:srgbClr val="333333"/>
                </a:solidFill>
              </a:defRPr>
            </a:pPr>
            <a:r>
              <a:t>Think of it this way: Would you rather spend 3 months getting requirements right, or 3 years fixing a recalled product?</a:t>
            </a:r>
          </a:p>
          <a:p>
            <a:pPr>
              <a:spcAft>
                <a:spcPts val="1000"/>
              </a:spcAft>
              <a:defRPr sz="1800">
                <a:solidFill>
                  <a:srgbClr val="333333"/>
                </a:solidFill>
              </a:defRPr>
            </a:pPr>
            <a:r>
              <a:t>PPT Content:</a:t>
            </a:r>
          </a:p>
          <a:p>
            <a:pPr>
              <a:defRPr sz="1400">
                <a:solidFill>
                  <a:srgbClr val="787878"/>
                </a:solidFill>
                <a:latin typeface="Consolas"/>
              </a:defRPr>
            </a:pPr>
            <a:r>
              <a:t>RETURN ON INVESTMENT: SYSTEMS ENGINEERING</a:t>
            </a:r>
            <a:br/>
            <a:br/>
            <a:r>
              <a:t>COST MULTIPLIER OF FIXING ERRORS:</a:t>
            </a:r>
            <a:br/>
            <a:r>
              <a:t>• Requirements phase: 1x (baseline)</a:t>
            </a:r>
            <a:br/>
            <a:r>
              <a:t>• Design phase: 10x</a:t>
            </a:r>
            <a:br/>
            <a:r>
              <a:t>• Implementation: 100x</a:t>
            </a:r>
            <a:br/>
            <a:r>
              <a:t>• Testing: 1,000x</a:t>
            </a:r>
            <a:br/>
            <a:r>
              <a:t>• Post-production: 10,000x+</a:t>
            </a:r>
            <a:br/>
            <a:br/>
            <a:r>
              <a:t>SE INVESTMENT PAYOFF:</a:t>
            </a:r>
            <a:br/>
            <a:r>
              <a:t>• $1 in early SE → Save $7-$10 later</a:t>
            </a:r>
            <a:br/>
            <a:r>
              <a:t>• Reduce rework by 50-80%</a:t>
            </a:r>
            <a:br/>
            <a:r>
              <a:t>• Cut integration time by 30-60%</a:t>
            </a:r>
            <a:br/>
            <a:r>
              <a:t>• Prevent costly recalls and redesigns</a:t>
            </a:r>
            <a:br/>
            <a:br/>
            <a:r>
              <a:t>FRONT-LOADING BENEFITS:</a:t>
            </a:r>
            <a:br/>
            <a:r>
              <a:t>• More time in requirements → Less time in rework</a:t>
            </a:r>
            <a:br/>
            <a:r>
              <a:t>• Better architecture → Easier integration</a:t>
            </a:r>
            <a:br/>
            <a:r>
              <a:t>• Early risk identification → Fewer surprises</a:t>
            </a:r>
            <a:br/>
            <a:r>
              <a:t>• Clear verification plan → Faster testing</a:t>
            </a:r>
            <a:br/>
            <a:br/>
            <a:r>
              <a:t>Pay now or pay more later. Systems engineering is insurance against disaster.</a:t>
            </a:r>
          </a:p>
          <a:p>
            <a:pPr>
              <a:spcAft>
                <a:spcPts val="1000"/>
              </a:spcAft>
              <a:defRPr sz="1800">
                <a:solidFill>
                  <a:srgbClr val="333333"/>
                </a:solidFill>
              </a:defRPr>
            </a:pPr>
            <a:r>
              <a:t>Learning Outcomes: LO3 - Economic value of SE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What Systems Engineering Prevents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So what exactly does systems engineering prevent? Let me give you a practical list. This is what you get when you practice rigorous SE:</a:t>
            </a:r>
          </a:p>
          <a:p>
            <a:pPr>
              <a:spcAft>
                <a:spcPts val="1000"/>
              </a:spcAft>
              <a:defRPr sz="1800">
                <a:solidFill>
                  <a:srgbClr val="333333"/>
                </a:solidFill>
              </a:defRPr>
            </a:pPr>
            <a:r>
              <a:t>Interface mismatches like Apollo 13—you define and verify all interfaces.</a:t>
            </a:r>
          </a:p>
          <a:p>
            <a:pPr>
              <a:spcAft>
                <a:spcPts val="1000"/>
              </a:spcAft>
              <a:defRPr sz="1800">
                <a:solidFill>
                  <a:srgbClr val="333333"/>
                </a:solidFill>
              </a:defRPr>
            </a:pPr>
            <a:r>
              <a:t>Scope creep—you manage requirements changes systematically.</a:t>
            </a:r>
          </a:p>
          <a:p>
            <a:pPr>
              <a:spcAft>
                <a:spcPts val="1000"/>
              </a:spcAft>
              <a:defRPr sz="1800">
                <a:solidFill>
                  <a:srgbClr val="333333"/>
                </a:solidFill>
              </a:defRPr>
            </a:pPr>
            <a:r>
              <a:t>Integration nightmares—you plan integration from the start.</a:t>
            </a:r>
          </a:p>
          <a:p>
            <a:pPr>
              <a:spcAft>
                <a:spcPts val="1000"/>
              </a:spcAft>
              <a:defRPr sz="1800">
                <a:solidFill>
                  <a:srgbClr val="333333"/>
                </a:solidFill>
              </a:defRPr>
            </a:pPr>
            <a:r>
              <a:t>Unverifiable complexity—you maintain system simplicity and modularity.</a:t>
            </a:r>
          </a:p>
          <a:p>
            <a:pPr>
              <a:spcAft>
                <a:spcPts val="1000"/>
              </a:spcAft>
              <a:defRPr sz="1800">
                <a:solidFill>
                  <a:srgbClr val="333333"/>
                </a:solidFill>
              </a:defRPr>
            </a:pPr>
            <a:r>
              <a:t>Missing requirements—you engage stakeholders and capture all needs.</a:t>
            </a:r>
          </a:p>
          <a:p>
            <a:pPr>
              <a:spcAft>
                <a:spcPts val="1000"/>
              </a:spcAft>
              <a:defRPr sz="1800">
                <a:solidFill>
                  <a:srgbClr val="333333"/>
                </a:solidFill>
              </a:defRPr>
            </a:pPr>
            <a:r>
              <a:t>Safety hazards—you analyze failure modes proactively.</a:t>
            </a:r>
          </a:p>
          <a:p>
            <a:pPr>
              <a:spcAft>
                <a:spcPts val="1000"/>
              </a:spcAft>
              <a:defRPr sz="1800">
                <a:solidFill>
                  <a:srgbClr val="333333"/>
                </a:solidFill>
              </a:defRPr>
            </a:pPr>
            <a:r>
              <a:t>Systems engineering is defensive engineering. It's how you prevent disasters before they happen.</a:t>
            </a:r>
          </a:p>
          <a:p>
            <a:pPr>
              <a:spcAft>
                <a:spcPts val="1000"/>
              </a:spcAft>
              <a:defRPr sz="1800">
                <a:solidFill>
                  <a:srgbClr val="333333"/>
                </a:solidFill>
              </a:defRPr>
            </a:pPr>
            <a:r>
              <a:t>PPT Content:</a:t>
            </a:r>
          </a:p>
          <a:p>
            <a:pPr>
              <a:defRPr sz="1400">
                <a:solidFill>
                  <a:srgbClr val="787878"/>
                </a:solidFill>
                <a:latin typeface="Consolas"/>
              </a:defRPr>
            </a:pPr>
            <a:r>
              <a:t>WHAT SYSTEMS ENGINEERING PREVENTS:</a:t>
            </a:r>
            <a:br/>
            <a:br/>
            <a:r>
              <a:t>✓ Interface mismatches and incompatibilities</a:t>
            </a:r>
            <a:br/>
            <a:r>
              <a:t>✓ Requirements creep and uncontrolled changes</a:t>
            </a:r>
            <a:br/>
            <a:r>
              <a:t>✓ Integration failures and late surprises</a:t>
            </a:r>
            <a:br/>
            <a:r>
              <a:t>✓ Unverifiable system complexity</a:t>
            </a:r>
            <a:br/>
            <a:r>
              <a:t>✓ Missing critical requirements</a:t>
            </a:r>
            <a:br/>
            <a:r>
              <a:t>✓ Safety hazards and failure modes</a:t>
            </a:r>
            <a:br/>
            <a:r>
              <a:t>✓ Cost overruns from rework</a:t>
            </a:r>
            <a:br/>
            <a:r>
              <a:t>✓ Schedule delays from firefighting</a:t>
            </a:r>
            <a:br/>
            <a:r>
              <a:t>✓ Quality issues and field failures</a:t>
            </a:r>
            <a:br/>
            <a:r>
              <a:t>✓ Regulatory non-compliance</a:t>
            </a:r>
            <a:br/>
            <a:br/>
            <a:r>
              <a:t>HOW SE PREVENTS THESE:</a:t>
            </a:r>
            <a:br/>
            <a:r>
              <a:t>• Structured requirements processes</a:t>
            </a:r>
            <a:br/>
            <a:r>
              <a:t>• Interface control and verification</a:t>
            </a:r>
            <a:br/>
            <a:r>
              <a:t>• System architecture and design</a:t>
            </a:r>
            <a:br/>
            <a:r>
              <a:t>• Risk and failure mode analysis</a:t>
            </a:r>
            <a:br/>
            <a:r>
              <a:t>• Configuration management</a:t>
            </a:r>
            <a:br/>
            <a:r>
              <a:t>• Verification and validation planning</a:t>
            </a:r>
            <a:br/>
            <a:r>
              <a:t>• Stakeholder engagement</a:t>
            </a:r>
            <a:br/>
            <a:r>
              <a:t>• Lifecycle thinking</a:t>
            </a:r>
            <a:br/>
            <a:br/>
            <a:r>
              <a:t>Systems engineering is proactive, not reactive.</a:t>
            </a:r>
          </a:p>
          <a:p>
            <a:pPr>
              <a:spcAft>
                <a:spcPts val="1000"/>
              </a:spcAft>
              <a:defRPr sz="1800">
                <a:solidFill>
                  <a:srgbClr val="333333"/>
                </a:solidFill>
              </a:defRPr>
            </a:pPr>
            <a:r>
              <a:t>Learning Outcomes: LO1, LO3 - SE practices and value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Systems Engineering in Automotive Context</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Let's bring this to your world. Modern vehicles are arguably the most complex consumer products ever built. You have:</a:t>
            </a:r>
          </a:p>
          <a:p>
            <a:pPr>
              <a:spcAft>
                <a:spcPts val="1000"/>
              </a:spcAft>
              <a:defRPr sz="1800">
                <a:solidFill>
                  <a:srgbClr val="333333"/>
                </a:solidFill>
              </a:defRPr>
            </a:pPr>
            <a:r>
              <a:t>Mechanical systems, electrical systems, software systems, embedded systems, communication networks, user interfaces, cloud connectivity, over-the-air updates, autonomous features, safety systems, comfort systems, infotainment...</a:t>
            </a:r>
          </a:p>
          <a:p>
            <a:pPr>
              <a:spcAft>
                <a:spcPts val="1000"/>
              </a:spcAft>
              <a:defRPr sz="1800">
                <a:solidFill>
                  <a:srgbClr val="333333"/>
                </a:solidFill>
              </a:defRPr>
            </a:pPr>
            <a:r>
              <a:t>And all of these must work together, in every climate, for 10+ years, in the hands of untrained users, while meeting safety standards and regulatory requirements.</a:t>
            </a:r>
          </a:p>
          <a:p>
            <a:pPr>
              <a:spcAft>
                <a:spcPts val="1000"/>
              </a:spcAft>
              <a:defRPr sz="1800">
                <a:solidFill>
                  <a:srgbClr val="333333"/>
                </a:solidFill>
              </a:defRPr>
            </a:pPr>
            <a:r>
              <a:t>Without systems engineering, this is impossible. Not difficult—impossible. You cannot build modern vehicles with component-focused engineering alone.</a:t>
            </a:r>
          </a:p>
          <a:p>
            <a:pPr>
              <a:spcAft>
                <a:spcPts val="1000"/>
              </a:spcAft>
              <a:defRPr sz="1800">
                <a:solidFill>
                  <a:srgbClr val="333333"/>
                </a:solidFill>
              </a:defRPr>
            </a:pPr>
            <a:r>
              <a:t>PPT Content:</a:t>
            </a:r>
          </a:p>
          <a:p>
            <a:pPr>
              <a:defRPr sz="1400">
                <a:solidFill>
                  <a:srgbClr val="787878"/>
                </a:solidFill>
                <a:latin typeface="Consolas"/>
              </a:defRPr>
            </a:pPr>
            <a:r>
              <a:t>AUTOMOTIVE SYSTEMS ENGINEERING CHALLENGES</a:t>
            </a:r>
            <a:br/>
            <a:br/>
            <a:r>
              <a:t>SYSTEM COMPLEXITY:</a:t>
            </a:r>
            <a:br/>
            <a:r>
              <a:t>• 100M+ lines of code (high-end vehicles)</a:t>
            </a:r>
            <a:br/>
            <a:r>
              <a:t>• 150+ ECUs networked together</a:t>
            </a:r>
            <a:br/>
            <a:r>
              <a:t>• 30,000+ components from 1,000+ suppliers</a:t>
            </a:r>
            <a:br/>
            <a:r>
              <a:t>• Multiple domains: powertrain, chassis, body, ADAS, infotainment</a:t>
            </a:r>
            <a:br/>
            <a:r>
              <a:t>• Safety-critical + non-critical systems integrated</a:t>
            </a:r>
            <a:br/>
            <a:br/>
            <a:r>
              <a:t>REQUIREMENTS CHALLENGES:</a:t>
            </a:r>
            <a:br/>
            <a:r>
              <a:t>• Safety (ISO 26262, FMVSS)</a:t>
            </a:r>
            <a:br/>
            <a:r>
              <a:t>• Security (cybersecurity, data privacy)</a:t>
            </a:r>
            <a:br/>
            <a:r>
              <a:t>• Performance (acceleration, handling, efficiency)</a:t>
            </a:r>
            <a:br/>
            <a:r>
              <a:t>• Comfort and convenience</a:t>
            </a:r>
            <a:br/>
            <a:r>
              <a:t>• Regulatory compliance (emissions, crash, etc.)</a:t>
            </a:r>
            <a:br/>
            <a:r>
              <a:t>• Cost targets and manufacturability</a:t>
            </a:r>
            <a:br/>
            <a:br/>
            <a:r>
              <a:t>LIFECYCLE CHALLENGES:</a:t>
            </a:r>
            <a:br/>
            <a:r>
              <a:t>• 3-5 year development cycles</a:t>
            </a:r>
            <a:br/>
            <a:r>
              <a:t>• 10-15 year operational life</a:t>
            </a:r>
            <a:br/>
            <a:r>
              <a:t>• Extreme environmental conditions</a:t>
            </a:r>
            <a:br/>
            <a:r>
              <a:t>• Untrained end users</a:t>
            </a:r>
            <a:br/>
            <a:r>
              <a:t>• Over-the-air updates and evolution</a:t>
            </a:r>
            <a:br/>
            <a:br/>
            <a:r>
              <a:t>→ SYSTEMS ENGINEERING IS NOT OPTIONAL IN AUTOMOTIVE</a:t>
            </a:r>
          </a:p>
          <a:p>
            <a:pPr>
              <a:spcAft>
                <a:spcPts val="1000"/>
              </a:spcAft>
              <a:defRPr sz="1800">
                <a:solidFill>
                  <a:srgbClr val="333333"/>
                </a:solidFill>
              </a:defRPr>
            </a:pPr>
            <a:r>
              <a:t>Learning Outcomes: LO3, LO4 - SE in automotive context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Defining "System" - First Principles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We've talked about systems engineering without defining 'system.' Let's fix that. What is a system?</a:t>
            </a:r>
          </a:p>
          <a:p>
            <a:pPr>
              <a:spcAft>
                <a:spcPts val="1000"/>
              </a:spcAft>
              <a:defRPr sz="1800">
                <a:solidFill>
                  <a:srgbClr val="333333"/>
                </a:solidFill>
              </a:defRPr>
            </a:pPr>
            <a:r>
              <a:t>Here's the formal definition from INCOSE—the International Council on Systems Engineering: 'A system is a combination of interacting elements organized to achieve one or more stated purposes.'</a:t>
            </a:r>
          </a:p>
          <a:p>
            <a:pPr>
              <a:spcAft>
                <a:spcPts val="1000"/>
              </a:spcAft>
              <a:defRPr sz="1800">
                <a:solidFill>
                  <a:srgbClr val="333333"/>
                </a:solidFill>
              </a:defRPr>
            </a:pPr>
            <a:r>
              <a:t>Let me break that down, because every word matters.</a:t>
            </a:r>
          </a:p>
          <a:p>
            <a:pPr>
              <a:spcAft>
                <a:spcPts val="1000"/>
              </a:spcAft>
              <a:defRPr sz="1800">
                <a:solidFill>
                  <a:srgbClr val="333333"/>
                </a:solidFill>
              </a:defRPr>
            </a:pPr>
            <a:r>
              <a:t>PPT Content:</a:t>
            </a:r>
          </a:p>
          <a:p>
            <a:pPr>
              <a:defRPr sz="1400">
                <a:solidFill>
                  <a:srgbClr val="787878"/>
                </a:solidFill>
                <a:latin typeface="Consolas"/>
              </a:defRPr>
            </a:pPr>
            <a:r>
              <a:t>WHAT IS A SYSTEM?</a:t>
            </a:r>
            <a:br/>
            <a:br/>
            <a:r>
              <a:t>INCOSE DEFINITION:</a:t>
            </a:r>
            <a:br/>
            <a:r>
              <a:t>A system is a combination of interacting elements</a:t>
            </a:r>
            <a:br/>
            <a:r>
              <a:t>organized to achieve one or more stated purposes.</a:t>
            </a:r>
            <a:br/>
            <a:br/>
            <a:r>
              <a:t>KEY WORDS:</a:t>
            </a:r>
            <a:br/>
            <a:r>
              <a:t>• COMBINATION → Multiple parts</a:t>
            </a:r>
            <a:br/>
            <a:r>
              <a:t>• INTERACTING → Not just collection, but connections</a:t>
            </a:r>
            <a:br/>
            <a:r>
              <a:t>• ELEMENTS → Components, subsystems, people, processes</a:t>
            </a:r>
            <a:br/>
            <a:r>
              <a:t>• ORGANIZED → Structured, not random</a:t>
            </a:r>
            <a:br/>
            <a:r>
              <a:t>• ACHIEVE → Goal-oriented</a:t>
            </a:r>
            <a:br/>
            <a:r>
              <a:t>• STATED PURPOSES → Defined objectives/functions</a:t>
            </a:r>
            <a:br/>
            <a:br/>
            <a:r>
              <a:t>Examples:</a:t>
            </a:r>
            <a:br/>
            <a:r>
              <a:t>✓ Vehicle (interacting subsystems to provide transportation)</a:t>
            </a:r>
            <a:br/>
            <a:r>
              <a:t>✓ Hospital (people, equipment, processes to provide healthcare)</a:t>
            </a:r>
            <a:br/>
            <a:r>
              <a:t>✓ Supply chain (organizations, logistics to deliver products)</a:t>
            </a:r>
            <a:br/>
            <a:r>
              <a:t>✗ Pile of parts (no organization, no purpose)</a:t>
            </a:r>
          </a:p>
          <a:p>
            <a:pPr>
              <a:spcAft>
                <a:spcPts val="1000"/>
              </a:spcAft>
              <a:defRPr sz="1800">
                <a:solidFill>
                  <a:srgbClr val="333333"/>
                </a:solidFill>
              </a:defRPr>
            </a:pPr>
            <a:r>
              <a:t>Learning Outcomes: LO1 - Understanding system definition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System Characteristics - What Makes It a System?</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A system has specific characteristics that distinguish it from just a random collection of things. Let me give you six key characteristics:</a:t>
            </a:r>
          </a:p>
          <a:p>
            <a:pPr>
              <a:spcAft>
                <a:spcPts val="1000"/>
              </a:spcAft>
              <a:defRPr sz="1800">
                <a:solidFill>
                  <a:srgbClr val="333333"/>
                </a:solidFill>
              </a:defRPr>
            </a:pPr>
            <a:r>
              <a:t>1. Purpose: Every system exists to achieve specific objectives. A vehicle's purpose is transportation.</a:t>
            </a:r>
          </a:p>
          <a:p>
            <a:pPr>
              <a:spcAft>
                <a:spcPts val="1000"/>
              </a:spcAft>
              <a:defRPr sz="1800">
                <a:solidFill>
                  <a:srgbClr val="333333"/>
                </a:solidFill>
              </a:defRPr>
            </a:pPr>
            <a:r>
              <a:t>2. Boundaries: Systems have defined limits. What's inside the system? What's outside? For a vehicle, is the driver inside or outside the system boundary? It depends on your perspective.</a:t>
            </a:r>
          </a:p>
          <a:p>
            <a:pPr>
              <a:spcAft>
                <a:spcPts val="1000"/>
              </a:spcAft>
              <a:defRPr sz="1800">
                <a:solidFill>
                  <a:srgbClr val="333333"/>
                </a:solidFill>
              </a:defRPr>
            </a:pPr>
            <a:r>
              <a:t>3. Elements: The components and subsystems. Engine, transmission, wheels, software, etc.</a:t>
            </a:r>
          </a:p>
          <a:p>
            <a:pPr>
              <a:spcAft>
                <a:spcPts val="1000"/>
              </a:spcAft>
              <a:defRPr sz="1800">
                <a:solidFill>
                  <a:srgbClr val="333333"/>
                </a:solidFill>
              </a:defRPr>
            </a:pPr>
            <a:r>
              <a:t>4. Interactions: How elements work together. This is where complexity lives.</a:t>
            </a:r>
          </a:p>
          <a:p>
            <a:pPr>
              <a:spcAft>
                <a:spcPts val="1000"/>
              </a:spcAft>
              <a:defRPr sz="1800">
                <a:solidFill>
                  <a:srgbClr val="333333"/>
                </a:solidFill>
              </a:defRPr>
            </a:pPr>
            <a:r>
              <a:t>5. Emergent Properties: The system has properties that individual elements don't have. A wheel can't transport you. An engine can't transport you. But a vehicle system can.</a:t>
            </a:r>
          </a:p>
          <a:p>
            <a:pPr>
              <a:spcAft>
                <a:spcPts val="1000"/>
              </a:spcAft>
              <a:defRPr sz="1800">
                <a:solidFill>
                  <a:srgbClr val="333333"/>
                </a:solidFill>
              </a:defRPr>
            </a:pPr>
            <a:r>
              <a:t>6. Environment: Systems operate in a context. Weather, roads, regulations, user behavior—all external factors affecting the system.</a:t>
            </a:r>
          </a:p>
          <a:p>
            <a:pPr>
              <a:spcAft>
                <a:spcPts val="1000"/>
              </a:spcAft>
              <a:defRPr sz="1800">
                <a:solidFill>
                  <a:srgbClr val="333333"/>
                </a:solidFill>
              </a:defRPr>
            </a:pPr>
            <a:r>
              <a:t>Understanding these characteristics is fundamental to systems thinking.</a:t>
            </a:r>
          </a:p>
          <a:p>
            <a:pPr>
              <a:spcAft>
                <a:spcPts val="1000"/>
              </a:spcAft>
              <a:defRPr sz="1800">
                <a:solidFill>
                  <a:srgbClr val="333333"/>
                </a:solidFill>
              </a:defRPr>
            </a:pPr>
            <a:r>
              <a:t>PPT Content:</a:t>
            </a:r>
          </a:p>
          <a:p>
            <a:pPr>
              <a:defRPr sz="1400">
                <a:solidFill>
                  <a:srgbClr val="787878"/>
                </a:solidFill>
                <a:latin typeface="Consolas"/>
              </a:defRPr>
            </a:pPr>
            <a:r>
              <a:t>SIX KEY SYSTEM CHARACTERISTICS</a:t>
            </a:r>
            <a:br/>
            <a:br/>
            <a:r>
              <a:t>1. PURPOSE / FUNCTION</a:t>
            </a:r>
            <a:br/>
            <a:r>
              <a:t>   • Defined objectives and goals</a:t>
            </a:r>
            <a:br/>
            <a:r>
              <a:t>   • Reason for existence</a:t>
            </a:r>
            <a:br/>
            <a:r>
              <a:t>   • Measurable outcomes</a:t>
            </a:r>
            <a:br/>
            <a:br/>
            <a:r>
              <a:t>2. BOUNDARIES</a:t>
            </a:r>
            <a:br/>
            <a:r>
              <a:t>   • What's IN the system vs. OUT</a:t>
            </a:r>
            <a:br/>
            <a:r>
              <a:t>   • Defines scope</a:t>
            </a:r>
            <a:br/>
            <a:r>
              <a:t>   • Can be physical, functional, or organizational</a:t>
            </a:r>
            <a:br/>
            <a:br/>
            <a:r>
              <a:t>3. ELEMENTS / COMPONENTS</a:t>
            </a:r>
            <a:br/>
            <a:r>
              <a:t>   • Individual parts and subsystems</a:t>
            </a:r>
            <a:br/>
            <a:r>
              <a:t>   • Can be hardware, software, people, processes</a:t>
            </a:r>
            <a:br/>
            <a:r>
              <a:t>   • Hierarchical structure</a:t>
            </a:r>
            <a:br/>
            <a:br/>
            <a:r>
              <a:t>4. INTERFACES / INTERACTIONS</a:t>
            </a:r>
            <a:br/>
            <a:r>
              <a:t>   • How elements connect and communicate</a:t>
            </a:r>
            <a:br/>
            <a:r>
              <a:t>   • Energy, data, material flows</a:t>
            </a:r>
            <a:br/>
            <a:r>
              <a:t>   • Dependencies and relationships</a:t>
            </a:r>
            <a:br/>
            <a:br/>
            <a:r>
              <a:t>5. EMERGENT PROPERTIES</a:t>
            </a:r>
            <a:br/>
            <a:r>
              <a:t>   • System-level behaviors not present in individual elements</a:t>
            </a:r>
            <a:br/>
            <a:r>
              <a:t>   • "The whole is greater than the sum of parts</a:t>
            </a:r>
            <a:br/>
            <a:r>
              <a:t>   • Cannot be predicted from component analysis alone</a:t>
            </a:r>
            <a:br/>
            <a:br/>
            <a:r>
              <a:t>6. ENVIRONMENT / CONTEXT</a:t>
            </a:r>
            <a:br/>
            <a:r>
              <a:t>   • External factors affecting the system</a:t>
            </a:r>
            <a:br/>
            <a:r>
              <a:t>   • Operating conditions</a:t>
            </a:r>
            <a:br/>
            <a:r>
              <a:t>   • Stakeholders and external systems</a:t>
            </a:r>
            <a:br/>
            <a:br/>
            <a:r>
              <a:t>→ All six must be considered in systems engineering</a:t>
            </a:r>
          </a:p>
          <a:p>
            <a:pPr>
              <a:spcAft>
                <a:spcPts val="1000"/>
              </a:spcAft>
              <a:defRPr sz="1800">
                <a:solidFill>
                  <a:srgbClr val="333333"/>
                </a:solidFill>
              </a:defRPr>
            </a:pPr>
            <a:r>
              <a:t>Learning Outcomes: LO1, LO3 - System characteristics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Emergent Properties - The Key Insight</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Let me emphasize emergent properties because this is the key systems engineering insight.</a:t>
            </a:r>
          </a:p>
          <a:p>
            <a:pPr>
              <a:spcAft>
                <a:spcPts val="1000"/>
              </a:spcAft>
              <a:defRPr sz="1800">
                <a:solidFill>
                  <a:srgbClr val="333333"/>
                </a:solidFill>
              </a:defRPr>
            </a:pPr>
            <a:r>
              <a:t>Emergence means the system exhibits behaviors that you cannot predict by analyzing individual components alone. An airplane's ability to fly is an emergent property. No single component flies. But the system flies.</a:t>
            </a:r>
          </a:p>
          <a:p>
            <a:pPr>
              <a:spcAft>
                <a:spcPts val="1000"/>
              </a:spcAft>
              <a:defRPr sz="1800">
                <a:solidFill>
                  <a:srgbClr val="333333"/>
                </a:solidFill>
              </a:defRPr>
            </a:pPr>
            <a:r>
              <a:t>In automotive: vehicle handling is emergent. No single component 'handles.' But suspension + tires + steering + chassis + weight distribution creates handling behavior.</a:t>
            </a:r>
          </a:p>
          <a:p>
            <a:pPr>
              <a:spcAft>
                <a:spcPts val="1000"/>
              </a:spcAft>
              <a:defRPr sz="1800">
                <a:solidFill>
                  <a:srgbClr val="333333"/>
                </a:solidFill>
              </a:defRPr>
            </a:pPr>
            <a:r>
              <a:t>This is why component-focused engineering isn't enough. You can optimize every component and still have a terrible system if you don't understand emergent properties. That's systems thinking.</a:t>
            </a:r>
          </a:p>
          <a:p>
            <a:pPr>
              <a:spcAft>
                <a:spcPts val="1000"/>
              </a:spcAft>
              <a:defRPr sz="1800">
                <a:solidFill>
                  <a:srgbClr val="333333"/>
                </a:solidFill>
              </a:defRPr>
            </a:pPr>
            <a:r>
              <a:t>PPT Content:</a:t>
            </a:r>
          </a:p>
          <a:p>
            <a:pPr>
              <a:defRPr sz="1400">
                <a:solidFill>
                  <a:srgbClr val="787878"/>
                </a:solidFill>
                <a:latin typeface="Consolas"/>
              </a:defRPr>
            </a:pPr>
            <a:r>
              <a:t>EMERGENT PROPERTIES: The Whole &gt; Sum of Parts</a:t>
            </a:r>
            <a:br/>
            <a:br/>
            <a:r>
              <a:t>DEFINITION:</a:t>
            </a:r>
            <a:br/>
            <a:r>
              <a:t>Properties and behaviors that arise from interactions,</a:t>
            </a:r>
            <a:br/>
            <a:r>
              <a:t>not predictable from individual element analysis</a:t>
            </a:r>
            <a:br/>
            <a:br/>
            <a:r>
              <a:t>AUTOMOTIVE EXAMPLES:</a:t>
            </a:r>
            <a:br/>
            <a:br/>
            <a:r>
              <a:t>Component Level → System Level (Emergent)</a:t>
            </a:r>
            <a:br/>
            <a:r>
              <a:t>• Tire grip + suspension + steering → Vehicle handling</a:t>
            </a:r>
            <a:br/>
            <a:r>
              <a:t>• Engine + transmission + wheels → Vehicle performance</a:t>
            </a:r>
            <a:br/>
            <a:r>
              <a:t>• Sensors + software + actuators → Autonomous behavior</a:t>
            </a:r>
            <a:br/>
            <a:r>
              <a:t>• Individual ECUs + network → System timing behaviors</a:t>
            </a:r>
            <a:br/>
            <a:br/>
            <a:r>
              <a:t>KEY INSIGHTS:</a:t>
            </a:r>
            <a:br/>
            <a:r>
              <a:t>✓ Cannot be designed at component level alone</a:t>
            </a:r>
            <a:br/>
            <a:r>
              <a:t>✓ Emerge from interfaces and interactions</a:t>
            </a:r>
            <a:br/>
            <a:r>
              <a:t>✓ Often unpredictable (good or bad)</a:t>
            </a:r>
            <a:br/>
            <a:r>
              <a:t>✓ Require system-level analysis and testing</a:t>
            </a:r>
            <a:br/>
            <a:r>
              <a:t>✓ Source of both innovation and failure</a:t>
            </a:r>
            <a:br/>
            <a:br/>
            <a:r>
              <a:t>Examples of Negative Emergence:</a:t>
            </a:r>
            <a:br/>
            <a:r>
              <a:t>• Toyota unintended acceleration (interaction of multiple systems)</a:t>
            </a:r>
            <a:br/>
            <a:r>
              <a:t>• Therac-25 race conditions (timing-dependent behavior)</a:t>
            </a:r>
            <a:br/>
            <a:br/>
            <a:r>
              <a:t>You cannot understand a system by analyzing parts in isolation.</a:t>
            </a:r>
          </a:p>
          <a:p>
            <a:pPr>
              <a:spcAft>
                <a:spcPts val="1000"/>
              </a:spcAft>
              <a:defRPr sz="1800">
                <a:solidFill>
                  <a:srgbClr val="333333"/>
                </a:solidFill>
              </a:defRPr>
            </a:pPr>
            <a:r>
              <a:t>Learning Outcomes: LO1, LO3 - Understanding emergence and systems thinking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System Boundaries - Defining Your Scope</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System boundaries are trickier than they seem. Let me show you. Is this vehicle a system? Yes. But what's the boundary?</a:t>
            </a:r>
          </a:p>
          <a:p>
            <a:pPr>
              <a:spcAft>
                <a:spcPts val="1000"/>
              </a:spcAft>
              <a:defRPr sz="1800">
                <a:solidFill>
                  <a:srgbClr val="333333"/>
                </a:solidFill>
              </a:defRPr>
            </a:pPr>
            <a:r>
              <a:t>Perspective 1: The vehicle itself. Driver is external. Road is external.</a:t>
            </a:r>
          </a:p>
          <a:p>
            <a:pPr>
              <a:spcAft>
                <a:spcPts val="1000"/>
              </a:spcAft>
              <a:defRPr sz="1800">
                <a:solidFill>
                  <a:srgbClr val="333333"/>
                </a:solidFill>
              </a:defRPr>
            </a:pPr>
            <a:r>
              <a:t>Perspective 2: The vehicle + driver. Now human factors are internal. Driver errors are system failures.</a:t>
            </a:r>
          </a:p>
          <a:p>
            <a:pPr>
              <a:spcAft>
                <a:spcPts val="1000"/>
              </a:spcAft>
              <a:defRPr sz="1800">
                <a:solidFill>
                  <a:srgbClr val="333333"/>
                </a:solidFill>
              </a:defRPr>
            </a:pPr>
            <a:r>
              <a:t>Perspective 3: Vehicle + driver + road + traffic. Now you're looking at a transportation system.</a:t>
            </a:r>
          </a:p>
          <a:p>
            <a:pPr>
              <a:spcAft>
                <a:spcPts val="1000"/>
              </a:spcAft>
              <a:defRPr sz="1800">
                <a:solidFill>
                  <a:srgbClr val="333333"/>
                </a:solidFill>
              </a:defRPr>
            </a:pPr>
            <a:r>
              <a:t>There's no single 'right' boundary. It depends on your purpose, your requirements, your stakeholder perspective. But you must define it clearly. Because what's inside your boundary is what you're responsible for engineering.</a:t>
            </a:r>
          </a:p>
          <a:p>
            <a:pPr>
              <a:spcAft>
                <a:spcPts val="1000"/>
              </a:spcAft>
              <a:defRPr sz="1800">
                <a:solidFill>
                  <a:srgbClr val="333333"/>
                </a:solidFill>
              </a:defRPr>
            </a:pPr>
            <a:r>
              <a:t>Boundary confusion causes requirements gaps and interface failures. Apollo 13? Boundary confusion between spacecraft systems and ground systems.</a:t>
            </a:r>
          </a:p>
          <a:p>
            <a:pPr>
              <a:spcAft>
                <a:spcPts val="1000"/>
              </a:spcAft>
              <a:defRPr sz="1800">
                <a:solidFill>
                  <a:srgbClr val="333333"/>
                </a:solidFill>
              </a:defRPr>
            </a:pPr>
            <a:r>
              <a:t>PPT Content:</a:t>
            </a:r>
          </a:p>
          <a:p>
            <a:pPr>
              <a:defRPr sz="1400">
                <a:solidFill>
                  <a:srgbClr val="787878"/>
                </a:solidFill>
                <a:latin typeface="Consolas"/>
              </a:defRPr>
            </a:pPr>
            <a:r>
              <a:t>SYSTEM BOUNDARIES: Defining Your Scope</a:t>
            </a:r>
            <a:br/>
            <a:br/>
            <a:r>
              <a:t>SAME VEHICLE, DIFFERENT BOUNDARIES:</a:t>
            </a:r>
            <a:br/>
            <a:br/>
            <a:r>
              <a:t>Boundary 1: Vehicle Only</a:t>
            </a:r>
            <a:br/>
            <a:r>
              <a:t>• Focus: Vehicle subsystems</a:t>
            </a:r>
            <a:br/>
            <a:r>
              <a:t>• Driver: External user</a:t>
            </a:r>
            <a:br/>
            <a:r>
              <a:t>• Environment: External factors</a:t>
            </a:r>
            <a:br/>
            <a:r>
              <a:t>• Responsibilities: Vehicle functions</a:t>
            </a:r>
            <a:br/>
            <a:br/>
            <a:r>
              <a:t>Boundary 2: Vehicle + Driver</a:t>
            </a:r>
            <a:br/>
            <a:r>
              <a:t>• Focus: Human-vehicle system</a:t>
            </a:r>
            <a:br/>
            <a:r>
              <a:t>• Driver: Part of system (human factors critical)</a:t>
            </a:r>
            <a:br/>
            <a:r>
              <a:t>• Environment: External</a:t>
            </a:r>
            <a:br/>
            <a:r>
              <a:t>• Responsibilities: Include usability, ergonomics</a:t>
            </a:r>
            <a:br/>
            <a:br/>
            <a:r>
              <a:t>Boundary 3: Vehicle + Driver + Infrastructure</a:t>
            </a:r>
            <a:br/>
            <a:r>
              <a:t>• Focus: Transportation system</a:t>
            </a:r>
            <a:br/>
            <a:r>
              <a:t>• Roads, traffic, V2X: All internal</a:t>
            </a:r>
            <a:br/>
            <a:r>
              <a:t>• Society: External</a:t>
            </a:r>
            <a:br/>
            <a:r>
              <a:t>• Responsibilities: System-of-systems integration</a:t>
            </a:r>
            <a:br/>
            <a:br/>
            <a:r>
              <a:t>KEY PRINCIPLES:</a:t>
            </a:r>
            <a:br/>
            <a:r>
              <a:t>✓ Boundary depends on perspective and purpose</a:t>
            </a:r>
            <a:br/>
            <a:r>
              <a:t>✓ Must be explicitly defined</a:t>
            </a:r>
            <a:br/>
            <a:r>
              <a:t>✓ Everything inside = your responsibility</a:t>
            </a:r>
            <a:br/>
            <a:r>
              <a:t>✓ Interfaces at boundary = critical</a:t>
            </a:r>
            <a:br/>
            <a:r>
              <a:t>✓ Boundary errors cause requirements gaps</a:t>
            </a:r>
            <a:br/>
            <a:br/>
            <a:r>
              <a:t>Define your boundary or your boundary will define you.</a:t>
            </a:r>
          </a:p>
          <a:p>
            <a:pPr>
              <a:spcAft>
                <a:spcPts val="1000"/>
              </a:spcAft>
              <a:defRPr sz="1800">
                <a:solidFill>
                  <a:srgbClr val="333333"/>
                </a:solidFill>
              </a:defRPr>
            </a:pPr>
            <a:r>
              <a:t>Learning Outcomes: LO1, LO3 - System boundary definition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System Hierarchy - Systems of Systems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Systems exist at multiple levels. This is called system hierarchy. Let me show you for a vehicle:</a:t>
            </a:r>
          </a:p>
          <a:p>
            <a:pPr>
              <a:spcAft>
                <a:spcPts val="1000"/>
              </a:spcAft>
              <a:defRPr sz="1800">
                <a:solidFill>
                  <a:srgbClr val="333333"/>
                </a:solidFill>
              </a:defRPr>
            </a:pPr>
            <a:r>
              <a:t>Component Level: A fuel injector, a sensor, a microcontroller.</a:t>
            </a:r>
          </a:p>
          <a:p>
            <a:pPr>
              <a:spcAft>
                <a:spcPts val="1000"/>
              </a:spcAft>
              <a:defRPr sz="1800">
                <a:solidFill>
                  <a:srgbClr val="333333"/>
                </a:solidFill>
              </a:defRPr>
            </a:pPr>
            <a:r>
              <a:t>Subsystem Level: The fuel system, the braking system, the infotainment system.</a:t>
            </a:r>
          </a:p>
          <a:p>
            <a:pPr>
              <a:spcAft>
                <a:spcPts val="1000"/>
              </a:spcAft>
              <a:defRPr sz="1800">
                <a:solidFill>
                  <a:srgbClr val="333333"/>
                </a:solidFill>
              </a:defRPr>
            </a:pPr>
            <a:r>
              <a:t>System Level: The complete vehicle.</a:t>
            </a:r>
          </a:p>
          <a:p>
            <a:pPr>
              <a:spcAft>
                <a:spcPts val="1000"/>
              </a:spcAft>
              <a:defRPr sz="1800">
                <a:solidFill>
                  <a:srgbClr val="333333"/>
                </a:solidFill>
              </a:defRPr>
            </a:pPr>
            <a:r>
              <a:t>System-of-Systems Level: The vehicle + smart infrastructure + traffic management + other vehicles.</a:t>
            </a:r>
          </a:p>
          <a:p>
            <a:pPr>
              <a:spcAft>
                <a:spcPts val="1000"/>
              </a:spcAft>
              <a:defRPr sz="1800">
                <a:solidFill>
                  <a:srgbClr val="333333"/>
                </a:solidFill>
              </a:defRPr>
            </a:pPr>
            <a:r>
              <a:t>Here's what's critical: At each level, you need systems engineering. The fuel system needs SE. The vehicle needs SE. The transportation system needs SE.</a:t>
            </a:r>
          </a:p>
          <a:p>
            <a:pPr>
              <a:spcAft>
                <a:spcPts val="1000"/>
              </a:spcAft>
              <a:defRPr sz="1800">
                <a:solidFill>
                  <a:srgbClr val="333333"/>
                </a:solidFill>
              </a:defRPr>
            </a:pPr>
            <a:r>
              <a:t>And here's the challenge: You need to think at multiple levels simultaneously. Your fuel injector is a component to you, but it's a system to the supplier who builds it.</a:t>
            </a:r>
          </a:p>
          <a:p>
            <a:pPr>
              <a:spcAft>
                <a:spcPts val="1000"/>
              </a:spcAft>
              <a:defRPr sz="1800">
                <a:solidFill>
                  <a:srgbClr val="333333"/>
                </a:solidFill>
              </a:defRPr>
            </a:pPr>
            <a:r>
              <a:t>PPT Content:</a:t>
            </a:r>
          </a:p>
          <a:p>
            <a:pPr>
              <a:defRPr sz="1400">
                <a:solidFill>
                  <a:srgbClr val="787878"/>
                </a:solidFill>
                <a:latin typeface="Consolas"/>
              </a:defRPr>
            </a:pPr>
            <a:r>
              <a:t>SYSTEM HIERARCHY: Nested Levels</a:t>
            </a:r>
            <a:br/>
            <a:br/>
            <a:r>
              <a:t>LEVEL 1: COMPONENT</a:t>
            </a:r>
            <a:br/>
            <a:r>
              <a:t>• Individual parts (sensor, actuator, ECU chip)</a:t>
            </a:r>
            <a:br/>
            <a:r>
              <a:t>• Defined function, interfaces</a:t>
            </a:r>
            <a:br/>
            <a:r>
              <a:t>• Example: ABS wheel speed sensor</a:t>
            </a:r>
            <a:br/>
            <a:br/>
            <a:r>
              <a:t>LEVEL 2: SUBSYSTEM</a:t>
            </a:r>
            <a:br/>
            <a:r>
              <a:t>• Collection of components with specific function</a:t>
            </a:r>
            <a:br/>
            <a:r>
              <a:t>• Example: Complete ABS system (sensors, hydraulic unit, ECU)</a:t>
            </a:r>
            <a:br/>
            <a:br/>
            <a:r>
              <a:t>LEVEL 3: SYSTEM</a:t>
            </a:r>
            <a:br/>
            <a:r>
              <a:t>• Complete product delivering end-user value</a:t>
            </a:r>
            <a:br/>
            <a:r>
              <a:t>• Example: Complete vehicle</a:t>
            </a:r>
            <a:br/>
            <a:br/>
            <a:r>
              <a:t>LEVEL 4: SYSTEM-OF-SYSTEMS (SoS)</a:t>
            </a:r>
            <a:br/>
            <a:r>
              <a:t>• Multiple independent systems working together</a:t>
            </a:r>
            <a:br/>
            <a:r>
              <a:t>• Example: Connected vehicles + smart infrastructure + traffic management</a:t>
            </a:r>
            <a:br/>
            <a:br/>
            <a:r>
              <a:t>KEY INSIGHTS:</a:t>
            </a:r>
            <a:br/>
            <a:r>
              <a:t>✓ Systems engineering applies at every level</a:t>
            </a:r>
            <a:br/>
            <a:r>
              <a:t>✓ One person's system is another's component</a:t>
            </a:r>
            <a:br/>
            <a:r>
              <a:t>✓ Must manage interfaces across levels</a:t>
            </a:r>
            <a:br/>
            <a:r>
              <a:t>✓ Requirements flow down, verification flows up</a:t>
            </a:r>
            <a:br/>
            <a:r>
              <a:t>✓ Complexity increases at higher levels</a:t>
            </a:r>
            <a:br/>
            <a:br/>
            <a:r>
              <a:t>Automotive Example - Braking System:</a:t>
            </a:r>
            <a:br/>
            <a:r>
              <a:t>Component: Brake pad</a:t>
            </a:r>
            <a:br/>
            <a:r>
              <a:t>↓</a:t>
            </a:r>
            <a:br/>
            <a:r>
              <a:t>Subsystem: Disc brake assembly</a:t>
            </a:r>
            <a:br/>
            <a:r>
              <a:t>↓</a:t>
            </a:r>
            <a:br/>
            <a:r>
              <a:t>System: Complete braking system (ABS, ESC, brake-by-wire)</a:t>
            </a:r>
            <a:br/>
            <a:r>
              <a:t>↓</a:t>
            </a:r>
            <a:br/>
            <a:r>
              <a:t>SoS: Vehicle-to-vehicle cooperative braking</a:t>
            </a:r>
          </a:p>
          <a:p>
            <a:pPr>
              <a:spcAft>
                <a:spcPts val="1000"/>
              </a:spcAft>
              <a:defRPr sz="1800">
                <a:solidFill>
                  <a:srgbClr val="333333"/>
                </a:solidFill>
              </a:defRPr>
            </a:pPr>
            <a:r>
              <a:t>Learning Outcomes: LO1, LO3 - System hierarchy and complexity</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Introduction to Systems Thinking</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We've covered a lot today. Now I want to introduce you to systems thinking—the mindset that underlies all of systems engineering.</a:t>
            </a:r>
          </a:p>
          <a:p>
            <a:pPr>
              <a:spcAft>
                <a:spcPts val="1000"/>
              </a:spcAft>
              <a:defRPr sz="1800">
                <a:solidFill>
                  <a:srgbClr val="333333"/>
                </a:solidFill>
              </a:defRPr>
            </a:pPr>
            <a:r>
              <a:t>Traditional thinking focuses on isolated components, linear cause-effect, optimization of parts, and reductionism—break it down to understand it.</a:t>
            </a:r>
          </a:p>
          <a:p>
            <a:pPr>
              <a:spcAft>
                <a:spcPts val="1000"/>
              </a:spcAft>
              <a:defRPr sz="1800">
                <a:solidFill>
                  <a:srgbClr val="333333"/>
                </a:solidFill>
              </a:defRPr>
            </a:pPr>
            <a:r>
              <a:t>Systems thinking focuses on relationships and interactions, feedback loops and dynamics, optimization of the whole system, and emergence—understand the whole to understand behavior.</a:t>
            </a:r>
          </a:p>
          <a:p>
            <a:pPr>
              <a:spcAft>
                <a:spcPts val="1000"/>
              </a:spcAft>
              <a:defRPr sz="1800">
                <a:solidFill>
                  <a:srgbClr val="333333"/>
                </a:solidFill>
              </a:defRPr>
            </a:pPr>
            <a:r>
              <a:t>Let me give you examples. Traditional thinking: 'The engine needs more power.' Systems thinking: 'What's the vehicle-level performance requirement? Is more engine power the right solution, or can we reduce weight, improve aerodynamics, or optimize the transmission?'</a:t>
            </a:r>
          </a:p>
          <a:p>
            <a:pPr>
              <a:spcAft>
                <a:spcPts val="1000"/>
              </a:spcAft>
              <a:defRPr sz="1800">
                <a:solidFill>
                  <a:srgbClr val="333333"/>
                </a:solidFill>
              </a:defRPr>
            </a:pPr>
            <a:r>
              <a:t>Traditional: 'This software module crashed.' Systems: 'What interactions with other modules caused the crash? What's the system-level failure mode?'</a:t>
            </a:r>
          </a:p>
          <a:p>
            <a:pPr>
              <a:spcAft>
                <a:spcPts val="1000"/>
              </a:spcAft>
              <a:defRPr sz="1800">
                <a:solidFill>
                  <a:srgbClr val="333333"/>
                </a:solidFill>
              </a:defRPr>
            </a:pPr>
            <a:r>
              <a:t>This is the mindset shift you need to make. From parts to wholes. From isolation to context. From components to systems.</a:t>
            </a:r>
          </a:p>
          <a:p>
            <a:pPr>
              <a:spcAft>
                <a:spcPts val="1000"/>
              </a:spcAft>
              <a:defRPr sz="1800">
                <a:solidFill>
                  <a:srgbClr val="333333"/>
                </a:solidFill>
              </a:defRPr>
            </a:pPr>
            <a:r>
              <a:t>PPT Content:</a:t>
            </a:r>
          </a:p>
          <a:p>
            <a:pPr>
              <a:defRPr sz="1400">
                <a:solidFill>
                  <a:srgbClr val="787878"/>
                </a:solidFill>
                <a:latin typeface="Consolas"/>
              </a:defRPr>
            </a:pPr>
            <a:r>
              <a:t>SYSTEMS THINKING: The Essential Mindset</a:t>
            </a:r>
            <a:br/>
            <a:br/>
            <a:r>
              <a:t>TRADITIONAL THINKING vs SYSTEMS THINKING</a:t>
            </a:r>
            <a:br/>
            <a:br/>
            <a:r>
              <a:t>Focus:</a:t>
            </a:r>
            <a:br/>
            <a:r>
              <a:t>Traditional: Individual components</a:t>
            </a:r>
            <a:br/>
            <a:r>
              <a:t>Systems: Relationships and interactions</a:t>
            </a:r>
            <a:br/>
            <a:br/>
            <a:r>
              <a:t>Causality:</a:t>
            </a:r>
            <a:br/>
            <a:r>
              <a:t>Traditional: Linear cause → effect</a:t>
            </a:r>
            <a:br/>
            <a:r>
              <a:t>Systems: Feedback loops, circular causality</a:t>
            </a:r>
            <a:br/>
            <a:br/>
            <a:r>
              <a:t>Optimization:</a:t>
            </a:r>
            <a:br/>
            <a:r>
              <a:t>Traditional: Optimize each part</a:t>
            </a:r>
            <a:br/>
            <a:r>
              <a:t>Systems: Optimize the whole (may sub-optimize parts)</a:t>
            </a:r>
            <a:br/>
            <a:br/>
            <a:r>
              <a:t>Analysis:</a:t>
            </a:r>
            <a:br/>
            <a:r>
              <a:t>Traditional: Reductionism (break down)</a:t>
            </a:r>
            <a:br/>
            <a:r>
              <a:t>Systems: Holism (understand whole context)</a:t>
            </a:r>
            <a:br/>
            <a:br/>
            <a:r>
              <a:t>Problem-Solving:</a:t>
            </a:r>
            <a:br/>
            <a:r>
              <a:t>Traditional: Fix the failing component</a:t>
            </a:r>
            <a:br/>
            <a:r>
              <a:t>Systems: Understand system dynamics causing failure</a:t>
            </a:r>
            <a:br/>
            <a:br/>
            <a:r>
              <a:t>SYSTEMS THINKING PRINCIPLES:</a:t>
            </a:r>
            <a:br/>
            <a:br/>
            <a:r>
              <a:t>1. The whole is greater than sum of parts</a:t>
            </a:r>
            <a:br/>
            <a:r>
              <a:t>2. Understand relationships, not just elements</a:t>
            </a:r>
            <a:br/>
            <a:r>
              <a:t>3. Consider context and environment</a:t>
            </a:r>
            <a:br/>
            <a:r>
              <a:t>4. Recognize feedback loops and dynamics</a:t>
            </a:r>
            <a:br/>
            <a:r>
              <a:t>5. Expect emergent behaviors</a:t>
            </a:r>
            <a:br/>
            <a:r>
              <a:t>6. Think in hierarchies and levels</a:t>
            </a:r>
            <a:br/>
            <a:r>
              <a:t>7. Anticipate unintended consequences</a:t>
            </a:r>
            <a:br/>
            <a:r>
              <a:t>8. Balance short-term and long-term effects</a:t>
            </a:r>
            <a:br/>
            <a:br/>
            <a:r>
              <a:t>AUTOMOTIVE EXAMPLE:</a:t>
            </a:r>
            <a:br/>
            <a:r>
              <a:t>Traditional: "Add more airbags for safety</a:t>
            </a:r>
            <a:br/>
            <a:r>
              <a:t>Systems: "How does the entire safety system (structure, restraints,</a:t>
            </a:r>
            <a:br/>
            <a:r>
              <a:t>ADAS, driver behavior) work together? Where's the optimal investment?</a:t>
            </a:r>
            <a:br/>
            <a:br/>
            <a:r>
              <a:t>→ Systems engineering applies systems thinking systematically</a:t>
            </a:r>
          </a:p>
          <a:p>
            <a:pPr>
              <a:spcAft>
                <a:spcPts val="1000"/>
              </a:spcAft>
              <a:defRPr sz="1800">
                <a:solidFill>
                  <a:srgbClr val="333333"/>
                </a:solidFill>
              </a:defRPr>
            </a:pPr>
            <a:r>
              <a:t>Learning Outcomes: LO3 - Systems thinking mindset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Your Journey Ahead - Course Roadmap</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Today was your wake-up call. You've seen why systems engineering matters through spectacular failures. You've learned what a system is and its characteristics. You've begun developing systems thinking.</a:t>
            </a:r>
          </a:p>
          <a:p>
            <a:pPr>
              <a:spcAft>
                <a:spcPts val="1000"/>
              </a:spcAft>
              <a:defRPr sz="1800">
                <a:solidFill>
                  <a:srgbClr val="333333"/>
                </a:solidFill>
              </a:defRPr>
            </a:pPr>
            <a:r>
              <a:t>Here's where we go next:</a:t>
            </a:r>
          </a:p>
          <a:p>
            <a:pPr>
              <a:spcAft>
                <a:spcPts val="1000"/>
              </a:spcAft>
              <a:defRPr sz="1800">
                <a:solidFill>
                  <a:srgbClr val="333333"/>
                </a:solidFill>
              </a:defRPr>
            </a:pPr>
            <a:r>
              <a:t>Module 1 (Sessions 1-4): We'll build your foundation—systems engineering fundamentals, MBSE, requirements engineering. The core knowledge.</a:t>
            </a:r>
          </a:p>
          <a:p>
            <a:pPr>
              <a:spcAft>
                <a:spcPts val="1000"/>
              </a:spcAft>
              <a:defRPr sz="1800">
                <a:solidFill>
                  <a:srgbClr val="333333"/>
                </a:solidFill>
              </a:defRPr>
            </a:pPr>
            <a:r>
              <a:t>Module 2 (Sessions 5-8): System design, analysis, integration, verification, and validation. The technical processes.</a:t>
            </a:r>
          </a:p>
          <a:p>
            <a:pPr>
              <a:spcAft>
                <a:spcPts val="1000"/>
              </a:spcAft>
              <a:defRPr sz="1800">
                <a:solidFill>
                  <a:srgbClr val="333333"/>
                </a:solidFill>
              </a:defRPr>
            </a:pPr>
            <a:r>
              <a:t>Module 3 (Sessions 9-12): Project management, risk, decision-making, quality. The management practices.</a:t>
            </a:r>
          </a:p>
          <a:p>
            <a:pPr>
              <a:spcAft>
                <a:spcPts val="1000"/>
              </a:spcAft>
              <a:defRPr sz="1800">
                <a:solidFill>
                  <a:srgbClr val="333333"/>
                </a:solidFill>
              </a:defRPr>
            </a:pPr>
            <a:r>
              <a:t>Module 4 (Sessions 13-16): Life cycle cost, emerging trends, putting it all together.</a:t>
            </a:r>
          </a:p>
          <a:p>
            <a:pPr>
              <a:spcAft>
                <a:spcPts val="1000"/>
              </a:spcAft>
              <a:defRPr sz="1800">
                <a:solidFill>
                  <a:srgbClr val="333333"/>
                </a:solidFill>
              </a:defRPr>
            </a:pPr>
            <a:r>
              <a:t>By the end, you won't just understand systems engineering—you'll be able to practice it on real automotive systems. That's the goal.</a:t>
            </a:r>
          </a:p>
          <a:p>
            <a:pPr>
              <a:spcAft>
                <a:spcPts val="1000"/>
              </a:spcAft>
              <a:defRPr sz="1800">
                <a:solidFill>
                  <a:srgbClr val="333333"/>
                </a:solidFill>
              </a:defRPr>
            </a:pPr>
            <a:r>
              <a:t>PPT Content:</a:t>
            </a:r>
          </a:p>
          <a:p>
            <a:pPr>
              <a:defRPr sz="1400">
                <a:solidFill>
                  <a:srgbClr val="787878"/>
                </a:solidFill>
                <a:latin typeface="Consolas"/>
              </a:defRPr>
            </a:pPr>
            <a:r>
              <a:t>YOUR JOURNEY: Course Roadmap</a:t>
            </a:r>
            <a:br/>
            <a:br/>
            <a:r>
              <a:t>SESSION 1 (Today): Introduction - WHY systems engineering matters</a:t>
            </a:r>
            <a:br/>
            <a:br/>
            <a:r>
              <a:t>MODULE 1: Foundations (Sessions 1-4)</a:t>
            </a:r>
            <a:br/>
            <a:r>
              <a:t>✓ Session 1: Introduction &amp; failures</a:t>
            </a:r>
            <a:br/>
            <a:r>
              <a:t>→ Session 2: SE fundamentals, systems thinking, INCOSE framework</a:t>
            </a:r>
            <a:br/>
            <a:r>
              <a:t>→ Session 3: Traditional vs MBSE</a:t>
            </a:r>
            <a:br/>
            <a:r>
              <a:t>→ Session 4: Requirements engineering</a:t>
            </a:r>
            <a:br/>
            <a:br/>
            <a:r>
              <a:t>MODULE 2: System Design &amp; Analysis (Sessions 5-8)</a:t>
            </a:r>
            <a:br/>
            <a:r>
              <a:t>→ System design and architecture</a:t>
            </a:r>
            <a:br/>
            <a:r>
              <a:t>→ Case Study 1</a:t>
            </a:r>
            <a:br/>
            <a:r>
              <a:t>→ Operational and functional analysis</a:t>
            </a:r>
            <a:br/>
            <a:r>
              <a:t>→ Integration, verification &amp; validation</a:t>
            </a:r>
            <a:br/>
            <a:br/>
            <a:r>
              <a:t>MODULE 3: Technical &amp; Project Management (Sessions 9-12)</a:t>
            </a:r>
            <a:br/>
            <a:r>
              <a:t>→ Project and risk management</a:t>
            </a:r>
            <a:br/>
            <a:r>
              <a:t>→ Decision and quality management</a:t>
            </a:r>
            <a:br/>
            <a:r>
              <a:t>→ Agreement and infrastructure management</a:t>
            </a:r>
            <a:br/>
            <a:r>
              <a:t>→ Specialty engineering: Safety &amp; security</a:t>
            </a:r>
            <a:br/>
            <a:br/>
            <a:r>
              <a:t>MODULE 4: Lifecycle &amp; Emerging Trends (Sessions 13-16)</a:t>
            </a:r>
            <a:br/>
            <a:r>
              <a:t>→ Life cycle cost and TCO</a:t>
            </a:r>
            <a:br/>
            <a:r>
              <a:t>→ Case Study 2</a:t>
            </a:r>
            <a:br/>
            <a:r>
              <a:t>→ Technical management processes</a:t>
            </a:r>
            <a:br/>
            <a:r>
              <a:t>→ Emerging trends (AI, digital engineering, autonomous systems)</a:t>
            </a:r>
            <a:br/>
            <a:br/>
            <a:r>
              <a:t>NEXT SESSION: Systems Engineering Fundamentals</a:t>
            </a:r>
            <a:br/>
            <a:r>
              <a:t>• INCOSE definition and framework</a:t>
            </a:r>
            <a:br/>
            <a:r>
              <a:t>• ISO/IEC 15288 lifecycle processes</a:t>
            </a:r>
            <a:br/>
            <a:r>
              <a:t>• V-model</a:t>
            </a:r>
            <a:br/>
            <a:r>
              <a:t>• Stakeholder engagement</a:t>
            </a:r>
            <a:br/>
            <a:r>
              <a:t>• Systems thinking deep dive</a:t>
            </a:r>
          </a:p>
          <a:p>
            <a:pPr>
              <a:spcAft>
                <a:spcPts val="1000"/>
              </a:spcAft>
              <a:defRPr sz="1800">
                <a:solidFill>
                  <a:srgbClr val="333333"/>
                </a:solidFill>
              </a:defRPr>
            </a:pPr>
            <a:r>
              <a:t>Learning Outcomes: Course overview, LO1</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Key Takeaways - What You Learned Today</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Let me summarize what you learned today. Write these down:</a:t>
            </a:r>
          </a:p>
          <a:p>
            <a:pPr>
              <a:spcAft>
                <a:spcPts val="1000"/>
              </a:spcAft>
              <a:defRPr sz="1800">
                <a:solidFill>
                  <a:srgbClr val="333333"/>
                </a:solidFill>
              </a:defRPr>
            </a:pPr>
            <a:r>
              <a:t>1. Systems engineering prevents disasters. Apollo 13, Therac-25, Toyota—all preventable with rigorous SE.</a:t>
            </a:r>
          </a:p>
          <a:p>
            <a:pPr>
              <a:spcAft>
                <a:spcPts val="1000"/>
              </a:spcAft>
              <a:defRPr sz="1800">
                <a:solidFill>
                  <a:srgbClr val="333333"/>
                </a:solidFill>
              </a:defRPr>
            </a:pPr>
            <a:r>
              <a:t>2. The cost of poor SE is enormous—financially, human lives, reputation. The ROI of good SE is 7-10x.</a:t>
            </a:r>
          </a:p>
          <a:p>
            <a:pPr>
              <a:spcAft>
                <a:spcPts val="1000"/>
              </a:spcAft>
              <a:defRPr sz="1800">
                <a:solidFill>
                  <a:srgbClr val="333333"/>
                </a:solidFill>
              </a:defRPr>
            </a:pPr>
            <a:r>
              <a:t>3. A system is interacting elements organized for a purpose. It has boundaries, elements, interfaces, emergent properties, and operates in an environment.</a:t>
            </a:r>
          </a:p>
          <a:p>
            <a:pPr>
              <a:spcAft>
                <a:spcPts val="1000"/>
              </a:spcAft>
              <a:defRPr sz="1800">
                <a:solidFill>
                  <a:srgbClr val="333333"/>
                </a:solidFill>
              </a:defRPr>
            </a:pPr>
            <a:r>
              <a:t>4. Most failures happen at interfaces, not within components. SE focuses on interfaces.</a:t>
            </a:r>
          </a:p>
          <a:p>
            <a:pPr>
              <a:spcAft>
                <a:spcPts val="1000"/>
              </a:spcAft>
              <a:defRPr sz="1800">
                <a:solidFill>
                  <a:srgbClr val="333333"/>
                </a:solidFill>
              </a:defRPr>
            </a:pPr>
            <a:r>
              <a:t>5. Systems thinking is essential—think about the whole, not just parts. Consider interactions, emergence, context.</a:t>
            </a:r>
          </a:p>
          <a:p>
            <a:pPr>
              <a:spcAft>
                <a:spcPts val="1000"/>
              </a:spcAft>
              <a:defRPr sz="1800">
                <a:solidFill>
                  <a:srgbClr val="333333"/>
                </a:solidFill>
              </a:defRPr>
            </a:pPr>
            <a:r>
              <a:t>6. In modern automotive engineering, SE is not optional. Complexity demands it.</a:t>
            </a:r>
          </a:p>
          <a:p>
            <a:pPr>
              <a:spcAft>
                <a:spcPts val="1000"/>
              </a:spcAft>
              <a:defRPr sz="1800">
                <a:solidFill>
                  <a:srgbClr val="333333"/>
                </a:solidFill>
              </a:defRPr>
            </a:pPr>
            <a:r>
              <a:t>This is your foundation. We build from here.</a:t>
            </a:r>
          </a:p>
          <a:p>
            <a:pPr>
              <a:spcAft>
                <a:spcPts val="1000"/>
              </a:spcAft>
              <a:defRPr sz="1800">
                <a:solidFill>
                  <a:srgbClr val="333333"/>
                </a:solidFill>
              </a:defRPr>
            </a:pPr>
            <a:r>
              <a:t>PPT Content:</a:t>
            </a:r>
          </a:p>
          <a:p>
            <a:pPr>
              <a:defRPr sz="1400">
                <a:solidFill>
                  <a:srgbClr val="787878"/>
                </a:solidFill>
                <a:latin typeface="Consolas"/>
              </a:defRPr>
            </a:pPr>
            <a:r>
              <a:t>KEY TAKEAWAYS - SESSION 1</a:t>
            </a:r>
            <a:br/>
            <a:br/>
            <a:r>
              <a:t>1. SYSTEMS ENGINEERING PREVENTS DISASTERS</a:t>
            </a:r>
            <a:br/>
            <a:r>
              <a:t>   • Case studies prove the consequences of poor SE</a:t>
            </a:r>
            <a:br/>
            <a:r>
              <a:t>   • All failures were preventable with rigorous processes</a:t>
            </a:r>
            <a:br/>
            <a:br/>
            <a:r>
              <a:t>2. SE HAS COMPELLING ROI</a:t>
            </a:r>
            <a:br/>
            <a:r>
              <a:t>   • $1 in early SE → Save $7-$10 later</a:t>
            </a:r>
            <a:br/>
            <a:r>
              <a:t>   • Prevents recalls, rework, reputation damage</a:t>
            </a:r>
            <a:br/>
            <a:r>
              <a:t>   • Front-loads effort, reduces late-stage chaos</a:t>
            </a:r>
            <a:br/>
            <a:br/>
            <a:r>
              <a:t>3. SYSTEM DEFINITION &amp; CHARACTERISTICS</a:t>
            </a:r>
            <a:br/>
            <a:r>
              <a:t>   • Interacting elements organized for a purpose</a:t>
            </a:r>
            <a:br/>
            <a:r>
              <a:t>   • Six characteristics: purpose, boundaries, elements,</a:t>
            </a:r>
            <a:br/>
            <a:r>
              <a:t>     interactions, emergent properties, environment</a:t>
            </a:r>
            <a:br/>
            <a:br/>
            <a:r>
              <a:t>4. INTERFACES ARE CRITICAL</a:t>
            </a:r>
            <a:br/>
            <a:r>
              <a:t>   • 80% of failures occur at interfaces</a:t>
            </a:r>
            <a:br/>
            <a:r>
              <a:t>   • Interface management is core SE practice</a:t>
            </a:r>
            <a:br/>
            <a:br/>
            <a:r>
              <a:t>5. SYSTEMS THINKING MINDSET</a:t>
            </a:r>
            <a:br/>
            <a:r>
              <a:t>   • Focus on whole, not just parts</a:t>
            </a:r>
            <a:br/>
            <a:r>
              <a:t>   • Understand interactions and emergence</a:t>
            </a:r>
            <a:br/>
            <a:r>
              <a:t>   • Consider context and environment</a:t>
            </a:r>
            <a:br/>
            <a:br/>
            <a:r>
              <a:t>6. AUTOMOTIVE SE IS ESSENTIAL</a:t>
            </a:r>
            <a:br/>
            <a:r>
              <a:t>   • Complexity of modern vehicles demands SE</a:t>
            </a:r>
            <a:br/>
            <a:r>
              <a:t>   • Safety-critical nature leaves no room for error</a:t>
            </a:r>
            <a:br/>
            <a:r>
              <a:t>   • SE is a professional responsibility</a:t>
            </a:r>
            <a:br/>
            <a:br/>
            <a:r>
              <a:t>→ You are beginning your journey from component engineer to systems engineer</a:t>
            </a:r>
          </a:p>
          <a:p>
            <a:pPr>
              <a:spcAft>
                <a:spcPts val="1000"/>
              </a:spcAft>
              <a:defRPr sz="1800">
                <a:solidFill>
                  <a:srgbClr val="333333"/>
                </a:solidFill>
              </a:defRPr>
            </a:pPr>
            <a:r>
              <a:t>Learning Outcomes: LO1, LO3</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Reflection Questions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Before we go to Q&amp;A, I want you to think about these questions. You don't have to answer now, but consider them:</a:t>
            </a:r>
          </a:p>
          <a:p>
            <a:pPr>
              <a:spcAft>
                <a:spcPts val="1000"/>
              </a:spcAft>
              <a:defRPr sz="1800">
                <a:solidFill>
                  <a:srgbClr val="333333"/>
                </a:solidFill>
              </a:defRPr>
            </a:pPr>
            <a:r>
              <a:t>1. Think about a project you've worked on. What interfaces did you assume would work? Did you verify them?</a:t>
            </a:r>
          </a:p>
          <a:p>
            <a:pPr>
              <a:spcAft>
                <a:spcPts val="1000"/>
              </a:spcAft>
              <a:defRPr sz="1800">
                <a:solidFill>
                  <a:srgbClr val="333333"/>
                </a:solidFill>
              </a:defRPr>
            </a:pPr>
            <a:r>
              <a:t>2. In your current or past work, have you seen examples of component-focused thinking causing system-level problems?</a:t>
            </a:r>
          </a:p>
          <a:p>
            <a:pPr>
              <a:spcAft>
                <a:spcPts val="1000"/>
              </a:spcAft>
              <a:defRPr sz="1800">
                <a:solidFill>
                  <a:srgbClr val="333333"/>
                </a:solidFill>
              </a:defRPr>
            </a:pPr>
            <a:r>
              <a:t>3. If you were designing a safety-critical automotive system today, what lessons from Therac-25 and Toyota would you apply?</a:t>
            </a:r>
          </a:p>
          <a:p>
            <a:pPr>
              <a:spcAft>
                <a:spcPts val="1000"/>
              </a:spcAft>
              <a:defRPr sz="1800">
                <a:solidFill>
                  <a:srgbClr val="333333"/>
                </a:solidFill>
              </a:defRPr>
            </a:pPr>
            <a:r>
              <a:t>4. What's harder: designing a good component, or integrating components into a good system? Why?</a:t>
            </a:r>
          </a:p>
          <a:p>
            <a:pPr>
              <a:spcAft>
                <a:spcPts val="1000"/>
              </a:spcAft>
              <a:defRPr sz="1800">
                <a:solidFill>
                  <a:srgbClr val="333333"/>
                </a:solidFill>
              </a:defRPr>
            </a:pPr>
            <a:r>
              <a:t>Systems engineering is about asking better questions. Start asking them.</a:t>
            </a:r>
          </a:p>
          <a:p>
            <a:pPr>
              <a:spcAft>
                <a:spcPts val="1000"/>
              </a:spcAft>
              <a:defRPr sz="1800">
                <a:solidFill>
                  <a:srgbClr val="333333"/>
                </a:solidFill>
              </a:defRPr>
            </a:pPr>
            <a:r>
              <a:t>PPT Content:</a:t>
            </a:r>
          </a:p>
          <a:p>
            <a:pPr>
              <a:defRPr sz="1400">
                <a:solidFill>
                  <a:srgbClr val="787878"/>
                </a:solidFill>
                <a:latin typeface="Consolas"/>
              </a:defRPr>
            </a:pPr>
            <a:r>
              <a:t>REFLECTION QUESTIONS</a:t>
            </a:r>
            <a:br/>
            <a:br/>
            <a:r>
              <a:t>Consider these as you move forward:</a:t>
            </a:r>
            <a:br/>
            <a:br/>
            <a:r>
              <a:t>1. PERSONAL EXPERIENCE</a:t>
            </a:r>
            <a:br/>
            <a:r>
              <a:t>   • What interfaces have you assumed would work?</a:t>
            </a:r>
            <a:br/>
            <a:r>
              <a:t>   • Did you verify them, or hope for the best?</a:t>
            </a:r>
            <a:br/>
            <a:br/>
            <a:r>
              <a:t>2. COMPONENT VS SYSTEM THINKING</a:t>
            </a:r>
            <a:br/>
            <a:r>
              <a:t>   • Have you seen component-focused thinking cause system problems?</a:t>
            </a:r>
            <a:br/>
            <a:r>
              <a:t>   • What were the consequences?</a:t>
            </a:r>
            <a:br/>
            <a:br/>
            <a:r>
              <a:t>3. APPLYING LESSONS LEARNED</a:t>
            </a:r>
            <a:br/>
            <a:r>
              <a:t>   • You're designing a safety-critical automotive system</a:t>
            </a:r>
            <a:br/>
            <a:r>
              <a:t>   • What lessons from today's case studies would you apply?</a:t>
            </a:r>
            <a:br/>
            <a:r>
              <a:t>   • What SE practices would you prioritize?</a:t>
            </a:r>
            <a:br/>
            <a:br/>
            <a:r>
              <a:t>4. ENGINEERING PHILOSOPHY</a:t>
            </a:r>
            <a:br/>
            <a:r>
              <a:t>   • What's harder: designing a component or integrating a system?</a:t>
            </a:r>
            <a:br/>
            <a:r>
              <a:t>   • Why is systems engineering a different discipline?</a:t>
            </a:r>
            <a:br/>
            <a:br/>
            <a:r>
              <a:t>5. FUTURE THINKING</a:t>
            </a:r>
            <a:br/>
            <a:r>
              <a:t>   • As vehicles become more automated and connected...</a:t>
            </a:r>
            <a:br/>
            <a:r>
              <a:t>   • How will SE become even more critical?</a:t>
            </a:r>
            <a:br/>
            <a:r>
              <a:t>   • What new challenges will emerge?</a:t>
            </a:r>
            <a:br/>
            <a:br/>
            <a:r>
              <a:t>Systems engineering is asking better questions.</a:t>
            </a:r>
          </a:p>
          <a:p>
            <a:pPr>
              <a:spcAft>
                <a:spcPts val="1000"/>
              </a:spcAft>
              <a:defRPr sz="1800">
                <a:solidFill>
                  <a:srgbClr val="333333"/>
                </a:solidFill>
              </a:defRPr>
            </a:pPr>
            <a:r>
              <a:t>Learning Outcomes: LO3 - Reflection and application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Assignment &amp; Preparation for Next Session</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Here's your assignment for next session:</a:t>
            </a:r>
          </a:p>
          <a:p>
            <a:pPr>
              <a:spcAft>
                <a:spcPts val="1000"/>
              </a:spcAft>
              <a:defRPr sz="1800">
                <a:solidFill>
                  <a:srgbClr val="333333"/>
                </a:solidFill>
              </a:defRPr>
            </a:pPr>
            <a:r>
              <a:t>Part 1: Read INCOSE Systems Engineering Handbook, Chapter 1. Focus on the definition of systems engineering and the key concepts.</a:t>
            </a:r>
          </a:p>
          <a:p>
            <a:pPr>
              <a:spcAft>
                <a:spcPts val="1000"/>
              </a:spcAft>
              <a:defRPr sz="1800">
                <a:solidFill>
                  <a:srgbClr val="333333"/>
                </a:solidFill>
              </a:defRPr>
            </a:pPr>
            <a:r>
              <a:t>Part 2: Find one example of a systems engineering failure from the last 5 years. It can be automotive or any other industry. Write a one-page analysis: What happened? What SE practices were missing? How could it have been prevented?</a:t>
            </a:r>
          </a:p>
          <a:p>
            <a:pPr>
              <a:spcAft>
                <a:spcPts val="1000"/>
              </a:spcAft>
              <a:defRPr sz="1800">
                <a:solidFill>
                  <a:srgbClr val="333333"/>
                </a:solidFill>
              </a:defRPr>
            </a:pPr>
            <a:r>
              <a:t>Part 3: Think about a complex product you use daily (phone, laptop, car). Map out its system boundaries, major subsystems, and at least five critical interfaces. Bring this to class—we'll discuss.</a:t>
            </a:r>
          </a:p>
          <a:p>
            <a:pPr>
              <a:spcAft>
                <a:spcPts val="1000"/>
              </a:spcAft>
              <a:defRPr sz="1800">
                <a:solidFill>
                  <a:srgbClr val="333333"/>
                </a:solidFill>
              </a:defRPr>
            </a:pPr>
            <a:r>
              <a:t>Next session, we dive deep into systems engineering fundamentals—the INCOSE framework, ISO/IEC 15288 processes, the V-model, and stakeholder engagement. This is where we build your systematic SE knowledge.</a:t>
            </a:r>
          </a:p>
          <a:p>
            <a:pPr>
              <a:spcAft>
                <a:spcPts val="1000"/>
              </a:spcAft>
              <a:defRPr sz="1800">
                <a:solidFill>
                  <a:srgbClr val="333333"/>
                </a:solidFill>
              </a:defRPr>
            </a:pPr>
            <a:r>
              <a:t>PPT Content:</a:t>
            </a:r>
          </a:p>
          <a:p>
            <a:pPr>
              <a:defRPr sz="1400">
                <a:solidFill>
                  <a:srgbClr val="787878"/>
                </a:solidFill>
                <a:latin typeface="Consolas"/>
              </a:defRPr>
            </a:pPr>
            <a:r>
              <a:t>ASSIGNMENT - Due Before Session 2</a:t>
            </a:r>
            <a:br/>
            <a:br/>
            <a:r>
              <a:t>PART 1: Reading</a:t>
            </a:r>
            <a:br/>
            <a:r>
              <a:t>• INCOSE SE Handbook, Chapter 1</a:t>
            </a:r>
            <a:br/>
            <a:r>
              <a:t>• Focus: SE definition, key concepts, SE processes overview</a:t>
            </a:r>
            <a:br/>
            <a:r>
              <a:t>• Be prepared to discuss</a:t>
            </a:r>
            <a:br/>
            <a:br/>
            <a:r>
              <a:t>PART 2: Case Study Analysis (1 page)</a:t>
            </a:r>
            <a:br/>
            <a:r>
              <a:t>Find a systems engineering failure (last 5 years)</a:t>
            </a:r>
            <a:br/>
            <a:r>
              <a:t>Analyze:</a:t>
            </a:r>
            <a:br/>
            <a:r>
              <a:t>• What happened? (brief description)</a:t>
            </a:r>
            <a:br/>
            <a:r>
              <a:t>• What SE practices were missing?</a:t>
            </a:r>
            <a:br/>
            <a:r>
              <a:t>• How could it have been prevented?</a:t>
            </a:r>
            <a:br/>
            <a:r>
              <a:t>• What lessons are relevant to automotive SE?</a:t>
            </a:r>
            <a:br/>
            <a:br/>
            <a:r>
              <a:t>PART 3: System Mapping Exercise</a:t>
            </a:r>
            <a:br/>
            <a:r>
              <a:t>Choose a complex product you use daily</a:t>
            </a:r>
            <a:br/>
            <a:r>
              <a:t>Map:</a:t>
            </a:r>
            <a:br/>
            <a:r>
              <a:t>• System boundaries (what's in, what's out)</a:t>
            </a:r>
            <a:br/>
            <a:r>
              <a:t>• Major subsystems (at least 5)</a:t>
            </a:r>
            <a:br/>
            <a:r>
              <a:t>• Critical interfaces (at least 5)</a:t>
            </a:r>
            <a:br/>
            <a:r>
              <a:t>• One emergent property</a:t>
            </a:r>
            <a:br/>
            <a:br/>
            <a:r>
              <a:t>Bring to Session 2 for discussion</a:t>
            </a:r>
            <a:br/>
            <a:br/>
            <a:r>
              <a:t>NEXT SESSION PREVIEW:</a:t>
            </a:r>
            <a:br/>
            <a:r>
              <a:t>Session 2: Systems Engineering Fundamentals</a:t>
            </a:r>
            <a:br/>
            <a:r>
              <a:t>• INCOSE definition and principles</a:t>
            </a:r>
            <a:br/>
            <a:r>
              <a:t>• ISO/IEC 15288 life cycle processes</a:t>
            </a:r>
            <a:br/>
            <a:r>
              <a:t>• System life cycle stages</a:t>
            </a:r>
            <a:br/>
            <a:r>
              <a:t>• The V-model and variations</a:t>
            </a:r>
            <a:br/>
            <a:r>
              <a:t>• Stakeholder engagement</a:t>
            </a:r>
            <a:br/>
            <a:r>
              <a:t>• Deep dive into systems thinking</a:t>
            </a:r>
          </a:p>
          <a:p>
            <a:pPr>
              <a:spcAft>
                <a:spcPts val="1000"/>
              </a:spcAft>
              <a:defRPr sz="1800">
                <a:solidFill>
                  <a:srgbClr val="333333"/>
                </a:solidFill>
              </a:defRPr>
            </a:pPr>
            <a:r>
              <a:t>Learning Outcomes: LO1, LO3 - Preparation and practice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Q&amp;A - Discussion Topics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We have about 20-30 minutes for questions and discussion. Here are some topics we can explore if you don't have specific questions:</a:t>
            </a:r>
          </a:p>
          <a:p>
            <a:pPr>
              <a:spcAft>
                <a:spcPts val="600"/>
              </a:spcAft>
              <a:defRPr sz="1800">
                <a:solidFill>
                  <a:srgbClr val="333333"/>
                </a:solidFill>
              </a:defRPr>
            </a:pPr>
            <a:r>
              <a:t>Deep dive into any of the case studies</a:t>
            </a:r>
          </a:p>
          <a:p>
            <a:pPr>
              <a:spcAft>
                <a:spcPts val="600"/>
              </a:spcAft>
              <a:defRPr sz="1800">
                <a:solidFill>
                  <a:srgbClr val="333333"/>
                </a:solidFill>
              </a:defRPr>
            </a:pPr>
            <a:r>
              <a:t>How SE applies to your specific background or interests</a:t>
            </a:r>
          </a:p>
          <a:p>
            <a:pPr>
              <a:spcAft>
                <a:spcPts val="600"/>
              </a:spcAft>
              <a:defRPr sz="1800">
                <a:solidFill>
                  <a:srgbClr val="333333"/>
                </a:solidFill>
              </a:defRPr>
            </a:pPr>
            <a:r>
              <a:t>The relationship between SE and your discipline (software, mechanical, electrical)</a:t>
            </a:r>
          </a:p>
          <a:p>
            <a:pPr>
              <a:spcAft>
                <a:spcPts val="600"/>
              </a:spcAft>
              <a:defRPr sz="1800">
                <a:solidFill>
                  <a:srgbClr val="333333"/>
                </a:solidFill>
              </a:defRPr>
            </a:pPr>
            <a:r>
              <a:t>Current automotive SE challenges (autonomous vehicles, electrification, connectivity)</a:t>
            </a:r>
          </a:p>
          <a:p>
            <a:pPr>
              <a:spcAft>
                <a:spcPts val="600"/>
              </a:spcAft>
              <a:defRPr sz="1800">
                <a:solidFill>
                  <a:srgbClr val="333333"/>
                </a:solidFill>
              </a:defRPr>
            </a:pPr>
            <a:r>
              <a:t>How to start practicing SE in your current work or projects</a:t>
            </a:r>
          </a:p>
          <a:p>
            <a:pPr>
              <a:spcAft>
                <a:spcPts val="1000"/>
              </a:spcAft>
              <a:defRPr sz="1800">
                <a:solidFill>
                  <a:srgbClr val="333333"/>
                </a:solidFill>
              </a:defRPr>
            </a:pPr>
            <a:r>
              <a:t>What questions do you have?</a:t>
            </a:r>
          </a:p>
          <a:p>
            <a:pPr>
              <a:spcAft>
                <a:spcPts val="1000"/>
              </a:spcAft>
              <a:defRPr sz="1800">
                <a:solidFill>
                  <a:srgbClr val="333333"/>
                </a:solidFill>
              </a:defRPr>
            </a:pPr>
            <a:r>
              <a:t>PPT Content:</a:t>
            </a:r>
          </a:p>
          <a:p>
            <a:pPr>
              <a:defRPr sz="1400">
                <a:solidFill>
                  <a:srgbClr val="787878"/>
                </a:solidFill>
                <a:latin typeface="Consolas"/>
              </a:defRPr>
            </a:pPr>
            <a:r>
              <a:t>Q&amp;A / DISCUSSION</a:t>
            </a:r>
            <a:br/>
            <a:br/>
            <a:r>
              <a:t>Open Questions:</a:t>
            </a:r>
            <a:br/>
            <a:br/>
            <a:r>
              <a:t>1. CASE STUDIES</a:t>
            </a:r>
            <a:br/>
            <a:r>
              <a:t>   • Want more detail on Apollo 13, Therac-25, or Toyota?</a:t>
            </a:r>
            <a:br/>
            <a:r>
              <a:t>   • Other failure examples you're curious about?</a:t>
            </a:r>
            <a:br/>
            <a:br/>
            <a:r>
              <a:t>2. AUTOMOTIVE APPLICATIONS</a:t>
            </a:r>
            <a:br/>
            <a:r>
              <a:t>   • How does SE apply to autonomous vehicles?</a:t>
            </a:r>
            <a:br/>
            <a:r>
              <a:t>   • SE in electric vehicle development?</a:t>
            </a:r>
            <a:br/>
            <a:r>
              <a:t>   • Software-defined vehicles and SE?</a:t>
            </a:r>
            <a:br/>
            <a:br/>
            <a:r>
              <a:t>3. DISCIPLINE INTEGRATION</a:t>
            </a:r>
            <a:br/>
            <a:r>
              <a:t>   • How does SE relate to software engineering?</a:t>
            </a:r>
            <a:br/>
            <a:r>
              <a:t>   • Mechanical engineering perspective?</a:t>
            </a:r>
            <a:br/>
            <a:r>
              <a:t>   • Electrical/electronics engineering?</a:t>
            </a:r>
            <a:br/>
            <a:br/>
            <a:r>
              <a:t>4. PRACTICAL APPLICATION</a:t>
            </a:r>
            <a:br/>
            <a:r>
              <a:t>   • How to start practicing SE in your work?</a:t>
            </a:r>
            <a:br/>
            <a:r>
              <a:t>   • SE in small teams vs large organizations?</a:t>
            </a:r>
            <a:br/>
            <a:r>
              <a:t>   • SE tools and techniques preview?</a:t>
            </a:r>
            <a:br/>
            <a:br/>
            <a:r>
              <a:t>5. CAREER &amp; INDUSTRY</a:t>
            </a:r>
            <a:br/>
            <a:r>
              <a:t>   • Systems engineer roles in automotive?</a:t>
            </a:r>
            <a:br/>
            <a:r>
              <a:t>   • Industry trends in SE?</a:t>
            </a:r>
            <a:br/>
            <a:r>
              <a:t>   • Skills to develop?</a:t>
            </a:r>
            <a:br/>
            <a:br/>
            <a:r>
              <a:t>What questions do you have?</a:t>
            </a:r>
          </a:p>
          <a:p>
            <a:pPr>
              <a:spcAft>
                <a:spcPts val="1000"/>
              </a:spcAft>
              <a:defRPr sz="1800">
                <a:solidFill>
                  <a:srgbClr val="333333"/>
                </a:solidFill>
              </a:defRPr>
            </a:pPr>
            <a:r>
              <a:t>Learning Outcomes: LO1, LO3 - Discussion and deeper understanding</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 INSTRUCTOR NOTES</a:t>
            </a:r>
          </a:p>
        </p:txBody>
      </p:sp>
      <p:sp>
        <p:nvSpPr>
          <p:cNvPr id="3" name="Content Placeholder 2"/>
          <p:cNvSpPr>
            <a:spLocks noGrp="1"/>
          </p:cNvSpPr>
          <p:nvPr>
            <p:ph idx="1"/>
          </p:nvPr>
        </p:nvSpPr>
        <p:spPr/>
        <p:txBody>
          <a:bodyPr/>
          <a:lstStyle/>
          <a:p>
            <a:pPr>
              <a:defRPr sz="2400" b="1">
                <a:solidFill>
                  <a:srgbClr val="2E5090"/>
                </a:solidFill>
              </a:defRPr>
            </a:pPr>
            <a:r>
              <a:t>Assessment Checkpoints:</a:t>
            </a:r>
          </a:p>
          <a:p>
            <a:pPr>
              <a:spcAft>
                <a:spcPts val="600"/>
              </a:spcAft>
              <a:defRPr sz="1800">
                <a:solidFill>
                  <a:srgbClr val="333333"/>
                </a:solidFill>
              </a:defRPr>
            </a:pPr>
            <a:r>
              <a:t>Professional engineering aesthetic: Clean, modern layouts with automotive industry feel</a:t>
            </a:r>
          </a:p>
          <a:p>
            <a:pPr>
              <a:spcAft>
                <a:spcPts val="600"/>
              </a:spcAft>
              <a:defRPr sz="1800">
                <a:solidFill>
                  <a:srgbClr val="333333"/>
                </a:solidFill>
              </a:defRPr>
            </a:pPr>
            <a:r>
              <a:t>Color scheme:</a:t>
            </a:r>
          </a:p>
          <a:p>
            <a:pPr>
              <a:spcAft>
                <a:spcPts val="600"/>
              </a:spcAft>
              <a:defRPr sz="1800">
                <a:solidFill>
                  <a:srgbClr val="333333"/>
                </a:solidFill>
              </a:defRPr>
            </a:pPr>
            <a:r>
              <a:t>Primary: Deep blue (trust, engineering)</a:t>
            </a:r>
          </a:p>
          <a:p>
            <a:pPr>
              <a:spcAft>
                <a:spcPts val="600"/>
              </a:spcAft>
              <a:defRPr sz="1800">
                <a:solidFill>
                  <a:srgbClr val="333333"/>
                </a:solidFill>
              </a:defRPr>
            </a:pPr>
            <a:r>
              <a:t>Secondary: Silver/gray (automotive, technology)</a:t>
            </a:r>
          </a:p>
          <a:p>
            <a:pPr>
              <a:spcAft>
                <a:spcPts val="600"/>
              </a:spcAft>
              <a:defRPr sz="1800">
                <a:solidFill>
                  <a:srgbClr val="333333"/>
                </a:solidFill>
              </a:defRPr>
            </a:pPr>
            <a:r>
              <a:t>Accent: Orange/red for warnings, critical points</a:t>
            </a:r>
          </a:p>
          <a:p>
            <a:pPr>
              <a:spcAft>
                <a:spcPts val="600"/>
              </a:spcAft>
              <a:defRPr sz="1800">
                <a:solidFill>
                  <a:srgbClr val="333333"/>
                </a:solidFill>
              </a:defRPr>
            </a:pPr>
            <a:r>
              <a:t>Green for success, SE benefits</a:t>
            </a:r>
          </a:p>
          <a:p>
            <a:pPr>
              <a:spcAft>
                <a:spcPts val="600"/>
              </a:spcAft>
              <a:defRPr sz="1800">
                <a:solidFill>
                  <a:srgbClr val="333333"/>
                </a:solidFill>
              </a:defRPr>
            </a:pPr>
            <a:r>
              <a:t>Typography: Sans-serif, highly readable (Calibri, Arial, or Helvetica)</a:t>
            </a:r>
          </a:p>
          <a:p>
            <a:pPr>
              <a:spcAft>
                <a:spcPts val="600"/>
              </a:spcAft>
              <a:defRPr sz="1800">
                <a:solidFill>
                  <a:srgbClr val="333333"/>
                </a:solidFill>
              </a:defRPr>
            </a:pPr>
            <a:r>
              <a:t>Consistent template throughout with clear slide numbering</a:t>
            </a:r>
          </a:p>
          <a:p>
            <a:pPr>
              <a:spcAft>
                <a:spcPts val="600"/>
              </a:spcAft>
              <a:defRPr sz="1800">
                <a:solidFill>
                  <a:srgbClr val="333333"/>
                </a:solidFill>
              </a:defRPr>
            </a:pPr>
            <a:r>
              <a:t>Slide 2 (The Question) - Hook with complexity visual</a:t>
            </a:r>
          </a:p>
          <a:p>
            <a:pPr>
              <a:spcAft>
                <a:spcPts val="600"/>
              </a:spcAft>
              <a:defRPr sz="1800">
                <a:solidFill>
                  <a:srgbClr val="333333"/>
                </a:solidFill>
              </a:defRPr>
            </a:pPr>
            <a:r>
              <a:t>Slides 9-16 (Case Studies) - Compelling visuals, impactful</a:t>
            </a:r>
          </a:p>
          <a:p>
            <a:pPr>
              <a:spcAft>
                <a:spcPts val="600"/>
              </a:spcAft>
              <a:defRPr sz="1800">
                <a:solidFill>
                  <a:srgbClr val="333333"/>
                </a:solidFill>
              </a:defRPr>
            </a:pPr>
            <a:r>
              <a:t>Slide 18 (Cost of Poor SE) - Infographic style, memorable</a:t>
            </a:r>
          </a:p>
          <a:p>
            <a:pPr>
              <a:spcAft>
                <a:spcPts val="600"/>
              </a:spcAft>
              <a:defRPr sz="1800">
                <a:solidFill>
                  <a:srgbClr val="333333"/>
                </a:solidFill>
              </a:defRPr>
            </a:pPr>
            <a:r>
              <a:t>Slide 23 (System Definition) - Crystal clear, foundational</a:t>
            </a:r>
          </a:p>
          <a:p>
            <a:pPr>
              <a:spcAft>
                <a:spcPts val="600"/>
              </a:spcAft>
              <a:defRPr sz="1800">
                <a:solidFill>
                  <a:srgbClr val="333333"/>
                </a:solidFill>
              </a:defRPr>
            </a:pPr>
            <a:r>
              <a:t>Slide 28 (Interfaces) - Diagram showing interface criticality</a:t>
            </a:r>
          </a:p>
          <a:p>
            <a:pPr>
              <a:spcAft>
                <a:spcPts val="600"/>
              </a:spcAft>
              <a:defRPr sz="1800">
                <a:solidFill>
                  <a:srgbClr val="333333"/>
                </a:solidFill>
              </a:defRPr>
            </a:pPr>
            <a:r>
              <a:t>Slide 31 (Key Takeaways) - Students will photograph this</a:t>
            </a:r>
          </a:p>
          <a:p>
            <a:pPr>
              <a:spcAft>
                <a:spcPts val="600"/>
              </a:spcAft>
              <a:defRPr sz="1800">
                <a:solidFill>
                  <a:srgbClr val="333333"/>
                </a:solidFill>
              </a:defRPr>
            </a:pPr>
            <a:r>
              <a:t>Minimal and professional — avoid distracting animations</a:t>
            </a:r>
          </a:p>
          <a:p>
            <a:pPr>
              <a:spcAft>
                <a:spcPts val="600"/>
              </a:spcAft>
              <a:defRPr sz="1800">
                <a:solidFill>
                  <a:srgbClr val="333333"/>
                </a:solidFill>
              </a:defRPr>
            </a:pPr>
            <a:r>
              <a:t>Use build animations for:</a:t>
            </a:r>
          </a:p>
          <a:p>
            <a:pPr>
              <a:spcAft>
                <a:spcPts val="600"/>
              </a:spcAft>
              <a:defRPr sz="1800">
                <a:solidFill>
                  <a:srgbClr val="333333"/>
                </a:solidFill>
              </a:defRPr>
            </a:pPr>
            <a:r>
              <a:t>Multi-step case study timelines</a:t>
            </a:r>
          </a:p>
          <a:p>
            <a:pPr>
              <a:spcAft>
                <a:spcPts val="600"/>
              </a:spcAft>
              <a:defRPr sz="1800">
                <a:solidFill>
                  <a:srgbClr val="333333"/>
                </a:solidFill>
              </a:defRPr>
            </a:pPr>
            <a:r>
              <a:t>Revealing system characteristics one at a time</a:t>
            </a:r>
          </a:p>
          <a:p>
            <a:pPr>
              <a:spcAft>
                <a:spcPts val="600"/>
              </a:spcAft>
              <a:defRPr sz="1800">
                <a:solidFill>
                  <a:srgbClr val="333333"/>
                </a:solidFill>
              </a:defRPr>
            </a:pPr>
            <a:r>
              <a:t>Progressive disclosure of complex diagrams</a:t>
            </a:r>
          </a:p>
          <a:p>
            <a:pPr>
              <a:spcAft>
                <a:spcPts val="600"/>
              </a:spcAft>
              <a:defRPr sz="1800">
                <a:solidFill>
                  <a:srgbClr val="333333"/>
                </a:solidFill>
              </a:defRPr>
            </a:pPr>
            <a:r>
              <a:t>Highlight/emphasis for key terms and equations</a:t>
            </a:r>
          </a:p>
          <a:p>
            <a:pPr>
              <a:spcAft>
                <a:spcPts val="600"/>
              </a:spcAft>
              <a:defRPr sz="1800">
                <a:solidFill>
                  <a:srgbClr val="333333"/>
                </a:solidFill>
              </a:defRPr>
            </a:pPr>
            <a:r>
              <a:t>Fade transitions between major sections</a:t>
            </a:r>
          </a:p>
          <a:p>
            <a:pPr>
              <a:spcAft>
                <a:spcPts val="600"/>
              </a:spcAft>
              <a:defRPr sz="1800">
                <a:solidFill>
                  <a:srgbClr val="333333"/>
                </a:solidFill>
              </a:defRPr>
            </a:pPr>
            <a:r>
              <a:t>Case study slides: Powerful images (actual equipment/vehicles)</a:t>
            </a:r>
          </a:p>
          <a:p>
            <a:pPr>
              <a:spcAft>
                <a:spcPts val="600"/>
              </a:spcAft>
              <a:defRPr sz="1800">
                <a:solidFill>
                  <a:srgbClr val="333333"/>
                </a:solidFill>
              </a:defRPr>
            </a:pPr>
            <a:r>
              <a:t>System diagrams: Clean, professional technical diagrams</a:t>
            </a:r>
          </a:p>
          <a:p>
            <a:pPr>
              <a:spcAft>
                <a:spcPts val="600"/>
              </a:spcAft>
              <a:defRPr sz="1800">
                <a:solidFill>
                  <a:srgbClr val="333333"/>
                </a:solidFill>
              </a:defRPr>
            </a:pPr>
            <a:r>
              <a:t>Cost graphics: Infographics with clear visual hierarchy</a:t>
            </a:r>
          </a:p>
          <a:p>
            <a:pPr>
              <a:spcAft>
                <a:spcPts val="600"/>
              </a:spcAft>
              <a:defRPr sz="1800">
                <a:solidFill>
                  <a:srgbClr val="333333"/>
                </a:solidFill>
              </a:defRPr>
            </a:pPr>
            <a:r>
              <a:t>Comparison slides: Side-by-side layouts for traditional vs systems thinking</a:t>
            </a:r>
          </a:p>
          <a:p>
            <a:pPr>
              <a:spcAft>
                <a:spcPts val="600"/>
              </a:spcAft>
              <a:defRPr sz="1800">
                <a:solidFill>
                  <a:srgbClr val="333333"/>
                </a:solidFill>
              </a:defRPr>
            </a:pPr>
            <a:r>
              <a:t>Use icons for characteristics, principles (consistent style)</a:t>
            </a:r>
          </a:p>
          <a:p>
            <a:pPr>
              <a:spcAft>
                <a:spcPts val="600"/>
              </a:spcAft>
              <a:defRPr sz="1800">
                <a:solidFill>
                  <a:srgbClr val="333333"/>
                </a:solidFill>
              </a:defRPr>
            </a:pPr>
            <a:r>
              <a:t>Clear system boundary diagrams with dotted lines for boundaries</a:t>
            </a:r>
          </a:p>
          <a:p>
            <a:pPr>
              <a:spcAft>
                <a:spcPts val="600"/>
              </a:spcAft>
              <a:defRPr sz="1800">
                <a:solidFill>
                  <a:srgbClr val="333333"/>
                </a:solidFill>
              </a:defRPr>
            </a:pPr>
            <a:r>
              <a:t>Interface diagrams showing connections between elements</a:t>
            </a:r>
          </a:p>
          <a:p>
            <a:pPr>
              <a:spcAft>
                <a:spcPts val="600"/>
              </a:spcAft>
              <a:defRPr sz="1800">
                <a:solidFill>
                  <a:srgbClr val="333333"/>
                </a:solidFill>
              </a:defRPr>
            </a:pPr>
            <a:r>
              <a:t>Hierarchy diagrams showing nested system levels</a:t>
            </a:r>
          </a:p>
          <a:p>
            <a:pPr>
              <a:spcAft>
                <a:spcPts val="600"/>
              </a:spcAft>
              <a:defRPr sz="1800">
                <a:solidFill>
                  <a:srgbClr val="333333"/>
                </a:solidFill>
              </a:defRPr>
            </a:pPr>
            <a:r>
              <a:t>Free-body style diagrams for emergent properties</a:t>
            </a:r>
          </a:p>
          <a:p>
            <a:pPr>
              <a:spcAft>
                <a:spcPts val="600"/>
              </a:spcAft>
              <a:defRPr sz="1800">
                <a:solidFill>
                  <a:srgbClr val="333333"/>
                </a:solidFill>
              </a:defRPr>
            </a:pPr>
            <a:r>
              <a:t>Always include labels, legends, and keys —--</a:t>
            </a:r>
          </a:p>
          <a:p>
            <a:pPr>
              <a:spcAft>
                <a:spcPts val="1000"/>
              </a:spcAft>
              <a:defRPr sz="1800">
                <a:solidFill>
                  <a:srgbClr val="333333"/>
                </a:solidFill>
              </a:defRPr>
            </a:pPr>
            <a:r>
              <a:t>This session uses Story-Based Learning with Case Studies to:</a:t>
            </a:r>
          </a:p>
          <a:p>
            <a:pPr>
              <a:spcAft>
                <a:spcPts val="600"/>
              </a:spcAft>
              <a:defRPr sz="1800">
                <a:solidFill>
                  <a:srgbClr val="333333"/>
                </a:solidFill>
              </a:defRPr>
            </a:pPr>
            <a:r>
              <a:t>Create urgency and relevance: Start with dramatic failures to answer "why should I care?</a:t>
            </a:r>
          </a:p>
          <a:p>
            <a:pPr>
              <a:spcAft>
                <a:spcPts val="600"/>
              </a:spcAft>
              <a:defRPr sz="1800">
                <a:solidFill>
                  <a:srgbClr val="333333"/>
                </a:solidFill>
              </a:defRPr>
            </a:pPr>
            <a:r>
              <a:t>Emotional engagement: Real disasters with real consequences create lasting memory</a:t>
            </a:r>
          </a:p>
          <a:p>
            <a:pPr>
              <a:spcAft>
                <a:spcPts val="600"/>
              </a:spcAft>
              <a:defRPr sz="1800">
                <a:solidFill>
                  <a:srgbClr val="333333"/>
                </a:solidFill>
              </a:defRPr>
            </a:pPr>
            <a:r>
              <a:t>Pattern recognition: Three diverse case studies reveal common SE failure patterns</a:t>
            </a:r>
          </a:p>
          <a:p>
            <a:pPr>
              <a:spcAft>
                <a:spcPts val="600"/>
              </a:spcAft>
              <a:defRPr sz="1800">
                <a:solidFill>
                  <a:srgbClr val="333333"/>
                </a:solidFill>
              </a:defRPr>
            </a:pPr>
            <a:r>
              <a:t>Build from concrete to abstract: Stories → Lessons → Concepts → Thinking</a:t>
            </a:r>
          </a:p>
          <a:p>
            <a:pPr>
              <a:spcAft>
                <a:spcPts val="600"/>
              </a:spcAft>
              <a:defRPr sz="1800">
                <a:solidFill>
                  <a:srgbClr val="333333"/>
                </a:solidFill>
              </a:defRPr>
            </a:pPr>
            <a:r>
              <a:t>Scaffold learning: Move from motivation → definition → characteristics → mindset</a:t>
            </a:r>
          </a:p>
          <a:p>
            <a:pPr>
              <a:spcAft>
                <a:spcPts val="600"/>
              </a:spcAft>
              <a:defRPr sz="1800">
                <a:solidFill>
                  <a:srgbClr val="333333"/>
                </a:solidFill>
              </a:defRPr>
            </a:pPr>
            <a:r>
              <a:t>Setup (Slides 1-8): 20 minutes - Hook and context</a:t>
            </a:r>
          </a:p>
          <a:p>
            <a:pPr>
              <a:spcAft>
                <a:spcPts val="600"/>
              </a:spcAft>
              <a:defRPr sz="1800">
                <a:solidFill>
                  <a:srgbClr val="333333"/>
                </a:solidFill>
              </a:defRPr>
            </a:pPr>
            <a:r>
              <a:t>Trigger (Slides 9-16): 25 minutes - Three case studies (8-9 min each)</a:t>
            </a:r>
          </a:p>
          <a:p>
            <a:pPr>
              <a:spcAft>
                <a:spcPts val="600"/>
              </a:spcAft>
              <a:defRPr sz="1800">
                <a:solidFill>
                  <a:srgbClr val="333333"/>
                </a:solidFill>
              </a:defRPr>
            </a:pPr>
            <a:r>
              <a:t>Rising Action (Slides 17-22): 20 minutes - Why SE matters, cost/value</a:t>
            </a:r>
          </a:p>
          <a:p>
            <a:pPr>
              <a:spcAft>
                <a:spcPts val="600"/>
              </a:spcAft>
              <a:defRPr sz="1800">
                <a:solidFill>
                  <a:srgbClr val="333333"/>
                </a:solidFill>
              </a:defRPr>
            </a:pPr>
            <a:r>
              <a:t>Climax (Slides 23-28): 25 minutes - System definition and characteristics</a:t>
            </a:r>
          </a:p>
          <a:p>
            <a:pPr>
              <a:spcAft>
                <a:spcPts val="600"/>
              </a:spcAft>
              <a:defRPr sz="1800">
                <a:solidFill>
                  <a:srgbClr val="333333"/>
                </a:solidFill>
              </a:defRPr>
            </a:pPr>
            <a:r>
              <a:t>Resolution (Slides 29-34): 20 minutes - Systems thinking, takeaways, assignment</a:t>
            </a:r>
          </a:p>
          <a:p>
            <a:pPr>
              <a:spcAft>
                <a:spcPts val="600"/>
              </a:spcAft>
              <a:defRPr sz="1800">
                <a:solidFill>
                  <a:srgbClr val="333333"/>
                </a:solidFill>
              </a:defRPr>
            </a:pPr>
            <a:r>
              <a:t>Q&amp;A: 10 minutes flexible (can extend to 30 minutes)</a:t>
            </a:r>
          </a:p>
          <a:p>
            <a:pPr>
              <a:spcAft>
                <a:spcPts val="1000"/>
              </a:spcAft>
              <a:defRPr sz="1800">
                <a:solidFill>
                  <a:srgbClr val="333333"/>
                </a:solidFill>
              </a:defRPr>
            </a:pPr>
            <a:r>
              <a:t>Q: "Isn't this just good engineering practice?"</a:t>
            </a:r>
          </a:p>
          <a:p>
            <a:pPr>
              <a:spcAft>
                <a:spcPts val="1000"/>
              </a:spcAft>
              <a:defRPr sz="1800">
                <a:solidFill>
                  <a:srgbClr val="333333"/>
                </a:solidFill>
              </a:defRPr>
            </a:pPr>
            <a:r>
              <a:t>A: Yes, but it's systematic good practice. SE provides the framework, processes, and discipline to ensure good practices actually happen, especially in large, complex projects.</a:t>
            </a:r>
          </a:p>
          <a:p>
            <a:pPr>
              <a:spcAft>
                <a:spcPts val="1000"/>
              </a:spcAft>
              <a:defRPr sz="1800">
                <a:solidFill>
                  <a:srgbClr val="333333"/>
                </a:solidFill>
              </a:defRPr>
            </a:pPr>
            <a:r>
              <a:t>Q: "We don't have time for all this SE process."</a:t>
            </a:r>
          </a:p>
          <a:p>
            <a:pPr>
              <a:spcAft>
                <a:spcPts val="1000"/>
              </a:spcAft>
              <a:defRPr sz="1800">
                <a:solidFill>
                  <a:srgbClr val="333333"/>
                </a:solidFill>
              </a:defRPr>
            </a:pPr>
            <a:r>
              <a:t>A: That's what Toyota thought. You don't have time NOT to do it. The time spent upfront saves multiples later. Show the ROI data again.</a:t>
            </a:r>
          </a:p>
          <a:p>
            <a:pPr>
              <a:spcAft>
                <a:spcPts val="1000"/>
              </a:spcAft>
              <a:defRPr sz="1800">
                <a:solidFill>
                  <a:srgbClr val="333333"/>
                </a:solidFill>
              </a:defRPr>
            </a:pPr>
            <a:r>
              <a:t>Q: "How is SE different from project management?"</a:t>
            </a:r>
          </a:p>
          <a:p>
            <a:pPr>
              <a:spcAft>
                <a:spcPts val="1000"/>
              </a:spcAft>
              <a:defRPr sz="1800">
                <a:solidFill>
                  <a:srgbClr val="333333"/>
                </a:solidFill>
              </a:defRPr>
            </a:pPr>
            <a:r>
              <a:t>A: PM focuses on resources, schedule, budget. SE focuses on technical content—requirements, architecture, interfaces, verification. They complement each other.</a:t>
            </a:r>
          </a:p>
          <a:p>
            <a:pPr>
              <a:spcAft>
                <a:spcPts val="1000"/>
              </a:spcAft>
              <a:defRPr sz="1800">
                <a:solidFill>
                  <a:srgbClr val="333333"/>
                </a:solidFill>
              </a:defRPr>
            </a:pPr>
            <a:r>
              <a:t>Q: "Do we really need SE for smaller, simpler systems?"</a:t>
            </a:r>
          </a:p>
          <a:p>
            <a:pPr>
              <a:spcAft>
                <a:spcPts val="1000"/>
              </a:spcAft>
              <a:defRPr sz="1800">
                <a:solidFill>
                  <a:srgbClr val="333333"/>
                </a:solidFill>
              </a:defRPr>
            </a:pPr>
            <a:r>
              <a:t>A: The rigor scales with complexity. Simple systems need less formal SE, but the thinking and key practices (requirements, interfaces, verification) always apply.</a:t>
            </a:r>
          </a:p>
          <a:p>
            <a:pPr>
              <a:spcAft>
                <a:spcPts val="600"/>
              </a:spcAft>
              <a:defRPr sz="1800">
                <a:solidFill>
                  <a:srgbClr val="333333"/>
                </a:solidFill>
              </a:defRPr>
            </a:pPr>
            <a:r>
              <a:t>During case studies (Slides 9-16):</a:t>
            </a:r>
          </a:p>
          <a:p>
            <a:pPr>
              <a:spcAft>
                <a:spcPts val="600"/>
              </a:spcAft>
              <a:defRPr sz="1800">
                <a:solidFill>
                  <a:srgbClr val="333333"/>
                </a:solidFill>
              </a:defRPr>
            </a:pPr>
            <a:r>
              <a:t>Pause and ask: "What would you have done?</a:t>
            </a:r>
          </a:p>
          <a:p>
            <a:pPr>
              <a:spcAft>
                <a:spcPts val="600"/>
              </a:spcAft>
              <a:defRPr sz="1800">
                <a:solidFill>
                  <a:srgbClr val="333333"/>
                </a:solidFill>
              </a:defRPr>
            </a:pPr>
            <a:r>
              <a:t>Before revealing the SE failure, ask: "What do you think went wrong?</a:t>
            </a:r>
          </a:p>
          <a:p>
            <a:pPr>
              <a:spcAft>
                <a:spcPts val="600"/>
              </a:spcAft>
              <a:defRPr sz="1800">
                <a:solidFill>
                  <a:srgbClr val="333333"/>
                </a:solidFill>
              </a:defRPr>
            </a:pPr>
            <a:r>
              <a:t>Connect to students' experiences: "Have you seen similar issues?</a:t>
            </a:r>
          </a:p>
          <a:p>
            <a:pPr>
              <a:spcAft>
                <a:spcPts val="600"/>
              </a:spcAft>
              <a:defRPr sz="1800">
                <a:solidFill>
                  <a:srgbClr val="333333"/>
                </a:solidFill>
              </a:defRPr>
            </a:pPr>
            <a:r>
              <a:t>During system definition (Slides 23-28):</a:t>
            </a:r>
          </a:p>
          <a:p>
            <a:pPr>
              <a:spcAft>
                <a:spcPts val="600"/>
              </a:spcAft>
              <a:defRPr sz="1800">
                <a:solidFill>
                  <a:srgbClr val="333333"/>
                </a:solidFill>
              </a:defRPr>
            </a:pPr>
            <a:r>
              <a:t>Use think-pair-share: Give 2 minutes to identify system boundaries for their phone</a:t>
            </a:r>
          </a:p>
          <a:p>
            <a:pPr>
              <a:spcAft>
                <a:spcPts val="600"/>
              </a:spcAft>
              <a:defRPr sz="1800">
                <a:solidFill>
                  <a:srgbClr val="333333"/>
                </a:solidFill>
              </a:defRPr>
            </a:pPr>
            <a:r>
              <a:t>Ask for examples of emergent properties they've experienced</a:t>
            </a:r>
          </a:p>
          <a:p>
            <a:pPr>
              <a:spcAft>
                <a:spcPts val="600"/>
              </a:spcAft>
              <a:defRPr sz="1800">
                <a:solidFill>
                  <a:srgbClr val="333333"/>
                </a:solidFill>
              </a:defRPr>
            </a:pPr>
            <a:r>
              <a:t>Draw system hierarchy on board for a familiar product</a:t>
            </a:r>
          </a:p>
          <a:p>
            <a:pPr>
              <a:spcAft>
                <a:spcPts val="600"/>
              </a:spcAft>
              <a:defRPr sz="1800">
                <a:solidFill>
                  <a:srgbClr val="333333"/>
                </a:solidFill>
              </a:defRPr>
            </a:pPr>
            <a:r>
              <a:t>During systems thinking (Slide 29):</a:t>
            </a:r>
          </a:p>
          <a:p>
            <a:pPr>
              <a:spcAft>
                <a:spcPts val="600"/>
              </a:spcAft>
              <a:defRPr sz="1800">
                <a:solidFill>
                  <a:srgbClr val="333333"/>
                </a:solidFill>
              </a:defRPr>
            </a:pPr>
            <a:r>
              <a:t>Present a simple problem, ask for traditional solution, then systems solution</a:t>
            </a:r>
          </a:p>
          <a:p>
            <a:pPr>
              <a:spcAft>
                <a:spcPts val="600"/>
              </a:spcAft>
              <a:defRPr sz="1800">
                <a:solidFill>
                  <a:srgbClr val="333333"/>
                </a:solidFill>
              </a:defRPr>
            </a:pPr>
            <a:r>
              <a:t>Example: "Car has poor fuel economy. Traditional: bigger fuel tank. Systems: analyze whole energy system—engine efficiency, weight, aerodynamics, driver behavior</a:t>
            </a:r>
          </a:p>
          <a:p>
            <a:pPr>
              <a:spcAft>
                <a:spcPts val="1000"/>
              </a:spcAft>
              <a:defRPr sz="1800">
                <a:solidFill>
                  <a:srgbClr val="333333"/>
                </a:solidFill>
              </a:defRPr>
            </a:pPr>
            <a:r>
              <a:t>If running SHORT (need to finish in 100 minutes): — Reduce one case study detail (suggest Therac-25, keep Apollo 13 and Toyota)</a:t>
            </a:r>
          </a:p>
          <a:p>
            <a:pPr>
              <a:spcAft>
                <a:spcPts val="600"/>
              </a:spcAft>
              <a:defRPr sz="1800">
                <a:solidFill>
                  <a:srgbClr val="333333"/>
                </a:solidFill>
              </a:defRPr>
            </a:pPr>
            <a:r>
              <a:t>Shorten Q&amp;A section</a:t>
            </a:r>
          </a:p>
          <a:p>
            <a:pPr>
              <a:spcAft>
                <a:spcPts val="600"/>
              </a:spcAft>
              <a:defRPr sz="1800">
                <a:solidFill>
                  <a:srgbClr val="333333"/>
                </a:solidFill>
              </a:defRPr>
            </a:pPr>
            <a:r>
              <a:t>Move reflection questions to assignment</a:t>
            </a:r>
          </a:p>
          <a:p>
            <a:pPr>
              <a:spcAft>
                <a:spcPts val="1000"/>
              </a:spcAft>
              <a:defRPr sz="1800">
                <a:solidFill>
                  <a:srgbClr val="333333"/>
                </a:solidFill>
              </a:defRPr>
            </a:pPr>
            <a:r>
              <a:t>If running LONG (students engaged, have 140 minutes): — Expand case study discussions with more technical details</a:t>
            </a:r>
          </a:p>
          <a:p>
            <a:pPr>
              <a:spcAft>
                <a:spcPts val="600"/>
              </a:spcAft>
              <a:defRPr sz="1800">
                <a:solidFill>
                  <a:srgbClr val="333333"/>
                </a:solidFill>
              </a:defRPr>
            </a:pPr>
            <a:r>
              <a:t>Add breakout discussions during system characteristics</a:t>
            </a:r>
          </a:p>
          <a:p>
            <a:pPr>
              <a:spcAft>
                <a:spcPts val="600"/>
              </a:spcAft>
              <a:defRPr sz="1800">
                <a:solidFill>
                  <a:srgbClr val="333333"/>
                </a:solidFill>
              </a:defRPr>
            </a:pPr>
            <a:r>
              <a:t>Include additional automotive failure examples</a:t>
            </a:r>
          </a:p>
          <a:p>
            <a:pPr>
              <a:spcAft>
                <a:spcPts val="600"/>
              </a:spcAft>
              <a:defRPr sz="1800">
                <a:solidFill>
                  <a:srgbClr val="333333"/>
                </a:solidFill>
              </a:defRPr>
            </a:pPr>
            <a:r>
              <a:t>Extended Q&amp;A session</a:t>
            </a:r>
          </a:p>
          <a:p>
            <a:pPr>
              <a:spcAft>
                <a:spcPts val="1000"/>
              </a:spcAft>
              <a:defRPr sz="1800">
                <a:solidFill>
                  <a:srgbClr val="333333"/>
                </a:solidFill>
              </a:defRPr>
            </a:pPr>
            <a:r>
              <a:t>Core Content (Must Cover): — All three case studies (at least summarized)</a:t>
            </a:r>
          </a:p>
          <a:p>
            <a:pPr>
              <a:spcAft>
                <a:spcPts val="600"/>
              </a:spcAft>
              <a:defRPr sz="1800">
                <a:solidFill>
                  <a:srgbClr val="333333"/>
                </a:solidFill>
              </a:defRPr>
            </a:pPr>
            <a:r>
              <a:t>Cost/ROI of SE</a:t>
            </a:r>
          </a:p>
          <a:p>
            <a:pPr>
              <a:spcAft>
                <a:spcPts val="600"/>
              </a:spcAft>
              <a:defRPr sz="1800">
                <a:solidFill>
                  <a:srgbClr val="333333"/>
                </a:solidFill>
              </a:defRPr>
            </a:pPr>
            <a:r>
              <a:t>System definition and six characteristics</a:t>
            </a:r>
          </a:p>
          <a:p>
            <a:pPr>
              <a:spcAft>
                <a:spcPts val="600"/>
              </a:spcAft>
              <a:defRPr sz="1800">
                <a:solidFill>
                  <a:srgbClr val="333333"/>
                </a:solidFill>
              </a:defRPr>
            </a:pPr>
            <a:r>
              <a:t>Emergent properties concept</a:t>
            </a:r>
          </a:p>
          <a:p>
            <a:pPr>
              <a:spcAft>
                <a:spcPts val="600"/>
              </a:spcAft>
              <a:defRPr sz="1800">
                <a:solidFill>
                  <a:srgbClr val="333333"/>
                </a:solidFill>
              </a:defRPr>
            </a:pPr>
            <a:r>
              <a:t>Interfaces criticality</a:t>
            </a:r>
          </a:p>
          <a:p>
            <a:pPr>
              <a:spcAft>
                <a:spcPts val="600"/>
              </a:spcAft>
              <a:defRPr sz="1800">
                <a:solidFill>
                  <a:srgbClr val="333333"/>
                </a:solidFill>
              </a:defRPr>
            </a:pPr>
            <a:r>
              <a:t>Introduction to systems thinking</a:t>
            </a:r>
          </a:p>
          <a:p>
            <a:pPr>
              <a:spcAft>
                <a:spcPts val="600"/>
              </a:spcAft>
              <a:defRPr sz="1800">
                <a:solidFill>
                  <a:srgbClr val="333333"/>
                </a:solidFill>
              </a:defRPr>
            </a:pPr>
            <a:r>
              <a:t>Case Studies: Tell them as stories, not reports</a:t>
            </a:r>
          </a:p>
          <a:p>
            <a:pPr>
              <a:spcAft>
                <a:spcPts val="600"/>
              </a:spcAft>
              <a:defRPr sz="1800">
                <a:solidFill>
                  <a:srgbClr val="333333"/>
                </a:solidFill>
              </a:defRPr>
            </a:pPr>
            <a:r>
              <a:t>Use present tense for immediacy: "The astronauts hear a bang...</a:t>
            </a:r>
          </a:p>
          <a:p>
            <a:pPr>
              <a:spcAft>
                <a:spcPts val="600"/>
              </a:spcAft>
              <a:defRPr sz="1800">
                <a:solidFill>
                  <a:srgbClr val="333333"/>
                </a:solidFill>
              </a:defRPr>
            </a:pPr>
            <a:r>
              <a:t>Include human elements: fear, confusion, decisions under pressure</a:t>
            </a:r>
          </a:p>
          <a:p>
            <a:pPr>
              <a:spcAft>
                <a:spcPts val="600"/>
              </a:spcAft>
              <a:defRPr sz="1800">
                <a:solidFill>
                  <a:srgbClr val="333333"/>
                </a:solidFill>
              </a:defRPr>
            </a:pPr>
            <a:r>
              <a:t>Build tension before revealing the SE failure</a:t>
            </a:r>
          </a:p>
          <a:p>
            <a:pPr>
              <a:spcAft>
                <a:spcPts val="600"/>
              </a:spcAft>
              <a:defRPr sz="1800">
                <a:solidFill>
                  <a:srgbClr val="333333"/>
                </a:solidFill>
              </a:defRPr>
            </a:pPr>
            <a:r>
              <a:t>Show consequences vividly</a:t>
            </a:r>
          </a:p>
          <a:p>
            <a:pPr>
              <a:spcAft>
                <a:spcPts val="600"/>
              </a:spcAft>
              <a:defRPr sz="1800">
                <a:solidFill>
                  <a:srgbClr val="333333"/>
                </a:solidFill>
              </a:defRPr>
            </a:pPr>
            <a:r>
              <a:t>Personal Connections:</a:t>
            </a:r>
          </a:p>
          <a:p>
            <a:pPr>
              <a:spcAft>
                <a:spcPts val="600"/>
              </a:spcAft>
              <a:defRPr sz="1800">
                <a:solidFill>
                  <a:srgbClr val="333333"/>
                </a:solidFill>
              </a:defRPr>
            </a:pPr>
            <a:r>
              <a:t>Share any relevant personal industry experience</a:t>
            </a:r>
          </a:p>
          <a:p>
            <a:pPr>
              <a:spcAft>
                <a:spcPts val="600"/>
              </a:spcAft>
              <a:defRPr sz="1800">
                <a:solidFill>
                  <a:srgbClr val="333333"/>
                </a:solidFill>
              </a:defRPr>
            </a:pPr>
            <a:r>
              <a:t>Ask students about their experiences with complex systems</a:t>
            </a:r>
          </a:p>
          <a:p>
            <a:pPr>
              <a:spcAft>
                <a:spcPts val="600"/>
              </a:spcAft>
              <a:defRPr sz="1800">
                <a:solidFill>
                  <a:srgbClr val="333333"/>
                </a:solidFill>
              </a:defRPr>
            </a:pPr>
            <a:r>
              <a:t>Reference current events (recent recalls, tech failures)</a:t>
            </a:r>
          </a:p>
          <a:p>
            <a:pPr>
              <a:spcAft>
                <a:spcPts val="600"/>
              </a:spcAft>
              <a:defRPr sz="1800">
                <a:solidFill>
                  <a:srgbClr val="333333"/>
                </a:solidFill>
              </a:defRPr>
            </a:pPr>
            <a:r>
              <a:t>Use Analogies:</a:t>
            </a:r>
          </a:p>
          <a:p>
            <a:pPr>
              <a:spcAft>
                <a:spcPts val="600"/>
              </a:spcAft>
              <a:defRPr sz="1800">
                <a:solidFill>
                  <a:srgbClr val="333333"/>
                </a:solidFill>
              </a:defRPr>
            </a:pPr>
            <a:r>
              <a:t>System boundaries: Like defining a neighborhood vs a city vs a region</a:t>
            </a:r>
          </a:p>
          <a:p>
            <a:pPr>
              <a:spcAft>
                <a:spcPts val="600"/>
              </a:spcAft>
              <a:defRPr sz="1800">
                <a:solidFill>
                  <a:srgbClr val="333333"/>
                </a:solidFill>
              </a:defRPr>
            </a:pPr>
            <a:r>
              <a:t>Emergent properties: Like individual musicians vs an orchestra</a:t>
            </a:r>
          </a:p>
          <a:p>
            <a:pPr>
              <a:spcAft>
                <a:spcPts val="600"/>
              </a:spcAft>
              <a:defRPr sz="1800">
                <a:solidFill>
                  <a:srgbClr val="333333"/>
                </a:solidFill>
              </a:defRPr>
            </a:pPr>
            <a:r>
              <a:t>Interfaces: Like border crossings between countries—that's where issues happen</a:t>
            </a:r>
          </a:p>
          <a:p>
            <a:pPr>
              <a:spcAft>
                <a:spcPts val="1000"/>
              </a:spcAft>
              <a:defRPr sz="1800">
                <a:solidFill>
                  <a:srgbClr val="333333"/>
                </a:solidFill>
              </a:defRPr>
            </a:pPr>
            <a:r>
              <a:t>During Session: — After case studies: "What's the common pattern?" (should identify interface/complexity issues)</a:t>
            </a:r>
          </a:p>
          <a:p>
            <a:pPr>
              <a:spcAft>
                <a:spcPts val="600"/>
              </a:spcAft>
              <a:defRPr sz="1800">
                <a:solidFill>
                  <a:srgbClr val="333333"/>
                </a:solidFill>
              </a:defRPr>
            </a:pPr>
            <a:r>
              <a:t>After system definition: "Is [example X] a system? Why or why not?</a:t>
            </a:r>
          </a:p>
          <a:p>
            <a:pPr>
              <a:spcAft>
                <a:spcPts val="600"/>
              </a:spcAft>
              <a:defRPr sz="1800">
                <a:solidFill>
                  <a:srgbClr val="333333"/>
                </a:solidFill>
              </a:defRPr>
            </a:pPr>
            <a:r>
              <a:t>After characteristics: "Name three characteristics of [familiar product]</a:t>
            </a:r>
          </a:p>
          <a:p>
            <a:pPr>
              <a:spcAft>
                <a:spcPts val="1000"/>
              </a:spcAft>
              <a:defRPr sz="1800">
                <a:solidFill>
                  <a:srgbClr val="333333"/>
                </a:solidFill>
              </a:defRPr>
            </a:pPr>
            <a:r>
              <a:t>Assignment Success Criteria: — Part 2 case study should identify specific SE practices (requirements, interfaces, verification, etc.)</a:t>
            </a:r>
          </a:p>
          <a:p>
            <a:pPr>
              <a:spcAft>
                <a:spcPts val="600"/>
              </a:spcAft>
              <a:defRPr sz="1800">
                <a:solidFill>
                  <a:srgbClr val="333333"/>
                </a:solidFill>
              </a:defRPr>
            </a:pPr>
            <a:r>
              <a:t>Part 3 system mapping should show understanding of boundaries and subsystems</a:t>
            </a:r>
          </a:p>
          <a:p>
            <a:pPr>
              <a:spcAft>
                <a:spcPts val="600"/>
              </a:spcAft>
              <a:defRPr sz="1800">
                <a:solidFill>
                  <a:srgbClr val="333333"/>
                </a:solidFill>
              </a:defRPr>
            </a:pPr>
            <a:r>
              <a:t>Look for systems thinking language, not just component listing</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 Session Success Criteria</a:t>
            </a:r>
          </a:p>
        </p:txBody>
      </p:sp>
      <p:sp>
        <p:nvSpPr>
          <p:cNvPr id="3" name="Content Placeholder 2"/>
          <p:cNvSpPr>
            <a:spLocks noGrp="1"/>
          </p:cNvSpPr>
          <p:nvPr>
            <p:ph idx="1"/>
          </p:nvPr>
        </p:nvSpPr>
        <p:spPr/>
        <p:txBody>
          <a:bodyPr/>
          <a:lstStyle/>
          <a:p>
            <a:pPr>
              <a:defRPr sz="2400" b="1">
                <a:solidFill>
                  <a:srgbClr val="2E5090"/>
                </a:solidFill>
              </a:defRPr>
            </a:pPr>
            <a:r>
              <a:t>Mindset Shift Achieved:</a:t>
            </a:r>
          </a:p>
          <a:p>
            <a:pPr>
              <a:spcAft>
                <a:spcPts val="1000"/>
              </a:spcAft>
              <a:defRPr sz="1800">
                <a:solidFill>
                  <a:srgbClr val="333333"/>
                </a:solidFill>
              </a:defRPr>
            </a:pPr>
            <a:r>
              <a:t>Students leave able to:</a:t>
            </a:r>
          </a:p>
          <a:p>
            <a:pPr>
              <a:spcAft>
                <a:spcPts val="600"/>
              </a:spcAft>
              <a:defRPr sz="1800">
                <a:solidFill>
                  <a:srgbClr val="333333"/>
                </a:solidFill>
              </a:defRPr>
            </a:pPr>
            <a:r>
              <a:t>✓ Explain why systems engineering matters through case study examples</a:t>
            </a:r>
          </a:p>
          <a:p>
            <a:pPr>
              <a:spcAft>
                <a:spcPts val="600"/>
              </a:spcAft>
              <a:defRPr sz="1800">
                <a:solidFill>
                  <a:srgbClr val="333333"/>
                </a:solidFill>
              </a:defRPr>
            </a:pPr>
            <a:r>
              <a:t>✓ Articulate the cost of poor SE and ROI of good SE</a:t>
            </a:r>
          </a:p>
          <a:p>
            <a:pPr>
              <a:spcAft>
                <a:spcPts val="600"/>
              </a:spcAft>
              <a:defRPr sz="1800">
                <a:solidFill>
                  <a:srgbClr val="333333"/>
                </a:solidFill>
              </a:defRPr>
            </a:pPr>
            <a:r>
              <a:t>✓ Define "system" and identify six key system characteristics</a:t>
            </a:r>
          </a:p>
          <a:p>
            <a:pPr>
              <a:spcAft>
                <a:spcPts val="600"/>
              </a:spcAft>
              <a:defRPr sz="1800">
                <a:solidFill>
                  <a:srgbClr val="333333"/>
                </a:solidFill>
              </a:defRPr>
            </a:pPr>
            <a:r>
              <a:t>✓ Recognize interfaces as critical failure points</a:t>
            </a:r>
          </a:p>
          <a:p>
            <a:pPr>
              <a:spcAft>
                <a:spcPts val="600"/>
              </a:spcAft>
              <a:defRPr sz="1800">
                <a:solidFill>
                  <a:srgbClr val="333333"/>
                </a:solidFill>
              </a:defRPr>
            </a:pPr>
            <a:r>
              <a:t>✓ Distinguish between component thinking and systems thinking</a:t>
            </a:r>
          </a:p>
          <a:p>
            <a:pPr>
              <a:spcAft>
                <a:spcPts val="600"/>
              </a:spcAft>
              <a:defRPr sz="1800">
                <a:solidFill>
                  <a:srgbClr val="333333"/>
                </a:solidFill>
              </a:defRPr>
            </a:pPr>
            <a:r>
              <a:t>✓ Understand that SE is essential for modern automotive engineering</a:t>
            </a:r>
          </a:p>
          <a:p>
            <a:pPr>
              <a:spcAft>
                <a:spcPts val="1000"/>
              </a:spcAft>
              <a:defRPr sz="1800">
                <a:solidFill>
                  <a:srgbClr val="333333"/>
                </a:solidFill>
              </a:defRPr>
            </a:pPr>
            <a:r>
              <a:t>Most importantly: Students are motivated to learn systems engineering. They see it not as bureaucracy, but as essential professional practice. They understand that SE skills will make them better engineers and prevent disasters.</a:t>
            </a:r>
          </a:p>
          <a:p>
            <a:pPr>
              <a:spcAft>
                <a:spcPts val="1000"/>
              </a:spcAft>
              <a:defRPr sz="1800">
                <a:solidFill>
                  <a:srgbClr val="333333"/>
                </a:solidFill>
              </a:defRPr>
            </a:pPr>
            <a:r>
              <a:t>From: "Systems engineering is overhead documentation</a:t>
            </a:r>
          </a:p>
          <a:p>
            <a:pPr>
              <a:spcAft>
                <a:spcPts val="1000"/>
              </a:spcAft>
              <a:defRPr sz="1800">
                <a:solidFill>
                  <a:srgbClr val="333333"/>
                </a:solidFill>
              </a:defRPr>
            </a:pPr>
            <a:r>
              <a:t>To: "Systems engineering is how we prevent disasters and build successful complex systems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 Bridge to Session 2</a:t>
            </a:r>
          </a:p>
        </p:txBody>
      </p:sp>
      <p:sp>
        <p:nvSpPr>
          <p:cNvPr id="3" name="Content Placeholder 2"/>
          <p:cNvSpPr>
            <a:spLocks noGrp="1"/>
          </p:cNvSpPr>
          <p:nvPr>
            <p:ph idx="1"/>
          </p:nvPr>
        </p:nvSpPr>
        <p:spPr/>
        <p:txBody>
          <a:bodyPr/>
          <a:lstStyle/>
          <a:p>
            <a:pPr>
              <a:spcAft>
                <a:spcPts val="1000"/>
              </a:spcAft>
              <a:defRPr sz="1800">
                <a:solidFill>
                  <a:srgbClr val="333333"/>
                </a:solidFill>
              </a:defRPr>
            </a:pPr>
            <a:r>
              <a:t>Setup for Next Session:</a:t>
            </a:r>
          </a:p>
          <a:p>
            <a:pPr>
              <a:spcAft>
                <a:spcPts val="1000"/>
              </a:spcAft>
              <a:defRPr sz="1800">
                <a:solidFill>
                  <a:srgbClr val="333333"/>
                </a:solidFill>
              </a:defRPr>
            </a:pPr>
            <a:r>
              <a:t>Today you learned why systems engineering matters and what a system is. Next session, we go deeper: how do we actually practice systems engineering? We'll explore the INCOSE framework, the ISO/IEC 15288 standard, system life cycle stages, the V-model, and stakeholder engagement. You'll learn the systematic processes and methods that make SE work. See you next time.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End of Framework</a:t>
            </a:r>
          </a:p>
          <a:p>
            <a:pPr>
              <a:spcAft>
                <a:spcPts val="1000"/>
              </a:spcAft>
              <a:defRPr sz="1800">
                <a:solidFill>
                  <a:srgbClr val="333333"/>
                </a:solidFill>
              </a:defRPr>
            </a:pPr>
            <a:r>
              <a:t>Framework Summary: — Total Slides: 34 (will condense to 28-30 for actual PPT with combined content)</a:t>
            </a:r>
          </a:p>
          <a:p>
            <a:pPr>
              <a:spcAft>
                <a:spcPts val="600"/>
              </a:spcAft>
              <a:defRPr sz="1800">
                <a:solidFill>
                  <a:srgbClr val="333333"/>
                </a:solidFill>
              </a:defRPr>
            </a:pPr>
            <a:r>
              <a:t>Story Arc: Complete - Setup → Trigger (failures) → Rising Action (why SE matters) → Climax (what is a system) → Resolution (systems thinking)</a:t>
            </a:r>
          </a:p>
          <a:p>
            <a:pPr>
              <a:spcAft>
                <a:spcPts val="600"/>
              </a:spcAft>
              <a:defRPr sz="1800">
                <a:solidFill>
                  <a:srgbClr val="333333"/>
                </a:solidFill>
              </a:defRPr>
            </a:pPr>
            <a:r>
              <a:t>Engagement: High - Case studies, discussions, reflection questions</a:t>
            </a:r>
          </a:p>
          <a:p>
            <a:pPr>
              <a:spcAft>
                <a:spcPts val="600"/>
              </a:spcAft>
              <a:defRPr sz="1800">
                <a:solidFill>
                  <a:srgbClr val="333333"/>
                </a:solidFill>
              </a:defRPr>
            </a:pPr>
            <a:r>
              <a:t>Learning Outcomes: LO1, LO3 thoroughly addressed</a:t>
            </a:r>
          </a:p>
          <a:p>
            <a:pPr>
              <a:spcAft>
                <a:spcPts val="600"/>
              </a:spcAft>
              <a:defRPr sz="1800">
                <a:solidFill>
                  <a:srgbClr val="333333"/>
                </a:solidFill>
              </a:defRPr>
            </a:pPr>
            <a:r>
              <a:t>Automotive Context: Strong - Toyota case study, modern vehicle complexity, safety criticality</a:t>
            </a:r>
          </a:p>
          <a:p>
            <a:pPr>
              <a:spcAft>
                <a:spcPts val="1000"/>
              </a:spcAft>
              <a:defRPr sz="1800">
                <a:solidFill>
                  <a:srgbClr val="333333"/>
                </a:solidFill>
              </a:defRPr>
            </a:pPr>
            <a:r>
              <a:t>Next Step: Instructor uses this framework to develop PowerPoint slides, inserting appropriate visuals, refining narration for personal style, and adapting timing to actual classroom dynamics.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