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---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marp: true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theme: engineering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paginate: true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math: katex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header: 'Session 13: Life Cycle Cost &amp; Total Cost of Ownership (TCO)'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472C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Life Cycle Cost &amp; Total Cost of Ownership (TCO)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Session 13 | Automotive Vehicles (AEL ZC441)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Title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Instructor Narration: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Welcome to Session 13. Today we're talking about money. Not just the sticker price, but the TOTAL cost of a vehicle system across its entire life. Because here's what most people don't realize: the purchase price is usually less than 20% of total ownership cost.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As systems engineers, every decision you make - from requirements to architecture to component selection - affects costs that will ripple through decades. Today, you'll learn to see and manage those costs.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PPT Content:</a:t>
            </a:r>
          </a:p>
          <a:p>
            <a:pPr>
              <a:defRPr sz="1400">
                <a:solidFill>
                  <a:srgbClr val="787878"/>
                </a:solidFill>
                <a:latin typeface="Consolas"/>
              </a:defRPr>
            </a:pPr>
            <a:r>
              <a:t>AUTOMOTIVE SYSTEMS ENGINEERING</a:t>
            </a:r>
            <a:br/>
            <a:r>
              <a:t>AE ZG517 / AEL ZG517</a:t>
            </a:r>
            <a:br/>
            <a:r>
              <a:t>Session 13: Life Cycle Cost &amp; Total Cost of Ownership (TCO)</a:t>
            </a:r>
            <a:br/>
            <a:br/>
            <a:r>
              <a:t>Instructor: Sajeeth Kumar</a:t>
            </a:r>
            <a:br/>
            <a:r>
              <a:t>Duration: 120 minutes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Learning Outcomes: LO2, LO4, LO5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The Cost Iceberg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Instructor Narration: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 me show you the cost iceberg. When someone buys a vehicle, they see the purchase price - that's the tip of the iceberg above water. But beneath the surface?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Fuel costs over 10+ years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Maintenance and repairs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Insurance premiums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Depreciation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Financing costs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Registration and taxes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End-of-life disposal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For manufacturers, the iceberg looks different but equally massive: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Development costs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Manufacturing costs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Warranty and recalls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Regulatory compliance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Supply chain costs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End-of-life take-back obligations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Most of these costs are LOCKED IN by early engineering decisions.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That's why systems engineers must understand life cycle costs.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PPT Content:</a:t>
            </a:r>
          </a:p>
          <a:p>
            <a:pPr>
              <a:defRPr sz="1400">
                <a:solidFill>
                  <a:srgbClr val="787878"/>
                </a:solidFill>
                <a:latin typeface="Consolas"/>
              </a:defRPr>
            </a:pPr>
            <a:r>
              <a:t>THE COST ICEBERG</a:t>
            </a:r>
            <a:br/>
            <a:br/>
            <a:r>
              <a:t>VISIBLE (20%): Purchase Price</a:t>
            </a:r>
            <a:br/>
            <a:r>
              <a:t>• Initial vehicle cost</a:t>
            </a:r>
            <a:br/>
            <a:r>
              <a:t>• Customer sees this</a:t>
            </a:r>
            <a:br/>
            <a:br/>
            <a:r>
              <a:t>HIDDEN (80%): Life Cycle Costs</a:t>
            </a:r>
            <a:br/>
            <a:r>
              <a:t>• Operating costs (fuel, electricity)</a:t>
            </a:r>
            <a:br/>
            <a:r>
              <a:t>• Maintenance and repairs</a:t>
            </a:r>
            <a:br/>
            <a:r>
              <a:t>• Insurance</a:t>
            </a:r>
            <a:br/>
            <a:r>
              <a:t>• Depreciation</a:t>
            </a:r>
            <a:br/>
            <a:r>
              <a:t>• Financing</a:t>
            </a:r>
            <a:br/>
            <a:r>
              <a:t>• Registration and taxes</a:t>
            </a:r>
            <a:br/>
            <a:r>
              <a:t>• End-of-life disposal</a:t>
            </a:r>
            <a:br/>
            <a:br/>
            <a:r>
              <a:t>MANUFACTURER PERSPECTIVE:</a:t>
            </a:r>
            <a:br/>
            <a:r>
              <a:t>• R&amp;D and development</a:t>
            </a:r>
            <a:br/>
            <a:r>
              <a:t>• Manufacturing and tooling</a:t>
            </a:r>
            <a:br/>
            <a:r>
              <a:t>• Supply chain</a:t>
            </a:r>
            <a:br/>
            <a:r>
              <a:t>• Warranty and recalls</a:t>
            </a:r>
            <a:br/>
            <a:r>
              <a:t>• Regulatory compliance</a:t>
            </a:r>
            <a:br/>
            <a:r>
              <a:t>• Service and support</a:t>
            </a:r>
            <a:br/>
            <a:r>
              <a:t>• End-of-life responsibilities</a:t>
            </a:r>
            <a:br/>
            <a:br/>
            <a:r>
              <a:t>→ 70-80% of life cycle costs are determined in the first 20% of design phase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Learning Outcomes: LO2, LO5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Case Study Opening - Two Electric Vehicles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Instructor Narration: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 me tell you a story about two electric vehicles.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Vehicle A: Purchase price: $45,000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Vehicle B: Purchase price: $52,000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Customer walks into dealership. Which one looks like the better deal? Obviously Vehicle A, right? $7,000 cheaper.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But let's look at life cycle costs over 10 years, 150,000 miles: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Vehicle A Total Cost of Ownership: — Purchase: $45,000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Electricity: $6,000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Maintenance: $8,500 (frequent battery cooling system repairs)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Battery replacement (year 7): $12,000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Insurance: $15,000 (higher rates due to repair costs)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Depreciation: Loses 70% value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TOTAL: $86,500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Vehicle B Total Cost of Ownership: — Purchase: $52,000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Electricity: $5,200 (more efficient)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Maintenance: $4,000 (better reliability)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Battery replacement: $0 (warranty covers 10 years)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Insurance: $12,000 (lower repair costs)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Depreciation: Loses 55% value (better resale)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TOTAL: $73,200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Vehicle B, which cost $7,000 MORE upfront, saves the customer $13,300 over its life.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This is life cycle cost thinking. And as engineers, YOU determine which vehicle gets built.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PPT Content:</a:t>
            </a:r>
          </a:p>
          <a:p>
            <a:pPr>
              <a:defRPr sz="1400">
                <a:solidFill>
                  <a:srgbClr val="787878"/>
                </a:solidFill>
                <a:latin typeface="Consolas"/>
              </a:defRPr>
            </a:pPr>
            <a:r>
              <a:t>CASE STUDY: Two Electric Vehicles</a:t>
            </a:r>
            <a:br/>
            <a:br/>
            <a:r>
              <a:t>                        VEHICLE A        VEHICLE B</a:t>
            </a:r>
            <a:br/>
            <a:r>
              <a:t>Purchase Price          $45,000          $52,000</a:t>
            </a:r>
            <a:br/>
            <a:br/>
            <a:r>
              <a:t>10-Year TCO:</a:t>
            </a:r>
            <a:br/>
            <a:r>
              <a:t>Electricity             $6,000           $5,200</a:t>
            </a:r>
            <a:br/>
            <a:r>
              <a:t>Maintenance             $8,500           $4,000</a:t>
            </a:r>
            <a:br/>
            <a:r>
              <a:t>Battery Replacement     $12,000          $0</a:t>
            </a:r>
            <a:br/>
            <a:r>
              <a:t>Insurance               $15,000          $12,000</a:t>
            </a:r>
            <a:br/>
            <a:r>
              <a:t>Depreciation            (70%)            (55%)</a:t>
            </a:r>
            <a:br/>
            <a:br/>
            <a:r>
              <a:t>TOTAL COST              $86,500          $73,200</a:t>
            </a:r>
            <a:br/>
            <a:br/>
            <a:r>
              <a:t>WINNER: Vehicle B saves $13,300 over life</a:t>
            </a:r>
            <a:br/>
            <a:br/>
            <a:r>
              <a:t>LESSON: Lowest purchase price ≠ Lowest total cost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Learning Outcomes: LO2, LO5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Why LCC Matters - Stakeholder Perspectives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Instructor Narration: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Different stakeholders care about different costs: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Customers: Total cost of ownership - they pay for everything across vehicle life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Fleet operators: Even more sensitive - operating hundreds of vehicles, TCO directly affects profitability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Manufacturers: Life cycle cost of product development and support - affects competitiveness and profit margins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Society: Environmental costs - externalities like emissions, resource depletion, end-of-life waste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Regulators: Compliance costs and consumer protection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As systems engineers, you must balance ALL these cost perspectives. A decision that saves manufacturing cost might increase customer TCO. An engineering change that increases upfront cost might dramatically reduce warranty costs.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Systems thinking is cost thinking.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PPT Content:</a:t>
            </a:r>
          </a:p>
          <a:p>
            <a:pPr>
              <a:defRPr sz="1400">
                <a:solidFill>
                  <a:srgbClr val="787878"/>
                </a:solidFill>
                <a:latin typeface="Consolas"/>
              </a:defRPr>
            </a:pPr>
            <a:r>
              <a:t>WHY LIFE CYCLE COST MATTERS</a:t>
            </a:r>
            <a:br/>
            <a:br/>
            <a:r>
              <a:t>CUSTOMER PERSPECTIVE:</a:t>
            </a:r>
            <a:br/>
            <a:r>
              <a:t>• Seeks lowest total ownership cost</a:t>
            </a:r>
            <a:br/>
            <a:r>
              <a:t>• Values reliability (reduces repair costs)</a:t>
            </a:r>
            <a:br/>
            <a:r>
              <a:t>• Values efficiency (reduces fuel/energy costs)</a:t>
            </a:r>
            <a:br/>
            <a:r>
              <a:t>• Considers resale value</a:t>
            </a:r>
            <a:br/>
            <a:br/>
            <a:r>
              <a:t>FLEET OPERATOR PERSPECTIVE:</a:t>
            </a:r>
            <a:br/>
            <a:r>
              <a:t>• TCO is critical to profitability</a:t>
            </a:r>
            <a:br/>
            <a:r>
              <a:t>• Uptime is paramount (downtime = lost revenue)</a:t>
            </a:r>
            <a:br/>
            <a:r>
              <a:t>• Fuel/energy costs magnified across fleet</a:t>
            </a:r>
            <a:br/>
            <a:r>
              <a:t>• Maintenance predictability matters</a:t>
            </a:r>
            <a:br/>
            <a:br/>
            <a:r>
              <a:t>MANUFACTURER PERSPECTIVE:</a:t>
            </a:r>
            <a:br/>
            <a:r>
              <a:t>• Development costs must be recovered</a:t>
            </a:r>
            <a:br/>
            <a:r>
              <a:t>• Manufacturing costs affect competitiveness</a:t>
            </a:r>
            <a:br/>
            <a:r>
              <a:t>• Warranty costs directly hit profit</a:t>
            </a:r>
            <a:br/>
            <a:r>
              <a:t>• Reputation affects future sales</a:t>
            </a:r>
            <a:br/>
            <a:br/>
            <a:r>
              <a:t>SOCIETY/REGULATORY PERSPECTIVE:</a:t>
            </a:r>
            <a:br/>
            <a:r>
              <a:t>• Environmental externalities</a:t>
            </a:r>
            <a:br/>
            <a:r>
              <a:t>• Resource consumption</a:t>
            </a:r>
            <a:br/>
            <a:r>
              <a:t>• End-of-life impacts</a:t>
            </a:r>
            <a:br/>
            <a:r>
              <a:t>• Safety and emissions compliance</a:t>
            </a:r>
            <a:br/>
            <a:br/>
            <a:r>
              <a:t>→ Systems engineer must optimize across ALL stakeholder cost perspectives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Learning Outcomes: LO2, LO4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Today's Learning Journey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Instructor Narration: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Here's our journey today: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Part 1: Life Cycle Cost Fundamentals - What is LCC, why it matters, cost categories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Part 2: Total Cost of Ownership (TCO) - Customer perspective analysis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Part 3: Cost Estimation Techniques - How to predict and calculate costs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Part 4: Cost-Driven Design - Engineering decisions that affect LCC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Part 5: Cost-Benefit Analysis and Trade Studies - Making economically sound engineering decisions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By the end, you'll be able to evaluate engineering decisions not just technically, but economically across the entire system life cycle.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PPT Content:</a:t>
            </a:r>
          </a:p>
          <a:p>
            <a:pPr>
              <a:defRPr sz="1400">
                <a:solidFill>
                  <a:srgbClr val="787878"/>
                </a:solidFill>
                <a:latin typeface="Consolas"/>
              </a:defRPr>
            </a:pPr>
            <a:r>
              <a:t>TODAY'S JOURNEY</a:t>
            </a:r>
            <a:br/>
            <a:br/>
            <a:r>
              <a:t>1. LCC Fundamentals (15 min)</a:t>
            </a:r>
            <a:br/>
            <a:r>
              <a:t>   • Definitions and concepts</a:t>
            </a:r>
            <a:br/>
            <a:r>
              <a:t>   • Cost categories across life cycle</a:t>
            </a:r>
            <a:br/>
            <a:br/>
            <a:r>
              <a:t>2. Total Cost of Ownership (20 min)</a:t>
            </a:r>
            <a:br/>
            <a:r>
              <a:t>   • TCO models for automotive</a:t>
            </a:r>
            <a:br/>
            <a:r>
              <a:t>   • Customer and fleet perspectives</a:t>
            </a:r>
            <a:br/>
            <a:br/>
            <a:r>
              <a:t>3. Cost Estimation (20 min)</a:t>
            </a:r>
            <a:br/>
            <a:r>
              <a:t>   • Parametric and analogy-based methods</a:t>
            </a:r>
            <a:br/>
            <a:r>
              <a:t>   • Uncertainty and risk in cost estimates</a:t>
            </a:r>
            <a:br/>
            <a:br/>
            <a:r>
              <a:t>4. Cost-Driven Design (20 min)</a:t>
            </a:r>
            <a:br/>
            <a:r>
              <a:t>   • How engineering decisions affect LCC</a:t>
            </a:r>
            <a:br/>
            <a:r>
              <a:t>   • Design for cost optimization</a:t>
            </a:r>
            <a:br/>
            <a:br/>
            <a:r>
              <a:t>5. Cost-Benefit Analysis (15 min)</a:t>
            </a:r>
            <a:br/>
            <a:r>
              <a:t>   • Trade studies with cost</a:t>
            </a:r>
            <a:br/>
            <a:r>
              <a:t>   • Economic decision-making</a:t>
            </a:r>
            <a:br/>
            <a:br/>
            <a:r>
              <a:t>Goal: Engineer systems that are economically optimal across their entire life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Learning Outcomes: LO2, LO4, LO5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Defining Life Cycle Cost (LCC)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Instructor Narration: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Let's define our terms precisely.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Life Cycle Cost (LCC): The total cost of a system throughout its entire life cycle, from conception to disposal.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Total Cost of Ownership (TCO): The total cost to acquire, operate, and dispose of a system from the OWNER'S perspective.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LCC is broader - includes manufacturer costs. TCO focuses on customer/operator costs.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 system life cycle includes: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Conception and Development: Research, design, testing, certification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Production and Construction: Manufacturing, tooling, quality control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Operation and Support: Use, maintenance, repair, training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Retirement and Disposal: Decommissioning, recycling, waste management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Every stage has costs. Systems engineers must consider ALL of them.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PPT Content:</a:t>
            </a:r>
          </a:p>
          <a:p>
            <a:pPr>
              <a:defRPr sz="1400">
                <a:solidFill>
                  <a:srgbClr val="787878"/>
                </a:solidFill>
                <a:latin typeface="Consolas"/>
              </a:defRPr>
            </a:pPr>
            <a:r>
              <a:t>LIFE CYCLE COST (LCC) - DEFINITION</a:t>
            </a:r>
            <a:br/>
            <a:br/>
            <a:r>
              <a:t>LCC = Total cost of system across entire life cycle</a:t>
            </a:r>
            <a:br/>
            <a:br/>
            <a:r>
              <a:t>LIFE CYCLE STAGES:</a:t>
            </a:r>
            <a:br/>
            <a:br/>
            <a:r>
              <a:t>1. CONCEPTION &amp; DEVELOPMENT</a:t>
            </a:r>
            <a:br/>
            <a:r>
              <a:t>   • Research and development</a:t>
            </a:r>
            <a:br/>
            <a:r>
              <a:t>   • Requirements engineering</a:t>
            </a:r>
            <a:br/>
            <a:r>
              <a:t>   • Design and architecture</a:t>
            </a:r>
            <a:br/>
            <a:r>
              <a:t>   • Prototyping and testing</a:t>
            </a:r>
            <a:br/>
            <a:r>
              <a:t>   • Certification and compliance</a:t>
            </a:r>
            <a:br/>
            <a:br/>
            <a:r>
              <a:t>2. PRODUCTION &amp; CONSTRUCTION</a:t>
            </a:r>
            <a:br/>
            <a:r>
              <a:t>   • Manufacturing tooling</a:t>
            </a:r>
            <a:br/>
            <a:r>
              <a:t>   • Component production</a:t>
            </a:r>
            <a:br/>
            <a:r>
              <a:t>   • Assembly and integration</a:t>
            </a:r>
            <a:br/>
            <a:r>
              <a:t>   • Quality control</a:t>
            </a:r>
            <a:br/>
            <a:r>
              <a:t>   • Logistics and distribution</a:t>
            </a:r>
            <a:br/>
            <a:br/>
            <a:r>
              <a:t>3. OPERATION &amp; SUPPORT</a:t>
            </a:r>
            <a:br/>
            <a:r>
              <a:t>   • Energy/fuel consumption</a:t>
            </a:r>
            <a:br/>
            <a:r>
              <a:t>   • Routine maintenance</a:t>
            </a:r>
            <a:br/>
            <a:r>
              <a:t>   • Repairs and replacements</a:t>
            </a:r>
            <a:br/>
            <a:r>
              <a:t>   • Training and documentation</a:t>
            </a:r>
            <a:br/>
            <a:r>
              <a:t>   • Spare parts inventory</a:t>
            </a:r>
            <a:br/>
            <a:br/>
            <a:r>
              <a:t>4. RETIREMENT &amp; DISPOSAL</a:t>
            </a:r>
            <a:br/>
            <a:r>
              <a:t>   • Decommissioning</a:t>
            </a:r>
            <a:br/>
            <a:r>
              <a:t>   • Recycling and material recovery</a:t>
            </a:r>
            <a:br/>
            <a:r>
              <a:t>   • Waste disposal</a:t>
            </a:r>
            <a:br/>
            <a:r>
              <a:t>   • Environmental remediation</a:t>
            </a:r>
            <a:br/>
            <a:br/>
            <a:r>
              <a:t>LCC = C_development + C_production + C_operation + C_disposal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Learning Outcomes: LO2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LCC Components - Detailed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Instructor Narration: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 me break down each cost category in detail for automotive systems: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Development Costs: — Engineering labor (requirements, design, testing)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Prototyping and tooling for prototypes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Testing facilities and equipment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Certification and regulatory compliance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Software development and validation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Intellectual property and licensing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Production Costs: — Manufacturing tooling and equipment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Material and component costs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Direct labor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Quality control and inspection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Logistics and supply chain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Factory overhead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Operating Costs: — Energy consumption (fuel, electricity)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Routine maintenance (scheduled services)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Repairs and unscheduled maintenance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Spare parts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Insurance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Taxes and registration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Support Costs: — Warranty claims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Technical support and customer service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Training materials and programs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Documentation updates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Recalls and field campaigns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End-of-Life Costs: — Disassembly labor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Hazardous material handling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Recycling and material recovery (can be revenue)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Disposal of non-recyclable materials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Environmental compliance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For a typical automotive system, operating costs are 40-60% of total LCC.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PPT Content:</a:t>
            </a:r>
          </a:p>
          <a:p>
            <a:pPr>
              <a:defRPr sz="1400">
                <a:solidFill>
                  <a:srgbClr val="787878"/>
                </a:solidFill>
                <a:latin typeface="Consolas"/>
              </a:defRPr>
            </a:pPr>
            <a:r>
              <a:t>LCC COMPONENTS - AUTOMOTIVE BREAKDOWN</a:t>
            </a:r>
            <a:br/>
            <a:br/>
            <a:r>
              <a:t>DEVELOPMENT (Typically 10-15% of LCC):</a:t>
            </a:r>
            <a:br/>
            <a:r>
              <a:t>• Engineering: $200M-$500M for new vehicle program</a:t>
            </a:r>
            <a:br/>
            <a:r>
              <a:t>• Prototyping: $50M-$150M</a:t>
            </a:r>
            <a:br/>
            <a:r>
              <a:t>• Testing and validation: $100M-$200M</a:t>
            </a:r>
            <a:br/>
            <a:r>
              <a:t>• Certification: $20M-$50M</a:t>
            </a:r>
            <a:br/>
            <a:br/>
            <a:r>
              <a:t>PRODUCTION (Typically 30-40% of LCC):</a:t>
            </a:r>
            <a:br/>
            <a:r>
              <a:t>• Tooling: $500M-$1B for new platform</a:t>
            </a:r>
            <a:br/>
            <a:r>
              <a:t>• Parts and materials: 60-70% of vehicle price</a:t>
            </a:r>
            <a:br/>
            <a:r>
              <a:t>• Labor: 10-15% of vehicle price</a:t>
            </a:r>
            <a:br/>
            <a:r>
              <a:t>• Quality control: 2-5%</a:t>
            </a:r>
            <a:br/>
            <a:br/>
            <a:r>
              <a:t>OPERATION (Typically 40-60% of LCC):</a:t>
            </a:r>
            <a:br/>
            <a:r>
              <a:t>• Fuel/Energy: $15,000-$30,000 over 10 years (ICE)</a:t>
            </a:r>
            <a:br/>
            <a:r>
              <a:t>               $5,000-$10,000 over 10 years (EV)</a:t>
            </a:r>
            <a:br/>
            <a:r>
              <a:t>• Maintenance: $5,000-$15,000 over 10 years</a:t>
            </a:r>
            <a:br/>
            <a:r>
              <a:t>• Insurance: $10,000-$20,000 over 10 years</a:t>
            </a:r>
            <a:br/>
            <a:r>
              <a:t>• Taxes/fees: $1,000-$3,000 per year</a:t>
            </a:r>
            <a:br/>
            <a:br/>
            <a:r>
              <a:t>SUPPORT (Typically 5-10% of LCC):</a:t>
            </a:r>
            <a:br/>
            <a:r>
              <a:t>• Warranty: $500-$2,000 per vehicle</a:t>
            </a:r>
            <a:br/>
            <a:r>
              <a:t>• Service network: Infrastructure costs</a:t>
            </a:r>
            <a:br/>
            <a:r>
              <a:t>• Recalls: Highly variable ($100M-$5B+ per major recall)</a:t>
            </a:r>
            <a:br/>
            <a:br/>
            <a:r>
              <a:t>END-OF-LIFE (Typically 1-5% of LCC):</a:t>
            </a:r>
            <a:br/>
            <a:r>
              <a:t>• Disposal: $200-$500 per vehicle</a:t>
            </a:r>
            <a:br/>
            <a:r>
              <a:t>• Recycling: Can offset costs (aluminum, copper recovery)</a:t>
            </a:r>
            <a:br/>
            <a:r>
              <a:t>• Environmental: Depends on regulations</a:t>
            </a:r>
            <a:br/>
            <a:br/>
            <a:r>
              <a:t>TOTAL LCC EXAMPLE (Mid-size ICE vehicle, 10 years):</a:t>
            </a:r>
            <a:br/>
            <a:r>
              <a:t>Purchase: $35,000 | Operation: $45,000 | Total: $80,000+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Learning Outcomes: LO2, LO5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LCC Formula and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Instructor Narration: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Let's formalize this mathematically. The basic LCC equation is: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LCC = CRDT + CProd + COps + CDisposal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Where: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C_RDT = Research, Development, Test &amp; Evaluation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C_Prod = Production and Manufacturing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C_Ops = Operation and Support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C_Disposal = End-of-Life and Disposal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But we need to account for TIME. A dollar today is not worth the same as a dollar in 10 years. So we use Net Present Value (NPV):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LCC = Σ(C_t / (1+r)^t)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Where: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C_t = Cost in year 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 = Discount rate (typically 3-8% for automotive)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 = Time period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Example: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 maintenance cost of $1,000 in year 5, with 5% discount rate: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NPV = $1,000 / (1.05)^5 = $784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This is critical: Far-future costs are discounted. This can lead to undervaluing long-term consequences. As systems engineers, be aware of this bias.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PPT Content:</a:t>
            </a:r>
          </a:p>
          <a:p>
            <a:pPr>
              <a:defRPr sz="1400">
                <a:solidFill>
                  <a:srgbClr val="787878"/>
                </a:solidFill>
                <a:latin typeface="Consolas"/>
              </a:defRPr>
            </a:pPr>
            <a:r>
              <a:t>LCC MATHEMATICAL MODELING</a:t>
            </a:r>
            <a:br/>
            <a:br/>
            <a:r>
              <a:t>BASIC LCC EQUATION:</a:t>
            </a:r>
            <a:br/>
            <a:r>
              <a:t>LCC = C_RDT + C_Prod + C_Ops + C_Disposal</a:t>
            </a:r>
            <a:br/>
            <a:br/>
            <a:r>
              <a:t>NET PRESENT VALUE FORMULATION:</a:t>
            </a:r>
            <a:br/>
            <a:r>
              <a:t>LCC = Σ(C_t / (1+r)^t) for t = 0 to n</a:t>
            </a:r>
            <a:br/>
            <a:br/>
            <a:r>
              <a:t>Where:</a:t>
            </a:r>
            <a:br/>
            <a:r>
              <a:t>• C_t = Cost in time period t</a:t>
            </a:r>
            <a:br/>
            <a:r>
              <a:t>• r = Discount rate (time value of money)</a:t>
            </a:r>
            <a:br/>
            <a:r>
              <a:t>• t = Time period (years)</a:t>
            </a:r>
            <a:br/>
            <a:r>
              <a:t>• n = System lifetime</a:t>
            </a:r>
            <a:br/>
            <a:br/>
            <a:r>
              <a:t>DISCOUNT RATE SELECTION:</a:t>
            </a:r>
            <a:br/>
            <a:r>
              <a:t>• Corporate: 8-12% (reflects opportunity cost of capital)</a:t>
            </a:r>
            <a:br/>
            <a:r>
              <a:t>• Government: 3-7% (social discount rate)</a:t>
            </a:r>
            <a:br/>
            <a:r>
              <a:t>• Customer: 5-10% (personal finance rate)</a:t>
            </a:r>
            <a:br/>
            <a:br/>
            <a:r>
              <a:t>EXAMPLE CALCULATION:</a:t>
            </a:r>
            <a:br/>
            <a:r>
              <a:t>System with 10-year life, 6% discount rate</a:t>
            </a:r>
            <a:br/>
            <a:br/>
            <a:r>
              <a:t>Year 0 (Development): $1,000,000 → NPV = $1,000,000</a:t>
            </a:r>
            <a:br/>
            <a:r>
              <a:t>Year 1 (Production): $500,000 → NPV = $471,698</a:t>
            </a:r>
            <a:br/>
            <a:r>
              <a:t>Year 2 (Production): $500,000 → NPV = $445,094</a:t>
            </a:r>
            <a:br/>
            <a:r>
              <a:t>Year 3-10 (Operation): $100,000/yr → NPV = $590,169</a:t>
            </a:r>
            <a:br/>
            <a:r>
              <a:t>Year 10 (Disposal): $50,000 → NPV = $27,919</a:t>
            </a:r>
            <a:br/>
            <a:br/>
            <a:r>
              <a:t>TOTAL LCC (NPV) = $2,534,880</a:t>
            </a:r>
            <a:br/>
            <a:br/>
            <a:r>
              <a:t>KEY INSIGHT:</a:t>
            </a:r>
            <a:br/>
            <a:r>
              <a:t>Higher discount rates favor low upfront costs</a:t>
            </a:r>
            <a:br/>
            <a:r>
              <a:t>Lower discount rates favor low operating costs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Learning Outcomes: LO2, LO5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LCC Analysis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Instructor Narration: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How do you actually conduct an LCC analysis? Here's the systematic process: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1: Define Objectives and Scope — What decision are you supporting?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What alternatives are being compared?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What's the time horizon? (typically vehicle useful life: 10-15 years)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Whose perspective? (manufacturer, customer, society)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2: Establish Cost Breakdown Structure — Decompose system into cost elements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Align with Work Breakdown Structure (WBS)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Identify all cost categories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3: Identify Cost Drivers — What factors most affect costs?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Examples: weight (materials cost), complexity (assembly cost), reliability (warranty cost)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4: Estimate Costs — Use estimation techniques (we'll cover these)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Include uncertainty ranges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Document assumptions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5: Apply Time Value of Money — Select appropriate discount rate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Calculate NPV for all costs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6: Conduct Sensitivity Analysis — Which assumptions most affect results?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Test different scenarios (fuel prices, failure rates, etc.)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7: Document and Communicate — Present results with uncertainty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Support decision-making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Update as better data becomes available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This is an iterative process. Early estimates are rough, refined over time.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PPT Content:</a:t>
            </a:r>
          </a:p>
          <a:p>
            <a:pPr>
              <a:defRPr sz="1400">
                <a:solidFill>
                  <a:srgbClr val="787878"/>
                </a:solidFill>
                <a:latin typeface="Consolas"/>
              </a:defRPr>
            </a:pPr>
            <a:r>
              <a:t>LCC ANALYSIS PROCESS</a:t>
            </a:r>
            <a:br/>
            <a:br/>
            <a:r>
              <a:t>1. DEFINE OBJECTIVES &amp; SCOPE</a:t>
            </a:r>
            <a:br/>
            <a:r>
              <a:t>   ✓ Decision to be supported</a:t>
            </a:r>
            <a:br/>
            <a:r>
              <a:t>   ✓ Alternatives to compare</a:t>
            </a:r>
            <a:br/>
            <a:r>
              <a:t>   ✓ Time horizon</a:t>
            </a:r>
            <a:br/>
            <a:r>
              <a:t>   ✓ Stakeholder perspective</a:t>
            </a:r>
            <a:br/>
            <a:r>
              <a:t>   ✓ Boundaries (what's included/excluded)</a:t>
            </a:r>
            <a:br/>
            <a:br/>
            <a:r>
              <a:t>2. ESTABLISH COST BREAKDOWN STRUCTURE</a:t>
            </a:r>
            <a:br/>
            <a:r>
              <a:t>   ✓ Hierarchical decomposition</a:t>
            </a:r>
            <a:br/>
            <a:r>
              <a:t>   ✓ Aligned with WBS</a:t>
            </a:r>
            <a:br/>
            <a:r>
              <a:t>   ✓ Complete and mutually exclusive categories</a:t>
            </a:r>
            <a:br/>
            <a:br/>
            <a:r>
              <a:t>3. IDENTIFY COST DRIVERS</a:t>
            </a:r>
            <a:br/>
            <a:r>
              <a:t>   ✓ Technical parameters affecting cost</a:t>
            </a:r>
            <a:br/>
            <a:r>
              <a:t>   ✓ Operational factors</a:t>
            </a:r>
            <a:br/>
            <a:r>
              <a:t>   ✓ External factors (regulations, market)</a:t>
            </a:r>
            <a:br/>
            <a:br/>
            <a:r>
              <a:t>4. ESTIMATE COSTS</a:t>
            </a:r>
            <a:br/>
            <a:r>
              <a:t>   ✓ Data collection (historical, vendor quotes)</a:t>
            </a:r>
            <a:br/>
            <a:r>
              <a:t>   ✓ Estimation techniques (parametric, analogy)</a:t>
            </a:r>
            <a:br/>
            <a:r>
              <a:t>   ✓ Uncertainty quantification</a:t>
            </a:r>
            <a:br/>
            <a:br/>
            <a:r>
              <a:t>5. APPLY TIME VALUE OF MONEY</a:t>
            </a:r>
            <a:br/>
            <a:r>
              <a:t>   ✓ Select discount rate</a:t>
            </a:r>
            <a:br/>
            <a:r>
              <a:t>   ✓ Calculate NPV for each cost element</a:t>
            </a:r>
            <a:br/>
            <a:r>
              <a:t>   ✓ Sum to total LCC</a:t>
            </a:r>
            <a:br/>
            <a:br/>
            <a:r>
              <a:t>6. CONDUCT SENSITIVITY ANALYSIS</a:t>
            </a:r>
            <a:br/>
            <a:r>
              <a:t>   ✓ Vary key assumptions</a:t>
            </a:r>
            <a:br/>
            <a:r>
              <a:t>   ✓ Identify cost drivers with highest impact</a:t>
            </a:r>
            <a:br/>
            <a:r>
              <a:t>   ✓ Assess risk and uncertainty</a:t>
            </a:r>
            <a:br/>
            <a:br/>
            <a:r>
              <a:t>7. DOCUMENT &amp; COMMUNICATE</a:t>
            </a:r>
            <a:br/>
            <a:r>
              <a:t>   ✓ Assumptions log</a:t>
            </a:r>
            <a:br/>
            <a:r>
              <a:t>   ✓ Visualize results</a:t>
            </a:r>
            <a:br/>
            <a:r>
              <a:t>   ✓ Support decision-making</a:t>
            </a:r>
            <a:br/>
            <a:br/>
            <a:r>
              <a:t>→ Iterate as design matures and better data becomes available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Learning Outcomes: LO2, LO4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Cost vs. Value - Important Distinction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Instructor Narration: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Before we go further, distinguish between COST and VALUE.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Cost: Resources consumed (money, time, materials)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Value: Benefit delivered to stakeholders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 goal is NOT minimum cost. The goal is MAXIMUM value.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Example: Safety features add cost but deliver enormous value (lives saved, liability avoided).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Value Engineering: Systematic approach to improving value by: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Reducing costs without reducing performance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Increasing performance without increasing costs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Reducing costs WHILE increasing performance (ideal)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Four Scenarios: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Cost | Performance | Value | Example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|------|-------------|-------|---------|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Low | Low | Poor | Cheap components that fail frequently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High | High | Good | Premium features customers value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Low | High | Excellent | Engineering innovation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High | Low | Poor | Over-engineered, gold-plating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As systems engineers, you seek the third quadrant: Low cost, high performance.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This requires creativity, systems thinking, and life cycle perspective.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PPT Content:</a:t>
            </a:r>
          </a:p>
          <a:p>
            <a:pPr>
              <a:defRPr sz="1400">
                <a:solidFill>
                  <a:srgbClr val="787878"/>
                </a:solidFill>
                <a:latin typeface="Consolas"/>
              </a:defRPr>
            </a:pPr>
            <a:r>
              <a:t>COST vs. VALUE</a:t>
            </a:r>
            <a:br/>
            <a:br/>
            <a:r>
              <a:t>DEFINITIONS:</a:t>
            </a:r>
            <a:br/>
            <a:r>
              <a:t>• Cost = Resources consumed (inputs)</a:t>
            </a:r>
            <a:br/>
            <a:r>
              <a:t>• Value = Benefits delivered (outputs)</a:t>
            </a:r>
            <a:br/>
            <a:r>
              <a:t>• Value = Performance / Cost</a:t>
            </a:r>
            <a:br/>
            <a:br/>
            <a:r>
              <a:t>GOAL: Maximize Value (NOT minimize cost)</a:t>
            </a:r>
            <a:br/>
            <a:br/>
            <a:r>
              <a:t>VALUE ENGINEERING APPROACHES:</a:t>
            </a:r>
            <a:br/>
            <a:br/>
            <a:r>
              <a:t>1. REDUCE COST, MAINTAIN PERFORMANCE</a:t>
            </a:r>
            <a:br/>
            <a:r>
              <a:t>   • Standardization (fewer unique parts)</a:t>
            </a:r>
            <a:br/>
            <a:r>
              <a:t>   • Design for manufacturing</a:t>
            </a:r>
            <a:br/>
            <a:r>
              <a:t>   • Material substitution</a:t>
            </a:r>
            <a:br/>
            <a:br/>
            <a:r>
              <a:t>2. INCREASE PERFORMANCE, MAINTAIN COST</a:t>
            </a:r>
            <a:br/>
            <a:r>
              <a:t>   • Innovation and technology</a:t>
            </a:r>
            <a:br/>
            <a:r>
              <a:t>   • Systems integration</a:t>
            </a:r>
            <a:br/>
            <a:r>
              <a:t>   • Better requirements</a:t>
            </a:r>
            <a:br/>
            <a:br/>
            <a:r>
              <a:t>3. REDUCE COST, INCREASE PERFORMANCE</a:t>
            </a:r>
            <a:br/>
            <a:r>
              <a:t>   • This is engineering excellence</a:t>
            </a:r>
            <a:br/>
            <a:r>
              <a:t>   • Requires deep systems thinking</a:t>
            </a:r>
            <a:br/>
            <a:r>
              <a:t>   • Example: Electric powertrains (fewer parts, better performance)</a:t>
            </a:r>
            <a:br/>
            <a:br/>
            <a:r>
              <a:t>4. AVOID: INCREASE COST, REDUCE PERFORMANCE</a:t>
            </a:r>
            <a:br/>
            <a:r>
              <a:t>   • Over-complexity</a:t>
            </a:r>
            <a:br/>
            <a:r>
              <a:t>   • Gold-plating</a:t>
            </a:r>
            <a:br/>
            <a:r>
              <a:t>   • Poor requirements</a:t>
            </a:r>
            <a:br/>
            <a:br/>
            <a:r>
              <a:t>AUTOMOTIVE EXAMPLES:</a:t>
            </a:r>
            <a:br/>
            <a:br/>
            <a:r>
              <a:t>LOW COST, HIGH VALUE:</a:t>
            </a:r>
            <a:br/>
            <a:r>
              <a:t>• LED lighting (lower power, longer life, better visibility)</a:t>
            </a:r>
            <a:br/>
            <a:r>
              <a:t>• Turbocharging (smaller engine, better efficiency and power)</a:t>
            </a:r>
            <a:br/>
            <a:r>
              <a:t>• Over-the-air updates (eliminate recall costs, improve functionality)</a:t>
            </a:r>
            <a:br/>
            <a:br/>
            <a:r>
              <a:t>HIGH COST, HIGH VALUE:</a:t>
            </a:r>
            <a:br/>
            <a:r>
              <a:t>• Advanced driver assistance systems (safety value justifies cost)</a:t>
            </a:r>
            <a:br/>
            <a:r>
              <a:t>• Battery thermal management (extends battery life significantly)</a:t>
            </a:r>
            <a:br/>
            <a:br/>
            <a:r>
              <a:t>The cheapest system is not always the best. Optimize for life cycle value.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Learning Outcomes: LO2, LO5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TCO Model - Consumer Vehicle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Instructor Narration: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Let's build a TCO model for a typical consumer vehicle. Assume: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Mid-size sedan, $35,000 purchase price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10-year ownership, 15,000 miles/year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Gas price $3.50/gallon, 30 mpg average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TCO Calculation: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1. Depreciation: $24,500 (vehicle worth ~$10,500 after 10 years)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2. Fuel: $17,500 (150,000 miles ÷ 30 mpg × $3.50/gal)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3. Insurance: $15,000 ($1,500/year average)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4. Maintenance &amp; Repairs: $10,000 (increases with age)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5. Financing: $6,000 (5-year loan, 6% APR on $30,000)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6. Taxes &amp; Fees: $3,000 ($300/year registration + initial sales tax)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Total 10-Year TCO: $76,000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Breakdown: — Depreciation: 32% of TCO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Fuel: 23% of TCO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Insurance: 20% of TCO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Maintenance: 13% of TCO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Financing: 8% of TCO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Taxes/Fees: 4% of TCO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Key insight: Fuel and depreciation together are 55% of TCO. Engineering can affect both significantly.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PPT Content:</a:t>
            </a:r>
          </a:p>
          <a:p>
            <a:pPr>
              <a:defRPr sz="1400">
                <a:solidFill>
                  <a:srgbClr val="787878"/>
                </a:solidFill>
                <a:latin typeface="Consolas"/>
              </a:defRPr>
            </a:pPr>
            <a:r>
              <a:t>TCO MODEL: CONSUMER VEHICLE</a:t>
            </a:r>
            <a:br/>
            <a:br/>
            <a:r>
              <a:t>ASSUMPTIONS:</a:t>
            </a:r>
            <a:br/>
            <a:r>
              <a:t>• Vehicle: Mid-size sedan</a:t>
            </a:r>
            <a:br/>
            <a:r>
              <a:t>• Purchase Price: $35,000</a:t>
            </a:r>
            <a:br/>
            <a:r>
              <a:t>• Ownership: 10 years, 150,000 miles</a:t>
            </a:r>
            <a:br/>
            <a:r>
              <a:t>• Fuel: Gasoline, $3.50/gal, 30 mpg</a:t>
            </a:r>
            <a:br/>
            <a:r>
              <a:t>• Insurance: $1,500/year</a:t>
            </a:r>
            <a:br/>
            <a:r>
              <a:t>• Financing: 60-month loan, 6% APR, 20% down</a:t>
            </a:r>
            <a:br/>
            <a:br/>
            <a:r>
              <a:t>TCO BREAKDOWN (10 years):</a:t>
            </a:r>
            <a:br/>
            <a:br/>
            <a:r>
              <a:t>1. DEPRECIATION: $24,500 (32%)</a:t>
            </a:r>
            <a:br/>
            <a:r>
              <a:t>   • Year 1: -20% ($7,000)</a:t>
            </a:r>
            <a:br/>
            <a:r>
              <a:t>   • Years 2-5: -10% average/year</a:t>
            </a:r>
            <a:br/>
            <a:r>
              <a:t>   • Years 6-10: -5% average/year</a:t>
            </a:r>
            <a:br/>
            <a:r>
              <a:t>   • Residual value: $10,500</a:t>
            </a:r>
            <a:br/>
            <a:br/>
            <a:r>
              <a:t>2. FUEL: $17,500 (23%)</a:t>
            </a:r>
            <a:br/>
            <a:r>
              <a:t>   • 15,000 miles/year ÷ 30 mpg = 500 gal/year</a:t>
            </a:r>
            <a:br/>
            <a:r>
              <a:t>   • 500 gal × $3.50 × 10 years = $17,500</a:t>
            </a:r>
            <a:br/>
            <a:br/>
            <a:r>
              <a:t>3. INSURANCE: $15,000 (20%)</a:t>
            </a:r>
            <a:br/>
            <a:r>
              <a:t>   • $1,500/year × 10 years</a:t>
            </a:r>
            <a:br/>
            <a:br/>
            <a:r>
              <a:t>4. MAINTENANCE &amp; REPAIRS: $10,000 (13%)</a:t>
            </a:r>
            <a:br/>
            <a:r>
              <a:t>   • Years 1-3: $500/year (basic maintenance)</a:t>
            </a:r>
            <a:br/>
            <a:r>
              <a:t>   • Years 4-7: $1,000/year (wear items)</a:t>
            </a:r>
            <a:br/>
            <a:r>
              <a:t>   • Years 8-10: $2,000/year (major repairs)</a:t>
            </a:r>
            <a:br/>
            <a:br/>
            <a:r>
              <a:t>5. FINANCING: $6,000 (8%)</a:t>
            </a:r>
            <a:br/>
            <a:r>
              <a:t>   • $28,000 loan @ 6% APR, 60 months</a:t>
            </a:r>
            <a:br/>
            <a:r>
              <a:t>   • Total interest paid</a:t>
            </a:r>
            <a:br/>
            <a:br/>
            <a:r>
              <a:t>6. TAXES &amp; FEES: $3,000 (4%)</a:t>
            </a:r>
            <a:br/>
            <a:r>
              <a:t>   • Initial sales tax: $2,000</a:t>
            </a:r>
            <a:br/>
            <a:r>
              <a:t>   • Registration: $200/year × 10 = $2,000</a:t>
            </a:r>
            <a:br/>
            <a:r>
              <a:t>   • Inspections, emissions: $1,000</a:t>
            </a:r>
            <a:br/>
            <a:br/>
            <a:r>
              <a:t>TOTAL 10-YEAR TCO: $76,000</a:t>
            </a:r>
            <a:br/>
            <a:br/>
            <a:r>
              <a:t>TCO per mile: $0.51/mile</a:t>
            </a:r>
            <a:br/>
            <a:r>
              <a:t>TCO per year: $7,600/year</a:t>
            </a:r>
            <a:br/>
            <a:br/>
            <a:r>
              <a:t>ENGINEERING IMPACT:</a:t>
            </a:r>
            <a:br/>
            <a:r>
              <a:t>• Fuel efficiency: 10% improvement saves $1,750</a:t>
            </a:r>
            <a:br/>
            <a:r>
              <a:t>• Reliability: Reduce maintenance 20% saves $2,000</a:t>
            </a:r>
            <a:br/>
            <a:r>
              <a:t>• Depreciation: Better quality improves resale (complex)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Learning Outcomes: LO2, LO5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TCO Comparison - ICE vs. EV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Instructor Narration: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Let's compare ICE vs. EV using TCO analysis. This is how you make informed engineering and policy decisions.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ICE Vehicle: Mid-size sedan, $35,000 purchase, 30 mpg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EV Vehicle: Similar size, $42,000 purchase, 3.5 miles/kWh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Assumptions: — 10 years, 15,000 miles/year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Gas: $3.50/gallon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Electricity: $0.13/kWh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EV qualifies for $7,500 federal tax credit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TCO Comparison: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Cost Element | ICE | EV | Difference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|--------------|-----|-----|------------|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Purchase Price | $35,000 | $42,000 | +$7,000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Tax Credit | $0 | -$7,500 | -$7,500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Net Purchase | $35,000 | $34,500 |  —$500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Fuel/Energy | $17,500 | $5,600 | -$11,900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Maintenance | $10,000 | $5,000 | -$5,000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Insurance | $15,000 | $16,500 | +$1,500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Depreciation | -$24,500 | -$27,000 | -$2,500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Taxes/Fees | $3,000 | $2,500 | -$500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TOTAL TCO | $76,000 | $63,600 |  —$12,400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EV saves $12,400 over 10 years despite higher upfront cost.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This is the power of TCO analysis - revealing true economic value.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PPT Content:</a:t>
            </a:r>
          </a:p>
          <a:p>
            <a:pPr>
              <a:defRPr sz="1400">
                <a:solidFill>
                  <a:srgbClr val="787878"/>
                </a:solidFill>
                <a:latin typeface="Consolas"/>
              </a:defRPr>
            </a:pPr>
            <a:r>
              <a:t>TCO COMPARISON: ICE vs. ELECTRIC VEHICLE</a:t>
            </a:r>
            <a:br/>
            <a:br/>
            <a:r>
              <a:t>VEHICLE SPECIFICATIONS:</a:t>
            </a:r>
            <a:br/>
            <a:r>
              <a:t>• ICE: Mid-size sedan, $35,000, 30 mpg</a:t>
            </a:r>
            <a:br/>
            <a:r>
              <a:t>• EV: Similar size, $42,000, 3.5 mi/kWh, 75 kWh battery</a:t>
            </a:r>
            <a:br/>
            <a:r>
              <a:t>• Both: 10 years, 150,000 miles</a:t>
            </a:r>
            <a:br/>
            <a:br/>
            <a:r>
              <a:t>DETAILED TCO BREAKDOWN:</a:t>
            </a:r>
            <a:br/>
            <a:br/>
            <a:r>
              <a:t>                        ICE         EV          Δ</a:t>
            </a:r>
            <a:br/>
            <a:r>
              <a:t>Purchase Price          $35,000     $42,000     +$7,000</a:t>
            </a:r>
            <a:br/>
            <a:r>
              <a:t>Tax Credit              $0          -$7,500     -$7,500</a:t>
            </a:r>
            <a:br/>
            <a:r>
              <a:t>NET PURCHASE            $35,000     $34,500     -$500</a:t>
            </a:r>
            <a:br/>
            <a:br/>
            <a:r>
              <a:t>Energy Costs:</a:t>
            </a:r>
            <a:br/>
            <a:r>
              <a:t>• ICE: 150k mi ÷ 30 mpg × $3.50/gal = $17,500</a:t>
            </a:r>
            <a:br/>
            <a:r>
              <a:t>• EV: 150k mi ÷ 3.5 mi/kWh × $0.13/kWh = $5,600</a:t>
            </a:r>
            <a:br/>
            <a:r>
              <a:t>                        $17,500     $5,600      -$11,900</a:t>
            </a:r>
            <a:br/>
            <a:br/>
            <a:r>
              <a:t>Maintenance:</a:t>
            </a:r>
            <a:br/>
            <a:r>
              <a:t>• ICE: Oil changes, filters, exhaust, transmission = $10,000</a:t>
            </a:r>
            <a:br/>
            <a:r>
              <a:t>• EV: Brakes (regen saves), tires, coolant = $5,000</a:t>
            </a:r>
            <a:br/>
            <a:r>
              <a:t>                        $10,000     $5,000      -$5,000</a:t>
            </a:r>
            <a:br/>
            <a:br/>
            <a:r>
              <a:t>Insurance:</a:t>
            </a:r>
            <a:br/>
            <a:r>
              <a:t>• EV higher due to higher vehicle value</a:t>
            </a:r>
            <a:br/>
            <a:r>
              <a:t>                        $15,000     $16,500     +$1,500</a:t>
            </a:r>
            <a:br/>
            <a:br/>
            <a:r>
              <a:t>Depreciation:</a:t>
            </a:r>
            <a:br/>
            <a:r>
              <a:t>• Both lose ~70% in 10 years</a:t>
            </a:r>
            <a:br/>
            <a:r>
              <a:t>                        -$24,500    -$27,000    -$2,500</a:t>
            </a:r>
            <a:br/>
            <a:br/>
            <a:r>
              <a:t>Registration/Taxes:</a:t>
            </a:r>
            <a:br/>
            <a:r>
              <a:t>• Some states offer EV incentives</a:t>
            </a:r>
            <a:br/>
            <a:r>
              <a:t>                        $3,000      $2,500      -$500</a:t>
            </a:r>
            <a:br/>
            <a:br/>
            <a:r>
              <a:t>TOTAL 10-YEAR TCO      $76,000     $63,600     -$12,400</a:t>
            </a:r>
            <a:br/>
            <a:br/>
            <a:r>
              <a:t>EV SAVES: $12,400 (16% lower TCO)</a:t>
            </a:r>
            <a:br/>
            <a:br/>
            <a:r>
              <a:t>BREAKEVEN ANALYSIS:</a:t>
            </a:r>
            <a:br/>
            <a:r>
              <a:t>• EV monthly payment higher: +$100/mo</a:t>
            </a:r>
            <a:br/>
            <a:r>
              <a:t>• EV monthly energy savings: -$100/mo</a:t>
            </a:r>
            <a:br/>
            <a:r>
              <a:t>• EV monthly maintenance savings: -$42/mo</a:t>
            </a:r>
            <a:br/>
            <a:r>
              <a:t>• Net savings: $42/month from day 1</a:t>
            </a:r>
            <a:br/>
            <a:r>
              <a:t>• Payback on extra upfront cost: Immediate (with tax credit)</a:t>
            </a:r>
            <a:br/>
            <a:br/>
            <a:r>
              <a:t>SENSITIVITY: What if...</a:t>
            </a:r>
            <a:br/>
            <a:r>
              <a:t>• Gas prices rise to $5/gal? EV saves $21,000</a:t>
            </a:r>
            <a:br/>
            <a:r>
              <a:t>• Battery replacement needed year 8 ($8,000)? EV saves $4,400</a:t>
            </a:r>
            <a:br/>
            <a:r>
              <a:t>• Drive 25,000 mi/year? EV saves $20,000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Learning Outcomes: LO2, LO5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Engineering Decisions That Drive LCC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Instructor Narration: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Every engineering decision you make affects life cycle costs. Let me show you the most impactful decisions: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1. Architecture Selection — Modular vs. integrated architectures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Number of components and complexity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Tesla's battery pack architecture reduces manufacturing cost by 30%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2. Component Selection — Cost vs. reliability trade-off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Cheap components have high failure rates → high warranty costs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Choosing premium capacitors adds $5 but saves $500 in warranty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3. Material Selection — Upfront cost vs. weight vs. manufacturability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Aluminum body panels: +$800 material cost, -100 lbs weight, +3 mpg → saves $3,000 in fuel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4. Manufacturing Process — Tooling investment vs. per-unit cost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Die casting saves $50/part at 100k+ volume, but costs $5M tooling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5. Maintenance Access — Design for serviceability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Easy access to battery pack reduces labor cost from $2,000 to $500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6. Failure Modes and Reliability — MTBF (Mean Time Between Failures) directly affects warranty and TCO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Improving MTBF from 50k to 100k miles cuts warranty costs in half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7. Software vs. Hardware Solutions — Software has near-zero marginal cost but high development cost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OTA updates replace recall campaigns (saves millions)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8. Standardization and Commonality — Fewer unique parts reduce inventory, training, tooling costs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Using same climate control module across 5 models reduces cost 40%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 systems engineer's job: Optimize across ALL these decisions for minimum LCC.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PPT Content:</a:t>
            </a:r>
          </a:p>
          <a:p>
            <a:pPr>
              <a:defRPr sz="1400">
                <a:solidFill>
                  <a:srgbClr val="787878"/>
                </a:solidFill>
                <a:latin typeface="Consolas"/>
              </a:defRPr>
            </a:pPr>
            <a:r>
              <a:t>ENGINEERING DECISIONS THAT DRIVE LCC</a:t>
            </a:r>
            <a:br/>
            <a:br/>
            <a:r>
              <a:t>1. ARCHITECTURE SELECTION</a:t>
            </a:r>
            <a:br/>
            <a:r>
              <a:t>   Decision: Centralized vs. Distributed computing architecture</a:t>
            </a:r>
            <a:br/>
            <a:r>
              <a:t>   Cost Impact:</a:t>
            </a:r>
            <a:br/>
            <a:r>
              <a:t>   • Centralized: Lower harness cost (-$200), higher compute cost (+$500)</a:t>
            </a:r>
            <a:br/>
            <a:r>
              <a:t>   • Distributed: Higher harness (+$200), lower compute (-$500)</a:t>
            </a:r>
            <a:br/>
            <a:r>
              <a:t>   • But: Centralized enables OTA updates → saves recall costs</a:t>
            </a:r>
            <a:br/>
            <a:br/>
            <a:r>
              <a:t>2. COMPONENT SELECTION (Reliability vs. Cost)</a:t>
            </a:r>
            <a:br/>
            <a:r>
              <a:t>   Example: Power supply capacitors</a:t>
            </a:r>
            <a:br/>
            <a:r>
              <a:t>   • Standard grade: $2 each, MTBF 50k hours → 20% failure rate in 10 years</a:t>
            </a:r>
            <a:br/>
            <a:r>
              <a:t>   • Premium grade: $7 each, MTBF 200k hours → 2% failure rate</a:t>
            </a:r>
            <a:br/>
            <a:r>
              <a:t>   • Warranty cost per failure: $500</a:t>
            </a:r>
            <a:br/>
            <a:r>
              <a:t>   • LCC winner: Premium (saves $400/vehicle in warranty)</a:t>
            </a:r>
            <a:br/>
            <a:br/>
            <a:r>
              <a:t>3. MATERIAL SELECTION</a:t>
            </a:r>
            <a:br/>
            <a:r>
              <a:t>   Example: Body panels (Aluminum vs. Steel)</a:t>
            </a:r>
            <a:br/>
            <a:r>
              <a:t>   • Steel: Baseline, $500/vehicle</a:t>
            </a:r>
            <a:br/>
            <a:r>
              <a:t>   • Aluminum: +$800 material cost</a:t>
            </a:r>
            <a:br/>
            <a:r>
              <a:t>   • Weight savings: -100 lbs</a:t>
            </a:r>
            <a:br/>
            <a:r>
              <a:t>   • Fuel savings: +2 mpg → $1,750 over 10 years</a:t>
            </a:r>
            <a:br/>
            <a:r>
              <a:t>   • LCC winner: Aluminum (saves $950 over life)</a:t>
            </a:r>
            <a:br/>
            <a:br/>
            <a:r>
              <a:t>4. MANUFACTURING PROCESS</a:t>
            </a:r>
            <a:br/>
            <a:r>
              <a:t>   Example: Battery pack assembly</a:t>
            </a:r>
            <a:br/>
            <a:r>
              <a:t>   • Manual assembly: $0 tooling, $200/pack labor</a:t>
            </a:r>
            <a:br/>
            <a:r>
              <a:t>   • Automated: $10M tooling, $50/pack labor</a:t>
            </a:r>
            <a:br/>
            <a:r>
              <a:t>   • Breakeven: 67,000 units</a:t>
            </a:r>
            <a:br/>
            <a:r>
              <a:t>   • At 200k units/year: Automation saves $30M/year</a:t>
            </a:r>
            <a:br/>
            <a:br/>
            <a:r>
              <a:t>5. DESIGN FOR MAINTAINABILITY</a:t>
            </a:r>
            <a:br/>
            <a:r>
              <a:t>   Example: Battery pack access</a:t>
            </a:r>
            <a:br/>
            <a:r>
              <a:t>   • Poor access: 8 hours labor → $800 cost per service</a:t>
            </a:r>
            <a:br/>
            <a:r>
              <a:t>   • Good access: 2 hours labor → $200 cost per service</a:t>
            </a:r>
            <a:br/>
            <a:r>
              <a:t>   • Expected services: 2 over 10 years</a:t>
            </a:r>
            <a:br/>
            <a:r>
              <a:t>   • TCO impact: $1,200 savings per vehicle</a:t>
            </a:r>
            <a:br/>
            <a:br/>
            <a:r>
              <a:t>6. RELIABILITY ENGINEERING</a:t>
            </a:r>
            <a:br/>
            <a:r>
              <a:t>   Example: Inverter MTBF</a:t>
            </a:r>
            <a:br/>
            <a:r>
              <a:t>   • MTBF 80k miles: 60% failure rate by 150k miles</a:t>
            </a:r>
            <a:br/>
            <a:r>
              <a:t>   • MTBF 200k miles: 15% failure rate by 150k miles</a:t>
            </a:r>
            <a:br/>
            <a:r>
              <a:t>   • Replacement cost: $2,000</a:t>
            </a:r>
            <a:br/>
            <a:r>
              <a:t>   • Cost to improve MTBF: $100/vehicle</a:t>
            </a:r>
            <a:br/>
            <a:r>
              <a:t>   • LCC savings: $800/vehicle</a:t>
            </a:r>
            <a:br/>
            <a:br/>
            <a:r>
              <a:t>7. SOFTWARE vs. HARDWARE</a:t>
            </a:r>
            <a:br/>
            <a:r>
              <a:t>   Example: Feature updates</a:t>
            </a:r>
            <a:br/>
            <a:r>
              <a:t>   • Hardware upgrade: $500/vehicle + retrofit logistics</a:t>
            </a:r>
            <a:br/>
            <a:r>
              <a:t>   • Software OTA: $5M development ÷ 100k vehicles = $50/vehicle</a:t>
            </a:r>
            <a:br/>
            <a:r>
              <a:t>   • LCC winner: Software (saves $450/vehicle)</a:t>
            </a:r>
            <a:br/>
            <a:br/>
            <a:r>
              <a:t>8. STANDARDIZATION</a:t>
            </a:r>
            <a:br/>
            <a:r>
              <a:t>   Example: Climate control modules</a:t>
            </a:r>
            <a:br/>
            <a:r>
              <a:t>   • Custom per model: 5 variants × $2M tooling = $10M, $150/unit</a:t>
            </a:r>
            <a:br/>
            <a:r>
              <a:t>   • Standardized platform: 1 variant × $3M tooling = $3M, $100/unit</a:t>
            </a:r>
            <a:br/>
            <a:r>
              <a:t>   • At 200k units: Saves $7M + $50/unit</a:t>
            </a:r>
            <a:br/>
            <a:br/>
            <a:r>
              <a:t>KEY PRINCIPLE:</a:t>
            </a:r>
            <a:br/>
            <a:r>
              <a:t>Every dollar spent on better design can save $5-10 in life cycle costs.</a:t>
            </a:r>
            <a:br/>
            <a:r>
              <a:t>But you must analyze and quantify to make informed decisions.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Learning Outcomes: LO2, LO4, LO5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Design for Cost (DFC)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Instructor Narration: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Design for Cost is a systematic approach to minimizing LCC. Here are the key principles: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1. Simplicity — Fewer parts = lower cost (design, manufacturing, inventory, service)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Tesla Model Y rear casting replaces 70 parts with 1 → saves $600/vehicle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2. Standardization — Use common components across products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Reduces tooling, inventory, training costs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Volkswagen MQB platform shares 60% of parts across 10 models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3. Design for Manufacturing (DFM) — Easy to manufacture = lower labor and scrap costs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Minimize unique processes and tooling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Snap-fit vs. fasteners saves $5/assembly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4. Design for Assembly (DFA) — Reduce assembly time and complexity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Mistake-proof designs (poka-yoke)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Reducing assembly time by 1 minute saves $1/vehicle at scale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5. Design for Serviceability (DFS) — Easy access to wear items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Modular replacement vs. complete assembly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Replaceable vs. sealed battery modules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6. Design for Reliability — Prevent failures at source (cheaper than fixing later)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Use proven components and de-rating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50% de-rating on voltage extends life 10x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7. Design for Testability — Built-in diagnostics reduce troubleshooting time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OBD-II codes cut diagnostic time from hours to minutes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8. Design for End-of-Life — Easy disassembly for recycling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Valuable material recovery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Aluminum recovery pays for disposal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All of these are systems engineering practices that drive down LCC.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PPT Content:</a:t>
            </a:r>
          </a:p>
          <a:p>
            <a:pPr>
              <a:defRPr sz="1400">
                <a:solidFill>
                  <a:srgbClr val="787878"/>
                </a:solidFill>
                <a:latin typeface="Consolas"/>
              </a:defRPr>
            </a:pPr>
            <a:r>
              <a:t>DESIGN FOR COST (DFC) PRINCIPLES</a:t>
            </a:r>
            <a:br/>
            <a:br/>
            <a:r>
              <a:t>1. SIMPLICITY</a:t>
            </a:r>
            <a:br/>
            <a:r>
              <a:t>   ✓ Minimize part count</a:t>
            </a:r>
            <a:br/>
            <a:r>
              <a:t>   ✓ Reduce design complexity</a:t>
            </a:r>
            <a:br/>
            <a:r>
              <a:t>   ✓ Eliminate non-value-added features</a:t>
            </a:r>
            <a:br/>
            <a:r>
              <a:t>   Example: Reduce assembly from 200 parts to 50 → -40% assembly cost</a:t>
            </a:r>
            <a:br/>
            <a:br/>
            <a:r>
              <a:t>2. STANDARDIZATION</a:t>
            </a:r>
            <a:br/>
            <a:r>
              <a:t>   ✓ Common parts across product lines</a:t>
            </a:r>
            <a:br/>
            <a:r>
              <a:t>   ✓ Use industry-standard components</a:t>
            </a:r>
            <a:br/>
            <a:r>
              <a:t>   ✓ Platform strategies</a:t>
            </a:r>
            <a:br/>
            <a:r>
              <a:t>   Example: VW MQB platform saves $1,500/vehicle through commonality</a:t>
            </a:r>
            <a:br/>
            <a:br/>
            <a:r>
              <a:t>3. DESIGN FOR MANUFACTURING (DFM)</a:t>
            </a:r>
            <a:br/>
            <a:r>
              <a:t>   ✓ Minimize manufacturing steps</a:t>
            </a:r>
            <a:br/>
            <a:r>
              <a:t>   ✓ Use standard processes</a:t>
            </a:r>
            <a:br/>
            <a:r>
              <a:t>   ✓ Reduce tight tolerances where possible</a:t>
            </a:r>
            <a:br/>
            <a:r>
              <a:t>   ✓ Design for automated assembly</a:t>
            </a:r>
            <a:br/>
            <a:r>
              <a:t>   Example: Redesign to eliminate welding step → saves $25/vehicle</a:t>
            </a:r>
            <a:br/>
            <a:br/>
            <a:r>
              <a:t>4. DESIGN FOR ASSEMBLY (DFA)</a:t>
            </a:r>
            <a:br/>
            <a:r>
              <a:t>   ✓ Reduce assembly time</a:t>
            </a:r>
            <a:br/>
            <a:r>
              <a:t>   ✓ Top-down assembly</a:t>
            </a:r>
            <a:br/>
            <a:r>
              <a:t>   ✓ Self-locating/aligning parts</a:t>
            </a:r>
            <a:br/>
            <a:r>
              <a:t>   ✓ Minimize fasteners</a:t>
            </a:r>
            <a:br/>
            <a:r>
              <a:t>   Example: Snap-fit vs. screws: -30 seconds/assembly = $0.50 savings</a:t>
            </a:r>
            <a:br/>
            <a:br/>
            <a:r>
              <a:t>5. DESIGN FOR SERVICEABILITY (DFS)</a:t>
            </a:r>
            <a:br/>
            <a:r>
              <a:t>   ✓ Easy access to serviceable parts</a:t>
            </a:r>
            <a:br/>
            <a:r>
              <a:t>   ✓ Modular design for quick replacement</a:t>
            </a:r>
            <a:br/>
            <a:r>
              <a:t>   ✓ Clear service procedures</a:t>
            </a:r>
            <a:br/>
            <a:r>
              <a:t>   ✓ Minimize special tools</a:t>
            </a:r>
            <a:br/>
            <a:r>
              <a:t>   Example: Quick-connect vs. clamps: -15 min service = $15 labor savings</a:t>
            </a:r>
            <a:br/>
            <a:br/>
            <a:r>
              <a:t>6. DESIGN FOR RELIABILITY</a:t>
            </a:r>
            <a:br/>
            <a:r>
              <a:t>   ✓ Use proven components</a:t>
            </a:r>
            <a:br/>
            <a:r>
              <a:t>   ✓ De-rate components (operate below max ratings)</a:t>
            </a:r>
            <a:br/>
            <a:r>
              <a:t>   ✓ Robust design (insensitive to variation)</a:t>
            </a:r>
            <a:br/>
            <a:r>
              <a:t>   ✓ Eliminate failure modes at source</a:t>
            </a:r>
            <a:br/>
            <a:r>
              <a:t>   Example: Premium bearings cost +$20, save $500 in warranty</a:t>
            </a:r>
            <a:br/>
            <a:br/>
            <a:r>
              <a:t>7. DESIGN FOR TESTABILITY (DFT)</a:t>
            </a:r>
            <a:br/>
            <a:r>
              <a:t>   ✓ Built-in self-test (BIST)</a:t>
            </a:r>
            <a:br/>
            <a:r>
              <a:t>   ✓ Accessible test points</a:t>
            </a:r>
            <a:br/>
            <a:r>
              <a:t>   ✓ Clear fault indicators</a:t>
            </a:r>
            <a:br/>
            <a:r>
              <a:t>   ✓ Diagnostic-friendly architecture</a:t>
            </a:r>
            <a:br/>
            <a:r>
              <a:t>   Example: Built-in diagnostics save 30 min troubleshooting = $30/repair</a:t>
            </a:r>
            <a:br/>
            <a:br/>
            <a:r>
              <a:t>8. DESIGN FOR END-OF-LIFE (DFEOL)</a:t>
            </a:r>
            <a:br/>
            <a:r>
              <a:t>   ✓ Easy disassembly</a:t>
            </a:r>
            <a:br/>
            <a:r>
              <a:t>   ✓ Material labeling</a:t>
            </a:r>
            <a:br/>
            <a:r>
              <a:t>   ✓ Recyclable materials</a:t>
            </a:r>
            <a:br/>
            <a:r>
              <a:t>   ✓ Minimize hazardous materials</a:t>
            </a:r>
            <a:br/>
            <a:r>
              <a:t>   Example: Modular battery design enables cell-level recycling</a:t>
            </a:r>
            <a:br/>
            <a:br/>
            <a:r>
              <a:t>DFC METHODOLOGY:</a:t>
            </a:r>
            <a:br/>
            <a:r>
              <a:t>1. Establish cost targets (top-down)</a:t>
            </a:r>
            <a:br/>
            <a:r>
              <a:t>2. Allocate targets to subsystems</a:t>
            </a:r>
            <a:br/>
            <a:r>
              <a:t>3. Design to cost targets</a:t>
            </a:r>
            <a:br/>
            <a:r>
              <a:t>4. Estimate actual costs</a:t>
            </a:r>
            <a:br/>
            <a:r>
              <a:t>5. Identify cost drivers</a:t>
            </a:r>
            <a:br/>
            <a:r>
              <a:t>6. Iterate design to reduce costs</a:t>
            </a:r>
            <a:br/>
            <a:r>
              <a:t>7. Verify through prototyping</a:t>
            </a:r>
            <a:br/>
            <a:br/>
            <a:r>
              <a:t>TOOLS:</a:t>
            </a:r>
            <a:br/>
            <a:r>
              <a:t>• Cost modeling software</a:t>
            </a:r>
            <a:br/>
            <a:r>
              <a:t>• Should-cost analysis</a:t>
            </a:r>
            <a:br/>
            <a:r>
              <a:t>• Value engineering workshops</a:t>
            </a:r>
            <a:br/>
            <a:r>
              <a:t>• Teardown analysis (benchmark competitors)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Learning Outcomes: LO2, LO4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[Continuing with remaining slides...]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Created Session 13 and 14.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