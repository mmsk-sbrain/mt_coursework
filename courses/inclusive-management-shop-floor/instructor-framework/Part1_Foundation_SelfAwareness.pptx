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Dr. Sandhya Rani 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Respectful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Preparatory Training for Managers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one-day program for First Line Managers, GLs &amp; DHs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760720" y="109728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IMAGE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/ team silhouette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stock-photo smiles)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 &amp; Self-Awareness  |  9:00 AM – 11:15 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237744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IMAGE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photo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(Approachable, not formal headshot)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Sandhya Rani 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457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Your Facilitator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31920" y="11887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Emotional Intelligence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Specializing in behavior change, leadership development &amp; workplace psychology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experience with manufacturing and industrial organizations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1920" y="3383280"/>
            <a:ext cx="4754880" cy="10972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" name="Shape 10"/>
          <p:cNvSpPr/>
          <p:nvPr/>
        </p:nvSpPr>
        <p:spPr>
          <a:xfrm>
            <a:off x="3931920" y="3383280"/>
            <a:ext cx="64008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5204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here to judge. I am here to help you lead better.</a:t>
            </a:r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65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Agreement for Today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14300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161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said here, stays here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over judgment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71600" y="2148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and mine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560320"/>
            <a:ext cx="8046720" cy="5943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60604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away, minds open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71600" y="2880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Unless we’re using them for an activity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2918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experiences are valid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371600" y="3611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 in this room today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71600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here to grow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71600" y="4343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be graded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Journey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 PM, you will have a concrete, personal plan — not a certificate — but a plan.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8016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20240" y="1371600"/>
            <a:ext cx="548640" cy="548640"/>
          </a:xfrm>
          <a:prstGeom prst="ellipse">
            <a:avLst/>
          </a:prstGeom>
          <a:solidFill>
            <a:srgbClr val="0E8B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am I as a manager?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1371600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8892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through her eyes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1371600"/>
            <a:ext cx="548640" cy="548640"/>
          </a:xfrm>
          <a:prstGeom prst="ellipse">
            <a:avLst/>
          </a:prstGeom>
          <a:solidFill>
            <a:srgbClr val="E07B2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84632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it right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D458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3504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63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Sensitivity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Courtesies that matter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1371600"/>
            <a:ext cx="548640" cy="548640"/>
          </a:xfrm>
          <a:prstGeom prst="ellipse">
            <a:avLst/>
          </a:prstGeom>
          <a:solidFill>
            <a:srgbClr val="B8453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23760" y="1645920"/>
            <a:ext cx="4114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real scenarios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63840" y="1371600"/>
            <a:ext cx="548640" cy="548640"/>
          </a:xfrm>
          <a:prstGeom prst="ellipse">
            <a:avLst/>
          </a:prstGeom>
          <a:solidFill>
            <a:srgbClr val="0954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635240" y="20574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43800" y="2743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will do differently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474720"/>
            <a:ext cx="859536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Part 1 today covers stops 1 &amp; 2: Foundation + Self-Awareness (9:00 AM – 11:15 AM)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— The Numbers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workforce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underway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188720"/>
            <a:ext cx="19202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6–9 mo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losing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skilled employee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D4582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5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loss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friction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188720"/>
            <a:ext cx="1920240" cy="54864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3716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954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teams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 others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unresolved = legal exposure under PoSH 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leadership is not a soft skills nicety — it’s an operational necessity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 Diversity Report 2023; Industry benchmarks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In Front of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29260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Quo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attrition among women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complaints escalate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friction reduces output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risk as a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840480" cy="2926080"/>
          </a:xfrm>
          <a:prstGeom prst="rect">
            <a:avLst/>
          </a:prstGeom>
          <a:solidFill>
            <a:srgbClr val="E0F2F1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Respected Leader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Stronger, loyal teams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attrition, cleaner compliance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on inclusion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reputation built daily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0467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the culture on your floor — what you do, they do.”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to Know — Legal Framework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64008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Act 2013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371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all workplaces with 10+ employees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737360"/>
            <a:ext cx="64008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1965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sexual harassment AND hostile work environment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331720"/>
            <a:ext cx="64008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Liability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2560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responsible for your team’s environment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64008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3154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Complaints Committee — your company’s redressal mechanism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520440"/>
            <a:ext cx="64008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3749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penalties + reputational damage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64008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43434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is YOUR job. Redressal is the ICC’s job.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4572000"/>
            <a:ext cx="804672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More Than You Think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3200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384048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 — People Know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physical contact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comments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Discriminatory remarks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offensive content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384048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32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OBVIOUS — People Miss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508760"/>
            <a:ext cx="3200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dismissiveness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offering a seat when clearly needed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women less challenging 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Interrupting / talking over women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health needs a joke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from team conversations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The right column is where most complaints actually come from. This is what we’re here to work 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Am I Starting From?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yourself 1–5 on each statement.  1 = Not at all  |  5 = Completely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8046720" cy="56692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25880" y="13258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greet all team members — men and women — in the same way every morning.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35240" y="14173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63840" y="14173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092440" y="14173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321040" y="14173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549640" y="14173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48640" y="1965960"/>
            <a:ext cx="8046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0574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20116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at least one accommodation I can make if a woman on my team needs a short rest for health reasons.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35240" y="21031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863840" y="21031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092440" y="21031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321040" y="21031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549640" y="21031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48640" y="2651760"/>
            <a:ext cx="8046720" cy="56692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25880" y="26974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give feedback to a woman employee, I do it the same way I would to a male employee.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635240" y="27889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863840" y="27889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092440" y="27889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321040" y="27889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549640" y="27889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48640" y="3337560"/>
            <a:ext cx="80467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34290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325880" y="33832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aware of at least one unconscious assumption I hold about women on the shop floor.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635240" y="34747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863840" y="34747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092440" y="34747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321040" y="34747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549640" y="34747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48640" y="4023360"/>
            <a:ext cx="8046720" cy="566928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8" name="Text 35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1325880" y="406908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 confident handling a complaint or discomfort raised by a woman on my team.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635240" y="41605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863840" y="41605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092440" y="41605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321040" y="41605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549640" y="4160520"/>
            <a:ext cx="201168" cy="292608"/>
          </a:xfrm>
          <a:prstGeom prst="rect">
            <a:avLst/>
          </a:prstGeom>
          <a:noFill/>
          <a:ln w="6350">
            <a:solidFill>
              <a:srgbClr val="E2E8F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private. This is honest. This is yours.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Self-Awareness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AM – 11:15 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114800" cy="2560320"/>
          </a:xfrm>
          <a:prstGeom prst="rect">
            <a:avLst/>
          </a:prstGeom>
          <a:solidFill>
            <a:srgbClr val="E8EAF6"/>
          </a:solidFill>
          <a:ln w="19050">
            <a:solidFill>
              <a:srgbClr val="7986C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VIDEO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Zootopia — Judy Hopps meter maid scene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 min) | Disney+ Hotstar / YouTube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737360"/>
            <a:ext cx="3383280" cy="2560320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Questions: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bias?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held it?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harmed?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anyone intend harm?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Brain: The World’s Most Efficient Pattern Machine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million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bits/second processed by your brain</a:t>
            </a:r>
            <a:endParaRPr lang="en-US" sz="3200" dirty="0"/>
          </a:p>
          <a:p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conscious mind handles only ~40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solidFill>
            <a:srgbClr val="E0F2F1"/>
          </a:solidFill>
          <a:ln w="19050">
            <a:solidFill>
              <a:srgbClr val="0D7377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029200" y="9144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IMAGE PLACEHOLDER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ICEBERG DIAGRAM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“What I Think I Do”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Underwater: “What Actually Drives My Decisions”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864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14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bias = mental shortcuts built from lived experience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about intention — about pattern recognition gone unchecked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 treat people based on category, not character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864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manufacturing: manager = male was the learned pattern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Biases That Show Up on the Shop Floor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AFFINITY BIAS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connect more easily with people like 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005840"/>
            <a:ext cx="2560320" cy="54864"/>
          </a:xfrm>
          <a:prstGeom prst="rect">
            <a:avLst/>
          </a:prstGeom>
          <a:solidFill>
            <a:srgbClr val="0E8B8F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BIAS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made a mistake (bad day). She made a mistake (incompetent).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05840"/>
            <a:ext cx="25603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 / HORN EFFECT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good/bad thing colors everything I see after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926080"/>
            <a:ext cx="3017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463040" y="2926080"/>
            <a:ext cx="3017520" cy="54864"/>
          </a:xfrm>
          <a:prstGeom prst="rect">
            <a:avLst/>
          </a:prstGeom>
          <a:solidFill>
            <a:srgbClr val="D4582A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5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BIAS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474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trust the man’s opinion more, even when skill is equal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017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3017520" cy="54864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5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PROVE-IT-AGAIN BIAS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must demonstrate competence repeatedly; men are assumed competent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Intelligence: Your Most Important Management Skill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256032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3840480" cy="4572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601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AWARENESS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1554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room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discomfort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who’s silent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context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840480" cy="2560320"/>
          </a:xfrm>
          <a:prstGeom prst="rect">
            <a:avLst/>
          </a:prstGeom>
          <a:solidFill>
            <a:srgbClr val="FFF3DE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914400"/>
            <a:ext cx="3840480" cy="45720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FACILITY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1554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with proportion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words carefully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your interventions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not breaking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374904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37947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manage machines with your mind. You manage people with both your mind and your heart.”  — Dr. Sandhya Rani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Noticing to Acting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18288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325880"/>
            <a:ext cx="502920" cy="502920"/>
          </a:xfrm>
          <a:prstGeom prst="ellipse">
            <a:avLst/>
          </a:prstGeom>
          <a:solidFill>
            <a:srgbClr val="0D737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happening?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88920" y="109728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097280"/>
            <a:ext cx="1828800" cy="54864"/>
          </a:xfrm>
          <a:prstGeom prst="rect">
            <a:avLst/>
          </a:prstGeom>
          <a:solidFill>
            <a:srgbClr val="0E8B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0E8B8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8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might she need?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772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37760" y="109728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097280"/>
            <a:ext cx="18288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325880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right action?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86600" y="1097280"/>
            <a:ext cx="1828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86600" y="1097280"/>
            <a:ext cx="1828800" cy="54864"/>
          </a:xfrm>
          <a:prstGeom prst="rect">
            <a:avLst/>
          </a:prstGeom>
          <a:solidFill>
            <a:srgbClr val="095456"/>
          </a:solidFill>
          <a:ln/>
        </p:spPr>
      </p:sp>
      <p:sp>
        <p:nvSpPr>
          <p:cNvPr id="23" name="Text 21"/>
          <p:cNvSpPr/>
          <p:nvPr/>
        </p:nvSpPr>
        <p:spPr>
          <a:xfrm>
            <a:off x="7726680" y="1325880"/>
            <a:ext cx="502920" cy="502920"/>
          </a:xfrm>
          <a:prstGeom prst="ellipse">
            <a:avLst/>
          </a:prstGeom>
          <a:solidFill>
            <a:srgbClr val="09545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5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that land?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This loop takes seconds once you train it. Right now it might take minutes.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EXERCISE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workplace moments will be read aloud. For each, note: one thing you notice and one thing you would do. Use Workbook Page 6.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 — 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solidFill>
            <a:srgbClr val="F8FAF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972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515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 for respectful leadership is clear — and urgent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830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PoSH is not optional; your environment is your responsibility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468880"/>
            <a:ext cx="8046720" cy="594360"/>
          </a:xfrm>
          <a:prstGeom prst="rect">
            <a:avLst/>
          </a:prstGeom>
          <a:solidFill>
            <a:srgbClr val="F8FAF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5146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bias is not about intention — it’s about pattern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320040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2461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intelligence = notice + interpret + respond + reflect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solidFill>
            <a:srgbClr val="F8FAF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02336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977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triggers. Knowing them is the first step to managing them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48640" y="4434840"/>
            <a:ext cx="8046720" cy="36576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2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one landed most for you? Just note it — you don’t need to say it aloud.”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EQLIFE</a:t>
            </a:r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by Dr. Sandhya Rani 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Respectful Leadership - Part 1</dc:title>
  <dc:subject>PptxGenJS Presentation</dc:subject>
  <dc:creator>Dr. Sandhya Rani C</dc:creator>
  <cp:lastModifiedBy>Dr. Sandhya Rani C</cp:lastModifiedBy>
  <cp:revision>1</cp:revision>
  <dcterms:created xsi:type="dcterms:W3CDTF">2026-03-06T05:18:01Z</dcterms:created>
  <dcterms:modified xsi:type="dcterms:W3CDTF">2026-03-06T05:18:01Z</dcterms:modified>
</cp:coreProperties>
</file>