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marp: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theme: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paginate: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math: katex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header: 'Session 6: Engine Performance &amp; Fuel Systems'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Engine Performance &amp; Fuel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Session 6 | Automotive Vehicles (AEL ZC441)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to Session 6. We're now at the final piece of the powertrain puzzle: How do we optimize engine performance through fuel management?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Sessions 4-5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trace our journey through the powertrain: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4: How engines convert fuel energy into torque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Learned 4-stroke cycle, mechanical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Understood torque vs power relationship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5: How to keep engines alive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Cooling removes heat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Lubrication reduces friction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 (Session 6): How to optimize engine performance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measure and interpret performance (maps and curves)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deliver fuel precisely (injection systems)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control emissions (environmental responsibility)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goal: Maximum efficiency, minimum emissions.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Fundamental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the engineering challenge that every engine designer faces: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Three competing objectives: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 Power – Customers want performance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Good Fuel Economy – Customers want low running costs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Low Emissions – Regulations demand clean exhaust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problem: These three goals contradict each other!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More power → More fuel consumption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Lean mixture (economy) → High NOx emissions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Rich mixture (power) → High CO and HC emissions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Solution: Precise fuel control through electronic fuel injection + understanding performance maps to operate in optimal regions.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 you learn how engineers balance these trade-offs.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Why This Matters for Electronics Engineers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session is CRITICAL for automotive electronics engineers because: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Modern fuel systems are 100% electronically controlled: — ECU determines exact fuel quantity (millisecond-level precision)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Sensors measure air flow, oxygen content, throttle position, temperature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Actuators = fuel injectors (solenoid-controlled valves)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Closed-loop control using oxygen sensor feedback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design these control systems. You must understand: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the engine needs (air-fuel ratio requirements)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measure it (sensor inputs)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control it (injection timing and duration)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where electronics meets combustion!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Real-World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a real puzzle: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Two identical Honda Civic 1.5L engines: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Driver A: — Fuel economy: 12 km/L (city driving)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Emissions: Borderline BS6 compliance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Driver B: — Fuel economy: 18 km/L (same city route!)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Emissions: Well within BS6 limits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Question: Same engine, same route, same fuel. Why such different results?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Answer: Driver B understands engine performance maps and drives in optimal regions (2000-3000 RPM where BSFC is lowest). Driver A accelerates hard, uses high RPM, operates where engine is inefficient.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By the end of today, you'll know how to read those maps and understand the optimal regions.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Recap – Torque vs Power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start by revisiting what you learned in Session 4: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Torque Curve (Nm vs RPM): — Shows engine's ability to do work at each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Peak torque typically at mid-range RPM (e.g., 4000 RPM)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Power Curve (kW or PS vs RPM): — Power = Torque × RPM (remember: P = τω)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Peak power at higher RPM than peak torque (e.g., 6000 RPM)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vehicle performance: — Torque → Acceleration (especially from standstill)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Power → Top speed and sustained performance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But there's a third curve that's even more important for real-world driving...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Introducing BSFC (Brake Specific Fuel Consumption)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BSFC = Brake Specific Fuel Consumption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Definition: How much fuel the engine consumes to produce one unit of power for one hour.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Formula: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BSFC = (Fuel consumption rate) / (Power output)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Units: g/kW·h (grams of fuel per kilowatt-hour)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it tells us: — Lower BSFC = More efficient (less fuel for same power)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Higher BSFC = Less efficient (more fuel for same power)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Typical values: — Best BSFC (modern gasoline engine): ~220-250 g/kW·h — Best BSFC (diesel engine): ~200-220 g/kW·h (diesel more efficient)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Poor operating point (high RPM, light load): &gt;400 g/kW·h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it matters: This tells you WHERE to operate the engine for best fuel economy.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BSFC Map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a BSFC map – the most important performance tool for understanding engine efficiency: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read it: — X-axis: Engine speed (RPM)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Y-axis: Engine torque (Nm)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Contour lines: BSFC values (g/kW·h)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Colors: Often blue = efficient, red = inefficient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'island' in the middle: — Lowest BSFC region (e.g., 220-240 g/kW·h)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This is the 'sweet spot' – most efficient operation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Typically occurs at: ~2000-3000 RPM, ~50-80% of max torque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an island? — Too low RPM: Mechanical friction dominates (% of output)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 high RPM: Pumping losses, valve train friction increase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 low load: Throttling losses (pumping air past throttle)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 high load: Combustion efficiency decreases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Optimal region: Medium RPM, medium-high load.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Operating Points on BSFC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where different driving conditions fall on this map: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 1: Highway cruising at 100 km/h — Engine RPM: ~2500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Torque required: ~60 Nm (low load – just overcoming drag)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BSFC: ~260 g/kW·h (pretty good, near optimal island)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Result: Good fuel economy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 2: City driving, idling in traffic — Engine RPM: 800 RPM (idle)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Torque: ~10 Nm (very light load)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BSFC: &gt;500 g/kW·h (terrible efficiency!)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Result: Poor fuel economy (engine running but doing little work)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 3: Aggressive acceleration — Engine RPM: 5000-6000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Torque: Maximum available (~120 Nm)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BSFC: ~350-400 g/kW·h (inefficient region)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Result: High power but poor fuel economy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insight: You want to operate in the low-BSFC island as much as possible.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How Transmission Helps Optimize BSFC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why modern cars have 6, 7, or even 8 gears: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Purpose of multiple gears: Keep engine operating in efficient BSFC region for various vehicle speeds.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— Vehicle speed: 60 km/h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If in 3rd gear: Engine at 3500 RPM, torque 40 Nm → BSFC = 340 g/kW·h (inefficient)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If in 5th gear: Engine at 2000 RPM, torque 60 Nm → BSFC = 240 g/kW·h (efficient!)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Modern solution: Continuously Variable Transmission (CVT) or 8+ speed automatics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always keep engine at optimal RPM/torque combination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chooses gear to minimize BSFC for given power demand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why hybrid cars are efficient: Electric motor assists so engine can stay in optimal BSFC island always (Sessions 7-8 cover transmissions).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Practice – Reading Performance 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practice reading a real map: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[Show actual BSFC map]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Questions: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 what RPM and torque is BSFC minimum? (Answer: ~2500 RPM, ~120 Nm, BSFC ~230 g/kW·h)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You're cruising at 3500 RPM, 50 Nm torque. Is this efficient? (Check map – probably ~280 g/kW·h, not optimal)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would you improve efficiency? (Shift to higher gear → reduce RPM to ~2500, increase torque to ~70 Nm)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real engine optimization! —--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2: Fuel Delivery Systems (Slides 14-20, ~25 minutes)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Air-Fuel Mixture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Before we discuss HOW to deliver fuel, let's understand WHAT the engine needs: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Complete combustion requires precise air-fuel ratio.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Gasoline combustion (simplified):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C₈H₁₈ (octane) + 12.5 O₂ → 8 CO₂ + 9 H₂O + Energy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Mass ratio: — For complete combustion: Need 14.7 kg of air for every 1 kg of fuel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Stoichiometric Ratio = 14.7:1 (for gasoline)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Air-Fuel Ratio (AFR) terminology: — AFR = 14.7 → Stoichiometric (ideal combustion, λ = 1)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AFR &gt; 14.7 → Lean mixture (excess air, λ &gt; 1)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AFR &lt; 14.7 → Rich mixture (excess fuel, λ &lt; 1)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it matters: Different AFR for different needs!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Air-Fuel Ratio for Different Operating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what the engine needs in different situations: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Normal cruising (best economy): — AFR = 16:1 (lean)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λ ≈ 1.09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Burns all fuel efficiently, minimal CO and HC emissions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Slightly lower power output (acceptable for cruising)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Maximum power (full throttle): — AFR = 12:1 to 13:1 (rich)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λ ≈ 0.85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Extra fuel cools combustion chamber, prevents knock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Maximum power output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Higher emissions (CO and HC increase)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Cold start: — AFR = 9:1 to 11:1 (very rich)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Compensates for poor fuel evaporation when cold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 emissions (temporarily)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Idle: — AFR = 14.7:1 (stoichiometric)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Smooth running, catalytic converter works best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Challenge: How to deliver the RIGHT amount of fuel for each condition? That's where fuel injection comes 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Evolution of Fuel Delivery – Carburetor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trace the evolution of fuel delivery systems: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CARBURETOR (Technology: 1890s-1990s)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it works: — Air flows through venturi (narrow section)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Venturi creates vacuum (Bernoulli's principle)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Vacuum sucks fuel from float chamber through jet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mixes with air → enters engine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Simple, mechanical (no electronics)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Cheap to manufacture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Easy to repair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Imprecise AFR control (mechanical jets can't adapt well)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Poor cold start performance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Altitude sensitive (air density changes)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Cannot meet modern emission standards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Poor fuel economy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Phased out in cars by 2000s (still used in small engines like lawn mowers, older motorcycles).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Electronic Fuel Injection – The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Electronic Fuel Injection (EFI) revolutionized automotive engineering: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Core principle: — ECU calculates exact fuel quantity needed (every engine cycle!)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injectors spray precise fuel quantity into air stream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Sensors provide feedback for closed-loop control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Advantages over carburetor: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Precise AFR control (±1% accuracy)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Adapts to all conditions (temperature, altitude, load)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Better fuel economy (~15-20% improvement)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Lower emissions (can meet BS6/Euro 6)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Better performance (optimal AFR for every condition)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No altitude adjustment needed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More complex (requires ECU, sensors, electrical system)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More expensive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Requires skilled technicians for repair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Timeline: Introduced 1980s, mandatory in developed countries by 1995-2000, universal in India post-BS3 (2005+).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Multi-Point Fuel Injection (MPFI)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MPFI = Multi-Point Fuel Injection (most common system in modern cars)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Configuration: — One injector per cylinder (4-cylinder engine = 4 injectors)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Injector located in intake manifold, just before intake valve (port injection)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sprays onto intake valve, mixes with air, enters cylinder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it works: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Sensors measure: — Air flow (MAF sensor)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Throttle position (TPS)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 RPM (crankshaft sensor)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Coolant temperature (temp sensor)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Oxygen in exhaust (O₂ sensor)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calculates: — Required fuel quantity based on air mass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Base fuel = Air mass / AFR target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Adjustments for temperature, altitude, acceleration, etc.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Injector delivers: — ECU sends electrical pulse to injector solenoid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Pulse width (milliseconds) determines fuel quantity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Typical: 2-10 ms pulse width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Injector opens → fuel sprays → injector closes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Precise AFR control for every cylinder, every engine cycle!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Gasoline Direct Injection (GDI)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GDI = Gasoline Direct Injection (latest technology, premium cars)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difference from MPFI: — MPFI: Fuel injected into intake manifold (outside cylinder)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GDI: Fuel injected directly into combustion chamber (like diesel engines)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Advantages of GDI: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Higher compression ratio possible (fuel injection cools cylinder → less knock)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Better fuel economy (~5-10% improvement over MPFI)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More power (denser air charge)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Stratified charge possible (lean-burn at low load)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Higher injection pressure needed (~200 bar vs ~3-5 bar for MPFI)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More expensive (high-pressure pump, precise injectors)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Carbon buildup on intake valves (no fuel washing them)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✗ Particulate emissions (requires Gasoline Particulate Filter for BS6)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Used in: Premium cars (BMW, Audi, Mercedes), some Hyundai/Kia models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Future: Most engines moving to GDI for efficiency and emission compliance.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Fuel Injector –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zoom in on the fuel injector itself: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Construction: — Solenoid coil: Electromagnetic coil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Pintle (needle valve): Seals fuel nozzle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Spring: Keeps valve closed (normally closed)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Nozzle: Atomizes fuel into fine spray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Operation: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sends pulse (e.g., 5V for 4 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Solenoid energized → Creates magnetic field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Pintle lifts → Opens nozzle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sprays under pressure (atomized)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Pulse ends → Solenoid de-energizes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Spring closes pintle → Fuel flow stops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Precision: — Typical injector can meter 0.5 mg of fuel accurately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Response time: &lt;1 ms (open/close)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Operates millions of times over vehicle life (very reliable)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Control: Injector is purely ON/OFF device. Quantity controlled by pulse duration.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3: Air Intake Systems &amp; Emissions (Slides 21-24, ~10 minutes)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Air Intake 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Fuel is only half the equation. We need AIR (which contains oxygen for combustion):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Air Intake System Components: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Air Filter: — Removes dust and particles from intake air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Paper or foam element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Critical: Prevents cylinder/piston wear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Clogged filter → Reduced power, poor fuel economy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Replace every 10,000-15,000 km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Mass Air Flow (MAF) Sensor: — Measures mass of air entering engine (kg/h)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Hot-wire or vane-type sensor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uses this to calculate fuel quantity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Throttle Body &amp; Valve: — Controls air flow into engine (driver's accelerator pedal)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Traditional: Cable-operated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Modern: Electronic Throttle Control (Drive-by-wire) – no cable, ECU-controlled motor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Intake Manifold: — Distributes air to each cylinder evenly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Variable geometry in some engines (optimize for different RPM ranges)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Air path: Atmosphere → Filter → MAF → Throttle → Manifold → Cylinders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Emissions – What Comes Out?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When fuel burns, we get energy – but also emissions. Let's understand what comes out: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Exhaust Composition: — ~71% Nitrogen (N₂): Inert, from air (air is 78% N₂) – harmless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~14% CO₂ (Carbon Dioxide): Complete combustion product – greenhouse gas but not toxic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~13% H₂O (Water vapor): Complete combustion product – harmless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~1-2% Other gases: Oxygen (excess air), other compounds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Pollutants (harmful):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 (Carbon Monoxide) → From incomplete combustion (rich mixture) → Toxic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HC (Hydrocarbons) → Unburned fuel → Smog precursor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NOx (Nitrogen Oxides) → From high temperature combustion → Acid rain, respiratory issues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PM (Particulate Matter) → Soot particles (mainly from diesel, some from GDI) → Respiratory issues, cancer risk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Goal: Minimize these four pollutants while maintaining performance and fuel economy.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Emission Standards – BS4 vs BS6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Bharat Stage (BS) Standards – India's emission regulations (based on Euro standards)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Timeline: — BS4 (Euro 4): Implemented 2017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BS6 (Euro 6): Implemented April 2020 (skipped BS5)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BS6 vs BS4 – Key Differences: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Pollutant | BS4 Limit (Petrol) | BS6 Limit (Petrol) | Reduction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|-----------|-------------------|-------------------|-----------|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NOx | 60 mg/km | 60 mg/km | -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HC + NOx | 100 mg/km | 100 mg/km | -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PM | - | 4.5 mg/km | NEW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CO | 1000 mg/km | 1000 mg/km | -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Diesel (Stricter):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Pollutant | BS4 Limit | BS6 Limit | Reduction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|-----------|----------|----------|-----------|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NOx | 250 mg/km | 80 mg/km |  —68%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PM | 25 mg/km | 4.5 mg/km |  —82%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Technologies Required for BS6: — Gasoline: GDI engines need Gasoline Particulate Filter (GPF)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Diesel: Selective Catalytic Reduction (SCR) for NOx, Diesel Particulate Filter (DPF)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Both: Improved catalytic converters, advanced O₂ sensors, precise fuel injection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Impact: Cleaner air, but higher vehicle costs (~₹20,000-40,000 more per vehicle).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Complete Fuel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see the complete picture of modern engine fuel management: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INPUT SENSORS: — MAF sensor → Air mass flow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TPS → Throttle position (driver demand)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Crankshaft sensor → Engine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Coolant temp → Engine temperature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O₂ sensor → Exhaust oxygen (AFR feedback)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ECU PROCESSING: — Calculates base fuel quantity (mass airflow / target AFR)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Applies corrections (temp, altitude, acceleration, etc.)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Determines injection timing and duration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Adjusts based on O₂ sensor feedback (closed-loop)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ACTUATORS: — Fuel injectors → Precise fuel delivery (pulse width control)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(Ignition coils → Spark timing – related system)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EMISSIONS CONTROL: — 3-way catalytic converter → Reduces CO, HC, NOx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O₂ sensor ensures λ=1 for optimal conversion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Performance Optimization: — BSFC map guides transmission gear selection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optimizes for: Power (when needed) or Economy (when possible)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a complete control system – sensing, computation, actuation, and feedback!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Solving Today's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solve the challenges from the beginning: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1: Identify optimal regions on BSFC map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[Point to actual BSFC map]: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Best fuel economy: 2000-3000 RPM, 60-80% max torque → BSFC ~230-250 g/kW·h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Maximum power: 5000-6500 RPM, 100% max torque → BSFC ~350-400 g/kW·h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Why max power wastes fuel: Operating far from optimal BSFC island → 40-50% more fuel per kW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Driving recommendation: Use highest gear that allows smooth acceleration → keeps engine in low-BSFC zone.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2: Fuel injection strategy for different conditions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Condition | AFR Target | λ | Fuel Pulse Width | Why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|-----------|------------|---|------------------|-----|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Cruising | 16:1 | 1.09 | ~3 ms | Lean for economy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Normal driving | 14.7:1 | 1.00 | ~4 ms | Stoichiometric for cat converter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Full power | 12.5:1 | 0.85 | ~6 ms | Rich for power + cooling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Cold start | 10:1 | 0.68 | ~8 ms | Rich for poor evaporation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Control: — MAF measures 8 g/s air flow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 λ=1: Need 8/14.7 = 0.544 g/s fuel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Injector delivers ~10 mg/pulse → Need 54.4 pulses/sec → Matches 4-cyl engine at 2720 RPM ✓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ECU does this calculation every engine cycle!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Key Takeaways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summarize today's learning: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ENGINE PERFORMANCE MAPS: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BSFC map shows fuel efficiency at every RPM/torque combination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Optimal zone (low BSFC island): ~2000-3000 RPM, medium-high load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Operating in optimal zone improves fuel economy by 30-40% vs random driving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Transmission helps keep engine in optimal zone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FUEL DELIVERY SYSTEMS: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Air-fuel ratio: 14.7:1 stoichiometric for gasoline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Rich mixture (~12:1) for max power, lean mixture (~16:1) for economy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Evolution: Carburetor → MPFI → GDI (increasing precision and efficiency)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MPFI: One injector per cylinder, port injection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GDI: Direct injection into cylinder, higher efficiency but more complex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AIR INTAKE &amp; EMISSIONS: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Air intake: Filter → MAF → Throttle → Manifold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Four main pollutants: CO, HC, NOx, PM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BS6 (2020): Much stricter than BS4, especially NOx and PM for diesel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3-way catalytic converter: &gt;95% reduction when λ=1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Closed-loop control with O₂ sensor essential for emission compliance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can now understand complete engine optimization from performance to emissions!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Next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We've now completed the engine module (Sessions 4-6):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4: How engines generate torque (mechanical operation)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5: How to keep them alive (cooling + lubrication)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6 (today): How to optimize performance (fuel management + emissions)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Next: Transmission Systems (Sessions 7-8)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7: Transmission Fundamentals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Why we need gearboxes (connect back to BSFC maps!)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Gear ratio calculations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Manual vs automatic transmissions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Differential and final drive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8: Advanced Transmission &amp; Electric Powertrains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CVT, DCT (Dual-Clutch Transmission)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Hybrid powertrains (Toyota Prius architecture)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Electric vehicle powertrains (Tesla, Nissan Leaf)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Comparison: ICE vs Hybrid vs BEV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Connection: Engine generates torque → Transmission adapts it to wheels → Complete powertrain understanding.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📊 PPT DESIGN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Visual Elements to Include: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Assignment (Due before Session 7):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1: An engine is operating at 3000 RPM, producing 100 Nm torque. Fuel consumption rate is 8 kg/h.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a) Calculate power output (kW)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b) Calculate BSFC (g/kW·h)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c) Is this efficient operation? (Compare to typical BSFC values)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2: For a 4-cylinder MPFI engine at 4000 RPM, intake air mass flow is 60 kg/h.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a) Calculate required fuel mass flow rate for λ=1 (stoichiometric) operation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b) If each cylinder fires once per 2 crankshaft revolutions, how many injections per second per cylinder?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c) If injector delivers 10 mg fuel per pulse, calculate required pulse width in ms (assume steady flow during pulse)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3: Research and compare: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a) Find BS4 and BS6 emission limits for one pollutant of your choice (petrol or diesel)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b) Calculate percentage reduction from BS4 to BS6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c) What technology changes are needed to meet the stricter limits?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Discussion Questions for Q&amp;A: — Why can't we always operate at the best BSFC point?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are the trade-offs between MPFI and GDI systems?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turbochargers affect the BSFC map? (Preview: They allow downsizing while maintaining power)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Why is cold-start emission control challenging?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30 minutes for your questions. —--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Consistency: Maintain professional engineering template from Sessions 1-5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Technical Professionalism: Clear performance maps, system diagrams, chemical equations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Color coding: — Blue for efficiency zones on BSFC maps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 for high BSFC (inefficient) zones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Green for emission control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Orange for sensors/actuators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Font sizes: BSFC map labels must be very readable (20pt minimum)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10: BSFC map explanation – Students must understand how to read this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15: AFR requirements table – Core reference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18: MPFI system diagram – Most common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23: BS4 vs BS6 comparison – India-specific relevance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25: Complete system integration – Big picture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28: Summary – Comprehensive reference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11: Animated pointer showing different operating points on BSFC map as you discuss scenarios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20: Fuel injector animation (solenoid actuation, fuel spray)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24: Catalytic converter reaction animation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25: Build animation showing sensor → ECU → actuator → emissions flow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color highlighting for emphasis on BSFC maps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 BSFC maps: From Honda, Toyota, or other manufacturers (find in technical papers or SAE documents)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Component photos: Fuel injectors, throttle body, MAF sensor, catalytic converter cutaway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diagrams: Complete fuel system schematic with all sensors and actuators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Graphs: Torque/power curves overlaid on BSFC contours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Comparison tables: Carburetor vs MPFI vs GDI, BS4 vs BS6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Chemical equations: Combustion reaction, catalytic converter reactions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🎯 INSTRUCTOR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Safety/Ethics Notes: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Performance-driven: Start with BSFC maps – show WHY precise fuel control matters (efficiency!)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Evolution narrative: Carburetor → MPFI → GDI shows technological progression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integration: Emphasize sensors-ECU-actuators-feedback loop (electronics engineering!)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Real-world relevance: BS6 compliance, fuel economy, real driving scenarios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Balance theory and application: Chemical equations explained simply, then applied to control strategies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1: "What's the difference between rich and lean? Why not always use stoichiometric?"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Use performance triangle (power/economy/emissions) – different goals need different AFR. Stoichiometric best for emissions (cat converter), rich for power (cooling + more fuel energy), lean for economy (burn all fuel efficiently). Show data: power increases ~10% with rich mixture.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2: "How does ECU 'know' how much fuel to inject?"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Walk through calculation step-by-step: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MAF measures air (e.g., 10 g/s)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Target AFR set (e.g., 14.7:1)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Required fuel = 10/14.7 = 0.68 g/s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Convert to injector pulse width based on injector flow rate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Show that it's pure math, done in real-time.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3: "Why do GDI engines have particulate emissions? I thought that was only diesel!"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Explain that direct injection can cause localized rich zones if fuel doesn't mix perfectly with air → incomplete combustion → soot formation. MPFI has more time for air-fuel mixing (in intake manifold). GDI trades mixing time for efficiency gains. BS6 requires GPF to capture particles.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4: "If λ=1 is best for emissions, why not always use it?"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Cat converter works best at λ=1, but: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Full power needs rich (λ=0.85) for cooling and maximum energy release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Cold start needs rich (poor fuel evaporation)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Cruising can use lean (λ=1.05-1.10) for economy IF you have NOx trap (expensive)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Most modern cars stay at λ=1 most of the time (best compromise).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short: — Condense BSFC map practice (Slide 13) – show solution without student work time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Combine carburetor history (Slide 16) with EFI intro (Slide 17)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 detail on GDI challenges (Slide 19)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Move BS4 vs BS6 detailed table to assignment reading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long: — Move AFR calculation practice to assignment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Defer fuel injector mechanical details to Q&amp;A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 time on emission chemistry (just show reactions, don't explain mechanisms)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Core content (must cover): — Slides 9-12 (BSFC maps – absolutely critical for understanding efficiency)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14-15 (AFR requirements – foundation)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18 (MPFI system – most common)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23 (BS6 standards – India-specific and current)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25 (System integration – big picture)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6: Ask "Has anyone tracked their fuel economy? What factors affect it?" (driving style, maintenance, traffic)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10: Work through BSFC map reading together – point to different zones, ask students to estimate BSFC values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15: Poll: "What AFR would you use for: highway cruising? Climbing steep hill? Starting in winter?" (Get student predictions first)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18: Ask "How does ECU know which cylinder to inject into right now?" (Crankshaft position sensor!)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26: Interactive calculation: Given air flow, calculate fuel pulse width together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Q&amp;A: Be ready for questions about: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Turbocharging: How it affects BSFC (allows downsizing, can improve efficiency in optimal zone)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Hybrid systems: How they keep engine in optimal BSFC (preview of Session 8)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Flex-fuel engines: How ECU adapts to ethanol blends (E10, E85) – different stoichiometric ratio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Diesel vs petrol: Why diesel engines more efficient (higher compression, diesel BSFC ~200 vs petrol ~240)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Emissions impact: Show connection between NOx and respiratory health, PM and cancer risk – why regulations matter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economy: Economic impact (fuel costs ~40-50% of vehicle operating cost in India)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Tampering: Illegal to remove catalytic converters or modify emission controls (BS6 compliance required by law)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Real-time emissions monitoring: BS6 vehicles must have OBD-II with emissions fault detection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✅ Session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Students leave able to: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Interpret BSFC maps and identify optimal operating regions for efficiency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Explain air-fuel ratio requirements and stoichiometric combustion concept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Compare carburetor and fuel injection systems with advantages/disadvantages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Describe MPFI and GDI systems and their operation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Explain air intake system components and their functions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Describe main emission types and BS4 vs BS6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Most importantly: Students understand the complete fuel management system as an integrated control problem (sensors → ECU → actuators → emissions), can read performance maps to identify efficient operation, and appreciate the engineering trade-offs between power, economy, and emissions.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📝 ADDITIONAL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Electronic Control Deep Dive: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4: Introduced engine torque/power – Session 6 shows how to optimize power delivery through fuel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5: Cooling system – Session 6 explains how rich AFR for max power requires extra cooling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Sessions 1-3: Power requirements calculated – Session 6 shows how BSFC determines fuel consumption to deliver that power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Throughout session, mention gear selection for BSFC optimization. At end: "We know optimal RPM zones exist (BSFC maps). But vehicle speed varies from 0-120 km/h. Next sessions: How transmissions let us stay in optimal zones regardless of vehicle speed.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Eco-driving: How understanding BSFC improves real fuel economy (accelerate gently, use high gears, anticipate stops)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BS6 transition: What changed in 2020 (vehicles more expensive but cleaner)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Fuel quality: How poor fuel (low octane, contamination) affects performance and emissions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Diagnostics: How to interpret Check Engine Light related to fuel system (lean/rich fault codes)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electronics students, emphasize: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Closed-loop control: O₂ sensor feedback is classic control system (measure → compare → adjust)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Real-time processing: ECU updates fuel calculation every engine cycle (~100 Hz at 3000 RPM)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Sensor fusion: Combining MAF, TPS, temp, RPM to infer engine state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Actuator control: PWM-like pulse width control of injectors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Fault tolerance: How ECU handles sensor failures (backup strategies, limp-home mode)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bridges mechanical and electrical domains perfectly.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End of Session 6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