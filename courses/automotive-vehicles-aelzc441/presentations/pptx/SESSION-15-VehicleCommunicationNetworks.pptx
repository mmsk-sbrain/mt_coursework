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15: Vehicle Communication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Vehicle Communication Networks</a:t>
            </a:r>
          </a:p>
        </p:txBody>
      </p:sp>
      <p:sp>
        <p:nvSpPr>
          <p:cNvPr id="3" name="Subtitle 2"/>
          <p:cNvSpPr>
            <a:spLocks noGrp="1"/>
          </p:cNvSpPr>
          <p:nvPr>
            <p:ph type="subTitle" idx="1"/>
          </p:nvPr>
        </p:nvSpPr>
        <p:spPr/>
        <p:txBody>
          <a:bodyPr/>
          <a:lstStyle/>
          <a:p>
            <a:pPr>
              <a:defRPr sz="2000">
                <a:solidFill>
                  <a:srgbClr val="FFFFFF"/>
                </a:solidFill>
              </a:defRPr>
            </a:pPr>
            <a:r>
              <a:t>Session 15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15: Vehicle Communication Networks. Today we complete Module 4 by exploring the 'digital nervous system' that allows 30-100 ECUs to work together seamlessly.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Point-to-Point Wiring Problem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Imagine designing a 1990 vehicle with 20 ECUs using point-to-point wiring.</a:t>
            </a:r>
          </a:p>
          <a:p>
            <a:pPr>
              <a:spcAft>
                <a:spcPts val="1000"/>
              </a:spcAft>
              <a:defRPr sz="1800">
                <a:solidFill>
                  <a:srgbClr val="333333"/>
                </a:solidFill>
              </a:defRPr>
            </a:pPr>
            <a:r>
              <a:t>Example System: — Engine ECU</a:t>
            </a:r>
          </a:p>
          <a:p>
            <a:pPr>
              <a:spcAft>
                <a:spcPts val="600"/>
              </a:spcAft>
              <a:defRPr sz="1800">
                <a:solidFill>
                  <a:srgbClr val="333333"/>
                </a:solidFill>
              </a:defRPr>
            </a:pPr>
            <a:r>
              <a:t>Transmission ECU</a:t>
            </a:r>
          </a:p>
          <a:p>
            <a:pPr>
              <a:spcAft>
                <a:spcPts val="600"/>
              </a:spcAft>
              <a:defRPr sz="1800">
                <a:solidFill>
                  <a:srgbClr val="333333"/>
                </a:solidFill>
              </a:defRPr>
            </a:pPr>
            <a:r>
              <a:t>ABS ECU</a:t>
            </a:r>
          </a:p>
          <a:p>
            <a:pPr>
              <a:spcAft>
                <a:spcPts val="600"/>
              </a:spcAft>
              <a:defRPr sz="1800">
                <a:solidFill>
                  <a:srgbClr val="333333"/>
                </a:solidFill>
              </a:defRPr>
            </a:pPr>
            <a:r>
              <a:t>Instrument Cluster</a:t>
            </a:r>
          </a:p>
          <a:p>
            <a:pPr>
              <a:spcAft>
                <a:spcPts val="600"/>
              </a:spcAft>
              <a:defRPr sz="1800">
                <a:solidFill>
                  <a:srgbClr val="333333"/>
                </a:solidFill>
              </a:defRPr>
            </a:pPr>
            <a:r>
              <a:t>Body Control Module</a:t>
            </a:r>
          </a:p>
          <a:p>
            <a:pPr>
              <a:spcAft>
                <a:spcPts val="600"/>
              </a:spcAft>
              <a:defRPr sz="1800">
                <a:solidFill>
                  <a:srgbClr val="333333"/>
                </a:solidFill>
              </a:defRPr>
            </a:pPr>
            <a:r>
              <a:t>Climate Control ECU</a:t>
            </a:r>
          </a:p>
          <a:p>
            <a:pPr>
              <a:spcAft>
                <a:spcPts val="600"/>
              </a:spcAft>
              <a:defRPr sz="1800">
                <a:solidFill>
                  <a:srgbClr val="333333"/>
                </a:solidFill>
              </a:defRPr>
            </a:pPr>
            <a:r>
              <a:t>Airbag ECU</a:t>
            </a:r>
          </a:p>
          <a:p>
            <a:pPr>
              <a:spcAft>
                <a:spcPts val="600"/>
              </a:spcAft>
              <a:defRPr sz="1800">
                <a:solidFill>
                  <a:srgbClr val="333333"/>
                </a:solidFill>
              </a:defRPr>
            </a:pPr>
            <a:r>
              <a:t>Cruise Control ECU</a:t>
            </a:r>
          </a:p>
          <a:p>
            <a:pPr>
              <a:spcAft>
                <a:spcPts val="600"/>
              </a:spcAft>
              <a:defRPr sz="1800">
                <a:solidFill>
                  <a:srgbClr val="333333"/>
                </a:solidFill>
              </a:defRPr>
            </a:pPr>
            <a:r>
              <a:t>Lighting Control ECU</a:t>
            </a:r>
          </a:p>
          <a:p>
            <a:pPr>
              <a:spcAft>
                <a:spcPts val="600"/>
              </a:spcAft>
              <a:defRPr sz="1800">
                <a:solidFill>
                  <a:srgbClr val="333333"/>
                </a:solidFill>
              </a:defRPr>
            </a:pPr>
            <a:r>
              <a:t>Security ECU</a:t>
            </a:r>
          </a:p>
          <a:p>
            <a:pPr>
              <a:spcAft>
                <a:spcPts val="1000"/>
              </a:spcAft>
              <a:defRPr sz="1800">
                <a:solidFill>
                  <a:srgbClr val="333333"/>
                </a:solidFill>
              </a:defRPr>
            </a:pPr>
            <a:r>
              <a:t>Information Sharing Needed:</a:t>
            </a:r>
          </a:p>
          <a:p>
            <a:pPr>
              <a:spcAft>
                <a:spcPts val="1000"/>
              </a:spcAft>
              <a:defRPr sz="1800">
                <a:solidFill>
                  <a:srgbClr val="333333"/>
                </a:solidFill>
              </a:defRPr>
            </a:pPr>
            <a:r>
              <a:t>Engine ECU needs to send: — RPM → Instrument cluster (tachometer)</a:t>
            </a:r>
          </a:p>
          <a:p>
            <a:pPr>
              <a:spcAft>
                <a:spcPts val="600"/>
              </a:spcAft>
              <a:defRPr sz="1800">
                <a:solidFill>
                  <a:srgbClr val="333333"/>
                </a:solidFill>
              </a:defRPr>
            </a:pPr>
            <a:r>
              <a:t>Coolant temp → Instrument cluster (temp gauge)</a:t>
            </a:r>
          </a:p>
          <a:p>
            <a:pPr>
              <a:spcAft>
                <a:spcPts val="600"/>
              </a:spcAft>
              <a:defRPr sz="1800">
                <a:solidFill>
                  <a:srgbClr val="333333"/>
                </a:solidFill>
              </a:defRPr>
            </a:pPr>
            <a:r>
              <a:t>VSS (speed) → Cruise control</a:t>
            </a:r>
          </a:p>
          <a:p>
            <a:pPr>
              <a:spcAft>
                <a:spcPts val="600"/>
              </a:spcAft>
              <a:defRPr sz="1800">
                <a:solidFill>
                  <a:srgbClr val="333333"/>
                </a:solidFill>
              </a:defRPr>
            </a:pPr>
            <a:r>
              <a:t>Throttle position → Transmission ECU</a:t>
            </a:r>
          </a:p>
          <a:p>
            <a:pPr>
              <a:spcAft>
                <a:spcPts val="600"/>
              </a:spcAft>
              <a:defRPr sz="1800">
                <a:solidFill>
                  <a:srgbClr val="333333"/>
                </a:solidFill>
              </a:defRPr>
            </a:pPr>
            <a:r>
              <a:t>Engine torque → Transmission ECU, ABS ECU</a:t>
            </a:r>
          </a:p>
          <a:p>
            <a:pPr>
              <a:spcAft>
                <a:spcPts val="1000"/>
              </a:spcAft>
              <a:defRPr sz="1800">
                <a:solidFill>
                  <a:srgbClr val="333333"/>
                </a:solidFill>
              </a:defRPr>
            </a:pPr>
            <a:r>
              <a:t>That's 5 output connections from just ONE ECU!</a:t>
            </a:r>
          </a:p>
          <a:p>
            <a:pPr>
              <a:spcAft>
                <a:spcPts val="1000"/>
              </a:spcAft>
              <a:defRPr sz="1800">
                <a:solidFill>
                  <a:srgbClr val="333333"/>
                </a:solidFill>
              </a:defRPr>
            </a:pPr>
            <a:r>
              <a:t>Total wiring requirement: — If each connection = 2 wires (signal + ground)</a:t>
            </a:r>
          </a:p>
          <a:p>
            <a:pPr>
              <a:spcAft>
                <a:spcPts val="600"/>
              </a:spcAft>
              <a:defRPr sz="1800">
                <a:solidFill>
                  <a:srgbClr val="333333"/>
                </a:solidFill>
              </a:defRPr>
            </a:pPr>
            <a:r>
              <a:t>10 ECUs with average 5 connections each = 50 wires</a:t>
            </a:r>
          </a:p>
          <a:p>
            <a:pPr>
              <a:spcAft>
                <a:spcPts val="600"/>
              </a:spcAft>
              <a:defRPr sz="1800">
                <a:solidFill>
                  <a:srgbClr val="333333"/>
                </a:solidFill>
              </a:defRPr>
            </a:pPr>
            <a:r>
              <a:t>Plus all sensor/actuator wiring = 100-200+ wires</a:t>
            </a:r>
          </a:p>
          <a:p>
            <a:pPr>
              <a:spcAft>
                <a:spcPts val="600"/>
              </a:spcAft>
              <a:defRPr sz="1800">
                <a:solidFill>
                  <a:srgbClr val="333333"/>
                </a:solidFill>
              </a:defRPr>
            </a:pPr>
            <a:r>
              <a:t>Weight: 10-15 kg just for inter-ECU communication</a:t>
            </a:r>
          </a:p>
          <a:p>
            <a:pPr>
              <a:spcAft>
                <a:spcPts val="600"/>
              </a:spcAft>
              <a:defRPr sz="1800">
                <a:solidFill>
                  <a:srgbClr val="333333"/>
                </a:solidFill>
              </a:defRPr>
            </a:pPr>
            <a:r>
              <a:t>Cost: $100-200 in copper and connectors</a:t>
            </a:r>
          </a:p>
          <a:p>
            <a:pPr>
              <a:spcAft>
                <a:spcPts val="600"/>
              </a:spcAft>
              <a:defRPr sz="1800">
                <a:solidFill>
                  <a:srgbClr val="333333"/>
                </a:solidFill>
              </a:defRPr>
            </a:pPr>
            <a:r>
              <a:t>Failure rate: High (each connection = potential failure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THE GROWTH PROBLEM:</a:t>
            </a:r>
          </a:p>
          <a:p>
            <a:pPr>
              <a:spcAft>
                <a:spcPts val="1000"/>
              </a:spcAft>
              <a:defRPr sz="1800">
                <a:solidFill>
                  <a:srgbClr val="333333"/>
                </a:solidFill>
              </a:defRPr>
            </a:pPr>
            <a:r>
              <a:t>1990: 10-15 ECUs → 100 wires → Manageable</a:t>
            </a:r>
          </a:p>
          <a:p>
            <a:pPr>
              <a:spcAft>
                <a:spcPts val="1000"/>
              </a:spcAft>
              <a:defRPr sz="1800">
                <a:solidFill>
                  <a:srgbClr val="333333"/>
                </a:solidFill>
              </a:defRPr>
            </a:pPr>
            <a:r>
              <a:t>2000: 30-40 ECUs → 400 wires → Difficult</a:t>
            </a:r>
          </a:p>
          <a:p>
            <a:pPr>
              <a:spcAft>
                <a:spcPts val="1000"/>
              </a:spcAft>
              <a:defRPr sz="1800">
                <a:solidFill>
                  <a:srgbClr val="333333"/>
                </a:solidFill>
              </a:defRPr>
            </a:pPr>
            <a:r>
              <a:t>2010: 50-70 ECUs → 1,000 wires → Nearly impossible</a:t>
            </a:r>
          </a:p>
          <a:p>
            <a:pPr>
              <a:spcAft>
                <a:spcPts val="1000"/>
              </a:spcAft>
              <a:defRPr sz="1800">
                <a:solidFill>
                  <a:srgbClr val="333333"/>
                </a:solidFill>
              </a:defRPr>
            </a:pPr>
            <a:r>
              <a:t>2025: 80-100 ECUs → 3,000 wires → Completely impractical</a:t>
            </a:r>
          </a:p>
          <a:p>
            <a:pPr>
              <a:spcAft>
                <a:spcPts val="1000"/>
              </a:spcAft>
              <a:defRPr sz="1800">
                <a:solidFill>
                  <a:srgbClr val="333333"/>
                </a:solidFill>
              </a:defRPr>
            </a:pPr>
            <a:r>
              <a:t>The Breaking Point:</a:t>
            </a:r>
          </a:p>
          <a:p>
            <a:pPr>
              <a:spcAft>
                <a:spcPts val="1000"/>
              </a:spcAft>
              <a:defRPr sz="1800">
                <a:solidFill>
                  <a:srgbClr val="333333"/>
                </a:solidFill>
              </a:defRPr>
            </a:pPr>
            <a:r>
              <a:t>Around 2000, automotive engineers realized: Point-to-point wiring cannot scale.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Network Solution - Multiplexing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solution came from telecommunications: Multiplexing (sharing one communication channel among many users).</a:t>
            </a:r>
          </a:p>
          <a:p>
            <a:pPr>
              <a:spcAft>
                <a:spcPts val="1000"/>
              </a:spcAft>
              <a:defRPr sz="1800">
                <a:solidFill>
                  <a:srgbClr val="333333"/>
                </a:solidFill>
              </a:defRPr>
            </a:pPr>
            <a:r>
              <a:t>NETWORK ARCHITECTURE:</a:t>
            </a:r>
          </a:p>
          <a:p>
            <a:pPr>
              <a:spcAft>
                <a:spcPts val="1000"/>
              </a:spcAft>
              <a:defRPr sz="1800">
                <a:solidFill>
                  <a:srgbClr val="333333"/>
                </a:solidFill>
              </a:defRPr>
            </a:pPr>
            <a:r>
              <a:t>Physical Setup: — One communication bus (2-wire twisted pair)</a:t>
            </a:r>
          </a:p>
          <a:p>
            <a:pPr>
              <a:spcAft>
                <a:spcPts val="600"/>
              </a:spcAft>
              <a:defRPr sz="1800">
                <a:solidFill>
                  <a:srgbClr val="333333"/>
                </a:solidFill>
              </a:defRPr>
            </a:pPr>
            <a:r>
              <a:t>All ECUs connect to this bus (parallel connection)</a:t>
            </a:r>
          </a:p>
          <a:p>
            <a:pPr>
              <a:spcAft>
                <a:spcPts val="600"/>
              </a:spcAft>
              <a:defRPr sz="1800">
                <a:solidFill>
                  <a:srgbClr val="333333"/>
                </a:solidFill>
              </a:defRPr>
            </a:pPr>
            <a:r>
              <a:t>Messages broadcast to all ECUs</a:t>
            </a:r>
          </a:p>
          <a:p>
            <a:pPr>
              <a:spcAft>
                <a:spcPts val="600"/>
              </a:spcAft>
              <a:defRPr sz="1800">
                <a:solidFill>
                  <a:srgbClr val="333333"/>
                </a:solidFill>
              </a:defRPr>
            </a:pPr>
            <a:r>
              <a:t>Each ECU listens for messages it needs</a:t>
            </a:r>
          </a:p>
          <a:p>
            <a:pPr>
              <a:spcAft>
                <a:spcPts val="1000"/>
              </a:spcAft>
              <a:defRPr sz="1800">
                <a:solidFill>
                  <a:srgbClr val="333333"/>
                </a:solidFill>
              </a:defRPr>
            </a:pPr>
            <a:r>
              <a:t>How It Works:</a:t>
            </a:r>
          </a:p>
          <a:p>
            <a:pPr>
              <a:spcAft>
                <a:spcPts val="1000"/>
              </a:spcAft>
              <a:defRPr sz="1800">
                <a:solidFill>
                  <a:srgbClr val="333333"/>
                </a:solidFill>
              </a:defRPr>
            </a:pPr>
            <a:r>
              <a:t>Traditional (Point-to-Point):</a:t>
            </a:r>
          </a:p>
          <a:p>
            <a:pPr>
              <a:defRPr sz="1400">
                <a:solidFill>
                  <a:srgbClr val="787878"/>
                </a:solidFill>
                <a:latin typeface="Consolas"/>
              </a:defRPr>
            </a:pPr>
            <a:r>
              <a:t>Engine ECU → Dedicated wire → Instrument Cluster (RPM signal)</a:t>
            </a:r>
            <a:br/>
            <a:r>
              <a:t>Engine ECU → Dedicated wire → Transmission ECU (Torque signal)</a:t>
            </a:r>
            <a:br/>
            <a:r>
              <a:t>Engine ECU → Dedicated wire → Cruise Control (Speed signal)</a:t>
            </a:r>
            <a:br/>
            <a:br/>
            <a:r>
              <a:t>Total: 6 wires (3 signals × 2 wires each)</a:t>
            </a:r>
          </a:p>
          <a:p>
            <a:pPr>
              <a:spcAft>
                <a:spcPts val="1000"/>
              </a:spcAft>
              <a:defRPr sz="1800">
                <a:solidFill>
                  <a:srgbClr val="333333"/>
                </a:solidFill>
              </a:defRPr>
            </a:pPr>
            <a:r>
              <a:t>Networked (Multiplexed):</a:t>
            </a:r>
          </a:p>
          <a:p>
            <a:pPr>
              <a:defRPr sz="1400">
                <a:solidFill>
                  <a:srgbClr val="787878"/>
                </a:solidFill>
                <a:latin typeface="Consolas"/>
              </a:defRPr>
            </a:pPr>
            <a:r>
              <a:t>Engine ECU broadcasts on bus:</a:t>
            </a:r>
            <a:br/>
            <a:r>
              <a:t>  Message 1: "RPM = 2,500</a:t>
            </a:r>
            <a:br/>
            <a:r>
              <a:t>  Message 2: "Torque = 150 Nm</a:t>
            </a:r>
            <a:br/>
            <a:r>
              <a:t>  Message 3: "Speed = 80 km/h</a:t>
            </a:r>
            <a:br/>
            <a:br/>
            <a:r>
              <a:t>All ECUs connected to bus receive all messages</a:t>
            </a:r>
            <a:br/>
            <a:r>
              <a:t>  - Instrument Cluster listens for RPM</a:t>
            </a:r>
            <a:br/>
            <a:r>
              <a:t>  - Transmission ECU listens for Torque</a:t>
            </a:r>
            <a:br/>
            <a:r>
              <a:t>  - Cruise Control listens for Speed</a:t>
            </a:r>
            <a:br/>
            <a:br/>
            <a:r>
              <a:t>Total: 2 wires (one bus, shared by all)</a:t>
            </a:r>
          </a:p>
          <a:p>
            <a:pPr>
              <a:spcAft>
                <a:spcPts val="1000"/>
              </a:spcAft>
              <a:defRPr sz="1800">
                <a:solidFill>
                  <a:srgbClr val="333333"/>
                </a:solidFill>
              </a:defRPr>
            </a:pPr>
            <a:r>
              <a:t>Savings: — Weight: 20-30 kg reduction in wiring harness</a:t>
            </a:r>
          </a:p>
          <a:p>
            <a:pPr>
              <a:spcAft>
                <a:spcPts val="600"/>
              </a:spcAft>
              <a:defRPr sz="1800">
                <a:solidFill>
                  <a:srgbClr val="333333"/>
                </a:solidFill>
              </a:defRPr>
            </a:pPr>
            <a:r>
              <a:t>Cost: $200-500 savings per vehicle</a:t>
            </a:r>
          </a:p>
          <a:p>
            <a:pPr>
              <a:spcAft>
                <a:spcPts val="600"/>
              </a:spcAft>
              <a:defRPr sz="1800">
                <a:solidFill>
                  <a:srgbClr val="333333"/>
                </a:solidFill>
              </a:defRPr>
            </a:pPr>
            <a:r>
              <a:t>Complexity: 90% reduction in inter-ECU wiring</a:t>
            </a:r>
          </a:p>
          <a:p>
            <a:pPr>
              <a:spcAft>
                <a:spcPts val="600"/>
              </a:spcAft>
              <a:defRPr sz="1800">
                <a:solidFill>
                  <a:srgbClr val="333333"/>
                </a:solidFill>
              </a:defRPr>
            </a:pPr>
            <a:r>
              <a:t>Reliability: Fewer connectors = fewer failure points</a:t>
            </a:r>
          </a:p>
          <a:p>
            <a:pPr>
              <a:spcAft>
                <a:spcPts val="1000"/>
              </a:spcAft>
              <a:defRPr sz="1800">
                <a:solidFill>
                  <a:srgbClr val="333333"/>
                </a:solidFill>
              </a:defRPr>
            </a:pPr>
            <a:r>
              <a:t>The Standard: CAN Bus</a:t>
            </a:r>
          </a:p>
          <a:p>
            <a:pPr>
              <a:spcAft>
                <a:spcPts val="1000"/>
              </a:spcAft>
              <a:defRPr sz="1800">
                <a:solidFill>
                  <a:srgbClr val="333333"/>
                </a:solidFill>
              </a:defRPr>
            </a:pPr>
            <a:r>
              <a:t>CAN = Controller Area Network — Developed by Bosch (1983)</a:t>
            </a:r>
          </a:p>
          <a:p>
            <a:pPr>
              <a:spcAft>
                <a:spcPts val="600"/>
              </a:spcAft>
              <a:defRPr sz="1800">
                <a:solidFill>
                  <a:srgbClr val="333333"/>
                </a:solidFill>
              </a:defRPr>
            </a:pPr>
            <a:r>
              <a:t>Standardized (ISO 11898)</a:t>
            </a:r>
          </a:p>
          <a:p>
            <a:pPr>
              <a:spcAft>
                <a:spcPts val="600"/>
              </a:spcAft>
              <a:defRPr sz="1800">
                <a:solidFill>
                  <a:srgbClr val="333333"/>
                </a:solidFill>
              </a:defRPr>
            </a:pPr>
            <a:r>
              <a:t>Dominant in automotive (99% of vehicles since 2008)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4-6: Multiplexing Concepts &amp; Network Benefits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4-6 would cover:</a:t>
            </a:r>
          </a:p>
          <a:p>
            <a:pPr>
              <a:spcAft>
                <a:spcPts val="600"/>
              </a:spcAft>
              <a:defRPr sz="1800">
                <a:solidFill>
                  <a:srgbClr val="333333"/>
                </a:solidFill>
              </a:defRPr>
            </a:pPr>
            <a:r>
              <a:t>Slide 4: Message-based communication (broadcast vs point-to-point)</a:t>
            </a:r>
          </a:p>
          <a:p>
            <a:pPr>
              <a:spcAft>
                <a:spcPts val="600"/>
              </a:spcAft>
              <a:defRPr sz="1800">
                <a:solidFill>
                  <a:srgbClr val="333333"/>
                </a:solidFill>
              </a:defRPr>
            </a:pPr>
            <a:r>
              <a:t>Slide 5: Benefits quantified (weight, cost, reliability data)</a:t>
            </a:r>
          </a:p>
          <a:p>
            <a:pPr>
              <a:spcAft>
                <a:spcPts val="600"/>
              </a:spcAft>
              <a:defRPr sz="1800">
                <a:solidFill>
                  <a:srgbClr val="333333"/>
                </a:solidFill>
              </a:defRPr>
            </a:pPr>
            <a:r>
              <a:t>Slide 6: Transition to CAN bus technical details]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2: TRIGGER - "CAN Bus Fundamentals</a:t>
            </a:r>
          </a:p>
        </p:txBody>
      </p:sp>
      <p:sp>
        <p:nvSpPr>
          <p:cNvPr id="3" name="Subtitle 2"/>
          <p:cNvSpPr>
            <a:spLocks noGrp="1"/>
          </p:cNvSpPr>
          <p:nvPr>
            <p:ph type="subTitle"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CAN Bus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explore CAN bus (Controller Area Network) in detail.</a:t>
            </a:r>
          </a:p>
          <a:p>
            <a:pPr>
              <a:spcAft>
                <a:spcPts val="1000"/>
              </a:spcAft>
              <a:defRPr sz="1800">
                <a:solidFill>
                  <a:srgbClr val="333333"/>
                </a:solidFill>
              </a:defRPr>
            </a:pPr>
            <a:r>
              <a:t>PHYSICAL LAYER:</a:t>
            </a:r>
          </a:p>
          <a:p>
            <a:pPr>
              <a:spcAft>
                <a:spcPts val="1000"/>
              </a:spcAft>
              <a:defRPr sz="1800">
                <a:solidFill>
                  <a:srgbClr val="333333"/>
                </a:solidFill>
              </a:defRPr>
            </a:pPr>
            <a:r>
              <a:t>Wiring: — 2 wires: CAN-High (CAN-H) and CAN-Low (CAN-L)</a:t>
            </a:r>
          </a:p>
          <a:p>
            <a:pPr>
              <a:spcAft>
                <a:spcPts val="600"/>
              </a:spcAft>
              <a:defRPr sz="1800">
                <a:solidFill>
                  <a:srgbClr val="333333"/>
                </a:solidFill>
              </a:defRPr>
            </a:pPr>
            <a:r>
              <a:t>Twisted pair (reduces electromagnetic interference)</a:t>
            </a:r>
          </a:p>
          <a:p>
            <a:pPr>
              <a:spcAft>
                <a:spcPts val="600"/>
              </a:spcAft>
              <a:defRPr sz="1800">
                <a:solidFill>
                  <a:srgbClr val="333333"/>
                </a:solidFill>
              </a:defRPr>
            </a:pPr>
            <a:r>
              <a:t>120 Ω termination resistors at both ends of bus</a:t>
            </a:r>
          </a:p>
          <a:p>
            <a:pPr>
              <a:spcAft>
                <a:spcPts val="1000"/>
              </a:spcAft>
              <a:defRPr sz="1800">
                <a:solidFill>
                  <a:srgbClr val="333333"/>
                </a:solidFill>
              </a:defRPr>
            </a:pPr>
            <a:r>
              <a:t>Voltage Levels:</a:t>
            </a:r>
          </a:p>
          <a:p>
            <a:pPr>
              <a:spcAft>
                <a:spcPts val="1000"/>
              </a:spcAft>
              <a:defRPr sz="1800">
                <a:solidFill>
                  <a:srgbClr val="333333"/>
                </a:solidFill>
              </a:defRPr>
            </a:pPr>
            <a:r>
              <a:t>Recessive (Logical 1): — CAN-H: 2.5V</a:t>
            </a:r>
          </a:p>
          <a:p>
            <a:pPr>
              <a:spcAft>
                <a:spcPts val="600"/>
              </a:spcAft>
              <a:defRPr sz="1800">
                <a:solidFill>
                  <a:srgbClr val="333333"/>
                </a:solidFill>
              </a:defRPr>
            </a:pPr>
            <a:r>
              <a:t>CAN-L: 2.5V</a:t>
            </a:r>
          </a:p>
          <a:p>
            <a:pPr>
              <a:spcAft>
                <a:spcPts val="600"/>
              </a:spcAft>
              <a:defRPr sz="1800">
                <a:solidFill>
                  <a:srgbClr val="333333"/>
                </a:solidFill>
              </a:defRPr>
            </a:pPr>
            <a:r>
              <a:t>Differential voltage: 0V</a:t>
            </a:r>
          </a:p>
          <a:p>
            <a:pPr>
              <a:spcAft>
                <a:spcPts val="1000"/>
              </a:spcAft>
              <a:defRPr sz="1800">
                <a:solidFill>
                  <a:srgbClr val="333333"/>
                </a:solidFill>
              </a:defRPr>
            </a:pPr>
            <a:r>
              <a:t>Dominant (Logical 0): — CAN-H: 3.5V</a:t>
            </a:r>
          </a:p>
          <a:p>
            <a:pPr>
              <a:spcAft>
                <a:spcPts val="600"/>
              </a:spcAft>
              <a:defRPr sz="1800">
                <a:solidFill>
                  <a:srgbClr val="333333"/>
                </a:solidFill>
              </a:defRPr>
            </a:pPr>
            <a:r>
              <a:t>CAN-L: 1.5V</a:t>
            </a:r>
          </a:p>
          <a:p>
            <a:pPr>
              <a:spcAft>
                <a:spcPts val="600"/>
              </a:spcAft>
              <a:defRPr sz="1800">
                <a:solidFill>
                  <a:srgbClr val="333333"/>
                </a:solidFill>
              </a:defRPr>
            </a:pPr>
            <a:r>
              <a:t>Differential voltage: 2V</a:t>
            </a:r>
          </a:p>
          <a:p>
            <a:pPr>
              <a:spcAft>
                <a:spcPts val="1000"/>
              </a:spcAft>
              <a:defRPr sz="1800">
                <a:solidFill>
                  <a:srgbClr val="333333"/>
                </a:solidFill>
              </a:defRPr>
            </a:pPr>
            <a:r>
              <a:t>Why Differential Signaling? — Noise immunity: External interference affects both wires equally</a:t>
            </a:r>
          </a:p>
          <a:p>
            <a:pPr>
              <a:spcAft>
                <a:spcPts val="600"/>
              </a:spcAft>
              <a:defRPr sz="1800">
                <a:solidFill>
                  <a:srgbClr val="333333"/>
                </a:solidFill>
              </a:defRPr>
            </a:pPr>
            <a:r>
              <a:t>Differential voltage unaffected by noise</a:t>
            </a:r>
          </a:p>
          <a:p>
            <a:pPr>
              <a:spcAft>
                <a:spcPts val="600"/>
              </a:spcAft>
              <a:defRPr sz="1800">
                <a:solidFill>
                  <a:srgbClr val="333333"/>
                </a:solidFill>
              </a:defRPr>
            </a:pPr>
            <a:r>
              <a:t>Example: +0.5V noise on both wires</a:t>
            </a:r>
          </a:p>
          <a:p>
            <a:pPr>
              <a:spcAft>
                <a:spcPts val="600"/>
              </a:spcAft>
              <a:defRPr sz="1800">
                <a:solidFill>
                  <a:srgbClr val="333333"/>
                </a:solidFill>
              </a:defRPr>
            </a:pPr>
            <a:r>
              <a:t>CAN-H: 3.5V + 0.5V = 4.0V</a:t>
            </a:r>
          </a:p>
          <a:p>
            <a:pPr>
              <a:spcAft>
                <a:spcPts val="600"/>
              </a:spcAft>
              <a:defRPr sz="1800">
                <a:solidFill>
                  <a:srgbClr val="333333"/>
                </a:solidFill>
              </a:defRPr>
            </a:pPr>
            <a:r>
              <a:t>CAN-L: 1.5V + 0.5V = 2.0V</a:t>
            </a:r>
          </a:p>
          <a:p>
            <a:pPr>
              <a:spcAft>
                <a:spcPts val="600"/>
              </a:spcAft>
              <a:defRPr sz="1800">
                <a:solidFill>
                  <a:srgbClr val="333333"/>
                </a:solidFill>
              </a:defRPr>
            </a:pPr>
            <a:r>
              <a:t>Differential: Still 2V (noise cancelled!)</a:t>
            </a:r>
          </a:p>
          <a:p>
            <a:pPr>
              <a:spcAft>
                <a:spcPts val="1000"/>
              </a:spcAft>
              <a:defRPr sz="1800">
                <a:solidFill>
                  <a:srgbClr val="333333"/>
                </a:solidFill>
              </a:defRPr>
            </a:pPr>
            <a:r>
              <a:t>Bus Speed (Bit Rate): — High-Speed CAN: 125 kbps to 1 Mbps (typical: 500 kbps)</a:t>
            </a:r>
          </a:p>
          <a:p>
            <a:pPr>
              <a:spcAft>
                <a:spcPts val="600"/>
              </a:spcAft>
              <a:defRPr sz="1800">
                <a:solidFill>
                  <a:srgbClr val="333333"/>
                </a:solidFill>
              </a:defRPr>
            </a:pPr>
            <a:r>
              <a:t>Low-Speed CAN: 10-125 kbps (older, fault-tolerant variant)</a:t>
            </a:r>
          </a:p>
          <a:p>
            <a:pPr>
              <a:spcAft>
                <a:spcPts val="1000"/>
              </a:spcAft>
              <a:defRPr sz="1800">
                <a:solidFill>
                  <a:srgbClr val="333333"/>
                </a:solidFill>
              </a:defRPr>
            </a:pPr>
            <a:r>
              <a:t>Typical Speeds: — Powertrain CAN: 500 kbps (engine, transmission—fast response needed)</a:t>
            </a:r>
          </a:p>
          <a:p>
            <a:pPr>
              <a:spcAft>
                <a:spcPts val="600"/>
              </a:spcAft>
              <a:defRPr sz="1800">
                <a:solidFill>
                  <a:srgbClr val="333333"/>
                </a:solidFill>
              </a:defRPr>
            </a:pPr>
            <a:r>
              <a:t>Body CAN: 125 kbps (lights, windows—slower acceptable)</a:t>
            </a:r>
          </a:p>
          <a:p>
            <a:pPr>
              <a:spcAft>
                <a:spcPts val="600"/>
              </a:spcAft>
              <a:defRPr sz="1800">
                <a:solidFill>
                  <a:srgbClr val="333333"/>
                </a:solidFill>
              </a:defRPr>
            </a:pPr>
            <a:r>
              <a:t>Diagnostic CAN: 500 kbps (OBD-II access)</a:t>
            </a:r>
          </a:p>
          <a:p>
            <a:pPr>
              <a:spcAft>
                <a:spcPts val="1000"/>
              </a:spcAft>
              <a:defRPr sz="1800">
                <a:solidFill>
                  <a:srgbClr val="333333"/>
                </a:solidFill>
              </a:defRPr>
            </a:pPr>
            <a:r>
              <a:t>Instructor Narration (continued):</a:t>
            </a:r>
          </a:p>
          <a:p>
            <a:pPr>
              <a:spcAft>
                <a:spcPts val="1000"/>
              </a:spcAft>
              <a:defRPr sz="1800">
                <a:solidFill>
                  <a:srgbClr val="333333"/>
                </a:solidFill>
              </a:defRPr>
            </a:pPr>
            <a:r>
              <a:t>'CAN bus is like a party phone line from the old days—everyone shares one line, you can hear everyone talking, but there are rules about when you can speak. Except CAN is incredibly sophisticated about managing who talks when.'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CAN Message Frame Structure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CAN communication happens via messages (called frames). Let's decode the structure.</a:t>
            </a:r>
          </a:p>
          <a:p>
            <a:pPr>
              <a:spcAft>
                <a:spcPts val="1000"/>
              </a:spcAft>
              <a:defRPr sz="1800">
                <a:solidFill>
                  <a:srgbClr val="333333"/>
                </a:solidFill>
              </a:defRPr>
            </a:pPr>
            <a:r>
              <a:t>CAN DATA FRAME (Standard Format):</a:t>
            </a:r>
          </a:p>
          <a:p>
            <a:pPr>
              <a:spcAft>
                <a:spcPts val="1000"/>
              </a:spcAft>
              <a:defRPr sz="1800">
                <a:solidFill>
                  <a:srgbClr val="333333"/>
                </a:solidFill>
              </a:defRPr>
            </a:pPr>
            <a:r>
              <a:t>Total Length: 44-108 bits (depends on data length)</a:t>
            </a:r>
          </a:p>
          <a:p>
            <a:pPr>
              <a:spcAft>
                <a:spcPts val="1000"/>
              </a:spcAft>
              <a:defRPr sz="1800">
                <a:solidFill>
                  <a:srgbClr val="333333"/>
                </a:solidFill>
              </a:defRPr>
            </a:pPr>
            <a:r>
              <a:t>FIELD-BY-FIELD:</a:t>
            </a:r>
          </a:p>
          <a:p>
            <a:pPr>
              <a:spcAft>
                <a:spcPts val="1000"/>
              </a:spcAft>
              <a:defRPr sz="1800">
                <a:solidFill>
                  <a:srgbClr val="333333"/>
                </a:solidFill>
              </a:defRPr>
            </a:pPr>
            <a:r>
              <a:t>1. START OF FRAME (SOF) - 1 bit — Value: Dominant (0)</a:t>
            </a:r>
          </a:p>
          <a:p>
            <a:pPr>
              <a:spcAft>
                <a:spcPts val="600"/>
              </a:spcAft>
              <a:defRPr sz="1800">
                <a:solidFill>
                  <a:srgbClr val="333333"/>
                </a:solidFill>
              </a:defRPr>
            </a:pPr>
            <a:r>
              <a:t>Purpose: Synchronize all ECUs (start of new message)</a:t>
            </a:r>
          </a:p>
          <a:p>
            <a:pPr>
              <a:spcAft>
                <a:spcPts val="1000"/>
              </a:spcAft>
              <a:defRPr sz="1800">
                <a:solidFill>
                  <a:srgbClr val="333333"/>
                </a:solidFill>
              </a:defRPr>
            </a:pPr>
            <a:r>
              <a:t>2. IDENTIFIER (ID) - 11 bits (Standard CAN) — Range: 0x000 to 0x7FF (0-2047 decimal)</a:t>
            </a:r>
          </a:p>
          <a:p>
            <a:pPr>
              <a:spcAft>
                <a:spcPts val="600"/>
              </a:spcAft>
              <a:defRPr sz="1800">
                <a:solidFill>
                  <a:srgbClr val="333333"/>
                </a:solidFill>
              </a:defRPr>
            </a:pPr>
            <a:r>
              <a:t>Purpose: — Message identification (what information is this?)</a:t>
            </a:r>
          </a:p>
          <a:p>
            <a:pPr>
              <a:spcAft>
                <a:spcPts val="600"/>
              </a:spcAft>
              <a:defRPr sz="1800">
                <a:solidFill>
                  <a:srgbClr val="333333"/>
                </a:solidFill>
              </a:defRPr>
            </a:pPr>
            <a:r>
              <a:t>Priority (lower ID = higher priority)</a:t>
            </a:r>
          </a:p>
          <a:p>
            <a:pPr>
              <a:spcAft>
                <a:spcPts val="600"/>
              </a:spcAft>
              <a:defRPr sz="1800">
                <a:solidFill>
                  <a:srgbClr val="333333"/>
                </a:solidFill>
              </a:defRPr>
            </a:pPr>
            <a:r>
              <a:t>Example IDs: — 0x100: Engine RPM</a:t>
            </a:r>
          </a:p>
          <a:p>
            <a:pPr>
              <a:spcAft>
                <a:spcPts val="600"/>
              </a:spcAft>
              <a:defRPr sz="1800">
                <a:solidFill>
                  <a:srgbClr val="333333"/>
                </a:solidFill>
              </a:defRPr>
            </a:pPr>
            <a:r>
              <a:t>0x200: Vehicle speed</a:t>
            </a:r>
          </a:p>
          <a:p>
            <a:pPr>
              <a:spcAft>
                <a:spcPts val="600"/>
              </a:spcAft>
              <a:defRPr sz="1800">
                <a:solidFill>
                  <a:srgbClr val="333333"/>
                </a:solidFill>
              </a:defRPr>
            </a:pPr>
            <a:r>
              <a:t>0x300: Brake pressure</a:t>
            </a:r>
          </a:p>
          <a:p>
            <a:pPr>
              <a:spcAft>
                <a:spcPts val="1000"/>
              </a:spcAft>
              <a:defRPr sz="1800">
                <a:solidFill>
                  <a:srgbClr val="333333"/>
                </a:solidFill>
              </a:defRPr>
            </a:pPr>
            <a:r>
              <a:t>Extended CAN: 29-bit ID (supports 536 million unique IDs—used in some modern systems)</a:t>
            </a:r>
          </a:p>
          <a:p>
            <a:pPr>
              <a:spcAft>
                <a:spcPts val="1000"/>
              </a:spcAft>
              <a:defRPr sz="1800">
                <a:solidFill>
                  <a:srgbClr val="333333"/>
                </a:solidFill>
              </a:defRPr>
            </a:pPr>
            <a:r>
              <a:t>3. REMOTE TRANSMISSION REQUEST (RTR) - 1 bit — 0: Data frame (contains data)</a:t>
            </a:r>
          </a:p>
          <a:p>
            <a:pPr>
              <a:spcAft>
                <a:spcPts val="600"/>
              </a:spcAft>
              <a:defRPr sz="1800">
                <a:solidFill>
                  <a:srgbClr val="333333"/>
                </a:solidFill>
              </a:defRPr>
            </a:pPr>
            <a:r>
              <a:t>1: Remote frame (request data from another ECU)</a:t>
            </a:r>
          </a:p>
          <a:p>
            <a:pPr>
              <a:spcAft>
                <a:spcPts val="600"/>
              </a:spcAft>
              <a:defRPr sz="1800">
                <a:solidFill>
                  <a:srgbClr val="333333"/>
                </a:solidFill>
              </a:defRPr>
            </a:pPr>
            <a:r>
              <a:t>Rarely used in modern systems</a:t>
            </a:r>
          </a:p>
          <a:p>
            <a:pPr>
              <a:spcAft>
                <a:spcPts val="1000"/>
              </a:spcAft>
              <a:defRPr sz="1800">
                <a:solidFill>
                  <a:srgbClr val="333333"/>
                </a:solidFill>
              </a:defRPr>
            </a:pPr>
            <a:r>
              <a:t>4. CONTROL FIELD - 6 bits — IDE (Identifier Extension) - 1 bit: Standard (11-bit) vs Extended (29-bit) ID</a:t>
            </a:r>
          </a:p>
          <a:p>
            <a:pPr>
              <a:spcAft>
                <a:spcPts val="600"/>
              </a:spcAft>
              <a:defRPr sz="1800">
                <a:solidFill>
                  <a:srgbClr val="333333"/>
                </a:solidFill>
              </a:defRPr>
            </a:pPr>
            <a:r>
              <a:t>r0 (Reserved) - 1 bit: Future use</a:t>
            </a:r>
          </a:p>
          <a:p>
            <a:pPr>
              <a:spcAft>
                <a:spcPts val="600"/>
              </a:spcAft>
              <a:defRPr sz="1800">
                <a:solidFill>
                  <a:srgbClr val="333333"/>
                </a:solidFill>
              </a:defRPr>
            </a:pPr>
            <a:r>
              <a:t>DLC (Data Length Code) - 4 bits: Number of data bytes (0-8)</a:t>
            </a:r>
          </a:p>
          <a:p>
            <a:pPr>
              <a:spcAft>
                <a:spcPts val="1000"/>
              </a:spcAft>
              <a:defRPr sz="1800">
                <a:solidFill>
                  <a:srgbClr val="333333"/>
                </a:solidFill>
              </a:defRPr>
            </a:pPr>
            <a:r>
              <a:t>5. DATA FIELD - 0 to 64 bits (0-8 bytes) — Actual message content — Examples: — Engine RPM: 2 bytes (0-6,500 RPM)</a:t>
            </a:r>
          </a:p>
          <a:p>
            <a:pPr>
              <a:spcAft>
                <a:spcPts val="600"/>
              </a:spcAft>
              <a:defRPr sz="1800">
                <a:solidFill>
                  <a:srgbClr val="333333"/>
                </a:solidFill>
              </a:defRPr>
            </a:pPr>
            <a:r>
              <a:t>Coolant temp: 1 byte (-40 to +215°C)</a:t>
            </a:r>
          </a:p>
          <a:p>
            <a:pPr>
              <a:spcAft>
                <a:spcPts val="600"/>
              </a:spcAft>
              <a:defRPr sz="1800">
                <a:solidFill>
                  <a:srgbClr val="333333"/>
                </a:solidFill>
              </a:defRPr>
            </a:pPr>
            <a:r>
              <a:t>VIN request: 8 bytes</a:t>
            </a:r>
          </a:p>
          <a:p>
            <a:pPr>
              <a:spcAft>
                <a:spcPts val="1000"/>
              </a:spcAft>
              <a:defRPr sz="1800">
                <a:solidFill>
                  <a:srgbClr val="333333"/>
                </a:solidFill>
              </a:defRPr>
            </a:pPr>
            <a:r>
              <a:t>6. CRC (Cyclic Redundancy Check) - 15 bits + 1 delimiter — Purpose: Error detection</a:t>
            </a:r>
          </a:p>
          <a:p>
            <a:pPr>
              <a:spcAft>
                <a:spcPts val="600"/>
              </a:spcAft>
              <a:defRPr sz="1800">
                <a:solidFill>
                  <a:srgbClr val="333333"/>
                </a:solidFill>
              </a:defRPr>
            </a:pPr>
            <a:r>
              <a:t>Calculation: Polynomial checksum of frame content</a:t>
            </a:r>
          </a:p>
          <a:p>
            <a:pPr>
              <a:spcAft>
                <a:spcPts val="600"/>
              </a:spcAft>
              <a:defRPr sz="1800">
                <a:solidFill>
                  <a:srgbClr val="333333"/>
                </a:solidFill>
              </a:defRPr>
            </a:pPr>
            <a:r>
              <a:t>Receiver: Recalculates CRC, compares to transmitted CRC</a:t>
            </a:r>
          </a:p>
          <a:p>
            <a:pPr>
              <a:spcAft>
                <a:spcPts val="600"/>
              </a:spcAft>
              <a:defRPr sz="1800">
                <a:solidFill>
                  <a:srgbClr val="333333"/>
                </a:solidFill>
              </a:defRPr>
            </a:pPr>
            <a:r>
              <a:t>If mismatch: Error detected → message rejected</a:t>
            </a:r>
          </a:p>
          <a:p>
            <a:pPr>
              <a:spcAft>
                <a:spcPts val="1000"/>
              </a:spcAft>
              <a:defRPr sz="1800">
                <a:solidFill>
                  <a:srgbClr val="333333"/>
                </a:solidFill>
              </a:defRPr>
            </a:pPr>
            <a:r>
              <a:t>7. ACK (Acknowledgment) - 2 bits — ACK slot: Transmitter sends recessive (1)</a:t>
            </a:r>
          </a:p>
          <a:p>
            <a:pPr>
              <a:spcAft>
                <a:spcPts val="600"/>
              </a:spcAft>
              <a:defRPr sz="1800">
                <a:solidFill>
                  <a:srgbClr val="333333"/>
                </a:solidFill>
              </a:defRPr>
            </a:pPr>
            <a:r>
              <a:t>Any ECU that receives correctly: Overrides with dominant (0)</a:t>
            </a:r>
          </a:p>
          <a:p>
            <a:pPr>
              <a:spcAft>
                <a:spcPts val="600"/>
              </a:spcAft>
              <a:defRPr sz="1800">
                <a:solidFill>
                  <a:srgbClr val="333333"/>
                </a:solidFill>
              </a:defRPr>
            </a:pPr>
            <a:r>
              <a:t>If no ACK: Message not received by anyone → error</a:t>
            </a:r>
          </a:p>
          <a:p>
            <a:pPr>
              <a:spcAft>
                <a:spcPts val="1000"/>
              </a:spcAft>
              <a:defRPr sz="1800">
                <a:solidFill>
                  <a:srgbClr val="333333"/>
                </a:solidFill>
              </a:defRPr>
            </a:pPr>
            <a:r>
              <a:t>8. END OF FRAME (EOF) - 7 bits — Value: 7 recessive bits (1111111)</a:t>
            </a:r>
          </a:p>
          <a:p>
            <a:pPr>
              <a:spcAft>
                <a:spcPts val="600"/>
              </a:spcAft>
              <a:defRPr sz="1800">
                <a:solidFill>
                  <a:srgbClr val="333333"/>
                </a:solidFill>
              </a:defRPr>
            </a:pPr>
            <a:r>
              <a:t>Purpose: Mark end of frame</a:t>
            </a:r>
          </a:p>
          <a:p>
            <a:pPr>
              <a:spcAft>
                <a:spcPts val="1000"/>
              </a:spcAft>
              <a:defRPr sz="1800">
                <a:solidFill>
                  <a:srgbClr val="333333"/>
                </a:solidFill>
              </a:defRPr>
            </a:pPr>
            <a:r>
              <a:t>9. INTERMISSION - 3 bits — Value: 3 recessive bits</a:t>
            </a:r>
          </a:p>
          <a:p>
            <a:pPr>
              <a:spcAft>
                <a:spcPts val="600"/>
              </a:spcAft>
              <a:defRPr sz="1800">
                <a:solidFill>
                  <a:srgbClr val="333333"/>
                </a:solidFill>
              </a:defRPr>
            </a:pPr>
            <a:r>
              <a:t>Purpose: Minimum gap before next frame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EXAMPLE MESSAGE: Engine RPM</a:t>
            </a:r>
          </a:p>
          <a:p>
            <a:pPr>
              <a:spcAft>
                <a:spcPts val="1000"/>
              </a:spcAft>
              <a:defRPr sz="1800">
                <a:solidFill>
                  <a:srgbClr val="333333"/>
                </a:solidFill>
              </a:defRPr>
            </a:pPr>
            <a:r>
              <a:t>ID: 0x100 (Engine RPM message)</a:t>
            </a:r>
          </a:p>
          <a:p>
            <a:pPr>
              <a:spcAft>
                <a:spcPts val="1000"/>
              </a:spcAft>
              <a:defRPr sz="1800">
                <a:solidFill>
                  <a:srgbClr val="333333"/>
                </a:solidFill>
              </a:defRPr>
            </a:pPr>
            <a:r>
              <a:t>DLC: 2 (two data bytes)</a:t>
            </a:r>
          </a:p>
          <a:p>
            <a:pPr>
              <a:spcAft>
                <a:spcPts val="1000"/>
              </a:spcAft>
              <a:defRPr sz="1800">
                <a:solidFill>
                  <a:srgbClr val="333333"/>
                </a:solidFill>
              </a:defRPr>
            </a:pPr>
            <a:r>
              <a:t>Data: 0x09C4 (2500 decimal = 2,500 RPM)</a:t>
            </a:r>
          </a:p>
          <a:p>
            <a:pPr>
              <a:spcAft>
                <a:spcPts val="1000"/>
              </a:spcAft>
              <a:defRPr sz="1800">
                <a:solidFill>
                  <a:srgbClr val="333333"/>
                </a:solidFill>
              </a:defRPr>
            </a:pPr>
            <a:r>
              <a:t>Binary Frame (Simplified):</a:t>
            </a:r>
          </a:p>
          <a:p>
            <a:pPr>
              <a:defRPr sz="1400">
                <a:solidFill>
                  <a:srgbClr val="787878"/>
                </a:solidFill>
                <a:latin typeface="Consolas"/>
              </a:defRPr>
            </a:pPr>
            <a:r>
              <a:t>SOF: 0</a:t>
            </a:r>
            <a:br/>
            <a:r>
              <a:t>ID: 00100000000 (0x100)</a:t>
            </a:r>
            <a:br/>
            <a:r>
              <a:t>RTR: 0</a:t>
            </a:r>
            <a:br/>
            <a:r>
              <a:t>IDE: 0</a:t>
            </a:r>
            <a:br/>
            <a:r>
              <a:t>r0: 0</a:t>
            </a:r>
            <a:br/>
            <a:r>
              <a:t>DLC: 0010 (2 bytes)</a:t>
            </a:r>
            <a:br/>
            <a:r>
              <a:t>Data: 00001001 11000100 (0x09C4 = 2,500)</a:t>
            </a:r>
            <a:br/>
            <a:r>
              <a:t>CRC: [15-bit checksum]</a:t>
            </a:r>
            <a:br/>
            <a:r>
              <a:t>ACK: 0 (acknowledged)</a:t>
            </a:r>
            <a:br/>
            <a:r>
              <a:t>EOF: 1111111</a:t>
            </a:r>
          </a:p>
          <a:p>
            <a:pPr>
              <a:spcAft>
                <a:spcPts val="1000"/>
              </a:spcAft>
              <a:defRPr sz="1800">
                <a:solidFill>
                  <a:srgbClr val="333333"/>
                </a:solidFill>
              </a:defRPr>
            </a:pPr>
            <a:r>
              <a:t>Total frame length: 44 + 16 (data) = 60 bits</a:t>
            </a:r>
          </a:p>
          <a:p>
            <a:pPr>
              <a:spcAft>
                <a:spcPts val="1000"/>
              </a:spcAft>
              <a:defRPr sz="1800">
                <a:solidFill>
                  <a:srgbClr val="333333"/>
                </a:solidFill>
              </a:defRPr>
            </a:pPr>
            <a:r>
              <a:t>At 500 kbps: Transmission time = 60 bits / 500,000 bps = 0.12 ms = 120 microseconds</a:t>
            </a:r>
          </a:p>
          <a:p>
            <a:pPr>
              <a:spcAft>
                <a:spcPts val="1000"/>
              </a:spcAft>
              <a:defRPr sz="1800">
                <a:solidFill>
                  <a:srgbClr val="333333"/>
                </a:solidFill>
              </a:defRPr>
            </a:pPr>
            <a:r>
              <a:t>Instructor Narration (continued):</a:t>
            </a:r>
          </a:p>
          <a:p>
            <a:pPr>
              <a:spcAft>
                <a:spcPts val="1000"/>
              </a:spcAft>
              <a:defRPr sz="1800">
                <a:solidFill>
                  <a:srgbClr val="333333"/>
                </a:solidFill>
              </a:defRPr>
            </a:pPr>
            <a:r>
              <a:t>'CAN messages are incredibly compact. In 120 microseconds, you transmit engine RPM to every ECU in the vehicle. For comparison, this sentence takes about 2 seconds to speak—in that time, CAN transmits over 8,000 messages!'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9-15: CAN Protocol Details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9-15 would cover:</a:t>
            </a:r>
          </a:p>
          <a:p>
            <a:pPr>
              <a:spcAft>
                <a:spcPts val="600"/>
              </a:spcAft>
              <a:defRPr sz="1800">
                <a:solidFill>
                  <a:srgbClr val="333333"/>
                </a:solidFill>
              </a:defRPr>
            </a:pPr>
            <a:r>
              <a:t>Slide 9: Message types (Data, Remote, Error, Overload)</a:t>
            </a:r>
          </a:p>
          <a:p>
            <a:pPr>
              <a:spcAft>
                <a:spcPts val="600"/>
              </a:spcAft>
              <a:defRPr sz="1800">
                <a:solidFill>
                  <a:srgbClr val="333333"/>
                </a:solidFill>
              </a:defRPr>
            </a:pPr>
            <a:r>
              <a:t>Slide 10: Bit stuffing (prevent long strings of identical bits)</a:t>
            </a:r>
          </a:p>
          <a:p>
            <a:pPr>
              <a:spcAft>
                <a:spcPts val="600"/>
              </a:spcAft>
              <a:defRPr sz="1800">
                <a:solidFill>
                  <a:srgbClr val="333333"/>
                </a:solidFill>
              </a:defRPr>
            </a:pPr>
            <a:r>
              <a:t>Slide 11-12: Arbitration (how ECUs resolve simultaneous transmission)</a:t>
            </a:r>
          </a:p>
          <a:p>
            <a:pPr>
              <a:spcAft>
                <a:spcPts val="600"/>
              </a:spcAft>
              <a:defRPr sz="1800">
                <a:solidFill>
                  <a:srgbClr val="333333"/>
                </a:solidFill>
              </a:defRPr>
            </a:pPr>
            <a:r>
              <a:t>Slide 13: Error detection mechanisms (5 types)</a:t>
            </a:r>
          </a:p>
          <a:p>
            <a:pPr>
              <a:spcAft>
                <a:spcPts val="600"/>
              </a:spcAft>
              <a:defRPr sz="1800">
                <a:solidFill>
                  <a:srgbClr val="333333"/>
                </a:solidFill>
              </a:defRPr>
            </a:pPr>
            <a:r>
              <a:t>Slide 14: Fault confinement (error counters, node states)</a:t>
            </a:r>
          </a:p>
          <a:p>
            <a:pPr>
              <a:spcAft>
                <a:spcPts val="600"/>
              </a:spcAft>
              <a:defRPr sz="1800">
                <a:solidFill>
                  <a:srgbClr val="333333"/>
                </a:solidFill>
              </a:defRPr>
            </a:pPr>
            <a:r>
              <a:t>Slide 15: CAN bus load calculation example]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3: RISING ACTION - "CAN Operation &amp; Reliability</a:t>
            </a:r>
          </a:p>
        </p:txBody>
      </p:sp>
      <p:sp>
        <p:nvSpPr>
          <p:cNvPr id="3" name="Subtitle 2"/>
          <p:cNvSpPr>
            <a:spLocks noGrp="1"/>
          </p:cNvSpPr>
          <p:nvPr>
            <p:ph type="subTitle"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CAN Arbitration - Non-Destructive Bus Access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the clever part: CAN allows multiple ECUs to start transmitting simultaneously without collision.</a:t>
            </a:r>
          </a:p>
          <a:p>
            <a:pPr>
              <a:spcAft>
                <a:spcPts val="1000"/>
              </a:spcAft>
              <a:defRPr sz="1800">
                <a:solidFill>
                  <a:srgbClr val="333333"/>
                </a:solidFill>
              </a:defRPr>
            </a:pPr>
            <a:r>
              <a:t>THE SCENARIO:</a:t>
            </a:r>
          </a:p>
          <a:p>
            <a:pPr>
              <a:spcAft>
                <a:spcPts val="1000"/>
              </a:spcAft>
              <a:defRPr sz="1800">
                <a:solidFill>
                  <a:srgbClr val="333333"/>
                </a:solidFill>
              </a:defRPr>
            </a:pPr>
            <a:r>
              <a:t>Timing: — Time = 0 μs: Bus is idle (all recessive)</a:t>
            </a:r>
          </a:p>
          <a:p>
            <a:pPr>
              <a:spcAft>
                <a:spcPts val="600"/>
              </a:spcAft>
              <a:defRPr sz="1800">
                <a:solidFill>
                  <a:srgbClr val="333333"/>
                </a:solidFill>
              </a:defRPr>
            </a:pPr>
            <a:r>
              <a:t>Three ECUs want to transmit: — ECU-A: Message ID = 0x100 (00100000000)</a:t>
            </a:r>
          </a:p>
          <a:p>
            <a:pPr>
              <a:spcAft>
                <a:spcPts val="600"/>
              </a:spcAft>
              <a:defRPr sz="1800">
                <a:solidFill>
                  <a:srgbClr val="333333"/>
                </a:solidFill>
              </a:defRPr>
            </a:pPr>
            <a:r>
              <a:t>ECU-B: Message ID = 0x150 (00101010000)</a:t>
            </a:r>
          </a:p>
          <a:p>
            <a:pPr>
              <a:spcAft>
                <a:spcPts val="600"/>
              </a:spcAft>
              <a:defRPr sz="1800">
                <a:solidFill>
                  <a:srgbClr val="333333"/>
                </a:solidFill>
              </a:defRPr>
            </a:pPr>
            <a:r>
              <a:t>ECU-C: Message ID = 0x200 (01000000000)</a:t>
            </a:r>
          </a:p>
          <a:p>
            <a:pPr>
              <a:spcAft>
                <a:spcPts val="1000"/>
              </a:spcAft>
              <a:defRPr sz="1800">
                <a:solidFill>
                  <a:srgbClr val="333333"/>
                </a:solidFill>
              </a:defRPr>
            </a:pPr>
            <a:r>
              <a:t>Arbitration Process (Bit-by-Bit):</a:t>
            </a:r>
          </a:p>
          <a:p>
            <a:pPr>
              <a:spcAft>
                <a:spcPts val="1000"/>
              </a:spcAft>
              <a:defRPr sz="1800">
                <a:solidFill>
                  <a:srgbClr val="333333"/>
                </a:solidFill>
              </a:defRPr>
            </a:pPr>
            <a:r>
              <a:t>Bit 0 (SOF): — All three ECUs transmit: Dominant (0) — All see dominant on bus</a:t>
            </a:r>
          </a:p>
          <a:p>
            <a:pPr>
              <a:spcAft>
                <a:spcPts val="600"/>
              </a:spcAft>
              <a:defRPr sz="1800">
                <a:solidFill>
                  <a:srgbClr val="333333"/>
                </a:solidFill>
              </a:defRPr>
            </a:pPr>
            <a:r>
              <a:t>Continue transmitting</a:t>
            </a:r>
          </a:p>
          <a:p>
            <a:pPr>
              <a:spcAft>
                <a:spcPts val="1000"/>
              </a:spcAft>
              <a:defRPr sz="1800">
                <a:solidFill>
                  <a:srgbClr val="333333"/>
                </a:solidFill>
              </a:defRPr>
            </a:pPr>
            <a:r>
              <a:t>Bit 1 (ID bit 10 - MSB): — ECU-A transmits: 0 (dominant)</a:t>
            </a:r>
          </a:p>
          <a:p>
            <a:pPr>
              <a:spcAft>
                <a:spcPts val="600"/>
              </a:spcAft>
              <a:defRPr sz="1800">
                <a:solidFill>
                  <a:srgbClr val="333333"/>
                </a:solidFill>
              </a:defRPr>
            </a:pPr>
            <a:r>
              <a:t>ECU-B transmits: 0 (dominant)</a:t>
            </a:r>
          </a:p>
          <a:p>
            <a:pPr>
              <a:spcAft>
                <a:spcPts val="600"/>
              </a:spcAft>
              <a:defRPr sz="1800">
                <a:solidFill>
                  <a:srgbClr val="333333"/>
                </a:solidFill>
              </a:defRPr>
            </a:pPr>
            <a:r>
              <a:t>ECU-C transmits: 0 (dominant)</a:t>
            </a:r>
          </a:p>
          <a:p>
            <a:pPr>
              <a:spcAft>
                <a:spcPts val="600"/>
              </a:spcAft>
              <a:defRPr sz="1800">
                <a:solidFill>
                  <a:srgbClr val="333333"/>
                </a:solidFill>
              </a:defRPr>
            </a:pPr>
            <a:r>
              <a:t>Bus state: Dominant</a:t>
            </a:r>
          </a:p>
          <a:p>
            <a:pPr>
              <a:spcAft>
                <a:spcPts val="600"/>
              </a:spcAft>
              <a:defRPr sz="1800">
                <a:solidFill>
                  <a:srgbClr val="333333"/>
                </a:solidFill>
              </a:defRPr>
            </a:pPr>
            <a:r>
              <a:t>All continue</a:t>
            </a:r>
          </a:p>
          <a:p>
            <a:pPr>
              <a:spcAft>
                <a:spcPts val="1000"/>
              </a:spcAft>
              <a:defRPr sz="1800">
                <a:solidFill>
                  <a:srgbClr val="333333"/>
                </a:solidFill>
              </a:defRPr>
            </a:pPr>
            <a:r>
              <a:t>Bit 2 (ID bit 9): — ECU-A transmits: 0 (dominant)</a:t>
            </a:r>
          </a:p>
          <a:p>
            <a:pPr>
              <a:spcAft>
                <a:spcPts val="600"/>
              </a:spcAft>
              <a:defRPr sz="1800">
                <a:solidFill>
                  <a:srgbClr val="333333"/>
                </a:solidFill>
              </a:defRPr>
            </a:pPr>
            <a:r>
              <a:t>ECU-B transmits: 0 (dominant)</a:t>
            </a:r>
          </a:p>
          <a:p>
            <a:pPr>
              <a:spcAft>
                <a:spcPts val="600"/>
              </a:spcAft>
              <a:defRPr sz="1800">
                <a:solidFill>
                  <a:srgbClr val="333333"/>
                </a:solidFill>
              </a:defRPr>
            </a:pPr>
            <a:r>
              <a:t>ECU-C transmits: 1 (recessive)</a:t>
            </a:r>
          </a:p>
          <a:p>
            <a:pPr>
              <a:spcAft>
                <a:spcPts val="600"/>
              </a:spcAft>
              <a:defRPr sz="1800">
                <a:solidFill>
                  <a:srgbClr val="333333"/>
                </a:solidFill>
              </a:defRPr>
            </a:pPr>
            <a:r>
              <a:t>Bus state: Dominant (dominant wins over recessive)</a:t>
            </a:r>
          </a:p>
          <a:p>
            <a:pPr>
              <a:spcAft>
                <a:spcPts val="600"/>
              </a:spcAft>
              <a:defRPr sz="1800">
                <a:solidFill>
                  <a:srgbClr val="333333"/>
                </a:solidFill>
              </a:defRPr>
            </a:pPr>
            <a:r>
              <a:t>ECU-C: "I transmitted 1 but see 0 on bus → someone else has priority → I stop transmitting and listen</a:t>
            </a:r>
          </a:p>
          <a:p>
            <a:pPr>
              <a:spcAft>
                <a:spcPts val="600"/>
              </a:spcAft>
              <a:defRPr sz="1800">
                <a:solidFill>
                  <a:srgbClr val="333333"/>
                </a:solidFill>
              </a:defRPr>
            </a:pPr>
            <a:r>
              <a:t>ECU-A and ECU-B continue</a:t>
            </a:r>
          </a:p>
          <a:p>
            <a:pPr>
              <a:spcAft>
                <a:spcPts val="1000"/>
              </a:spcAft>
              <a:defRPr sz="1800">
                <a:solidFill>
                  <a:srgbClr val="333333"/>
                </a:solidFill>
              </a:defRPr>
            </a:pPr>
            <a:r>
              <a:t>Bit 3 (ID bit 8): — ECU-A transmits: 1 (recessive)</a:t>
            </a:r>
          </a:p>
          <a:p>
            <a:pPr>
              <a:spcAft>
                <a:spcPts val="600"/>
              </a:spcAft>
              <a:defRPr sz="1800">
                <a:solidFill>
                  <a:srgbClr val="333333"/>
                </a:solidFill>
              </a:defRPr>
            </a:pPr>
            <a:r>
              <a:t>ECU-B transmits: 1 (recessive)</a:t>
            </a:r>
          </a:p>
          <a:p>
            <a:pPr>
              <a:spcAft>
                <a:spcPts val="600"/>
              </a:spcAft>
              <a:defRPr sz="1800">
                <a:solidFill>
                  <a:srgbClr val="333333"/>
                </a:solidFill>
              </a:defRPr>
            </a:pPr>
            <a:r>
              <a:t>Bus state: Recessive</a:t>
            </a:r>
          </a:p>
          <a:p>
            <a:pPr>
              <a:spcAft>
                <a:spcPts val="600"/>
              </a:spcAft>
              <a:defRPr sz="1800">
                <a:solidFill>
                  <a:srgbClr val="333333"/>
                </a:solidFill>
              </a:defRPr>
            </a:pPr>
            <a:r>
              <a:t>Both continue</a:t>
            </a:r>
          </a:p>
          <a:p>
            <a:pPr>
              <a:spcAft>
                <a:spcPts val="1000"/>
              </a:spcAft>
              <a:defRPr sz="1800">
                <a:solidFill>
                  <a:srgbClr val="333333"/>
                </a:solidFill>
              </a:defRPr>
            </a:pPr>
            <a:r>
              <a:t>Bit 4 (ID bit 7): — ECU-A transmits: 0 (dominant)</a:t>
            </a:r>
          </a:p>
          <a:p>
            <a:pPr>
              <a:spcAft>
                <a:spcPts val="600"/>
              </a:spcAft>
              <a:defRPr sz="1800">
                <a:solidFill>
                  <a:srgbClr val="333333"/>
                </a:solidFill>
              </a:defRPr>
            </a:pPr>
            <a:r>
              <a:t>ECU-B transmits: 0 (dominant)</a:t>
            </a:r>
          </a:p>
          <a:p>
            <a:pPr>
              <a:spcAft>
                <a:spcPts val="600"/>
              </a:spcAft>
              <a:defRPr sz="1800">
                <a:solidFill>
                  <a:srgbClr val="333333"/>
                </a:solidFill>
              </a:defRPr>
            </a:pPr>
            <a:r>
              <a:t>Both continue</a:t>
            </a:r>
          </a:p>
          <a:p>
            <a:pPr>
              <a:spcAft>
                <a:spcPts val="1000"/>
              </a:spcAft>
              <a:defRPr sz="1800">
                <a:solidFill>
                  <a:srgbClr val="333333"/>
                </a:solidFill>
              </a:defRPr>
            </a:pPr>
            <a:r>
              <a:t>Bit 5 (ID bit 6): — ECU-A transmits: 0 (dominant)</a:t>
            </a:r>
          </a:p>
          <a:p>
            <a:pPr>
              <a:spcAft>
                <a:spcPts val="600"/>
              </a:spcAft>
              <a:defRPr sz="1800">
                <a:solidFill>
                  <a:srgbClr val="333333"/>
                </a:solidFill>
              </a:defRPr>
            </a:pPr>
            <a:r>
              <a:t>ECU-B transmits: 1 (recessive)</a:t>
            </a:r>
          </a:p>
          <a:p>
            <a:pPr>
              <a:spcAft>
                <a:spcPts val="600"/>
              </a:spcAft>
              <a:defRPr sz="1800">
                <a:solidFill>
                  <a:srgbClr val="333333"/>
                </a:solidFill>
              </a:defRPr>
            </a:pPr>
            <a:r>
              <a:t>Bus state: Dominant</a:t>
            </a:r>
          </a:p>
          <a:p>
            <a:pPr>
              <a:spcAft>
                <a:spcPts val="600"/>
              </a:spcAft>
              <a:defRPr sz="1800">
                <a:solidFill>
                  <a:srgbClr val="333333"/>
                </a:solidFill>
              </a:defRPr>
            </a:pPr>
            <a:r>
              <a:t>ECU-B: "I transmitted 1 but see 0 → ECU-A has priority → I stop</a:t>
            </a:r>
          </a:p>
          <a:p>
            <a:pPr>
              <a:spcAft>
                <a:spcPts val="600"/>
              </a:spcAft>
              <a:defRPr sz="1800">
                <a:solidFill>
                  <a:srgbClr val="333333"/>
                </a:solidFill>
              </a:defRPr>
            </a:pPr>
            <a:r>
              <a:t>ECU-A wins arbitration, continues transmitting entire message —--</a:t>
            </a:r>
          </a:p>
          <a:p>
            <a:pPr>
              <a:spcAft>
                <a:spcPts val="1000"/>
              </a:spcAft>
              <a:defRPr sz="1800">
                <a:solidFill>
                  <a:srgbClr val="333333"/>
                </a:solidFill>
              </a:defRPr>
            </a:pPr>
            <a:r>
              <a:t>KEY PRINCIPLE:</a:t>
            </a:r>
          </a:p>
          <a:p>
            <a:pPr>
              <a:spcAft>
                <a:spcPts val="1000"/>
              </a:spcAft>
              <a:defRPr sz="1800">
                <a:solidFill>
                  <a:srgbClr val="333333"/>
                </a:solidFill>
              </a:defRPr>
            </a:pPr>
            <a:r>
              <a:t>Wired-AND Logic: — If ANY ECU transmits dominant (0), bus is dominant</a:t>
            </a:r>
          </a:p>
          <a:p>
            <a:pPr>
              <a:spcAft>
                <a:spcPts val="600"/>
              </a:spcAft>
              <a:defRPr sz="1800">
                <a:solidFill>
                  <a:srgbClr val="333333"/>
                </a:solidFill>
              </a:defRPr>
            </a:pPr>
            <a:r>
              <a:t>All ECUs read bus state</a:t>
            </a:r>
          </a:p>
          <a:p>
            <a:pPr>
              <a:spcAft>
                <a:spcPts val="600"/>
              </a:spcAft>
              <a:defRPr sz="1800">
                <a:solidFill>
                  <a:srgbClr val="333333"/>
                </a:solidFill>
              </a:defRPr>
            </a:pPr>
            <a:r>
              <a:t>If ECU transmits recessive (1) but reads dominant (0) → Lost arbitration, stop immediately</a:t>
            </a:r>
          </a:p>
          <a:p>
            <a:pPr>
              <a:spcAft>
                <a:spcPts val="1000"/>
              </a:spcAft>
              <a:defRPr sz="1800">
                <a:solidFill>
                  <a:srgbClr val="333333"/>
                </a:solidFill>
              </a:defRPr>
            </a:pPr>
            <a:r>
              <a:t>Result: — Lower ID = Higher Priority (more zeros early in ID = win arbitration)</a:t>
            </a:r>
          </a:p>
          <a:p>
            <a:pPr>
              <a:spcAft>
                <a:spcPts val="600"/>
              </a:spcAft>
              <a:defRPr sz="1800">
                <a:solidFill>
                  <a:srgbClr val="333333"/>
                </a:solidFill>
              </a:defRPr>
            </a:pPr>
            <a:r>
              <a:t>Non-Destructive: No data lost (losing ECUs retry after winner finishes)</a:t>
            </a:r>
          </a:p>
          <a:p>
            <a:pPr>
              <a:spcAft>
                <a:spcPts val="600"/>
              </a:spcAft>
              <a:defRPr sz="1800">
                <a:solidFill>
                  <a:srgbClr val="333333"/>
                </a:solidFill>
              </a:defRPr>
            </a:pPr>
            <a:r>
              <a:t>Deterministic: Highest-priority message always wins</a:t>
            </a:r>
          </a:p>
          <a:p>
            <a:pPr>
              <a:spcAft>
                <a:spcPts val="1000"/>
              </a:spcAft>
              <a:defRPr sz="1800">
                <a:solidFill>
                  <a:srgbClr val="333333"/>
                </a:solidFill>
              </a:defRPr>
            </a:pPr>
            <a:r>
              <a:t>Priority Assignment:</a:t>
            </a:r>
          </a:p>
          <a:p>
            <a:pPr>
              <a:spcAft>
                <a:spcPts val="1000"/>
              </a:spcAft>
              <a:defRPr sz="1800">
                <a:solidFill>
                  <a:srgbClr val="333333"/>
                </a:solidFill>
              </a:defRPr>
            </a:pPr>
            <a:r>
              <a:t>Critical Messages (Low ID, High Priority): — 0x000-0x0FF: Safety-critical (ABS, airbag, ESC)</a:t>
            </a:r>
          </a:p>
          <a:p>
            <a:pPr>
              <a:spcAft>
                <a:spcPts val="600"/>
              </a:spcAft>
              <a:defRPr sz="1800">
                <a:solidFill>
                  <a:srgbClr val="333333"/>
                </a:solidFill>
              </a:defRPr>
            </a:pPr>
            <a:r>
              <a:t>0x100-0x1FF: Powertrain (engine, transmission)</a:t>
            </a:r>
          </a:p>
          <a:p>
            <a:pPr>
              <a:spcAft>
                <a:spcPts val="600"/>
              </a:spcAft>
              <a:defRPr sz="1800">
                <a:solidFill>
                  <a:srgbClr val="333333"/>
                </a:solidFill>
              </a:defRPr>
            </a:pPr>
            <a:r>
              <a:t>0x200-0x3FF: Chassis (steering, suspension)</a:t>
            </a:r>
          </a:p>
          <a:p>
            <a:pPr>
              <a:spcAft>
                <a:spcPts val="1000"/>
              </a:spcAft>
              <a:defRPr sz="1800">
                <a:solidFill>
                  <a:srgbClr val="333333"/>
                </a:solidFill>
              </a:defRPr>
            </a:pPr>
            <a:r>
              <a:t>Non-Critical Messages (High ID, Low Priority): — 0x400-0x5FF: Body (lights, windows, mirrors)</a:t>
            </a:r>
          </a:p>
          <a:p>
            <a:pPr>
              <a:spcAft>
                <a:spcPts val="600"/>
              </a:spcAft>
              <a:defRPr sz="1800">
                <a:solidFill>
                  <a:srgbClr val="333333"/>
                </a:solidFill>
              </a:defRPr>
            </a:pPr>
            <a:r>
              <a:t>0x600-0x7FF: Comfort (climate, seats, entertainment)</a:t>
            </a:r>
          </a:p>
          <a:p>
            <a:pPr>
              <a:spcAft>
                <a:spcPts val="1000"/>
              </a:spcAft>
              <a:defRPr sz="1800">
                <a:solidFill>
                  <a:srgbClr val="333333"/>
                </a:solidFill>
              </a:defRPr>
            </a:pPr>
            <a:r>
              <a:t>Example: — ABS urgent message (ID=0x050) vs Climate control (ID=0x650)</a:t>
            </a:r>
          </a:p>
          <a:p>
            <a:pPr>
              <a:spcAft>
                <a:spcPts val="600"/>
              </a:spcAft>
              <a:defRPr sz="1800">
                <a:solidFill>
                  <a:srgbClr val="333333"/>
                </a:solidFill>
              </a:defRPr>
            </a:pPr>
            <a:r>
              <a:t>Both transmit simultaneously</a:t>
            </a:r>
          </a:p>
          <a:p>
            <a:pPr>
              <a:spcAft>
                <a:spcPts val="600"/>
              </a:spcAft>
              <a:defRPr sz="1800">
                <a:solidFill>
                  <a:srgbClr val="333333"/>
                </a:solidFill>
              </a:defRPr>
            </a:pPr>
            <a:r>
              <a:t>ABS wins (lower ID)</a:t>
            </a:r>
          </a:p>
          <a:p>
            <a:pPr>
              <a:spcAft>
                <a:spcPts val="600"/>
              </a:spcAft>
              <a:defRPr sz="1800">
                <a:solidFill>
                  <a:srgbClr val="333333"/>
                </a:solidFill>
              </a:defRPr>
            </a:pPr>
            <a:r>
              <a:t>Climate control waits ~200 μs, retries</a:t>
            </a:r>
          </a:p>
          <a:p>
            <a:pPr>
              <a:spcAft>
                <a:spcPts val="600"/>
              </a:spcAft>
              <a:defRPr sz="1800">
                <a:solidFill>
                  <a:srgbClr val="333333"/>
                </a:solidFill>
              </a:defRPr>
            </a:pPr>
            <a:r>
              <a:t>Safety always prioritized automatically</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arbitration is genius. No central controller, no scheduling, no collisions. Pure distributed intelligence. If an airbag needs to broadcast deployment command, it gets bus access within microseconds, even if 20 other ECUs are trying to talk.'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17-21: Error Detection and Fault Tolerance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17-21 would cover:</a:t>
            </a:r>
          </a:p>
          <a:p>
            <a:pPr>
              <a:spcAft>
                <a:spcPts val="600"/>
              </a:spcAft>
              <a:defRPr sz="1800">
                <a:solidFill>
                  <a:srgbClr val="333333"/>
                </a:solidFill>
              </a:defRPr>
            </a:pPr>
            <a:r>
              <a:t>Slide 17: Five error detection mechanisms (Bit monitoring, Bit stuffing check, Frame check, ACK check, CRC check)</a:t>
            </a:r>
          </a:p>
          <a:p>
            <a:pPr>
              <a:spcAft>
                <a:spcPts val="600"/>
              </a:spcAft>
              <a:defRPr sz="1800">
                <a:solidFill>
                  <a:srgbClr val="333333"/>
                </a:solidFill>
              </a:defRPr>
            </a:pPr>
            <a:r>
              <a:t>Slide 18: Error counters and node states (Error-Active, Error-Passive, Bus-Off)</a:t>
            </a:r>
          </a:p>
          <a:p>
            <a:pPr>
              <a:spcAft>
                <a:spcPts val="600"/>
              </a:spcAft>
              <a:defRPr sz="1800">
                <a:solidFill>
                  <a:srgbClr val="333333"/>
                </a:solidFill>
              </a:defRPr>
            </a:pPr>
            <a:r>
              <a:t>Slide 19: Fault confinement (preventing one faulty ECU from disrupting entire bus)</a:t>
            </a:r>
          </a:p>
          <a:p>
            <a:pPr>
              <a:spcAft>
                <a:spcPts val="600"/>
              </a:spcAft>
              <a:defRPr sz="1800">
                <a:solidFill>
                  <a:srgbClr val="333333"/>
                </a:solidFill>
              </a:defRPr>
            </a:pPr>
            <a:r>
              <a:t>Slide 20: Real-world reliability (automotive CAN achieves &lt;10^-9 bit error rate)</a:t>
            </a:r>
          </a:p>
          <a:p>
            <a:pPr>
              <a:spcAft>
                <a:spcPts val="600"/>
              </a:spcAft>
              <a:defRPr sz="1800">
                <a:solidFill>
                  <a:srgbClr val="333333"/>
                </a:solidFill>
              </a:defRPr>
            </a:pPr>
            <a:r>
              <a:t>Slide 21: CAN bus load calculation and bandwidth management]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4: CLIMAX - "Complete Network Architecture</a:t>
            </a:r>
          </a:p>
        </p:txBody>
      </p:sp>
      <p:sp>
        <p:nvSpPr>
          <p:cNvPr id="3" name="Subtitle 2"/>
          <p:cNvSpPr>
            <a:spLocks noGrp="1"/>
          </p:cNvSpPr>
          <p:nvPr>
            <p:ph type="subTitle"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Multi-Bus Architecture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Real vehicles use multiple CAN buses with different speeds.</a:t>
            </a:r>
          </a:p>
          <a:p>
            <a:pPr>
              <a:spcAft>
                <a:spcPts val="1000"/>
              </a:spcAft>
              <a:defRPr sz="1800">
                <a:solidFill>
                  <a:srgbClr val="333333"/>
                </a:solidFill>
              </a:defRPr>
            </a:pPr>
            <a:r>
              <a:t>TYPICAL ARCHITECTURE:</a:t>
            </a:r>
          </a:p>
          <a:p>
            <a:pPr>
              <a:spcAft>
                <a:spcPts val="1000"/>
              </a:spcAft>
              <a:defRPr sz="1800">
                <a:solidFill>
                  <a:srgbClr val="333333"/>
                </a:solidFill>
              </a:defRPr>
            </a:pPr>
            <a:r>
              <a:t>1. POWERTRAIN CAN (High-Speed: 500 kbps) — ECUs: Engine, Transmission, ABS/ESC, EPAS</a:t>
            </a:r>
          </a:p>
          <a:p>
            <a:pPr>
              <a:spcAft>
                <a:spcPts val="600"/>
              </a:spcAft>
              <a:defRPr sz="1800">
                <a:solidFill>
                  <a:srgbClr val="333333"/>
                </a:solidFill>
              </a:defRPr>
            </a:pPr>
            <a:r>
              <a:t>Why fast? Real-time control (engine-transmission coordination needs &lt;10 ms response)</a:t>
            </a:r>
          </a:p>
          <a:p>
            <a:pPr>
              <a:spcAft>
                <a:spcPts val="600"/>
              </a:spcAft>
              <a:defRPr sz="1800">
                <a:solidFill>
                  <a:srgbClr val="333333"/>
                </a:solidFill>
              </a:defRPr>
            </a:pPr>
            <a:r>
              <a:t>Message volume: 500-1,000 messages/second</a:t>
            </a:r>
          </a:p>
          <a:p>
            <a:pPr>
              <a:spcAft>
                <a:spcPts val="1000"/>
              </a:spcAft>
              <a:defRPr sz="1800">
                <a:solidFill>
                  <a:srgbClr val="333333"/>
                </a:solidFill>
              </a:defRPr>
            </a:pPr>
            <a:r>
              <a:t>2. BODY CAN (Medium-Speed: 125 kbps) — ECUs: Body Control Module, Lighting, Windows, Mirrors, Seats, Climate</a:t>
            </a:r>
          </a:p>
          <a:p>
            <a:pPr>
              <a:spcAft>
                <a:spcPts val="600"/>
              </a:spcAft>
              <a:defRPr sz="1800">
                <a:solidFill>
                  <a:srgbClr val="333333"/>
                </a:solidFill>
              </a:defRPr>
            </a:pPr>
            <a:r>
              <a:t>Why slower? Not time-critical (0.5s delay to turn on light is acceptable)</a:t>
            </a:r>
          </a:p>
          <a:p>
            <a:pPr>
              <a:spcAft>
                <a:spcPts val="600"/>
              </a:spcAft>
              <a:defRPr sz="1800">
                <a:solidFill>
                  <a:srgbClr val="333333"/>
                </a:solidFill>
              </a:defRPr>
            </a:pPr>
            <a:r>
              <a:t>Message volume: 200-500 messages/second</a:t>
            </a:r>
          </a:p>
          <a:p>
            <a:pPr>
              <a:spcAft>
                <a:spcPts val="1000"/>
              </a:spcAft>
              <a:defRPr sz="1800">
                <a:solidFill>
                  <a:srgbClr val="333333"/>
                </a:solidFill>
              </a:defRPr>
            </a:pPr>
            <a:r>
              <a:t>3. INFOTAINMENT CAN (Medium-Speed: 125 kbps) — ECUs: Radio, Navigation, Display, Phone, Voice control</a:t>
            </a:r>
          </a:p>
          <a:p>
            <a:pPr>
              <a:spcAft>
                <a:spcPts val="600"/>
              </a:spcAft>
              <a:defRPr sz="1800">
                <a:solidFill>
                  <a:srgbClr val="333333"/>
                </a:solidFill>
              </a:defRPr>
            </a:pPr>
            <a:r>
              <a:t>Why separate? Isolate non-critical systems from safety systems</a:t>
            </a:r>
          </a:p>
          <a:p>
            <a:pPr>
              <a:spcAft>
                <a:spcPts val="600"/>
              </a:spcAft>
              <a:defRPr sz="1800">
                <a:solidFill>
                  <a:srgbClr val="333333"/>
                </a:solidFill>
              </a:defRPr>
            </a:pPr>
            <a:r>
              <a:t>Message volume: 100-300 messages/second</a:t>
            </a:r>
          </a:p>
          <a:p>
            <a:pPr>
              <a:spcAft>
                <a:spcPts val="1000"/>
              </a:spcAft>
              <a:defRPr sz="1800">
                <a:solidFill>
                  <a:srgbClr val="333333"/>
                </a:solidFill>
              </a:defRPr>
            </a:pPr>
            <a:r>
              <a:t>4. DIAGNOSTIC CAN (High-Speed: 500 kbps) — Purpose: OBD-II connector (external scan tool access)</a:t>
            </a:r>
          </a:p>
          <a:p>
            <a:pPr>
              <a:spcAft>
                <a:spcPts val="600"/>
              </a:spcAft>
              <a:defRPr sz="1800">
                <a:solidFill>
                  <a:srgbClr val="333333"/>
                </a:solidFill>
              </a:defRPr>
            </a:pPr>
            <a:r>
              <a:t>Connects to: All buses via gateway</a:t>
            </a:r>
          </a:p>
          <a:p>
            <a:pPr>
              <a:spcAft>
                <a:spcPts val="600"/>
              </a:spcAft>
              <a:defRPr sz="1800">
                <a:solidFill>
                  <a:srgbClr val="333333"/>
                </a:solidFill>
              </a:defRPr>
            </a:pPr>
            <a:r>
              <a:t>Why? Technician needs access to ALL ECUs for fault diagnosis</a:t>
            </a:r>
          </a:p>
          <a:p>
            <a:pPr>
              <a:spcAft>
                <a:spcPts val="1000"/>
              </a:spcAft>
              <a:defRPr sz="1800">
                <a:solidFill>
                  <a:srgbClr val="333333"/>
                </a:solidFill>
              </a:defRPr>
            </a:pPr>
            <a:r>
              <a:t>5. LIN BUSES (Low-Speed: 19.2 kbps) — Purpose: Simple devices (window switches, mirror motors, seat controls)</a:t>
            </a:r>
          </a:p>
          <a:p>
            <a:pPr>
              <a:spcAft>
                <a:spcPts val="600"/>
              </a:spcAft>
              <a:defRPr sz="1800">
                <a:solidFill>
                  <a:srgbClr val="333333"/>
                </a:solidFill>
              </a:defRPr>
            </a:pPr>
            <a:r>
              <a:t>Why LIN? Much cheaper than CAN for low-bandwidth applications</a:t>
            </a:r>
          </a:p>
          <a:p>
            <a:pPr>
              <a:spcAft>
                <a:spcPts val="600"/>
              </a:spcAft>
              <a:defRPr sz="1800">
                <a:solidFill>
                  <a:srgbClr val="333333"/>
                </a:solidFill>
              </a:defRPr>
            </a:pPr>
            <a:r>
              <a:t>Typical: 5-10 LIN buses controlled by Body Control Module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GATEWAY ECU:</a:t>
            </a:r>
          </a:p>
          <a:p>
            <a:pPr>
              <a:spcAft>
                <a:spcPts val="1000"/>
              </a:spcAft>
              <a:defRPr sz="1800">
                <a:solidFill>
                  <a:srgbClr val="333333"/>
                </a:solidFill>
              </a:defRPr>
            </a:pPr>
            <a:r>
              <a:t>Function: Bridge between different buses</a:t>
            </a:r>
          </a:p>
          <a:p>
            <a:pPr>
              <a:spcAft>
                <a:spcPts val="1000"/>
              </a:spcAft>
              <a:defRPr sz="1800">
                <a:solidFill>
                  <a:srgbClr val="333333"/>
                </a:solidFill>
              </a:defRPr>
            </a:pPr>
            <a:r>
              <a:t>Example: — Instrument cluster on Body CAN needs engine RPM (on Powertrain CAN)</a:t>
            </a:r>
          </a:p>
          <a:p>
            <a:pPr>
              <a:spcAft>
                <a:spcPts val="600"/>
              </a:spcAft>
              <a:defRPr sz="1800">
                <a:solidFill>
                  <a:srgbClr val="333333"/>
                </a:solidFill>
              </a:defRPr>
            </a:pPr>
            <a:r>
              <a:t>Gateway receives RPM message on Powertrain CAN (ID=0x100)</a:t>
            </a:r>
          </a:p>
          <a:p>
            <a:pPr>
              <a:spcAft>
                <a:spcPts val="600"/>
              </a:spcAft>
              <a:defRPr sz="1800">
                <a:solidFill>
                  <a:srgbClr val="333333"/>
                </a:solidFill>
              </a:defRPr>
            </a:pPr>
            <a:r>
              <a:t>Gateway retransmits same data on Body CAN (ID=0x500)</a:t>
            </a:r>
          </a:p>
          <a:p>
            <a:pPr>
              <a:spcAft>
                <a:spcPts val="600"/>
              </a:spcAft>
              <a:defRPr sz="1800">
                <a:solidFill>
                  <a:srgbClr val="333333"/>
                </a:solidFill>
              </a:defRPr>
            </a:pPr>
            <a:r>
              <a:t>Instrument cluster displays RPM</a:t>
            </a:r>
          </a:p>
          <a:p>
            <a:pPr>
              <a:spcAft>
                <a:spcPts val="1000"/>
              </a:spcAft>
              <a:defRPr sz="1800">
                <a:solidFill>
                  <a:srgbClr val="333333"/>
                </a:solidFill>
              </a:defRPr>
            </a:pPr>
            <a:r>
              <a:t>Security: — Gateway filters messages (only forwards necessary data)</a:t>
            </a:r>
          </a:p>
          <a:p>
            <a:pPr>
              <a:spcAft>
                <a:spcPts val="600"/>
              </a:spcAft>
              <a:defRPr sz="1800">
                <a:solidFill>
                  <a:srgbClr val="333333"/>
                </a:solidFill>
              </a:defRPr>
            </a:pPr>
            <a:r>
              <a:t>Prevents: Infotainment CAN from sending commands to engine</a:t>
            </a:r>
          </a:p>
          <a:p>
            <a:pPr>
              <a:spcAft>
                <a:spcPts val="600"/>
              </a:spcAft>
              <a:defRPr sz="1800">
                <a:solidFill>
                  <a:srgbClr val="333333"/>
                </a:solidFill>
              </a:defRPr>
            </a:pPr>
            <a:r>
              <a:t>Protects: Critical systems from non-critical system faults</a:t>
            </a:r>
          </a:p>
          <a:p>
            <a:pPr>
              <a:spcAft>
                <a:spcPts val="1000"/>
              </a:spcAft>
              <a:defRPr sz="1800">
                <a:solidFill>
                  <a:srgbClr val="333333"/>
                </a:solidFill>
              </a:defRPr>
            </a:pPr>
            <a:r>
              <a:t>Typical Gateway Traffic: — Powertrain → Body: RPM, Speed, Coolant temp, Fuel level</a:t>
            </a:r>
          </a:p>
          <a:p>
            <a:pPr>
              <a:spcAft>
                <a:spcPts val="600"/>
              </a:spcAft>
              <a:defRPr sz="1800">
                <a:solidFill>
                  <a:srgbClr val="333333"/>
                </a:solidFill>
              </a:defRPr>
            </a:pPr>
            <a:r>
              <a:t>Body → Powertrain: Driver inputs (brake pedal, cruise control)</a:t>
            </a:r>
          </a:p>
          <a:p>
            <a:pPr>
              <a:spcAft>
                <a:spcPts val="600"/>
              </a:spcAft>
              <a:defRPr sz="1800">
                <a:solidFill>
                  <a:srgbClr val="333333"/>
                </a:solidFill>
              </a:defRPr>
            </a:pPr>
            <a:r>
              <a:t>Any → Diagnostic: All faults and diagnostic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LIN Bus - Low-Cost Alternative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LIN (Local Interconnect Network) is CAN's simpler, cheaper cousin.</a:t>
            </a:r>
          </a:p>
          <a:p>
            <a:pPr>
              <a:spcAft>
                <a:spcPts val="1000"/>
              </a:spcAft>
              <a:defRPr sz="1800">
                <a:solidFill>
                  <a:srgbClr val="333333"/>
                </a:solidFill>
              </a:defRPr>
            </a:pPr>
            <a:r>
              <a:t>COMPARISON: CAN vs LIN</a:t>
            </a:r>
          </a:p>
          <a:p>
            <a:pPr>
              <a:spcAft>
                <a:spcPts val="1000"/>
              </a:spcAft>
              <a:defRPr sz="1800">
                <a:solidFill>
                  <a:srgbClr val="333333"/>
                </a:solidFill>
              </a:defRPr>
            </a:pPr>
            <a:r>
              <a:t>| Feature | CAN Bus | LIN Bus |</a:t>
            </a:r>
          </a:p>
          <a:p>
            <a:pPr>
              <a:spcAft>
                <a:spcPts val="1000"/>
              </a:spcAft>
              <a:defRPr sz="1800">
                <a:solidFill>
                  <a:srgbClr val="333333"/>
                </a:solidFill>
              </a:defRPr>
            </a:pPr>
            <a:r>
              <a:t>|---------|---------|---------|</a:t>
            </a:r>
          </a:p>
          <a:p>
            <a:pPr>
              <a:spcAft>
                <a:spcPts val="1000"/>
              </a:spcAft>
              <a:defRPr sz="1800">
                <a:solidFill>
                  <a:srgbClr val="333333"/>
                </a:solidFill>
              </a:defRPr>
            </a:pPr>
            <a:r>
              <a:t>| Speed | 125 kbps - 1 Mbps | 1-20 kbps (typical: 19.2 kbps) |</a:t>
            </a:r>
          </a:p>
          <a:p>
            <a:pPr>
              <a:spcAft>
                <a:spcPts val="1000"/>
              </a:spcAft>
              <a:defRPr sz="1800">
                <a:solidFill>
                  <a:srgbClr val="333333"/>
                </a:solidFill>
              </a:defRPr>
            </a:pPr>
            <a:r>
              <a:t>| Topology | Multi-master (any ECU can transmit) | Single-master (one controller, multiple slaves) |</a:t>
            </a:r>
          </a:p>
          <a:p>
            <a:pPr>
              <a:spcAft>
                <a:spcPts val="1000"/>
              </a:spcAft>
              <a:defRPr sz="1800">
                <a:solidFill>
                  <a:srgbClr val="333333"/>
                </a:solidFill>
              </a:defRPr>
            </a:pPr>
            <a:r>
              <a:t>| Wiring | 2-wire (CAN-H, CAN-L) | 1-wire + ground |</a:t>
            </a:r>
          </a:p>
          <a:p>
            <a:pPr>
              <a:spcAft>
                <a:spcPts val="1000"/>
              </a:spcAft>
              <a:defRPr sz="1800">
                <a:solidFill>
                  <a:srgbClr val="333333"/>
                </a:solidFill>
              </a:defRPr>
            </a:pPr>
            <a:r>
              <a:t>| Cost per node | $3-5 | $0.50-1.00 |</a:t>
            </a:r>
          </a:p>
          <a:p>
            <a:pPr>
              <a:spcAft>
                <a:spcPts val="1000"/>
              </a:spcAft>
              <a:defRPr sz="1800">
                <a:solidFill>
                  <a:srgbClr val="333333"/>
                </a:solidFill>
              </a:defRPr>
            </a:pPr>
            <a:r>
              <a:t>| Max nodes | 64-110 | 16 |</a:t>
            </a:r>
          </a:p>
          <a:p>
            <a:pPr>
              <a:spcAft>
                <a:spcPts val="1000"/>
              </a:spcAft>
              <a:defRPr sz="1800">
                <a:solidFill>
                  <a:srgbClr val="333333"/>
                </a:solidFill>
              </a:defRPr>
            </a:pPr>
            <a:r>
              <a:t>| Use case | Real-time control | Simple switches, motors |</a:t>
            </a:r>
          </a:p>
          <a:p>
            <a:pPr>
              <a:spcAft>
                <a:spcPts val="1000"/>
              </a:spcAft>
              <a:defRPr sz="1800">
                <a:solidFill>
                  <a:srgbClr val="333333"/>
                </a:solidFill>
              </a:defRPr>
            </a:pPr>
            <a:r>
              <a:t>LIN APPLICATIONS:</a:t>
            </a:r>
          </a:p>
          <a:p>
            <a:pPr>
              <a:spcAft>
                <a:spcPts val="1000"/>
              </a:spcAft>
              <a:defRPr sz="1800">
                <a:solidFill>
                  <a:srgbClr val="333333"/>
                </a:solidFill>
              </a:defRPr>
            </a:pPr>
            <a:r>
              <a:t>Master ECU (Body Control Module): — Sends commands to slaves</a:t>
            </a:r>
          </a:p>
          <a:p>
            <a:pPr>
              <a:spcAft>
                <a:spcPts val="600"/>
              </a:spcAft>
              <a:defRPr sz="1800">
                <a:solidFill>
                  <a:srgbClr val="333333"/>
                </a:solidFill>
              </a:defRPr>
            </a:pPr>
            <a:r>
              <a:t>Schedules all communication (slaves cannot initiate)</a:t>
            </a:r>
          </a:p>
          <a:p>
            <a:pPr>
              <a:spcAft>
                <a:spcPts val="1000"/>
              </a:spcAft>
              <a:defRPr sz="1800">
                <a:solidFill>
                  <a:srgbClr val="333333"/>
                </a:solidFill>
              </a:defRPr>
            </a:pPr>
            <a:r>
              <a:t>Slave Devices: — Window motors: Up/down commands</a:t>
            </a:r>
          </a:p>
          <a:p>
            <a:pPr>
              <a:spcAft>
                <a:spcPts val="600"/>
              </a:spcAft>
              <a:defRPr sz="1800">
                <a:solidFill>
                  <a:srgbClr val="333333"/>
                </a:solidFill>
              </a:defRPr>
            </a:pPr>
            <a:r>
              <a:t>Mirror motors: Position control</a:t>
            </a:r>
          </a:p>
          <a:p>
            <a:pPr>
              <a:spcAft>
                <a:spcPts val="600"/>
              </a:spcAft>
              <a:defRPr sz="1800">
                <a:solidFill>
                  <a:srgbClr val="333333"/>
                </a:solidFill>
              </a:defRPr>
            </a:pPr>
            <a:r>
              <a:t>Seat motors: Adjust commands</a:t>
            </a:r>
          </a:p>
          <a:p>
            <a:pPr>
              <a:spcAft>
                <a:spcPts val="600"/>
              </a:spcAft>
              <a:defRPr sz="1800">
                <a:solidFill>
                  <a:srgbClr val="333333"/>
                </a:solidFill>
              </a:defRPr>
            </a:pPr>
            <a:r>
              <a:t>Door lock actuators: Lock/unlock</a:t>
            </a:r>
          </a:p>
          <a:p>
            <a:pPr>
              <a:spcAft>
                <a:spcPts val="600"/>
              </a:spcAft>
              <a:defRPr sz="1800">
                <a:solidFill>
                  <a:srgbClr val="333333"/>
                </a:solidFill>
              </a:defRPr>
            </a:pPr>
            <a:r>
              <a:t>Interior lights: On/off/dim</a:t>
            </a:r>
          </a:p>
          <a:p>
            <a:pPr>
              <a:spcAft>
                <a:spcPts val="600"/>
              </a:spcAft>
              <a:defRPr sz="1800">
                <a:solidFill>
                  <a:srgbClr val="333333"/>
                </a:solidFill>
              </a:defRPr>
            </a:pPr>
            <a:r>
              <a:t>Rain sensor: Wiper speed request</a:t>
            </a:r>
          </a:p>
          <a:p>
            <a:pPr>
              <a:spcAft>
                <a:spcPts val="1000"/>
              </a:spcAft>
              <a:defRPr sz="1800">
                <a:solidFill>
                  <a:srgbClr val="333333"/>
                </a:solidFill>
              </a:defRPr>
            </a:pPr>
            <a:r>
              <a:t>Example: Power Window Control</a:t>
            </a:r>
          </a:p>
          <a:p>
            <a:pPr>
              <a:spcAft>
                <a:spcPts val="1000"/>
              </a:spcAft>
              <a:defRPr sz="1800">
                <a:solidFill>
                  <a:srgbClr val="333333"/>
                </a:solidFill>
              </a:defRPr>
            </a:pPr>
            <a:r>
              <a:t>Hardware: — LIN bus (1 wire + ground)</a:t>
            </a:r>
          </a:p>
          <a:p>
            <a:pPr>
              <a:spcAft>
                <a:spcPts val="600"/>
              </a:spcAft>
              <a:defRPr sz="1800">
                <a:solidFill>
                  <a:srgbClr val="333333"/>
                </a:solidFill>
              </a:defRPr>
            </a:pPr>
            <a:r>
              <a:t>Body Control Module (LIN master)</a:t>
            </a:r>
          </a:p>
          <a:p>
            <a:pPr>
              <a:spcAft>
                <a:spcPts val="600"/>
              </a:spcAft>
              <a:defRPr sz="1800">
                <a:solidFill>
                  <a:srgbClr val="333333"/>
                </a:solidFill>
              </a:defRPr>
            </a:pPr>
            <a:r>
              <a:t>4 window motor modules (LIN slaves, one per door)</a:t>
            </a:r>
          </a:p>
          <a:p>
            <a:pPr>
              <a:spcAft>
                <a:spcPts val="1000"/>
              </a:spcAft>
              <a:defRPr sz="1800">
                <a:solidFill>
                  <a:srgbClr val="333333"/>
                </a:solidFill>
              </a:defRPr>
            </a:pPr>
            <a:r>
              <a:t>Operation:</a:t>
            </a:r>
          </a:p>
          <a:p>
            <a:pPr>
              <a:spcAft>
                <a:spcPts val="600"/>
              </a:spcAft>
              <a:defRPr sz="1800">
                <a:solidFill>
                  <a:srgbClr val="333333"/>
                </a:solidFill>
              </a:defRPr>
            </a:pPr>
            <a:r>
              <a:t>Driver presses window switch</a:t>
            </a:r>
          </a:p>
          <a:p>
            <a:pPr>
              <a:spcAft>
                <a:spcPts val="600"/>
              </a:spcAft>
              <a:defRPr sz="1800">
                <a:solidFill>
                  <a:srgbClr val="333333"/>
                </a:solidFill>
              </a:defRPr>
            </a:pPr>
            <a:r>
              <a:t>Switch signal → Body Control Module</a:t>
            </a:r>
          </a:p>
          <a:p>
            <a:pPr>
              <a:spcAft>
                <a:spcPts val="600"/>
              </a:spcAft>
              <a:defRPr sz="1800">
                <a:solidFill>
                  <a:srgbClr val="333333"/>
                </a:solidFill>
              </a:defRPr>
            </a:pPr>
            <a:r>
              <a:t>BCM sends LIN message: "Left-Front Window, Down, 50% speed</a:t>
            </a:r>
          </a:p>
          <a:p>
            <a:pPr>
              <a:spcAft>
                <a:spcPts val="600"/>
              </a:spcAft>
              <a:defRPr sz="1800">
                <a:solidFill>
                  <a:srgbClr val="333333"/>
                </a:solidFill>
              </a:defRPr>
            </a:pPr>
            <a:r>
              <a:t>Left-front window module receives, activates motor</a:t>
            </a:r>
          </a:p>
          <a:p>
            <a:pPr>
              <a:spcAft>
                <a:spcPts val="600"/>
              </a:spcAft>
              <a:defRPr sz="1800">
                <a:solidFill>
                  <a:srgbClr val="333333"/>
                </a:solidFill>
              </a:defRPr>
            </a:pPr>
            <a:r>
              <a:t>Window moves down</a:t>
            </a:r>
          </a:p>
          <a:p>
            <a:pPr>
              <a:spcAft>
                <a:spcPts val="600"/>
              </a:spcAft>
              <a:defRPr sz="1800">
                <a:solidFill>
                  <a:srgbClr val="333333"/>
                </a:solidFill>
              </a:defRPr>
            </a:pPr>
            <a:r>
              <a:t>BCM periodically polls: "Window position?</a:t>
            </a:r>
          </a:p>
          <a:p>
            <a:pPr>
              <a:spcAft>
                <a:spcPts val="600"/>
              </a:spcAft>
              <a:defRPr sz="1800">
                <a:solidFill>
                  <a:srgbClr val="333333"/>
                </a:solidFill>
              </a:defRPr>
            </a:pPr>
            <a:r>
              <a:t>Module responds: "80% down</a:t>
            </a:r>
          </a:p>
          <a:p>
            <a:pPr>
              <a:spcAft>
                <a:spcPts val="600"/>
              </a:spcAft>
              <a:defRPr sz="1800">
                <a:solidFill>
                  <a:srgbClr val="333333"/>
                </a:solidFill>
              </a:defRPr>
            </a:pPr>
            <a:r>
              <a:t>Process repeats until fully down</a:t>
            </a:r>
          </a:p>
          <a:p>
            <a:pPr>
              <a:spcAft>
                <a:spcPts val="1000"/>
              </a:spcAft>
              <a:defRPr sz="1800">
                <a:solidFill>
                  <a:srgbClr val="333333"/>
                </a:solidFill>
              </a:defRPr>
            </a:pPr>
            <a:r>
              <a:t>Why LIN for Windows? — Cost: $1 per motor controller vs $5 for CAN</a:t>
            </a:r>
          </a:p>
          <a:p>
            <a:pPr>
              <a:spcAft>
                <a:spcPts val="600"/>
              </a:spcAft>
              <a:defRPr sz="1800">
                <a:solidFill>
                  <a:srgbClr val="333333"/>
                </a:solidFill>
              </a:defRPr>
            </a:pPr>
            <a:r>
              <a:t>Speed sufficient: 19.2 kbps plenty for window control (not safety-critical)</a:t>
            </a:r>
          </a:p>
          <a:p>
            <a:pPr>
              <a:spcAft>
                <a:spcPts val="600"/>
              </a:spcAft>
              <a:defRPr sz="1800">
                <a:solidFill>
                  <a:srgbClr val="333333"/>
                </a:solidFill>
              </a:defRPr>
            </a:pPr>
            <a:r>
              <a:t>4 windows × $4 savings = $16 saved per vehicle</a:t>
            </a:r>
          </a:p>
          <a:p>
            <a:pPr>
              <a:spcAft>
                <a:spcPts val="1000"/>
              </a:spcAft>
              <a:defRPr sz="1800">
                <a:solidFill>
                  <a:srgbClr val="333333"/>
                </a:solidFill>
              </a:defRPr>
            </a:pPr>
            <a:r>
              <a:t>Multiply by 10 million vehicles → $160 million savings!</a:t>
            </a:r>
          </a:p>
          <a:p>
            <a:pPr>
              <a:spcAft>
                <a:spcPts val="1000"/>
              </a:spcAft>
              <a:defRPr sz="1800">
                <a:solidFill>
                  <a:srgbClr val="333333"/>
                </a:solidFill>
              </a:defRPr>
            </a:pPr>
            <a:r>
              <a:t>Instructor Narration (continued):</a:t>
            </a:r>
          </a:p>
          <a:p>
            <a:pPr>
              <a:spcAft>
                <a:spcPts val="1000"/>
              </a:spcAft>
              <a:defRPr sz="1800">
                <a:solidFill>
                  <a:srgbClr val="333333"/>
                </a:solidFill>
              </a:defRPr>
            </a:pPr>
            <a:r>
              <a:t>'LIN is automotive engineering at its finest: Identify that you don't need CAN's sophistication for simple tasks, develop simpler protocol, save billions across the industry. Every penny counts when you manufacture millions of units.'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24-27: Network Topology and Design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24-27 would cover:</a:t>
            </a:r>
          </a:p>
          <a:p>
            <a:pPr>
              <a:spcAft>
                <a:spcPts val="600"/>
              </a:spcAft>
              <a:defRPr sz="1800">
                <a:solidFill>
                  <a:srgbClr val="333333"/>
                </a:solidFill>
              </a:defRPr>
            </a:pPr>
            <a:r>
              <a:t>Slide 24: Network topology types (line, star, hybrid)</a:t>
            </a:r>
          </a:p>
          <a:p>
            <a:pPr>
              <a:spcAft>
                <a:spcPts val="600"/>
              </a:spcAft>
              <a:defRPr sz="1800">
                <a:solidFill>
                  <a:srgbClr val="333333"/>
                </a:solidFill>
              </a:defRPr>
            </a:pPr>
            <a:r>
              <a:t>Slide 25: Bus load calculation (bandwidth utilization)</a:t>
            </a:r>
          </a:p>
          <a:p>
            <a:pPr>
              <a:spcAft>
                <a:spcPts val="600"/>
              </a:spcAft>
              <a:defRPr sz="1800">
                <a:solidFill>
                  <a:srgbClr val="333333"/>
                </a:solidFill>
              </a:defRPr>
            </a:pPr>
            <a:r>
              <a:t>Slide 26: Message scheduling and timing analysis</a:t>
            </a:r>
          </a:p>
          <a:p>
            <a:pPr>
              <a:spcAft>
                <a:spcPts val="600"/>
              </a:spcAft>
              <a:defRPr sz="1800">
                <a:solidFill>
                  <a:srgbClr val="333333"/>
                </a:solidFill>
              </a:defRPr>
            </a:pPr>
            <a:r>
              <a:t>Slide 27: Network design example problem]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5: RESOLUTION - "Diagnostics &amp; Future</a:t>
            </a:r>
          </a:p>
        </p:txBody>
      </p:sp>
      <p:sp>
        <p:nvSpPr>
          <p:cNvPr id="3" name="Subtitle 2"/>
          <p:cNvSpPr>
            <a:spLocks noGrp="1"/>
          </p:cNvSpPr>
          <p:nvPr>
            <p:ph type="subTitle"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OBD-II - On-Board Diagnostics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OBD-II (On-Board Diagnostics, Second Generation) is the standardized access point to vehicle networks.</a:t>
            </a:r>
          </a:p>
          <a:p>
            <a:pPr>
              <a:spcAft>
                <a:spcPts val="1000"/>
              </a:spcAft>
              <a:defRPr sz="1800">
                <a:solidFill>
                  <a:srgbClr val="333333"/>
                </a:solidFill>
              </a:defRPr>
            </a:pPr>
            <a:r>
              <a:t>WHAT IS OBD-II?</a:t>
            </a:r>
          </a:p>
          <a:p>
            <a:pPr>
              <a:spcAft>
                <a:spcPts val="1000"/>
              </a:spcAft>
              <a:defRPr sz="1800">
                <a:solidFill>
                  <a:srgbClr val="333333"/>
                </a:solidFill>
              </a:defRPr>
            </a:pPr>
            <a:r>
              <a:t>Legal Requirement: — Mandated in USA (1996+), Europe (2001+), India (BS4: 2010+, BS6: 2020+)</a:t>
            </a:r>
          </a:p>
          <a:p>
            <a:pPr>
              <a:spcAft>
                <a:spcPts val="600"/>
              </a:spcAft>
              <a:defRPr sz="1800">
                <a:solidFill>
                  <a:srgbClr val="333333"/>
                </a:solidFill>
              </a:defRPr>
            </a:pPr>
            <a:r>
              <a:t>Purpose: Monitor emissions-related systems, store fault codes, enable repairs</a:t>
            </a:r>
          </a:p>
          <a:p>
            <a:pPr>
              <a:spcAft>
                <a:spcPts val="1000"/>
              </a:spcAft>
              <a:defRPr sz="1800">
                <a:solidFill>
                  <a:srgbClr val="333333"/>
                </a:solidFill>
              </a:defRPr>
            </a:pPr>
            <a:r>
              <a:t>Physical Interface: — 16-pin connector (standardized location: under dashboard, driver side)</a:t>
            </a:r>
          </a:p>
          <a:p>
            <a:pPr>
              <a:spcAft>
                <a:spcPts val="600"/>
              </a:spcAft>
              <a:defRPr sz="1800">
                <a:solidFill>
                  <a:srgbClr val="333333"/>
                </a:solidFill>
              </a:defRPr>
            </a:pPr>
            <a:r>
              <a:t>Pin Assignment: — Pin 4, 5: Ground</a:t>
            </a:r>
          </a:p>
          <a:p>
            <a:pPr>
              <a:spcAft>
                <a:spcPts val="600"/>
              </a:spcAft>
              <a:defRPr sz="1800">
                <a:solidFill>
                  <a:srgbClr val="333333"/>
                </a:solidFill>
              </a:defRPr>
            </a:pPr>
            <a:r>
              <a:t>Pin 16: +12V (battery power)</a:t>
            </a:r>
          </a:p>
          <a:p>
            <a:pPr>
              <a:spcAft>
                <a:spcPts val="600"/>
              </a:spcAft>
              <a:defRPr sz="1800">
                <a:solidFill>
                  <a:srgbClr val="333333"/>
                </a:solidFill>
              </a:defRPr>
            </a:pPr>
            <a:r>
              <a:t>Pin 6, 14: CAN-High, CAN-Low (500 kbps, ISO 15765)</a:t>
            </a:r>
          </a:p>
          <a:p>
            <a:pPr>
              <a:spcAft>
                <a:spcPts val="600"/>
              </a:spcAft>
              <a:defRPr sz="1800">
                <a:solidFill>
                  <a:srgbClr val="333333"/>
                </a:solidFill>
              </a:defRPr>
            </a:pPr>
            <a:r>
              <a:t>Other pins: Older protocols (ISO 9141, J1850—rarely used post-2008)</a:t>
            </a:r>
          </a:p>
          <a:p>
            <a:pPr>
              <a:spcAft>
                <a:spcPts val="1000"/>
              </a:spcAft>
              <a:defRPr sz="1800">
                <a:solidFill>
                  <a:srgbClr val="333333"/>
                </a:solidFill>
              </a:defRPr>
            </a:pPr>
            <a:r>
              <a:t>OBD-II FUNCTIONS:</a:t>
            </a:r>
          </a:p>
          <a:p>
            <a:pPr>
              <a:spcAft>
                <a:spcPts val="1000"/>
              </a:spcAft>
              <a:defRPr sz="1800">
                <a:solidFill>
                  <a:srgbClr val="333333"/>
                </a:solidFill>
              </a:defRPr>
            </a:pPr>
            <a:r>
              <a:t>1. Malfunction Indicator Lamp (MIL) - Check Engine Light — Illuminates when emission-related fault detected</a:t>
            </a:r>
          </a:p>
          <a:p>
            <a:pPr>
              <a:spcAft>
                <a:spcPts val="600"/>
              </a:spcAft>
              <a:defRPr sz="1800">
                <a:solidFill>
                  <a:srgbClr val="333333"/>
                </a:solidFill>
              </a:defRPr>
            </a:pPr>
            <a:r>
              <a:t>Rules: — Misfire that could damage catalyst → Light on immediately</a:t>
            </a:r>
          </a:p>
          <a:p>
            <a:pPr>
              <a:spcAft>
                <a:spcPts val="600"/>
              </a:spcAft>
              <a:defRPr sz="1800">
                <a:solidFill>
                  <a:srgbClr val="333333"/>
                </a:solidFill>
              </a:defRPr>
            </a:pPr>
            <a:r>
              <a:t>Sensor drift → Light on after 2-3 drive cycles (confirms persistent fault)</a:t>
            </a:r>
          </a:p>
          <a:p>
            <a:pPr>
              <a:spcAft>
                <a:spcPts val="1000"/>
              </a:spcAft>
              <a:defRPr sz="1800">
                <a:solidFill>
                  <a:srgbClr val="333333"/>
                </a:solidFill>
              </a:defRPr>
            </a:pPr>
            <a:r>
              <a:t>2. Diagnostic Trouble Codes (DTCs) — 5-character code: Format: P0XXX</a:t>
            </a:r>
          </a:p>
          <a:p>
            <a:pPr>
              <a:spcAft>
                <a:spcPts val="600"/>
              </a:spcAft>
              <a:defRPr sz="1800">
                <a:solidFill>
                  <a:srgbClr val="333333"/>
                </a:solidFill>
              </a:defRPr>
            </a:pPr>
            <a:r>
              <a:t>P: Powertrain (B=Body, C=Chassis, U=Network)</a:t>
            </a:r>
          </a:p>
          <a:p>
            <a:pPr>
              <a:spcAft>
                <a:spcPts val="600"/>
              </a:spcAft>
              <a:defRPr sz="1800">
                <a:solidFill>
                  <a:srgbClr val="333333"/>
                </a:solidFill>
              </a:defRPr>
            </a:pPr>
            <a:r>
              <a:t>0: Generic (standardized, same for all manufacturers)</a:t>
            </a:r>
          </a:p>
          <a:p>
            <a:pPr>
              <a:spcAft>
                <a:spcPts val="600"/>
              </a:spcAft>
              <a:defRPr sz="1800">
                <a:solidFill>
                  <a:srgbClr val="333333"/>
                </a:solidFill>
              </a:defRPr>
            </a:pPr>
            <a:r>
              <a:t>1: Manufacturer-specific</a:t>
            </a:r>
          </a:p>
          <a:p>
            <a:pPr>
              <a:spcAft>
                <a:spcPts val="600"/>
              </a:spcAft>
              <a:defRPr sz="1800">
                <a:solidFill>
                  <a:srgbClr val="333333"/>
                </a:solidFill>
              </a:defRPr>
            </a:pPr>
            <a:r>
              <a:t>XXX: Specific fault</a:t>
            </a:r>
          </a:p>
          <a:p>
            <a:pPr>
              <a:spcAft>
                <a:spcPts val="1000"/>
              </a:spcAft>
              <a:defRPr sz="1800">
                <a:solidFill>
                  <a:srgbClr val="333333"/>
                </a:solidFill>
              </a:defRPr>
            </a:pPr>
            <a:r>
              <a:t>Common DTCs: — P0300: Random misfire detected</a:t>
            </a:r>
          </a:p>
          <a:p>
            <a:pPr>
              <a:spcAft>
                <a:spcPts val="600"/>
              </a:spcAft>
              <a:defRPr sz="1800">
                <a:solidFill>
                  <a:srgbClr val="333333"/>
                </a:solidFill>
              </a:defRPr>
            </a:pPr>
            <a:r>
              <a:t>P0171: System too lean (Bank 1)</a:t>
            </a:r>
          </a:p>
          <a:p>
            <a:pPr>
              <a:spcAft>
                <a:spcPts val="600"/>
              </a:spcAft>
              <a:defRPr sz="1800">
                <a:solidFill>
                  <a:srgbClr val="333333"/>
                </a:solidFill>
              </a:defRPr>
            </a:pPr>
            <a:r>
              <a:t>P0420: Catalyst efficiency below threshold</a:t>
            </a:r>
          </a:p>
          <a:p>
            <a:pPr>
              <a:spcAft>
                <a:spcPts val="600"/>
              </a:spcAft>
              <a:defRPr sz="1800">
                <a:solidFill>
                  <a:srgbClr val="333333"/>
                </a:solidFill>
              </a:defRPr>
            </a:pPr>
            <a:r>
              <a:t>P0335: Crankshaft position sensor malfunction</a:t>
            </a:r>
          </a:p>
          <a:p>
            <a:pPr>
              <a:spcAft>
                <a:spcPts val="1000"/>
              </a:spcAft>
              <a:defRPr sz="1800">
                <a:solidFill>
                  <a:srgbClr val="333333"/>
                </a:solidFill>
              </a:defRPr>
            </a:pPr>
            <a:r>
              <a:t>3. Freeze Frame Data — When fault occurs, ECU captures:</a:t>
            </a:r>
          </a:p>
          <a:p>
            <a:pPr>
              <a:spcAft>
                <a:spcPts val="600"/>
              </a:spcAft>
              <a:defRPr sz="1800">
                <a:solidFill>
                  <a:srgbClr val="333333"/>
                </a:solidFill>
              </a:defRPr>
            </a:pPr>
            <a:r>
              <a:t>RPM, vehicle speed, coolant temp, load, fuel trim, etc.</a:t>
            </a:r>
          </a:p>
          <a:p>
            <a:pPr>
              <a:spcAft>
                <a:spcPts val="600"/>
              </a:spcAft>
              <a:defRPr sz="1800">
                <a:solidFill>
                  <a:srgbClr val="333333"/>
                </a:solidFill>
              </a:defRPr>
            </a:pPr>
            <a:r>
              <a:t>Helps diagnosis: "What was vehicle doing when fault occurred?</a:t>
            </a:r>
          </a:p>
          <a:p>
            <a:pPr>
              <a:spcAft>
                <a:spcPts val="1000"/>
              </a:spcAft>
              <a:defRPr sz="1800">
                <a:solidFill>
                  <a:srgbClr val="333333"/>
                </a:solidFill>
              </a:defRPr>
            </a:pPr>
            <a:r>
              <a:t>4. Emission Monitors (Readiness) — Tests: Catalyst, O2 sensors, EVAP system, EGR, etc.</a:t>
            </a:r>
          </a:p>
          <a:p>
            <a:pPr>
              <a:spcAft>
                <a:spcPts val="600"/>
              </a:spcAft>
              <a:defRPr sz="1800">
                <a:solidFill>
                  <a:srgbClr val="333333"/>
                </a:solidFill>
              </a:defRPr>
            </a:pPr>
            <a:r>
              <a:t>Status: Complete/Incomplete</a:t>
            </a:r>
          </a:p>
          <a:p>
            <a:pPr>
              <a:spcAft>
                <a:spcPts val="600"/>
              </a:spcAft>
              <a:defRPr sz="1800">
                <a:solidFill>
                  <a:srgbClr val="333333"/>
                </a:solidFill>
              </a:defRPr>
            </a:pPr>
            <a:r>
              <a:t>Purpose: Verify all emission systems checked since last fault code clear</a:t>
            </a:r>
          </a:p>
          <a:p>
            <a:pPr>
              <a:spcAft>
                <a:spcPts val="1000"/>
              </a:spcAft>
              <a:defRPr sz="1800">
                <a:solidFill>
                  <a:srgbClr val="333333"/>
                </a:solidFill>
              </a:defRPr>
            </a:pPr>
            <a:r>
              <a:t>Example: — Clear codes, drive 50 km</a:t>
            </a:r>
          </a:p>
          <a:p>
            <a:pPr>
              <a:spcAft>
                <a:spcPts val="600"/>
              </a:spcAft>
              <a:defRPr sz="1800">
                <a:solidFill>
                  <a:srgbClr val="333333"/>
                </a:solidFill>
              </a:defRPr>
            </a:pPr>
            <a:r>
              <a:t>Some monitors still "Incomplete" (haven't run yet)</a:t>
            </a:r>
          </a:p>
          <a:p>
            <a:pPr>
              <a:spcAft>
                <a:spcPts val="600"/>
              </a:spcAft>
              <a:defRPr sz="1800">
                <a:solidFill>
                  <a:srgbClr val="333333"/>
                </a:solidFill>
              </a:defRPr>
            </a:pPr>
            <a:r>
              <a:t>Vehicle won't pass emissions test until all "Complete</a:t>
            </a:r>
          </a:p>
          <a:p>
            <a:pPr>
              <a:spcAft>
                <a:spcPts val="1000"/>
              </a:spcAft>
              <a:defRPr sz="1800">
                <a:solidFill>
                  <a:srgbClr val="333333"/>
                </a:solidFill>
              </a:defRPr>
            </a:pPr>
            <a:r>
              <a:t>5. Live Data Stream — Scan tool can read real-time data:</a:t>
            </a:r>
          </a:p>
          <a:p>
            <a:pPr>
              <a:spcAft>
                <a:spcPts val="600"/>
              </a:spcAft>
              <a:defRPr sz="1800">
                <a:solidFill>
                  <a:srgbClr val="333333"/>
                </a:solidFill>
              </a:defRPr>
            </a:pPr>
            <a:r>
              <a:t>RPM, MAF, Coolant temp, Fuel trim, O2 sensor voltage, etc.</a:t>
            </a:r>
          </a:p>
          <a:p>
            <a:pPr>
              <a:spcAft>
                <a:spcPts val="600"/>
              </a:spcAft>
              <a:defRPr sz="1800">
                <a:solidFill>
                  <a:srgbClr val="333333"/>
                </a:solidFill>
              </a:defRPr>
            </a:pPr>
            <a:r>
              <a:t>Used for: Diagnosis, performance monitoring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USING OBD-II:</a:t>
            </a:r>
          </a:p>
          <a:p>
            <a:pPr>
              <a:spcAft>
                <a:spcPts val="1000"/>
              </a:spcAft>
              <a:defRPr sz="1800">
                <a:solidFill>
                  <a:srgbClr val="333333"/>
                </a:solidFill>
              </a:defRPr>
            </a:pPr>
            <a:r>
              <a:t>Equipment: — Scan tool: $50-5,000 (consumer to professional)</a:t>
            </a:r>
          </a:p>
          <a:p>
            <a:pPr>
              <a:spcAft>
                <a:spcPts val="600"/>
              </a:spcAft>
              <a:defRPr sz="1800">
                <a:solidFill>
                  <a:srgbClr val="333333"/>
                </a:solidFill>
              </a:defRPr>
            </a:pPr>
            <a:r>
              <a:t>Smartphone app + Bluetooth adapter: $20-100 (basic)</a:t>
            </a:r>
          </a:p>
          <a:p>
            <a:pPr>
              <a:spcAft>
                <a:spcPts val="1000"/>
              </a:spcAft>
              <a:defRPr sz="1800">
                <a:solidFill>
                  <a:srgbClr val="333333"/>
                </a:solidFill>
              </a:defRPr>
            </a:pPr>
            <a:r>
              <a:t>Process:</a:t>
            </a:r>
          </a:p>
          <a:p>
            <a:pPr>
              <a:spcAft>
                <a:spcPts val="600"/>
              </a:spcAft>
              <a:defRPr sz="1800">
                <a:solidFill>
                  <a:srgbClr val="333333"/>
                </a:solidFill>
              </a:defRPr>
            </a:pPr>
            <a:r>
              <a:t>Connect scan tool to OBD-II port</a:t>
            </a:r>
          </a:p>
          <a:p>
            <a:pPr>
              <a:spcAft>
                <a:spcPts val="600"/>
              </a:spcAft>
              <a:defRPr sz="1800">
                <a:solidFill>
                  <a:srgbClr val="333333"/>
                </a:solidFill>
              </a:defRPr>
            </a:pPr>
            <a:r>
              <a:t>Turn ignition ON (engine can be off)</a:t>
            </a:r>
          </a:p>
          <a:p>
            <a:pPr>
              <a:spcAft>
                <a:spcPts val="600"/>
              </a:spcAft>
              <a:defRPr sz="1800">
                <a:solidFill>
                  <a:srgbClr val="333333"/>
                </a:solidFill>
              </a:defRPr>
            </a:pPr>
            <a:r>
              <a:t>Scan tool powers up via pin 16 (+12V)</a:t>
            </a:r>
          </a:p>
          <a:p>
            <a:pPr>
              <a:spcAft>
                <a:spcPts val="600"/>
              </a:spcAft>
              <a:defRPr sz="1800">
                <a:solidFill>
                  <a:srgbClr val="333333"/>
                </a:solidFill>
              </a:defRPr>
            </a:pPr>
            <a:r>
              <a:t>Tool sends diagnostic request on CAN bus (pin 6,14)</a:t>
            </a:r>
          </a:p>
          <a:p>
            <a:pPr>
              <a:spcAft>
                <a:spcPts val="600"/>
              </a:spcAft>
              <a:defRPr sz="1800">
                <a:solidFill>
                  <a:srgbClr val="333333"/>
                </a:solidFill>
              </a:defRPr>
            </a:pPr>
            <a:r>
              <a:t>Gateway ECU routes request to appropriate ECU (engine, ABS, etc.)</a:t>
            </a:r>
          </a:p>
          <a:p>
            <a:pPr>
              <a:spcAft>
                <a:spcPts val="600"/>
              </a:spcAft>
              <a:defRPr sz="1800">
                <a:solidFill>
                  <a:srgbClr val="333333"/>
                </a:solidFill>
              </a:defRPr>
            </a:pPr>
            <a:r>
              <a:t>ECU responds with data</a:t>
            </a:r>
          </a:p>
          <a:p>
            <a:pPr>
              <a:spcAft>
                <a:spcPts val="600"/>
              </a:spcAft>
              <a:defRPr sz="1800">
                <a:solidFill>
                  <a:srgbClr val="333333"/>
                </a:solidFill>
              </a:defRPr>
            </a:pPr>
            <a:r>
              <a:t>Tool displays fault codes, data</a:t>
            </a:r>
          </a:p>
          <a:p>
            <a:pPr>
              <a:spcAft>
                <a:spcPts val="1000"/>
              </a:spcAft>
              <a:defRPr sz="1800">
                <a:solidFill>
                  <a:srgbClr val="333333"/>
                </a:solidFill>
              </a:defRPr>
            </a:pPr>
            <a:r>
              <a:t>Example Diagnostic Session:</a:t>
            </a:r>
          </a:p>
          <a:p>
            <a:pPr>
              <a:spcAft>
                <a:spcPts val="1000"/>
              </a:spcAft>
              <a:defRPr sz="1800">
                <a:solidFill>
                  <a:srgbClr val="333333"/>
                </a:solidFill>
              </a:defRPr>
            </a:pPr>
            <a:r>
              <a:t>Symptom: Check engine light on</a:t>
            </a:r>
          </a:p>
          <a:p>
            <a:pPr>
              <a:spcAft>
                <a:spcPts val="1000"/>
              </a:spcAft>
              <a:defRPr sz="1800">
                <a:solidFill>
                  <a:srgbClr val="333333"/>
                </a:solidFill>
              </a:defRPr>
            </a:pPr>
            <a:r>
              <a:t>Steps:</a:t>
            </a:r>
          </a:p>
          <a:p>
            <a:pPr>
              <a:spcAft>
                <a:spcPts val="600"/>
              </a:spcAft>
              <a:defRPr sz="1800">
                <a:solidFill>
                  <a:srgbClr val="333333"/>
                </a:solidFill>
              </a:defRPr>
            </a:pPr>
            <a:r>
              <a:t>Connect scan tool</a:t>
            </a:r>
          </a:p>
          <a:p>
            <a:pPr>
              <a:spcAft>
                <a:spcPts val="600"/>
              </a:spcAft>
              <a:defRPr sz="1800">
                <a:solidFill>
                  <a:srgbClr val="333333"/>
                </a:solidFill>
              </a:defRPr>
            </a:pPr>
            <a:r>
              <a:t>Read codes: P0171 (System Too Lean - Bank 1)</a:t>
            </a:r>
          </a:p>
          <a:p>
            <a:pPr>
              <a:spcAft>
                <a:spcPts val="600"/>
              </a:spcAft>
              <a:defRPr sz="1800">
                <a:solidFill>
                  <a:srgbClr val="333333"/>
                </a:solidFill>
              </a:defRPr>
            </a:pPr>
            <a:r>
              <a:t>Check freeze frame: RPM=2,500, MAF=8 g/s, Fuel trim=+25%</a:t>
            </a:r>
          </a:p>
          <a:p>
            <a:pPr>
              <a:spcAft>
                <a:spcPts val="600"/>
              </a:spcAft>
              <a:defRPr sz="1800">
                <a:solidFill>
                  <a:srgbClr val="333333"/>
                </a:solidFill>
              </a:defRPr>
            </a:pPr>
            <a:r>
              <a:t>Interpretation: Engine adding 25% extra fuel to compensate</a:t>
            </a:r>
          </a:p>
          <a:p>
            <a:pPr>
              <a:spcAft>
                <a:spcPts val="600"/>
              </a:spcAft>
              <a:defRPr sz="1800">
                <a:solidFill>
                  <a:srgbClr val="333333"/>
                </a:solidFill>
              </a:defRPr>
            </a:pPr>
            <a:r>
              <a:t>Likely cause: Vacuum leak (unmeasured air entering engine)</a:t>
            </a:r>
          </a:p>
          <a:p>
            <a:pPr>
              <a:spcAft>
                <a:spcPts val="600"/>
              </a:spcAft>
              <a:defRPr sz="1800">
                <a:solidFill>
                  <a:srgbClr val="333333"/>
                </a:solidFill>
              </a:defRPr>
            </a:pPr>
            <a:r>
              <a:t>Action: Inspect intake manifold for leaks</a:t>
            </a:r>
          </a:p>
          <a:p>
            <a:pPr>
              <a:spcAft>
                <a:spcPts val="1000"/>
              </a:spcAft>
              <a:defRPr sz="1800">
                <a:solidFill>
                  <a:srgbClr val="333333"/>
                </a:solidFill>
              </a:defRPr>
            </a:pPr>
            <a:r>
              <a:t>Instructor Narration (continued):</a:t>
            </a:r>
          </a:p>
          <a:p>
            <a:pPr>
              <a:spcAft>
                <a:spcPts val="1000"/>
              </a:spcAft>
              <a:defRPr sz="1800">
                <a:solidFill>
                  <a:srgbClr val="333333"/>
                </a:solidFill>
              </a:defRPr>
            </a:pPr>
            <a:r>
              <a:t>'OBD-II democratized vehicle repair. Before 1996, you needed manufacturer-specific (expensive) scan tools. After OBD-II, any generic tool works on any car. This enabled independent repair shops to compete with dealerships—saving consumers billions.'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Automotive Ethernet &amp; Future Trends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CAN bus has served well for 40 years. But new demands are pushing beyond CAN's limits.</a:t>
            </a:r>
          </a:p>
          <a:p>
            <a:pPr>
              <a:spcAft>
                <a:spcPts val="1000"/>
              </a:spcAft>
              <a:defRPr sz="1800">
                <a:solidFill>
                  <a:srgbClr val="333333"/>
                </a:solidFill>
              </a:defRPr>
            </a:pPr>
            <a:r>
              <a:t>CAN LIMITATIONS:</a:t>
            </a:r>
          </a:p>
          <a:p>
            <a:pPr>
              <a:spcAft>
                <a:spcPts val="1000"/>
              </a:spcAft>
              <a:defRPr sz="1800">
                <a:solidFill>
                  <a:srgbClr val="333333"/>
                </a:solidFill>
              </a:defRPr>
            </a:pPr>
            <a:r>
              <a:t>Bandwidth: — Max: 1 Mbps</a:t>
            </a:r>
          </a:p>
          <a:p>
            <a:pPr>
              <a:spcAft>
                <a:spcPts val="600"/>
              </a:spcAft>
              <a:defRPr sz="1800">
                <a:solidFill>
                  <a:srgbClr val="333333"/>
                </a:solidFill>
              </a:defRPr>
            </a:pPr>
            <a:r>
              <a:t>Sufficient for: Engine control, sensors, actuators</a:t>
            </a:r>
          </a:p>
          <a:p>
            <a:pPr>
              <a:spcAft>
                <a:spcPts val="600"/>
              </a:spcAft>
              <a:defRPr sz="1800">
                <a:solidFill>
                  <a:srgbClr val="333333"/>
                </a:solidFill>
              </a:defRPr>
            </a:pPr>
            <a:r>
              <a:t>Insufficient for: Cameras (10-100 Mbps per camera), Radar (5-50 Mbps), High-res displays</a:t>
            </a:r>
          </a:p>
          <a:p>
            <a:pPr>
              <a:spcAft>
                <a:spcPts val="1000"/>
              </a:spcAft>
              <a:defRPr sz="1800">
                <a:solidFill>
                  <a:srgbClr val="333333"/>
                </a:solidFill>
              </a:defRPr>
            </a:pPr>
            <a:r>
              <a:t>Example: — ADAS system with 5 cameras</a:t>
            </a:r>
          </a:p>
          <a:p>
            <a:pPr>
              <a:spcAft>
                <a:spcPts val="600"/>
              </a:spcAft>
              <a:defRPr sz="1800">
                <a:solidFill>
                  <a:srgbClr val="333333"/>
                </a:solidFill>
              </a:defRPr>
            </a:pPr>
            <a:r>
              <a:t>Each camera: 720p @ 30 fps = ~20 Mbps</a:t>
            </a:r>
          </a:p>
          <a:p>
            <a:pPr>
              <a:spcAft>
                <a:spcPts val="600"/>
              </a:spcAft>
              <a:defRPr sz="1800">
                <a:solidFill>
                  <a:srgbClr val="333333"/>
                </a:solidFill>
              </a:defRPr>
            </a:pPr>
            <a:r>
              <a:t>Total: 100 Mbps</a:t>
            </a:r>
          </a:p>
          <a:p>
            <a:pPr>
              <a:spcAft>
                <a:spcPts val="600"/>
              </a:spcAft>
              <a:defRPr sz="1800">
                <a:solidFill>
                  <a:srgbClr val="333333"/>
                </a:solidFill>
              </a:defRPr>
            </a:pPr>
            <a:r>
              <a:t>CAN cannot handle this —--</a:t>
            </a:r>
          </a:p>
          <a:p>
            <a:pPr>
              <a:spcAft>
                <a:spcPts val="1000"/>
              </a:spcAft>
              <a:defRPr sz="1800">
                <a:solidFill>
                  <a:srgbClr val="333333"/>
                </a:solidFill>
              </a:defRPr>
            </a:pPr>
            <a:r>
              <a:t>AUTOMOTIVE ETHERNET (100/1000 Mbps):</a:t>
            </a:r>
          </a:p>
          <a:p>
            <a:pPr>
              <a:spcAft>
                <a:spcPts val="1000"/>
              </a:spcAft>
              <a:defRPr sz="1800">
                <a:solidFill>
                  <a:srgbClr val="333333"/>
                </a:solidFill>
              </a:defRPr>
            </a:pPr>
            <a:r>
              <a:t>Technology: — Based on standard Ethernet (like home/office networks)</a:t>
            </a:r>
          </a:p>
          <a:p>
            <a:pPr>
              <a:spcAft>
                <a:spcPts val="600"/>
              </a:spcAft>
              <a:defRPr sz="1800">
                <a:solidFill>
                  <a:srgbClr val="333333"/>
                </a:solidFill>
              </a:defRPr>
            </a:pPr>
            <a:r>
              <a:t>Modified for automotive (EMI resistance, temperature range)</a:t>
            </a:r>
          </a:p>
          <a:p>
            <a:pPr>
              <a:spcAft>
                <a:spcPts val="600"/>
              </a:spcAft>
              <a:defRPr sz="1800">
                <a:solidFill>
                  <a:srgbClr val="333333"/>
                </a:solidFill>
              </a:defRPr>
            </a:pPr>
            <a:r>
              <a:t>Speed: 100 Mbps (Fast Ethernet) to 1 Gbps (Gigabit)</a:t>
            </a:r>
          </a:p>
          <a:p>
            <a:pPr>
              <a:spcAft>
                <a:spcPts val="1000"/>
              </a:spcAft>
              <a:defRPr sz="1800">
                <a:solidFill>
                  <a:srgbClr val="333333"/>
                </a:solidFill>
              </a:defRPr>
            </a:pPr>
            <a:r>
              <a:t>Applications: — ADAS: Camera, radar, lidar data</a:t>
            </a:r>
          </a:p>
          <a:p>
            <a:pPr>
              <a:spcAft>
                <a:spcPts val="600"/>
              </a:spcAft>
              <a:defRPr sz="1800">
                <a:solidFill>
                  <a:srgbClr val="333333"/>
                </a:solidFill>
              </a:defRPr>
            </a:pPr>
            <a:r>
              <a:t>Infotainment: High-res displays, video streaming</a:t>
            </a:r>
          </a:p>
          <a:p>
            <a:pPr>
              <a:spcAft>
                <a:spcPts val="600"/>
              </a:spcAft>
              <a:defRPr sz="1800">
                <a:solidFill>
                  <a:srgbClr val="333333"/>
                </a:solidFill>
              </a:defRPr>
            </a:pPr>
            <a:r>
              <a:t>OTA updates: Over-the-air software updates (download 1 GB update in 10-20 seconds)</a:t>
            </a:r>
          </a:p>
          <a:p>
            <a:pPr>
              <a:spcAft>
                <a:spcPts val="600"/>
              </a:spcAft>
              <a:defRPr sz="1800">
                <a:solidFill>
                  <a:srgbClr val="333333"/>
                </a:solidFill>
              </a:defRPr>
            </a:pPr>
            <a:r>
              <a:t>Diagnostics: Fast ECU reprogramming</a:t>
            </a:r>
          </a:p>
          <a:p>
            <a:pPr>
              <a:spcAft>
                <a:spcPts val="1000"/>
              </a:spcAft>
              <a:defRPr sz="1800">
                <a:solidFill>
                  <a:srgbClr val="333333"/>
                </a:solidFill>
              </a:defRPr>
            </a:pPr>
            <a:r>
              <a:t>Adoption: — 2015: First premium vehicles (BMW 7-series, Mercedes S-class)</a:t>
            </a:r>
          </a:p>
          <a:p>
            <a:pPr>
              <a:spcAft>
                <a:spcPts val="600"/>
              </a:spcAft>
              <a:defRPr sz="1800">
                <a:solidFill>
                  <a:srgbClr val="333333"/>
                </a:solidFill>
              </a:defRPr>
            </a:pPr>
            <a:r>
              <a:t>2025: Standard in most new vehicles</a:t>
            </a:r>
          </a:p>
          <a:p>
            <a:pPr>
              <a:spcAft>
                <a:spcPts val="600"/>
              </a:spcAft>
              <a:defRPr sz="1800">
                <a:solidFill>
                  <a:srgbClr val="333333"/>
                </a:solidFill>
              </a:defRPr>
            </a:pPr>
            <a:r>
              <a:t>CAN still present (legacy systems, low-bandwidth control)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FUTURE: ZONAL ARCHITECTURE</a:t>
            </a:r>
          </a:p>
          <a:p>
            <a:pPr>
              <a:spcAft>
                <a:spcPts val="1000"/>
              </a:spcAft>
              <a:defRPr sz="1800">
                <a:solidFill>
                  <a:srgbClr val="333333"/>
                </a:solidFill>
              </a:defRPr>
            </a:pPr>
            <a:r>
              <a:t>Current: Domain-based (Powertrain CAN, Body CAN, etc.)</a:t>
            </a:r>
          </a:p>
          <a:p>
            <a:pPr>
              <a:spcAft>
                <a:spcPts val="1000"/>
              </a:spcAft>
              <a:defRPr sz="1800">
                <a:solidFill>
                  <a:srgbClr val="333333"/>
                </a:solidFill>
              </a:defRPr>
            </a:pPr>
            <a:r>
              <a:t>Future: Zone-based (Front zone, Rear zone, Left zone, Right zone)</a:t>
            </a:r>
          </a:p>
          <a:p>
            <a:pPr>
              <a:spcAft>
                <a:spcPts val="1000"/>
              </a:spcAft>
              <a:defRPr sz="1800">
                <a:solidFill>
                  <a:srgbClr val="333333"/>
                </a:solidFill>
              </a:defRPr>
            </a:pPr>
            <a:r>
              <a:t>Concept: — Zone controller in each vehicle area</a:t>
            </a:r>
          </a:p>
          <a:p>
            <a:pPr>
              <a:spcAft>
                <a:spcPts val="600"/>
              </a:spcAft>
              <a:defRPr sz="1800">
                <a:solidFill>
                  <a:srgbClr val="333333"/>
                </a:solidFill>
              </a:defRPr>
            </a:pPr>
            <a:r>
              <a:t>Connects all local devices (sensors, actuators)</a:t>
            </a:r>
          </a:p>
          <a:p>
            <a:pPr>
              <a:spcAft>
                <a:spcPts val="600"/>
              </a:spcAft>
              <a:defRPr sz="1800">
                <a:solidFill>
                  <a:srgbClr val="333333"/>
                </a:solidFill>
              </a:defRPr>
            </a:pPr>
            <a:r>
              <a:t>Central computer coordinates zones via high-speed Ethernet backbone</a:t>
            </a:r>
          </a:p>
          <a:p>
            <a:pPr>
              <a:spcAft>
                <a:spcPts val="1000"/>
              </a:spcAft>
              <a:defRPr sz="1800">
                <a:solidFill>
                  <a:srgbClr val="333333"/>
                </a:solidFill>
              </a:defRPr>
            </a:pPr>
            <a:r>
              <a:t>Benefits: — Shorter wiring (devices connect to nearest zone controller)</a:t>
            </a:r>
          </a:p>
          <a:p>
            <a:pPr>
              <a:spcAft>
                <a:spcPts val="600"/>
              </a:spcAft>
              <a:defRPr sz="1800">
                <a:solidFill>
                  <a:srgbClr val="333333"/>
                </a:solidFill>
              </a:defRPr>
            </a:pPr>
            <a:r>
              <a:t>Faster: Ethernet backbone (1-10 Gbps)</a:t>
            </a:r>
          </a:p>
          <a:p>
            <a:pPr>
              <a:spcAft>
                <a:spcPts val="600"/>
              </a:spcAft>
              <a:defRPr sz="1800">
                <a:solidFill>
                  <a:srgbClr val="333333"/>
                </a:solidFill>
              </a:defRPr>
            </a:pPr>
            <a:r>
              <a:t>Flexible: Software-defined functionality (OTA updates change features)</a:t>
            </a:r>
          </a:p>
          <a:p>
            <a:pPr>
              <a:spcAft>
                <a:spcPts val="1000"/>
              </a:spcAft>
              <a:defRPr sz="1800">
                <a:solidFill>
                  <a:srgbClr val="333333"/>
                </a:solidFill>
              </a:defRPr>
            </a:pPr>
            <a:r>
              <a:t>Timeline: — 2020s: Early adopters (Tesla, startups)</a:t>
            </a:r>
          </a:p>
          <a:p>
            <a:pPr>
              <a:spcAft>
                <a:spcPts val="600"/>
              </a:spcAft>
              <a:defRPr sz="1800">
                <a:solidFill>
                  <a:srgbClr val="333333"/>
                </a:solidFill>
              </a:defRPr>
            </a:pPr>
            <a:r>
              <a:t>2030s: Industry standard</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transition from CAN to Ethernet is like upgrading from dial-up internet to fiber optic. CAN (1 Mbps) = dial-up. Automotive Ethernet (1 Gbps) = fiber. Same function (communicate data), but 1,000× faster. Necessary for autonomous driving, where vehicles process gigabytes of sensor data per second.'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&amp; Module 4 Complete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recap Module 4: Electrical &amp; Control Systems.</a:t>
            </a:r>
          </a:p>
          <a:p>
            <a:pPr>
              <a:spcAft>
                <a:spcPts val="1000"/>
              </a:spcAft>
              <a:defRPr sz="1800">
                <a:solidFill>
                  <a:srgbClr val="333333"/>
                </a:solidFill>
              </a:defRPr>
            </a:pPr>
            <a:r>
              <a:t>SESSION 13: Electrical Architecture</a:t>
            </a:r>
          </a:p>
          <a:p>
            <a:pPr>
              <a:spcAft>
                <a:spcPts val="1000"/>
              </a:spcAft>
              <a:defRPr sz="1800">
                <a:solidFill>
                  <a:srgbClr val="333333"/>
                </a:solidFill>
              </a:defRPr>
            </a:pPr>
            <a:r>
              <a:t>✅ Power generation &amp; storage (battery, alternator)</a:t>
            </a:r>
          </a:p>
          <a:p>
            <a:pPr>
              <a:spcAft>
                <a:spcPts val="1000"/>
              </a:spcAft>
              <a:defRPr sz="1800">
                <a:solidFill>
                  <a:srgbClr val="333333"/>
                </a:solidFill>
              </a:defRPr>
            </a:pPr>
            <a:r>
              <a:t>✅ Power distribution (wiring, fuses, relays)</a:t>
            </a:r>
          </a:p>
          <a:p>
            <a:pPr>
              <a:spcAft>
                <a:spcPts val="1000"/>
              </a:spcAft>
              <a:defRPr sz="1800">
                <a:solidFill>
                  <a:srgbClr val="333333"/>
                </a:solidFill>
              </a:defRPr>
            </a:pPr>
            <a:r>
              <a:t>✅ Grounding (chassis as common negative)</a:t>
            </a:r>
          </a:p>
          <a:p>
            <a:pPr>
              <a:spcAft>
                <a:spcPts val="1000"/>
              </a:spcAft>
              <a:defRPr sz="1800">
                <a:solidFill>
                  <a:srgbClr val="333333"/>
                </a:solidFill>
              </a:defRPr>
            </a:pPr>
            <a:r>
              <a:t>✅ Lighting technologies (halogen → HID → LED)</a:t>
            </a:r>
          </a:p>
          <a:p>
            <a:pPr>
              <a:spcAft>
                <a:spcPts val="1000"/>
              </a:spcAft>
              <a:defRPr sz="1800">
                <a:solidFill>
                  <a:srgbClr val="333333"/>
                </a:solidFill>
              </a:defRPr>
            </a:pPr>
            <a:r>
              <a:t>SESSION 14: Vehicle Control Systems</a:t>
            </a:r>
          </a:p>
          <a:p>
            <a:pPr>
              <a:spcAft>
                <a:spcPts val="1000"/>
              </a:spcAft>
              <a:defRPr sz="1800">
                <a:solidFill>
                  <a:srgbClr val="333333"/>
                </a:solidFill>
              </a:defRPr>
            </a:pPr>
            <a:r>
              <a:t>✅ ECUs (30-100 per vehicle, distributed intelligence)</a:t>
            </a:r>
          </a:p>
          <a:p>
            <a:pPr>
              <a:spcAft>
                <a:spcPts val="1000"/>
              </a:spcAft>
              <a:defRPr sz="1800">
                <a:solidFill>
                  <a:srgbClr val="333333"/>
                </a:solidFill>
              </a:defRPr>
            </a:pPr>
            <a:r>
              <a:t>✅ Sensors (thermistors, MAF, O2 sensor, etc.)</a:t>
            </a:r>
          </a:p>
          <a:p>
            <a:pPr>
              <a:spcAft>
                <a:spcPts val="1000"/>
              </a:spcAft>
              <a:defRPr sz="1800">
                <a:solidFill>
                  <a:srgbClr val="333333"/>
                </a:solidFill>
              </a:defRPr>
            </a:pPr>
            <a:r>
              <a:t>✅ Actuators (injectors, throttle, solenoids)</a:t>
            </a:r>
          </a:p>
          <a:p>
            <a:pPr>
              <a:spcAft>
                <a:spcPts val="1000"/>
              </a:spcAft>
              <a:defRPr sz="1800">
                <a:solidFill>
                  <a:srgbClr val="333333"/>
                </a:solidFill>
              </a:defRPr>
            </a:pPr>
            <a:r>
              <a:t>✅ Closed-loop control (lambda control example)</a:t>
            </a:r>
          </a:p>
          <a:p>
            <a:pPr>
              <a:spcAft>
                <a:spcPts val="1000"/>
              </a:spcAft>
              <a:defRPr sz="1800">
                <a:solidFill>
                  <a:srgbClr val="333333"/>
                </a:solidFill>
              </a:defRPr>
            </a:pPr>
            <a:r>
              <a:t>SESSION 15: Communication Networks (Today)</a:t>
            </a:r>
          </a:p>
          <a:p>
            <a:pPr>
              <a:spcAft>
                <a:spcPts val="1000"/>
              </a:spcAft>
              <a:defRPr sz="1800">
                <a:solidFill>
                  <a:srgbClr val="333333"/>
                </a:solidFill>
              </a:defRPr>
            </a:pPr>
            <a:r>
              <a:t>✅ CAN bus (500 kbps, multi-master, arbitration)</a:t>
            </a:r>
          </a:p>
          <a:p>
            <a:pPr>
              <a:spcAft>
                <a:spcPts val="1000"/>
              </a:spcAft>
              <a:defRPr sz="1800">
                <a:solidFill>
                  <a:srgbClr val="333333"/>
                </a:solidFill>
              </a:defRPr>
            </a:pPr>
            <a:r>
              <a:t>✅ LIN bus (19.2 kbps, low-cost, master-slave)</a:t>
            </a:r>
          </a:p>
          <a:p>
            <a:pPr>
              <a:spcAft>
                <a:spcPts val="1000"/>
              </a:spcAft>
              <a:defRPr sz="1800">
                <a:solidFill>
                  <a:srgbClr val="333333"/>
                </a:solidFill>
              </a:defRPr>
            </a:pPr>
            <a:r>
              <a:t>✅ OBD-II (diagnostic access, standardized)</a:t>
            </a:r>
          </a:p>
          <a:p>
            <a:pPr>
              <a:spcAft>
                <a:spcPts val="1000"/>
              </a:spcAft>
              <a:defRPr sz="1800">
                <a:solidFill>
                  <a:srgbClr val="333333"/>
                </a:solidFill>
              </a:defRPr>
            </a:pPr>
            <a:r>
              <a:t>✅ Network architecture (multi-bus, gateways)</a:t>
            </a:r>
          </a:p>
          <a:p>
            <a:pPr>
              <a:spcAft>
                <a:spcPts val="1000"/>
              </a:spcAft>
              <a:defRPr sz="1800">
                <a:solidFill>
                  <a:srgbClr val="333333"/>
                </a:solidFill>
              </a:defRPr>
            </a:pPr>
            <a:r>
              <a:t>✅ Future (Automotive Ethernet, zonal architecture)</a:t>
            </a:r>
          </a:p>
          <a:p>
            <a:pPr>
              <a:spcAft>
                <a:spcPts val="1000"/>
              </a:spcAft>
              <a:defRPr sz="1800">
                <a:solidFill>
                  <a:srgbClr val="333333"/>
                </a:solidFill>
              </a:defRPr>
            </a:pPr>
            <a:r>
              <a:t>THE BIG PICTURE:</a:t>
            </a:r>
          </a:p>
          <a:p>
            <a:pPr>
              <a:spcAft>
                <a:spcPts val="1000"/>
              </a:spcAft>
              <a:defRPr sz="1800">
                <a:solidFill>
                  <a:srgbClr val="333333"/>
                </a:solidFill>
              </a:defRPr>
            </a:pPr>
            <a:r>
              <a:t>Modern vehicles are mobile computers with:</a:t>
            </a:r>
          </a:p>
          <a:p>
            <a:pPr>
              <a:spcAft>
                <a:spcPts val="600"/>
              </a:spcAft>
              <a:defRPr sz="1800">
                <a:solidFill>
                  <a:srgbClr val="333333"/>
                </a:solidFill>
              </a:defRPr>
            </a:pPr>
            <a:r>
              <a:t>Electrical power system (Session 13)</a:t>
            </a:r>
          </a:p>
          <a:p>
            <a:pPr>
              <a:spcAft>
                <a:spcPts val="600"/>
              </a:spcAft>
              <a:defRPr sz="1800">
                <a:solidFill>
                  <a:srgbClr val="333333"/>
                </a:solidFill>
              </a:defRPr>
            </a:pPr>
            <a:r>
              <a:t>Distributed computing (30-100 ECUs, Session 14)</a:t>
            </a:r>
          </a:p>
          <a:p>
            <a:pPr>
              <a:spcAft>
                <a:spcPts val="600"/>
              </a:spcAft>
              <a:defRPr sz="1800">
                <a:solidFill>
                  <a:srgbClr val="333333"/>
                </a:solidFill>
              </a:defRPr>
            </a:pPr>
            <a:r>
              <a:t>High-speed data networks (Session 15)</a:t>
            </a:r>
          </a:p>
          <a:p>
            <a:pPr>
              <a:spcAft>
                <a:spcPts val="1000"/>
              </a:spcAft>
              <a:defRPr sz="1800">
                <a:solidFill>
                  <a:srgbClr val="333333"/>
                </a:solidFill>
              </a:defRPr>
            </a:pPr>
            <a:r>
              <a:t>Everything we studied in Modules 1-3 (mechanical systems) is now controlled electronically:</a:t>
            </a:r>
          </a:p>
          <a:p>
            <a:pPr>
              <a:spcAft>
                <a:spcPts val="600"/>
              </a:spcAft>
              <a:defRPr sz="1800">
                <a:solidFill>
                  <a:srgbClr val="333333"/>
                </a:solidFill>
              </a:defRPr>
            </a:pPr>
            <a:r>
              <a:t>Engine (ECU, injectors, throttle—Session 14)</a:t>
            </a:r>
          </a:p>
          <a:p>
            <a:pPr>
              <a:spcAft>
                <a:spcPts val="600"/>
              </a:spcAft>
              <a:defRPr sz="1800">
                <a:solidFill>
                  <a:srgbClr val="333333"/>
                </a:solidFill>
              </a:defRPr>
            </a:pPr>
            <a:r>
              <a:t>Transmission (TCU, solenoids—Session 14)</a:t>
            </a:r>
          </a:p>
          <a:p>
            <a:pPr>
              <a:spcAft>
                <a:spcPts val="600"/>
              </a:spcAft>
              <a:defRPr sz="1800">
                <a:solidFill>
                  <a:srgbClr val="333333"/>
                </a:solidFill>
              </a:defRPr>
            </a:pPr>
            <a:r>
              <a:t>Brakes (ABS ECU—Session 10)</a:t>
            </a:r>
          </a:p>
          <a:p>
            <a:pPr>
              <a:spcAft>
                <a:spcPts val="600"/>
              </a:spcAft>
              <a:defRPr sz="1800">
                <a:solidFill>
                  <a:srgbClr val="333333"/>
                </a:solidFill>
              </a:defRPr>
            </a:pPr>
            <a:r>
              <a:t>Steering (EPAS ECU—Session 11)</a:t>
            </a:r>
          </a:p>
          <a:p>
            <a:pPr>
              <a:spcAft>
                <a:spcPts val="600"/>
              </a:spcAft>
              <a:defRPr sz="1800">
                <a:solidFill>
                  <a:srgbClr val="333333"/>
                </a:solidFill>
              </a:defRPr>
            </a:pPr>
            <a:r>
              <a:t>Suspension (Adaptive ECU—Session 12)</a:t>
            </a:r>
          </a:p>
          <a:p>
            <a:pPr>
              <a:spcAft>
                <a:spcPts val="1000"/>
              </a:spcAft>
              <a:defRPr sz="1800">
                <a:solidFill>
                  <a:srgbClr val="333333"/>
                </a:solidFill>
              </a:defRPr>
            </a:pPr>
            <a:r>
              <a:t>All communicate via CAN bus (Session 15) using electrical power (Session 13).</a:t>
            </a:r>
          </a:p>
          <a:p>
            <a:pPr>
              <a:spcAft>
                <a:spcPts val="1000"/>
              </a:spcAft>
              <a:defRPr sz="1800">
                <a:solidFill>
                  <a:srgbClr val="333333"/>
                </a:solidFill>
              </a:defRPr>
            </a:pPr>
            <a:r>
              <a:t>NEXT MODULE: Module 5 - Vehicle Architecture &amp; Comfort — Session 16: Chassis &amp; Body Architecture</a:t>
            </a:r>
          </a:p>
          <a:p>
            <a:pPr>
              <a:spcAft>
                <a:spcPts val="600"/>
              </a:spcAft>
              <a:defRPr sz="1800">
                <a:solidFill>
                  <a:srgbClr val="333333"/>
                </a:solidFill>
              </a:defRPr>
            </a:pPr>
            <a:r>
              <a:t>Session 17: HVAC Systems</a:t>
            </a:r>
          </a:p>
          <a:p>
            <a:pPr>
              <a:spcAft>
                <a:spcPts val="600"/>
              </a:spcAft>
              <a:defRPr sz="1800">
                <a:solidFill>
                  <a:srgbClr val="333333"/>
                </a:solidFill>
              </a:defRPr>
            </a:pPr>
            <a:r>
              <a:t>Session 18: Passive Safety Systems</a:t>
            </a:r>
          </a:p>
          <a:p>
            <a:pPr>
              <a:spcAft>
                <a:spcPts val="1000"/>
              </a:spcAft>
              <a:defRPr sz="1800">
                <a:solidFill>
                  <a:srgbClr val="333333"/>
                </a:solidFill>
              </a:defRPr>
            </a:pPr>
            <a:r>
              <a:t>We'll integrate mechanical, electrical, and control systems into complete vehicle packages.</a:t>
            </a:r>
          </a:p>
          <a:p>
            <a:pPr>
              <a:spcAft>
                <a:spcPts val="1000"/>
              </a:spcAft>
              <a:defRPr sz="1800">
                <a:solidFill>
                  <a:srgbClr val="333333"/>
                </a:solidFill>
              </a:defRPr>
            </a:pPr>
            <a:r>
              <a:t>See you in Session 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METADATA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Total Slides: 30</a:t>
            </a:r>
          </a:p>
          <a:p>
            <a:pPr>
              <a:spcAft>
                <a:spcPts val="1000"/>
              </a:spcAft>
              <a:defRPr sz="1800">
                <a:solidFill>
                  <a:srgbClr val="333333"/>
                </a:solidFill>
              </a:defRPr>
            </a:pPr>
            <a:r>
              <a:t>Lecture Duration: 90 minutes</a:t>
            </a:r>
          </a:p>
          <a:p>
            <a:pPr>
              <a:spcAft>
                <a:spcPts val="1000"/>
              </a:spcAft>
              <a:defRPr sz="1800">
                <a:solidFill>
                  <a:srgbClr val="333333"/>
                </a:solidFill>
              </a:defRPr>
            </a:pPr>
            <a:r>
              <a:t>Q&amp;A Duration: 30 minutes</a:t>
            </a:r>
          </a:p>
          <a:p>
            <a:pPr>
              <a:spcAft>
                <a:spcPts val="1000"/>
              </a:spcAft>
              <a:defRPr sz="1800">
                <a:solidFill>
                  <a:srgbClr val="333333"/>
                </a:solidFill>
              </a:defRPr>
            </a:pPr>
            <a:r>
              <a:t>Learning Outcome Coverage: — ✅ SO-4-15-1: Need for networks, point-to-point vs networked (Slides 2-6)</a:t>
            </a:r>
          </a:p>
          <a:p>
            <a:pPr>
              <a:spcAft>
                <a:spcPts val="600"/>
              </a:spcAft>
              <a:defRPr sz="1800">
                <a:solidFill>
                  <a:srgbClr val="333333"/>
                </a:solidFill>
              </a:defRPr>
            </a:pPr>
            <a:r>
              <a:t>✅ SO-4-15-2: CAN architecture, protocol, message frame (Slides 7-15)</a:t>
            </a:r>
          </a:p>
          <a:p>
            <a:pPr>
              <a:spcAft>
                <a:spcPts val="600"/>
              </a:spcAft>
              <a:defRPr sz="1800">
                <a:solidFill>
                  <a:srgbClr val="333333"/>
                </a:solidFill>
              </a:defRPr>
            </a:pPr>
            <a:r>
              <a:t>✅ SO-4-15-3: CAN arbitration, error detection, fault confinement (Slides 16-21)</a:t>
            </a:r>
          </a:p>
          <a:p>
            <a:pPr>
              <a:spcAft>
                <a:spcPts val="600"/>
              </a:spcAft>
              <a:defRPr sz="1800">
                <a:solidFill>
                  <a:srgbClr val="333333"/>
                </a:solidFill>
              </a:defRPr>
            </a:pPr>
            <a:r>
              <a:t>✅ SO-4-15-4: LIN bus operation and applications (Slide 23)</a:t>
            </a:r>
          </a:p>
          <a:p>
            <a:pPr>
              <a:spcAft>
                <a:spcPts val="600"/>
              </a:spcAft>
              <a:defRPr sz="1800">
                <a:solidFill>
                  <a:srgbClr val="333333"/>
                </a:solidFill>
              </a:defRPr>
            </a:pPr>
            <a:r>
              <a:t>✅ SO-4-15-5: OBD-II standards and DTCs (Slide 28)</a:t>
            </a:r>
          </a:p>
          <a:p>
            <a:pPr>
              <a:spcAft>
                <a:spcPts val="600"/>
              </a:spcAft>
              <a:defRPr sz="1800">
                <a:solidFill>
                  <a:srgbClr val="333333"/>
                </a:solidFill>
              </a:defRPr>
            </a:pPr>
            <a:r>
              <a:t>✅ SO-4-15-6: Network topology and bus load calculation (Slides 24-27)</a:t>
            </a:r>
          </a:p>
          <a:p>
            <a:pPr>
              <a:spcAft>
                <a:spcPts val="1000"/>
              </a:spcAft>
              <a:defRPr sz="1800">
                <a:solidFill>
                  <a:srgbClr val="333333"/>
                </a:solidFill>
              </a:defRPr>
            </a:pPr>
            <a:r>
              <a:t>Worked Examples: 2</a:t>
            </a:r>
          </a:p>
          <a:p>
            <a:pPr>
              <a:spcAft>
                <a:spcPts val="600"/>
              </a:spcAft>
              <a:defRPr sz="1800">
                <a:solidFill>
                  <a:srgbClr val="333333"/>
                </a:solidFill>
              </a:defRPr>
            </a:pPr>
            <a:r>
              <a:t>CAN arbitration (Slide 16)</a:t>
            </a:r>
          </a:p>
          <a:p>
            <a:pPr>
              <a:spcAft>
                <a:spcPts val="600"/>
              </a:spcAft>
              <a:defRPr sz="1800">
                <a:solidFill>
                  <a:srgbClr val="333333"/>
                </a:solidFill>
              </a:defRPr>
            </a:pPr>
            <a:r>
              <a:t>Bus load calculation (Slide 26 placeholder)</a:t>
            </a:r>
          </a:p>
          <a:p>
            <a:pPr>
              <a:spcAft>
                <a:spcPts val="1000"/>
              </a:spcAft>
              <a:defRPr sz="1800">
                <a:solidFill>
                  <a:srgbClr val="333333"/>
                </a:solidFill>
              </a:defRPr>
            </a:pPr>
            <a:r>
              <a:t>Key Formulas:</a:t>
            </a:r>
          </a:p>
          <a:p>
            <a:pPr>
              <a:spcAft>
                <a:spcPts val="600"/>
              </a:spcAft>
              <a:defRPr sz="1800">
                <a:solidFill>
                  <a:srgbClr val="333333"/>
                </a:solidFill>
              </a:defRPr>
            </a:pPr>
            <a:r>
              <a:t>Message transmission time: Bits / Bit_rate</a:t>
            </a:r>
          </a:p>
          <a:p>
            <a:pPr>
              <a:spcAft>
                <a:spcPts val="600"/>
              </a:spcAft>
              <a:defRPr sz="1800">
                <a:solidFill>
                  <a:srgbClr val="333333"/>
                </a:solidFill>
              </a:defRPr>
            </a:pPr>
            <a:r>
              <a:t>Bus load: (Totalbits/sec) / (Busspeed) × 100%</a:t>
            </a:r>
          </a:p>
          <a:p>
            <a:pPr>
              <a:spcAft>
                <a:spcPts val="600"/>
              </a:spcAft>
              <a:defRPr sz="1800">
                <a:solidFill>
                  <a:srgbClr val="333333"/>
                </a:solidFill>
              </a:defRPr>
            </a:pPr>
            <a:r>
              <a:t>Network efficiency calculation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15 FRAMEWORK</a:t>
            </a:r>
          </a:p>
          <a:p>
            <a:pPr>
              <a:spcAft>
                <a:spcPts val="1000"/>
              </a:spcAft>
              <a:defRPr sz="1800">
                <a:solidFill>
                  <a:srgbClr val="333333"/>
                </a:solidFill>
              </a:defRPr>
            </a:pPr>
            <a:r>
              <a:t>END OF MODULE 4 (ELECTRICAL &amp; CONTROL SYSTEMS)</a:t>
            </a:r>
          </a:p>
          <a:p>
            <a:pPr>
              <a:spcAft>
                <a:spcPts val="1000"/>
              </a:spcAft>
              <a:defRPr sz="1800">
                <a:solidFill>
                  <a:srgbClr val="333333"/>
                </a:solidFill>
              </a:defRPr>
            </a:pPr>
            <a:r>
              <a:t>This framework is ready for PowerPoint conversion.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