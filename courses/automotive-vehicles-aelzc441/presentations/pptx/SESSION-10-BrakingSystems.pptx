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10: Braking Systems'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Braking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10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10. Today we design the systems that safely stop a 1,300 kg vehicle traveling at 100 km/h in just 40-50 meters. This is one of the most critical safety systems in any vehicle.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 9 - Applying Load Transfer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9, we calculated the physics of braking: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Honda Civic at maximum braking (μ = 0.85): — Deceleration: a_brake = 8.34 m/s² (0.85g)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Load transfer: ΔW = 2,208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 axle load: 9,303 N (73% of total weight!)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axle load: 3,463 N (only 27%)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question: How do we design a brake system that: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Generates 8.34 m/s² deceleration reliably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Handles 73% of braking force at front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rear wheels from locking (dangerous!)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 consistently (hot, cold, wet, repeated stops)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Requires manageable pedal force from driver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you'll learn: Complete brake system design from pedal to pad.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Braking Challenge - Safety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braking systems matter for safety: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Statistics (India): — ~30-40% of accidents involve inadequate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Rear-end collisions often due to misjudged stopping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reduces accidents by ~18-20% (wet conditions)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Stopping Distance Reality: — 100 km/h on dry road: ~45 m braking distance (+ 40 m reaction = 85 m total)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 km/h on wet road: ~65 m braking distance (+ 40 m reaction = 105 m total)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 km/h on ice: ~200+ m braking distance!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often underestimates: Most people think \"I can stop in 20-30 m at 100 km/h\" → WRONG!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Engineering responsibility: Design systems that maximize braking force within friction limits, maintain steering control, and work reliably under all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Matters for Electronics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braking is heavily electronic: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 (Anti-lock Braking System): — Sensors: Wheel speed sensors at each wheel (4 sensors)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Actuator: Hydraulic pump + solenoid valves (modulate pressure 5-15 times/second!)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ECU: Processes wheel speed, detects slip, controls valves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Algorithm: Threshold-based or slip-ratio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EBD (Electronic Brake Distribution): — Uses ABS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Actively adjusts front/rear brake balance based on deceleration and load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ESC (Electronic Stability Control): — Individual wheel braking for yaw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Integrated with ABS (uses same hardware)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Brake-by-Wire (Future): — No hydraulic connection pedal →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Fully electronic actuation (like EVs)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You'll program these systems → Must understand the hydraulics and mechanics you're controlling!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 - Emergency Braking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Challenge: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Mid-size sedan (similar to Honda Accord)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Mass: 1,500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Wheelbase: 2.8 m, CG height: 0.58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Static weight distribution: 57% front, 43% rear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Tire-road friction: μ = 0.85 (dry), 0.6 (wet)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Wheel/tire radius: 0.32 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 Requirements: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Stopping distance: From 100 km/h, stop in ≤ 45 m (dry road)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Pedal force: Maximum 500 N from driver (manageable for average person)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Reliability: Work consistently for 100,000 km, 200+ emergency stops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No wheel lockup on wet roads (steering control maintained)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Regulation: Meet BS (Bharat Stage) braking standards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Questions: — What brake force needed at each axle?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hydraulic pressure required?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disc size and caliper design?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prevent rear wheel lockup?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 we need ABS? (Yes, mandatory in India post-2019!)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end of session: Complete brake system design!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How Brakes Work - Converting Kinetic Energy to Heat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Braking = Energy Conversion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kinetic energy: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 = (1/2) × m × v²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1,500 kg at 100 km/h (27.8 m/s)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 = 0.5 × 1500 × 27.8² = 579,000 J (579 kJ)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does this energy go?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Friction between brake pad and disc/drum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Converts to HEAT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Heat dissipates to air (cooling)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Energy dissipation rate (Power):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Pbrake = Fbrake × 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start of braking (27.8 m/s, assuming 8 m/s² decel):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F_brake = m × a = 1500 × 8 = 12,000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P_brake = 12,000 × 27.8 = 334 kW!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like 450 horsepower of heating! (All goes into brakes)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why: — Brake discs get red-hot (400-700°C) during hard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fade occurs if heat can't dissipate fast enough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Ventilated discs critical for repeated braking (mountain descents, racing)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Brake Force Calculation Using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the tire-road interface (from Session 2):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Maximum friction force: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F_brake,max = μ ×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 = coefficient of friction (tire-road)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 = Normal load on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Session 9, during braking: — Front: Nf = Wf,static + ΔW (increases!)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Rear: Nr = Wr,static - ΔW (decreases!)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Maximum braking forces: — Fbrake,f,max = μ × Nf = μ × (Wf,static + ΔW) — Fbrake,r,max = μ × Nr = μ × (Wr,static - ΔW)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Front wheels can handle MORE braking force during hard braking (due to load transfer!). Rear wheels prone to lockup if braked too hard.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the brake disc (inside wheel): — Brake pad presses against disc with force F_clamp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generates braking torque: τbrake = μbrake × Fclamp × reff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torque resists wheel rotation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Creates reaction force at tire contact patch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friction interfaces: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Pad-disc friction (μ_brake ~ 0.35-0.45)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Tire-road friction (μ_road ~ 0.8-0.9 dry)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Limiting factor: Usually tire-road friction (lower μ when wet/icy)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Braking Force 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Honda Accord (m = 1,500 kg, L = 2.8 m, h = 0.58 m, μ = 0.85)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Calculate static loads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Assume 57% front / 43% rear (given)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W_f,static = 0.57 × 1500 × 9.81 = 8,388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W_r,static = 0.43 × 1500 × 9.81 = 6,328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Calculate maximum deceleration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a_max = μ × g = 0.85 × 9.81 = 8.34 m/s²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Calculate load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ΔW = (m × a × h) / L = (1500 × 8.34 × 0.58) / 2.8 = 2,586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Calculate dynamic loads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N_f = 8,388 + 2,586 = 10,974 N (74.7% of total!)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N_r = 6,328 - 2,586 = 3,742 N (25.3% of total)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Calculate maximum brake forces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Fbrake,f,max = 0.85 × 10,974 = 9,328 N — Fbrake,r,max = 0.85 × 3,742 = 3,181 N — F_brake,total = 9,328 + 3,181 = 12,509 N ✓ (matches m × a = 12,510 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Calculate required brake torque (at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τbrake,f = Fbrake,f × rwheel = 9,328 × 0.32 = 2,985 Nm — τbrake,r = Fbrake,r × rwheel = 3,181 × 0.32 = 1,018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Front brakes must handle ~75% of total braking force!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Brake Fade - The Temperature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 FADE = Loss of braking effectiveness due to overheating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happens: — Repeated hard braking → Disc temperature rises (can reach 600-800°C!)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Pad material changes: — Organic pads: Fade above ~250-300°C (coefficient drops from 0.40 to 0.20!)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Semi-metallic: Fade above ~400°C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Ceramic: Fade above ~600°C (racing pads)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Same pedal pressure produces LESS braking force → Longer stopping distance!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it's dangerous: — Driver presses harder → Pedal goes to floor → Still insufficient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Commonly occurs: Mountain descents (engine braking critical!)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Ventilated discs: Internal vanes pump air through disc → Better cooling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Larger discs: More mass → More heat capacity, larger surface → More cooling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pad material: Higher temperature tolerance (trade-off: noisier, more dust)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braking: Don't rely only on brakes (downshift on long descents)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cars: Ventilated discs standard on front, often solid discs rear (less heat)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Hydraulic Brake Systems (Slides 12-17, ~20 minutes)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Pascal's Principle - Pressure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hydraulic brakes? Force multiplication!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Pascal's Principle: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Pressure applied to confined fluid transmits equally in all directions.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F / A (Pressure = Force / Area)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Since pressure is equal throughout: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Pmaster = Pslave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Fmaster / Amaster = Fslave / Aslave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Rearranging: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Fslave = Fmaster × (Aslave / Amaster)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Master cylinder: Diameter 25 mm → Area = π × (12.5)² = 491 mm²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caliper piston: Diameter 50 mm → Area = π × (25)² = 1,963 mm²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multiplication: 1,963 / 491 = 4:1 — If driver applies 500 N to master → 500 × 4 = 2,000 N at caliper!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But: Slave piston moves 1/4 the distance (conservation of energy)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Additional multiplication: Brake Pedal Lever — Typical pedal ratio: 4:1 to 6:1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foot force 100 N × 5 (pedal ratio) = 500 N at master cylinder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system: 100 N (foot) → 500 N (master) → 2,000 N (caliper) = 20x multiplication!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Master Cylinder - The Heart of Hydraulic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MASTER CYLINDER converts pedal force to hydraulic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 — Piston: Pushed by brake pedal (via pushrod)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Primary seal: Prevents fluid leakage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Return spring: Returns piston when pedal released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Reservoir: Stores brake fluid (DOT 3, DOT 4, or DOT 5.1)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Compensating port: Allows fluid expansion with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design: Tandem Master Cylinder (dual circuit) — Two pistons in series (primary and secondary)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Split circuit: Typically diagonal split (LF+RR, RF+LR) or front/rear split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If one circuit fails, other still provides 50%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Regulation: Dual circuit mandatory (prevents complete brake failure)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Pedal pressed → Pushrod moves primary piston → Pressure builds in primary chamber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Primary pressure pushes secondary piston → Pressure builds in secondary chamber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circuits pressurize → Brake fluid flows to calipers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Pedal released → Springs return pistons → Fluid returns from calipers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master cylinder: Bore diameter 20-30 mm, stroke 40-60 mm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Brake Booster - Power Assist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 BOOSTER reduces pedal effort required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needed? — Without booster: Need ~500-700 N foot force for emergency stop (very hard!)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 booster: Only ~100-200 N needed (manageable)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Vacuum Brake Booster (Most common):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 — Diaphragm: Large surface area (200-250 cm²)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Vacuum chamber: Connected to engine intake manifold (~0.7-0.8 bar vacuum)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Atmospheric chamber: Can be connected to atmosphere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valve: Opens/closes atmospheric connection based on pedal position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Pedal released: — Valve closes atmospheric chamber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sides of diaphragm at vacuum → No force difference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Pedal pressed: — Valve opens atmospheric chamber to air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Vacuum on one side, atmospheric pressure on other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difference: ~1 bar × 200 cm² = 2,000 N force! — This force assists driver's foot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Force multiplication: — Driver: 150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Booster: +2,000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2,150 N to master cylinder!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 pedal leverage (5:1): Equivalent to 10,750 N foot force!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trend: Electric Brake Booster (Hybrid/EV) — No engine vacuum in EVs/hybrids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motor-driven pump creates vacuum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 fully electric actuator (brake-by-wire)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Brake Calipers and Disc Brakes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 BRAKE SYSTEM (Front brakes, increasingly rear too)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Brake Disc (Rotor): — Cast iron or carbon-ceramic (racing/high-end)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Diameter: 280-350 mm (passenger cars), 380-400 mm (performance)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Ventilated design: Two friction surfaces with vanes between (cooling channels)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Thickness: 20-30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Bolted to wheel hub → Rotates with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Brake Caliper: — Fixed caliper: Pistons on both sides (2, 4, 6, or 8 pistons total)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pads pushed simultaneously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performance, more expensive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Floating caliper: Piston(s) on one side only (1 or 2 pistons)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pushes inner pad → Pressure pushes outer pad via caliper sliding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Cheaper, most common on passenger cars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Brake Pads: — Friction material bonded to metal backing 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Materials: Organic (quiet, less dust), Semi-metallic (better heat), Ceramic (best performance)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 thickness: 10-12 mm new, replace at 2-3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Coefficient of friction: 0.35-0.45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 pressure enters caliper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Piston(s) move outward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Pad contacts disc on both sides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creates braking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Heat dissipates through ventilated disc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Clamping force calculation: — Caliper pressure: 80 bar (8 MPa)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area: 20 cm² (50 mm diameter)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F_clamp = P × A = 8 × 10⁶ Pa × 20 × 10⁻⁴ m² = 16,000 N! — With two pistons: 32,000 N total clamping force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Drum Brakes - Traditional Rear Brake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DRUM BRAKE SYSTEM (Still used on rear of economy cars)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Brake Drum: — Cylinder attached to wheel hub (rotates with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Diameter: 200-280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Cast iron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Brake Shoes: — Curved metal with friction lining on outer surface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Two shoes per wheel: Leading and trailing (or two leading for performance)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Pivot at bottom (anchor pin)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Wheel Cylinder: — Hydraulic actuator with two pistons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Pushes shoes outward against drum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Return Springs: — Pull shoes back when brake released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 pressure pushes wheel cylinder pistons outward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Pistons push brake shoes outward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Shoes contact drum inner surface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creates braking torque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Self-Energizing Effect: — Drum rotation tends to drag leading shoe into further contact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Increases friction force for same hydraulic pressure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\"Servo action\" - mechanical force multiplication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Lower cost (fewer parts)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Parking brake easier to integrate (mechanical cable locks shoes)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Less exposed to water/dirt (enclosed)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Poor heat dissipation (enclosed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Fade more easily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complex (more parts that can wear)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Harder to service (pads vs shoes)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trend: Disc brakes even for rear (better performance, easier maintenance)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Disc vs Drum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Comprehensive Comparison: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Aspect | Disc Brakes | Drum Brakes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|--------|------------|-------------|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Heat Dissipation | Excellent (exposed) | Poor (enclosed)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Fade Resistance | Better | Worse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Wet Performance | Good (water flung off by rotation) | Fair (water trapped inside)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Maintenance | Easy (pads accessible) | Harder (must remove drum)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Higher | Lower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Weight | Lighter | Heavier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Parking Brake | Needs separate mechanism | Easy to integrate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Self-Energizing | No | Yes (servo action)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Performance | Better (consistent) | Adequate for rear/economy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Application: — Front brakes: ALWAYS disc (handles 70-75% of braking, needs best performance)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brakes: — Economy cars: Drum (cost savings, adequate for 25-30% of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Mid/Premium cars: Disc (better performance, easier service)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cars: Large ventilated disc (maximum performance)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Future: All disc (even economy), possibly electric calipers (brake-by-wire)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Brake Force Distribution (Slides 18-20, ~12 minutes)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Distribution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Challenge: Load transfer changes front/rear weight distribution during braking, but hydraulic lines have fixed pressure!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Light braking (a = 2 m/s²):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Small load transfer (ΔW small)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distribution closer to static (say 60:40)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Ideal brake distribution: ~60% front, ~40% rear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Hard braking (a = 8 m/s²):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Large load transfer (ΔW large)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shifts forward dramatically (say 75:25)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Ideal brake distribution: ~75% front, ~25% rear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if we use fixed distribution: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A: 75:25 (optimized for hard braking) — At light braking: Front gets too much (could lock), rear too little (inefficient)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hard braking: Perfect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B: 60:40 (optimized for light braking) — At light braking: Perfect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hard braking: Rear gets too much → LOCKS! (dangerous - loss of stability)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Compromise (typical): ~70:30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optimal at either extreme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slightly under-braked at all times (for safety)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Better solution: Proportioning valve or EBD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Proportioning Valve - Mechanical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PROPORTIONING VALVE limits rear brake pressure above threshold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Design: — Installed in hydraulic line to rear brakes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Spring-loaded piston and valve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Below threshold (light braking): — Pressure &lt; ~40 bar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Valve fully open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pressure = Front pressure (1:1)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Above threshold (hard braking): — Pressure &gt; ~40 bar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 compresses, valve partially closes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pressure increases SLOWER than front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Slope change: Rear pressure = k × Front pressure (k ~ 0.4-0.6)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Front pressure: 80 bar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Without proportioning: Rear = 80 bar → Rear locks!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 proportioning: Rear = 40 + 0.5 × (80-40) = 60 bar → Safer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Graph: Front pressure (X-axis) vs Rear pressure (Y-axis)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Linear 1:1 up to knee point (~40 bar)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Then slope ~0.4-0.6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Still not perfect (can't adapt to load changes like passengers, cargo)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Load-Sensitive Valve (trucks): — Linked to suspension height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truck loaded → Rear compressed → Valve allows more rear pressure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truck empty → Valve limits rear pressure more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Adaptive to load!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Brake Balance and Lockup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Engineering analysis: When do wheels lock?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locks when: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 force &gt; Friction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F_brake &gt; μ ×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front: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Fbrake,f &gt; μ × Nf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rear: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Fbrake,r &gt; μ × Nr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Since Nf and Nr change with deceleration (load transfer): — As you brake harder, front can handle more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can handle less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Ideal brake force ratio: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Ff / Fr = Nf / Nr (changes with deceleration!)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 Balance Diagram: — X-axis: Front brake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Y-axis: Rear brake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Lockup curves: Show when front or rear locks for different μ values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line: Actual front/rear distribution of brake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 design: — Brake line between lockup curves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 locks slightly before rear (safer - maintains steering)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Never rear locks first (loss of stability, spin-out risk)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why: Slight rear under-braking acceptable (proportioning valve ensures this)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Anti-Lock Braking System (ABS) (Slides 21-25, ~18 minutes)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Locked Wheel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wheel lockup is dangerous: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Locked wheel (skidding): — Coefficient of friction DROPS: μkinetic ≈ 0.6-0.7 (vs μstatic = 0.8-0.9)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Longer stopping distance (~20-30% longer!)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Loss of steering control: Locked wheel can't generate lateral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Flat-spotted tire: Permanent damage from skidding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Rolling wheel with optimal slip: — Maintains higher friction (near μ_static)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Shorter stopping distance — Steering maintained: Can steer around obstacle while braking!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Slip Ratio Definition: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λ = (vvehicle - vwheel) / v_vehicle × 100%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v_vehicle = vehicle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v_wheel = tangential speed of wheel = ω × 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Slip values: — λ = 0%: Free rolling (no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= 10-20%: Optimal braking (maximum friction force!)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= 100%: Wheel locked (v_wheel = 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Maximum friction occurs at ~10-20% slip, NOT at lockup!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 goal: Maintain slip in optimal range (10-20%)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ABS Components and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 SYSTEM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Wheel Speed Sensors (4): — One at each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Types: Magnetic reluctance (older) or Hall-effect (modern)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Measures wheel rotational speed (ω)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Pulse train, frequency proportional to wheel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Accuracy: ~1-2% (sufficient for slip detection)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ABS Electronic Control Unit (ECU): — Processes wheel speed signals (typically 100-200 Hz sample rate)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Calculates vehicle speed (average of non-slipping wheels, or from dedicated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Calculates slip ratio for each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algorithm: Determines pressure increase/hold/decrease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 commands to hydraulic modulator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Processing time: ~10-20 ms (fast enough for stable control)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Hydraulic Modulator (HCU - Hydraulic Control Unit): — Solenoid valves: 2 per wheel (inlet and outlet) = 8 valves total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Pump: Re-pressurizes system during ABS cycling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Accumulator: Stores brake fluid during pressure decrease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Valve positions: — Pressure Increase: Inlet open, outlet closed (fluid from master → caliper)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Hold: Both closed (maintain current pressure)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Decrease: Inlet closed, outlet open (fluid from caliper → accumulator)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Warning Lamp: — Indicates ABS fault (system defaults to normal braking)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Architecture: — Individual wheel control: 4-channel ABS (best, most cars today)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Select-low: Controls axle based on wheel with most slip (older, 3-channel)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supply: ~12V, peak current ~20-30A during ABS cycling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ABS Control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 CONTROL ALGORITHM (Simplified)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INPUT: Wheel speeds (ω₁, ω₂, ω₃, ω₄)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Calculate vehicle reference speed — Use highest wheel speed or average of non-slipping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v_ref = max(ω₁, ω₂, ω₃, ω₄) × r (conservative estimate)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Calculate slip ratio for each wheel — λᵢ = (vref - ωᵢ × r) / vref × 100%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Determine control action for each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λ &lt; 10% (under-braking):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INCREASE PRESSURE (open inlet valve)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more braking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ELSE IF 10% ≤ λ ≤ 20% (optimal):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HOLD PRESSURE (both valves closed)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 current braking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ELSE IF λ &gt; 20% (over-braking, approaching lockup):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DECREASE PRESSURE (open outlet valve)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braking force → Wheel speeds up → Slip decreases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Repeat at 10-20 Hz (50-100 ms cycle time)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Brake pressure modulates 5-15 times per second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feels pulsation in pedal (normal!)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maintains slip in optimal range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braking force without lockup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Advanced algorithms: — PID control: Smooth modulation (less pulsation)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Fuzzy logic: Handles complex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Model-based: Predicts vehicle behavior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ABS Operation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 Cycle Example: Emergency braking on wet road (μ = 0.6)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0s: Driver stomps brake pedal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wheels: 100% speed (no slip yet)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ramping up quickly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0.1s: Pressure reaches high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wheels start slipping (less load due to weight transfer!)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Slip ratio rear: 25% (exceeds threshold)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activates: DECREASE pressure to rear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0.15s: Rear pressure reduced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wheels speed 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Slip decreases to 15%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action: HOLD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0.20s: Rear wheels stable at 15% slip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Within optimal range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held constant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0.25s: Road patch with lower friction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Slip increases again to 22%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action: DECREASE pressure again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Pattern continues: Pressure cycles 10-15 times until vehicle stops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Front wheels: May not need ABS intervention (higher load → less prone to lock)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— Stopping distance: ~65m (close to theoretical limit for μ = 0.6)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Without ABS: ~80m+ (locked wheels, μ_kinetic = 0.5)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~15-20% improvement + steering maintained!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experience: — Pedal pulsation (normal - don't release!)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Grinding/buzzing sound (pump and valves)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stops straight (no skid)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today's learning: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FRICTION BRAKING FUNDAMENTALS: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Braking converts kinetic energy to heat (KE = ½mv²)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Brake force: F = μ × N (Session 2 friction!)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Load transfer shifts weight forward (Session 9!) → Front handles ~75% of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Brake fade due to heat (pad friction coefficient drops with temperature)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HYDRAULIC BRAKE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Pascal's principle: P = F/A, enables force multiplication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Master cylinder: Converts pedal force to hydraulic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Brake booster: Vacuum-assist reduces pedal effort (2,000+ N assist)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Disc brakes: Better heat dissipation, used on front (always) and increasingly rear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Drum brakes: Still used on rear of economy cars (cost savings)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Typical hydraulic pressure: 40-100 bar during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BRAKE FORCE DISTRIBUTION: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Ideal distribution changes with deceleration (due to load transfer)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Proportioning valve: Mechanical solution, limits rear pressure above threshold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Load-sensitive valve: Adapts to vehicle load (trucks)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Design goal: Front locks slightly before rear (safer)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ANTI-LOCK BRAKING SYSTEM (ABS):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Optimal slip: 10-20% (maximum friction, NOT at lockup!)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Components: Wheel speed sensors (4), ECU, hydraulic modulator (8 valves + pump)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Control: Modulate pressure 10-20 Hz to maintain optimal slip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Benefits: Shorter stopping distance + steering maintained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EBD: Electronic brake distribution using ABS hardware (adapts to load/conditions)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 design complete brake systems from first principles!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Today: Controlled longitudinal motion (braking). Next: Control lateral motion (steering) and vertical motion (suspension).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11: Steering Systems — How to control direction while maintaining vehicle dynamics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Ackermann geometry (prevent tire scrub during turns)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ratio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steering (hydraulic and EPAS - Electric Power Assisted Steering)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feel and feedback (why it matters)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12: Suspension Systems — How to manage load transfer we calculated today and Session 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Spring-mass-damper physics (ride comfort vs handling trade-off)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Suspension types (McPherson, double wishbone, multi-link)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Anti-roll bars: Reduce lateral load transfer during cornering!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Electronic adaptive suspension (real-time damping adjustment)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Integration: — Braking (today) + Steering (Session 11) + Suspension (Session 12) = Complete chassis control — All managed by chassis ECUs in modern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19 (later): Electronic Stability Control (ESC) - integrates braking, steering, powertrain for stability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Building toward: Complete understanding of vehicle dynamics and control systems!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Assignment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11):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Design a hydraulic brake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 vehicle: — Mass: 1,800 kg (SUV)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Wheelbase: 3.0 m, CG height: 0.75 m (higher than car!)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Static distribution: 52% front, 48% rear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0.35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Tire-road μ = 0.80 (dry), 0.55 (wet)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Maximum deceleration (dry road)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Load transfer and dynamic weight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Braking force required at each axle (assume ideal 75:25 distribution)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d) Brake torque required at each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e) If front disc effective radius is 140 mm and pad μ = 0.38, calculate required clamping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f) If caliper has 4 pistons of 40 mm diameter each, calculate required hydraulic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g) Design master cylinder (bore diameter) if driver can apply 600 N with brake booster assistance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ABS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the same vehicle, during emergency braking at 80 km/h on wet road (μ = 0.55):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stopping distance WITH perfect ABS (maintains optimal 15% slip)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Calculate stopping distance WITHOUT ABS (rear wheels lock, μ_kinetic = 0.45 for locked wheels)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Calculate percentage improvement in stopping distance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d) At what vehicle speed does ABS activate if rear wheel slip exceeds 20%?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Proportioning Valve Design: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a proportioning valve for the SUV that: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1:1 distribution up to 50 bar (knee point)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Above 50 bar, rear pressure increases at 50% rate of front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rear pressure when front pressure is 90 bar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Plot front vs rear pressure graph (0-100 bar range)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Explain why this prevents rear lockup during hard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Why do performance cars have larger front brakes than rear? (load transfer → front handles most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ABS reduce stopping distance on gravel or loose surfaces? (Sometimes NO - locked wheels \"dig in\" can be better!)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does brake fluid need to be changed every 2 years? (absorbs moisture → lower boiling point → vapor lock risk)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brake-by-wire and why is it used in EVs? (no engine vacuum for booster, electric actuation, regen braking integration)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regenerative braking in hybrids/EVs integrate with hydraulic brakes? (blended braking - ECU coordinates)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Brake 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Final thought: Modern braking is a complex integrated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Electronics Integration: — ABS ECU: Wheel slip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 ECU: Stability control (Session 19) - uses individual wheel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Regen braking controller (Hybrids/EVs): Coordinates electric motor braking with hydraulic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ADAS systems: Autonomous Emergency Braking (AEB) - applies brakes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Hill Hold Assist: Maintains brake pressure on slopes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CAN Bus Communication: — ABS broadcasts wheel speeds to other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 commands brake actuators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ECU receives braking status (cut fuel during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Instrument cluster displays warnings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Future: — Brake-by-wire: Fully electronic (no hydraulic connection pedal → wheels)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Redundant systems: Dual actuators for fail-safe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Predictive braking: Uses sensors to anticipate need for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 automotive electronics engineers, you'll: — Program ABS/ESC algorithms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 multiple brake control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 fail-safe strategies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Tune control parameters for optimal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Understanding the mechanics and hydraulics (today) is ESSENTIAL for designing the electronics!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you in Session 11 for Steering Systems!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Maintain professional engineering template from Sessions 1-9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System-focused: Clear hydraulic system diagrams, component cutaways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Calculations prominent: Show worked examples with clear step-by-step math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Blue for hydraulic fluid flow paths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brake force/pressure (high values)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ABS sensor signals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heat/temperature warnings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Purple for electronic control signals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3: Stopping distance reality – Establishes safety criticality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Complete braking force calculation – Applies Sessions 2 &amp; 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Pascal's principle – Foundation of hydraulic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Disc brake caliper cutaway – Most common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17: Disc vs drum comparison – Engineering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ABS control algorithm – Core electronic control logic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Complete system design – Integration of all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27: Summary formulas – Comprehensive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Animated hydraulic pressure transmission (master → slave cylinder)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Master cylinder operation (piston movement, fluid flow)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Caliper actuation (piston pushing pad against disc)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Proportioning valve operation (knee point, slope 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Wheel slip visualization (rolling vs locked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ABS cycle animation (pressure modulation over time)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Time-series graphs with animated markers showing ABS intervention points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Real brake discs, calipers, master cylinder, ABS modulator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Cutaway diagrams: Professional engineering cutaways (disc brake assembly, drum brake, master cylinder)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 schematics: Flow diagrams showing fluid paths through complete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Graphs: Brake balance diagram, friction vs temperature, slip ratio vs friction coefficient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Disc vs drum, with ABS vs without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 worksheets: Complete worked examples with highlighting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on previous sessions: Session 2 (friction), Session 9 (load transfer) applied throughout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approach: Show how components integrate into complete functional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emphasis: Highlight life-saving importance of proper brake system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Electronics integration: Connect mechanical/hydraulic to electronic control (ABS, EBD)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Real-world grounding: Use actual brake specifications, real accident statistics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is ABS better if optimal slip is 10-20%, not 0%?"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friction vs slip curve - peak friction occurs at ~10-20% slip, then drops off toward lockup (100%). Static friction (0% slip) is high, but once wheel starts slipping, peak is at moderate slip, not at full lockup. Kinetic friction (sliding) is always lower than peak static/slip friction.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"How does proportioning valve 'know' when pressure is too high for rear?"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It doesn't "know" braking force - it's purely pressure-sensitive. Spring is calibrated to start compressing at specific pressure threshold (e.g., 40 bar). Above that, mechanical valve design creates slope change. Not adaptive to conditions - that's why EBD is better (uses wheel speed sensors to detect actual slip).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"If ABS cycles 10-20 times per second, doesn't that make stopping distance longer (pressure not constant)?"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Without ABS, locked wheel has LOWER friction (μkinetic &lt; μstatic). ABS keeps slip near optimal, which has HIGHER friction than locked. Even though pressure cycles, average braking force is higher because friction coefficient is higher. Show data: With ABS ~0.85μ average, without ABS ~0.65μ (locked) → 30% more friction with ABS!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"Why do we need brake booster? Can't we just make pedal lever ratio higher?"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Pedal travel would be excessive! If pedal ratio is 10:1 to get enough force, pedal would need to move 10× master cylinder stroke → maybe 40-60 cm pedal travel! Driver's leg can't reach. Booster adds force WITHOUT increasing pedal travel. Show trade-off: force multiplication vs travel multiplication.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drum brake details (Slide 16) - just mention they exist, focus on disc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proportioning valve details (Slide 19) - show concept, skip detailed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ABS components and algorithm (Slides 22-23) into overview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complete design example (Slide 26) to assignment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disc vs drum comparison (Slide 17) to assignment reading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Skip brake balance diagram details (Slide 20) - just mention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EBD explanation (Slide 25) - briefly mention it uses ABS hardware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8-10 (Friction braking fundamentals and force calculations)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12-13 (Hydraulic principles and master cylinder)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 (Disc brake operation - most common)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21-23 (ABS operation and control - critical for electronics engineers)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 (Complete system integration)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3: Share personal story or local accident statistics - make it real and relevant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11: If possible, show video of brake disc glowing red during repeated braking (racing footage)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12: Demonstrate Pascal's principle with syringes if available (small syringe pushing large syringe)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15: Show real brake caliper and disc if available - students can see component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21: Demonstrate on wheeled chair - lock wheels (can't steer), vs rolling with brakes (can steer)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24: Play sound of ABS activating (grinding/buzzing) - many students have heard but didn't know what it was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Carbon-ceramic brakes: Why so expensive? (Exotic materials, better fade resistance, lighter, but brittle)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cooling ducts (performance cars): Force air to brakes for cooling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Electronic parking brake (EPB): Electric motor instead of cable, integrates with hill hold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Autonomous emergency braking (AEB): Uses radar/camera to detect collision, applies brakes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fluid types: DOT 3/4/5/5.1 differences (boiling point, hygroscopic properties)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safety system: Any brake system failure can be fatal - emphasize design rigor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 importance: Brake fluid changes, pad replacement critical - neglect is dangerous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and ESC mandatory: Regulations save lives (show accident reduction statistics)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Don't modify brake systems: Aftermarket "upgrades" can make things worse if not engineered properly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responsibility: As engineers, you design systems people trust with their lives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friction principles to calculate braking force using tire-road friction and normal load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braking deceleration and stopping distance for given conditions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hydraulic brake system components and operation (master cylinder, booster, calipers)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disc and drum brakes with performance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ABS operation and wheel slip control principle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brake force distribution and proportioning valve role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complete brake system design from first principles (friction, load transfer, hydraulics), can apply Sessions 2 and 9 knowledge to real systems, and understand the electronic control systems (ABS, EBD) they'll program as automotive electronics engineers.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Electronics Deep Dive: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 (Friction): F = μN is basis for all braking force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 (Dynamics): Load transfer during braking directly determines front/rear force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1-3 (Foundation): Energy calculations (KE to heat), force-deceleration relationships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Preview steering throughout: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"ABS maintains steering during braking → Session 11 shows how steering actually 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"Load transfer affects tire grip → Session 11 explains how this impacts steering geometry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"Optimal slip for braking is ~15% → Session 11 will show lateral slip for cornering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requirements: ECE R13 (international), FMVSS 105/135 (US), BS (India) - minimum deceleration, fade test, ABS mandatory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Testing: Track testing, brake dynamometer, thermal testing, durability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Failure modes: Loss of fluid, vapor lock, pad glazing, disc warping - engineers must anticipate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considerations: Disc vs drum choice often driven by cost (~$50-100 difference per axle)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electronics students, emphasize: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bus integration: ABS broadcasts wheel speeds (50-100 Hz), receives brake requests from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signal processing: Hall-effect sensor outputs pulse train → ECU calculates frequency → wheel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PWM valve control: Solenoid valves use PWM for precise pressure control (not just on/off)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codes: OBD-II fault codes for ABS (C-codes), read via scan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Calibration: ABS control parameters tuned for specific vehicle (thresholds, PID gains)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10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