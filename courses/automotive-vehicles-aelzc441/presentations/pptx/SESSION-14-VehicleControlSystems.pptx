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14: Vehicle Control Systems'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Vehicle Control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14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Automotive Sensors -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 ECU is useless without information. Sensors are the ECU's eyes and ears—they measure the physical world and convert it to electrical signals.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SENSOR CLASSIFICATION: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Measurement Type: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TEMPERATURE SENSORS — Measure: °C or °F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Engine coolant temp, intake air temp, exhaust gas temp, cabin temp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PRESSURE SENSORS — Measure: kPa, bar, psi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Manifold absolute pressure (MAP), tire pressure (TPMS), fuel pressure, brake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POSITION SENSORS — Measure: Angle or linear position (degrees, mm)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Throttle position, camshaft position, crankshaft position, pedal position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SPEED SENSORS — Measure: RPM or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Wheel speed (ABS), vehicle speed, engine speed (tachometer)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FLOW SENSORS — Measure: kg/s or L/min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Mass airflow (MAF), fuel flow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COMPOSITION SENSORS — Measure: Chemical composition (%)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Oxygen sensor (lambda), NOx sensor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Signal Type: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ANALOG SENSORS: — Output: Continuous voltage (0-5V typical) or resistance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Coolant temperature sensor (resistance decreases with temperature)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reads via analog-to-digital converter (ADC)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DIGITAL SENSORS: — Output: On/off signal or pulse train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Crankshaft position sensor (digital pulses)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counts pulses directly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SMART SENSORS: — Output: Digital data over serial communication (CAN, LIN)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Tire pressure monitoring sensor (transmits pressure + temperature + ID)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Most advanced, least susceptible to noise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explore each major sensor type in detail.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Temperature Sensors - Thermistors (NTC)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Temperature is fundamental—engines, transmissions, everything has optimal operating temperature.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NTC THERMISTOR (Negative Temperature Coefficient)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Technology: — Semiconductor material (metal oxide ceramic)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Resistance decreases as temperature increases — Non-linear relationship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Characteristics: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25°C: 2,500 Ω (2.5 kΩ)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80°C: 300 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100°C: 180 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ECU Measures: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Circuit: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supplies 5V reference voltage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Voltage divider: 5V → Fixed Resistor (2.5 kΩ) → Thermistor → Ground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measures voltage at junction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Voltage changes as thermistor resistance changes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Calculation: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V_sensor = 5V × (R_thermistor / (R_fixed + R_thermistor))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Engine cold (20°C): R_thermistor = 3,000 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V_sensor = 5V × (3,000 / 5,500) = 2.73V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interprets: 20°C — Engine hot (90°C): R_thermistor = 250 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V_sensor = 5V × (250 / 2,750) = 0.45V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interprets: 90°C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Applications: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Engine Coolant Temperature (ECT) — Location: Thermostat housing or cylinder head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 start enrichment (add fuel when cold)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fan control (turn on at 95°C)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trim adjustment (density changes with temperature)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Intake Air Temperature (IAT) — Location: Intake manifold or air filter housing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 density calculation (cold air denser = more oxygen)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adjustment (more air = need more fuel)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Knock protection (hot air more prone to detonation)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Transmission Fluid Temperature (TFT) — Location: Transmission oil pan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Purpose: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Shift strategy adjustment (firm shifts when hot)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Overheating protection (lock torque converter, reduce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Simple, cheap ($5-15)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No external power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Very reliable (no moving parts)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Non-linear (requires lookup table in ECU)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Slow response (thermal mass takes time to heat/cool)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'When your engine runs cold for too long (stuck-open thermostat), the ECU sees low coolant temperature and enriches the fuel mixture. Result: poor fuel economy, high emissions, rough running. The ECU is responding correctly to bad sensor data—the problem is the thermostat, not the ECU!'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Slide 10-15: Other Sensor Types (Summarized)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[These slides would cover: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Pressure sensors (piezo-resistive, capacitive) - MAP sensor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Position sensors (potentiometer, Hall effect) - TPS, pedal 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12: Speed sensors (inductive, Hall effect) - Crankshaft, camshaft, wheel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13: Mass airflow sensor (hot-wire, hot-film) - Critical for fuel calculation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14: Oxygen sensor (lambda sensor) - Zirconia, wide-band vs narrow-band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Sensor summary table comparing all types]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3: RISING ACTION - "Acting on the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Automotive Actuators -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Sensors measure the world; actuators change it. These are the ECU's muscles.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ACTUATOR CLASSIFICATION: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Type: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SOLENOIDS (Electromagnetic Actuators) — Convert electrical current → linear or rotary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Fuel injectors, transmission shift solenoids, VVT solenoids, purge valve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ELECTRIC MOTORS — Convert electrical power → rotary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Throttle valve motor, EPAS motor, cooling fan, fuel pump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STEPPER MOTORS — Precise rotary positioning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Idle air control valve, cruise control throttle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RELAYS — Electrically controlled switches (we covered in Session 13)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Fuel pump relay, cooling fan relay, A/C compressor clutch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Control Method: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ON/OFF (Bang-Bang Control) — Actuator is either fully on or fully 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Cooling fan relay (on when temp &gt; 95°C, off when &lt; 90°C)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PWM (Pulse Width Modulation) — Vary average power by rapidly switching on/off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Fuel injector (pulse width determines fuel quantity)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ANALOG (Continuous Control) — Smoothly variable output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Throttle motor position (precise angle control)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explore key actuators.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Fuel Injectors - PWM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fuel injector is the most critical actuator for engine control.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INJECTOR DESIGN: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Solenoid Coil — Electromagnetic coil (many turns of fine wire)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Typical: 2-5 Ω resistance, 12V supply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energized: Creates magnetic field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Plunger (Armature) — Movable iron core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Held closed by spring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Pulled open by magnetic field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Nozzle &amp; Spray Pattern — Precision-machined orifice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Creates fine fuel mist (atomization)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Spray pattern optimized for combustion chamber shape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Fuel Supply — Constant pressure fuel rail (typically 300-400 kPa / 43-58 psi)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always present, ready to inject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Injector Closed (De-energized): — No current through coil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 holds plunger closed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blocked (no flow)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Injector Open (Energized):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sends current pulse to solenoid (12V)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Magnetic field pulls plunger open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sprays through nozzle (pressure differential)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Atomized fuel mixes with air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Injector Closes: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cuts current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Magnetic field collapses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 forces plunger closed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flow stops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 Time: 1-2 milliseconds (open/close cycle)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PWM CONTROL - PULSE WIDTH MODULATION: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Concept: Control fuel quantity by varying how long injector stays open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Parameters: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Pulse Width (Injection Duration): — Measured in milliseconds (ms)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 range: 1-15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Longer pulse = more fuel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Quantity Formula: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Fuel Mass = Fuel Pressure × Injector Flow Rate × Pulse Width</a:t>
            </a:r>
            <a:br/>
            <a:br/>
            <a:r>
              <a:t>Or simplified:</a:t>
            </a:r>
            <a:br/>
            <a:r>
              <a:t>Fuel (mg) ≈ K × Pulse Width (ms)</a:t>
            </a:r>
            <a:br/>
            <a:br/>
            <a:r>
              <a:t>Where K = injector flow coefficient (depends on pressure, nozzle size)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Injector flow rate: 200 cc/min @ 300 kPa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width: 3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delivered: ~10 mg per pulse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Operating Conditions: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Idle: — Low air mass → need low fuel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width: 2-3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Frequency: ~25 pulses/sec (engine at 750 RPM, 4-cylinder, 4-stroke)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Full Load (Wide Open Throttle): — High air mass → need high fuel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width: 10-15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Frequency: ~100 pulses/sec (engine at 6,000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Cold Start: — Cold engine → poor fuel vaporization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Need extra fuel (enrichment)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width: +50-100% longer than normal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MULTI-POINT FUEL INJECTION (MPFI) vs DIRECT INJECTION (GDI):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Port Injection (MPFI): — Injector sprays into intake port (before intake valve)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mixes with air in port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Enters cylinder already mixed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Pressure: 300-400 kPa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Direct Injection (GDI): — Injector sprays directly into combustion chamber — Much higher pressure: 10,000-35,000 kPa (100-350 bar)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precise control (inject during compression stroke)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efficiency, more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'PWM control is everywhere in automotive systems—not just fuel injectors. Variable valve timing solenoids, transmission shift solenoids, EVAP purge valve—all use PWM. The ECU rapidly switches them on/off, and the average (duty cycle) determines the effect. It's digital control of analog systems.'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Slide 18-21: Other Actuator Types (Summarized)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[These slides would cover: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Electronic throttle (drive-by-wire) - DC motor, position feedback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19: VVT solenoid (variable valve timing) - Oil pressure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20: EGR valve (exhaust gas recirculation) - Stepper motor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Transmission shift solenoids - Hydraulic pressure PWM control]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4: CLIMAX - "Closed-Loop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Open-Loop vs Closed-Loop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seen sensors (measurement) and actuators (control). Now let's see how they work together in control loops.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OPEN-LOOP CONTROL (No Feedback)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ECU commands actuator based on pre-programmed map, without measuring the result.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Cold Start Fuel Enrichment (Simplified)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reads coolant temperature sensor: 5°C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looks up fuel enrichment table: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5°C → enrich by +40%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increases injector pulse width by 40%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measurement of actual air-fuel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[Coolant Temp Sensor] → [ECU] → [Fuel Injector]</a:t>
            </a:r>
            <a:br/>
            <a:r>
              <a:t>                          ↑</a:t>
            </a:r>
            <a:br/>
            <a:r>
              <a:t>                    [Lookup Table]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Simple (no feedback sensor needed)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Fast (no time delay for feedback)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Inaccurate (assumes table is correct for all conditions)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No error correction (if actual AFR is wrong, ECU doesn't know)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Cannot adapt (altitude, fuel quality, aging components affect result)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CLOSED-LOOP CONTROL (With Feedback)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ECU commands actuator, measures the result, compares to target, and corrects errors.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Lambda Control (Air-Fuel Ratio Control)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Process: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calculates target AFR: 14.7:1 (stoichiometric)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calculates required fuel based on air mass (from MAF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commands fuel injector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Oxygen sensor measures actual AFR in exhaust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compares: Actual vs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actual ≠ target: ECU adjusts fuel injection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Repeat continuously (closed loop)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Diagram: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[Target AFR] → [ECU] → [Fuel Injector] → [Engine] → [Exhaust]</a:t>
            </a:r>
            <a:br/>
            <a:r>
              <a:t>                ↑                                        ↓</a:t>
            </a:r>
            <a:br/>
            <a:r>
              <a:t>                ←──────── [Oxygen Sensor] ←──────────────</a:t>
            </a:r>
            <a:br/>
            <a:r>
              <a:t>                       (Feedback)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Accurate (measures actual result, corrects errors)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Adaptive (compensates for altitude, fuel quality, aging)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Self-correcting (if something drifts, feedback compensates)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Requires feedback sensor (cost)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Slower (feedback delay)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❌ Can oscillate if tuned incorrectly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TO USE EACH: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Open-Loop: — Cold start (before oxygen sensor warms up)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Transient conditions (rapid throttle changes—feedback too slow)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Fail-safe mode (if feedback sensor fails)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Closed-Loop: — Normal operation (cruising, steady-state)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Emissions-critical operation (catalyst requires precise AFR)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Long-term adaptation (learn fuel system aging)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'Modern engine management uses both. During cold start, open-loop enriches fuel (no O2 sensor yet). After 30-60 seconds, oxygen sensor warms up, ECU switches to closed-loop, measures actual AFR, and trims fuel precisely to 14.7:1. This is why emissions are high for the first minute after starting—no closed-loop yet.'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Lambda Control - The Perfect Air-Fuel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dive deep into the most important closed-loop control in engine management: Lambda Control (air-fuel ratio control).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GOAL: STOICHIOMETRIC COMBUSTION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Chemistry: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Gasoline (C8H18) + Air (21% O2, 79% N2) → CO2 + H2O + Heat</a:t>
            </a:r>
            <a:br/>
            <a:br/>
            <a:r>
              <a:t>Stoichiometric Ratio:</a:t>
            </a:r>
            <a:br/>
            <a:r>
              <a:t>14.7 kg of air : 1 kg of fuel (mass ratio)</a:t>
            </a:r>
            <a:br/>
            <a:br/>
            <a:r>
              <a:t>Lambda (λ) = Actual AFR / Stoichiometric AFR</a:t>
            </a:r>
            <a:br/>
            <a:br/>
            <a:r>
              <a:t>λ = 1.0 → Perfect mixture (14.7:1)</a:t>
            </a:r>
            <a:br/>
            <a:r>
              <a:t>λ &gt; 1.0 → Lean (excess air, AFR &gt; 14.7:1)</a:t>
            </a:r>
            <a:br/>
            <a:r>
              <a:t>λ &lt; 1.0 → Rich (excess fuel, AFR &lt; 14.7:1)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λ = 1.0 Matters: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Three-Way Catalytic Converter REQUIRES λ = 1.0 ± 0.01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λ = 1.0: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CO oxidized to CO2 (requires oxygen)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HC oxidized to CO2 + H2O (requires oxygen)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✅ NOx reduced to N2 (requires reducing agent—excess fuel)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Catalyst Efficiency: — λ = 1.00: 95-99% conversion (excellent)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= 0.95: 60% NOx conversion (too rich)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= 1.05: 40% CO conversion (too lean)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Emissions regulations (BS6, Euro 6) demand λ = 1.00 ± 0.01 —--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LAMBDA CONTROL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Mass Airflow Sensor (MAF) — Measures: kg/s of air entering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Technology: Hot-wire sensor (air cools wire, resistance changes)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0-5V analog (proportional to airflow)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At idle: 3 g/s (0.003 kg/s)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full load: 150 g/s (0.150 kg/s)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Engine Control ECU — Calculates required fuel mass: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  Fuel Mass = Air Mass / 14.7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Calculates injector pulse width: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  Pulse Width = Fuel Mass / Injector Flow Rate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Fuel Injector — Delivers calculated fuel mass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Response time: 1-2 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Oxygen Sensor (Lambda Sensor) — Measures: Oxygen content in exhaust gas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Technology: Zirconia ceramic (generates voltage based on O2 concentration)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Output: 0-1V (0.45V = lean, 0.55V = rich, 0.5V = stoich)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Types: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Narrow-Band Oxygen Sensor (Switch Type): — Output: Sharp transition at λ = 1.0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Can only detect λ = 0.95-1.05 (narrow window)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Cannot measure HOW rich or lean, only "rich" or "lean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Cheap ($30-80)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Wide-Band Oxygen Sensor (Linear Type): — Output: Linear voltage proportional to λ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Range: λ = 0.65-1.3 (wide range)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measure exact AFR (12:1, 14.7:1, 16:1,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Expensive ($150-400)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in performance applications, diesel engines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CLOSED-LOOP 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Open-Loop Calculation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 — MAF sensor: 10 g/s airflow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λ = 1.0 (AFR = 14.7:1)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Calculate fuel needed: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Fuel = Air / AFR = 10 g/s / 14.7 = 0.68 g/s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Convert to injector pulse width: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Injector flow rate: 200 cc/min = 160 mg/stroke @ 300 kPa</a:t>
            </a:r>
            <a:br/>
            <a:r>
              <a:t>Pulse width = (0.68 g/s / 4 cylinders) / (160 mg/stroke) × 1000</a:t>
            </a:r>
            <a:br/>
            <a:r>
              <a:t>            = ~4.25 ms per injection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ECU Commands Injector — Pulse width: 4.25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sprays, combustion occurs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Oxygen Sensor Measures — Exhaust reaches O2 sensor (~500 ms delay)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O2 sensor voltage: 0.52V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Interpretation: — 0.52V &gt; 0.50V → Slightly rich (too much fuel)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λ ≈ 0.98 (slightly rich)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ECU Corrects — ECU reduces pulse width: 4.25 ms → 4.20 ms (-1.2%)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 fuel injected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Repeat — O2 sensor measures again (after 500 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Voltage: 0.48V → Slightly lean — ECU increases pulse width: 4.20 ms → 4.23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Repeat continuously (oscillates around λ = 1.0)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 FREQUENCY: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Update Rate: — ECU recalculates every 10-50 ms — O2 sensor feedback delay: 200-500 ms (exhaust travel time)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oscillates ± 2% around λ = 1.0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Average λ = 1.00 over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— Catalyst sees average λ = 1.00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95-99% emissions conversion — Meets BS6/Euro 6 standards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'This is why catalytic converters fail if you have persistent misfires or run too rich/lean for extended periods. The catalyst is designed for λ = 1.0. If you run at λ = 0.8 (very rich—maybe due to bad MAF sensor), the catalyst sees excess fuel, overheats, and the ceramic substrate melts. A $50 sensor failure leads to a $1,500 catalyst replacement!'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Slide 24-26: PID Control &amp; Other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[These slides would cover: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PID control basics (Proportional-Integral-Derivative)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Idle speed control example (closed-loop)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Knock control example (closed-loop timing adjustment)]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5: RESOLUTION - "Complete System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Engine Management ECU - Complete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integrate everything: sensors, actuators, and control loops into a complete Engine Management System.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CONTROL ECU (ECM/PCM)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INPUTS (Sensors):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 System: — Mass Airflow Sensor (MAF): Air mass (kg/s)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Intake Air Temperature (IAT): Air density correction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Manifold Absolute Pressure (MAP): Load indication (some systems use MAP instead of MAF)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 Sensor (TPS): Driver demand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System: — Oxygen Sensor (O2/Lambda): Exhaust gas O2 (closed-loop feedback)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Pressure Sensor: Rail pressure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Temperature Sensor: Density correction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Ignition System: — Crankshaft Position Sensor (CKP): Engine speed, TDC 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Camshaft Position Sensor (CMP): Cylinder identification, valve timing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Knock Sensor: Detonation detection (piezoelectric accelerometer)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Cooling System: — Engine Coolant Temperature (ECT): Cold start, fan control, fuel trim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Inputs: — Accelerator Pedal Position: Driver torque request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Switch: Decel fuel cut, idle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Cruise Control Switches: Target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Other: — Vehicle Speed Sensor (VSS): Transmission control, cruise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Battery Voltage: Charging system status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A/C Request: Load compensation (increase idle speed)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OUTPUTS (Actuators):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System: — Fuel Injectors (4-12 depending on cylinders): Precise fuel metering (PWM, 1-15 ms pulse)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Pump Relay: Prime fuel system, maintain pressure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Ignition System: — Ignition Coils (one per cylinder): Spark timing (0-40° BTDC typically)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Ignition timing advance/retard based on load, speed, knock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 System: — Electronic Throttle Valve (Drive-by-wire): Throttle opening (0-90°)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Idle Air Control Valve: Idle speed regulation (bypass air)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VVT Solenoids: Variable valve timing (intake/exhaust cam phasing)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Emissions: — EGR Valve: Exhaust gas recirculation (reduce NOx)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Purge Valve: Evaporative emissions control (EVAP system)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Secondary Air Pump: Catalyst warm-up (cold start)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Other: — Cooling Fan Relay: Engine temperature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 Engine Light (MIL): Fault indication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Tachometer Signal: RPM display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 STRATEGIES: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Base Fuel Calculation (Open-Loop):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Base Fuel = MAF (kg/s) / 14.7 (AFR) / Engine Speed (rev/s) / Cylinders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Fuel Trims (Closed-Loop):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Final Fuel = Base Fuel × Short-Term Trim × Long-Term Trim</a:t>
            </a:r>
            <a:br/>
            <a:br/>
            <a:r>
              <a:t>Short-Term Trim: Immediate correction based on O2 sensor (±25%)</a:t>
            </a:r>
            <a:br/>
            <a:r>
              <a:t>Long-Term Trim: Learned compensation (±15-25%, stored in ECU memory)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Ignition Timing: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Base Timing = Lookup Table [Engine Speed, Load]</a:t>
            </a:r>
            <a:br/>
            <a:r>
              <a:t>Final Timing = Base Timing - Knock Retard + Coolant Compensation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Idle Speed Control: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Target Idle = 700 RPM (warm), 1,200 RPM (cold)</a:t>
            </a:r>
            <a:br/>
            <a:r>
              <a:t>Idle Air Valve Opening = PID(Target RPM - Actual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All These Run Simultaneously: — Fuel calculation: Every 5-10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Ignition timing: Every cylinder firing (every 10-20 ms @ 3,000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Idle control: Every 50-100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Lambda control: Every 200-500 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detection: Continuous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ECU Processing: — Processor: 32-bit, 100-200 MHz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Memory: 512 KB - 4 MB Flash, 128 KB RAM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I/O: 50-100 inputs/outputs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Power: 5-10W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'The engine ECU is one of the most complex computers in the vehicle. It's executing thousands of calculations per second, managing 50+ sensors and actuators, all while ensuring emissions compliance, driveability, and reliability. And it must work flawlessly for 200,000+ km in extreme conditions—from -40°C to +125°C, vibration, humidity, everything. It's an engineering marvel.'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Transmission Control Unit (TCU) - Shift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look at another major ECU: the Transmission Control Unit (TCU or TCM).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TCU FUNCTION: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 automatic transmission shifting to optimize: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(fast shifts when driver demands)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economy (early upshifts for cruising)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Smoothness (gentle shifts for comfort)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Sensors: — Vehicle Speed Sensor (VSS):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Turbine Speed Sensor: Transmission input speed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Speed Sensor: Transmission output speed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 Sensor (TPS): Driver demand (% throttle)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Accelerator Pedal Position: Driver intent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Switch: Deceleration indication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Fluid Temperature (TFT): Fluid condition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Position Sensor: Current gear (P/R/N/D/S/L)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Engine ECU (via CAN bus): — Engine RPM — Engine Torque — Engine Load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Driver: — Transmission Mode Selection: Drive, Sport, Manual, Eco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OUTPUTS: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Solenoids (Hydraulic Valves): — Solenoid A, B, C, D, E: Control hydraulic circuits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gear = unique solenoid combination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(4-speed auto):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1st gear: A=ON, B=OFF, C=OFF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2nd gear: A=ON, B=ON, C=OFF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3rd gear: A=OFF, B=ON, C=ON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4th gear: A=OFF, B=OFF, C=ON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Pressure Control Solenoids: — Line Pressure Control: Overall hydraulic pressure (PWM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Pressure Control: Individual clutch engagement force (smooth shifts)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Converter Lock-Up Clutch: — Lock solenoid: Engage/disengage lock-up (eliminate slip, improve efficiency)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Other: — Gear Position Indicator: Display current gear (dashboard)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Shift Lock Solenoid: Prevent shifting out of Park without brake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STRATEGY (Example: 2→3 Upshift):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Decision: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Inputs: — Vehicle speed: 60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position: 30% (light acceleration)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RPM: 2,500 RPM (in 2nd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mode: Drive (D)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TCU Logic: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Lookup Shift Map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Shift Map [Throttle Position, Vehicle Speed]</a:t>
            </a:r>
            <a:br/>
            <a:br/>
            <a:r>
              <a:t>At 30% throttle, 60 km/h → Shift point = 2→3 upshift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Check Conditions — Transmission fluid temp: 80°C ✅ (OK, not too cold)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torque: Normal ✅ (no wide-open throttle)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Brake not applied ✅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Execute Shift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Pre-shift (100 ms before):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TCU requests engine ECU: "Reduce torque by 20%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ECU retards ignition timing → torque reduction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Smooth shift (no jerk)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shift (300-500 ms):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De-energize 2nd gear solenoid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Energize 3rd gear solenoid (overlap for smoothness)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Modulate clutch pressure (PWM control):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Gradual release of 2nd gear clutch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Gradual engagement of 3rd gear clutch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slip controlled to 50-200 RPM during transition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Post-shift: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TCU signals engine ECU: "Restore full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ECU returns to normal ignition timing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RPM drops from 2,500 to 1,800 RPM (typical gear ratio change)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Shift complete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Quality Metrics: — Shift time: 300-500 ms (smooth), 100-200 ms (sport mode)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slip during shift: 50-200 RPM (controlled)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reduction: 10-30% (minimizes jerk)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ADAPTIVE LEARNING: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TCUs learn over time: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Clutch Wear Compensation: — As clutches wear, apply pressure slightly earlier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Maintain consistent shift quality over 200,000 km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Style Recognition: — Aggressive driver (frequent WOT) → hold gears longer, firmer shifts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Gentle driver (light throttle) → early upshifts, softer shifts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Temperature Compensation: — Cold fluid (-10°C) → delay shifts (fluid viscosity high)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Hot fluid (110°C) → firmer shifts, lock torque converter early (protect transmission)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Instructor Narration (continued):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'This is why transmission 'relearning' is a thing. If you disconnect the battery, the TCU loses its adaptive parameters. For the first 100-200 km after reconnecting, shifts may feel slightly different while the TCU relearns. Also, if you sell your car to someone with a different driving style, the transmission will adapt to the new driver over a week or two—automatic customization!'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Slide 29-30: Summary &amp;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[Slides 29-30 would cover: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29: Complete integration—how engine ECU, TCU, ABS ECU all work together (preview of networks in Session 15)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30: Summary of Session 14, preview of Session 15 (CAN bus, OBD-II, network architecture)]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SESSION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Slides: 28-30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Lecture Duration: 90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 Duration: 30 minutes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Learning Outcome Coverage: — ✅ SO-4-14-1: ECU role and types (Slides 1-7)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SO-4-14-2: Engine management ECU functions (Slide 27)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SO-4-14-3: Sensor classification and operation (Slides 8-15)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SO-4-14-4: Actuator classification and control (Slides 16-21)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SO-4-14-5: Closed-loop control principle (Slides 22-26)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SO-4-14-6: TCU operation and shift strategies (Slide 28)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Concepts: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(NTC thermistor, MAF, O2 sensor) convert physical → electrical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Actuators (injectors, throttle, solenoids) convert electrical → physical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ECUs implement control algorithms (open/closed loop)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Closed-loop control uses feedback for accuracy (lambda control example)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vehicles have 30-100 ECUs working together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14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framework is ready for PowerPoint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