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9: Vehicle Dynamics Fundamentals'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Vehicle Dynamics Fundamentals</a:t>
            </a:r>
          </a:p>
        </p:txBody>
      </p:sp>
      <p:sp>
        <p:nvSpPr>
          <p:cNvPr id="3" name="Subtitle 2"/>
          <p:cNvSpPr>
            <a:spLocks noGrp="1"/>
          </p:cNvSpPr>
          <p:nvPr>
            <p:ph type="subTitle" idx="1"/>
          </p:nvPr>
        </p:nvSpPr>
        <p:spPr/>
        <p:txBody>
          <a:bodyPr/>
          <a:lstStyle/>
          <a:p>
            <a:pPr>
              <a:defRPr sz="2000">
                <a:solidFill>
                  <a:srgbClr val="FFFFFF"/>
                </a:solidFill>
              </a:defRPr>
            </a:pPr>
            <a:r>
              <a:t>Session 9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Welcome to Session 9. Today we begin Module 3: Chassis Dynamics &amp; Control. We're going to apply everything you learned in Sessions 1-3 to understand how vehicles actually behave when they accelerate, brake, and corner.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Journey So Far - Connecting Modules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trace our learning journey:</a:t>
            </a:r>
          </a:p>
          <a:p>
            <a:pPr>
              <a:spcAft>
                <a:spcPts val="1000"/>
              </a:spcAft>
              <a:defRPr sz="1800">
                <a:solidFill>
                  <a:srgbClr val="333333"/>
                </a:solidFill>
              </a:defRPr>
            </a:pPr>
            <a:r>
              <a:t>MODULE 1 (Sessions 1-3): FOUNDATION — We calculated forces: Rolling resistance, drag, gradient forces</a:t>
            </a:r>
          </a:p>
          <a:p>
            <a:pPr>
              <a:spcAft>
                <a:spcPts val="600"/>
              </a:spcAft>
              <a:defRPr sz="1800">
                <a:solidFill>
                  <a:srgbClr val="333333"/>
                </a:solidFill>
              </a:defRPr>
            </a:pPr>
            <a:r>
              <a:t>We learned about friction: μ × N at tire-road interface</a:t>
            </a:r>
          </a:p>
          <a:p>
            <a:pPr>
              <a:spcAft>
                <a:spcPts val="600"/>
              </a:spcAft>
              <a:defRPr sz="1800">
                <a:solidFill>
                  <a:srgbClr val="333333"/>
                </a:solidFill>
              </a:defRPr>
            </a:pPr>
            <a:r>
              <a:t>We calculated power requirements: P = F × v</a:t>
            </a:r>
          </a:p>
          <a:p>
            <a:pPr>
              <a:spcAft>
                <a:spcPts val="1000"/>
              </a:spcAft>
              <a:defRPr sz="1800">
                <a:solidFill>
                  <a:srgbClr val="333333"/>
                </a:solidFill>
              </a:defRPr>
            </a:pPr>
            <a:r>
              <a:t>MODULE 2 (Sessions 4-8): POWERTRAIN — How to generate power (engines)</a:t>
            </a:r>
          </a:p>
          <a:p>
            <a:pPr>
              <a:spcAft>
                <a:spcPts val="600"/>
              </a:spcAft>
              <a:defRPr sz="1800">
                <a:solidFill>
                  <a:srgbClr val="333333"/>
                </a:solidFill>
              </a:defRPr>
            </a:pPr>
            <a:r>
              <a:t>How to deliver power (transmissions, differential)</a:t>
            </a:r>
          </a:p>
          <a:p>
            <a:pPr>
              <a:spcAft>
                <a:spcPts val="600"/>
              </a:spcAft>
              <a:defRPr sz="1800">
                <a:solidFill>
                  <a:srgbClr val="333333"/>
                </a:solidFill>
              </a:defRPr>
            </a:pPr>
            <a:r>
              <a:t>How to optimize performance (fuel systems)</a:t>
            </a:r>
          </a:p>
          <a:p>
            <a:pPr>
              <a:spcAft>
                <a:spcPts val="1000"/>
              </a:spcAft>
              <a:defRPr sz="1800">
                <a:solidFill>
                  <a:srgbClr val="333333"/>
                </a:solidFill>
              </a:defRPr>
            </a:pPr>
            <a:r>
              <a:t>MODULE 3 (Today - Sessions 9-12): CHASSIS DYNAMICS — How to control that power (braking)</a:t>
            </a:r>
          </a:p>
          <a:p>
            <a:pPr>
              <a:spcAft>
                <a:spcPts val="600"/>
              </a:spcAft>
              <a:defRPr sz="1800">
                <a:solidFill>
                  <a:srgbClr val="333333"/>
                </a:solidFill>
              </a:defRPr>
            </a:pPr>
            <a:r>
              <a:t>How to direct the vehicle (steering)</a:t>
            </a:r>
          </a:p>
          <a:p>
            <a:pPr>
              <a:spcAft>
                <a:spcPts val="600"/>
              </a:spcAft>
              <a:defRPr sz="1800">
                <a:solidFill>
                  <a:srgbClr val="333333"/>
                </a:solidFill>
              </a:defRPr>
            </a:pPr>
            <a:r>
              <a:t>How to manage vehicle motion (suspension, dynamics)</a:t>
            </a:r>
          </a:p>
          <a:p>
            <a:pPr>
              <a:spcAft>
                <a:spcPts val="1000"/>
              </a:spcAft>
              <a:defRPr sz="1800">
                <a:solidFill>
                  <a:srgbClr val="333333"/>
                </a:solidFill>
              </a:defRPr>
            </a:pPr>
            <a:r>
              <a:t>Today's focus: The physics of vehicle motion - what happens when forces act on a real vehicle with mass, suspension, and multiple wheels.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Puzzle - Why Does the Car Nose-Dive When Braking?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 me show you something you've all experienced but maybe never analyzed:</a:t>
            </a:r>
          </a:p>
          <a:p>
            <a:pPr>
              <a:spcAft>
                <a:spcPts val="1000"/>
              </a:spcAft>
              <a:defRPr sz="1800">
                <a:solidFill>
                  <a:srgbClr val="333333"/>
                </a:solidFill>
              </a:defRPr>
            </a:pPr>
            <a:r>
              <a:t>[Show photo]: Car braking hard</a:t>
            </a:r>
          </a:p>
          <a:p>
            <a:pPr>
              <a:spcAft>
                <a:spcPts val="600"/>
              </a:spcAft>
              <a:defRPr sz="1800">
                <a:solidFill>
                  <a:srgbClr val="333333"/>
                </a:solidFill>
              </a:defRPr>
            </a:pPr>
            <a:r>
              <a:t>Front end: Suspension compressed, nose pointing down</a:t>
            </a:r>
          </a:p>
          <a:p>
            <a:pPr>
              <a:spcAft>
                <a:spcPts val="600"/>
              </a:spcAft>
              <a:defRPr sz="1800">
                <a:solidFill>
                  <a:srgbClr val="333333"/>
                </a:solidFill>
              </a:defRPr>
            </a:pPr>
            <a:r>
              <a:t>Rear end: Suspension extended, rear lifted up</a:t>
            </a:r>
          </a:p>
          <a:p>
            <a:pPr>
              <a:spcAft>
                <a:spcPts val="1000"/>
              </a:spcAft>
              <a:defRPr sz="1800">
                <a:solidFill>
                  <a:srgbClr val="333333"/>
                </a:solidFill>
              </a:defRPr>
            </a:pPr>
            <a:r>
              <a:t>Why does this happen?</a:t>
            </a:r>
          </a:p>
          <a:p>
            <a:pPr>
              <a:spcAft>
                <a:spcPts val="1000"/>
              </a:spcAft>
              <a:defRPr sz="1800">
                <a:solidFill>
                  <a:srgbClr val="333333"/>
                </a:solidFill>
              </a:defRPr>
            </a:pPr>
            <a:r>
              <a:t>Think about it: You press the brake pedal, friction at tires creates braking force. The force acts at the ground level (tire contact patch). But the car's mass is up high (center of gravity).</a:t>
            </a:r>
          </a:p>
          <a:p>
            <a:pPr>
              <a:spcAft>
                <a:spcPts val="1000"/>
              </a:spcAft>
              <a:defRPr sz="1800">
                <a:solidFill>
                  <a:srgbClr val="333333"/>
                </a:solidFill>
              </a:defRPr>
            </a:pPr>
            <a:r>
              <a:t>This creates a moment! (Torque trying to rotate the car)</a:t>
            </a:r>
          </a:p>
          <a:p>
            <a:pPr>
              <a:spcAft>
                <a:spcPts val="1000"/>
              </a:spcAft>
              <a:defRPr sz="1800">
                <a:solidFill>
                  <a:srgbClr val="333333"/>
                </a:solidFill>
              </a:defRPr>
            </a:pPr>
            <a:r>
              <a:t>Result: Weight transfers from rear to front. Front suspension compresses under extra load, rear suspension extends as load decreases.</a:t>
            </a:r>
          </a:p>
          <a:p>
            <a:pPr>
              <a:spcAft>
                <a:spcPts val="1000"/>
              </a:spcAft>
              <a:defRPr sz="1800">
                <a:solidFill>
                  <a:srgbClr val="333333"/>
                </a:solidFill>
              </a:defRPr>
            </a:pPr>
            <a:r>
              <a:t>Today you'll learn: How to calculate EXACTLY how much weight transfers, why it happens, and what it means for vehicle performance and safety.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Real-World Implications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Why does this matter?</a:t>
            </a:r>
          </a:p>
          <a:p>
            <a:pPr>
              <a:spcAft>
                <a:spcPts val="1000"/>
              </a:spcAft>
              <a:defRPr sz="1800">
                <a:solidFill>
                  <a:srgbClr val="333333"/>
                </a:solidFill>
              </a:defRPr>
            </a:pPr>
            <a:r>
              <a:t>For braking performance: — Front wheels get more load during braking → Can generate more friction force → Good!</a:t>
            </a:r>
          </a:p>
          <a:p>
            <a:pPr>
              <a:spcAft>
                <a:spcPts val="600"/>
              </a:spcAft>
              <a:defRPr sz="1800">
                <a:solidFill>
                  <a:srgbClr val="333333"/>
                </a:solidFill>
              </a:defRPr>
            </a:pPr>
            <a:r>
              <a:t>Rear wheels get less load → Can lock up easily → ABS needed</a:t>
            </a:r>
          </a:p>
          <a:p>
            <a:pPr>
              <a:spcAft>
                <a:spcPts val="1000"/>
              </a:spcAft>
              <a:defRPr sz="1800">
                <a:solidFill>
                  <a:srgbClr val="333333"/>
                </a:solidFill>
              </a:defRPr>
            </a:pPr>
            <a:r>
              <a:t>For vehicle design: — Sports car: Low center of gravity → Less weight transfer → More stable</a:t>
            </a:r>
          </a:p>
          <a:p>
            <a:pPr>
              <a:spcAft>
                <a:spcPts val="600"/>
              </a:spcAft>
              <a:defRPr sz="1800">
                <a:solidFill>
                  <a:srgbClr val="333333"/>
                </a:solidFill>
              </a:defRPr>
            </a:pPr>
            <a:r>
              <a:t>SUV: High center of gravity → More weight transfer → Easier to pitch/roll → Needs electronic stability control</a:t>
            </a:r>
          </a:p>
          <a:p>
            <a:pPr>
              <a:spcAft>
                <a:spcPts val="1000"/>
              </a:spcAft>
              <a:defRPr sz="1800">
                <a:solidFill>
                  <a:srgbClr val="333333"/>
                </a:solidFill>
              </a:defRPr>
            </a:pPr>
            <a:r>
              <a:t>For safety systems (Sessions 10-12): — Understanding load transfer is CRITICAL for:</a:t>
            </a:r>
          </a:p>
          <a:p>
            <a:pPr>
              <a:spcAft>
                <a:spcPts val="600"/>
              </a:spcAft>
              <a:defRPr sz="1800">
                <a:solidFill>
                  <a:srgbClr val="333333"/>
                </a:solidFill>
              </a:defRPr>
            </a:pPr>
            <a:r>
              <a:t>Brake force distribution (proportioning valve)</a:t>
            </a:r>
          </a:p>
          <a:p>
            <a:pPr>
              <a:spcAft>
                <a:spcPts val="600"/>
              </a:spcAft>
              <a:defRPr sz="1800">
                <a:solidFill>
                  <a:srgbClr val="333333"/>
                </a:solidFill>
              </a:defRPr>
            </a:pPr>
            <a:r>
              <a:t>ABS tuning (when do wheels lock?)</a:t>
            </a:r>
          </a:p>
          <a:p>
            <a:pPr>
              <a:spcAft>
                <a:spcPts val="600"/>
              </a:spcAft>
              <a:defRPr sz="1800">
                <a:solidFill>
                  <a:srgbClr val="333333"/>
                </a:solidFill>
              </a:defRPr>
            </a:pPr>
            <a:r>
              <a:t>Electronic Stability Control (ESC) algorithms</a:t>
            </a:r>
          </a:p>
          <a:p>
            <a:pPr>
              <a:spcAft>
                <a:spcPts val="1000"/>
              </a:spcAft>
              <a:defRPr sz="1800">
                <a:solidFill>
                  <a:srgbClr val="333333"/>
                </a:solidFill>
              </a:defRPr>
            </a:pPr>
            <a:r>
              <a:t>For automotive electronics engineers: You'll program these control systems. You MUST understand the physics you're controlling.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Real-World Scenario</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Here's a real engineering challenge:</a:t>
            </a:r>
          </a:p>
          <a:p>
            <a:pPr>
              <a:spcAft>
                <a:spcPts val="1000"/>
              </a:spcAft>
              <a:defRPr sz="1800">
                <a:solidFill>
                  <a:srgbClr val="333333"/>
                </a:solidFill>
              </a:defRPr>
            </a:pPr>
            <a:r>
              <a:t>Vehicle: Honda Civic 1.5L Turbo</a:t>
            </a:r>
          </a:p>
          <a:p>
            <a:pPr>
              <a:spcAft>
                <a:spcPts val="600"/>
              </a:spcAft>
              <a:defRPr sz="1800">
                <a:solidFill>
                  <a:srgbClr val="333333"/>
                </a:solidFill>
              </a:defRPr>
            </a:pPr>
            <a:r>
              <a:t>Mass: 1,300 kg</a:t>
            </a:r>
          </a:p>
          <a:p>
            <a:pPr>
              <a:spcAft>
                <a:spcPts val="600"/>
              </a:spcAft>
              <a:defRPr sz="1800">
                <a:solidFill>
                  <a:srgbClr val="333333"/>
                </a:solidFill>
              </a:defRPr>
            </a:pPr>
            <a:r>
              <a:t>Wheelbase: 2.7 m</a:t>
            </a:r>
          </a:p>
          <a:p>
            <a:pPr>
              <a:spcAft>
                <a:spcPts val="600"/>
              </a:spcAft>
              <a:defRPr sz="1800">
                <a:solidFill>
                  <a:srgbClr val="333333"/>
                </a:solidFill>
              </a:defRPr>
            </a:pPr>
            <a:r>
              <a:t>Center of gravity height: 0.55 m</a:t>
            </a:r>
          </a:p>
          <a:p>
            <a:pPr>
              <a:spcAft>
                <a:spcPts val="600"/>
              </a:spcAft>
              <a:defRPr sz="1800">
                <a:solidFill>
                  <a:srgbClr val="333333"/>
                </a:solidFill>
              </a:defRPr>
            </a:pPr>
            <a:r>
              <a:t>CG position: 1.20 m from front axle, 1.50 m from rear axle</a:t>
            </a:r>
          </a:p>
          <a:p>
            <a:pPr>
              <a:spcAft>
                <a:spcPts val="600"/>
              </a:spcAft>
              <a:defRPr sz="1800">
                <a:solidFill>
                  <a:srgbClr val="333333"/>
                </a:solidFill>
              </a:defRPr>
            </a:pPr>
            <a:r>
              <a:t>Track width: 1.52 m</a:t>
            </a:r>
          </a:p>
          <a:p>
            <a:pPr>
              <a:spcAft>
                <a:spcPts val="600"/>
              </a:spcAft>
              <a:defRPr sz="1800">
                <a:solidFill>
                  <a:srgbClr val="333333"/>
                </a:solidFill>
              </a:defRPr>
            </a:pPr>
            <a:r>
              <a:t>Coefficient of friction (dry road): μ = 0.85</a:t>
            </a:r>
          </a:p>
          <a:p>
            <a:pPr>
              <a:spcAft>
                <a:spcPts val="1000"/>
              </a:spcAft>
              <a:defRPr sz="1800">
                <a:solidFill>
                  <a:srgbClr val="333333"/>
                </a:solidFill>
              </a:defRPr>
            </a:pPr>
            <a:r>
              <a:t>Requirements:</a:t>
            </a:r>
          </a:p>
          <a:p>
            <a:pPr>
              <a:spcAft>
                <a:spcPts val="600"/>
              </a:spcAft>
              <a:defRPr sz="1800">
                <a:solidFill>
                  <a:srgbClr val="333333"/>
                </a:solidFill>
              </a:defRPr>
            </a:pPr>
            <a:r>
              <a:t>Acceleration: Achieve 0-100 km/h in under 8 seconds</a:t>
            </a:r>
          </a:p>
          <a:p>
            <a:pPr>
              <a:spcAft>
                <a:spcPts val="600"/>
              </a:spcAft>
              <a:defRPr sz="1800">
                <a:solidFill>
                  <a:srgbClr val="333333"/>
                </a:solidFill>
              </a:defRPr>
            </a:pPr>
            <a:r>
              <a:t>Braking: Stop from 100 km/h in under 40 meters</a:t>
            </a:r>
          </a:p>
          <a:p>
            <a:pPr>
              <a:spcAft>
                <a:spcPts val="600"/>
              </a:spcAft>
              <a:defRPr sz="1800">
                <a:solidFill>
                  <a:srgbClr val="333333"/>
                </a:solidFill>
              </a:defRPr>
            </a:pPr>
            <a:r>
              <a:t>Cornering: Navigate 30 m radius turn at 50 km/h without sliding</a:t>
            </a:r>
          </a:p>
          <a:p>
            <a:pPr>
              <a:spcAft>
                <a:spcPts val="1000"/>
              </a:spcAft>
              <a:defRPr sz="1800">
                <a:solidFill>
                  <a:srgbClr val="333333"/>
                </a:solidFill>
              </a:defRPr>
            </a:pPr>
            <a:r>
              <a:t>Questions: — Is this vehicle capable of meeting these targets?</a:t>
            </a:r>
          </a:p>
          <a:p>
            <a:pPr>
              <a:spcAft>
                <a:spcPts val="600"/>
              </a:spcAft>
              <a:defRPr sz="1800">
                <a:solidFill>
                  <a:srgbClr val="333333"/>
                </a:solidFill>
              </a:defRPr>
            </a:pPr>
            <a:r>
              <a:t>How much weight transfers during each maneuver?</a:t>
            </a:r>
          </a:p>
          <a:p>
            <a:pPr>
              <a:spcAft>
                <a:spcPts val="600"/>
              </a:spcAft>
              <a:defRPr sz="1800">
                <a:solidFill>
                  <a:srgbClr val="333333"/>
                </a:solidFill>
              </a:defRPr>
            </a:pPr>
            <a:r>
              <a:t>Which wheels are critical for each maneuver?</a:t>
            </a:r>
          </a:p>
          <a:p>
            <a:pPr>
              <a:spcAft>
                <a:spcPts val="600"/>
              </a:spcAft>
              <a:defRPr sz="1800">
                <a:solidFill>
                  <a:srgbClr val="333333"/>
                </a:solidFill>
              </a:defRPr>
            </a:pPr>
            <a:r>
              <a:t>How would increasing CG height affect performance?</a:t>
            </a:r>
          </a:p>
          <a:p>
            <a:pPr>
              <a:spcAft>
                <a:spcPts val="1000"/>
              </a:spcAft>
              <a:defRPr sz="1800">
                <a:solidFill>
                  <a:srgbClr val="333333"/>
                </a:solidFill>
              </a:defRPr>
            </a:pPr>
            <a:r>
              <a:t>By the end of today: You'll calculate answers to all these questions!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Vehicle as a Rigid Body - Coordinate System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Before we calculate, let's establish our coordinate system:</a:t>
            </a:r>
          </a:p>
          <a:p>
            <a:pPr>
              <a:spcAft>
                <a:spcPts val="1000"/>
              </a:spcAft>
              <a:defRPr sz="1800">
                <a:solidFill>
                  <a:srgbClr val="333333"/>
                </a:solidFill>
              </a:defRPr>
            </a:pPr>
            <a:r>
              <a:t>Vehicle Fixed Coordinate System: — X-axis: Longitudinal (forward/backward) - Roll axis</a:t>
            </a:r>
          </a:p>
          <a:p>
            <a:pPr>
              <a:spcAft>
                <a:spcPts val="600"/>
              </a:spcAft>
              <a:defRPr sz="1800">
                <a:solidFill>
                  <a:srgbClr val="333333"/>
                </a:solidFill>
              </a:defRPr>
            </a:pPr>
            <a:r>
              <a:t>Y-axis: Lateral (left/right) - Pitch axis</a:t>
            </a:r>
          </a:p>
          <a:p>
            <a:pPr>
              <a:spcAft>
                <a:spcPts val="600"/>
              </a:spcAft>
              <a:defRPr sz="1800">
                <a:solidFill>
                  <a:srgbClr val="333333"/>
                </a:solidFill>
              </a:defRPr>
            </a:pPr>
            <a:r>
              <a:t>Z-axis: Vertical (up/down) - Yaw axis</a:t>
            </a:r>
          </a:p>
          <a:p>
            <a:pPr>
              <a:spcAft>
                <a:spcPts val="1000"/>
              </a:spcAft>
              <a:defRPr sz="1800">
                <a:solidFill>
                  <a:srgbClr val="333333"/>
                </a:solidFill>
              </a:defRPr>
            </a:pPr>
            <a:r>
              <a:t>Center of Gravity (CG): — Point where all mass can be considered concentrated</a:t>
            </a:r>
          </a:p>
          <a:p>
            <a:pPr>
              <a:spcAft>
                <a:spcPts val="600"/>
              </a:spcAft>
              <a:defRPr sz="1800">
                <a:solidFill>
                  <a:srgbClr val="333333"/>
                </a:solidFill>
              </a:defRPr>
            </a:pPr>
            <a:r>
              <a:t>Located at: (x_cg, 0, h) where h = height above ground</a:t>
            </a:r>
          </a:p>
          <a:p>
            <a:pPr>
              <a:spcAft>
                <a:spcPts val="600"/>
              </a:spcAft>
              <a:defRPr sz="1800">
                <a:solidFill>
                  <a:srgbClr val="333333"/>
                </a:solidFill>
              </a:defRPr>
            </a:pPr>
            <a:r>
              <a:t>Typically: ~40-45% of wheelbase from front (passenger cars)</a:t>
            </a:r>
          </a:p>
          <a:p>
            <a:pPr>
              <a:spcAft>
                <a:spcPts val="600"/>
              </a:spcAft>
              <a:defRPr sz="1800">
                <a:solidFill>
                  <a:srgbClr val="333333"/>
                </a:solidFill>
              </a:defRPr>
            </a:pPr>
            <a:r>
              <a:t>Height h: ~0.5-0.6 m (cars), ~0.8-1.0 m (SUVs)</a:t>
            </a:r>
          </a:p>
          <a:p>
            <a:pPr>
              <a:spcAft>
                <a:spcPts val="1000"/>
              </a:spcAft>
              <a:defRPr sz="1800">
                <a:solidFill>
                  <a:srgbClr val="333333"/>
                </a:solidFill>
              </a:defRPr>
            </a:pPr>
            <a:r>
              <a:t>Key Parameters: — L = Wheelbase (front axle to rear axle)</a:t>
            </a:r>
          </a:p>
          <a:p>
            <a:pPr>
              <a:spcAft>
                <a:spcPts val="600"/>
              </a:spcAft>
              <a:defRPr sz="1800">
                <a:solidFill>
                  <a:srgbClr val="333333"/>
                </a:solidFill>
              </a:defRPr>
            </a:pPr>
            <a:r>
              <a:t>a = Distance from front axle to CG</a:t>
            </a:r>
          </a:p>
          <a:p>
            <a:pPr>
              <a:spcAft>
                <a:spcPts val="600"/>
              </a:spcAft>
              <a:defRPr sz="1800">
                <a:solidFill>
                  <a:srgbClr val="333333"/>
                </a:solidFill>
              </a:defRPr>
            </a:pPr>
            <a:r>
              <a:t>b = Distance from rear axle to CG (L = a + b)</a:t>
            </a:r>
          </a:p>
          <a:p>
            <a:pPr>
              <a:spcAft>
                <a:spcPts val="600"/>
              </a:spcAft>
              <a:defRPr sz="1800">
                <a:solidFill>
                  <a:srgbClr val="333333"/>
                </a:solidFill>
              </a:defRPr>
            </a:pPr>
            <a:r>
              <a:t>h = CG height above ground</a:t>
            </a:r>
          </a:p>
          <a:p>
            <a:pPr>
              <a:spcAft>
                <a:spcPts val="600"/>
              </a:spcAft>
              <a:defRPr sz="1800">
                <a:solidFill>
                  <a:srgbClr val="333333"/>
                </a:solidFill>
              </a:defRPr>
            </a:pPr>
            <a:r>
              <a:t>t = Track width (left wheel to right wheel)</a:t>
            </a:r>
          </a:p>
          <a:p>
            <a:pPr>
              <a:spcAft>
                <a:spcPts val="1000"/>
              </a:spcAft>
              <a:defRPr sz="1800">
                <a:solidFill>
                  <a:srgbClr val="333333"/>
                </a:solidFill>
              </a:defRPr>
            </a:pPr>
            <a:r>
              <a:t>Note: Lower h = better (less load transfer). Longer L = better (less pitch).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Free-Body Diagram - Acceleration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Scenario: Vehicle accelerating forward</a:t>
            </a:r>
          </a:p>
          <a:p>
            <a:pPr>
              <a:spcAft>
                <a:spcPts val="1000"/>
              </a:spcAft>
              <a:defRPr sz="1800">
                <a:solidFill>
                  <a:srgbClr val="333333"/>
                </a:solidFill>
              </a:defRPr>
            </a:pPr>
            <a:r>
              <a:t>Forces in Free-Body Diagram:</a:t>
            </a:r>
          </a:p>
          <a:p>
            <a:pPr>
              <a:spcAft>
                <a:spcPts val="1000"/>
              </a:spcAft>
              <a:defRPr sz="1800">
                <a:solidFill>
                  <a:srgbClr val="333333"/>
                </a:solidFill>
              </a:defRPr>
            </a:pPr>
            <a:r>
              <a:t>At Front Wheels: — W_f = Normal force on front axle (downward on ground, upward on wheel)</a:t>
            </a:r>
          </a:p>
          <a:p>
            <a:pPr>
              <a:spcAft>
                <a:spcPts val="600"/>
              </a:spcAft>
              <a:defRPr sz="1800">
                <a:solidFill>
                  <a:srgbClr val="333333"/>
                </a:solidFill>
              </a:defRPr>
            </a:pPr>
            <a:r>
              <a:t>F_drag,f = Aerodynamic drag (small portion)</a:t>
            </a:r>
          </a:p>
          <a:p>
            <a:pPr>
              <a:spcAft>
                <a:spcPts val="600"/>
              </a:spcAft>
              <a:defRPr sz="1800">
                <a:solidFill>
                  <a:srgbClr val="333333"/>
                </a:solidFill>
              </a:defRPr>
            </a:pPr>
            <a:r>
              <a:t>F_roll,f = Rolling resistance</a:t>
            </a:r>
          </a:p>
          <a:p>
            <a:pPr>
              <a:spcAft>
                <a:spcPts val="600"/>
              </a:spcAft>
              <a:defRPr sz="1800">
                <a:solidFill>
                  <a:srgbClr val="333333"/>
                </a:solidFill>
              </a:defRPr>
            </a:pPr>
            <a:r>
              <a:t>(Usually no drive force for FWD during hard accel, weight transferred off front)</a:t>
            </a:r>
          </a:p>
          <a:p>
            <a:pPr>
              <a:spcAft>
                <a:spcPts val="1000"/>
              </a:spcAft>
              <a:defRPr sz="1800">
                <a:solidFill>
                  <a:srgbClr val="333333"/>
                </a:solidFill>
              </a:defRPr>
            </a:pPr>
            <a:r>
              <a:t>At Rear Wheels: — W_r = Normal force on rear axle</a:t>
            </a:r>
          </a:p>
          <a:p>
            <a:pPr>
              <a:spcAft>
                <a:spcPts val="600"/>
              </a:spcAft>
              <a:defRPr sz="1800">
                <a:solidFill>
                  <a:srgbClr val="333333"/>
                </a:solidFill>
              </a:defRPr>
            </a:pPr>
            <a:r>
              <a:t>F_drive = Tractive force (driving force from engine/transmission)</a:t>
            </a:r>
          </a:p>
          <a:p>
            <a:pPr>
              <a:spcAft>
                <a:spcPts val="600"/>
              </a:spcAft>
              <a:defRPr sz="1800">
                <a:solidFill>
                  <a:srgbClr val="333333"/>
                </a:solidFill>
              </a:defRPr>
            </a:pPr>
            <a:r>
              <a:t>F_roll,r = Rolling resistance</a:t>
            </a:r>
          </a:p>
          <a:p>
            <a:pPr>
              <a:spcAft>
                <a:spcPts val="1000"/>
              </a:spcAft>
              <a:defRPr sz="1800">
                <a:solidFill>
                  <a:srgbClr val="333333"/>
                </a:solidFill>
              </a:defRPr>
            </a:pPr>
            <a:r>
              <a:t>At CG: — mg = Weight (downward)</a:t>
            </a:r>
          </a:p>
          <a:p>
            <a:pPr>
              <a:spcAft>
                <a:spcPts val="600"/>
              </a:spcAft>
              <a:defRPr sz="1800">
                <a:solidFill>
                  <a:srgbClr val="333333"/>
                </a:solidFill>
              </a:defRPr>
            </a:pPr>
            <a:r>
              <a:t>F_drag = Aerodynamic drag (horizontal, rearward)</a:t>
            </a:r>
          </a:p>
          <a:p>
            <a:pPr>
              <a:spcAft>
                <a:spcPts val="1000"/>
              </a:spcAft>
              <a:defRPr sz="1800">
                <a:solidFill>
                  <a:srgbClr val="333333"/>
                </a:solidFill>
              </a:defRPr>
            </a:pPr>
            <a:r>
              <a:t>Equations of Motion (Newton's 2nd Law):</a:t>
            </a:r>
          </a:p>
          <a:p>
            <a:pPr>
              <a:spcAft>
                <a:spcPts val="1000"/>
              </a:spcAft>
              <a:defRPr sz="1800">
                <a:solidFill>
                  <a:srgbClr val="333333"/>
                </a:solidFill>
              </a:defRPr>
            </a:pPr>
            <a:r>
              <a:t>Longitudinal (X-direction):</a:t>
            </a:r>
          </a:p>
          <a:p>
            <a:pPr>
              <a:spcAft>
                <a:spcPts val="1000"/>
              </a:spcAft>
              <a:defRPr sz="1800">
                <a:solidFill>
                  <a:srgbClr val="333333"/>
                </a:solidFill>
              </a:defRPr>
            </a:pPr>
            <a:r>
              <a:t>ΣFx = m × ax</a:t>
            </a:r>
          </a:p>
          <a:p>
            <a:pPr>
              <a:spcAft>
                <a:spcPts val="1000"/>
              </a:spcAft>
              <a:defRPr sz="1800">
                <a:solidFill>
                  <a:srgbClr val="333333"/>
                </a:solidFill>
              </a:defRPr>
            </a:pPr>
            <a:r>
              <a:t>Fdrive - Fdrag - Froll,total = m × ax</a:t>
            </a:r>
          </a:p>
          <a:p>
            <a:pPr>
              <a:spcAft>
                <a:spcPts val="1000"/>
              </a:spcAft>
              <a:defRPr sz="1800">
                <a:solidFill>
                  <a:srgbClr val="333333"/>
                </a:solidFill>
              </a:defRPr>
            </a:pPr>
            <a:r>
              <a:t>Vertical (Z-direction):</a:t>
            </a:r>
          </a:p>
          <a:p>
            <a:pPr>
              <a:spcAft>
                <a:spcPts val="1000"/>
              </a:spcAft>
              <a:defRPr sz="1800">
                <a:solidFill>
                  <a:srgbClr val="333333"/>
                </a:solidFill>
              </a:defRPr>
            </a:pPr>
            <a:r>
              <a:t>ΣF_z = 0 (no vertical acceleration)</a:t>
            </a:r>
          </a:p>
          <a:p>
            <a:pPr>
              <a:spcAft>
                <a:spcPts val="1000"/>
              </a:spcAft>
              <a:defRPr sz="1800">
                <a:solidFill>
                  <a:srgbClr val="333333"/>
                </a:solidFill>
              </a:defRPr>
            </a:pPr>
            <a:r>
              <a:t>Wf + Wr - mg = 0</a:t>
            </a:r>
          </a:p>
          <a:p>
            <a:pPr>
              <a:spcAft>
                <a:spcPts val="1000"/>
              </a:spcAft>
              <a:defRPr sz="1800">
                <a:solidFill>
                  <a:srgbClr val="333333"/>
                </a:solidFill>
              </a:defRPr>
            </a:pPr>
            <a:r>
              <a:t>→ Wf + Wr = mg (total load equals weight)</a:t>
            </a:r>
          </a:p>
          <a:p>
            <a:pPr>
              <a:spcAft>
                <a:spcPts val="1000"/>
              </a:spcAft>
              <a:defRPr sz="1800">
                <a:solidFill>
                  <a:srgbClr val="333333"/>
                </a:solidFill>
              </a:defRPr>
            </a:pPr>
            <a:r>
              <a:t>Moments about CG (Pitch):</a:t>
            </a:r>
          </a:p>
          <a:p>
            <a:pPr>
              <a:spcAft>
                <a:spcPts val="1000"/>
              </a:spcAft>
              <a:defRPr sz="1800">
                <a:solidFill>
                  <a:srgbClr val="333333"/>
                </a:solidFill>
              </a:defRPr>
            </a:pPr>
            <a:r>
              <a:t>ΣM_cg = 0 (no angular acceleration, assuming steady-state)</a:t>
            </a:r>
          </a:p>
          <a:p>
            <a:pPr>
              <a:spcAft>
                <a:spcPts val="1000"/>
              </a:spcAft>
              <a:defRPr sz="1800">
                <a:solidFill>
                  <a:srgbClr val="333333"/>
                </a:solidFill>
              </a:defRPr>
            </a:pPr>
            <a:r>
              <a:t>Wf × a - Wr × b + F_drive × h = 0</a:t>
            </a:r>
          </a:p>
          <a:p>
            <a:pPr>
              <a:spcAft>
                <a:spcPts val="1000"/>
              </a:spcAft>
              <a:defRPr sz="1800">
                <a:solidFill>
                  <a:srgbClr val="333333"/>
                </a:solidFill>
              </a:defRPr>
            </a:pPr>
            <a:r>
              <a:t>This moment equation tells us how weight distributes between front and rear!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Static Weight Distribution vs Dynamic</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STATIC (Vehicle at rest, a = 0):</a:t>
            </a:r>
          </a:p>
          <a:p>
            <a:pPr>
              <a:spcAft>
                <a:spcPts val="1000"/>
              </a:spcAft>
              <a:defRPr sz="1800">
                <a:solidFill>
                  <a:srgbClr val="333333"/>
                </a:solidFill>
              </a:defRPr>
            </a:pPr>
            <a:r>
              <a:t>Taking moments about front axle:</a:t>
            </a:r>
          </a:p>
          <a:p>
            <a:pPr>
              <a:spcAft>
                <a:spcPts val="1000"/>
              </a:spcAft>
              <a:defRPr sz="1800">
                <a:solidFill>
                  <a:srgbClr val="333333"/>
                </a:solidFill>
              </a:defRPr>
            </a:pPr>
            <a:r>
              <a:t>W_r × L - mg × a = 0</a:t>
            </a:r>
          </a:p>
          <a:p>
            <a:pPr>
              <a:spcAft>
                <a:spcPts val="1000"/>
              </a:spcAft>
              <a:defRPr sz="1800">
                <a:solidFill>
                  <a:srgbClr val="333333"/>
                </a:solidFill>
              </a:defRPr>
            </a:pPr>
            <a:r>
              <a:t>W_r = mg × (a/L)</a:t>
            </a:r>
          </a:p>
          <a:p>
            <a:pPr>
              <a:spcAft>
                <a:spcPts val="1000"/>
              </a:spcAft>
              <a:defRPr sz="1800">
                <a:solidFill>
                  <a:srgbClr val="333333"/>
                </a:solidFill>
              </a:defRPr>
            </a:pPr>
            <a:r>
              <a:t>Similarly:</a:t>
            </a:r>
          </a:p>
          <a:p>
            <a:pPr>
              <a:spcAft>
                <a:spcPts val="1000"/>
              </a:spcAft>
              <a:defRPr sz="1800">
                <a:solidFill>
                  <a:srgbClr val="333333"/>
                </a:solidFill>
              </a:defRPr>
            </a:pPr>
            <a:r>
              <a:t>W_f = mg × (b/L)</a:t>
            </a:r>
          </a:p>
          <a:p>
            <a:pPr>
              <a:spcAft>
                <a:spcPts val="1000"/>
              </a:spcAft>
              <a:defRPr sz="1800">
                <a:solidFill>
                  <a:srgbClr val="333333"/>
                </a:solidFill>
              </a:defRPr>
            </a:pPr>
            <a:r>
              <a:t>Example: Honda Civic</a:t>
            </a:r>
          </a:p>
          <a:p>
            <a:pPr>
              <a:spcAft>
                <a:spcPts val="600"/>
              </a:spcAft>
              <a:defRPr sz="1800">
                <a:solidFill>
                  <a:srgbClr val="333333"/>
                </a:solidFill>
              </a:defRPr>
            </a:pPr>
            <a:r>
              <a:t>m = 1300 kg, L = 2.7 m, a = 1.2 m, b = 1.5 m</a:t>
            </a:r>
          </a:p>
          <a:p>
            <a:pPr>
              <a:spcAft>
                <a:spcPts val="600"/>
              </a:spcAft>
              <a:defRPr sz="1800">
                <a:solidFill>
                  <a:srgbClr val="333333"/>
                </a:solidFill>
              </a:defRPr>
            </a:pPr>
            <a:r>
              <a:t>W_f,static = 1300 × 9.81 × (1.5/2.7) = 7,095 N (55.6%)</a:t>
            </a:r>
          </a:p>
          <a:p>
            <a:pPr>
              <a:spcAft>
                <a:spcPts val="600"/>
              </a:spcAft>
              <a:defRPr sz="1800">
                <a:solidFill>
                  <a:srgbClr val="333333"/>
                </a:solidFill>
              </a:defRPr>
            </a:pPr>
            <a:r>
              <a:t>W_r,static = 1300 × 9.81 × (1.2/2.7) = 5,671 N (44.4%)</a:t>
            </a:r>
          </a:p>
          <a:p>
            <a:pPr>
              <a:spcAft>
                <a:spcPts val="1000"/>
              </a:spcAft>
              <a:defRPr sz="1800">
                <a:solidFill>
                  <a:srgbClr val="333333"/>
                </a:solidFill>
              </a:defRPr>
            </a:pPr>
            <a:r>
              <a:t>Front-heavy distribution (common for FWD cars - engine at front)</a:t>
            </a:r>
          </a:p>
          <a:p>
            <a:pPr>
              <a:spcAft>
                <a:spcPts val="1000"/>
              </a:spcAft>
              <a:defRPr sz="1800">
                <a:solidFill>
                  <a:srgbClr val="333333"/>
                </a:solidFill>
              </a:defRPr>
            </a:pPr>
            <a:r>
              <a:t>DYNAMIC (Vehicle accelerating, a = 2 m/s²):</a:t>
            </a:r>
          </a:p>
          <a:p>
            <a:pPr>
              <a:spcAft>
                <a:spcPts val="1000"/>
              </a:spcAft>
              <a:defRPr sz="1800">
                <a:solidFill>
                  <a:srgbClr val="333333"/>
                </a:solidFill>
              </a:defRPr>
            </a:pPr>
            <a:r>
              <a:t>Load transfers from front to rear!</a:t>
            </a:r>
          </a:p>
          <a:p>
            <a:pPr>
              <a:spcAft>
                <a:spcPts val="1000"/>
              </a:spcAft>
              <a:defRPr sz="1800">
                <a:solidFill>
                  <a:srgbClr val="333333"/>
                </a:solidFill>
              </a:defRPr>
            </a:pPr>
            <a:r>
              <a:t>ΔW = (m × a_x × h) / L (load transfer formula - we'll derive this!)</a:t>
            </a:r>
          </a:p>
          <a:p>
            <a:pPr>
              <a:spcAft>
                <a:spcPts val="1000"/>
              </a:spcAft>
              <a:defRPr sz="1800">
                <a:solidFill>
                  <a:srgbClr val="333333"/>
                </a:solidFill>
              </a:defRPr>
            </a:pPr>
            <a:r>
              <a:t>For our example:</a:t>
            </a:r>
          </a:p>
          <a:p>
            <a:pPr>
              <a:spcAft>
                <a:spcPts val="1000"/>
              </a:spcAft>
              <a:defRPr sz="1800">
                <a:solidFill>
                  <a:srgbClr val="333333"/>
                </a:solidFill>
              </a:defRPr>
            </a:pPr>
            <a:r>
              <a:t>ΔW = (1300 × 2.0 × 0.55) / 2.7 = 530 N</a:t>
            </a:r>
          </a:p>
          <a:p>
            <a:pPr>
              <a:spcAft>
                <a:spcPts val="1000"/>
              </a:spcAft>
              <a:defRPr sz="1800">
                <a:solidFill>
                  <a:srgbClr val="333333"/>
                </a:solidFill>
              </a:defRPr>
            </a:pPr>
            <a:r>
              <a:t>W_f,dynamic = 7,095 - 530 = 6,565 N (lighter!)</a:t>
            </a:r>
          </a:p>
          <a:p>
            <a:pPr>
              <a:spcAft>
                <a:spcPts val="1000"/>
              </a:spcAft>
              <a:defRPr sz="1800">
                <a:solidFill>
                  <a:srgbClr val="333333"/>
                </a:solidFill>
              </a:defRPr>
            </a:pPr>
            <a:r>
              <a:t>W_r,dynamic = 5,671 + 530 = 6,201 N (heavier!)</a:t>
            </a:r>
          </a:p>
          <a:p>
            <a:pPr>
              <a:spcAft>
                <a:spcPts val="1000"/>
              </a:spcAft>
              <a:defRPr sz="1800">
                <a:solidFill>
                  <a:srgbClr val="333333"/>
                </a:solidFill>
              </a:defRPr>
            </a:pPr>
            <a:r>
              <a:t>Weight shifted rearward → Rear tires more loaded → Can generate more traction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Practice - Identify Forces (Braking &amp; Cornering)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Quick practice: Identify forces for other maneuvers</a:t>
            </a:r>
          </a:p>
          <a:p>
            <a:pPr>
              <a:spcAft>
                <a:spcPts val="1000"/>
              </a:spcAft>
              <a:defRPr sz="1800">
                <a:solidFill>
                  <a:srgbClr val="333333"/>
                </a:solidFill>
              </a:defRPr>
            </a:pPr>
            <a:r>
              <a:t>BRAKING: — Braking forces at front and rear tires (Fbrake,f and Fbrake,r)</a:t>
            </a:r>
          </a:p>
          <a:p>
            <a:pPr>
              <a:spcAft>
                <a:spcPts val="600"/>
              </a:spcAft>
              <a:defRPr sz="1800">
                <a:solidFill>
                  <a:srgbClr val="333333"/>
                </a:solidFill>
              </a:defRPr>
            </a:pPr>
            <a:r>
              <a:t>Weight transfers FORWARD (opposite of acceleration)</a:t>
            </a:r>
          </a:p>
          <a:p>
            <a:pPr>
              <a:spcAft>
                <a:spcPts val="600"/>
              </a:spcAft>
              <a:defRPr sz="1800">
                <a:solidFill>
                  <a:srgbClr val="333333"/>
                </a:solidFill>
              </a:defRPr>
            </a:pPr>
            <a:r>
              <a:t>Front wheels get more load → Can brake harder</a:t>
            </a:r>
          </a:p>
          <a:p>
            <a:pPr>
              <a:spcAft>
                <a:spcPts val="600"/>
              </a:spcAft>
              <a:defRPr sz="1800">
                <a:solidFill>
                  <a:srgbClr val="333333"/>
                </a:solidFill>
              </a:defRPr>
            </a:pPr>
            <a:r>
              <a:t>Rear wheels get less load → Can lock up easily</a:t>
            </a:r>
          </a:p>
          <a:p>
            <a:pPr>
              <a:spcAft>
                <a:spcPts val="1000"/>
              </a:spcAft>
              <a:defRPr sz="1800">
                <a:solidFill>
                  <a:srgbClr val="333333"/>
                </a:solidFill>
              </a:defRPr>
            </a:pPr>
            <a:r>
              <a:t>CORNERING (turning left): — Centrifugal force at CG (acts outward, to the right)</a:t>
            </a:r>
          </a:p>
          <a:p>
            <a:pPr>
              <a:spcAft>
                <a:spcPts val="600"/>
              </a:spcAft>
              <a:defRPr sz="1800">
                <a:solidFill>
                  <a:srgbClr val="333333"/>
                </a:solidFill>
              </a:defRPr>
            </a:pPr>
            <a:r>
              <a:t>Normal forces change: Right wheels (outside) get MORE load</a:t>
            </a:r>
          </a:p>
          <a:p>
            <a:pPr>
              <a:spcAft>
                <a:spcPts val="600"/>
              </a:spcAft>
              <a:defRPr sz="1800">
                <a:solidFill>
                  <a:srgbClr val="333333"/>
                </a:solidFill>
              </a:defRPr>
            </a:pPr>
            <a:r>
              <a:t>Left wheels (inside) get LESS load (can even lift off ground!)</a:t>
            </a:r>
          </a:p>
          <a:p>
            <a:pPr>
              <a:spcAft>
                <a:spcPts val="600"/>
              </a:spcAft>
              <a:defRPr sz="1800">
                <a:solidFill>
                  <a:srgbClr val="333333"/>
                </a:solidFill>
              </a:defRPr>
            </a:pPr>
            <a:r>
              <a:t>Lateral friction forces at tires (pointing left, toward turn center)</a:t>
            </a:r>
          </a:p>
          <a:p>
            <a:pPr>
              <a:spcAft>
                <a:spcPts val="1000"/>
              </a:spcAft>
              <a:defRPr sz="1800">
                <a:solidFill>
                  <a:srgbClr val="333333"/>
                </a:solidFill>
              </a:defRPr>
            </a:pPr>
            <a:r>
              <a:t>We'll calculate all of these today! —--</a:t>
            </a:r>
          </a:p>
          <a:p>
            <a:pPr>
              <a:spcAft>
                <a:spcPts val="1000"/>
              </a:spcAft>
              <a:defRPr sz="1800">
                <a:solidFill>
                  <a:srgbClr val="333333"/>
                </a:solidFill>
              </a:defRPr>
            </a:pPr>
            <a:r>
              <a:t>#### Part 2: Longitudinal Dynamics - Acceleration (Slides 12-17, ~18 minutes)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Deriving Load Transfer Formula (Acceleration)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derive the load transfer formula rigorously:</a:t>
            </a:r>
          </a:p>
          <a:p>
            <a:pPr>
              <a:spcAft>
                <a:spcPts val="1000"/>
              </a:spcAft>
              <a:defRPr sz="1800">
                <a:solidFill>
                  <a:srgbClr val="333333"/>
                </a:solidFill>
              </a:defRPr>
            </a:pPr>
            <a:r>
              <a:t>Given: Vehicle accelerating at a_x (m/s²)</a:t>
            </a:r>
          </a:p>
          <a:p>
            <a:pPr>
              <a:spcAft>
                <a:spcPts val="1000"/>
              </a:spcAft>
              <a:defRPr sz="1800">
                <a:solidFill>
                  <a:srgbClr val="333333"/>
                </a:solidFill>
              </a:defRPr>
            </a:pPr>
            <a:r>
              <a:t>Apply Newton's 2nd Law:</a:t>
            </a:r>
          </a:p>
          <a:p>
            <a:pPr>
              <a:spcAft>
                <a:spcPts val="1000"/>
              </a:spcAft>
              <a:defRPr sz="1800">
                <a:solidFill>
                  <a:srgbClr val="333333"/>
                </a:solidFill>
              </a:defRPr>
            </a:pPr>
            <a:r>
              <a:t>Longitudinal:</a:t>
            </a:r>
          </a:p>
          <a:p>
            <a:pPr>
              <a:spcAft>
                <a:spcPts val="1000"/>
              </a:spcAft>
              <a:defRPr sz="1800">
                <a:solidFill>
                  <a:srgbClr val="333333"/>
                </a:solidFill>
              </a:defRPr>
            </a:pPr>
            <a:r>
              <a:t>Fdrive - Fresist = m × a_x</a:t>
            </a:r>
          </a:p>
          <a:p>
            <a:pPr>
              <a:spcAft>
                <a:spcPts val="1000"/>
              </a:spcAft>
              <a:defRPr sz="1800">
                <a:solidFill>
                  <a:srgbClr val="333333"/>
                </a:solidFill>
              </a:defRPr>
            </a:pPr>
            <a:r>
              <a:t>Vertical:</a:t>
            </a:r>
          </a:p>
          <a:p>
            <a:pPr>
              <a:spcAft>
                <a:spcPts val="1000"/>
              </a:spcAft>
              <a:defRPr sz="1800">
                <a:solidFill>
                  <a:srgbClr val="333333"/>
                </a:solidFill>
              </a:defRPr>
            </a:pPr>
            <a:r>
              <a:t>Wf + Wr = mg</a:t>
            </a:r>
          </a:p>
          <a:p>
            <a:pPr>
              <a:spcAft>
                <a:spcPts val="1000"/>
              </a:spcAft>
              <a:defRPr sz="1800">
                <a:solidFill>
                  <a:srgbClr val="333333"/>
                </a:solidFill>
              </a:defRPr>
            </a:pPr>
            <a:r>
              <a:t>Moments about CG (taking counter-clockwise as positive):</a:t>
            </a:r>
          </a:p>
          <a:p>
            <a:pPr>
              <a:spcAft>
                <a:spcPts val="1000"/>
              </a:spcAft>
              <a:defRPr sz="1800">
                <a:solidFill>
                  <a:srgbClr val="333333"/>
                </a:solidFill>
              </a:defRPr>
            </a:pPr>
            <a:r>
              <a:t>Wf × a - Wr × b - F_drive × h = 0</a:t>
            </a:r>
          </a:p>
          <a:p>
            <a:pPr>
              <a:spcAft>
                <a:spcPts val="1000"/>
              </a:spcAft>
              <a:defRPr sz="1800">
                <a:solidFill>
                  <a:srgbClr val="333333"/>
                </a:solidFill>
              </a:defRPr>
            </a:pPr>
            <a:r>
              <a:t>But we know: Fdrive = m × ax + F_resist</a:t>
            </a:r>
          </a:p>
          <a:p>
            <a:pPr>
              <a:spcAft>
                <a:spcPts val="1000"/>
              </a:spcAft>
              <a:defRPr sz="1800">
                <a:solidFill>
                  <a:srgbClr val="333333"/>
                </a:solidFill>
              </a:defRPr>
            </a:pPr>
            <a:r>
              <a:t>Substituting:</a:t>
            </a:r>
          </a:p>
          <a:p>
            <a:pPr>
              <a:spcAft>
                <a:spcPts val="1000"/>
              </a:spcAft>
              <a:defRPr sz="1800">
                <a:solidFill>
                  <a:srgbClr val="333333"/>
                </a:solidFill>
              </a:defRPr>
            </a:pPr>
            <a:r>
              <a:t>Wf × a - Wr × b - (m × ax + Fresist) × h = 0</a:t>
            </a:r>
          </a:p>
          <a:p>
            <a:pPr>
              <a:spcAft>
                <a:spcPts val="1000"/>
              </a:spcAft>
              <a:defRPr sz="1800">
                <a:solidFill>
                  <a:srgbClr val="333333"/>
                </a:solidFill>
              </a:defRPr>
            </a:pPr>
            <a:r>
              <a:t>For simplified analysis, assume Fresist is small compared to m × ax:</a:t>
            </a:r>
          </a:p>
          <a:p>
            <a:pPr>
              <a:spcAft>
                <a:spcPts val="1000"/>
              </a:spcAft>
              <a:defRPr sz="1800">
                <a:solidFill>
                  <a:srgbClr val="333333"/>
                </a:solidFill>
              </a:defRPr>
            </a:pPr>
            <a:r>
              <a:t>Wf × a - Wr × b - m × a_x × h ≈ 0</a:t>
            </a:r>
          </a:p>
          <a:p>
            <a:pPr>
              <a:spcAft>
                <a:spcPts val="1000"/>
              </a:spcAft>
              <a:defRPr sz="1800">
                <a:solidFill>
                  <a:srgbClr val="333333"/>
                </a:solidFill>
              </a:defRPr>
            </a:pPr>
            <a:r>
              <a:t>From vertical equilibrium: Wr = mg - Wf</a:t>
            </a:r>
          </a:p>
          <a:p>
            <a:pPr>
              <a:spcAft>
                <a:spcPts val="1000"/>
              </a:spcAft>
              <a:defRPr sz="1800">
                <a:solidFill>
                  <a:srgbClr val="333333"/>
                </a:solidFill>
              </a:defRPr>
            </a:pPr>
            <a:r>
              <a:t>Substituting:</a:t>
            </a:r>
          </a:p>
          <a:p>
            <a:pPr>
              <a:spcAft>
                <a:spcPts val="1000"/>
              </a:spcAft>
              <a:defRPr sz="1800">
                <a:solidFill>
                  <a:srgbClr val="333333"/>
                </a:solidFill>
              </a:defRPr>
            </a:pPr>
            <a:r>
              <a:t>Wf × a - (mg - Wf) × b - m × a_x × h = 0</a:t>
            </a:r>
          </a:p>
          <a:p>
            <a:pPr>
              <a:spcAft>
                <a:spcPts val="1000"/>
              </a:spcAft>
              <a:defRPr sz="1800">
                <a:solidFill>
                  <a:srgbClr val="333333"/>
                </a:solidFill>
              </a:defRPr>
            </a:pPr>
            <a:r>
              <a:t>Wf × a - mg × b + Wf × b - m × a_x × h = 0</a:t>
            </a:r>
          </a:p>
          <a:p>
            <a:pPr>
              <a:spcAft>
                <a:spcPts val="1000"/>
              </a:spcAft>
              <a:defRPr sz="1800">
                <a:solidFill>
                  <a:srgbClr val="333333"/>
                </a:solidFill>
              </a:defRPr>
            </a:pPr>
            <a:r>
              <a:t>Wf × (a + b) = mg × b + m × ax × h</a:t>
            </a:r>
          </a:p>
          <a:p>
            <a:pPr>
              <a:spcAft>
                <a:spcPts val="1000"/>
              </a:spcAft>
              <a:defRPr sz="1800">
                <a:solidFill>
                  <a:srgbClr val="333333"/>
                </a:solidFill>
              </a:defRPr>
            </a:pPr>
            <a:r>
              <a:t>Wf × L = mg × b + m × ax × h</a:t>
            </a:r>
          </a:p>
          <a:p>
            <a:pPr>
              <a:spcAft>
                <a:spcPts val="1000"/>
              </a:spcAft>
              <a:defRPr sz="1800">
                <a:solidFill>
                  <a:srgbClr val="333333"/>
                </a:solidFill>
              </a:defRPr>
            </a:pPr>
            <a:r>
              <a:t>Wf = (mg × b)/L + (m × ax × h)/L</a:t>
            </a:r>
          </a:p>
          <a:p>
            <a:pPr>
              <a:spcAft>
                <a:spcPts val="1000"/>
              </a:spcAft>
              <a:defRPr sz="1800">
                <a:solidFill>
                  <a:srgbClr val="333333"/>
                </a:solidFill>
              </a:defRPr>
            </a:pPr>
            <a:r>
              <a:t>Compare to static: W_f,static = (mg × b)/L</a:t>
            </a:r>
          </a:p>
          <a:p>
            <a:pPr>
              <a:spcAft>
                <a:spcPts val="1000"/>
              </a:spcAft>
              <a:defRPr sz="1800">
                <a:solidFill>
                  <a:srgbClr val="333333"/>
                </a:solidFill>
              </a:defRPr>
            </a:pPr>
            <a:r>
              <a:t>Load transfer: ΔW = (m × a_x × h)/L</a:t>
            </a:r>
          </a:p>
          <a:p>
            <a:pPr>
              <a:spcAft>
                <a:spcPts val="1000"/>
              </a:spcAft>
              <a:defRPr sz="1800">
                <a:solidFill>
                  <a:srgbClr val="333333"/>
                </a:solidFill>
              </a:defRPr>
            </a:pPr>
            <a:r>
              <a:t>Wf,accel = Wf,static - ΔW (front loses weight)</a:t>
            </a:r>
          </a:p>
          <a:p>
            <a:pPr>
              <a:spcAft>
                <a:spcPts val="1000"/>
              </a:spcAft>
              <a:defRPr sz="1800">
                <a:solidFill>
                  <a:srgbClr val="333333"/>
                </a:solidFill>
              </a:defRPr>
            </a:pPr>
            <a:r>
              <a:t>Wr,accel = Wr,static + ΔW (rear gains weight)</a:t>
            </a:r>
          </a:p>
          <a:p>
            <a:pPr>
              <a:spcAft>
                <a:spcPts val="1000"/>
              </a:spcAft>
              <a:defRPr sz="1800">
                <a:solidFill>
                  <a:srgbClr val="333333"/>
                </a:solidFill>
              </a:defRPr>
            </a:pPr>
            <a:r>
              <a:t>Key insight: Load transfer proportional to:</a:t>
            </a:r>
          </a:p>
          <a:p>
            <a:pPr>
              <a:spcAft>
                <a:spcPts val="600"/>
              </a:spcAft>
              <a:defRPr sz="1800">
                <a:solidFill>
                  <a:srgbClr val="333333"/>
                </a:solidFill>
              </a:defRPr>
            </a:pPr>
            <a:r>
              <a:t>Acceleration (a_x) - harder accel → more transfer</a:t>
            </a:r>
          </a:p>
          <a:p>
            <a:pPr>
              <a:spcAft>
                <a:spcPts val="600"/>
              </a:spcAft>
              <a:defRPr sz="1800">
                <a:solidFill>
                  <a:srgbClr val="333333"/>
                </a:solidFill>
              </a:defRPr>
            </a:pPr>
            <a:r>
              <a:t>CG height (h) - higher CG → more transfer</a:t>
            </a:r>
          </a:p>
          <a:p>
            <a:pPr>
              <a:spcAft>
                <a:spcPts val="600"/>
              </a:spcAft>
              <a:defRPr sz="1800">
                <a:solidFill>
                  <a:srgbClr val="333333"/>
                </a:solidFill>
              </a:defRPr>
            </a:pPr>
            <a:r>
              <a:t>Inversely proportional to wheelbase (L) - longer wheelbase → less transfer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Maximum Acceleration Calculation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Question: What's the maximum acceleration for Honda Civic (RWD for this example)?</a:t>
            </a:r>
          </a:p>
          <a:p>
            <a:pPr>
              <a:spcAft>
                <a:spcPts val="1000"/>
              </a:spcAft>
              <a:defRPr sz="1800">
                <a:solidFill>
                  <a:srgbClr val="333333"/>
                </a:solidFill>
              </a:defRPr>
            </a:pPr>
            <a:r>
              <a:t>Given: — m = 1,300 kg, L = 2.7 m, h = 0.55 m</a:t>
            </a:r>
          </a:p>
          <a:p>
            <a:pPr>
              <a:spcAft>
                <a:spcPts val="600"/>
              </a:spcAft>
              <a:defRPr sz="1800">
                <a:solidFill>
                  <a:srgbClr val="333333"/>
                </a:solidFill>
              </a:defRPr>
            </a:pPr>
            <a:r>
              <a:t>a = 1.2 m, b = 1.5 m</a:t>
            </a:r>
          </a:p>
          <a:p>
            <a:pPr>
              <a:spcAft>
                <a:spcPts val="600"/>
              </a:spcAft>
              <a:defRPr sz="1800">
                <a:solidFill>
                  <a:srgbClr val="333333"/>
                </a:solidFill>
              </a:defRPr>
            </a:pPr>
            <a:r>
              <a:t>μ = 0.85 (dry road)</a:t>
            </a:r>
          </a:p>
          <a:p>
            <a:pPr>
              <a:spcAft>
                <a:spcPts val="600"/>
              </a:spcAft>
              <a:defRPr sz="1800">
                <a:solidFill>
                  <a:srgbClr val="333333"/>
                </a:solidFill>
              </a:defRPr>
            </a:pPr>
            <a:r>
              <a:t>Assume RWD (rear wheels drive)</a:t>
            </a:r>
          </a:p>
          <a:p>
            <a:pPr>
              <a:spcAft>
                <a:spcPts val="1000"/>
              </a:spcAft>
              <a:defRPr sz="1800">
                <a:solidFill>
                  <a:srgbClr val="333333"/>
                </a:solidFill>
              </a:defRPr>
            </a:pPr>
            <a:r>
              <a:t>Solution:</a:t>
            </a:r>
          </a:p>
          <a:p>
            <a:pPr>
              <a:spcAft>
                <a:spcPts val="1000"/>
              </a:spcAft>
              <a:defRPr sz="1800">
                <a:solidFill>
                  <a:srgbClr val="333333"/>
                </a:solidFill>
              </a:defRPr>
            </a:pPr>
            <a:r>
              <a:t>Step 1: Calculate static rear axle load</a:t>
            </a:r>
          </a:p>
          <a:p>
            <a:pPr>
              <a:spcAft>
                <a:spcPts val="1000"/>
              </a:spcAft>
              <a:defRPr sz="1800">
                <a:solidFill>
                  <a:srgbClr val="333333"/>
                </a:solidFill>
              </a:defRPr>
            </a:pPr>
            <a:r>
              <a:t>W_r,static = mg × (a/L) = 1300 × 9.81 × (1.2/2.7) = 5,671 N</a:t>
            </a:r>
          </a:p>
          <a:p>
            <a:pPr>
              <a:spcAft>
                <a:spcPts val="1000"/>
              </a:spcAft>
              <a:defRPr sz="1800">
                <a:solidFill>
                  <a:srgbClr val="333333"/>
                </a:solidFill>
              </a:defRPr>
            </a:pPr>
            <a:r>
              <a:t>Step 2: Calculate dynamic rear load during acceleration</a:t>
            </a:r>
          </a:p>
          <a:p>
            <a:pPr>
              <a:spcAft>
                <a:spcPts val="1000"/>
              </a:spcAft>
              <a:defRPr sz="1800">
                <a:solidFill>
                  <a:srgbClr val="333333"/>
                </a:solidFill>
              </a:defRPr>
            </a:pPr>
            <a:r>
              <a:t>At maximum acceleration, using load transfer:</a:t>
            </a:r>
          </a:p>
          <a:p>
            <a:pPr>
              <a:spcAft>
                <a:spcPts val="1000"/>
              </a:spcAft>
              <a:defRPr sz="1800">
                <a:solidFill>
                  <a:srgbClr val="333333"/>
                </a:solidFill>
              </a:defRPr>
            </a:pPr>
            <a:r>
              <a:t>Wr,dynamic = Wr,static + ΔW</a:t>
            </a:r>
          </a:p>
          <a:p>
            <a:pPr>
              <a:spcAft>
                <a:spcPts val="1000"/>
              </a:spcAft>
              <a:defRPr sz="1800">
                <a:solidFill>
                  <a:srgbClr val="333333"/>
                </a:solidFill>
              </a:defRPr>
            </a:pPr>
            <a:r>
              <a:t>Wr,dynamic = Wr,static + (m × a_max × h)/L</a:t>
            </a:r>
          </a:p>
          <a:p>
            <a:pPr>
              <a:spcAft>
                <a:spcPts val="1000"/>
              </a:spcAft>
              <a:defRPr sz="1800">
                <a:solidFill>
                  <a:srgbClr val="333333"/>
                </a:solidFill>
              </a:defRPr>
            </a:pPr>
            <a:r>
              <a:t>Step 3: Maximum tractive force limited by friction</a:t>
            </a:r>
          </a:p>
          <a:p>
            <a:pPr>
              <a:spcAft>
                <a:spcPts val="1000"/>
              </a:spcAft>
              <a:defRPr sz="1800">
                <a:solidFill>
                  <a:srgbClr val="333333"/>
                </a:solidFill>
              </a:defRPr>
            </a:pPr>
            <a:r>
              <a:t>Fdrive,max = μ × Wr,dynamic</a:t>
            </a:r>
          </a:p>
          <a:p>
            <a:pPr>
              <a:spcAft>
                <a:spcPts val="1000"/>
              </a:spcAft>
              <a:defRPr sz="1800">
                <a:solidFill>
                  <a:srgbClr val="333333"/>
                </a:solidFill>
              </a:defRPr>
            </a:pPr>
            <a:r>
              <a:t>Step 4: Set up equation</a:t>
            </a:r>
          </a:p>
          <a:p>
            <a:pPr>
              <a:spcAft>
                <a:spcPts val="1000"/>
              </a:spcAft>
              <a:defRPr sz="1800">
                <a:solidFill>
                  <a:srgbClr val="333333"/>
                </a:solidFill>
              </a:defRPr>
            </a:pPr>
            <a:r>
              <a:t>Fdrive,max = m × amax (ignoring resistances for max case)</a:t>
            </a:r>
          </a:p>
          <a:p>
            <a:pPr>
              <a:spcAft>
                <a:spcPts val="1000"/>
              </a:spcAft>
              <a:defRPr sz="1800">
                <a:solidFill>
                  <a:srgbClr val="333333"/>
                </a:solidFill>
              </a:defRPr>
            </a:pPr>
            <a:r>
              <a:t>μ × Wr,dynamic = m × amax</a:t>
            </a:r>
          </a:p>
          <a:p>
            <a:pPr>
              <a:spcAft>
                <a:spcPts val="1000"/>
              </a:spcAft>
              <a:defRPr sz="1800">
                <a:solidFill>
                  <a:srgbClr val="333333"/>
                </a:solidFill>
              </a:defRPr>
            </a:pPr>
            <a:r>
              <a:t>μ × [Wr,static + (m × amax × h)/L] = m × a_max</a:t>
            </a:r>
          </a:p>
          <a:p>
            <a:pPr>
              <a:spcAft>
                <a:spcPts val="1000"/>
              </a:spcAft>
              <a:defRPr sz="1800">
                <a:solidFill>
                  <a:srgbClr val="333333"/>
                </a:solidFill>
              </a:defRPr>
            </a:pPr>
            <a:r>
              <a:t>Step 5: Solve for a_max</a:t>
            </a:r>
          </a:p>
          <a:p>
            <a:pPr>
              <a:spcAft>
                <a:spcPts val="1000"/>
              </a:spcAft>
              <a:defRPr sz="1800">
                <a:solidFill>
                  <a:srgbClr val="333333"/>
                </a:solidFill>
              </a:defRPr>
            </a:pPr>
            <a:r>
              <a:t>μ × Wr,static + μ × (m × amax × h)/L = m × a_max</a:t>
            </a:r>
          </a:p>
          <a:p>
            <a:pPr>
              <a:spcAft>
                <a:spcPts val="1000"/>
              </a:spcAft>
              <a:defRPr sz="1800">
                <a:solidFill>
                  <a:srgbClr val="333333"/>
                </a:solidFill>
              </a:defRPr>
            </a:pPr>
            <a:r>
              <a:t>μ × Wr,static = m × amax - μ × (m × a_max × h)/L</a:t>
            </a:r>
          </a:p>
          <a:p>
            <a:pPr>
              <a:spcAft>
                <a:spcPts val="1000"/>
              </a:spcAft>
              <a:defRPr sz="1800">
                <a:solidFill>
                  <a:srgbClr val="333333"/>
                </a:solidFill>
              </a:defRPr>
            </a:pPr>
            <a:r>
              <a:t>μ × Wr,static = m × amax × [1 - μ × h/L]</a:t>
            </a:r>
          </a:p>
          <a:p>
            <a:pPr>
              <a:spcAft>
                <a:spcPts val="1000"/>
              </a:spcAft>
              <a:defRPr sz="1800">
                <a:solidFill>
                  <a:srgbClr val="333333"/>
                </a:solidFill>
              </a:defRPr>
            </a:pPr>
            <a:r>
              <a:t>amax = (μ × Wr,static) / [m × (1 - μ × h/L)]</a:t>
            </a:r>
          </a:p>
          <a:p>
            <a:pPr>
              <a:spcAft>
                <a:spcPts val="1000"/>
              </a:spcAft>
              <a:defRPr sz="1800">
                <a:solidFill>
                  <a:srgbClr val="333333"/>
                </a:solidFill>
              </a:defRPr>
            </a:pPr>
            <a:r>
              <a:t>Step 6: Calculate</a:t>
            </a:r>
          </a:p>
          <a:p>
            <a:pPr>
              <a:spcAft>
                <a:spcPts val="1000"/>
              </a:spcAft>
              <a:defRPr sz="1800">
                <a:solidFill>
                  <a:srgbClr val="333333"/>
                </a:solidFill>
              </a:defRPr>
            </a:pPr>
            <a:r>
              <a:t>a_max = (0.85 × 5671) / [1300 × (1 - 0.85 × 0.55/2.7)]</a:t>
            </a:r>
          </a:p>
          <a:p>
            <a:pPr>
              <a:spcAft>
                <a:spcPts val="1000"/>
              </a:spcAft>
              <a:defRPr sz="1800">
                <a:solidFill>
                  <a:srgbClr val="333333"/>
                </a:solidFill>
              </a:defRPr>
            </a:pPr>
            <a:r>
              <a:t>a_max = 4821 / [1300 × (1 - 0.173)]</a:t>
            </a:r>
          </a:p>
          <a:p>
            <a:pPr>
              <a:spcAft>
                <a:spcPts val="1000"/>
              </a:spcAft>
              <a:defRPr sz="1800">
                <a:solidFill>
                  <a:srgbClr val="333333"/>
                </a:solidFill>
              </a:defRPr>
            </a:pPr>
            <a:r>
              <a:t>a_max = 4821 / (1300 × 0.827)</a:t>
            </a:r>
          </a:p>
          <a:p>
            <a:pPr>
              <a:spcAft>
                <a:spcPts val="1000"/>
              </a:spcAft>
              <a:defRPr sz="1800">
                <a:solidFill>
                  <a:srgbClr val="333333"/>
                </a:solidFill>
              </a:defRPr>
            </a:pPr>
            <a:r>
              <a:t>a_max = 4821 / 1075</a:t>
            </a:r>
          </a:p>
          <a:p>
            <a:pPr>
              <a:spcAft>
                <a:spcPts val="1000"/>
              </a:spcAft>
              <a:defRPr sz="1800">
                <a:solidFill>
                  <a:srgbClr val="333333"/>
                </a:solidFill>
              </a:defRPr>
            </a:pPr>
            <a:r>
              <a:t>a_max = 4.48 m/s²</a:t>
            </a:r>
          </a:p>
          <a:p>
            <a:pPr>
              <a:spcAft>
                <a:spcPts val="1000"/>
              </a:spcAft>
              <a:defRPr sz="1800">
                <a:solidFill>
                  <a:srgbClr val="333333"/>
                </a:solidFill>
              </a:defRPr>
            </a:pPr>
            <a:r>
              <a:t>Result: Maximum acceleration ~4.5 m/s² (0.46 g)</a:t>
            </a:r>
          </a:p>
          <a:p>
            <a:pPr>
              <a:spcAft>
                <a:spcPts val="1000"/>
              </a:spcAft>
              <a:defRPr sz="1800">
                <a:solidFill>
                  <a:srgbClr val="333333"/>
                </a:solidFill>
              </a:defRPr>
            </a:pPr>
            <a:r>
              <a:t>0-100 km/h time ≈ 27.8/4.48 ≈ 6.2 seconds (not accounting for gear shifts and engine torque curve - actual will be slower)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Effect of Weight Distribution on Acceleration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Why sports cars aim for 50:50 weight distribution:</a:t>
            </a:r>
          </a:p>
          <a:p>
            <a:pPr>
              <a:spcAft>
                <a:spcPts val="1000"/>
              </a:spcAft>
              <a:defRPr sz="1800">
                <a:solidFill>
                  <a:srgbClr val="333333"/>
                </a:solidFill>
              </a:defRPr>
            </a:pPr>
            <a:r>
              <a:t>Scenario: Same vehicle, different weight distributions (for RWD)</a:t>
            </a:r>
          </a:p>
          <a:p>
            <a:pPr>
              <a:spcAft>
                <a:spcPts val="1000"/>
              </a:spcAft>
              <a:defRPr sz="1800">
                <a:solidFill>
                  <a:srgbClr val="333333"/>
                </a:solidFill>
              </a:defRPr>
            </a:pPr>
            <a:r>
              <a:t>Front-heavy (60:40): — Static W_r = 40% × mg = 0.4 × 12,753 = 5,101 N</a:t>
            </a:r>
          </a:p>
          <a:p>
            <a:pPr>
              <a:spcAft>
                <a:spcPts val="600"/>
              </a:spcAft>
              <a:defRPr sz="1800">
                <a:solidFill>
                  <a:srgbClr val="333333"/>
                </a:solidFill>
              </a:defRPr>
            </a:pPr>
            <a:r>
              <a:t>Less static rear load → Less initial traction</a:t>
            </a:r>
          </a:p>
          <a:p>
            <a:pPr>
              <a:spcAft>
                <a:spcPts val="600"/>
              </a:spcAft>
              <a:defRPr sz="1800">
                <a:solidFill>
                  <a:srgbClr val="333333"/>
                </a:solidFill>
              </a:defRPr>
            </a:pPr>
            <a:r>
              <a:t>a_max = 4.10 m/s² (lower!)</a:t>
            </a:r>
          </a:p>
          <a:p>
            <a:pPr>
              <a:spcAft>
                <a:spcPts val="1000"/>
              </a:spcAft>
              <a:defRPr sz="1800">
                <a:solidFill>
                  <a:srgbClr val="333333"/>
                </a:solidFill>
              </a:defRPr>
            </a:pPr>
            <a:r>
              <a:t>50:50 distribution: — Static W_r = 50% × mg = 0.5 × 12,753 = 6,377 N</a:t>
            </a:r>
          </a:p>
          <a:p>
            <a:pPr>
              <a:spcAft>
                <a:spcPts val="600"/>
              </a:spcAft>
              <a:defRPr sz="1800">
                <a:solidFill>
                  <a:srgbClr val="333333"/>
                </a:solidFill>
              </a:defRPr>
            </a:pPr>
            <a:r>
              <a:t>More static rear load → More traction</a:t>
            </a:r>
          </a:p>
          <a:p>
            <a:pPr>
              <a:spcAft>
                <a:spcPts val="600"/>
              </a:spcAft>
              <a:defRPr sz="1800">
                <a:solidFill>
                  <a:srgbClr val="333333"/>
                </a:solidFill>
              </a:defRPr>
            </a:pPr>
            <a:r>
              <a:t>a_max = 5.12 m/s² (higher!)</a:t>
            </a:r>
          </a:p>
          <a:p>
            <a:pPr>
              <a:spcAft>
                <a:spcPts val="1000"/>
              </a:spcAft>
              <a:defRPr sz="1800">
                <a:solidFill>
                  <a:srgbClr val="333333"/>
                </a:solidFill>
              </a:defRPr>
            </a:pPr>
            <a:r>
              <a:t>Rear-heavy (40:60): — Static W_r = 60% × mg = 0.6 × 12,753 = 7,652 N</a:t>
            </a:r>
          </a:p>
          <a:p>
            <a:pPr>
              <a:spcAft>
                <a:spcPts val="600"/>
              </a:spcAft>
              <a:defRPr sz="1800">
                <a:solidFill>
                  <a:srgbClr val="333333"/>
                </a:solidFill>
              </a:defRPr>
            </a:pPr>
            <a:r>
              <a:t>Even more rear load</a:t>
            </a:r>
          </a:p>
          <a:p>
            <a:pPr>
              <a:spcAft>
                <a:spcPts val="600"/>
              </a:spcAft>
              <a:defRPr sz="1800">
                <a:solidFill>
                  <a:srgbClr val="333333"/>
                </a:solidFill>
              </a:defRPr>
            </a:pPr>
            <a:r>
              <a:t>a_max = 6.15 m/s² (best for RWD!)</a:t>
            </a:r>
          </a:p>
          <a:p>
            <a:pPr>
              <a:spcAft>
                <a:spcPts val="1000"/>
              </a:spcAft>
              <a:defRPr sz="1800">
                <a:solidFill>
                  <a:srgbClr val="333333"/>
                </a:solidFill>
              </a:defRPr>
            </a:pPr>
            <a:r>
              <a:t>BUT: Rear-heavy hurts braking (less front load) and understeer in corners</a:t>
            </a:r>
          </a:p>
          <a:p>
            <a:pPr>
              <a:spcAft>
                <a:spcPts val="1000"/>
              </a:spcAft>
              <a:defRPr sz="1800">
                <a:solidFill>
                  <a:srgbClr val="333333"/>
                </a:solidFill>
              </a:defRPr>
            </a:pPr>
            <a:r>
              <a:t>Trade-off: 50:50 is compromise for balanced performance in all maneuvers</a:t>
            </a:r>
          </a:p>
          <a:p>
            <a:pPr>
              <a:spcAft>
                <a:spcPts val="1000"/>
              </a:spcAft>
              <a:defRPr sz="1800">
                <a:solidFill>
                  <a:srgbClr val="333333"/>
                </a:solidFill>
              </a:defRPr>
            </a:pPr>
            <a:r>
              <a:t>Examples: — BMW 3-Series: 50:50 (RWD, balanced)</a:t>
            </a:r>
          </a:p>
          <a:p>
            <a:pPr>
              <a:spcAft>
                <a:spcPts val="600"/>
              </a:spcAft>
              <a:defRPr sz="1800">
                <a:solidFill>
                  <a:srgbClr val="333333"/>
                </a:solidFill>
              </a:defRPr>
            </a:pPr>
            <a:r>
              <a:t>Porsche 911: Rear-heavy (~40:60) → Amazing acceleration, challenging handling</a:t>
            </a:r>
          </a:p>
          <a:p>
            <a:pPr>
              <a:spcAft>
                <a:spcPts val="600"/>
              </a:spcAft>
              <a:defRPr sz="1800">
                <a:solidFill>
                  <a:srgbClr val="333333"/>
                </a:solidFill>
              </a:defRPr>
            </a:pPr>
            <a:r>
              <a:t>Honda Civic: Front-heavy (~60:40) → FWD, good braking, moderate accel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AWD vs RWD vs FWD Acceleration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Drive configuration affects maximum acceleration:</a:t>
            </a:r>
          </a:p>
          <a:p>
            <a:pPr>
              <a:spcAft>
                <a:spcPts val="1000"/>
              </a:spcAft>
              <a:defRPr sz="1800">
                <a:solidFill>
                  <a:srgbClr val="333333"/>
                </a:solidFill>
              </a:defRPr>
            </a:pPr>
            <a:r>
              <a:t>RWD (Rear-Wheel Drive): — Uses rear weight + weight transfer → Good for acceleration</a:t>
            </a:r>
          </a:p>
          <a:p>
            <a:pPr>
              <a:spcAft>
                <a:spcPts val="600"/>
              </a:spcAft>
              <a:defRPr sz="1800">
                <a:solidFill>
                  <a:srgbClr val="333333"/>
                </a:solidFill>
              </a:defRPr>
            </a:pPr>
            <a:r>
              <a:t>But: Front-heavy car wastes front weight during accel</a:t>
            </a:r>
          </a:p>
          <a:p>
            <a:pPr>
              <a:spcAft>
                <a:spcPts val="600"/>
              </a:spcAft>
              <a:defRPr sz="1800">
                <a:solidFill>
                  <a:srgbClr val="333333"/>
                </a:solidFill>
              </a:defRPr>
            </a:pPr>
            <a:r>
              <a:t>Max accel ≈ 0.4-0.5 g</a:t>
            </a:r>
          </a:p>
          <a:p>
            <a:pPr>
              <a:spcAft>
                <a:spcPts val="1000"/>
              </a:spcAft>
              <a:defRPr sz="1800">
                <a:solidFill>
                  <a:srgbClr val="333333"/>
                </a:solidFill>
              </a:defRPr>
            </a:pPr>
            <a:r>
              <a:t>FWD (Front-Wheel Drive): — Uses front weight</a:t>
            </a:r>
          </a:p>
          <a:p>
            <a:pPr>
              <a:spcAft>
                <a:spcPts val="600"/>
              </a:spcAft>
              <a:defRPr sz="1800">
                <a:solidFill>
                  <a:srgbClr val="333333"/>
                </a:solidFill>
              </a:defRPr>
            </a:pPr>
            <a:r>
              <a:t>Problem: Weight transfers AWAY from drive wheels during accel!</a:t>
            </a:r>
          </a:p>
          <a:p>
            <a:pPr>
              <a:spcAft>
                <a:spcPts val="600"/>
              </a:spcAft>
              <a:defRPr sz="1800">
                <a:solidFill>
                  <a:srgbClr val="333333"/>
                </a:solidFill>
              </a:defRPr>
            </a:pPr>
            <a:r>
              <a:t>W_f decreases with acceleration → Traction decreases!</a:t>
            </a:r>
          </a:p>
          <a:p>
            <a:pPr>
              <a:spcAft>
                <a:spcPts val="600"/>
              </a:spcAft>
              <a:defRPr sz="1800">
                <a:solidFill>
                  <a:srgbClr val="333333"/>
                </a:solidFill>
              </a:defRPr>
            </a:pPr>
            <a:r>
              <a:t>Max accel ≈ 0.3-0.4 g (worse than RWD)</a:t>
            </a:r>
          </a:p>
          <a:p>
            <a:pPr>
              <a:spcAft>
                <a:spcPts val="600"/>
              </a:spcAft>
              <a:defRPr sz="1800">
                <a:solidFill>
                  <a:srgbClr val="333333"/>
                </a:solidFill>
              </a:defRPr>
            </a:pPr>
            <a:r>
              <a:t>Why FWD exists: Cheaper, better packaging, better snow traction</a:t>
            </a:r>
          </a:p>
          <a:p>
            <a:pPr>
              <a:spcAft>
                <a:spcPts val="1000"/>
              </a:spcAft>
              <a:defRPr sz="1800">
                <a:solidFill>
                  <a:srgbClr val="333333"/>
                </a:solidFill>
              </a:defRPr>
            </a:pPr>
            <a:r>
              <a:t>AWD (All-Wheel Drive): — Uses ALL four wheels</a:t>
            </a:r>
          </a:p>
          <a:p>
            <a:pPr>
              <a:spcAft>
                <a:spcPts val="600"/>
              </a:spcAft>
              <a:defRPr sz="1800">
                <a:solidFill>
                  <a:srgbClr val="333333"/>
                </a:solidFill>
              </a:defRPr>
            </a:pPr>
            <a:r>
              <a:t>Can utilize full vehicle weight</a:t>
            </a:r>
          </a:p>
          <a:p>
            <a:pPr>
              <a:spcAft>
                <a:spcPts val="600"/>
              </a:spcAft>
              <a:defRPr sz="1800">
                <a:solidFill>
                  <a:srgbClr val="333333"/>
                </a:solidFill>
              </a:defRPr>
            </a:pPr>
            <a:r>
              <a:t>Max accel ≈ 0.8-0.9 g (limited only by total μ × mg!)</a:t>
            </a:r>
          </a:p>
          <a:p>
            <a:pPr>
              <a:spcAft>
                <a:spcPts val="600"/>
              </a:spcAft>
              <a:defRPr sz="1800">
                <a:solidFill>
                  <a:srgbClr val="333333"/>
                </a:solidFill>
              </a:defRPr>
            </a:pPr>
            <a:r>
              <a:t>Examples: Audi Quattro, Subaru WRX (famous for launch acceleration)</a:t>
            </a:r>
          </a:p>
          <a:p>
            <a:pPr>
              <a:spcAft>
                <a:spcPts val="1000"/>
              </a:spcAft>
              <a:defRPr sz="1800">
                <a:solidFill>
                  <a:srgbClr val="333333"/>
                </a:solidFill>
              </a:defRPr>
            </a:pPr>
            <a:r>
              <a:t>This is why drag racing cars: — Are RWD (or AWD)</a:t>
            </a:r>
          </a:p>
          <a:p>
            <a:pPr>
              <a:spcAft>
                <a:spcPts val="600"/>
              </a:spcAft>
              <a:defRPr sz="1800">
                <a:solidFill>
                  <a:srgbClr val="333333"/>
                </a:solidFill>
              </a:defRPr>
            </a:pPr>
            <a:r>
              <a:t>Have weight shifted to rear (big engine in back, or long wheelbase with weight transfer)</a:t>
            </a:r>
          </a:p>
          <a:p>
            <a:pPr>
              <a:spcAft>
                <a:spcPts val="600"/>
              </a:spcAft>
              <a:defRPr sz="1800">
                <a:solidFill>
                  <a:srgbClr val="333333"/>
                </a:solidFill>
              </a:defRPr>
            </a:pPr>
            <a:r>
              <a:t>Have low CG (reduce load transfer magnitude)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Practice Problem - Your Turn!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Practice Problem:</a:t>
            </a:r>
          </a:p>
          <a:p>
            <a:pPr>
              <a:spcAft>
                <a:spcPts val="1000"/>
              </a:spcAft>
              <a:defRPr sz="1800">
                <a:solidFill>
                  <a:srgbClr val="333333"/>
                </a:solidFill>
              </a:defRPr>
            </a:pPr>
            <a:r>
              <a:t>Given: — Vehicle mass: 1,500 kg</a:t>
            </a:r>
          </a:p>
          <a:p>
            <a:pPr>
              <a:spcAft>
                <a:spcPts val="600"/>
              </a:spcAft>
              <a:defRPr sz="1800">
                <a:solidFill>
                  <a:srgbClr val="333333"/>
                </a:solidFill>
              </a:defRPr>
            </a:pPr>
            <a:r>
              <a:t>Wheelbase: 3.0 m</a:t>
            </a:r>
          </a:p>
          <a:p>
            <a:pPr>
              <a:spcAft>
                <a:spcPts val="600"/>
              </a:spcAft>
              <a:defRPr sz="1800">
                <a:solidFill>
                  <a:srgbClr val="333333"/>
                </a:solidFill>
              </a:defRPr>
            </a:pPr>
            <a:r>
              <a:t>CG position: 1.4 m from front, 1.6 m from rear</a:t>
            </a:r>
          </a:p>
          <a:p>
            <a:pPr>
              <a:spcAft>
                <a:spcPts val="600"/>
              </a:spcAft>
              <a:defRPr sz="1800">
                <a:solidFill>
                  <a:srgbClr val="333333"/>
                </a:solidFill>
              </a:defRPr>
            </a:pPr>
            <a:r>
              <a:t>CG height: 0.6 m</a:t>
            </a:r>
          </a:p>
          <a:p>
            <a:pPr>
              <a:spcAft>
                <a:spcPts val="600"/>
              </a:spcAft>
              <a:defRPr sz="1800">
                <a:solidFill>
                  <a:srgbClr val="333333"/>
                </a:solidFill>
              </a:defRPr>
            </a:pPr>
            <a:r>
              <a:t>Coefficient of friction: 0.80 (wet road)</a:t>
            </a:r>
          </a:p>
          <a:p>
            <a:pPr>
              <a:spcAft>
                <a:spcPts val="600"/>
              </a:spcAft>
              <a:defRPr sz="1800">
                <a:solidFill>
                  <a:srgbClr val="333333"/>
                </a:solidFill>
              </a:defRPr>
            </a:pPr>
            <a:r>
              <a:t>RWD vehicle</a:t>
            </a:r>
          </a:p>
          <a:p>
            <a:pPr>
              <a:spcAft>
                <a:spcPts val="1000"/>
              </a:spcAft>
              <a:defRPr sz="1800">
                <a:solidFill>
                  <a:srgbClr val="333333"/>
                </a:solidFill>
              </a:defRPr>
            </a:pPr>
            <a:r>
              <a:t>Calculate:</a:t>
            </a:r>
          </a:p>
          <a:p>
            <a:pPr>
              <a:spcAft>
                <a:spcPts val="600"/>
              </a:spcAft>
              <a:defRPr sz="1800">
                <a:solidFill>
                  <a:srgbClr val="333333"/>
                </a:solidFill>
              </a:defRPr>
            </a:pPr>
            <a:r>
              <a:t>Static weight distribution (front and rear axle loads)</a:t>
            </a:r>
          </a:p>
          <a:p>
            <a:pPr>
              <a:spcAft>
                <a:spcPts val="600"/>
              </a:spcAft>
              <a:defRPr sz="1800">
                <a:solidFill>
                  <a:srgbClr val="333333"/>
                </a:solidFill>
              </a:defRPr>
            </a:pPr>
            <a:r>
              <a:t>Maximum acceleration possible (traction-limited)</a:t>
            </a:r>
          </a:p>
          <a:p>
            <a:pPr>
              <a:spcAft>
                <a:spcPts val="600"/>
              </a:spcAft>
              <a:defRPr sz="1800">
                <a:solidFill>
                  <a:srgbClr val="333333"/>
                </a:solidFill>
              </a:defRPr>
            </a:pPr>
            <a:r>
              <a:t>Weight on rear axle at maximum acceleration</a:t>
            </a:r>
          </a:p>
          <a:p>
            <a:pPr>
              <a:spcAft>
                <a:spcPts val="600"/>
              </a:spcAft>
              <a:defRPr sz="1800">
                <a:solidFill>
                  <a:srgbClr val="333333"/>
                </a:solidFill>
              </a:defRPr>
            </a:pPr>
            <a:r>
              <a:t>If this were FWD instead, what would maximum acceleration be?</a:t>
            </a:r>
          </a:p>
          <a:p>
            <a:pPr>
              <a:spcAft>
                <a:spcPts val="1000"/>
              </a:spcAft>
              <a:defRPr sz="1800">
                <a:solidFill>
                  <a:srgbClr val="333333"/>
                </a:solidFill>
              </a:defRPr>
            </a:pPr>
            <a:r>
              <a:t>Take 3 minutes. I'll show the solution after.</a:t>
            </a:r>
          </a:p>
          <a:p>
            <a:pPr>
              <a:spcAft>
                <a:spcPts val="1000"/>
              </a:spcAft>
              <a:defRPr sz="1800">
                <a:solidFill>
                  <a:srgbClr val="333333"/>
                </a:solidFill>
              </a:defRPr>
            </a:pPr>
            <a:r>
              <a:t>[Pause for student work]</a:t>
            </a:r>
          </a:p>
          <a:p>
            <a:pPr>
              <a:spcAft>
                <a:spcPts val="1000"/>
              </a:spcAft>
              <a:defRPr sz="1800">
                <a:solidFill>
                  <a:srgbClr val="333333"/>
                </a:solidFill>
              </a:defRPr>
            </a:pPr>
            <a:r>
              <a:t>Solution:</a:t>
            </a:r>
          </a:p>
          <a:p>
            <a:pPr>
              <a:spcAft>
                <a:spcPts val="600"/>
              </a:spcAft>
              <a:defRPr sz="1800">
                <a:solidFill>
                  <a:srgbClr val="333333"/>
                </a:solidFill>
              </a:defRPr>
            </a:pPr>
            <a:r>
              <a:t>W_f,static = 1500 × 9.81 × (1.6/3.0) = 7,848 N (53.3%)</a:t>
            </a:r>
          </a:p>
          <a:p>
            <a:pPr>
              <a:spcAft>
                <a:spcPts val="1000"/>
              </a:spcAft>
              <a:defRPr sz="1800">
                <a:solidFill>
                  <a:srgbClr val="333333"/>
                </a:solidFill>
              </a:defRPr>
            </a:pPr>
            <a:r>
              <a:t>W_r,static = 1500 × 9.81 × (1.4/3.0) = 6,867 N (46.7%)</a:t>
            </a:r>
          </a:p>
          <a:p>
            <a:pPr>
              <a:spcAft>
                <a:spcPts val="600"/>
              </a:spcAft>
              <a:defRPr sz="1800">
                <a:solidFill>
                  <a:srgbClr val="333333"/>
                </a:solidFill>
              </a:defRPr>
            </a:pPr>
            <a:r>
              <a:t>amax,RWD = (μ × Wr,static) / [m × (1 - μ × h/L)]</a:t>
            </a:r>
          </a:p>
          <a:p>
            <a:pPr>
              <a:spcAft>
                <a:spcPts val="1000"/>
              </a:spcAft>
              <a:defRPr sz="1800">
                <a:solidFill>
                  <a:srgbClr val="333333"/>
                </a:solidFill>
              </a:defRPr>
            </a:pPr>
            <a:r>
              <a:t>a_max,RWD = (0.80 × 6867) / [1500 × (1 - 0.80 × 0.6/3.0)]</a:t>
            </a:r>
          </a:p>
          <a:p>
            <a:pPr>
              <a:spcAft>
                <a:spcPts val="1000"/>
              </a:spcAft>
              <a:defRPr sz="1800">
                <a:solidFill>
                  <a:srgbClr val="333333"/>
                </a:solidFill>
              </a:defRPr>
            </a:pPr>
            <a:r>
              <a:t>a_max,RWD = 5494 / [1500 × 0.84]</a:t>
            </a:r>
          </a:p>
          <a:p>
            <a:pPr>
              <a:spcAft>
                <a:spcPts val="1000"/>
              </a:spcAft>
              <a:defRPr sz="1800">
                <a:solidFill>
                  <a:srgbClr val="333333"/>
                </a:solidFill>
              </a:defRPr>
            </a:pPr>
            <a:r>
              <a:t>a_max,RWD = 4.36 m/s²</a:t>
            </a:r>
          </a:p>
          <a:p>
            <a:pPr>
              <a:spcAft>
                <a:spcPts val="600"/>
              </a:spcAft>
              <a:defRPr sz="1800">
                <a:solidFill>
                  <a:srgbClr val="333333"/>
                </a:solidFill>
              </a:defRPr>
            </a:pPr>
            <a:r>
              <a:t>ΔW = (1500 × 4.36 × 0.6)/3.0 = 1,308 N</a:t>
            </a:r>
          </a:p>
          <a:p>
            <a:pPr>
              <a:spcAft>
                <a:spcPts val="1000"/>
              </a:spcAft>
              <a:defRPr sz="1800">
                <a:solidFill>
                  <a:srgbClr val="333333"/>
                </a:solidFill>
              </a:defRPr>
            </a:pPr>
            <a:r>
              <a:t>W_r,accel = 6,867 + 1,308 = 8,175 N</a:t>
            </a:r>
          </a:p>
          <a:p>
            <a:pPr>
              <a:spcAft>
                <a:spcPts val="600"/>
              </a:spcAft>
              <a:defRPr sz="1800">
                <a:solidFill>
                  <a:srgbClr val="333333"/>
                </a:solidFill>
              </a:defRPr>
            </a:pPr>
            <a:r>
              <a:t>For FWD: Weight transfers AWAY from front wheels</a:t>
            </a:r>
          </a:p>
          <a:p>
            <a:pPr>
              <a:spcAft>
                <a:spcPts val="1000"/>
              </a:spcAft>
              <a:defRPr sz="1800">
                <a:solidFill>
                  <a:srgbClr val="333333"/>
                </a:solidFill>
              </a:defRPr>
            </a:pPr>
            <a:r>
              <a:t>Wf,accel = Wf,static - ΔW = 7,848 - 1,308 = 6,540 N</a:t>
            </a:r>
          </a:p>
          <a:p>
            <a:pPr>
              <a:spcAft>
                <a:spcPts val="1000"/>
              </a:spcAft>
              <a:defRPr sz="1800">
                <a:solidFill>
                  <a:srgbClr val="333333"/>
                </a:solidFill>
              </a:defRPr>
            </a:pPr>
            <a:r>
              <a:t>a_max,FWD = (0.80 × 6540)/1500 / (1 + 0.80 × 0.6/3.0) ≈ 3.72 m/s² (worse!)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Real-World Validation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Theory vs Reality:</a:t>
            </a:r>
          </a:p>
          <a:p>
            <a:pPr>
              <a:spcAft>
                <a:spcPts val="1000"/>
              </a:spcAft>
              <a:defRPr sz="1800">
                <a:solidFill>
                  <a:srgbClr val="333333"/>
                </a:solidFill>
              </a:defRPr>
            </a:pPr>
            <a:r>
              <a:t>Our simplified calculations assume:</a:t>
            </a:r>
          </a:p>
          <a:p>
            <a:pPr>
              <a:spcAft>
                <a:spcPts val="600"/>
              </a:spcAft>
              <a:defRPr sz="1800">
                <a:solidFill>
                  <a:srgbClr val="333333"/>
                </a:solidFill>
              </a:defRPr>
            </a:pPr>
            <a:r>
              <a:t>Constant friction coefficient</a:t>
            </a:r>
          </a:p>
          <a:p>
            <a:pPr>
              <a:spcAft>
                <a:spcPts val="600"/>
              </a:spcAft>
              <a:defRPr sz="1800">
                <a:solidFill>
                  <a:srgbClr val="333333"/>
                </a:solidFill>
              </a:defRPr>
            </a:pPr>
            <a:r>
              <a:t>Instant torque at wheels (no wheel spin, perfect traction control)</a:t>
            </a:r>
          </a:p>
          <a:p>
            <a:pPr>
              <a:spcAft>
                <a:spcPts val="600"/>
              </a:spcAft>
              <a:defRPr sz="1800">
                <a:solidFill>
                  <a:srgbClr val="333333"/>
                </a:solidFill>
              </a:defRPr>
            </a:pPr>
            <a:r>
              <a:t>No gear shifts</a:t>
            </a:r>
          </a:p>
          <a:p>
            <a:pPr>
              <a:spcAft>
                <a:spcPts val="600"/>
              </a:spcAft>
              <a:defRPr sz="1800">
                <a:solidFill>
                  <a:srgbClr val="333333"/>
                </a:solidFill>
              </a:defRPr>
            </a:pPr>
            <a:r>
              <a:t>No aerodynamic drag</a:t>
            </a:r>
          </a:p>
          <a:p>
            <a:pPr>
              <a:spcAft>
                <a:spcPts val="1000"/>
              </a:spcAft>
              <a:defRPr sz="1800">
                <a:solidFill>
                  <a:srgbClr val="333333"/>
                </a:solidFill>
              </a:defRPr>
            </a:pPr>
            <a:r>
              <a:t>Real-world factors: — Engine torque curve (not constant)</a:t>
            </a:r>
          </a:p>
          <a:p>
            <a:pPr>
              <a:spcAft>
                <a:spcPts val="600"/>
              </a:spcAft>
              <a:defRPr sz="1800">
                <a:solidFill>
                  <a:srgbClr val="333333"/>
                </a:solidFill>
              </a:defRPr>
            </a:pPr>
            <a:r>
              <a:t>Gear ratios and shift times</a:t>
            </a:r>
          </a:p>
          <a:p>
            <a:pPr>
              <a:spcAft>
                <a:spcPts val="600"/>
              </a:spcAft>
              <a:defRPr sz="1800">
                <a:solidFill>
                  <a:srgbClr val="333333"/>
                </a:solidFill>
              </a:defRPr>
            </a:pPr>
            <a:r>
              <a:t>Tire slip (optimal is ~10-15% slip, not 0%)</a:t>
            </a:r>
          </a:p>
          <a:p>
            <a:pPr>
              <a:spcAft>
                <a:spcPts val="600"/>
              </a:spcAft>
              <a:defRPr sz="1800">
                <a:solidFill>
                  <a:srgbClr val="333333"/>
                </a:solidFill>
              </a:defRPr>
            </a:pPr>
            <a:r>
              <a:t>Drag increases with speed²</a:t>
            </a:r>
          </a:p>
          <a:p>
            <a:pPr>
              <a:spcAft>
                <a:spcPts val="1000"/>
              </a:spcAft>
              <a:defRPr sz="1800">
                <a:solidFill>
                  <a:srgbClr val="333333"/>
                </a:solidFill>
              </a:defRPr>
            </a:pPr>
            <a:r>
              <a:t>| Vehicle | Calculated a_max | Calc 0-100 | Actual 0-100 | Difference |</a:t>
            </a:r>
          </a:p>
          <a:p>
            <a:pPr>
              <a:spcAft>
                <a:spcPts val="1000"/>
              </a:spcAft>
              <a:defRPr sz="1800">
                <a:solidFill>
                  <a:srgbClr val="333333"/>
                </a:solidFill>
              </a:defRPr>
            </a:pPr>
            <a:r>
              <a:t>|---------|------------------|------------|--------------|------------|</a:t>
            </a:r>
          </a:p>
          <a:p>
            <a:pPr>
              <a:spcAft>
                <a:spcPts val="1000"/>
              </a:spcAft>
              <a:defRPr sz="1800">
                <a:solidFill>
                  <a:srgbClr val="333333"/>
                </a:solidFill>
              </a:defRPr>
            </a:pPr>
            <a:r>
              <a:t>| Honda Civic FWD | ~3.5 m/s² | ~8.0 s | 8.2 s | Good! |</a:t>
            </a:r>
          </a:p>
          <a:p>
            <a:pPr>
              <a:spcAft>
                <a:spcPts val="1000"/>
              </a:spcAft>
              <a:defRPr sz="1800">
                <a:solidFill>
                  <a:srgbClr val="333333"/>
                </a:solidFill>
              </a:defRPr>
            </a:pPr>
            <a:r>
              <a:t>| BMW 3-Series RWD | ~4.8 m/s² | ~5.8 s | 5.5 s | Decent (LC helps) |</a:t>
            </a:r>
          </a:p>
          <a:p>
            <a:pPr>
              <a:spcAft>
                <a:spcPts val="1000"/>
              </a:spcAft>
              <a:defRPr sz="1800">
                <a:solidFill>
                  <a:srgbClr val="333333"/>
                </a:solidFill>
              </a:defRPr>
            </a:pPr>
            <a:r>
              <a:t>| Audi Quattro AWD | ~7.5 m/s² | ~3.7 s | 3.9 s | Close! |</a:t>
            </a:r>
          </a:p>
          <a:p>
            <a:pPr>
              <a:spcAft>
                <a:spcPts val="1000"/>
              </a:spcAft>
              <a:defRPr sz="1800">
                <a:solidFill>
                  <a:srgbClr val="333333"/>
                </a:solidFill>
              </a:defRPr>
            </a:pPr>
            <a:r>
              <a:t>LC = Launch Control (electronic system that manages wheel slip for optimal accel)</a:t>
            </a:r>
          </a:p>
          <a:p>
            <a:pPr>
              <a:spcAft>
                <a:spcPts val="1000"/>
              </a:spcAft>
              <a:defRPr sz="1800">
                <a:solidFill>
                  <a:srgbClr val="333333"/>
                </a:solidFill>
              </a:defRPr>
            </a:pPr>
            <a:r>
              <a:t>Our calculations give good first-order estimates! —--</a:t>
            </a:r>
          </a:p>
          <a:p>
            <a:pPr>
              <a:spcAft>
                <a:spcPts val="1000"/>
              </a:spcAft>
              <a:defRPr sz="1800">
                <a:solidFill>
                  <a:srgbClr val="333333"/>
                </a:solidFill>
              </a:defRPr>
            </a:pPr>
            <a:r>
              <a:t>#### Part 3: Longitudinal Dynamics - Braking (Slides 18-22, ~18 minutes)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Braking - Weight Transfers Forward</a:t>
            </a:r>
          </a:p>
        </p:txBody>
      </p:sp>
      <p:sp>
        <p:nvSpPr>
          <p:cNvPr id="3" name="Content Placeholder 2"/>
          <p:cNvSpPr>
            <a:spLocks noGrp="1"/>
          </p:cNvSpPr>
          <p:nvPr>
            <p:ph idx="1"/>
          </p:nvPr>
        </p:nvSpPr>
        <p:spPr/>
        <p:txBody>
          <a:bodyPr/>
          <a:lstStyle/>
          <a:p>
            <a:pPr>
              <a:spcAft>
                <a:spcPts val="1000"/>
              </a:spcAft>
              <a:defRPr sz="1800">
                <a:solidFill>
                  <a:srgbClr val="333333"/>
                </a:solidFill>
              </a:defRPr>
            </a:pPr>
            <a:r>
              <a:t>Braking is opposite of acceleration:</a:t>
            </a:r>
          </a:p>
          <a:p>
            <a:pPr>
              <a:spcAft>
                <a:spcPts val="1000"/>
              </a:spcAft>
              <a:defRPr sz="1800">
                <a:solidFill>
                  <a:srgbClr val="333333"/>
                </a:solidFill>
              </a:defRPr>
            </a:pPr>
            <a:r>
              <a:t>Free-Body Diagram (Braking):</a:t>
            </a:r>
          </a:p>
          <a:p>
            <a:pPr>
              <a:spcAft>
                <a:spcPts val="1000"/>
              </a:spcAft>
              <a:defRPr sz="1800">
                <a:solidFill>
                  <a:srgbClr val="333333"/>
                </a:solidFill>
              </a:defRPr>
            </a:pPr>
            <a:r>
              <a:t>Forces: — F_brake,f = Braking force at front wheels</a:t>
            </a:r>
          </a:p>
          <a:p>
            <a:pPr>
              <a:spcAft>
                <a:spcPts val="600"/>
              </a:spcAft>
              <a:defRPr sz="1800">
                <a:solidFill>
                  <a:srgbClr val="333333"/>
                </a:solidFill>
              </a:defRPr>
            </a:pPr>
            <a:r>
              <a:t>F_brake,r = Braking force at rear wheels</a:t>
            </a:r>
          </a:p>
          <a:p>
            <a:pPr>
              <a:spcAft>
                <a:spcPts val="600"/>
              </a:spcAft>
              <a:defRPr sz="1800">
                <a:solidFill>
                  <a:srgbClr val="333333"/>
                </a:solidFill>
              </a:defRPr>
            </a:pPr>
            <a:r>
              <a:t>Wf, Wr = Normal loads (change due to load transfer)</a:t>
            </a:r>
          </a:p>
          <a:p>
            <a:pPr>
              <a:spcAft>
                <a:spcPts val="1000"/>
              </a:spcAft>
              <a:defRPr sz="1800">
                <a:solidFill>
                  <a:srgbClr val="333333"/>
                </a:solidFill>
              </a:defRPr>
            </a:pPr>
            <a:r>
              <a:t>Moment about CG:</a:t>
            </a:r>
          </a:p>
          <a:p>
            <a:pPr>
              <a:spcAft>
                <a:spcPts val="1000"/>
              </a:spcAft>
              <a:defRPr sz="1800">
                <a:solidFill>
                  <a:srgbClr val="333333"/>
                </a:solidFill>
              </a:defRPr>
            </a:pPr>
            <a:r>
              <a:t>Wf × a - Wr × b + (Fbrake,f + Fbrake,r) × h = 0</a:t>
            </a:r>
          </a:p>
          <a:p>
            <a:pPr>
              <a:spcAft>
                <a:spcPts val="1000"/>
              </a:spcAft>
              <a:defRPr sz="1800">
                <a:solidFill>
                  <a:srgbClr val="333333"/>
                </a:solidFill>
              </a:defRPr>
            </a:pPr>
            <a:r>
              <a:t>Load Transfer Formula (Braking):</a:t>
            </a:r>
          </a:p>
          <a:p>
            <a:pPr>
              <a:spcAft>
                <a:spcPts val="1000"/>
              </a:spcAft>
              <a:defRPr sz="1800">
                <a:solidFill>
                  <a:srgbClr val="333333"/>
                </a:solidFill>
              </a:defRPr>
            </a:pPr>
            <a:r>
              <a:t>ΔW = (m × a_brake × h) / L</a:t>
            </a:r>
          </a:p>
          <a:p>
            <a:pPr>
              <a:spcAft>
                <a:spcPts val="1000"/>
              </a:spcAft>
              <a:defRPr sz="1800">
                <a:solidFill>
                  <a:srgbClr val="333333"/>
                </a:solidFill>
              </a:defRPr>
            </a:pPr>
            <a:r>
              <a:t>But now: — Wf,brake = Wf,static + ΔW (front GAINS weight!)</a:t>
            </a:r>
          </a:p>
          <a:p>
            <a:pPr>
              <a:spcAft>
                <a:spcPts val="600"/>
              </a:spcAft>
              <a:defRPr sz="1800">
                <a:solidFill>
                  <a:srgbClr val="333333"/>
                </a:solidFill>
              </a:defRPr>
            </a:pPr>
            <a:r>
              <a:t>Wr,brake = Wr,static - ΔW (rear LOSES weight!)</a:t>
            </a:r>
          </a:p>
          <a:p>
            <a:pPr>
              <a:spcAft>
                <a:spcPts val="1000"/>
              </a:spcAft>
              <a:defRPr sz="1800">
                <a:solidFill>
                  <a:srgbClr val="333333"/>
                </a:solidFill>
              </a:defRPr>
            </a:pPr>
            <a:r>
              <a:t>Implications: — Front wheels more loaded → Can brake harder → Most braking done by front</a:t>
            </a:r>
          </a:p>
          <a:p>
            <a:pPr>
              <a:spcAft>
                <a:spcPts val="600"/>
              </a:spcAft>
              <a:defRPr sz="1800">
                <a:solidFill>
                  <a:srgbClr val="333333"/>
                </a:solidFill>
              </a:defRPr>
            </a:pPr>
            <a:r>
              <a:t>Rear wheels less loaded → Can lock easily → ABS critical for rear</a:t>
            </a:r>
          </a:p>
          <a:p>
            <a:pPr>
              <a:spcAft>
                <a:spcPts val="600"/>
              </a:spcAft>
              <a:defRPr sz="1800">
                <a:solidFill>
                  <a:srgbClr val="333333"/>
                </a:solidFill>
              </a:defRPr>
            </a:pPr>
            <a:r>
              <a:t>Typical brake force distribution: 70-80% front, 20-30% rear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Maximum Braking Deceleration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Question: Maximum braking deceleration for Honda Civic?</a:t>
            </a:r>
          </a:p>
          <a:p>
            <a:pPr>
              <a:spcAft>
                <a:spcPts val="1000"/>
              </a:spcAft>
              <a:defRPr sz="1800">
                <a:solidFill>
                  <a:srgbClr val="333333"/>
                </a:solidFill>
              </a:defRPr>
            </a:pPr>
            <a:r>
              <a:t>Given: Same Honda Civic (m=1300 kg, L=2.7 m, h=0.55 m, a=1.2 m, b=1.5 m, μ=0.85)</a:t>
            </a:r>
          </a:p>
          <a:p>
            <a:pPr>
              <a:spcAft>
                <a:spcPts val="1000"/>
              </a:spcAft>
              <a:defRPr sz="1800">
                <a:solidFill>
                  <a:srgbClr val="333333"/>
                </a:solidFill>
              </a:defRPr>
            </a:pPr>
            <a:r>
              <a:t>Solution:</a:t>
            </a:r>
          </a:p>
          <a:p>
            <a:pPr>
              <a:spcAft>
                <a:spcPts val="1000"/>
              </a:spcAft>
              <a:defRPr sz="1800">
                <a:solidFill>
                  <a:srgbClr val="333333"/>
                </a:solidFill>
              </a:defRPr>
            </a:pPr>
            <a:r>
              <a:t>At maximum braking, ALL wheels at friction limit:</a:t>
            </a:r>
          </a:p>
          <a:p>
            <a:pPr>
              <a:spcAft>
                <a:spcPts val="1000"/>
              </a:spcAft>
              <a:defRPr sz="1800">
                <a:solidFill>
                  <a:srgbClr val="333333"/>
                </a:solidFill>
              </a:defRPr>
            </a:pPr>
            <a:r>
              <a:t>Fbrake,total = μ × (Wf + W_r) = μ × mg</a:t>
            </a:r>
          </a:p>
          <a:p>
            <a:pPr>
              <a:spcAft>
                <a:spcPts val="1000"/>
              </a:spcAft>
              <a:defRPr sz="1800">
                <a:solidFill>
                  <a:srgbClr val="333333"/>
                </a:solidFill>
              </a:defRPr>
            </a:pPr>
            <a:r>
              <a:t>But wait! Weight transfers to front. Front can brake harder, rear might lock first.</a:t>
            </a:r>
          </a:p>
          <a:p>
            <a:pPr>
              <a:spcAft>
                <a:spcPts val="1000"/>
              </a:spcAft>
              <a:defRPr sz="1800">
                <a:solidFill>
                  <a:srgbClr val="333333"/>
                </a:solidFill>
              </a:defRPr>
            </a:pPr>
            <a:r>
              <a:t>Ideal scenario (perfect brake distribution, no locking):</a:t>
            </a:r>
          </a:p>
          <a:p>
            <a:pPr>
              <a:spcAft>
                <a:spcPts val="1000"/>
              </a:spcAft>
              <a:defRPr sz="1800">
                <a:solidFill>
                  <a:srgbClr val="333333"/>
                </a:solidFill>
              </a:defRPr>
            </a:pPr>
            <a:r>
              <a:t>Deceleration:</a:t>
            </a:r>
          </a:p>
          <a:p>
            <a:pPr>
              <a:spcAft>
                <a:spcPts val="1000"/>
              </a:spcAft>
              <a:defRPr sz="1800">
                <a:solidFill>
                  <a:srgbClr val="333333"/>
                </a:solidFill>
              </a:defRPr>
            </a:pPr>
            <a:r>
              <a:t>abrake,max = Fbrake,total / m = μ × mg / m = μ × g</a:t>
            </a:r>
          </a:p>
          <a:p>
            <a:pPr>
              <a:spcAft>
                <a:spcPts val="1000"/>
              </a:spcAft>
              <a:defRPr sz="1800">
                <a:solidFill>
                  <a:srgbClr val="333333"/>
                </a:solidFill>
              </a:defRPr>
            </a:pPr>
            <a:r>
              <a:t>a_brake,max = 0.85 × 9.81 = 8.34 m/s² (0.85 g!)</a:t>
            </a:r>
          </a:p>
          <a:p>
            <a:pPr>
              <a:spcAft>
                <a:spcPts val="1000"/>
              </a:spcAft>
              <a:defRPr sz="1800">
                <a:solidFill>
                  <a:srgbClr val="333333"/>
                </a:solidFill>
              </a:defRPr>
            </a:pPr>
            <a:r>
              <a:t>This is independent of vehicle mass! (Just like free fall)</a:t>
            </a:r>
          </a:p>
          <a:p>
            <a:pPr>
              <a:spcAft>
                <a:spcPts val="1000"/>
              </a:spcAft>
              <a:defRPr sz="1800">
                <a:solidFill>
                  <a:srgbClr val="333333"/>
                </a:solidFill>
              </a:defRPr>
            </a:pPr>
            <a:r>
              <a:t>But depends on: — Road condition (μ): Dry = 0.8-0.9, Wet = 0.5-0.7, Ice = 0.1-0.3</a:t>
            </a:r>
          </a:p>
          <a:p>
            <a:pPr>
              <a:spcAft>
                <a:spcPts val="600"/>
              </a:spcAft>
              <a:defRPr sz="1800">
                <a:solidFill>
                  <a:srgbClr val="333333"/>
                </a:solidFill>
              </a:defRPr>
            </a:pPr>
            <a:r>
              <a:t>Tire condition</a:t>
            </a:r>
          </a:p>
          <a:p>
            <a:pPr>
              <a:spcAft>
                <a:spcPts val="1000"/>
              </a:spcAft>
              <a:defRPr sz="1800">
                <a:solidFill>
                  <a:srgbClr val="333333"/>
                </a:solidFill>
              </a:defRPr>
            </a:pPr>
            <a:r>
              <a:t>Load transfer at max braking:</a:t>
            </a:r>
          </a:p>
          <a:p>
            <a:pPr>
              <a:spcAft>
                <a:spcPts val="1000"/>
              </a:spcAft>
              <a:defRPr sz="1800">
                <a:solidFill>
                  <a:srgbClr val="333333"/>
                </a:solidFill>
              </a:defRPr>
            </a:pPr>
            <a:r>
              <a:t>ΔW = (1300 × 8.34 × 0.55)/2.7 = 2,208 N</a:t>
            </a:r>
          </a:p>
          <a:p>
            <a:pPr>
              <a:spcAft>
                <a:spcPts val="1000"/>
              </a:spcAft>
              <a:defRPr sz="1800">
                <a:solidFill>
                  <a:srgbClr val="333333"/>
                </a:solidFill>
              </a:defRPr>
            </a:pPr>
            <a:r>
              <a:t>W_f,brake = 7,095 + 2,208 = 9,303 N (73% of weight on front!)</a:t>
            </a:r>
          </a:p>
          <a:p>
            <a:pPr>
              <a:spcAft>
                <a:spcPts val="1000"/>
              </a:spcAft>
              <a:defRPr sz="1800">
                <a:solidFill>
                  <a:srgbClr val="333333"/>
                </a:solidFill>
              </a:defRPr>
            </a:pPr>
            <a:r>
              <a:t>W_r,brake = 5,671 - 2,208 = 3,463 N (27% of weight on rear)</a:t>
            </a:r>
          </a:p>
          <a:p>
            <a:pPr>
              <a:spcAft>
                <a:spcPts val="1000"/>
              </a:spcAft>
              <a:defRPr sz="1800">
                <a:solidFill>
                  <a:srgbClr val="333333"/>
                </a:solidFill>
              </a:defRPr>
            </a:pPr>
            <a:r>
              <a:t>This is why: — Front brakes are LARGER than rear (need to handle more force)</a:t>
            </a:r>
          </a:p>
          <a:p>
            <a:pPr>
              <a:spcAft>
                <a:spcPts val="600"/>
              </a:spcAft>
              <a:defRPr sz="1800">
                <a:solidFill>
                  <a:srgbClr val="333333"/>
                </a:solidFill>
              </a:defRPr>
            </a:pPr>
            <a:r>
              <a:t>Rear brakes can be smaller (often drum brakes on economy cars)</a:t>
            </a:r>
          </a:p>
          <a:p>
            <a:pPr>
              <a:spcAft>
                <a:spcPts val="600"/>
              </a:spcAft>
              <a:defRPr sz="1800">
                <a:solidFill>
                  <a:srgbClr val="333333"/>
                </a:solidFill>
              </a:defRPr>
            </a:pPr>
            <a:r>
              <a:t>Proportioning valve limits rear brake pressure to prevent lockup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Stopping Distance Calculation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Stopping Distance has two components:</a:t>
            </a:r>
          </a:p>
          <a:p>
            <a:pPr>
              <a:spcAft>
                <a:spcPts val="1000"/>
              </a:spcAft>
              <a:defRPr sz="1800">
                <a:solidFill>
                  <a:srgbClr val="333333"/>
                </a:solidFill>
              </a:defRPr>
            </a:pPr>
            <a:r>
              <a:t>1. Reaction Distance: — Time from seeing obstacle to pressing brake pedal</a:t>
            </a:r>
          </a:p>
          <a:p>
            <a:pPr>
              <a:spcAft>
                <a:spcPts val="600"/>
              </a:spcAft>
              <a:defRPr sz="1800">
                <a:solidFill>
                  <a:srgbClr val="333333"/>
                </a:solidFill>
              </a:defRPr>
            </a:pPr>
            <a:r>
              <a:t>Typical reaction time: 1.5 seconds</a:t>
            </a:r>
          </a:p>
          <a:p>
            <a:pPr>
              <a:spcAft>
                <a:spcPts val="600"/>
              </a:spcAft>
              <a:defRPr sz="1800">
                <a:solidFill>
                  <a:srgbClr val="333333"/>
                </a:solidFill>
              </a:defRPr>
            </a:pPr>
            <a:r>
              <a:t>dreaction = v × treaction</a:t>
            </a:r>
          </a:p>
          <a:p>
            <a:pPr>
              <a:spcAft>
                <a:spcPts val="1000"/>
              </a:spcAft>
              <a:defRPr sz="1800">
                <a:solidFill>
                  <a:srgbClr val="333333"/>
                </a:solidFill>
              </a:defRPr>
            </a:pPr>
            <a:r>
              <a:t>2. Braking Distance: — From brake application to full stop</a:t>
            </a:r>
          </a:p>
          <a:p>
            <a:pPr>
              <a:spcAft>
                <a:spcPts val="600"/>
              </a:spcAft>
              <a:defRPr sz="1800">
                <a:solidFill>
                  <a:srgbClr val="333333"/>
                </a:solidFill>
              </a:defRPr>
            </a:pPr>
            <a:r>
              <a:t>Using kinematics: v² = v₀² + 2×a×d</a:t>
            </a:r>
          </a:p>
          <a:p>
            <a:pPr>
              <a:spcAft>
                <a:spcPts val="600"/>
              </a:spcAft>
              <a:defRPr sz="1800">
                <a:solidFill>
                  <a:srgbClr val="333333"/>
                </a:solidFill>
              </a:defRPr>
            </a:pPr>
            <a:r>
              <a:t>At stop: v = 0</a:t>
            </a:r>
          </a:p>
          <a:p>
            <a:pPr>
              <a:spcAft>
                <a:spcPts val="600"/>
              </a:spcAft>
              <a:defRPr sz="1800">
                <a:solidFill>
                  <a:srgbClr val="333333"/>
                </a:solidFill>
              </a:defRPr>
            </a:pPr>
            <a:r>
              <a:t>dbrake = -v₀² / (2×abrake)</a:t>
            </a:r>
          </a:p>
          <a:p>
            <a:pPr>
              <a:spcAft>
                <a:spcPts val="1000"/>
              </a:spcAft>
              <a:defRPr sz="1800">
                <a:solidFill>
                  <a:srgbClr val="333333"/>
                </a:solidFill>
              </a:defRPr>
            </a:pPr>
            <a:r>
              <a:t>Total: dtotal = dreaction + d_brake</a:t>
            </a:r>
          </a:p>
          <a:p>
            <a:pPr>
              <a:spcAft>
                <a:spcPts val="1000"/>
              </a:spcAft>
              <a:defRPr sz="1800">
                <a:solidFill>
                  <a:srgbClr val="333333"/>
                </a:solidFill>
              </a:defRPr>
            </a:pPr>
            <a:r>
              <a:t>Example: 100 km/h (27.8 m/s) on dry road (μ = 0.85)</a:t>
            </a:r>
          </a:p>
          <a:p>
            <a:pPr>
              <a:spcAft>
                <a:spcPts val="1000"/>
              </a:spcAft>
              <a:defRPr sz="1800">
                <a:solidFill>
                  <a:srgbClr val="333333"/>
                </a:solidFill>
              </a:defRPr>
            </a:pPr>
            <a:r>
              <a:t>Reaction distance:</a:t>
            </a:r>
          </a:p>
          <a:p>
            <a:pPr>
              <a:spcAft>
                <a:spcPts val="1000"/>
              </a:spcAft>
              <a:defRPr sz="1800">
                <a:solidFill>
                  <a:srgbClr val="333333"/>
                </a:solidFill>
              </a:defRPr>
            </a:pPr>
            <a:r>
              <a:t>d_reaction = 27.8 × 1.5 = 41.7 m</a:t>
            </a:r>
          </a:p>
          <a:p>
            <a:pPr>
              <a:spcAft>
                <a:spcPts val="1000"/>
              </a:spcAft>
              <a:defRPr sz="1800">
                <a:solidFill>
                  <a:srgbClr val="333333"/>
                </a:solidFill>
              </a:defRPr>
            </a:pPr>
            <a:r>
              <a:t>Braking distance:</a:t>
            </a:r>
          </a:p>
          <a:p>
            <a:pPr>
              <a:spcAft>
                <a:spcPts val="1000"/>
              </a:spcAft>
              <a:defRPr sz="1800">
                <a:solidFill>
                  <a:srgbClr val="333333"/>
                </a:solidFill>
              </a:defRPr>
            </a:pPr>
            <a:r>
              <a:t>a_brake = -0.85 × 9.81 = -8.34 m/s²</a:t>
            </a:r>
          </a:p>
          <a:p>
            <a:pPr>
              <a:spcAft>
                <a:spcPts val="1000"/>
              </a:spcAft>
              <a:defRPr sz="1800">
                <a:solidFill>
                  <a:srgbClr val="333333"/>
                </a:solidFill>
              </a:defRPr>
            </a:pPr>
            <a:r>
              <a:t>d_brake = -(27.8)² / (2 × -8.34) = 772 / 16.68 = 46.3 m</a:t>
            </a:r>
          </a:p>
          <a:p>
            <a:pPr>
              <a:spcAft>
                <a:spcPts val="1000"/>
              </a:spcAft>
              <a:defRPr sz="1800">
                <a:solidFill>
                  <a:srgbClr val="333333"/>
                </a:solidFill>
              </a:defRPr>
            </a:pPr>
            <a:r>
              <a:t>Total stopping distance = 41.7 + 46.3 = 88 m</a:t>
            </a:r>
          </a:p>
          <a:p>
            <a:pPr>
              <a:spcAft>
                <a:spcPts val="1000"/>
              </a:spcAft>
              <a:defRPr sz="1800">
                <a:solidFill>
                  <a:srgbClr val="333333"/>
                </a:solidFill>
              </a:defRPr>
            </a:pPr>
            <a:r>
              <a:t>Nearly a football field! (100m)</a:t>
            </a:r>
          </a:p>
          <a:p>
            <a:pPr>
              <a:spcAft>
                <a:spcPts val="1000"/>
              </a:spcAft>
              <a:defRPr sz="1800">
                <a:solidFill>
                  <a:srgbClr val="333333"/>
                </a:solidFill>
              </a:defRPr>
            </a:pPr>
            <a:r>
              <a:t>On wet road (μ = 0.6): — d_brake = 772 / (2 × 0.6 × 9.81) = 65.6 m — Total ≈ 107 m (30% longer!)</a:t>
            </a:r>
          </a:p>
          <a:p>
            <a:pPr>
              <a:spcAft>
                <a:spcPts val="1000"/>
              </a:spcAft>
              <a:defRPr sz="1800">
                <a:solidFill>
                  <a:srgbClr val="333333"/>
                </a:solidFill>
              </a:defRPr>
            </a:pPr>
            <a:r>
              <a:t>This is why: Speed limits lower in rain, following distance critical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Brake Force Distribution Problem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Challenge: How to distribute brake force between front and rear?</a:t>
            </a:r>
          </a:p>
          <a:p>
            <a:pPr>
              <a:spcAft>
                <a:spcPts val="1000"/>
              </a:spcAft>
              <a:defRPr sz="1800">
                <a:solidFill>
                  <a:srgbClr val="333333"/>
                </a:solidFill>
              </a:defRPr>
            </a:pPr>
            <a:r>
              <a:t>Ideal case: Both axles reach friction limit simultaneously</a:t>
            </a:r>
          </a:p>
          <a:p>
            <a:pPr>
              <a:spcAft>
                <a:spcPts val="600"/>
              </a:spcAft>
              <a:defRPr sz="1800">
                <a:solidFill>
                  <a:srgbClr val="333333"/>
                </a:solidFill>
              </a:defRPr>
            </a:pPr>
            <a:r>
              <a:t>Fbrake,f = μ × Wf,brake</a:t>
            </a:r>
          </a:p>
          <a:p>
            <a:pPr>
              <a:spcAft>
                <a:spcPts val="600"/>
              </a:spcAft>
              <a:defRPr sz="1800">
                <a:solidFill>
                  <a:srgbClr val="333333"/>
                </a:solidFill>
              </a:defRPr>
            </a:pPr>
            <a:r>
              <a:t>Fbrake,r = μ × Wr,brake</a:t>
            </a:r>
          </a:p>
          <a:p>
            <a:pPr>
              <a:spcAft>
                <a:spcPts val="1000"/>
              </a:spcAft>
              <a:defRPr sz="1800">
                <a:solidFill>
                  <a:srgbClr val="333333"/>
                </a:solidFill>
              </a:defRPr>
            </a:pPr>
            <a:r>
              <a:t>But Wf and Wr change with deceleration! (load transfer)</a:t>
            </a:r>
          </a:p>
          <a:p>
            <a:pPr>
              <a:spcAft>
                <a:spcPts val="1000"/>
              </a:spcAft>
              <a:defRPr sz="1800">
                <a:solidFill>
                  <a:srgbClr val="333333"/>
                </a:solidFill>
              </a:defRPr>
            </a:pPr>
            <a:r>
              <a:t>Fixed distribution (simple cars): — Brake line pressure same front and rear (or fixed ratio)</a:t>
            </a:r>
          </a:p>
          <a:p>
            <a:pPr>
              <a:spcAft>
                <a:spcPts val="600"/>
              </a:spcAft>
              <a:defRPr sz="1800">
                <a:solidFill>
                  <a:srgbClr val="333333"/>
                </a:solidFill>
              </a:defRPr>
            </a:pPr>
            <a:r>
              <a:t>Problem: At light braking, rear locks first (has less weight)</a:t>
            </a:r>
          </a:p>
          <a:p>
            <a:pPr>
              <a:spcAft>
                <a:spcPts val="600"/>
              </a:spcAft>
              <a:defRPr sz="1800">
                <a:solidFill>
                  <a:srgbClr val="333333"/>
                </a:solidFill>
              </a:defRPr>
            </a:pPr>
            <a:r>
              <a:t>At heavy braking, distribution not optimal</a:t>
            </a:r>
          </a:p>
          <a:p>
            <a:pPr>
              <a:spcAft>
                <a:spcPts val="600"/>
              </a:spcAft>
              <a:defRPr sz="1800">
                <a:solidFill>
                  <a:srgbClr val="333333"/>
                </a:solidFill>
              </a:defRPr>
            </a:pPr>
            <a:r>
              <a:t>Solution: Proportioning valve (reduces rear pressure above threshold)</a:t>
            </a:r>
          </a:p>
          <a:p>
            <a:pPr>
              <a:spcAft>
                <a:spcPts val="1000"/>
              </a:spcAft>
              <a:defRPr sz="1800">
                <a:solidFill>
                  <a:srgbClr val="333333"/>
                </a:solidFill>
              </a:defRPr>
            </a:pPr>
            <a:r>
              <a:t>Active distribution (ABS): — Wheel speed sensors detect impending lockup</a:t>
            </a:r>
          </a:p>
          <a:p>
            <a:pPr>
              <a:spcAft>
                <a:spcPts val="600"/>
              </a:spcAft>
              <a:defRPr sz="1800">
                <a:solidFill>
                  <a:srgbClr val="333333"/>
                </a:solidFill>
              </a:defRPr>
            </a:pPr>
            <a:r>
              <a:t>ECU modulates brake pressure (pump cycles 5-15 times per second!)</a:t>
            </a:r>
          </a:p>
          <a:p>
            <a:pPr>
              <a:spcAft>
                <a:spcPts val="600"/>
              </a:spcAft>
              <a:defRPr sz="1800">
                <a:solidFill>
                  <a:srgbClr val="333333"/>
                </a:solidFill>
              </a:defRPr>
            </a:pPr>
            <a:r>
              <a:t>Each wheel independently controlled</a:t>
            </a:r>
          </a:p>
          <a:p>
            <a:pPr>
              <a:spcAft>
                <a:spcPts val="600"/>
              </a:spcAft>
              <a:defRPr sz="1800">
                <a:solidFill>
                  <a:srgbClr val="333333"/>
                </a:solidFill>
              </a:defRPr>
            </a:pPr>
            <a:r>
              <a:t>Result: Maximum braking force, no lockup, steering maintained</a:t>
            </a:r>
          </a:p>
          <a:p>
            <a:pPr>
              <a:spcAft>
                <a:spcPts val="1000"/>
              </a:spcAft>
              <a:defRPr sz="1800">
                <a:solidFill>
                  <a:srgbClr val="333333"/>
                </a:solidFill>
              </a:defRPr>
            </a:pPr>
            <a:r>
              <a:t>Electronic Brake Distribution (EBD): — Uses ABS hardware</a:t>
            </a:r>
          </a:p>
          <a:p>
            <a:pPr>
              <a:spcAft>
                <a:spcPts val="600"/>
              </a:spcAft>
              <a:defRPr sz="1800">
                <a:solidFill>
                  <a:srgbClr val="333333"/>
                </a:solidFill>
              </a:defRPr>
            </a:pPr>
            <a:r>
              <a:t>Actively adjusts front/rear distribution based on deceleration</a:t>
            </a:r>
          </a:p>
          <a:p>
            <a:pPr>
              <a:spcAft>
                <a:spcPts val="600"/>
              </a:spcAft>
              <a:defRPr sz="1800">
                <a:solidFill>
                  <a:srgbClr val="333333"/>
                </a:solidFill>
              </a:defRPr>
            </a:pPr>
            <a:r>
              <a:t>Optimal under all conditions (empty vs loaded, uphill vs downhill)</a:t>
            </a:r>
          </a:p>
          <a:p>
            <a:pPr>
              <a:spcAft>
                <a:spcPts val="1000"/>
              </a:spcAft>
              <a:defRPr sz="1800">
                <a:solidFill>
                  <a:srgbClr val="333333"/>
                </a:solidFill>
              </a:defRPr>
            </a:pPr>
            <a:r>
              <a:t>This is automotive electronics! Session 10 covers ABS in detail.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Practice - Stopping Distance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Practice Problem:</a:t>
            </a:r>
          </a:p>
          <a:p>
            <a:pPr>
              <a:spcAft>
                <a:spcPts val="1000"/>
              </a:spcAft>
              <a:defRPr sz="1800">
                <a:solidFill>
                  <a:srgbClr val="333333"/>
                </a:solidFill>
              </a:defRPr>
            </a:pPr>
            <a:r>
              <a:t>A truck (mass 8,000 kg, L = 4.5 m, h = 1.2 m) is traveling at 80 km/h on a wet road (μ = 0.6).</a:t>
            </a:r>
          </a:p>
          <a:p>
            <a:pPr>
              <a:spcAft>
                <a:spcPts val="1000"/>
              </a:spcAft>
              <a:defRPr sz="1800">
                <a:solidFill>
                  <a:srgbClr val="333333"/>
                </a:solidFill>
              </a:defRPr>
            </a:pPr>
            <a:r>
              <a:t>Calculate:</a:t>
            </a:r>
          </a:p>
          <a:p>
            <a:pPr>
              <a:spcAft>
                <a:spcPts val="600"/>
              </a:spcAft>
              <a:defRPr sz="1800">
                <a:solidFill>
                  <a:srgbClr val="333333"/>
                </a:solidFill>
              </a:defRPr>
            </a:pPr>
            <a:r>
              <a:t>Maximum braking deceleration</a:t>
            </a:r>
          </a:p>
          <a:p>
            <a:pPr>
              <a:spcAft>
                <a:spcPts val="600"/>
              </a:spcAft>
              <a:defRPr sz="1800">
                <a:solidFill>
                  <a:srgbClr val="333333"/>
                </a:solidFill>
              </a:defRPr>
            </a:pPr>
            <a:r>
              <a:t>Braking distance (ignore reaction time)</a:t>
            </a:r>
          </a:p>
          <a:p>
            <a:pPr>
              <a:spcAft>
                <a:spcPts val="600"/>
              </a:spcAft>
              <a:defRPr sz="1800">
                <a:solidFill>
                  <a:srgbClr val="333333"/>
                </a:solidFill>
              </a:defRPr>
            </a:pPr>
            <a:r>
              <a:t>Load transfer</a:t>
            </a:r>
          </a:p>
          <a:p>
            <a:pPr>
              <a:spcAft>
                <a:spcPts val="600"/>
              </a:spcAft>
              <a:defRPr sz="1800">
                <a:solidFill>
                  <a:srgbClr val="333333"/>
                </a:solidFill>
              </a:defRPr>
            </a:pPr>
            <a:r>
              <a:t>Percentage of weight on front axle during maximum braking</a:t>
            </a:r>
          </a:p>
          <a:p>
            <a:pPr>
              <a:spcAft>
                <a:spcPts val="1000"/>
              </a:spcAft>
              <a:defRPr sz="1800">
                <a:solidFill>
                  <a:srgbClr val="333333"/>
                </a:solidFill>
              </a:defRPr>
            </a:pPr>
            <a:r>
              <a:t>Take 2 minutes.</a:t>
            </a:r>
          </a:p>
          <a:p>
            <a:pPr>
              <a:spcAft>
                <a:spcPts val="1000"/>
              </a:spcAft>
              <a:defRPr sz="1800">
                <a:solidFill>
                  <a:srgbClr val="333333"/>
                </a:solidFill>
              </a:defRPr>
            </a:pPr>
            <a:r>
              <a:t>Solution:</a:t>
            </a:r>
          </a:p>
          <a:p>
            <a:pPr>
              <a:spcAft>
                <a:spcPts val="600"/>
              </a:spcAft>
              <a:defRPr sz="1800">
                <a:solidFill>
                  <a:srgbClr val="333333"/>
                </a:solidFill>
              </a:defRPr>
            </a:pPr>
            <a:r>
              <a:t>a_brake = μ × g = 0.6 × 9.81 = 5.89 m/s²</a:t>
            </a:r>
          </a:p>
          <a:p>
            <a:pPr>
              <a:spcAft>
                <a:spcPts val="600"/>
              </a:spcAft>
              <a:defRPr sz="1800">
                <a:solidFill>
                  <a:srgbClr val="333333"/>
                </a:solidFill>
              </a:defRPr>
            </a:pPr>
            <a:r>
              <a:t>v = 80 km/h = 22.2 m/s</a:t>
            </a:r>
          </a:p>
          <a:p>
            <a:pPr>
              <a:spcAft>
                <a:spcPts val="1000"/>
              </a:spcAft>
              <a:defRPr sz="1800">
                <a:solidFill>
                  <a:srgbClr val="333333"/>
                </a:solidFill>
              </a:defRPr>
            </a:pPr>
            <a:r>
              <a:t>d_brake = v² / (2 × a) = 22.2² / (2 × 5.89) = 41.9 m</a:t>
            </a:r>
          </a:p>
          <a:p>
            <a:pPr>
              <a:spcAft>
                <a:spcPts val="600"/>
              </a:spcAft>
              <a:defRPr sz="1800">
                <a:solidFill>
                  <a:srgbClr val="333333"/>
                </a:solidFill>
              </a:defRPr>
            </a:pPr>
            <a:r>
              <a:t>ΔW = (8000 × 5.89 × 1.2) / 4.5 = 12,565 N</a:t>
            </a:r>
          </a:p>
          <a:p>
            <a:pPr>
              <a:spcAft>
                <a:spcPts val="600"/>
              </a:spcAft>
              <a:defRPr sz="1800">
                <a:solidFill>
                  <a:srgbClr val="333333"/>
                </a:solidFill>
              </a:defRPr>
            </a:pPr>
            <a:r>
              <a:t>Assume 50:50 static (common for trucks)</a:t>
            </a:r>
          </a:p>
          <a:p>
            <a:pPr>
              <a:spcAft>
                <a:spcPts val="1000"/>
              </a:spcAft>
              <a:defRPr sz="1800">
                <a:solidFill>
                  <a:srgbClr val="333333"/>
                </a:solidFill>
              </a:defRPr>
            </a:pPr>
            <a:r>
              <a:t>W_static = 8000 × 9.81 / 2 = 39,240 N each axle</a:t>
            </a:r>
          </a:p>
          <a:p>
            <a:pPr>
              <a:spcAft>
                <a:spcPts val="1000"/>
              </a:spcAft>
              <a:defRPr sz="1800">
                <a:solidFill>
                  <a:srgbClr val="333333"/>
                </a:solidFill>
              </a:defRPr>
            </a:pPr>
            <a:r>
              <a:t>W_f,brake = 39,240 + 12,565 = 51,805 N</a:t>
            </a:r>
          </a:p>
          <a:p>
            <a:pPr>
              <a:spcAft>
                <a:spcPts val="1000"/>
              </a:spcAft>
              <a:defRPr sz="1800">
                <a:solidFill>
                  <a:srgbClr val="333333"/>
                </a:solidFill>
              </a:defRPr>
            </a:pPr>
            <a:r>
              <a:t>Percentage = 51,805 / (8000 × 9.81) = 66% on front!</a:t>
            </a:r>
          </a:p>
          <a:p>
            <a:pPr>
              <a:spcAft>
                <a:spcPts val="1000"/>
              </a:spcAft>
              <a:defRPr sz="1800">
                <a:solidFill>
                  <a:srgbClr val="333333"/>
                </a:solidFill>
              </a:defRPr>
            </a:pPr>
            <a:r>
              <a:t>High CG (1.2 m) causes large load transfer → Rear axle only has 34% of weight during hard braking → Rear locks easily without ABS —--</a:t>
            </a:r>
          </a:p>
          <a:p>
            <a:pPr>
              <a:spcAft>
                <a:spcPts val="1000"/>
              </a:spcAft>
              <a:defRPr sz="1800">
                <a:solidFill>
                  <a:srgbClr val="333333"/>
                </a:solidFill>
              </a:defRPr>
            </a:pPr>
            <a:r>
              <a:t>#### Part 4: Lateral Dynamics - Cornering (Slides 23-26, ~12 minutes)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Cornering Forces - Centrifugal Force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When vehicle corners, it requires centripetal acceleration:</a:t>
            </a:r>
          </a:p>
          <a:p>
            <a:pPr>
              <a:spcAft>
                <a:spcPts val="1000"/>
              </a:spcAft>
              <a:defRPr sz="1800">
                <a:solidFill>
                  <a:srgbClr val="333333"/>
                </a:solidFill>
              </a:defRPr>
            </a:pPr>
            <a:r>
              <a:t>Circular Motion: — Radius R, velocity v</a:t>
            </a:r>
          </a:p>
          <a:p>
            <a:pPr>
              <a:spcAft>
                <a:spcPts val="600"/>
              </a:spcAft>
              <a:defRPr sz="1800">
                <a:solidFill>
                  <a:srgbClr val="333333"/>
                </a:solidFill>
              </a:defRPr>
            </a:pPr>
            <a:r>
              <a:t>Centripetal acceleration: a_c = v² / R (directed toward center)</a:t>
            </a:r>
          </a:p>
          <a:p>
            <a:pPr>
              <a:spcAft>
                <a:spcPts val="600"/>
              </a:spcAft>
              <a:defRPr sz="1800">
                <a:solidFill>
                  <a:srgbClr val="333333"/>
                </a:solidFill>
              </a:defRPr>
            </a:pPr>
            <a:r>
              <a:t>Required force: Fc = m × ac = m × v² / R</a:t>
            </a:r>
          </a:p>
          <a:p>
            <a:pPr>
              <a:spcAft>
                <a:spcPts val="1000"/>
              </a:spcAft>
              <a:defRPr sz="1800">
                <a:solidFill>
                  <a:srgbClr val="333333"/>
                </a:solidFill>
              </a:defRPr>
            </a:pPr>
            <a:r>
              <a:t>From vehicle's perspective (rotating reference frame): — Centrifugal force appears to act outward at CG</a:t>
            </a:r>
          </a:p>
          <a:p>
            <a:pPr>
              <a:spcAft>
                <a:spcPts val="600"/>
              </a:spcAft>
              <a:defRPr sz="1800">
                <a:solidFill>
                  <a:srgbClr val="333333"/>
                </a:solidFill>
              </a:defRPr>
            </a:pPr>
            <a:r>
              <a:t>F_cf = m × v² / R (outward, at height h)</a:t>
            </a:r>
          </a:p>
          <a:p>
            <a:pPr>
              <a:spcAft>
                <a:spcPts val="1000"/>
              </a:spcAft>
              <a:defRPr sz="1800">
                <a:solidFill>
                  <a:srgbClr val="333333"/>
                </a:solidFill>
              </a:defRPr>
            </a:pPr>
            <a:r>
              <a:t>This force must be balanced by: — Lateral friction forces at tires (Flat,front + Flat,rear)</a:t>
            </a:r>
          </a:p>
          <a:p>
            <a:pPr>
              <a:spcAft>
                <a:spcPts val="600"/>
              </a:spcAft>
              <a:defRPr sz="1800">
                <a:solidFill>
                  <a:srgbClr val="333333"/>
                </a:solidFill>
              </a:defRPr>
            </a:pPr>
            <a:r>
              <a:t>Flat,total = μ × (Wleft + W_right) = μ × mg</a:t>
            </a:r>
          </a:p>
          <a:p>
            <a:pPr>
              <a:spcAft>
                <a:spcPts val="1000"/>
              </a:spcAft>
              <a:defRPr sz="1800">
                <a:solidFill>
                  <a:srgbClr val="333333"/>
                </a:solidFill>
              </a:defRPr>
            </a:pPr>
            <a:r>
              <a:t>Maximum cornering speed:</a:t>
            </a:r>
          </a:p>
          <a:p>
            <a:pPr>
              <a:spcAft>
                <a:spcPts val="1000"/>
              </a:spcAft>
              <a:defRPr sz="1800">
                <a:solidFill>
                  <a:srgbClr val="333333"/>
                </a:solidFill>
              </a:defRPr>
            </a:pPr>
            <a:r>
              <a:t>When friction force reaches limit:</a:t>
            </a:r>
          </a:p>
          <a:p>
            <a:pPr>
              <a:spcAft>
                <a:spcPts val="1000"/>
              </a:spcAft>
              <a:defRPr sz="1800">
                <a:solidFill>
                  <a:srgbClr val="333333"/>
                </a:solidFill>
              </a:defRPr>
            </a:pPr>
            <a:r>
              <a:t>m × v²_max / R = μ × mg</a:t>
            </a:r>
          </a:p>
          <a:p>
            <a:pPr>
              <a:spcAft>
                <a:spcPts val="1000"/>
              </a:spcAft>
              <a:defRPr sz="1800">
                <a:solidFill>
                  <a:srgbClr val="333333"/>
                </a:solidFill>
              </a:defRPr>
            </a:pPr>
            <a:r>
              <a:t>v_max = √(μ × g × R)</a:t>
            </a:r>
          </a:p>
          <a:p>
            <a:pPr>
              <a:spcAft>
                <a:spcPts val="1000"/>
              </a:spcAft>
              <a:defRPr sz="1800">
                <a:solidFill>
                  <a:srgbClr val="333333"/>
                </a:solidFill>
              </a:defRPr>
            </a:pPr>
            <a:r>
              <a:t>Example: R = 50 m turn, μ = 0.85</a:t>
            </a:r>
          </a:p>
          <a:p>
            <a:pPr>
              <a:spcAft>
                <a:spcPts val="1000"/>
              </a:spcAft>
              <a:defRPr sz="1800">
                <a:solidFill>
                  <a:srgbClr val="333333"/>
                </a:solidFill>
              </a:defRPr>
            </a:pPr>
            <a:r>
              <a:t>v_max = √(0.85 × 9.81 × 50) = √417 = 20.4 m/s = 73 km/h</a:t>
            </a:r>
          </a:p>
          <a:p>
            <a:pPr>
              <a:spcAft>
                <a:spcPts val="1000"/>
              </a:spcAft>
              <a:defRPr sz="1800">
                <a:solidFill>
                  <a:srgbClr val="333333"/>
                </a:solidFill>
              </a:defRPr>
            </a:pPr>
            <a:r>
              <a:t>Exceed this speed → Vehicle slides outward!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Lateral Load Transfer (Roll)</a:t>
            </a:r>
          </a:p>
        </p:txBody>
      </p:sp>
      <p:sp>
        <p:nvSpPr>
          <p:cNvPr id="3" name="Content Placeholder 2"/>
          <p:cNvSpPr>
            <a:spLocks noGrp="1"/>
          </p:cNvSpPr>
          <p:nvPr>
            <p:ph idx="1"/>
          </p:nvPr>
        </p:nvSpPr>
        <p:spPr/>
        <p:txBody>
          <a:bodyPr/>
          <a:lstStyle/>
          <a:p>
            <a:pPr>
              <a:spcAft>
                <a:spcPts val="1000"/>
              </a:spcAft>
              <a:defRPr sz="1800">
                <a:solidFill>
                  <a:srgbClr val="333333"/>
                </a:solidFill>
              </a:defRPr>
            </a:pPr>
            <a:r>
              <a:t>Centrifugal force acts at CG (height h above ground):</a:t>
            </a:r>
          </a:p>
          <a:p>
            <a:pPr>
              <a:spcAft>
                <a:spcPts val="1000"/>
              </a:spcAft>
              <a:defRPr sz="1800">
                <a:solidFill>
                  <a:srgbClr val="333333"/>
                </a:solidFill>
              </a:defRPr>
            </a:pPr>
            <a:r>
              <a:t>Creates moment about roll axis: — Roll axis: Roughly at ground level</a:t>
            </a:r>
          </a:p>
          <a:p>
            <a:pPr>
              <a:spcAft>
                <a:spcPts val="600"/>
              </a:spcAft>
              <a:defRPr sz="1800">
                <a:solidFill>
                  <a:srgbClr val="333333"/>
                </a:solidFill>
              </a:defRPr>
            </a:pPr>
            <a:r>
              <a:t>Moment arm: CG height h</a:t>
            </a:r>
          </a:p>
          <a:p>
            <a:pPr>
              <a:spcAft>
                <a:spcPts val="600"/>
              </a:spcAft>
              <a:defRPr sz="1800">
                <a:solidFill>
                  <a:srgbClr val="333333"/>
                </a:solidFill>
              </a:defRPr>
            </a:pPr>
            <a:r>
              <a:t>Roll moment: Mroll = Fcf × h = (m × v²/R) × h</a:t>
            </a:r>
          </a:p>
          <a:p>
            <a:pPr>
              <a:spcAft>
                <a:spcPts val="1000"/>
              </a:spcAft>
              <a:defRPr sz="1800">
                <a:solidFill>
                  <a:srgbClr val="333333"/>
                </a:solidFill>
              </a:defRPr>
            </a:pPr>
            <a:r>
              <a:t>This causes vehicle to lean outward (body roll)</a:t>
            </a:r>
          </a:p>
          <a:p>
            <a:pPr>
              <a:spcAft>
                <a:spcPts val="1000"/>
              </a:spcAft>
              <a:defRPr sz="1800">
                <a:solidFill>
                  <a:srgbClr val="333333"/>
                </a:solidFill>
              </a:defRPr>
            </a:pPr>
            <a:r>
              <a:t>Weight transfers from inside wheels to outside wheels:</a:t>
            </a:r>
          </a:p>
          <a:p>
            <a:pPr>
              <a:spcAft>
                <a:spcPts val="1000"/>
              </a:spcAft>
              <a:defRPr sz="1800">
                <a:solidFill>
                  <a:srgbClr val="333333"/>
                </a:solidFill>
              </a:defRPr>
            </a:pPr>
            <a:r>
              <a:t>Lateral Load Transfer:</a:t>
            </a:r>
          </a:p>
          <a:p>
            <a:pPr>
              <a:spcAft>
                <a:spcPts val="1000"/>
              </a:spcAft>
              <a:defRPr sz="1800">
                <a:solidFill>
                  <a:srgbClr val="333333"/>
                </a:solidFill>
              </a:defRPr>
            </a:pPr>
            <a:r>
              <a:t>ΔWlat = (m × alateral × h) / t</a:t>
            </a:r>
          </a:p>
          <a:p>
            <a:pPr>
              <a:spcAft>
                <a:spcPts val="1000"/>
              </a:spcAft>
              <a:defRPr sz="1800">
                <a:solidFill>
                  <a:srgbClr val="333333"/>
                </a:solidFill>
              </a:defRPr>
            </a:pPr>
            <a:r>
              <a:t>Where:</a:t>
            </a:r>
          </a:p>
          <a:p>
            <a:pPr>
              <a:spcAft>
                <a:spcPts val="600"/>
              </a:spcAft>
              <a:defRPr sz="1800">
                <a:solidFill>
                  <a:srgbClr val="333333"/>
                </a:solidFill>
              </a:defRPr>
            </a:pPr>
            <a:r>
              <a:t>a_lateral = v²/R (lateral acceleration)</a:t>
            </a:r>
          </a:p>
          <a:p>
            <a:pPr>
              <a:spcAft>
                <a:spcPts val="600"/>
              </a:spcAft>
              <a:defRPr sz="1800">
                <a:solidFill>
                  <a:srgbClr val="333333"/>
                </a:solidFill>
              </a:defRPr>
            </a:pPr>
            <a:r>
              <a:t>h = CG height</a:t>
            </a:r>
          </a:p>
          <a:p>
            <a:pPr>
              <a:spcAft>
                <a:spcPts val="600"/>
              </a:spcAft>
              <a:defRPr sz="1800">
                <a:solidFill>
                  <a:srgbClr val="333333"/>
                </a:solidFill>
              </a:defRPr>
            </a:pPr>
            <a:r>
              <a:t>t = track width (left wheel to right wheel distance)</a:t>
            </a:r>
          </a:p>
          <a:p>
            <a:pPr>
              <a:spcAft>
                <a:spcPts val="1000"/>
              </a:spcAft>
              <a:defRPr sz="1800">
                <a:solidFill>
                  <a:srgbClr val="333333"/>
                </a:solidFill>
              </a:defRPr>
            </a:pPr>
            <a:r>
              <a:t>Inside wheels: Winside = Wstatic - ΔW_lat</a:t>
            </a:r>
          </a:p>
          <a:p>
            <a:pPr>
              <a:spcAft>
                <a:spcPts val="1000"/>
              </a:spcAft>
              <a:defRPr sz="1800">
                <a:solidFill>
                  <a:srgbClr val="333333"/>
                </a:solidFill>
              </a:defRPr>
            </a:pPr>
            <a:r>
              <a:t>Outside wheels: Woutside = Wstatic + ΔW_lat</a:t>
            </a:r>
          </a:p>
          <a:p>
            <a:pPr>
              <a:spcAft>
                <a:spcPts val="1000"/>
              </a:spcAft>
              <a:defRPr sz="1800">
                <a:solidFill>
                  <a:srgbClr val="333333"/>
                </a:solidFill>
              </a:defRPr>
            </a:pPr>
            <a:r>
              <a:t>Example: Honda Civic at 50 km/h, R = 30 m</a:t>
            </a:r>
          </a:p>
          <a:p>
            <a:pPr>
              <a:spcAft>
                <a:spcPts val="600"/>
              </a:spcAft>
              <a:defRPr sz="1800">
                <a:solidFill>
                  <a:srgbClr val="333333"/>
                </a:solidFill>
              </a:defRPr>
            </a:pPr>
            <a:r>
              <a:t>m = 1300 kg, h = 0.55 m, t = 1.52 m</a:t>
            </a:r>
          </a:p>
          <a:p>
            <a:pPr>
              <a:spcAft>
                <a:spcPts val="600"/>
              </a:spcAft>
              <a:defRPr sz="1800">
                <a:solidFill>
                  <a:srgbClr val="333333"/>
                </a:solidFill>
              </a:defRPr>
            </a:pPr>
            <a:r>
              <a:t>a_lat = (13.9)² / 30 = 6.43 m/s²</a:t>
            </a:r>
          </a:p>
          <a:p>
            <a:pPr>
              <a:spcAft>
                <a:spcPts val="600"/>
              </a:spcAft>
              <a:defRPr sz="1800">
                <a:solidFill>
                  <a:srgbClr val="333333"/>
                </a:solidFill>
              </a:defRPr>
            </a:pPr>
            <a:r>
              <a:t>ΔW_lat = (1300 × 6.43 × 0.55) / 1.52 = 3,022 N</a:t>
            </a:r>
          </a:p>
          <a:p>
            <a:pPr>
              <a:spcAft>
                <a:spcPts val="1000"/>
              </a:spcAft>
              <a:defRPr sz="1800">
                <a:solidFill>
                  <a:srgbClr val="333333"/>
                </a:solidFill>
              </a:defRPr>
            </a:pPr>
            <a:r>
              <a:t>Static: Each side carries ~6,377 N</a:t>
            </a:r>
          </a:p>
          <a:p>
            <a:pPr>
              <a:spcAft>
                <a:spcPts val="1000"/>
              </a:spcAft>
              <a:defRPr sz="1800">
                <a:solidFill>
                  <a:srgbClr val="333333"/>
                </a:solidFill>
              </a:defRPr>
            </a:pPr>
            <a:r>
              <a:t>Cornering: — Inside: 6,377 - 3,022 = 3,355 N (much lighter!)</a:t>
            </a:r>
          </a:p>
          <a:p>
            <a:pPr>
              <a:spcAft>
                <a:spcPts val="600"/>
              </a:spcAft>
              <a:defRPr sz="1800">
                <a:solidFill>
                  <a:srgbClr val="333333"/>
                </a:solidFill>
              </a:defRPr>
            </a:pPr>
            <a:r>
              <a:t>Outside: 6,377 + 3,022 = 9,399 N (much heavier!)</a:t>
            </a:r>
          </a:p>
          <a:p>
            <a:pPr>
              <a:spcAft>
                <a:spcPts val="1000"/>
              </a:spcAft>
              <a:defRPr sz="1800">
                <a:solidFill>
                  <a:srgbClr val="333333"/>
                </a:solidFill>
              </a:defRPr>
            </a:pPr>
            <a:r>
              <a:t>Inside wheels near liftoff point! (In extreme case, can leave ground)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Rollover Threshold</a:t>
            </a:r>
          </a:p>
        </p:txBody>
      </p:sp>
      <p:sp>
        <p:nvSpPr>
          <p:cNvPr id="3" name="Content Placeholder 2"/>
          <p:cNvSpPr>
            <a:spLocks noGrp="1"/>
          </p:cNvSpPr>
          <p:nvPr>
            <p:ph idx="1"/>
          </p:nvPr>
        </p:nvSpPr>
        <p:spPr/>
        <p:txBody>
          <a:bodyPr/>
          <a:lstStyle/>
          <a:p>
            <a:pPr>
              <a:spcAft>
                <a:spcPts val="1000"/>
              </a:spcAft>
              <a:defRPr sz="1800">
                <a:solidFill>
                  <a:srgbClr val="333333"/>
                </a:solidFill>
              </a:defRPr>
            </a:pPr>
            <a:r>
              <a:t>Vehicle rolls over when inside wheels lift completely:</a:t>
            </a:r>
          </a:p>
          <a:p>
            <a:pPr>
              <a:spcAft>
                <a:spcPts val="1000"/>
              </a:spcAft>
              <a:defRPr sz="1800">
                <a:solidFill>
                  <a:srgbClr val="333333"/>
                </a:solidFill>
              </a:defRPr>
            </a:pPr>
            <a:r>
              <a:t>Condition: W_inside = 0</a:t>
            </a:r>
          </a:p>
          <a:p>
            <a:pPr>
              <a:spcAft>
                <a:spcPts val="1000"/>
              </a:spcAft>
              <a:defRPr sz="1800">
                <a:solidFill>
                  <a:srgbClr val="333333"/>
                </a:solidFill>
              </a:defRPr>
            </a:pPr>
            <a:r>
              <a:t>From lateral load transfer:</a:t>
            </a:r>
          </a:p>
          <a:p>
            <a:pPr>
              <a:spcAft>
                <a:spcPts val="1000"/>
              </a:spcAft>
              <a:defRPr sz="1800">
                <a:solidFill>
                  <a:srgbClr val="333333"/>
                </a:solidFill>
              </a:defRPr>
            </a:pPr>
            <a:r>
              <a:t>Wstatic - ΔWlat = 0</a:t>
            </a:r>
          </a:p>
          <a:p>
            <a:pPr>
              <a:spcAft>
                <a:spcPts val="1000"/>
              </a:spcAft>
              <a:defRPr sz="1800">
                <a:solidFill>
                  <a:srgbClr val="333333"/>
                </a:solidFill>
              </a:defRPr>
            </a:pPr>
            <a:r>
              <a:t>(mg/2) - (m × a_lat × h)/t = 0</a:t>
            </a:r>
          </a:p>
          <a:p>
            <a:pPr>
              <a:spcAft>
                <a:spcPts val="1000"/>
              </a:spcAft>
              <a:defRPr sz="1800">
                <a:solidFill>
                  <a:srgbClr val="333333"/>
                </a:solidFill>
              </a:defRPr>
            </a:pPr>
            <a:r>
              <a:t>Solving for critical lateral acceleration:</a:t>
            </a:r>
          </a:p>
          <a:p>
            <a:pPr>
              <a:spcAft>
                <a:spcPts val="1000"/>
              </a:spcAft>
              <a:defRPr sz="1800">
                <a:solidFill>
                  <a:srgbClr val="333333"/>
                </a:solidFill>
              </a:defRPr>
            </a:pPr>
            <a:r>
              <a:t>a_lat,rollover = (g × t) / (2 × h)</a:t>
            </a:r>
          </a:p>
          <a:p>
            <a:pPr>
              <a:spcAft>
                <a:spcPts val="1000"/>
              </a:spcAft>
              <a:defRPr sz="1800">
                <a:solidFill>
                  <a:srgbClr val="333333"/>
                </a:solidFill>
              </a:defRPr>
            </a:pPr>
            <a:r>
              <a:t>Critical speed:</a:t>
            </a:r>
          </a:p>
          <a:p>
            <a:pPr>
              <a:spcAft>
                <a:spcPts val="1000"/>
              </a:spcAft>
              <a:defRPr sz="1800">
                <a:solidFill>
                  <a:srgbClr val="333333"/>
                </a:solidFill>
              </a:defRPr>
            </a:pPr>
            <a:r>
              <a:t>v²_rollover / R = (g × t) / (2 × h)</a:t>
            </a:r>
          </a:p>
          <a:p>
            <a:pPr>
              <a:spcAft>
                <a:spcPts val="1000"/>
              </a:spcAft>
              <a:defRPr sz="1800">
                <a:solidFill>
                  <a:srgbClr val="333333"/>
                </a:solidFill>
              </a:defRPr>
            </a:pPr>
            <a:r>
              <a:t>v_rollover = √(R × g × t / (2h))</a:t>
            </a:r>
          </a:p>
          <a:p>
            <a:pPr>
              <a:spcAft>
                <a:spcPts val="1000"/>
              </a:spcAft>
              <a:defRPr sz="1800">
                <a:solidFill>
                  <a:srgbClr val="333333"/>
                </a:solidFill>
              </a:defRPr>
            </a:pPr>
            <a:r>
              <a:t>Example 1: Honda Civic (t = 1.52 m, h = 0.55 m)</a:t>
            </a:r>
          </a:p>
          <a:p>
            <a:pPr>
              <a:spcAft>
                <a:spcPts val="1000"/>
              </a:spcAft>
              <a:defRPr sz="1800">
                <a:solidFill>
                  <a:srgbClr val="333333"/>
                </a:solidFill>
              </a:defRPr>
            </a:pPr>
            <a:r>
              <a:t>a_lat,rollover = (9.81 × 1.52) / (2 × 0.55) = 13.5 m/s² (1.38 g)</a:t>
            </a:r>
          </a:p>
          <a:p>
            <a:pPr>
              <a:spcAft>
                <a:spcPts val="1000"/>
              </a:spcAft>
              <a:defRPr sz="1800">
                <a:solidFill>
                  <a:srgbClr val="333333"/>
                </a:solidFill>
              </a:defRPr>
            </a:pPr>
            <a:r>
              <a:t>At R = 30 m: v_rollover = √(30 × 13.5) = 20.1 m/s = 72 km/h</a:t>
            </a:r>
          </a:p>
          <a:p>
            <a:pPr>
              <a:spcAft>
                <a:spcPts val="1000"/>
              </a:spcAft>
              <a:defRPr sz="1800">
                <a:solidFill>
                  <a:srgbClr val="333333"/>
                </a:solidFill>
              </a:defRPr>
            </a:pPr>
            <a:r>
              <a:t>Example 2: SUV (t = 1.6 m, h = 0.9 m - higher CG!)</a:t>
            </a:r>
          </a:p>
          <a:p>
            <a:pPr>
              <a:spcAft>
                <a:spcPts val="1000"/>
              </a:spcAft>
              <a:defRPr sz="1800">
                <a:solidFill>
                  <a:srgbClr val="333333"/>
                </a:solidFill>
              </a:defRPr>
            </a:pPr>
            <a:r>
              <a:t>a_lat,rollover = (9.81 × 1.6) / (2 × 0.9) = 8.7 m/s² (0.89 g)</a:t>
            </a:r>
          </a:p>
          <a:p>
            <a:pPr>
              <a:spcAft>
                <a:spcPts val="1000"/>
              </a:spcAft>
              <a:defRPr sz="1800">
                <a:solidFill>
                  <a:srgbClr val="333333"/>
                </a:solidFill>
              </a:defRPr>
            </a:pPr>
            <a:r>
              <a:t>At R = 30 m: v_rollover = √(30 × 8.7) = 16.2 m/s = 58 km/h</a:t>
            </a:r>
          </a:p>
          <a:p>
            <a:pPr>
              <a:spcAft>
                <a:spcPts val="1000"/>
              </a:spcAft>
              <a:defRPr sz="1800">
                <a:solidFill>
                  <a:srgbClr val="333333"/>
                </a:solidFill>
              </a:defRPr>
            </a:pPr>
            <a:r>
              <a:t>SUV rolls over at much lower speed! (Higher h, similar t)</a:t>
            </a:r>
          </a:p>
          <a:p>
            <a:pPr>
              <a:spcAft>
                <a:spcPts val="1000"/>
              </a:spcAft>
              <a:defRPr sz="1800">
                <a:solidFill>
                  <a:srgbClr val="333333"/>
                </a:solidFill>
              </a:defRPr>
            </a:pPr>
            <a:r>
              <a:t>This is why: — SUVs have Electronic Stability Control (ESC) mandatory</a:t>
            </a:r>
          </a:p>
          <a:p>
            <a:pPr>
              <a:spcAft>
                <a:spcPts val="600"/>
              </a:spcAft>
              <a:defRPr sz="1800">
                <a:solidFill>
                  <a:srgbClr val="333333"/>
                </a:solidFill>
              </a:defRPr>
            </a:pPr>
            <a:r>
              <a:t>Sports cars are low to ground (low h)</a:t>
            </a:r>
          </a:p>
          <a:p>
            <a:pPr>
              <a:spcAft>
                <a:spcPts val="600"/>
              </a:spcAft>
              <a:defRPr sz="1800">
                <a:solidFill>
                  <a:srgbClr val="333333"/>
                </a:solidFill>
              </a:defRPr>
            </a:pPr>
            <a:r>
              <a:t>Track width (t) important for stability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Key Takeaways Summary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consolidate today's physics:</a:t>
            </a:r>
          </a:p>
          <a:p>
            <a:pPr>
              <a:spcAft>
                <a:spcPts val="1000"/>
              </a:spcAft>
              <a:defRPr sz="1800">
                <a:solidFill>
                  <a:srgbClr val="333333"/>
                </a:solidFill>
              </a:defRPr>
            </a:pPr>
            <a:r>
              <a:t>FORCES &amp; FREE-BODY DIAGRAMS:</a:t>
            </a:r>
          </a:p>
          <a:p>
            <a:pPr>
              <a:spcAft>
                <a:spcPts val="1000"/>
              </a:spcAft>
              <a:defRPr sz="1800">
                <a:solidFill>
                  <a:srgbClr val="333333"/>
                </a:solidFill>
              </a:defRPr>
            </a:pPr>
            <a:r>
              <a:t>✓ Identify all forces (normal, friction, weight, drag)</a:t>
            </a:r>
          </a:p>
          <a:p>
            <a:pPr>
              <a:spcAft>
                <a:spcPts val="1000"/>
              </a:spcAft>
              <a:defRPr sz="1800">
                <a:solidFill>
                  <a:srgbClr val="333333"/>
                </a:solidFill>
              </a:defRPr>
            </a:pPr>
            <a:r>
              <a:t>✓ Apply ΣF = ma in X and Z directions</a:t>
            </a:r>
          </a:p>
          <a:p>
            <a:pPr>
              <a:spcAft>
                <a:spcPts val="1000"/>
              </a:spcAft>
              <a:defRPr sz="1800">
                <a:solidFill>
                  <a:srgbClr val="333333"/>
                </a:solidFill>
              </a:defRPr>
            </a:pPr>
            <a:r>
              <a:t>✓ Apply ΣM = 0 for moments (assuming no angular acceleration)</a:t>
            </a:r>
          </a:p>
          <a:p>
            <a:pPr>
              <a:spcAft>
                <a:spcPts val="1000"/>
              </a:spcAft>
              <a:defRPr sz="1800">
                <a:solidFill>
                  <a:srgbClr val="333333"/>
                </a:solidFill>
              </a:defRPr>
            </a:pPr>
            <a:r>
              <a:t>LONGITUDINAL DYNAMICS (ACCELERATION):</a:t>
            </a:r>
          </a:p>
          <a:p>
            <a:pPr>
              <a:spcAft>
                <a:spcPts val="1000"/>
              </a:spcAft>
              <a:defRPr sz="1800">
                <a:solidFill>
                  <a:srgbClr val="333333"/>
                </a:solidFill>
              </a:defRPr>
            </a:pPr>
            <a:r>
              <a:t>✓ Load transfer: ΔW = (m × a_x × h) / L</a:t>
            </a:r>
          </a:p>
          <a:p>
            <a:pPr>
              <a:spcAft>
                <a:spcPts val="1000"/>
              </a:spcAft>
              <a:defRPr sz="1800">
                <a:solidFill>
                  <a:srgbClr val="333333"/>
                </a:solidFill>
              </a:defRPr>
            </a:pPr>
            <a:r>
              <a:t>✓ Wf,accel = Wf,static - ΔW (front loses weight)</a:t>
            </a:r>
          </a:p>
          <a:p>
            <a:pPr>
              <a:spcAft>
                <a:spcPts val="1000"/>
              </a:spcAft>
              <a:defRPr sz="1800">
                <a:solidFill>
                  <a:srgbClr val="333333"/>
                </a:solidFill>
              </a:defRPr>
            </a:pPr>
            <a:r>
              <a:t>✓ Wr,accel = Wr,static + ΔW (rear gains weight)</a:t>
            </a:r>
          </a:p>
          <a:p>
            <a:pPr>
              <a:spcAft>
                <a:spcPts val="1000"/>
              </a:spcAft>
              <a:defRPr sz="1800">
                <a:solidFill>
                  <a:srgbClr val="333333"/>
                </a:solidFill>
              </a:defRPr>
            </a:pPr>
            <a:r>
              <a:t>✓ Max accel (RWD): amax = (μ × Wr,static) / [m × (1 - μh/L)]</a:t>
            </a:r>
          </a:p>
          <a:p>
            <a:pPr>
              <a:spcAft>
                <a:spcPts val="1000"/>
              </a:spcAft>
              <a:defRPr sz="1800">
                <a:solidFill>
                  <a:srgbClr val="333333"/>
                </a:solidFill>
              </a:defRPr>
            </a:pPr>
            <a:r>
              <a:t>✓ Max accel (AWD): a_max ≈ μ × g (uses all weight)</a:t>
            </a:r>
          </a:p>
          <a:p>
            <a:pPr>
              <a:spcAft>
                <a:spcPts val="1000"/>
              </a:spcAft>
              <a:defRPr sz="1800">
                <a:solidFill>
                  <a:srgbClr val="333333"/>
                </a:solidFill>
              </a:defRPr>
            </a:pPr>
            <a:r>
              <a:t>LONGITUDINAL DYNAMICS (BRAKING):</a:t>
            </a:r>
          </a:p>
          <a:p>
            <a:pPr>
              <a:spcAft>
                <a:spcPts val="1000"/>
              </a:spcAft>
              <a:defRPr sz="1800">
                <a:solidFill>
                  <a:srgbClr val="333333"/>
                </a:solidFill>
              </a:defRPr>
            </a:pPr>
            <a:r>
              <a:t>✓ Load transfer: ΔW = (m × a_brake × h) / L (same formula!)</a:t>
            </a:r>
          </a:p>
          <a:p>
            <a:pPr>
              <a:spcAft>
                <a:spcPts val="1000"/>
              </a:spcAft>
              <a:defRPr sz="1800">
                <a:solidFill>
                  <a:srgbClr val="333333"/>
                </a:solidFill>
              </a:defRPr>
            </a:pPr>
            <a:r>
              <a:t>✓ Wf,brake = Wf,static + ΔW (front gains weight)</a:t>
            </a:r>
          </a:p>
          <a:p>
            <a:pPr>
              <a:spcAft>
                <a:spcPts val="1000"/>
              </a:spcAft>
              <a:defRPr sz="1800">
                <a:solidFill>
                  <a:srgbClr val="333333"/>
                </a:solidFill>
              </a:defRPr>
            </a:pPr>
            <a:r>
              <a:t>✓ Wr,brake = Wr,static - ΔW (rear loses weight)</a:t>
            </a:r>
          </a:p>
          <a:p>
            <a:pPr>
              <a:spcAft>
                <a:spcPts val="1000"/>
              </a:spcAft>
              <a:defRPr sz="1800">
                <a:solidFill>
                  <a:srgbClr val="333333"/>
                </a:solidFill>
              </a:defRPr>
            </a:pPr>
            <a:r>
              <a:t>✓ Max decel: a_brake,max = μ × g (independent of mass!)</a:t>
            </a:r>
          </a:p>
          <a:p>
            <a:pPr>
              <a:spcAft>
                <a:spcPts val="1000"/>
              </a:spcAft>
              <a:defRPr sz="1800">
                <a:solidFill>
                  <a:srgbClr val="333333"/>
                </a:solidFill>
              </a:defRPr>
            </a:pPr>
            <a:r>
              <a:t>✓ Stopping distance: d = v² / (2 × μ × g)</a:t>
            </a:r>
          </a:p>
          <a:p>
            <a:pPr>
              <a:spcAft>
                <a:spcPts val="1000"/>
              </a:spcAft>
              <a:defRPr sz="1800">
                <a:solidFill>
                  <a:srgbClr val="333333"/>
                </a:solidFill>
              </a:defRPr>
            </a:pPr>
            <a:r>
              <a:t>✓ Typical distribution: 70-80% front, 20-30% rear</a:t>
            </a:r>
          </a:p>
          <a:p>
            <a:pPr>
              <a:spcAft>
                <a:spcPts val="1000"/>
              </a:spcAft>
              <a:defRPr sz="1800">
                <a:solidFill>
                  <a:srgbClr val="333333"/>
                </a:solidFill>
              </a:defRPr>
            </a:pPr>
            <a:r>
              <a:t>LATERAL DYNAMICS (CORNERING):</a:t>
            </a:r>
          </a:p>
          <a:p>
            <a:pPr>
              <a:spcAft>
                <a:spcPts val="1000"/>
              </a:spcAft>
              <a:defRPr sz="1800">
                <a:solidFill>
                  <a:srgbClr val="333333"/>
                </a:solidFill>
              </a:defRPr>
            </a:pPr>
            <a:r>
              <a:t>✓ Centripetal accel: a_c = v² / R</a:t>
            </a:r>
          </a:p>
          <a:p>
            <a:pPr>
              <a:spcAft>
                <a:spcPts val="1000"/>
              </a:spcAft>
              <a:defRPr sz="1800">
                <a:solidFill>
                  <a:srgbClr val="333333"/>
                </a:solidFill>
              </a:defRPr>
            </a:pPr>
            <a:r>
              <a:t>✓ Lateral load transfer: ΔWlat = (m × alat × h) / t</a:t>
            </a:r>
          </a:p>
          <a:p>
            <a:pPr>
              <a:spcAft>
                <a:spcPts val="1000"/>
              </a:spcAft>
              <a:defRPr sz="1800">
                <a:solidFill>
                  <a:srgbClr val="333333"/>
                </a:solidFill>
              </a:defRPr>
            </a:pPr>
            <a:r>
              <a:t>✓ Max cornering speed: v_max = √(μ × g × R)</a:t>
            </a:r>
          </a:p>
          <a:p>
            <a:pPr>
              <a:spcAft>
                <a:spcPts val="1000"/>
              </a:spcAft>
              <a:defRPr sz="1800">
                <a:solidFill>
                  <a:srgbClr val="333333"/>
                </a:solidFill>
              </a:defRPr>
            </a:pPr>
            <a:r>
              <a:t>✓ Rollover threshold: a_lat,rollover = (g × t) / (2h)</a:t>
            </a:r>
          </a:p>
          <a:p>
            <a:pPr>
              <a:spcAft>
                <a:spcPts val="1000"/>
              </a:spcAft>
              <a:defRPr sz="1800">
                <a:solidFill>
                  <a:srgbClr val="333333"/>
                </a:solidFill>
              </a:defRPr>
            </a:pPr>
            <a:r>
              <a:t>✓ Lower CG (h) and wider track (t) → Better stability</a:t>
            </a:r>
          </a:p>
          <a:p>
            <a:pPr>
              <a:spcAft>
                <a:spcPts val="1000"/>
              </a:spcAft>
              <a:defRPr sz="1800">
                <a:solidFill>
                  <a:srgbClr val="333333"/>
                </a:solidFill>
              </a:defRPr>
            </a:pPr>
            <a:r>
              <a:t>KEY INSIGHTS: — Load transfer proportional to: acceleration, CG height, inversely to wheelbase/track</a:t>
            </a:r>
          </a:p>
          <a:p>
            <a:pPr>
              <a:spcAft>
                <a:spcPts val="600"/>
              </a:spcAft>
              <a:defRPr sz="1800">
                <a:solidFill>
                  <a:srgbClr val="333333"/>
                </a:solidFill>
              </a:defRPr>
            </a:pPr>
            <a:r>
              <a:t>Weight distribution critical for balanced performance</a:t>
            </a:r>
          </a:p>
          <a:p>
            <a:pPr>
              <a:spcAft>
                <a:spcPts val="600"/>
              </a:spcAft>
              <a:defRPr sz="1800">
                <a:solidFill>
                  <a:srgbClr val="333333"/>
                </a:solidFill>
              </a:defRPr>
            </a:pPr>
            <a:r>
              <a:t>Electronics (ABS, ESC) manage these physics in real-time</a:t>
            </a:r>
          </a:p>
          <a:p>
            <a:pPr>
              <a:spcAft>
                <a:spcPts val="1000"/>
              </a:spcAft>
              <a:defRPr sz="1800">
                <a:solidFill>
                  <a:srgbClr val="333333"/>
                </a:solidFill>
              </a:defRPr>
            </a:pPr>
            <a:r>
              <a:t>You can now analyze complete vehicle dynamics behavior!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Connection to Next Sessions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Today: We analyzed the physics. Next 3 sessions: The systems that control it.</a:t>
            </a:r>
          </a:p>
          <a:p>
            <a:pPr>
              <a:spcAft>
                <a:spcPts val="1000"/>
              </a:spcAft>
              <a:defRPr sz="1800">
                <a:solidFill>
                  <a:srgbClr val="333333"/>
                </a:solidFill>
              </a:defRPr>
            </a:pPr>
            <a:r>
              <a:t>Session 10: Braking Systems — Today: Calculated how much load transfers during braking (ΔW)</a:t>
            </a:r>
          </a:p>
          <a:p>
            <a:pPr>
              <a:spcAft>
                <a:spcPts val="600"/>
              </a:spcAft>
              <a:defRPr sz="1800">
                <a:solidFill>
                  <a:srgbClr val="333333"/>
                </a:solidFill>
              </a:defRPr>
            </a:pPr>
            <a:r>
              <a:t>Session 10: Design brake systems to handle that load</a:t>
            </a:r>
          </a:p>
          <a:p>
            <a:pPr>
              <a:spcAft>
                <a:spcPts val="600"/>
              </a:spcAft>
              <a:defRPr sz="1800">
                <a:solidFill>
                  <a:srgbClr val="333333"/>
                </a:solidFill>
              </a:defRPr>
            </a:pPr>
            <a:r>
              <a:t>Hydraulic brake components (master cylinder, calipers)</a:t>
            </a:r>
          </a:p>
          <a:p>
            <a:pPr>
              <a:spcAft>
                <a:spcPts val="600"/>
              </a:spcAft>
              <a:defRPr sz="1800">
                <a:solidFill>
                  <a:srgbClr val="333333"/>
                </a:solidFill>
              </a:defRPr>
            </a:pPr>
            <a:r>
              <a:t>Disc vs drum brakes</a:t>
            </a:r>
          </a:p>
          <a:p>
            <a:pPr>
              <a:spcAft>
                <a:spcPts val="600"/>
              </a:spcAft>
              <a:defRPr sz="1800">
                <a:solidFill>
                  <a:srgbClr val="333333"/>
                </a:solidFill>
              </a:defRPr>
            </a:pPr>
            <a:r>
              <a:t>ABS: How it prevents wheel lockup using load transfer knowledge</a:t>
            </a:r>
          </a:p>
          <a:p>
            <a:pPr>
              <a:spcAft>
                <a:spcPts val="600"/>
              </a:spcAft>
              <a:defRPr sz="1800">
                <a:solidFill>
                  <a:srgbClr val="333333"/>
                </a:solidFill>
              </a:defRPr>
            </a:pPr>
            <a:r>
              <a:t>Brake force distribution (proportioning valve)</a:t>
            </a:r>
          </a:p>
          <a:p>
            <a:pPr>
              <a:spcAft>
                <a:spcPts val="1000"/>
              </a:spcAft>
              <a:defRPr sz="1800">
                <a:solidFill>
                  <a:srgbClr val="333333"/>
                </a:solidFill>
              </a:defRPr>
            </a:pPr>
            <a:r>
              <a:t>Session 11: Steering Systems — Today: Calculated lateral forces during cornering</a:t>
            </a:r>
          </a:p>
          <a:p>
            <a:pPr>
              <a:spcAft>
                <a:spcPts val="600"/>
              </a:spcAft>
              <a:defRPr sz="1800">
                <a:solidFill>
                  <a:srgbClr val="333333"/>
                </a:solidFill>
              </a:defRPr>
            </a:pPr>
            <a:r>
              <a:t>Session 11: Design steering systems to control direction</a:t>
            </a:r>
          </a:p>
          <a:p>
            <a:pPr>
              <a:spcAft>
                <a:spcPts val="600"/>
              </a:spcAft>
              <a:defRPr sz="1800">
                <a:solidFill>
                  <a:srgbClr val="333333"/>
                </a:solidFill>
              </a:defRPr>
            </a:pPr>
            <a:r>
              <a:t>Ackermann geometry (prevent tire scrub)</a:t>
            </a:r>
          </a:p>
          <a:p>
            <a:pPr>
              <a:spcAft>
                <a:spcPts val="600"/>
              </a:spcAft>
              <a:defRPr sz="1800">
                <a:solidFill>
                  <a:srgbClr val="333333"/>
                </a:solidFill>
              </a:defRPr>
            </a:pPr>
            <a:r>
              <a:t>Steering ratio calculations</a:t>
            </a:r>
          </a:p>
          <a:p>
            <a:pPr>
              <a:spcAft>
                <a:spcPts val="600"/>
              </a:spcAft>
              <a:defRPr sz="1800">
                <a:solidFill>
                  <a:srgbClr val="333333"/>
                </a:solidFill>
              </a:defRPr>
            </a:pPr>
            <a:r>
              <a:t>Power steering (hydraulic and EPAS)</a:t>
            </a:r>
          </a:p>
          <a:p>
            <a:pPr>
              <a:spcAft>
                <a:spcPts val="600"/>
              </a:spcAft>
              <a:defRPr sz="1800">
                <a:solidFill>
                  <a:srgbClr val="333333"/>
                </a:solidFill>
              </a:defRPr>
            </a:pPr>
            <a:r>
              <a:t>Understeer/oversteer management</a:t>
            </a:r>
          </a:p>
          <a:p>
            <a:pPr>
              <a:spcAft>
                <a:spcPts val="1000"/>
              </a:spcAft>
              <a:defRPr sz="1800">
                <a:solidFill>
                  <a:srgbClr val="333333"/>
                </a:solidFill>
              </a:defRPr>
            </a:pPr>
            <a:r>
              <a:t>Session 12: Suspension Systems — Today: Analyzed load transfer (longitudinal and lateral)</a:t>
            </a:r>
          </a:p>
          <a:p>
            <a:pPr>
              <a:spcAft>
                <a:spcPts val="600"/>
              </a:spcAft>
              <a:defRPr sz="1800">
                <a:solidFill>
                  <a:srgbClr val="333333"/>
                </a:solidFill>
              </a:defRPr>
            </a:pPr>
            <a:r>
              <a:t>Session 12: Design suspension to manage that transfer</a:t>
            </a:r>
          </a:p>
          <a:p>
            <a:pPr>
              <a:spcAft>
                <a:spcPts val="600"/>
              </a:spcAft>
              <a:defRPr sz="1800">
                <a:solidFill>
                  <a:srgbClr val="333333"/>
                </a:solidFill>
              </a:defRPr>
            </a:pPr>
            <a:r>
              <a:t>Spring-mass-damper systems</a:t>
            </a:r>
          </a:p>
          <a:p>
            <a:pPr>
              <a:spcAft>
                <a:spcPts val="600"/>
              </a:spcAft>
              <a:defRPr sz="1800">
                <a:solidFill>
                  <a:srgbClr val="333333"/>
                </a:solidFill>
              </a:defRPr>
            </a:pPr>
            <a:r>
              <a:t>Suspension types (McPherson, double wishbone, etc.)</a:t>
            </a:r>
          </a:p>
          <a:p>
            <a:pPr>
              <a:spcAft>
                <a:spcPts val="600"/>
              </a:spcAft>
              <a:defRPr sz="1800">
                <a:solidFill>
                  <a:srgbClr val="333333"/>
                </a:solidFill>
              </a:defRPr>
            </a:pPr>
            <a:r>
              <a:t>Anti-roll bars (reduce lateral load transfer!)</a:t>
            </a:r>
          </a:p>
          <a:p>
            <a:pPr>
              <a:spcAft>
                <a:spcPts val="600"/>
              </a:spcAft>
              <a:defRPr sz="1800">
                <a:solidFill>
                  <a:srgbClr val="333333"/>
                </a:solidFill>
              </a:defRPr>
            </a:pPr>
            <a:r>
              <a:t>Electronic adaptive suspension</a:t>
            </a:r>
          </a:p>
          <a:p>
            <a:pPr>
              <a:spcAft>
                <a:spcPts val="1000"/>
              </a:spcAft>
              <a:defRPr sz="1800">
                <a:solidFill>
                  <a:srgbClr val="333333"/>
                </a:solidFill>
              </a:defRPr>
            </a:pPr>
            <a:r>
              <a:t>Foundation complete: Physics → Systems → Electronic Control</a:t>
            </a:r>
          </a:p>
          <a:p>
            <a:pPr>
              <a:spcAft>
                <a:spcPts val="1000"/>
              </a:spcAft>
              <a:defRPr sz="1800">
                <a:solidFill>
                  <a:srgbClr val="333333"/>
                </a:solidFill>
              </a:defRPr>
            </a:pPr>
            <a:r>
              <a:t>All three sessions apply today's load transfer calculations!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PPT DESIGN GUIDANCE</a:t>
            </a:r>
          </a:p>
        </p:txBody>
      </p:sp>
      <p:sp>
        <p:nvSpPr>
          <p:cNvPr id="3" name="Content Placeholder 2"/>
          <p:cNvSpPr>
            <a:spLocks noGrp="1"/>
          </p:cNvSpPr>
          <p:nvPr>
            <p:ph idx="1"/>
          </p:nvPr>
        </p:nvSpPr>
        <p:spPr/>
        <p:txBody>
          <a:bodyPr/>
          <a:lstStyle/>
          <a:p>
            <a:pPr>
              <a:defRPr sz="2400" b="1">
                <a:solidFill>
                  <a:srgbClr val="2E5090"/>
                </a:solidFill>
              </a:defRPr>
            </a:pPr>
            <a:r>
              <a:t>Visual Elements to Include:</a:t>
            </a:r>
          </a:p>
          <a:p>
            <a:pPr>
              <a:spcAft>
                <a:spcPts val="1000"/>
              </a:spcAft>
              <a:defRPr sz="1800">
                <a:solidFill>
                  <a:srgbClr val="333333"/>
                </a:solidFill>
              </a:defRPr>
            </a:pPr>
            <a:r>
              <a:t>Assignment (Due before Session 10):</a:t>
            </a:r>
          </a:p>
          <a:p>
            <a:pPr>
              <a:spcAft>
                <a:spcPts val="1000"/>
              </a:spcAft>
              <a:defRPr sz="1800">
                <a:solidFill>
                  <a:srgbClr val="333333"/>
                </a:solidFill>
              </a:defRPr>
            </a:pPr>
            <a:r>
              <a:t>Problem 1: A sports car has the following specifications:</a:t>
            </a:r>
          </a:p>
          <a:p>
            <a:pPr>
              <a:spcAft>
                <a:spcPts val="600"/>
              </a:spcAft>
              <a:defRPr sz="1800">
                <a:solidFill>
                  <a:srgbClr val="333333"/>
                </a:solidFill>
              </a:defRPr>
            </a:pPr>
            <a:r>
              <a:t>Mass: 1,400 kg</a:t>
            </a:r>
          </a:p>
          <a:p>
            <a:pPr>
              <a:spcAft>
                <a:spcPts val="600"/>
              </a:spcAft>
              <a:defRPr sz="1800">
                <a:solidFill>
                  <a:srgbClr val="333333"/>
                </a:solidFill>
              </a:defRPr>
            </a:pPr>
            <a:r>
              <a:t>Wheelbase: 2.5 m</a:t>
            </a:r>
          </a:p>
          <a:p>
            <a:pPr>
              <a:spcAft>
                <a:spcPts val="600"/>
              </a:spcAft>
              <a:defRPr sz="1800">
                <a:solidFill>
                  <a:srgbClr val="333333"/>
                </a:solidFill>
              </a:defRPr>
            </a:pPr>
            <a:r>
              <a:t>CG height: 0.48 m</a:t>
            </a:r>
          </a:p>
          <a:p>
            <a:pPr>
              <a:spcAft>
                <a:spcPts val="600"/>
              </a:spcAft>
              <a:defRPr sz="1800">
                <a:solidFill>
                  <a:srgbClr val="333333"/>
                </a:solidFill>
              </a:defRPr>
            </a:pPr>
            <a:r>
              <a:t>CG position: 1.15 m from front axle</a:t>
            </a:r>
          </a:p>
          <a:p>
            <a:pPr>
              <a:spcAft>
                <a:spcPts val="600"/>
              </a:spcAft>
              <a:defRPr sz="1800">
                <a:solidFill>
                  <a:srgbClr val="333333"/>
                </a:solidFill>
              </a:defRPr>
            </a:pPr>
            <a:r>
              <a:t>Track width: 1.55 m</a:t>
            </a:r>
          </a:p>
          <a:p>
            <a:pPr>
              <a:spcAft>
                <a:spcPts val="600"/>
              </a:spcAft>
              <a:defRPr sz="1800">
                <a:solidFill>
                  <a:srgbClr val="333333"/>
                </a:solidFill>
              </a:defRPr>
            </a:pPr>
            <a:r>
              <a:t>Coefficient of friction: 0.90 (dry road, performance tires)</a:t>
            </a:r>
          </a:p>
          <a:p>
            <a:pPr>
              <a:spcAft>
                <a:spcPts val="600"/>
              </a:spcAft>
              <a:defRPr sz="1800">
                <a:solidFill>
                  <a:srgbClr val="333333"/>
                </a:solidFill>
              </a:defRPr>
            </a:pPr>
            <a:r>
              <a:t>RWD vehicle</a:t>
            </a:r>
          </a:p>
          <a:p>
            <a:pPr>
              <a:spcAft>
                <a:spcPts val="1000"/>
              </a:spcAft>
              <a:defRPr sz="1800">
                <a:solidFill>
                  <a:srgbClr val="333333"/>
                </a:solidFill>
              </a:defRPr>
            </a:pPr>
            <a:r>
              <a:t>Calculate:</a:t>
            </a:r>
          </a:p>
          <a:p>
            <a:pPr>
              <a:spcAft>
                <a:spcPts val="1000"/>
              </a:spcAft>
              <a:defRPr sz="1800">
                <a:solidFill>
                  <a:srgbClr val="333333"/>
                </a:solidFill>
              </a:defRPr>
            </a:pPr>
            <a:r>
              <a:t>a) Static weight distribution (% front, % rear)</a:t>
            </a:r>
          </a:p>
          <a:p>
            <a:pPr>
              <a:spcAft>
                <a:spcPts val="1000"/>
              </a:spcAft>
              <a:defRPr sz="1800">
                <a:solidFill>
                  <a:srgbClr val="333333"/>
                </a:solidFill>
              </a:defRPr>
            </a:pPr>
            <a:r>
              <a:t>b) Maximum acceleration and load transfer</a:t>
            </a:r>
          </a:p>
          <a:p>
            <a:pPr>
              <a:spcAft>
                <a:spcPts val="1000"/>
              </a:spcAft>
              <a:defRPr sz="1800">
                <a:solidFill>
                  <a:srgbClr val="333333"/>
                </a:solidFill>
              </a:defRPr>
            </a:pPr>
            <a:r>
              <a:t>c) Weight on each axle at maximum acceleration</a:t>
            </a:r>
          </a:p>
          <a:p>
            <a:pPr>
              <a:spcAft>
                <a:spcPts val="1000"/>
              </a:spcAft>
              <a:defRPr sz="1800">
                <a:solidFill>
                  <a:srgbClr val="333333"/>
                </a:solidFill>
              </a:defRPr>
            </a:pPr>
            <a:r>
              <a:t>d) Maximum braking deceleration and load transfer</a:t>
            </a:r>
          </a:p>
          <a:p>
            <a:pPr>
              <a:spcAft>
                <a:spcPts val="1000"/>
              </a:spcAft>
              <a:defRPr sz="1800">
                <a:solidFill>
                  <a:srgbClr val="333333"/>
                </a:solidFill>
              </a:defRPr>
            </a:pPr>
            <a:r>
              <a:t>e) Weight on each axle at maximum braking</a:t>
            </a:r>
          </a:p>
          <a:p>
            <a:pPr>
              <a:spcAft>
                <a:spcPts val="1000"/>
              </a:spcAft>
              <a:defRPr sz="1800">
                <a:solidFill>
                  <a:srgbClr val="333333"/>
                </a:solidFill>
              </a:defRPr>
            </a:pPr>
            <a:r>
              <a:t>f) Maximum cornering speed for R = 40 m turn without sliding</a:t>
            </a:r>
          </a:p>
          <a:p>
            <a:pPr>
              <a:spcAft>
                <a:spcPts val="1000"/>
              </a:spcAft>
              <a:defRPr sz="1800">
                <a:solidFill>
                  <a:srgbClr val="333333"/>
                </a:solidFill>
              </a:defRPr>
            </a:pPr>
            <a:r>
              <a:t>g) Critical speed for rollover in the same turn</a:t>
            </a:r>
          </a:p>
          <a:p>
            <a:pPr>
              <a:spcAft>
                <a:spcPts val="1000"/>
              </a:spcAft>
              <a:defRPr sz="1800">
                <a:solidFill>
                  <a:srgbClr val="333333"/>
                </a:solidFill>
              </a:defRPr>
            </a:pPr>
            <a:r>
              <a:t>Problem 2: Comparative analysis</a:t>
            </a:r>
          </a:p>
          <a:p>
            <a:pPr>
              <a:spcAft>
                <a:spcPts val="1000"/>
              </a:spcAft>
              <a:defRPr sz="1800">
                <a:solidFill>
                  <a:srgbClr val="333333"/>
                </a:solidFill>
              </a:defRPr>
            </a:pPr>
            <a:r>
              <a:t>For the same vehicle in Problem 1:</a:t>
            </a:r>
          </a:p>
          <a:p>
            <a:pPr>
              <a:spcAft>
                <a:spcPts val="1000"/>
              </a:spcAft>
              <a:defRPr sz="1800">
                <a:solidFill>
                  <a:srgbClr val="333333"/>
                </a:solidFill>
              </a:defRPr>
            </a:pPr>
            <a:r>
              <a:t>a) If CG height increased to 0.60 m (like adding roof rack), recalculate max acceleration and braking</a:t>
            </a:r>
          </a:p>
          <a:p>
            <a:pPr>
              <a:spcAft>
                <a:spcPts val="1000"/>
              </a:spcAft>
              <a:defRPr sz="1800">
                <a:solidFill>
                  <a:srgbClr val="333333"/>
                </a:solidFill>
              </a:defRPr>
            </a:pPr>
            <a:r>
              <a:t>b) Calculate percentage change in performance</a:t>
            </a:r>
          </a:p>
          <a:p>
            <a:pPr>
              <a:spcAft>
                <a:spcPts val="1000"/>
              </a:spcAft>
              <a:defRPr sz="1800">
                <a:solidFill>
                  <a:srgbClr val="333333"/>
                </a:solidFill>
              </a:defRPr>
            </a:pPr>
            <a:r>
              <a:t>c) Calculate new rollover threshold</a:t>
            </a:r>
          </a:p>
          <a:p>
            <a:pPr>
              <a:spcAft>
                <a:spcPts val="1000"/>
              </a:spcAft>
              <a:defRPr sz="1800">
                <a:solidFill>
                  <a:srgbClr val="333333"/>
                </a:solidFill>
              </a:defRPr>
            </a:pPr>
            <a:r>
              <a:t>d) Explain why lowering CG improves all aspects of dynamics</a:t>
            </a:r>
          </a:p>
          <a:p>
            <a:pPr>
              <a:spcAft>
                <a:spcPts val="1000"/>
              </a:spcAft>
              <a:defRPr sz="1800">
                <a:solidFill>
                  <a:srgbClr val="333333"/>
                </a:solidFill>
              </a:defRPr>
            </a:pPr>
            <a:r>
              <a:t>Problem 3: Real-world application</a:t>
            </a:r>
          </a:p>
          <a:p>
            <a:pPr>
              <a:spcAft>
                <a:spcPts val="1000"/>
              </a:spcAft>
              <a:defRPr sz="1800">
                <a:solidFill>
                  <a:srgbClr val="333333"/>
                </a:solidFill>
              </a:defRPr>
            </a:pPr>
            <a:r>
              <a:t>Research one production vehicle's specifications (mass, wheelbase, CG height estimate, track width).</a:t>
            </a:r>
          </a:p>
          <a:p>
            <a:pPr>
              <a:spcAft>
                <a:spcPts val="1000"/>
              </a:spcAft>
              <a:defRPr sz="1800">
                <a:solidFill>
                  <a:srgbClr val="333333"/>
                </a:solidFill>
              </a:defRPr>
            </a:pPr>
            <a:r>
              <a:t>a) Calculate theoretical maximum acceleration (assume AWD, μ = 0.85)</a:t>
            </a:r>
          </a:p>
          <a:p>
            <a:pPr>
              <a:spcAft>
                <a:spcPts val="1000"/>
              </a:spcAft>
              <a:defRPr sz="1800">
                <a:solidFill>
                  <a:srgbClr val="333333"/>
                </a:solidFill>
              </a:defRPr>
            </a:pPr>
            <a:r>
              <a:t>b) Compare to manufacturer's claimed 0-100 km/h time</a:t>
            </a:r>
          </a:p>
          <a:p>
            <a:pPr>
              <a:spcAft>
                <a:spcPts val="1000"/>
              </a:spcAft>
              <a:defRPr sz="1800">
                <a:solidFill>
                  <a:srgbClr val="333333"/>
                </a:solidFill>
              </a:defRPr>
            </a:pPr>
            <a:r>
              <a:t>c) Explain discrepancies (hint: engine power, gear ratios, drag)</a:t>
            </a:r>
          </a:p>
          <a:p>
            <a:pPr>
              <a:spcAft>
                <a:spcPts val="1000"/>
              </a:spcAft>
              <a:defRPr sz="1800">
                <a:solidFill>
                  <a:srgbClr val="333333"/>
                </a:solidFill>
              </a:defRPr>
            </a:pPr>
            <a:r>
              <a:t>d) Calculate stopping distance from 100 km/h</a:t>
            </a:r>
          </a:p>
          <a:p>
            <a:pPr>
              <a:spcAft>
                <a:spcPts val="1000"/>
              </a:spcAft>
              <a:defRPr sz="1800">
                <a:solidFill>
                  <a:srgbClr val="333333"/>
                </a:solidFill>
              </a:defRPr>
            </a:pPr>
            <a:r>
              <a:t>Discussion Questions for Q&amp;A: — Why do drag racing cars have wheelie bars? (prevent front lifting due to extreme load transfer)</a:t>
            </a:r>
          </a:p>
          <a:p>
            <a:pPr>
              <a:spcAft>
                <a:spcPts val="600"/>
              </a:spcAft>
              <a:defRPr sz="1800">
                <a:solidFill>
                  <a:srgbClr val="333333"/>
                </a:solidFill>
              </a:defRPr>
            </a:pPr>
            <a:r>
              <a:t>Why are Formula 1 cars so low to the ground? (minimize h → minimize load transfer → maximum grip)</a:t>
            </a:r>
          </a:p>
          <a:p>
            <a:pPr>
              <a:spcAft>
                <a:spcPts val="600"/>
              </a:spcAft>
              <a:defRPr sz="1800">
                <a:solidFill>
                  <a:srgbClr val="333333"/>
                </a:solidFill>
              </a:defRPr>
            </a:pPr>
            <a:r>
              <a:t>How does load transfer affect ABS operation? (rear wheels more prone to locking → need different control)</a:t>
            </a:r>
          </a:p>
          <a:p>
            <a:pPr>
              <a:spcAft>
                <a:spcPts val="600"/>
              </a:spcAft>
              <a:defRPr sz="1800">
                <a:solidFill>
                  <a:srgbClr val="333333"/>
                </a:solidFill>
              </a:defRPr>
            </a:pPr>
            <a:r>
              <a:t>Why do sports cars have wider rear tires than front (on RWD)? (more load during accel, need more contact patch)</a:t>
            </a:r>
          </a:p>
          <a:p>
            <a:pPr>
              <a:spcAft>
                <a:spcPts val="600"/>
              </a:spcAft>
              <a:defRPr sz="1800">
                <a:solidFill>
                  <a:srgbClr val="333333"/>
                </a:solidFill>
              </a:defRPr>
            </a:pPr>
            <a:r>
              <a:t>What is \"lift-off oversteer\" and why is it dangerous? (rapid weight transfer forward when releasing throttle mid-corner)</a:t>
            </a:r>
          </a:p>
          <a:p>
            <a:pPr>
              <a:spcAft>
                <a:spcPts val="1000"/>
              </a:spcAft>
              <a:defRPr sz="1800">
                <a:solidFill>
                  <a:srgbClr val="333333"/>
                </a:solidFill>
              </a:defRPr>
            </a:pPr>
            <a:r>
              <a:t>30 minutes for your questions. —--</a:t>
            </a:r>
          </a:p>
          <a:p>
            <a:pPr>
              <a:spcAft>
                <a:spcPts val="600"/>
              </a:spcAft>
              <a:defRPr sz="1800">
                <a:solidFill>
                  <a:srgbClr val="333333"/>
                </a:solidFill>
              </a:defRPr>
            </a:pPr>
            <a:r>
              <a:t>Consistency: Maintain professional engineering template from all previous sessions</a:t>
            </a:r>
          </a:p>
          <a:p>
            <a:pPr>
              <a:spcAft>
                <a:spcPts val="600"/>
              </a:spcAft>
              <a:defRPr sz="1800">
                <a:solidFill>
                  <a:srgbClr val="333333"/>
                </a:solidFill>
              </a:defRPr>
            </a:pPr>
            <a:r>
              <a:t>Math-heavy focus: Large, clear equations (24pt minimum)</a:t>
            </a:r>
          </a:p>
          <a:p>
            <a:pPr>
              <a:spcAft>
                <a:spcPts val="600"/>
              </a:spcAft>
              <a:defRPr sz="1800">
                <a:solidFill>
                  <a:srgbClr val="333333"/>
                </a:solidFill>
              </a:defRPr>
            </a:pPr>
            <a:r>
              <a:t>Free-body diagrams: Clean, labeled, with force vectors in different colors</a:t>
            </a:r>
          </a:p>
          <a:p>
            <a:pPr>
              <a:spcAft>
                <a:spcPts val="600"/>
              </a:spcAft>
              <a:defRPr sz="1800">
                <a:solidFill>
                  <a:srgbClr val="333333"/>
                </a:solidFill>
              </a:defRPr>
            </a:pPr>
            <a:r>
              <a:t>Color coding: — Red for forces (Fdrive, Fbrake, F_cf)</a:t>
            </a:r>
          </a:p>
          <a:p>
            <a:pPr>
              <a:spcAft>
                <a:spcPts val="600"/>
              </a:spcAft>
              <a:defRPr sz="1800">
                <a:solidFill>
                  <a:srgbClr val="333333"/>
                </a:solidFill>
              </a:defRPr>
            </a:pPr>
            <a:r>
              <a:t>Blue for normal loads (Wf, Wr)</a:t>
            </a:r>
          </a:p>
          <a:p>
            <a:pPr>
              <a:spcAft>
                <a:spcPts val="600"/>
              </a:spcAft>
              <a:defRPr sz="1800">
                <a:solidFill>
                  <a:srgbClr val="333333"/>
                </a:solidFill>
              </a:defRPr>
            </a:pPr>
            <a:r>
              <a:t>Green for resulting accelerations</a:t>
            </a:r>
          </a:p>
          <a:p>
            <a:pPr>
              <a:spcAft>
                <a:spcPts val="600"/>
              </a:spcAft>
              <a:defRPr sz="1800">
                <a:solidFill>
                  <a:srgbClr val="333333"/>
                </a:solidFill>
              </a:defRPr>
            </a:pPr>
            <a:r>
              <a:t>Orange for load transfer (ΔW)</a:t>
            </a:r>
          </a:p>
          <a:p>
            <a:pPr>
              <a:spcAft>
                <a:spcPts val="600"/>
              </a:spcAft>
              <a:defRPr sz="1800">
                <a:solidFill>
                  <a:srgbClr val="333333"/>
                </a:solidFill>
              </a:defRPr>
            </a:pPr>
            <a:r>
              <a:t>Arrows showing direction clearly</a:t>
            </a:r>
          </a:p>
          <a:p>
            <a:pPr>
              <a:spcAft>
                <a:spcPts val="600"/>
              </a:spcAft>
              <a:defRPr sz="1800">
                <a:solidFill>
                  <a:srgbClr val="333333"/>
                </a:solidFill>
              </a:defRPr>
            </a:pPr>
            <a:r>
              <a:t>Slide 3: Nose-dive during braking photo – Establishes real-world phenomenon</a:t>
            </a:r>
          </a:p>
          <a:p>
            <a:pPr>
              <a:spcAft>
                <a:spcPts val="600"/>
              </a:spcAft>
              <a:defRPr sz="1800">
                <a:solidFill>
                  <a:srgbClr val="333333"/>
                </a:solidFill>
              </a:defRPr>
            </a:pPr>
            <a:r>
              <a:t>Slide 9: Free-body diagram for acceleration – Foundation</a:t>
            </a:r>
          </a:p>
          <a:p>
            <a:pPr>
              <a:spcAft>
                <a:spcPts val="600"/>
              </a:spcAft>
              <a:defRPr sz="1800">
                <a:solidFill>
                  <a:srgbClr val="333333"/>
                </a:solidFill>
              </a:defRPr>
            </a:pPr>
            <a:r>
              <a:t>Slide 12: Load transfer derivation – Core mathematics</a:t>
            </a:r>
          </a:p>
          <a:p>
            <a:pPr>
              <a:spcAft>
                <a:spcPts val="600"/>
              </a:spcAft>
              <a:defRPr sz="1800">
                <a:solidFill>
                  <a:srgbClr val="333333"/>
                </a:solidFill>
              </a:defRPr>
            </a:pPr>
            <a:r>
              <a:t>Slide 13: Maximum acceleration calculation – Complete example</a:t>
            </a:r>
          </a:p>
          <a:p>
            <a:pPr>
              <a:spcAft>
                <a:spcPts val="600"/>
              </a:spcAft>
              <a:defRPr sz="1800">
                <a:solidFill>
                  <a:srgbClr val="333333"/>
                </a:solidFill>
              </a:defRPr>
            </a:pPr>
            <a:r>
              <a:t>Slide 19: Maximum braking deceleration – Critical safety calculation</a:t>
            </a:r>
          </a:p>
          <a:p>
            <a:pPr>
              <a:spcAft>
                <a:spcPts val="600"/>
              </a:spcAft>
              <a:defRPr sz="1800">
                <a:solidFill>
                  <a:srgbClr val="333333"/>
                </a:solidFill>
              </a:defRPr>
            </a:pPr>
            <a:r>
              <a:t>Slide 24: Lateral load transfer – 3D dynamics</a:t>
            </a:r>
          </a:p>
          <a:p>
            <a:pPr>
              <a:spcAft>
                <a:spcPts val="600"/>
              </a:spcAft>
              <a:defRPr sz="1800">
                <a:solidFill>
                  <a:srgbClr val="333333"/>
                </a:solidFill>
              </a:defRPr>
            </a:pPr>
            <a:r>
              <a:t>Slide 27: Complete challenge solution – Integration</a:t>
            </a:r>
          </a:p>
          <a:p>
            <a:pPr>
              <a:spcAft>
                <a:spcPts val="600"/>
              </a:spcAft>
              <a:defRPr sz="1800">
                <a:solidFill>
                  <a:srgbClr val="333333"/>
                </a:solidFill>
              </a:defRPr>
            </a:pPr>
            <a:r>
              <a:t>Slide 28: Summary of all formulas – Reference sheet</a:t>
            </a:r>
          </a:p>
          <a:p>
            <a:pPr>
              <a:spcAft>
                <a:spcPts val="600"/>
              </a:spcAft>
              <a:defRPr sz="1800">
                <a:solidFill>
                  <a:srgbClr val="333333"/>
                </a:solidFill>
              </a:defRPr>
            </a:pPr>
            <a:r>
              <a:t>Slide 9: Build FBD step-by-step (add forces one at a time)</a:t>
            </a:r>
          </a:p>
          <a:p>
            <a:pPr>
              <a:spcAft>
                <a:spcPts val="600"/>
              </a:spcAft>
              <a:defRPr sz="1800">
                <a:solidFill>
                  <a:srgbClr val="333333"/>
                </a:solidFill>
              </a:defRPr>
            </a:pPr>
            <a:r>
              <a:t>Slide 10: Animate weight shift during acceleration (show ΔW transfer)</a:t>
            </a:r>
          </a:p>
          <a:p>
            <a:pPr>
              <a:spcAft>
                <a:spcPts val="600"/>
              </a:spcAft>
              <a:defRPr sz="1800">
                <a:solidFill>
                  <a:srgbClr val="333333"/>
                </a:solidFill>
              </a:defRPr>
            </a:pPr>
            <a:r>
              <a:t>Slide 12: Step-through derivation (one equation line at a time)</a:t>
            </a:r>
          </a:p>
          <a:p>
            <a:pPr>
              <a:spcAft>
                <a:spcPts val="600"/>
              </a:spcAft>
              <a:defRPr sz="1800">
                <a:solidFill>
                  <a:srgbClr val="333333"/>
                </a:solidFill>
              </a:defRPr>
            </a:pPr>
            <a:r>
              <a:t>Slide 18: Animate braking weight transfer (forward shift)</a:t>
            </a:r>
          </a:p>
          <a:p>
            <a:pPr>
              <a:spcAft>
                <a:spcPts val="600"/>
              </a:spcAft>
              <a:defRPr sz="1800">
                <a:solidFill>
                  <a:srgbClr val="333333"/>
                </a:solidFill>
              </a:defRPr>
            </a:pPr>
            <a:r>
              <a:t>Slide 24: Show vehicle rolling, weight shifting to outside wheels</a:t>
            </a:r>
          </a:p>
          <a:p>
            <a:pPr>
              <a:spcAft>
                <a:spcPts val="600"/>
              </a:spcAft>
              <a:defRPr sz="1800">
                <a:solidFill>
                  <a:srgbClr val="333333"/>
                </a:solidFill>
              </a:defRPr>
            </a:pPr>
            <a:r>
              <a:t>Slide 25: Animated rollover sequence (dramatic but educational!)</a:t>
            </a:r>
          </a:p>
          <a:p>
            <a:pPr>
              <a:spcAft>
                <a:spcPts val="600"/>
              </a:spcAft>
              <a:defRPr sz="1800">
                <a:solidFill>
                  <a:srgbClr val="333333"/>
                </a:solidFill>
              </a:defRPr>
            </a:pPr>
            <a:r>
              <a:t>Free-body diagrams: Professional engineering style (forces as arrows, labeled magnitudes)</a:t>
            </a:r>
          </a:p>
          <a:p>
            <a:pPr>
              <a:spcAft>
                <a:spcPts val="600"/>
              </a:spcAft>
              <a:defRPr sz="1800">
                <a:solidFill>
                  <a:srgbClr val="333333"/>
                </a:solidFill>
              </a:defRPr>
            </a:pPr>
            <a:r>
              <a:t>Photos: Real vehicles accelerating (front lift), braking (nose dive), cornering (body roll)</a:t>
            </a:r>
          </a:p>
          <a:p>
            <a:pPr>
              <a:spcAft>
                <a:spcPts val="600"/>
              </a:spcAft>
              <a:defRPr sz="1800">
                <a:solidFill>
                  <a:srgbClr val="333333"/>
                </a:solidFill>
              </a:defRPr>
            </a:pPr>
            <a:r>
              <a:t>Calculation worksheets: Step-by-step solutions with boxes highlighting key steps</a:t>
            </a:r>
          </a:p>
          <a:p>
            <a:pPr>
              <a:spcAft>
                <a:spcPts val="600"/>
              </a:spcAft>
              <a:defRPr sz="1800">
                <a:solidFill>
                  <a:srgbClr val="333333"/>
                </a:solidFill>
              </a:defRPr>
            </a:pPr>
            <a:r>
              <a:t>Comparison tables: RWD vs FWD vs AWD, Car vs SUV dynamics</a:t>
            </a:r>
          </a:p>
          <a:p>
            <a:pPr>
              <a:spcAft>
                <a:spcPts val="600"/>
              </a:spcAft>
              <a:defRPr sz="1800">
                <a:solidFill>
                  <a:srgbClr val="333333"/>
                </a:solidFill>
              </a:defRPr>
            </a:pPr>
            <a:r>
              <a:t>Graphs: Load distribution (static vs dynamic), stopping distance vs speed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INSTRUCTOR NOTES</a:t>
            </a:r>
          </a:p>
        </p:txBody>
      </p:sp>
      <p:sp>
        <p:nvSpPr>
          <p:cNvPr id="3" name="Content Placeholder 2"/>
          <p:cNvSpPr>
            <a:spLocks noGrp="1"/>
          </p:cNvSpPr>
          <p:nvPr>
            <p:ph idx="1"/>
          </p:nvPr>
        </p:nvSpPr>
        <p:spPr/>
        <p:txBody>
          <a:bodyPr/>
          <a:lstStyle/>
          <a:p>
            <a:pPr>
              <a:defRPr sz="2400" b="1">
                <a:solidFill>
                  <a:srgbClr val="2E5090"/>
                </a:solidFill>
              </a:defRPr>
            </a:pPr>
            <a:r>
              <a:t>Safety/Ethics Notes:</a:t>
            </a:r>
          </a:p>
          <a:p>
            <a:pPr>
              <a:spcAft>
                <a:spcPts val="600"/>
              </a:spcAft>
              <a:defRPr sz="1800">
                <a:solidFill>
                  <a:srgbClr val="333333"/>
                </a:solidFill>
              </a:defRPr>
            </a:pPr>
            <a:r>
              <a:t>Physics application: Directly applies Sessions 1-3 foundation (forces, friction, Newton's laws)</a:t>
            </a:r>
          </a:p>
          <a:p>
            <a:pPr>
              <a:spcAft>
                <a:spcPts val="600"/>
              </a:spcAft>
              <a:defRPr sz="1800">
                <a:solidFill>
                  <a:srgbClr val="333333"/>
                </a:solidFill>
              </a:defRPr>
            </a:pPr>
            <a:r>
              <a:t>Math-intensive: Multiple derivations and complete calculations (like Session 1-3)</a:t>
            </a:r>
          </a:p>
          <a:p>
            <a:pPr>
              <a:spcAft>
                <a:spcPts val="600"/>
              </a:spcAft>
              <a:defRPr sz="1800">
                <a:solidFill>
                  <a:srgbClr val="333333"/>
                </a:solidFill>
              </a:defRPr>
            </a:pPr>
            <a:r>
              <a:t>Real-world grounding: Every concept tied to observable vehicle behavior</a:t>
            </a:r>
          </a:p>
          <a:p>
            <a:pPr>
              <a:spcAft>
                <a:spcPts val="600"/>
              </a:spcAft>
              <a:defRPr sz="1800">
                <a:solidFill>
                  <a:srgbClr val="333333"/>
                </a:solidFill>
              </a:defRPr>
            </a:pPr>
            <a:r>
              <a:t>Build complexity: Start simple FBD → Add load transfer → Apply to 3 maneuvers</a:t>
            </a:r>
          </a:p>
          <a:p>
            <a:pPr>
              <a:spcAft>
                <a:spcPts val="600"/>
              </a:spcAft>
              <a:defRPr sz="1800">
                <a:solidFill>
                  <a:srgbClr val="333333"/>
                </a:solidFill>
              </a:defRPr>
            </a:pPr>
            <a:r>
              <a:t>Problem-solving focus: Multiple complete examples, practice problems</a:t>
            </a:r>
          </a:p>
          <a:p>
            <a:pPr>
              <a:spcAft>
                <a:spcPts val="1000"/>
              </a:spcAft>
              <a:defRPr sz="1800">
                <a:solidFill>
                  <a:srgbClr val="333333"/>
                </a:solidFill>
              </a:defRPr>
            </a:pPr>
            <a:r>
              <a:t>Challenge 1: "Why does weight transfer happen? Weight doesn't change!"</a:t>
            </a:r>
          </a:p>
          <a:p>
            <a:pPr>
              <a:spcAft>
                <a:spcPts val="1000"/>
              </a:spcAft>
              <a:defRPr sz="1800">
                <a:solidFill>
                  <a:srgbClr val="333333"/>
                </a:solidFill>
              </a:defRPr>
            </a:pPr>
            <a:r>
              <a:t>How to address: Clarify terminology - total weight (mg) stays constant, but DISTRIBUTION between front/rear (or left/right) changes. Use moment analysis - force at ground level, mass at CG height creates moment that redistributes normal forces.</a:t>
            </a:r>
          </a:p>
          <a:p>
            <a:pPr>
              <a:spcAft>
                <a:spcPts val="1000"/>
              </a:spcAft>
              <a:defRPr sz="1800">
                <a:solidFill>
                  <a:srgbClr val="333333"/>
                </a:solidFill>
              </a:defRPr>
            </a:pPr>
            <a:r>
              <a:t>Challenge 2: "In braking formula, why does load transfer use same equation as acceleration?"</a:t>
            </a:r>
          </a:p>
          <a:p>
            <a:pPr>
              <a:spcAft>
                <a:spcPts val="1000"/>
              </a:spcAft>
              <a:defRPr sz="1800">
                <a:solidFill>
                  <a:srgbClr val="333333"/>
                </a:solidFill>
              </a:defRPr>
            </a:pPr>
            <a:r>
              <a:t>How to address: The formula ΔW = (mah)/L is general for any longitudinal acceleration (positive or negative). Sign of 'a' determines direction of transfer. Positive a (accel) → rearward transfer. Negative a (braking) → forward transfer. Physics is symmetric.</a:t>
            </a:r>
          </a:p>
          <a:p>
            <a:pPr>
              <a:spcAft>
                <a:spcPts val="1000"/>
              </a:spcAft>
              <a:defRPr sz="1800">
                <a:solidFill>
                  <a:srgbClr val="333333"/>
                </a:solidFill>
              </a:defRPr>
            </a:pPr>
            <a:r>
              <a:t>Challenge 3: "Why is max braking = μg independent of mass?"</a:t>
            </a:r>
          </a:p>
          <a:p>
            <a:pPr>
              <a:spcAft>
                <a:spcPts val="1000"/>
              </a:spcAft>
              <a:defRPr sz="1800">
                <a:solidFill>
                  <a:srgbClr val="333333"/>
                </a:solidFill>
              </a:defRPr>
            </a:pPr>
            <a:r>
              <a:t>How to address: Show the algebra: F_brake,max = μ × mg. Then a = F/m = (μ × mg)/m → mass cancels! This is like free fall - all objects fall at same rate regardless of mass. Here, all vehicles brake at same rate (if same μ) regardless of mass.</a:t>
            </a:r>
          </a:p>
          <a:p>
            <a:pPr>
              <a:spcAft>
                <a:spcPts val="1000"/>
              </a:spcAft>
              <a:defRPr sz="1800">
                <a:solidFill>
                  <a:srgbClr val="333333"/>
                </a:solidFill>
              </a:defRPr>
            </a:pPr>
            <a:r>
              <a:t>Challenge 4: "Lateral load transfer formula uses track width 't', but longitudinal uses wheelbase 'L'. Why?"</a:t>
            </a:r>
          </a:p>
          <a:p>
            <a:pPr>
              <a:spcAft>
                <a:spcPts val="1000"/>
              </a:spcAft>
              <a:defRPr sz="1800">
                <a:solidFill>
                  <a:srgbClr val="333333"/>
                </a:solidFill>
              </a:defRPr>
            </a:pPr>
            <a:r>
              <a:t>How to address: Moment arm is different! Longitudinal: weight distributed front-to-rear (spacing = L). Lateral: weight distributed left-to-right (spacing = t). The axis of rotation is different for pitch (longitudinal) vs roll (lateral).</a:t>
            </a:r>
          </a:p>
          <a:p>
            <a:pPr>
              <a:spcAft>
                <a:spcPts val="1000"/>
              </a:spcAft>
              <a:defRPr sz="1800">
                <a:solidFill>
                  <a:srgbClr val="333333"/>
                </a:solidFill>
              </a:defRPr>
            </a:pPr>
            <a:r>
              <a:t>If running short: — Condense acceleration example (Slide 13) - show final answer without full derivation</a:t>
            </a:r>
          </a:p>
          <a:p>
            <a:pPr>
              <a:spcAft>
                <a:spcPts val="600"/>
              </a:spcAft>
              <a:defRPr sz="1800">
                <a:solidFill>
                  <a:srgbClr val="333333"/>
                </a:solidFill>
              </a:defRPr>
            </a:pPr>
            <a:r>
              <a:t>Combine AWD vs RWD vs FWD (Slide 15) into quick comparison table</a:t>
            </a:r>
          </a:p>
          <a:p>
            <a:pPr>
              <a:spcAft>
                <a:spcPts val="600"/>
              </a:spcAft>
              <a:defRPr sz="1800">
                <a:solidFill>
                  <a:srgbClr val="333333"/>
                </a:solidFill>
              </a:defRPr>
            </a:pPr>
            <a:r>
              <a:t>Skip practice problem Slide 16 (assign as homework instead)</a:t>
            </a:r>
          </a:p>
          <a:p>
            <a:pPr>
              <a:spcAft>
                <a:spcPts val="600"/>
              </a:spcAft>
              <a:defRPr sz="1800">
                <a:solidFill>
                  <a:srgbClr val="333333"/>
                </a:solidFill>
              </a:defRPr>
            </a:pPr>
            <a:r>
              <a:t>Reduce cornering section (Slides 23-26) - cover basics only, defer details to Session 12</a:t>
            </a:r>
          </a:p>
          <a:p>
            <a:pPr>
              <a:spcAft>
                <a:spcPts val="1000"/>
              </a:spcAft>
              <a:defRPr sz="1800">
                <a:solidFill>
                  <a:srgbClr val="333333"/>
                </a:solidFill>
              </a:defRPr>
            </a:pPr>
            <a:r>
              <a:t>If running long: — Move derivation (Slide 12) to appendix or assignment reading</a:t>
            </a:r>
          </a:p>
          <a:p>
            <a:pPr>
              <a:spcAft>
                <a:spcPts val="600"/>
              </a:spcAft>
              <a:defRPr sz="1800">
                <a:solidFill>
                  <a:srgbClr val="333333"/>
                </a:solidFill>
              </a:defRPr>
            </a:pPr>
            <a:r>
              <a:t>Skip real-world validation (Slide 17) - just state "theory matches reality well</a:t>
            </a:r>
          </a:p>
          <a:p>
            <a:pPr>
              <a:spcAft>
                <a:spcPts val="600"/>
              </a:spcAft>
              <a:defRPr sz="1800">
                <a:solidFill>
                  <a:srgbClr val="333333"/>
                </a:solidFill>
              </a:defRPr>
            </a:pPr>
            <a:r>
              <a:t>Reduce practice problem time (show solutions immediately)</a:t>
            </a:r>
          </a:p>
          <a:p>
            <a:pPr>
              <a:spcAft>
                <a:spcPts val="600"/>
              </a:spcAft>
              <a:defRPr sz="1800">
                <a:solidFill>
                  <a:srgbClr val="333333"/>
                </a:solidFill>
              </a:defRPr>
            </a:pPr>
            <a:r>
              <a:t>Defer understeer/oversteer (Slide 26) entirely to Session 12</a:t>
            </a:r>
          </a:p>
          <a:p>
            <a:pPr>
              <a:spcAft>
                <a:spcPts val="1000"/>
              </a:spcAft>
              <a:defRPr sz="1800">
                <a:solidFill>
                  <a:srgbClr val="333333"/>
                </a:solidFill>
              </a:defRPr>
            </a:pPr>
            <a:r>
              <a:t>Core content (must cover): — Slides 8-10 (FBD and static vs dynamic weight)</a:t>
            </a:r>
          </a:p>
          <a:p>
            <a:pPr>
              <a:spcAft>
                <a:spcPts val="600"/>
              </a:spcAft>
              <a:defRPr sz="1800">
                <a:solidFill>
                  <a:srgbClr val="333333"/>
                </a:solidFill>
              </a:defRPr>
            </a:pPr>
            <a:r>
              <a:t>Slide 12 or 13 (Load transfer - derivation OR application, at least one)</a:t>
            </a:r>
          </a:p>
          <a:p>
            <a:pPr>
              <a:spcAft>
                <a:spcPts val="600"/>
              </a:spcAft>
              <a:defRPr sz="1800">
                <a:solidFill>
                  <a:srgbClr val="333333"/>
                </a:solidFill>
              </a:defRPr>
            </a:pPr>
            <a:r>
              <a:t>Slide 18-19 (Braking dynamics and load transfer)</a:t>
            </a:r>
          </a:p>
          <a:p>
            <a:pPr>
              <a:spcAft>
                <a:spcPts val="600"/>
              </a:spcAft>
              <a:defRPr sz="1800">
                <a:solidFill>
                  <a:srgbClr val="333333"/>
                </a:solidFill>
              </a:defRPr>
            </a:pPr>
            <a:r>
              <a:t>Slide 20 (Stopping distance - critical safety topic)</a:t>
            </a:r>
          </a:p>
          <a:p>
            <a:pPr>
              <a:spcAft>
                <a:spcPts val="600"/>
              </a:spcAft>
              <a:defRPr sz="1800">
                <a:solidFill>
                  <a:srgbClr val="333333"/>
                </a:solidFill>
              </a:defRPr>
            </a:pPr>
            <a:r>
              <a:t>Slide 23-24 (Lateral dynamics basics)</a:t>
            </a:r>
          </a:p>
          <a:p>
            <a:pPr>
              <a:spcAft>
                <a:spcPts val="600"/>
              </a:spcAft>
              <a:defRPr sz="1800">
                <a:solidFill>
                  <a:srgbClr val="333333"/>
                </a:solidFill>
              </a:defRPr>
            </a:pPr>
            <a:r>
              <a:t>Slide 28 (Summary formulas)</a:t>
            </a:r>
          </a:p>
          <a:p>
            <a:pPr>
              <a:spcAft>
                <a:spcPts val="1000"/>
              </a:spcAft>
              <a:defRPr sz="1800">
                <a:solidFill>
                  <a:srgbClr val="333333"/>
                </a:solidFill>
              </a:defRPr>
            </a:pPr>
            <a:r>
              <a:t>Slide 3: Show video of car braking hard (slow motion if possible) - students see nose-dive</a:t>
            </a:r>
          </a:p>
          <a:p>
            <a:pPr>
              <a:spcAft>
                <a:spcPts val="1000"/>
              </a:spcAft>
              <a:defRPr sz="1800">
                <a:solidFill>
                  <a:srgbClr val="333333"/>
                </a:solidFill>
              </a:defRPr>
            </a:pPr>
            <a:r>
              <a:t>Slide 6: Poll: "Has anyone done 0-100 km/h timing in their car? How close to manufacturer claim?</a:t>
            </a:r>
          </a:p>
          <a:p>
            <a:pPr>
              <a:spcAft>
                <a:spcPts val="1000"/>
              </a:spcAft>
              <a:defRPr sz="1800">
                <a:solidFill>
                  <a:srgbClr val="333333"/>
                </a:solidFill>
              </a:defRPr>
            </a:pPr>
            <a:r>
              <a:t>Slide 12: Derive together on board - pause between steps, ask "what's next?</a:t>
            </a:r>
          </a:p>
          <a:p>
            <a:pPr>
              <a:spcAft>
                <a:spcPts val="1000"/>
              </a:spcAft>
              <a:defRPr sz="1800">
                <a:solidFill>
                  <a:srgbClr val="333333"/>
                </a:solidFill>
              </a:defRPr>
            </a:pPr>
            <a:r>
              <a:t>Slide 13: Work calculation in real-time, show each arithmetic step (don't just jump to answer)</a:t>
            </a:r>
          </a:p>
          <a:p>
            <a:pPr>
              <a:spcAft>
                <a:spcPts val="1000"/>
              </a:spcAft>
              <a:defRPr sz="1800">
                <a:solidFill>
                  <a:srgbClr val="333333"/>
                </a:solidFill>
              </a:defRPr>
            </a:pPr>
            <a:r>
              <a:t>Slide 20: Reaction time experiment - have someone try to catch ruler (measure reaction ~200-250ms)</a:t>
            </a:r>
          </a:p>
          <a:p>
            <a:pPr>
              <a:spcAft>
                <a:spcPts val="1000"/>
              </a:spcAft>
              <a:defRPr sz="1800">
                <a:solidFill>
                  <a:srgbClr val="333333"/>
                </a:solidFill>
              </a:defRPr>
            </a:pPr>
            <a:r>
              <a:t>Slide 24: Demonstrate with chair - push at top (high 'h') vs bottom → show toppling easier when pushed high</a:t>
            </a:r>
          </a:p>
          <a:p>
            <a:pPr>
              <a:spcAft>
                <a:spcPts val="1000"/>
              </a:spcAft>
              <a:defRPr sz="1800">
                <a:solidFill>
                  <a:srgbClr val="333333"/>
                </a:solidFill>
              </a:defRPr>
            </a:pPr>
            <a:r>
              <a:t>Q&amp;A: Be ready for questions about:</a:t>
            </a:r>
          </a:p>
          <a:p>
            <a:pPr>
              <a:spcAft>
                <a:spcPts val="600"/>
              </a:spcAft>
              <a:defRPr sz="1800">
                <a:solidFill>
                  <a:srgbClr val="333333"/>
                </a:solidFill>
              </a:defRPr>
            </a:pPr>
            <a:r>
              <a:t>Why rear-engine cars (Porsche 911)? Great for acceleration (weight on drive wheels), but tricky handling (oversteer tendency)</a:t>
            </a:r>
          </a:p>
          <a:p>
            <a:pPr>
              <a:spcAft>
                <a:spcPts val="600"/>
              </a:spcAft>
              <a:defRPr sz="1800">
                <a:solidFill>
                  <a:srgbClr val="333333"/>
                </a:solidFill>
              </a:defRPr>
            </a:pPr>
            <a:r>
              <a:t>All-wheel steering (Honda Prelude, some new cars) - how does it help?</a:t>
            </a:r>
          </a:p>
          <a:p>
            <a:pPr>
              <a:spcAft>
                <a:spcPts val="600"/>
              </a:spcAft>
              <a:defRPr sz="1800">
                <a:solidFill>
                  <a:srgbClr val="333333"/>
                </a:solidFill>
              </a:defRPr>
            </a:pPr>
            <a:r>
              <a:t>Active aerodynamics (wings, spoilers) - create downforce → increase normal load → more grip!</a:t>
            </a:r>
          </a:p>
          <a:p>
            <a:pPr>
              <a:spcAft>
                <a:spcPts val="600"/>
              </a:spcAft>
              <a:defRPr sz="1800">
                <a:solidFill>
                  <a:srgbClr val="333333"/>
                </a:solidFill>
              </a:defRPr>
            </a:pPr>
            <a:r>
              <a:t>Torque vectoring — differential that can send different torque to each wheel (manages understeer/oversteer)</a:t>
            </a:r>
          </a:p>
          <a:p>
            <a:pPr>
              <a:spcAft>
                <a:spcPts val="600"/>
              </a:spcAft>
              <a:defRPr sz="1800">
                <a:solidFill>
                  <a:srgbClr val="333333"/>
                </a:solidFill>
              </a:defRPr>
            </a:pPr>
            <a:r>
              <a:t>Stopping distance awareness: Emphasize safe following distances (2-second rule minimum)</a:t>
            </a:r>
          </a:p>
          <a:p>
            <a:pPr>
              <a:spcAft>
                <a:spcPts val="600"/>
              </a:spcAft>
              <a:defRPr sz="1800">
                <a:solidFill>
                  <a:srgbClr val="333333"/>
                </a:solidFill>
              </a:defRPr>
            </a:pPr>
            <a:r>
              <a:t>Road conditions: Show dramatic difference in friction (dry vs wet vs ice) affects ALL dynamics</a:t>
            </a:r>
          </a:p>
          <a:p>
            <a:pPr>
              <a:spcAft>
                <a:spcPts val="600"/>
              </a:spcAft>
              <a:defRPr sz="1800">
                <a:solidFill>
                  <a:srgbClr val="333333"/>
                </a:solidFill>
              </a:defRPr>
            </a:pPr>
            <a:r>
              <a:t>SUV rollover risk: Explain why electronic stability control is mandatory (saves lives)</a:t>
            </a:r>
          </a:p>
          <a:p>
            <a:pPr>
              <a:spcAft>
                <a:spcPts val="600"/>
              </a:spcAft>
              <a:defRPr sz="1800">
                <a:solidFill>
                  <a:srgbClr val="333333"/>
                </a:solidFill>
              </a:defRPr>
            </a:pPr>
            <a:r>
              <a:t>Performance driving: Track vs street - know limits, don't test on public roads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Success Criteria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Students leave able to:</a:t>
            </a:r>
          </a:p>
          <a:p>
            <a:pPr>
              <a:spcAft>
                <a:spcPts val="600"/>
              </a:spcAft>
              <a:defRPr sz="1800">
                <a:solidFill>
                  <a:srgbClr val="333333"/>
                </a:solidFill>
              </a:defRPr>
            </a:pPr>
            <a:r>
              <a:t>✓ Identify all forces and moments acting on vehicle during acceleration, braking, cornering</a:t>
            </a:r>
          </a:p>
          <a:p>
            <a:pPr>
              <a:spcAft>
                <a:spcPts val="600"/>
              </a:spcAft>
              <a:defRPr sz="1800">
                <a:solidFill>
                  <a:srgbClr val="333333"/>
                </a:solidFill>
              </a:defRPr>
            </a:pPr>
            <a:r>
              <a:t>✓ Calculate longitudinal acceleration performance using tractive force</a:t>
            </a:r>
          </a:p>
          <a:p>
            <a:pPr>
              <a:spcAft>
                <a:spcPts val="600"/>
              </a:spcAft>
              <a:defRPr sz="1800">
                <a:solidFill>
                  <a:srgbClr val="333333"/>
                </a:solidFill>
              </a:defRPr>
            </a:pPr>
            <a:r>
              <a:t>✓ Analyze load transfer during acceleration (front/rear distribution)</a:t>
            </a:r>
          </a:p>
          <a:p>
            <a:pPr>
              <a:spcAft>
                <a:spcPts val="600"/>
              </a:spcAft>
              <a:defRPr sz="1800">
                <a:solidFill>
                  <a:srgbClr val="333333"/>
                </a:solidFill>
              </a:defRPr>
            </a:pPr>
            <a:r>
              <a:t>✓ Analyze load transfer during braking (front/rear distribution)</a:t>
            </a:r>
          </a:p>
          <a:p>
            <a:pPr>
              <a:spcAft>
                <a:spcPts val="600"/>
              </a:spcAft>
              <a:defRPr sz="1800">
                <a:solidFill>
                  <a:srgbClr val="333333"/>
                </a:solidFill>
              </a:defRPr>
            </a:pPr>
            <a:r>
              <a:t>✓ Calculate lateral load transfer during cornering</a:t>
            </a:r>
          </a:p>
          <a:p>
            <a:pPr>
              <a:spcAft>
                <a:spcPts val="600"/>
              </a:spcAft>
              <a:defRPr sz="1800">
                <a:solidFill>
                  <a:srgbClr val="333333"/>
                </a:solidFill>
              </a:defRPr>
            </a:pPr>
            <a:r>
              <a:t>✓ Explain relationship between weight distribution and handling characteristics</a:t>
            </a:r>
          </a:p>
          <a:p>
            <a:pPr>
              <a:spcAft>
                <a:spcPts val="1000"/>
              </a:spcAft>
              <a:defRPr sz="1800">
                <a:solidFill>
                  <a:srgbClr val="333333"/>
                </a:solidFill>
              </a:defRPr>
            </a:pPr>
            <a:r>
              <a:t>Most importantly: Students apply Sessions 1-3 physics foundation to real vehicle dynamics, can predict vehicle behavior mathematically, and understand the physics underlying all chassis control systems (braking, steering, suspension, ESC).</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ADDITIONAL NOTES</a:t>
            </a:r>
          </a:p>
        </p:txBody>
      </p:sp>
      <p:sp>
        <p:nvSpPr>
          <p:cNvPr id="3" name="Content Placeholder 2"/>
          <p:cNvSpPr>
            <a:spLocks noGrp="1"/>
          </p:cNvSpPr>
          <p:nvPr>
            <p:ph idx="1"/>
          </p:nvPr>
        </p:nvSpPr>
        <p:spPr/>
        <p:txBody>
          <a:bodyPr/>
          <a:lstStyle/>
          <a:p>
            <a:pPr>
              <a:defRPr sz="2400" b="1">
                <a:solidFill>
                  <a:srgbClr val="2E5090"/>
                </a:solidFill>
              </a:defRPr>
            </a:pPr>
            <a:r>
              <a:t>Mathematical Rigor:</a:t>
            </a:r>
          </a:p>
          <a:p>
            <a:pPr>
              <a:spcAft>
                <a:spcPts val="600"/>
              </a:spcAft>
              <a:defRPr sz="1800">
                <a:solidFill>
                  <a:srgbClr val="333333"/>
                </a:solidFill>
              </a:defRPr>
            </a:pPr>
            <a:r>
              <a:t>Session 1 (Forces): All resistance forces (rolling, drag) still apply, now added to dynamic analysis</a:t>
            </a:r>
          </a:p>
          <a:p>
            <a:pPr>
              <a:spcAft>
                <a:spcPts val="600"/>
              </a:spcAft>
              <a:defRPr sz="1800">
                <a:solidFill>
                  <a:srgbClr val="333333"/>
                </a:solidFill>
              </a:defRPr>
            </a:pPr>
            <a:r>
              <a:t>Session 2 (Friction): Friction equation F = μN is basis for all traction limits</a:t>
            </a:r>
          </a:p>
          <a:p>
            <a:pPr>
              <a:spcAft>
                <a:spcPts val="600"/>
              </a:spcAft>
              <a:defRPr sz="1800">
                <a:solidFill>
                  <a:srgbClr val="333333"/>
                </a:solidFill>
              </a:defRPr>
            </a:pPr>
            <a:r>
              <a:t>Session 3 (Power): Acceleration performance determined by force (today) AND power available (Session 3)</a:t>
            </a:r>
          </a:p>
          <a:p>
            <a:pPr>
              <a:spcAft>
                <a:spcPts val="600"/>
              </a:spcAft>
              <a:defRPr sz="1800">
                <a:solidFill>
                  <a:srgbClr val="333333"/>
                </a:solidFill>
              </a:defRPr>
            </a:pPr>
            <a:r>
              <a:t>Sessions 4-8 (Powertrain): Engine/transmission deliver force/torque to wheels → creates acceleration we calculated today</a:t>
            </a:r>
          </a:p>
          <a:p>
            <a:pPr>
              <a:spcAft>
                <a:spcPts val="1000"/>
              </a:spcAft>
              <a:defRPr sz="1800">
                <a:solidFill>
                  <a:srgbClr val="333333"/>
                </a:solidFill>
              </a:defRPr>
            </a:pPr>
            <a:r>
              <a:t>Throughout session, preview upcoming topics:</a:t>
            </a:r>
          </a:p>
          <a:p>
            <a:pPr>
              <a:spcAft>
                <a:spcPts val="600"/>
              </a:spcAft>
              <a:defRPr sz="1800">
                <a:solidFill>
                  <a:srgbClr val="333333"/>
                </a:solidFill>
              </a:defRPr>
            </a:pPr>
            <a:r>
              <a:t>"We calculated 70% weight on front during braking → Session 10 shows how brake system handles this</a:t>
            </a:r>
          </a:p>
          <a:p>
            <a:pPr>
              <a:spcAft>
                <a:spcPts val="600"/>
              </a:spcAft>
              <a:defRPr sz="1800">
                <a:solidFill>
                  <a:srgbClr val="333333"/>
                </a:solidFill>
              </a:defRPr>
            </a:pPr>
            <a:r>
              <a:t>"Rear wheels prone to lockup → Session 10 explains ABS</a:t>
            </a:r>
          </a:p>
          <a:p>
            <a:pPr>
              <a:spcAft>
                <a:spcPts val="600"/>
              </a:spcAft>
              <a:defRPr sz="1800">
                <a:solidFill>
                  <a:srgbClr val="333333"/>
                </a:solidFill>
              </a:defRPr>
            </a:pPr>
            <a:r>
              <a:t>"Body roll during cornering → Session 12 shows how suspension and anti-roll bars manage it</a:t>
            </a:r>
          </a:p>
          <a:p>
            <a:pPr>
              <a:spcAft>
                <a:spcPts val="600"/>
              </a:spcAft>
              <a:defRPr sz="1800">
                <a:solidFill>
                  <a:srgbClr val="333333"/>
                </a:solidFill>
              </a:defRPr>
            </a:pPr>
            <a:r>
              <a:t>"Ackermann geometry mentioned → Session 11 explains steering geometry in detail</a:t>
            </a:r>
          </a:p>
          <a:p>
            <a:pPr>
              <a:spcAft>
                <a:spcPts val="600"/>
              </a:spcAft>
              <a:defRPr sz="1800">
                <a:solidFill>
                  <a:srgbClr val="333333"/>
                </a:solidFill>
              </a:defRPr>
            </a:pPr>
            <a:r>
              <a:t>Low sports cars: Minimize h → reduce load transfer → improve all dynamics</a:t>
            </a:r>
          </a:p>
          <a:p>
            <a:pPr>
              <a:spcAft>
                <a:spcPts val="600"/>
              </a:spcAft>
              <a:defRPr sz="1800">
                <a:solidFill>
                  <a:srgbClr val="333333"/>
                </a:solidFill>
              </a:defRPr>
            </a:pPr>
            <a:r>
              <a:t>Wide stance (track): Increase t → reduce lateral load transfer → reduce rollover risk</a:t>
            </a:r>
          </a:p>
          <a:p>
            <a:pPr>
              <a:spcAft>
                <a:spcPts val="600"/>
              </a:spcAft>
              <a:defRPr sz="1800">
                <a:solidFill>
                  <a:srgbClr val="333333"/>
                </a:solidFill>
              </a:defRPr>
            </a:pPr>
            <a:r>
              <a:t>Long wheelbase luxury cars: Increase L → reduce longitudinal load transfer → smoother ride</a:t>
            </a:r>
          </a:p>
          <a:p>
            <a:pPr>
              <a:spcAft>
                <a:spcPts val="600"/>
              </a:spcAft>
              <a:defRPr sz="1800">
                <a:solidFill>
                  <a:srgbClr val="333333"/>
                </a:solidFill>
              </a:defRPr>
            </a:pPr>
            <a:r>
              <a:t>F1 cars: Extreme downforce → increase N → increase friction limit (not dependent on weight!)</a:t>
            </a:r>
          </a:p>
          <a:p>
            <a:pPr>
              <a:spcAft>
                <a:spcPts val="1000"/>
              </a:spcAft>
              <a:defRPr sz="1800">
                <a:solidFill>
                  <a:srgbClr val="333333"/>
                </a:solidFill>
              </a:defRPr>
            </a:pPr>
            <a:r>
              <a:t>This session is intentionally math-heavy like Sessions 1-3. Students should:</a:t>
            </a:r>
          </a:p>
          <a:p>
            <a:pPr>
              <a:spcAft>
                <a:spcPts val="600"/>
              </a:spcAft>
              <a:defRPr sz="1800">
                <a:solidFill>
                  <a:srgbClr val="333333"/>
                </a:solidFill>
              </a:defRPr>
            </a:pPr>
            <a:r>
              <a:t>Work through derivations (builds understanding)</a:t>
            </a:r>
          </a:p>
          <a:p>
            <a:pPr>
              <a:spcAft>
                <a:spcPts val="600"/>
              </a:spcAft>
              <a:defRPr sz="1800">
                <a:solidFill>
                  <a:srgbClr val="333333"/>
                </a:solidFill>
              </a:defRPr>
            </a:pPr>
            <a:r>
              <a:t>Practice calculations (builds confidence)</a:t>
            </a:r>
          </a:p>
          <a:p>
            <a:pPr>
              <a:spcAft>
                <a:spcPts val="600"/>
              </a:spcAft>
              <a:defRPr sz="1800">
                <a:solidFill>
                  <a:srgbClr val="333333"/>
                </a:solidFill>
              </a:defRPr>
            </a:pPr>
            <a:r>
              <a:t>Apply to real scenarios (builds relevance)</a:t>
            </a:r>
          </a:p>
          <a:p>
            <a:pPr>
              <a:spcAft>
                <a:spcPts val="1000"/>
              </a:spcAft>
              <a:defRPr sz="1800">
                <a:solidFill>
                  <a:srgbClr val="333333"/>
                </a:solidFill>
              </a:defRPr>
            </a:pPr>
            <a:r>
              <a:t>Maintain high technical standards - these are future automotive engineers who will design safety-critical control systems.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Session 9 Framework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