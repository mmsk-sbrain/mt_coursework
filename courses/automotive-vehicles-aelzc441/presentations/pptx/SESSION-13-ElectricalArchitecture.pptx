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13: Electrical Architecture'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Electrical Architecture</a:t>
            </a:r>
          </a:p>
        </p:txBody>
      </p:sp>
      <p:sp>
        <p:nvSpPr>
          <p:cNvPr id="3" name="Subtitle 2"/>
          <p:cNvSpPr>
            <a:spLocks noGrp="1"/>
          </p:cNvSpPr>
          <p:nvPr>
            <p:ph type="subTitle" idx="1"/>
          </p:nvPr>
        </p:nvSpPr>
        <p:spPr/>
        <p:txBody>
          <a:bodyPr/>
          <a:lstStyle/>
          <a:p>
            <a:pPr>
              <a:defRPr sz="2000">
                <a:solidFill>
                  <a:srgbClr val="FFFFFF"/>
                </a:solidFill>
              </a:defRPr>
            </a:pPr>
            <a:r>
              <a:t>Session 13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Title Slide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Welcome to Session 13: Electrical Architecture. Today, we're shifting gears from mechanical systems to the electrical 'nervous system' that powers and controls modern vehicles. By the end of this session, you'll understand how a car generates, distributes, and protects electrical power across dozens of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Modern Vehicle - An Electrical Perspective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 me show you something surprising.</a:t>
            </a:r>
          </a:p>
          <a:p>
            <a:pPr>
              <a:spcAft>
                <a:spcPts val="1000"/>
              </a:spcAft>
              <a:defRPr sz="1800">
                <a:solidFill>
                  <a:srgbClr val="333333"/>
                </a:solidFill>
              </a:defRPr>
            </a:pPr>
            <a:r>
              <a:t>In a 1960s car, the electrical system consisted of:</a:t>
            </a:r>
          </a:p>
          <a:p>
            <a:pPr>
              <a:spcAft>
                <a:spcPts val="600"/>
              </a:spcAft>
              <a:defRPr sz="1800">
                <a:solidFill>
                  <a:srgbClr val="333333"/>
                </a:solidFill>
              </a:defRPr>
            </a:pPr>
            <a:r>
              <a:t>1 battery</a:t>
            </a:r>
          </a:p>
          <a:p>
            <a:pPr>
              <a:spcAft>
                <a:spcPts val="600"/>
              </a:spcAft>
              <a:defRPr sz="1800">
                <a:solidFill>
                  <a:srgbClr val="333333"/>
                </a:solidFill>
              </a:defRPr>
            </a:pPr>
            <a:r>
              <a:t>1 generator</a:t>
            </a:r>
          </a:p>
          <a:p>
            <a:pPr>
              <a:spcAft>
                <a:spcPts val="600"/>
              </a:spcAft>
              <a:defRPr sz="1800">
                <a:solidFill>
                  <a:srgbClr val="333333"/>
                </a:solidFill>
              </a:defRPr>
            </a:pPr>
            <a:r>
              <a:t>1 ignition coil</a:t>
            </a:r>
          </a:p>
          <a:p>
            <a:pPr>
              <a:spcAft>
                <a:spcPts val="600"/>
              </a:spcAft>
              <a:defRPr sz="1800">
                <a:solidFill>
                  <a:srgbClr val="333333"/>
                </a:solidFill>
              </a:defRPr>
            </a:pPr>
            <a:r>
              <a:t>Maybe 10-15 circuits</a:t>
            </a:r>
          </a:p>
          <a:p>
            <a:pPr>
              <a:spcAft>
                <a:spcPts val="600"/>
              </a:spcAft>
              <a:defRPr sz="1800">
                <a:solidFill>
                  <a:srgbClr val="333333"/>
                </a:solidFill>
              </a:defRPr>
            </a:pPr>
            <a:r>
              <a:t>Perhaps 50 meters of wiring</a:t>
            </a:r>
          </a:p>
          <a:p>
            <a:pPr>
              <a:spcAft>
                <a:spcPts val="1000"/>
              </a:spcAft>
              <a:defRPr sz="1800">
                <a:solidFill>
                  <a:srgbClr val="333333"/>
                </a:solidFill>
              </a:defRPr>
            </a:pPr>
            <a:r>
              <a:t>In a modern 2025 car, the electrical system includes:</a:t>
            </a:r>
          </a:p>
          <a:p>
            <a:pPr>
              <a:spcAft>
                <a:spcPts val="600"/>
              </a:spcAft>
              <a:defRPr sz="1800">
                <a:solidFill>
                  <a:srgbClr val="333333"/>
                </a:solidFill>
              </a:defRPr>
            </a:pPr>
            <a:r>
              <a:t>1-2 batteries (some have auxiliary batteries)</a:t>
            </a:r>
          </a:p>
          <a:p>
            <a:pPr>
              <a:spcAft>
                <a:spcPts val="600"/>
              </a:spcAft>
              <a:defRPr sz="1800">
                <a:solidFill>
                  <a:srgbClr val="333333"/>
                </a:solidFill>
              </a:defRPr>
            </a:pPr>
            <a:r>
              <a:t>1 high-output alternator (100-200A capacity)</a:t>
            </a:r>
          </a:p>
          <a:p>
            <a:pPr>
              <a:spcAft>
                <a:spcPts val="600"/>
              </a:spcAft>
              <a:defRPr sz="1800">
                <a:solidFill>
                  <a:srgbClr val="333333"/>
                </a:solidFill>
              </a:defRPr>
            </a:pPr>
            <a:r>
              <a:t>30-100 ECUs (Electronic Control Units)</a:t>
            </a:r>
          </a:p>
          <a:p>
            <a:pPr>
              <a:spcAft>
                <a:spcPts val="600"/>
              </a:spcAft>
              <a:defRPr sz="1800">
                <a:solidFill>
                  <a:srgbClr val="333333"/>
                </a:solidFill>
              </a:defRPr>
            </a:pPr>
            <a:r>
              <a:t>50-150 separate circuits — 3-5 kilometers of wiring harness — 3,000+ electrical connections</a:t>
            </a:r>
          </a:p>
          <a:p>
            <a:pPr>
              <a:spcAft>
                <a:spcPts val="1000"/>
              </a:spcAft>
              <a:defRPr sz="1800">
                <a:solidFill>
                  <a:srgbClr val="333333"/>
                </a:solidFill>
              </a:defRPr>
            </a:pPr>
            <a:r>
              <a:t>Why this explosion in electrical complexity?</a:t>
            </a:r>
          </a:p>
          <a:p>
            <a:pPr>
              <a:spcAft>
                <a:spcPts val="1000"/>
              </a:spcAft>
              <a:defRPr sz="1800">
                <a:solidFill>
                  <a:srgbClr val="333333"/>
                </a:solidFill>
              </a:defRPr>
            </a:pPr>
            <a:r>
              <a:t>Every modern feature requires electrical control:</a:t>
            </a:r>
          </a:p>
          <a:p>
            <a:pPr>
              <a:spcAft>
                <a:spcPts val="600"/>
              </a:spcAft>
              <a:defRPr sz="1800">
                <a:solidFill>
                  <a:srgbClr val="333333"/>
                </a:solidFill>
              </a:defRPr>
            </a:pPr>
            <a:r>
              <a:t>Engine management (fuel injection, ignition timing, emissions)</a:t>
            </a:r>
          </a:p>
          <a:p>
            <a:pPr>
              <a:spcAft>
                <a:spcPts val="600"/>
              </a:spcAft>
              <a:defRPr sz="1800">
                <a:solidFill>
                  <a:srgbClr val="333333"/>
                </a:solidFill>
              </a:defRPr>
            </a:pPr>
            <a:r>
              <a:t>Safety systems (ABS, ESC, airbags—from previous sessions)</a:t>
            </a:r>
          </a:p>
          <a:p>
            <a:pPr>
              <a:spcAft>
                <a:spcPts val="600"/>
              </a:spcAft>
              <a:defRPr sz="1800">
                <a:solidFill>
                  <a:srgbClr val="333333"/>
                </a:solidFill>
              </a:defRPr>
            </a:pPr>
            <a:r>
              <a:t>Chassis systems (EPAS, adaptive suspension—from Session 11-12)</a:t>
            </a:r>
          </a:p>
          <a:p>
            <a:pPr>
              <a:spcAft>
                <a:spcPts val="600"/>
              </a:spcAft>
              <a:defRPr sz="1800">
                <a:solidFill>
                  <a:srgbClr val="333333"/>
                </a:solidFill>
              </a:defRPr>
            </a:pPr>
            <a:r>
              <a:t>Comfort (power windows, seats, climate control, infotainment)</a:t>
            </a:r>
          </a:p>
          <a:p>
            <a:pPr>
              <a:spcAft>
                <a:spcPts val="600"/>
              </a:spcAft>
              <a:defRPr sz="1800">
                <a:solidFill>
                  <a:srgbClr val="333333"/>
                </a:solidFill>
              </a:defRPr>
            </a:pPr>
            <a:r>
              <a:t>ADAS (cameras, radar, autonomous features—coming in Session 20)</a:t>
            </a:r>
          </a:p>
          <a:p>
            <a:pPr>
              <a:spcAft>
                <a:spcPts val="1000"/>
              </a:spcAft>
              <a:defRPr sz="1800">
                <a:solidFill>
                  <a:srgbClr val="333333"/>
                </a:solidFill>
              </a:defRPr>
            </a:pPr>
            <a:r>
              <a:t>The Foundation:</a:t>
            </a:r>
          </a:p>
          <a:p>
            <a:pPr>
              <a:spcAft>
                <a:spcPts val="1000"/>
              </a:spcAft>
              <a:defRPr sz="1800">
                <a:solidFill>
                  <a:srgbClr val="333333"/>
                </a:solidFill>
              </a:defRPr>
            </a:pPr>
            <a:r>
              <a:t>Before we can understand ECUs and control systems (Session 14), we need to understand:</a:t>
            </a:r>
          </a:p>
          <a:p>
            <a:pPr>
              <a:spcAft>
                <a:spcPts val="600"/>
              </a:spcAft>
              <a:defRPr sz="1800">
                <a:solidFill>
                  <a:srgbClr val="333333"/>
                </a:solidFill>
              </a:defRPr>
            </a:pPr>
            <a:r>
              <a:t>How electrical power is generated (alternator)</a:t>
            </a:r>
          </a:p>
          <a:p>
            <a:pPr>
              <a:spcAft>
                <a:spcPts val="600"/>
              </a:spcAft>
              <a:defRPr sz="1800">
                <a:solidFill>
                  <a:srgbClr val="333333"/>
                </a:solidFill>
              </a:defRPr>
            </a:pPr>
            <a:r>
              <a:t>How it's stored (battery)</a:t>
            </a:r>
          </a:p>
          <a:p>
            <a:pPr>
              <a:spcAft>
                <a:spcPts val="600"/>
              </a:spcAft>
              <a:defRPr sz="1800">
                <a:solidFill>
                  <a:srgbClr val="333333"/>
                </a:solidFill>
              </a:defRPr>
            </a:pPr>
            <a:r>
              <a:t>How it's distributed (wiring harness)</a:t>
            </a:r>
          </a:p>
          <a:p>
            <a:pPr>
              <a:spcAft>
                <a:spcPts val="600"/>
              </a:spcAft>
              <a:defRPr sz="1800">
                <a:solidFill>
                  <a:srgbClr val="333333"/>
                </a:solidFill>
              </a:defRPr>
            </a:pPr>
            <a:r>
              <a:t>How it's protected (fuses, relays)</a:t>
            </a:r>
          </a:p>
          <a:p>
            <a:pPr>
              <a:spcAft>
                <a:spcPts val="1000"/>
              </a:spcAft>
              <a:defRPr sz="1800">
                <a:solidFill>
                  <a:srgbClr val="333333"/>
                </a:solidFill>
              </a:defRPr>
            </a:pPr>
            <a:r>
              <a:t>Let's start at the beginning: the electrical architecture.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12V Electrical Architecture - The Standard</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Most passenger cars use a 12-volt electrical system. But it's not exactly 12 volts—let me explain.</a:t>
            </a:r>
          </a:p>
          <a:p>
            <a:pPr>
              <a:spcAft>
                <a:spcPts val="1000"/>
              </a:spcAft>
              <a:defRPr sz="1800">
                <a:solidFill>
                  <a:srgbClr val="333333"/>
                </a:solidFill>
              </a:defRPr>
            </a:pPr>
            <a:r>
              <a:t>Nominal vs Actual Voltages:</a:t>
            </a:r>
          </a:p>
          <a:p>
            <a:pPr>
              <a:spcAft>
                <a:spcPts val="1000"/>
              </a:spcAft>
              <a:defRPr sz="1800">
                <a:solidFill>
                  <a:srgbClr val="333333"/>
                </a:solidFill>
              </a:defRPr>
            </a:pPr>
            <a:r>
              <a:t>Battery (Engine Off): — Fully charged: 12.6-12.8V (actually 6 cells × 2.1V = 12.6V)</a:t>
            </a:r>
          </a:p>
          <a:p>
            <a:pPr>
              <a:spcAft>
                <a:spcPts val="600"/>
              </a:spcAft>
              <a:defRPr sz="1800">
                <a:solidFill>
                  <a:srgbClr val="333333"/>
                </a:solidFill>
              </a:defRPr>
            </a:pPr>
            <a:r>
              <a:t>50% charged: 12.2V — Discharged (needs charging): 11.8-12.0V</a:t>
            </a:r>
          </a:p>
          <a:p>
            <a:pPr>
              <a:spcAft>
                <a:spcPts val="1000"/>
              </a:spcAft>
              <a:defRPr sz="1800">
                <a:solidFill>
                  <a:srgbClr val="333333"/>
                </a:solidFill>
              </a:defRPr>
            </a:pPr>
            <a:r>
              <a:t>Alternator (Engine Running): — Charging voltage: 13.8-14.4V (regulated)</a:t>
            </a:r>
          </a:p>
          <a:p>
            <a:pPr>
              <a:spcAft>
                <a:spcPts val="600"/>
              </a:spcAft>
              <a:defRPr sz="1800">
                <a:solidFill>
                  <a:srgbClr val="333333"/>
                </a:solidFill>
              </a:defRPr>
            </a:pPr>
            <a:r>
              <a:t>This higher voltage is required to push current into the battery (charging)</a:t>
            </a:r>
          </a:p>
          <a:p>
            <a:pPr>
              <a:spcAft>
                <a:spcPts val="1000"/>
              </a:spcAft>
              <a:defRPr sz="1800">
                <a:solidFill>
                  <a:srgbClr val="333333"/>
                </a:solidFill>
              </a:defRPr>
            </a:pPr>
            <a:r>
              <a:t>System Operating Range: — Normal operation: 12-14.5V — Acceptable range: 9-16V (most electronics tolerate this range)</a:t>
            </a:r>
          </a:p>
          <a:p>
            <a:pPr>
              <a:spcAft>
                <a:spcPts val="600"/>
              </a:spcAft>
              <a:defRPr sz="1800">
                <a:solidFill>
                  <a:srgbClr val="333333"/>
                </a:solidFill>
              </a:defRPr>
            </a:pPr>
            <a:r>
              <a:t>Below 9V: Warning lights, ECU malfunctions</a:t>
            </a:r>
          </a:p>
          <a:p>
            <a:pPr>
              <a:spcAft>
                <a:spcPts val="600"/>
              </a:spcAft>
              <a:defRPr sz="1800">
                <a:solidFill>
                  <a:srgbClr val="333333"/>
                </a:solidFill>
              </a:defRPr>
            </a:pPr>
            <a:r>
              <a:t>Above 16V: Damage to electronics (voltage regulator failure)</a:t>
            </a:r>
          </a:p>
          <a:p>
            <a:pPr>
              <a:spcAft>
                <a:spcPts val="1000"/>
              </a:spcAft>
              <a:defRPr sz="1800">
                <a:solidFill>
                  <a:srgbClr val="333333"/>
                </a:solidFill>
              </a:defRPr>
            </a:pPr>
            <a:r>
              <a:t>Why 12V?</a:t>
            </a:r>
          </a:p>
          <a:p>
            <a:pPr>
              <a:spcAft>
                <a:spcPts val="1000"/>
              </a:spcAft>
              <a:defRPr sz="1800">
                <a:solidFill>
                  <a:srgbClr val="333333"/>
                </a:solidFill>
              </a:defRPr>
            </a:pPr>
            <a:r>
              <a:t>Historical: — 1950s: 6V systems (sufficient for simple ignition and lights)</a:t>
            </a:r>
          </a:p>
          <a:p>
            <a:pPr>
              <a:spcAft>
                <a:spcPts val="600"/>
              </a:spcAft>
              <a:defRPr sz="1800">
                <a:solidFill>
                  <a:srgbClr val="333333"/>
                </a:solidFill>
              </a:defRPr>
            </a:pPr>
            <a:r>
              <a:t>1960s: Shift to 12V (more powerful starters, brighter lights)</a:t>
            </a:r>
          </a:p>
          <a:p>
            <a:pPr>
              <a:spcAft>
                <a:spcPts val="600"/>
              </a:spcAft>
              <a:defRPr sz="1800">
                <a:solidFill>
                  <a:srgbClr val="333333"/>
                </a:solidFill>
              </a:defRPr>
            </a:pPr>
            <a:r>
              <a:t>2020s: Still 12V for most vehicles (legacy compatibility, standard components)</a:t>
            </a:r>
          </a:p>
          <a:p>
            <a:pPr>
              <a:spcAft>
                <a:spcPts val="1000"/>
              </a:spcAft>
              <a:defRPr sz="1800">
                <a:solidFill>
                  <a:srgbClr val="333333"/>
                </a:solidFill>
              </a:defRPr>
            </a:pPr>
            <a:r>
              <a:t>Advantages of 12V:</a:t>
            </a:r>
          </a:p>
          <a:p>
            <a:pPr>
              <a:spcAft>
                <a:spcPts val="1000"/>
              </a:spcAft>
              <a:defRPr sz="1800">
                <a:solidFill>
                  <a:srgbClr val="333333"/>
                </a:solidFill>
              </a:defRPr>
            </a:pPr>
            <a:r>
              <a:t>✅ Safe voltage (minimal shock hazard)</a:t>
            </a:r>
          </a:p>
          <a:p>
            <a:pPr>
              <a:spcAft>
                <a:spcPts val="1000"/>
              </a:spcAft>
              <a:defRPr sz="1800">
                <a:solidFill>
                  <a:srgbClr val="333333"/>
                </a:solidFill>
              </a:defRPr>
            </a:pPr>
            <a:r>
              <a:t>✅ Mature technology (cheap, reliable components)</a:t>
            </a:r>
          </a:p>
          <a:p>
            <a:pPr>
              <a:spcAft>
                <a:spcPts val="1000"/>
              </a:spcAft>
              <a:defRPr sz="1800">
                <a:solidFill>
                  <a:srgbClr val="333333"/>
                </a:solidFill>
              </a:defRPr>
            </a:pPr>
            <a:r>
              <a:t>✅ Standardized worldwide</a:t>
            </a:r>
          </a:p>
          <a:p>
            <a:pPr>
              <a:spcAft>
                <a:spcPts val="1000"/>
              </a:spcAft>
              <a:defRPr sz="1800">
                <a:solidFill>
                  <a:srgbClr val="333333"/>
                </a:solidFill>
              </a:defRPr>
            </a:pPr>
            <a:r>
              <a:t>✅ Sufficient for most automotive loads (up to 150-200A @ 12V = 1,800-2,400W)</a:t>
            </a:r>
          </a:p>
          <a:p>
            <a:pPr>
              <a:spcAft>
                <a:spcPts val="1000"/>
              </a:spcAft>
              <a:defRPr sz="1800">
                <a:solidFill>
                  <a:srgbClr val="333333"/>
                </a:solidFill>
              </a:defRPr>
            </a:pPr>
            <a:r>
              <a:t>Limitations:</a:t>
            </a:r>
          </a:p>
          <a:p>
            <a:pPr>
              <a:spcAft>
                <a:spcPts val="1000"/>
              </a:spcAft>
              <a:defRPr sz="1800">
                <a:solidFill>
                  <a:srgbClr val="333333"/>
                </a:solidFill>
              </a:defRPr>
            </a:pPr>
            <a:r>
              <a:t>❌ High current required for high power (P = V × I → low V = high I)</a:t>
            </a:r>
          </a:p>
          <a:p>
            <a:pPr>
              <a:spcAft>
                <a:spcPts val="1000"/>
              </a:spcAft>
              <a:defRPr sz="1800">
                <a:solidFill>
                  <a:srgbClr val="333333"/>
                </a:solidFill>
              </a:defRPr>
            </a:pPr>
            <a:r>
              <a:t>❌ High current = thick cables (heavy, expensive)</a:t>
            </a:r>
          </a:p>
          <a:p>
            <a:pPr>
              <a:spcAft>
                <a:spcPts val="1000"/>
              </a:spcAft>
              <a:defRPr sz="1800">
                <a:solidFill>
                  <a:srgbClr val="333333"/>
                </a:solidFill>
              </a:defRPr>
            </a:pPr>
            <a:r>
              <a:t>❌ Resistive losses in wiring (I²R losses increase with high current)</a:t>
            </a:r>
          </a:p>
          <a:p>
            <a:pPr>
              <a:spcAft>
                <a:spcPts val="1000"/>
              </a:spcAft>
              <a:defRPr sz="1800">
                <a:solidFill>
                  <a:srgbClr val="333333"/>
                </a:solidFill>
              </a:defRPr>
            </a:pPr>
            <a:r>
              <a:t>Instructor Narration (continued):</a:t>
            </a:r>
          </a:p>
          <a:p>
            <a:pPr>
              <a:spcAft>
                <a:spcPts val="1000"/>
              </a:spcAft>
              <a:defRPr sz="1800">
                <a:solidFill>
                  <a:srgbClr val="333333"/>
                </a:solidFill>
              </a:defRPr>
            </a:pPr>
            <a:r>
              <a:t>When you turn on your headlights (100W), at 12V that's 100W / 12V = 8.3A of current. When you crank the starter motor (2,000W), that's 2,000W / 12V = 167A! That's why your battery cables are so thick—they need to handle massive current.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24V and 48V Systems - Alternatives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While 12V dominates passenger cars, other voltages are used in specific applications.</a:t>
            </a:r>
          </a:p>
          <a:p>
            <a:pPr>
              <a:spcAft>
                <a:spcPts val="1000"/>
              </a:spcAft>
              <a:defRPr sz="1800">
                <a:solidFill>
                  <a:srgbClr val="333333"/>
                </a:solidFill>
              </a:defRPr>
            </a:pPr>
            <a:r>
              <a:t>24-VOLT SYSTEMS:</a:t>
            </a:r>
          </a:p>
          <a:p>
            <a:pPr>
              <a:spcAft>
                <a:spcPts val="1000"/>
              </a:spcAft>
              <a:defRPr sz="1800">
                <a:solidFill>
                  <a:srgbClr val="333333"/>
                </a:solidFill>
              </a:defRPr>
            </a:pPr>
            <a:r>
              <a:t>Used In: — Heavy-duty trucks (commercial vehicles, buses)</a:t>
            </a:r>
          </a:p>
          <a:p>
            <a:pPr>
              <a:spcAft>
                <a:spcPts val="600"/>
              </a:spcAft>
              <a:defRPr sz="1800">
                <a:solidFill>
                  <a:srgbClr val="333333"/>
                </a:solidFill>
              </a:defRPr>
            </a:pPr>
            <a:r>
              <a:t>Military vehicles</a:t>
            </a:r>
          </a:p>
          <a:p>
            <a:pPr>
              <a:spcAft>
                <a:spcPts val="600"/>
              </a:spcAft>
              <a:defRPr sz="1800">
                <a:solidFill>
                  <a:srgbClr val="333333"/>
                </a:solidFill>
              </a:defRPr>
            </a:pPr>
            <a:r>
              <a:t>Marine applications</a:t>
            </a:r>
          </a:p>
          <a:p>
            <a:pPr>
              <a:spcAft>
                <a:spcPts val="600"/>
              </a:spcAft>
              <a:defRPr sz="1800">
                <a:solidFill>
                  <a:srgbClr val="333333"/>
                </a:solidFill>
              </a:defRPr>
            </a:pPr>
            <a:r>
              <a:t>Some luxury vehicles (dual-battery setup for auxiliary systems)</a:t>
            </a:r>
          </a:p>
          <a:p>
            <a:pPr>
              <a:spcAft>
                <a:spcPts val="1000"/>
              </a:spcAft>
              <a:defRPr sz="1800">
                <a:solidFill>
                  <a:srgbClr val="333333"/>
                </a:solidFill>
              </a:defRPr>
            </a:pPr>
            <a:r>
              <a:t>Why 24V for Trucks?</a:t>
            </a:r>
          </a:p>
          <a:p>
            <a:pPr>
              <a:spcAft>
                <a:spcPts val="1000"/>
              </a:spcAft>
              <a:defRPr sz="1800">
                <a:solidFill>
                  <a:srgbClr val="333333"/>
                </a:solidFill>
              </a:defRPr>
            </a:pPr>
            <a:r>
              <a:t>Advantage 1: Lower Current — Same power, half the current: P = V × I</a:t>
            </a:r>
          </a:p>
          <a:p>
            <a:pPr>
              <a:spcAft>
                <a:spcPts val="600"/>
              </a:spcAft>
              <a:defRPr sz="1800">
                <a:solidFill>
                  <a:srgbClr val="333333"/>
                </a:solidFill>
              </a:defRPr>
            </a:pPr>
            <a:r>
              <a:t>Example: 2,000W starter</a:t>
            </a:r>
          </a:p>
          <a:p>
            <a:pPr>
              <a:spcAft>
                <a:spcPts val="600"/>
              </a:spcAft>
              <a:defRPr sz="1800">
                <a:solidFill>
                  <a:srgbClr val="333333"/>
                </a:solidFill>
              </a:defRPr>
            </a:pPr>
            <a:r>
              <a:t>At 12V: 167A (requires very thick cables)</a:t>
            </a:r>
          </a:p>
          <a:p>
            <a:pPr>
              <a:spcAft>
                <a:spcPts val="600"/>
              </a:spcAft>
              <a:defRPr sz="1800">
                <a:solidFill>
                  <a:srgbClr val="333333"/>
                </a:solidFill>
              </a:defRPr>
            </a:pPr>
            <a:r>
              <a:t>At 24V: 83A (thinner cables acceptable)</a:t>
            </a:r>
          </a:p>
          <a:p>
            <a:pPr>
              <a:spcAft>
                <a:spcPts val="600"/>
              </a:spcAft>
              <a:defRPr sz="1800">
                <a:solidFill>
                  <a:srgbClr val="333333"/>
                </a:solidFill>
              </a:defRPr>
            </a:pPr>
            <a:r>
              <a:t>Result: Lighter, cheaper wiring harness for large vehicles</a:t>
            </a:r>
          </a:p>
          <a:p>
            <a:pPr>
              <a:spcAft>
                <a:spcPts val="1000"/>
              </a:spcAft>
              <a:defRPr sz="1800">
                <a:solidFill>
                  <a:srgbClr val="333333"/>
                </a:solidFill>
              </a:defRPr>
            </a:pPr>
            <a:r>
              <a:t>Advantage 2: Longer Cable Runs — Trucks have long chassis (5-10 meters from battery to rear)</a:t>
            </a:r>
          </a:p>
          <a:p>
            <a:pPr>
              <a:spcAft>
                <a:spcPts val="600"/>
              </a:spcAft>
              <a:defRPr sz="1800">
                <a:solidFill>
                  <a:srgbClr val="333333"/>
                </a:solidFill>
              </a:defRPr>
            </a:pPr>
            <a:r>
              <a:t>Voltage drop: V_drop = I × R × L</a:t>
            </a:r>
          </a:p>
          <a:p>
            <a:pPr>
              <a:spcAft>
                <a:spcPts val="600"/>
              </a:spcAft>
              <a:defRPr sz="1800">
                <a:solidFill>
                  <a:srgbClr val="333333"/>
                </a:solidFill>
              </a:defRPr>
            </a:pPr>
            <a:r>
              <a:t>Higher voltage = lower current = less voltage drop</a:t>
            </a:r>
          </a:p>
          <a:p>
            <a:pPr>
              <a:spcAft>
                <a:spcPts val="600"/>
              </a:spcAft>
              <a:defRPr sz="1800">
                <a:solidFill>
                  <a:srgbClr val="333333"/>
                </a:solidFill>
              </a:defRPr>
            </a:pPr>
            <a:r>
              <a:t>Can use longer cables without excessive losses</a:t>
            </a:r>
          </a:p>
          <a:p>
            <a:pPr>
              <a:spcAft>
                <a:spcPts val="1000"/>
              </a:spcAft>
              <a:defRPr sz="1800">
                <a:solidFill>
                  <a:srgbClr val="333333"/>
                </a:solidFill>
              </a:defRPr>
            </a:pPr>
            <a:r>
              <a:t>Configuration: — Two 12V batteries in series (positive of one → negative of other)</a:t>
            </a:r>
          </a:p>
          <a:p>
            <a:pPr>
              <a:spcAft>
                <a:spcPts val="600"/>
              </a:spcAft>
              <a:defRPr sz="1800">
                <a:solidFill>
                  <a:srgbClr val="333333"/>
                </a:solidFill>
              </a:defRPr>
            </a:pPr>
            <a:r>
              <a:t>Total voltage: 12V + 12V = 24V</a:t>
            </a:r>
          </a:p>
          <a:p>
            <a:pPr>
              <a:spcAft>
                <a:spcPts val="600"/>
              </a:spcAft>
              <a:defRPr sz="1800">
                <a:solidFill>
                  <a:srgbClr val="333333"/>
                </a:solidFill>
              </a:defRPr>
            </a:pPr>
            <a:r>
              <a:t>Still have 12V available (tap between batteries for 12V loads)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48-VOLT MILD HYBRID SYSTEMS:</a:t>
            </a:r>
          </a:p>
          <a:p>
            <a:pPr>
              <a:spcAft>
                <a:spcPts val="1000"/>
              </a:spcAft>
              <a:defRPr sz="1800">
                <a:solidFill>
                  <a:srgbClr val="333333"/>
                </a:solidFill>
              </a:defRPr>
            </a:pPr>
            <a:r>
              <a:t>Emerging Technology (2020s onward)</a:t>
            </a:r>
          </a:p>
          <a:p>
            <a:pPr>
              <a:spcAft>
                <a:spcPts val="1000"/>
              </a:spcAft>
              <a:defRPr sz="1800">
                <a:solidFill>
                  <a:srgbClr val="333333"/>
                </a:solidFill>
              </a:defRPr>
            </a:pPr>
            <a:r>
              <a:t>Used In: — Mild hybrid vehicles (Mercedes, Audi, BMW)</a:t>
            </a:r>
          </a:p>
          <a:p>
            <a:pPr>
              <a:spcAft>
                <a:spcPts val="600"/>
              </a:spcAft>
              <a:defRPr sz="1800">
                <a:solidFill>
                  <a:srgbClr val="333333"/>
                </a:solidFill>
              </a:defRPr>
            </a:pPr>
            <a:r>
              <a:t>Future electric accessory systems</a:t>
            </a:r>
          </a:p>
          <a:p>
            <a:pPr>
              <a:spcAft>
                <a:spcPts val="600"/>
              </a:spcAft>
              <a:defRPr sz="1800">
                <a:solidFill>
                  <a:srgbClr val="333333"/>
                </a:solidFill>
              </a:defRPr>
            </a:pPr>
            <a:r>
              <a:t>High-power HVAC compressors</a:t>
            </a:r>
          </a:p>
          <a:p>
            <a:pPr>
              <a:spcAft>
                <a:spcPts val="600"/>
              </a:spcAft>
              <a:defRPr sz="1800">
                <a:solidFill>
                  <a:srgbClr val="333333"/>
                </a:solidFill>
              </a:defRPr>
            </a:pPr>
            <a:r>
              <a:t>Electric turbochargers</a:t>
            </a:r>
          </a:p>
          <a:p>
            <a:pPr>
              <a:spcAft>
                <a:spcPts val="1000"/>
              </a:spcAft>
              <a:defRPr sz="1800">
                <a:solidFill>
                  <a:srgbClr val="333333"/>
                </a:solidFill>
              </a:defRPr>
            </a:pPr>
            <a:r>
              <a:t>Why 48V?</a:t>
            </a:r>
          </a:p>
          <a:p>
            <a:pPr>
              <a:spcAft>
                <a:spcPts val="1000"/>
              </a:spcAft>
              <a:defRPr sz="1800">
                <a:solidFill>
                  <a:srgbClr val="333333"/>
                </a:solidFill>
              </a:defRPr>
            </a:pPr>
            <a:r>
              <a:t>Technical: — 48V is below the 60V safety threshold (no special high-voltage protection required)</a:t>
            </a:r>
          </a:p>
          <a:p>
            <a:pPr>
              <a:spcAft>
                <a:spcPts val="600"/>
              </a:spcAft>
              <a:defRPr sz="1800">
                <a:solidFill>
                  <a:srgbClr val="333333"/>
                </a:solidFill>
              </a:defRPr>
            </a:pPr>
            <a:r>
              <a:t>Can deliver 3-4× more power than 12V with same current</a:t>
            </a:r>
          </a:p>
          <a:p>
            <a:pPr>
              <a:spcAft>
                <a:spcPts val="600"/>
              </a:spcAft>
              <a:defRPr sz="1800">
                <a:solidFill>
                  <a:srgbClr val="333333"/>
                </a:solidFill>
              </a:defRPr>
            </a:pPr>
            <a:r>
              <a:t>Enables electric accessories (A/C compressor, water pump) without engine running</a:t>
            </a:r>
          </a:p>
          <a:p>
            <a:pPr>
              <a:spcAft>
                <a:spcPts val="1000"/>
              </a:spcAft>
              <a:defRPr sz="1800">
                <a:solidFill>
                  <a:srgbClr val="333333"/>
                </a:solidFill>
              </a:defRPr>
            </a:pPr>
            <a:r>
              <a:t>Configuration: — 48V battery or supercapacitor</a:t>
            </a:r>
          </a:p>
          <a:p>
            <a:pPr>
              <a:spcAft>
                <a:spcPts val="600"/>
              </a:spcAft>
              <a:defRPr sz="1800">
                <a:solidFill>
                  <a:srgbClr val="333333"/>
                </a:solidFill>
              </a:defRPr>
            </a:pPr>
            <a:r>
              <a:t>DC-DC converter to step down to 12V for conventional systems</a:t>
            </a:r>
          </a:p>
          <a:p>
            <a:pPr>
              <a:spcAft>
                <a:spcPts val="600"/>
              </a:spcAft>
              <a:defRPr sz="1800">
                <a:solidFill>
                  <a:srgbClr val="333333"/>
                </a:solidFill>
              </a:defRPr>
            </a:pPr>
            <a:r>
              <a:t>Both systems coexist (12V + 48V dual architecture)</a:t>
            </a:r>
          </a:p>
          <a:p>
            <a:pPr>
              <a:spcAft>
                <a:spcPts val="1000"/>
              </a:spcAft>
              <a:defRPr sz="1800">
                <a:solidFill>
                  <a:srgbClr val="333333"/>
                </a:solidFill>
              </a:defRPr>
            </a:pPr>
            <a:r>
              <a:t>Applications: — Electric supercharger: 5-10 kW (impossible at 12V—would require 400-800A!)</a:t>
            </a:r>
          </a:p>
          <a:p>
            <a:pPr>
              <a:spcAft>
                <a:spcPts val="600"/>
              </a:spcAft>
              <a:defRPr sz="1800">
                <a:solidFill>
                  <a:srgbClr val="333333"/>
                </a:solidFill>
              </a:defRPr>
            </a:pPr>
            <a:r>
              <a:t>Starter-generator: 10-15 kW (smooth stop-start, regenerative braking)</a:t>
            </a:r>
          </a:p>
          <a:p>
            <a:pPr>
              <a:spcAft>
                <a:spcPts val="600"/>
              </a:spcAft>
              <a:defRPr sz="1800">
                <a:solidFill>
                  <a:srgbClr val="333333"/>
                </a:solidFill>
              </a:defRPr>
            </a:pPr>
            <a:r>
              <a:t>Electric A/C compressor: 2-4 kW (cabin cooling while engine off)</a:t>
            </a:r>
          </a:p>
          <a:p>
            <a:pPr>
              <a:spcAft>
                <a:spcPts val="1000"/>
              </a:spcAft>
              <a:defRPr sz="1800">
                <a:solidFill>
                  <a:srgbClr val="333333"/>
                </a:solidFill>
              </a:defRPr>
            </a:pPr>
            <a:r>
              <a:t>Instructor Narration (continued):</a:t>
            </a:r>
          </a:p>
          <a:p>
            <a:pPr>
              <a:spcAft>
                <a:spcPts val="1000"/>
              </a:spcAft>
              <a:defRPr sz="1800">
                <a:solidFill>
                  <a:srgbClr val="333333"/>
                </a:solidFill>
              </a:defRPr>
            </a:pPr>
            <a:r>
              <a:t>Think of 48V as the bridge between traditional 12V and full hybrid/EV high-voltage systems (300-800V). It unlocks powerful electric accessories without the complexity and cost of full high-voltage systems. We'll see more 48V systems in the next 5-10 years.</a:t>
            </a:r>
          </a:p>
          <a:p>
            <a:pPr>
              <a:spcAft>
                <a:spcPts val="1000"/>
              </a:spcAft>
              <a:defRPr sz="1800">
                <a:solidFill>
                  <a:srgbClr val="333333"/>
                </a:solidFill>
              </a:defRPr>
            </a:pPr>
            <a:r>
              <a:t>COMPARISON TABLE:</a:t>
            </a:r>
          </a:p>
          <a:p>
            <a:pPr>
              <a:spcAft>
                <a:spcPts val="1000"/>
              </a:spcAft>
              <a:defRPr sz="1800">
                <a:solidFill>
                  <a:srgbClr val="333333"/>
                </a:solidFill>
              </a:defRPr>
            </a:pPr>
            <a:r>
              <a:t>| System | Voltage Range | Max Power | Applications | Current for 2kW Load |</a:t>
            </a:r>
          </a:p>
          <a:p>
            <a:pPr>
              <a:spcAft>
                <a:spcPts val="1000"/>
              </a:spcAft>
              <a:defRPr sz="1800">
                <a:solidFill>
                  <a:srgbClr val="333333"/>
                </a:solidFill>
              </a:defRPr>
            </a:pPr>
            <a:r>
              <a:t>|--------|---------------|-----------|--------------|---------------------|</a:t>
            </a:r>
          </a:p>
          <a:p>
            <a:pPr>
              <a:spcAft>
                <a:spcPts val="1000"/>
              </a:spcAft>
              <a:defRPr sz="1800">
                <a:solidFill>
                  <a:srgbClr val="333333"/>
                </a:solidFill>
              </a:defRPr>
            </a:pPr>
            <a:r>
              <a:t>| 12V | 12-14.4V | ~2.5 kW | Most passenger cars | 167A |</a:t>
            </a:r>
          </a:p>
          <a:p>
            <a:pPr>
              <a:spcAft>
                <a:spcPts val="1000"/>
              </a:spcAft>
              <a:defRPr sz="1800">
                <a:solidFill>
                  <a:srgbClr val="333333"/>
                </a:solidFill>
              </a:defRPr>
            </a:pPr>
            <a:r>
              <a:t>| 24V | 24-28.8V | ~5 kW | Heavy trucks, commercial | 83A |</a:t>
            </a:r>
          </a:p>
          <a:p>
            <a:pPr>
              <a:spcAft>
                <a:spcPts val="1000"/>
              </a:spcAft>
              <a:defRPr sz="1800">
                <a:solidFill>
                  <a:srgbClr val="333333"/>
                </a:solidFill>
              </a:defRPr>
            </a:pPr>
            <a:r>
              <a:t>| 48V | 48-54V | ~10 kW | Mild hybrids, future cars | 42A |</a:t>
            </a:r>
          </a:p>
          <a:p>
            <a:pPr>
              <a:spcAft>
                <a:spcPts val="1000"/>
              </a:spcAft>
              <a:defRPr sz="1800">
                <a:solidFill>
                  <a:srgbClr val="333333"/>
                </a:solidFill>
              </a:defRPr>
            </a:pPr>
            <a:r>
              <a:t>| 300-800V | Variable | 50-300 kW | Full hybrids, EVs | 6A @ 330V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Electrical Fundamentals Review - Ohm's Law</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Before we dive into components, let's refresh the fundamental electrical relationships. You learned this in physics, but let's see it through an automotive lens.</a:t>
            </a:r>
          </a:p>
          <a:p>
            <a:pPr>
              <a:spcAft>
                <a:spcPts val="1000"/>
              </a:spcAft>
              <a:defRPr sz="1800">
                <a:solidFill>
                  <a:srgbClr val="333333"/>
                </a:solidFill>
              </a:defRPr>
            </a:pPr>
            <a:r>
              <a:t>OHM'S LAW:</a:t>
            </a:r>
          </a:p>
          <a:p>
            <a:pPr>
              <a:defRPr sz="1400">
                <a:solidFill>
                  <a:srgbClr val="787878"/>
                </a:solidFill>
                <a:latin typeface="Consolas"/>
              </a:defRPr>
            </a:pPr>
            <a:r>
              <a:t>V = I × R</a:t>
            </a:r>
            <a:br/>
            <a:br/>
            <a:r>
              <a:t>Where:</a:t>
            </a:r>
            <a:br/>
            <a:r>
              <a:t>V = Voltage (Volts, V)</a:t>
            </a:r>
            <a:br/>
            <a:r>
              <a:t>I = Current (Amperes, A)</a:t>
            </a:r>
            <a:br/>
            <a:r>
              <a:t>R = Resistance (Ohms, Ω)</a:t>
            </a:r>
          </a:p>
          <a:p>
            <a:pPr>
              <a:spcAft>
                <a:spcPts val="1000"/>
              </a:spcAft>
              <a:defRPr sz="1800">
                <a:solidFill>
                  <a:srgbClr val="333333"/>
                </a:solidFill>
              </a:defRPr>
            </a:pPr>
            <a:r>
              <a:t>Rearranged:</a:t>
            </a:r>
          </a:p>
          <a:p>
            <a:pPr>
              <a:defRPr sz="1400">
                <a:solidFill>
                  <a:srgbClr val="787878"/>
                </a:solidFill>
                <a:latin typeface="Consolas"/>
              </a:defRPr>
            </a:pPr>
            <a:r>
              <a:t>I = V / R  (Current is voltage divided by resistance)</a:t>
            </a:r>
            <a:br/>
            <a:r>
              <a:t>R = V / I  (Resistance is voltage divided by current)</a:t>
            </a:r>
          </a:p>
          <a:p>
            <a:pPr>
              <a:spcAft>
                <a:spcPts val="1000"/>
              </a:spcAft>
              <a:defRPr sz="1800">
                <a:solidFill>
                  <a:srgbClr val="333333"/>
                </a:solidFill>
              </a:defRPr>
            </a:pPr>
            <a:r>
              <a:t>POWER:</a:t>
            </a:r>
          </a:p>
          <a:p>
            <a:pPr>
              <a:defRPr sz="1400">
                <a:solidFill>
                  <a:srgbClr val="787878"/>
                </a:solidFill>
                <a:latin typeface="Consolas"/>
              </a:defRPr>
            </a:pPr>
            <a:r>
              <a:t>P = V × I  (Power is voltage times current, Watts)</a:t>
            </a:r>
            <a:br/>
            <a:br/>
            <a:r>
              <a:t>Also:</a:t>
            </a:r>
            <a:br/>
            <a:r>
              <a:t>P = I² × R  (Power dissipated in resistance)</a:t>
            </a:r>
            <a:br/>
            <a:r>
              <a:t>P = V² / R  (Alternative form)</a:t>
            </a:r>
          </a:p>
          <a:p>
            <a:pPr>
              <a:spcAft>
                <a:spcPts val="1000"/>
              </a:spcAft>
              <a:defRPr sz="1800">
                <a:solidFill>
                  <a:srgbClr val="333333"/>
                </a:solidFill>
              </a:defRPr>
            </a:pPr>
            <a:r>
              <a:t>Automotive Example 1: Headlight</a:t>
            </a:r>
          </a:p>
          <a:p>
            <a:pPr>
              <a:spcAft>
                <a:spcPts val="1000"/>
              </a:spcAft>
              <a:defRPr sz="1800">
                <a:solidFill>
                  <a:srgbClr val="333333"/>
                </a:solidFill>
              </a:defRPr>
            </a:pPr>
            <a:r>
              <a:t>Given: — Voltage: V = 12V</a:t>
            </a:r>
          </a:p>
          <a:p>
            <a:pPr>
              <a:spcAft>
                <a:spcPts val="600"/>
              </a:spcAft>
              <a:defRPr sz="1800">
                <a:solidFill>
                  <a:srgbClr val="333333"/>
                </a:solidFill>
              </a:defRPr>
            </a:pPr>
            <a:r>
              <a:t>Power rating: P = 55W (halogen headlight bulb)</a:t>
            </a:r>
          </a:p>
          <a:p>
            <a:pPr>
              <a:spcAft>
                <a:spcPts val="1000"/>
              </a:spcAft>
              <a:defRPr sz="1800">
                <a:solidFill>
                  <a:srgbClr val="333333"/>
                </a:solidFill>
              </a:defRPr>
            </a:pPr>
            <a:r>
              <a:t>Calculate current:</a:t>
            </a:r>
          </a:p>
          <a:p>
            <a:pPr>
              <a:defRPr sz="1400">
                <a:solidFill>
                  <a:srgbClr val="787878"/>
                </a:solidFill>
                <a:latin typeface="Consolas"/>
              </a:defRPr>
            </a:pPr>
            <a:r>
              <a:t>I = P / V = 55W / 12V = 4.58A</a:t>
            </a:r>
          </a:p>
          <a:p>
            <a:pPr>
              <a:spcAft>
                <a:spcPts val="1000"/>
              </a:spcAft>
              <a:defRPr sz="1800">
                <a:solidFill>
                  <a:srgbClr val="333333"/>
                </a:solidFill>
              </a:defRPr>
            </a:pPr>
            <a:r>
              <a:t>Calculate filament resistance (when hot):</a:t>
            </a:r>
          </a:p>
          <a:p>
            <a:pPr>
              <a:defRPr sz="1400">
                <a:solidFill>
                  <a:srgbClr val="787878"/>
                </a:solidFill>
                <a:latin typeface="Consolas"/>
              </a:defRPr>
            </a:pPr>
            <a:r>
              <a:t>R = V / I = 12V / 4.58A = 2.62Ω</a:t>
            </a:r>
          </a:p>
          <a:p>
            <a:pPr>
              <a:spcAft>
                <a:spcPts val="1000"/>
              </a:spcAft>
              <a:defRPr sz="1800">
                <a:solidFill>
                  <a:srgbClr val="333333"/>
                </a:solidFill>
              </a:defRPr>
            </a:pPr>
            <a:r>
              <a:t>Key Insight: This is a 4.6A load. If you have two headlights, that's 9.2A total just for lights.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Automotive Example 2: Starter Motor</a:t>
            </a:r>
          </a:p>
          <a:p>
            <a:pPr>
              <a:spcAft>
                <a:spcPts val="1000"/>
              </a:spcAft>
              <a:defRPr sz="1800">
                <a:solidFill>
                  <a:srgbClr val="333333"/>
                </a:solidFill>
              </a:defRPr>
            </a:pPr>
            <a:r>
              <a:t>Given: — Voltage: V = 12V</a:t>
            </a:r>
          </a:p>
          <a:p>
            <a:pPr>
              <a:spcAft>
                <a:spcPts val="600"/>
              </a:spcAft>
              <a:defRPr sz="1800">
                <a:solidFill>
                  <a:srgbClr val="333333"/>
                </a:solidFill>
              </a:defRPr>
            </a:pPr>
            <a:r>
              <a:t>Power: P = 2,000W (cranking power)</a:t>
            </a:r>
          </a:p>
          <a:p>
            <a:pPr>
              <a:spcAft>
                <a:spcPts val="1000"/>
              </a:spcAft>
              <a:defRPr sz="1800">
                <a:solidFill>
                  <a:srgbClr val="333333"/>
                </a:solidFill>
              </a:defRPr>
            </a:pPr>
            <a:r>
              <a:t>Calculate current:</a:t>
            </a:r>
          </a:p>
          <a:p>
            <a:pPr>
              <a:defRPr sz="1400">
                <a:solidFill>
                  <a:srgbClr val="787878"/>
                </a:solidFill>
                <a:latin typeface="Consolas"/>
              </a:defRPr>
            </a:pPr>
            <a:r>
              <a:t>I = P / V = 2,000W / 12V = 167A</a:t>
            </a:r>
          </a:p>
          <a:p>
            <a:pPr>
              <a:spcAft>
                <a:spcPts val="1000"/>
              </a:spcAft>
              <a:defRPr sz="1800">
                <a:solidFill>
                  <a:srgbClr val="333333"/>
                </a:solidFill>
              </a:defRPr>
            </a:pPr>
            <a:r>
              <a:t>This is why: — Battery cables are thick (low resistance to handle 167A)</a:t>
            </a:r>
          </a:p>
          <a:p>
            <a:pPr>
              <a:spcAft>
                <a:spcPts val="600"/>
              </a:spcAft>
              <a:defRPr sz="1800">
                <a:solidFill>
                  <a:srgbClr val="333333"/>
                </a:solidFill>
              </a:defRPr>
            </a:pPr>
            <a:r>
              <a:t>Connections must be clean (corrosion adds resistance → voltage drop)</a:t>
            </a:r>
          </a:p>
          <a:p>
            <a:pPr>
              <a:spcAft>
                <a:spcPts val="600"/>
              </a:spcAft>
              <a:defRPr sz="1800">
                <a:solidFill>
                  <a:srgbClr val="333333"/>
                </a:solidFill>
              </a:defRPr>
            </a:pPr>
            <a:r>
              <a:t>Battery must have high cold cranking amps (CCA) rating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Automotive Example 3: Voltage Drop in Wiring</a:t>
            </a:r>
          </a:p>
          <a:p>
            <a:pPr>
              <a:spcAft>
                <a:spcPts val="1000"/>
              </a:spcAft>
              <a:defRPr sz="1800">
                <a:solidFill>
                  <a:srgbClr val="333333"/>
                </a:solidFill>
              </a:defRPr>
            </a:pPr>
            <a:r>
              <a:t>Problem: Long cable run from battery to rear window defroster</a:t>
            </a:r>
          </a:p>
          <a:p>
            <a:pPr>
              <a:spcAft>
                <a:spcPts val="1000"/>
              </a:spcAft>
              <a:defRPr sz="1800">
                <a:solidFill>
                  <a:srgbClr val="333333"/>
                </a:solidFill>
              </a:defRPr>
            </a:pPr>
            <a:r>
              <a:t>Given: — Cable length: L = 5 meters (one-way, so 10m total for positive + ground return)</a:t>
            </a:r>
          </a:p>
          <a:p>
            <a:pPr>
              <a:spcAft>
                <a:spcPts val="600"/>
              </a:spcAft>
              <a:defRPr sz="1800">
                <a:solidFill>
                  <a:srgbClr val="333333"/>
                </a:solidFill>
              </a:defRPr>
            </a:pPr>
            <a:r>
              <a:t>Cable resistance: R_cable = 0.01 Ω/m (typical)</a:t>
            </a:r>
          </a:p>
          <a:p>
            <a:pPr>
              <a:spcAft>
                <a:spcPts val="600"/>
              </a:spcAft>
              <a:defRPr sz="1800">
                <a:solidFill>
                  <a:srgbClr val="333333"/>
                </a:solidFill>
              </a:defRPr>
            </a:pPr>
            <a:r>
              <a:t>Load current: I = 10A (defroster)</a:t>
            </a:r>
          </a:p>
          <a:p>
            <a:pPr>
              <a:spcAft>
                <a:spcPts val="1000"/>
              </a:spcAft>
              <a:defRPr sz="1800">
                <a:solidFill>
                  <a:srgbClr val="333333"/>
                </a:solidFill>
              </a:defRPr>
            </a:pPr>
            <a:r>
              <a:t>Total cable resistance:</a:t>
            </a:r>
          </a:p>
          <a:p>
            <a:pPr>
              <a:defRPr sz="1400">
                <a:solidFill>
                  <a:srgbClr val="787878"/>
                </a:solidFill>
                <a:latin typeface="Consolas"/>
              </a:defRPr>
            </a:pPr>
            <a:r>
              <a:t>R_total = 0.01 Ω/m × 10m = 0.1Ω</a:t>
            </a:r>
          </a:p>
          <a:p>
            <a:pPr>
              <a:spcAft>
                <a:spcPts val="1000"/>
              </a:spcAft>
              <a:defRPr sz="1800">
                <a:solidFill>
                  <a:srgbClr val="333333"/>
                </a:solidFill>
              </a:defRPr>
            </a:pPr>
            <a:r>
              <a:t>Voltage drop in cable:</a:t>
            </a:r>
          </a:p>
          <a:p>
            <a:pPr>
              <a:defRPr sz="1400">
                <a:solidFill>
                  <a:srgbClr val="787878"/>
                </a:solidFill>
                <a:latin typeface="Consolas"/>
              </a:defRPr>
            </a:pPr>
            <a:r>
              <a:t>V_drop = I × R = 10A × 0.1Ω = 1.0V</a:t>
            </a:r>
          </a:p>
          <a:p>
            <a:pPr>
              <a:spcAft>
                <a:spcPts val="1000"/>
              </a:spcAft>
              <a:defRPr sz="1800">
                <a:solidFill>
                  <a:srgbClr val="333333"/>
                </a:solidFill>
              </a:defRPr>
            </a:pPr>
            <a:r>
              <a:t>Voltage at defroster:</a:t>
            </a:r>
          </a:p>
          <a:p>
            <a:pPr>
              <a:defRPr sz="1400">
                <a:solidFill>
                  <a:srgbClr val="787878"/>
                </a:solidFill>
                <a:latin typeface="Consolas"/>
              </a:defRPr>
            </a:pPr>
            <a:r>
              <a:t>V_load = V_battery - V_drop = 12.6V - 1.0V = 11.6V</a:t>
            </a:r>
          </a:p>
          <a:p>
            <a:pPr>
              <a:spcAft>
                <a:spcPts val="1000"/>
              </a:spcAft>
              <a:defRPr sz="1800">
                <a:solidFill>
                  <a:srgbClr val="333333"/>
                </a:solidFill>
              </a:defRPr>
            </a:pPr>
            <a:r>
              <a:t>Power loss in cable (wasted as heat):</a:t>
            </a:r>
          </a:p>
          <a:p>
            <a:pPr>
              <a:defRPr sz="1400">
                <a:solidFill>
                  <a:srgbClr val="787878"/>
                </a:solidFill>
                <a:latin typeface="Consolas"/>
              </a:defRPr>
            </a:pPr>
            <a:r>
              <a:t>P_loss = I² × R = 10² × 0.1 = 10W</a:t>
            </a:r>
          </a:p>
          <a:p>
            <a:pPr>
              <a:spcAft>
                <a:spcPts val="1000"/>
              </a:spcAft>
              <a:defRPr sz="1800">
                <a:solidFill>
                  <a:srgbClr val="333333"/>
                </a:solidFill>
              </a:defRPr>
            </a:pPr>
            <a:r>
              <a:t>Key Insight: 1V drop is significant! This is why proper wire gauge is critical.</a:t>
            </a:r>
          </a:p>
          <a:p>
            <a:pPr>
              <a:spcAft>
                <a:spcPts val="1000"/>
              </a:spcAft>
              <a:defRPr sz="1800">
                <a:solidFill>
                  <a:srgbClr val="333333"/>
                </a:solidFill>
              </a:defRPr>
            </a:pPr>
            <a:r>
              <a:t>Instructor Narration (continued):</a:t>
            </a:r>
          </a:p>
          <a:p>
            <a:pPr>
              <a:spcAft>
                <a:spcPts val="1000"/>
              </a:spcAft>
              <a:defRPr sz="1800">
                <a:solidFill>
                  <a:srgbClr val="333333"/>
                </a:solidFill>
              </a:defRPr>
            </a:pPr>
            <a:r>
              <a:t>These formulas will help you understand why automotive electrical systems are designed the way they are. High current requires thick wires. Long cable runs cause voltage drop. Resistance creates heat. Keep these relationships in mind as we explore each component.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Electrical Load Classification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categorize the electrical loads in a modern vehicle. This helps us understand the alternator sizing and battery requirements.</a:t>
            </a:r>
          </a:p>
          <a:p>
            <a:pPr>
              <a:spcAft>
                <a:spcPts val="1000"/>
              </a:spcAft>
              <a:defRPr sz="1800">
                <a:solidFill>
                  <a:srgbClr val="333333"/>
                </a:solidFill>
              </a:defRPr>
            </a:pPr>
            <a:r>
              <a:t>VERY HIGH POWER (&gt;500W): — Starter motor: 1,500-3,000W (but only for 2-5 seconds)</a:t>
            </a:r>
          </a:p>
          <a:p>
            <a:pPr>
              <a:spcAft>
                <a:spcPts val="600"/>
              </a:spcAft>
              <a:defRPr sz="1800">
                <a:solidFill>
                  <a:srgbClr val="333333"/>
                </a:solidFill>
              </a:defRPr>
            </a:pPr>
            <a:r>
              <a:t>Rear window defroster: 150-300W</a:t>
            </a:r>
          </a:p>
          <a:p>
            <a:pPr>
              <a:spcAft>
                <a:spcPts val="600"/>
              </a:spcAft>
              <a:defRPr sz="1800">
                <a:solidFill>
                  <a:srgbClr val="333333"/>
                </a:solidFill>
              </a:defRPr>
            </a:pPr>
            <a:r>
              <a:t>Radiator cooling fan: 200-500W (electric fan)</a:t>
            </a:r>
          </a:p>
          <a:p>
            <a:pPr>
              <a:spcAft>
                <a:spcPts val="600"/>
              </a:spcAft>
              <a:defRPr sz="1800">
                <a:solidFill>
                  <a:srgbClr val="333333"/>
                </a:solidFill>
              </a:defRPr>
            </a:pPr>
            <a:r>
              <a:t>Heated seats (both): 100-200W</a:t>
            </a:r>
          </a:p>
          <a:p>
            <a:pPr>
              <a:spcAft>
                <a:spcPts val="1000"/>
              </a:spcAft>
              <a:defRPr sz="1800">
                <a:solidFill>
                  <a:srgbClr val="333333"/>
                </a:solidFill>
              </a:defRPr>
            </a:pPr>
            <a:r>
              <a:t>HIGH POWER (100-500W): — Headlights (pair): 110-120W (halogen), 70W (HID), 40W (LED)</a:t>
            </a:r>
          </a:p>
          <a:p>
            <a:pPr>
              <a:spcAft>
                <a:spcPts val="600"/>
              </a:spcAft>
              <a:defRPr sz="1800">
                <a:solidFill>
                  <a:srgbClr val="333333"/>
                </a:solidFill>
              </a:defRPr>
            </a:pPr>
            <a:r>
              <a:t>HVAC blower motor: 100-300W (varies with fan speed)</a:t>
            </a:r>
          </a:p>
          <a:p>
            <a:pPr>
              <a:spcAft>
                <a:spcPts val="600"/>
              </a:spcAft>
              <a:defRPr sz="1800">
                <a:solidFill>
                  <a:srgbClr val="333333"/>
                </a:solidFill>
              </a:defRPr>
            </a:pPr>
            <a:r>
              <a:t>Windshield wipers: 50-100W</a:t>
            </a:r>
          </a:p>
          <a:p>
            <a:pPr>
              <a:spcAft>
                <a:spcPts val="600"/>
              </a:spcAft>
              <a:defRPr sz="1800">
                <a:solidFill>
                  <a:srgbClr val="333333"/>
                </a:solidFill>
              </a:defRPr>
            </a:pPr>
            <a:r>
              <a:t>Heated windshield: 200-400W (if equipped)</a:t>
            </a:r>
          </a:p>
          <a:p>
            <a:pPr>
              <a:spcAft>
                <a:spcPts val="1000"/>
              </a:spcAft>
              <a:defRPr sz="1800">
                <a:solidFill>
                  <a:srgbClr val="333333"/>
                </a:solidFill>
              </a:defRPr>
            </a:pPr>
            <a:r>
              <a:t>MEDIUM POWER (20-100W): — Fuel pump: 50-100W</a:t>
            </a:r>
          </a:p>
          <a:p>
            <a:pPr>
              <a:spcAft>
                <a:spcPts val="600"/>
              </a:spcAft>
              <a:defRPr sz="1800">
                <a:solidFill>
                  <a:srgbClr val="333333"/>
                </a:solidFill>
              </a:defRPr>
            </a:pPr>
            <a:r>
              <a:t>Ignition system: 20-50W</a:t>
            </a:r>
          </a:p>
          <a:p>
            <a:pPr>
              <a:spcAft>
                <a:spcPts val="600"/>
              </a:spcAft>
              <a:defRPr sz="1800">
                <a:solidFill>
                  <a:srgbClr val="333333"/>
                </a:solidFill>
              </a:defRPr>
            </a:pPr>
            <a:r>
              <a:t>Brake lights: 21W × 2 = 42W</a:t>
            </a:r>
          </a:p>
          <a:p>
            <a:pPr>
              <a:spcAft>
                <a:spcPts val="600"/>
              </a:spcAft>
              <a:defRPr sz="1800">
                <a:solidFill>
                  <a:srgbClr val="333333"/>
                </a:solidFill>
              </a:defRPr>
            </a:pPr>
            <a:r>
              <a:t>Audio system: 20-80W (varies widely)</a:t>
            </a:r>
          </a:p>
          <a:p>
            <a:pPr>
              <a:spcAft>
                <a:spcPts val="600"/>
              </a:spcAft>
              <a:defRPr sz="1800">
                <a:solidFill>
                  <a:srgbClr val="333333"/>
                </a:solidFill>
              </a:defRPr>
            </a:pPr>
            <a:r>
              <a:t>Power windows (all): 30-60W (when operating)</a:t>
            </a:r>
          </a:p>
          <a:p>
            <a:pPr>
              <a:spcAft>
                <a:spcPts val="1000"/>
              </a:spcAft>
              <a:defRPr sz="1800">
                <a:solidFill>
                  <a:srgbClr val="333333"/>
                </a:solidFill>
              </a:defRPr>
            </a:pPr>
            <a:r>
              <a:t>LOW POWER (1-20W): — ECUs (all combined): 30-80W total</a:t>
            </a:r>
          </a:p>
          <a:p>
            <a:pPr>
              <a:spcAft>
                <a:spcPts val="600"/>
              </a:spcAft>
              <a:defRPr sz="1800">
                <a:solidFill>
                  <a:srgbClr val="333333"/>
                </a:solidFill>
              </a:defRPr>
            </a:pPr>
            <a:r>
              <a:t>Instrument cluster: 5-15W</a:t>
            </a:r>
          </a:p>
          <a:p>
            <a:pPr>
              <a:spcAft>
                <a:spcPts val="600"/>
              </a:spcAft>
              <a:defRPr sz="1800">
                <a:solidFill>
                  <a:srgbClr val="333333"/>
                </a:solidFill>
              </a:defRPr>
            </a:pPr>
            <a:r>
              <a:t>Interior lights: 10-20W total</a:t>
            </a:r>
          </a:p>
          <a:p>
            <a:pPr>
              <a:spcAft>
                <a:spcPts val="600"/>
              </a:spcAft>
              <a:defRPr sz="1800">
                <a:solidFill>
                  <a:srgbClr val="333333"/>
                </a:solidFill>
              </a:defRPr>
            </a:pPr>
            <a:r>
              <a:t>Side markers, parking lights: 10W total</a:t>
            </a:r>
          </a:p>
          <a:p>
            <a:pPr>
              <a:spcAft>
                <a:spcPts val="1000"/>
              </a:spcAft>
              <a:defRPr sz="1800">
                <a:solidFill>
                  <a:srgbClr val="333333"/>
                </a:solidFill>
              </a:defRPr>
            </a:pPr>
            <a:r>
              <a:t>VERY LOW POWER (&lt;1W): — Individual sensors: 0.1-0.5W each</a:t>
            </a:r>
          </a:p>
          <a:p>
            <a:pPr>
              <a:spcAft>
                <a:spcPts val="600"/>
              </a:spcAft>
              <a:defRPr sz="1800">
                <a:solidFill>
                  <a:srgbClr val="333333"/>
                </a:solidFill>
              </a:defRPr>
            </a:pPr>
            <a:r>
              <a:t>CAN bus communication: 1-2W total</a:t>
            </a:r>
          </a:p>
          <a:p>
            <a:pPr>
              <a:spcAft>
                <a:spcPts val="600"/>
              </a:spcAft>
              <a:defRPr sz="1800">
                <a:solidFill>
                  <a:srgbClr val="333333"/>
                </a:solidFill>
              </a:defRPr>
            </a:pPr>
            <a:r>
              <a:t>Alarm/security system (parked): 0.02-0.05W (20-50mW)</a:t>
            </a:r>
          </a:p>
          <a:p>
            <a:pPr>
              <a:spcAft>
                <a:spcPts val="1000"/>
              </a:spcAft>
              <a:defRPr sz="1800">
                <a:solidFill>
                  <a:srgbClr val="333333"/>
                </a:solidFill>
              </a:defRPr>
            </a:pPr>
            <a:r>
              <a:t>TOTAL ELECTRICAL LOAD:</a:t>
            </a:r>
          </a:p>
          <a:p>
            <a:pPr>
              <a:spcAft>
                <a:spcPts val="1000"/>
              </a:spcAft>
              <a:defRPr sz="1800">
                <a:solidFill>
                  <a:srgbClr val="333333"/>
                </a:solidFill>
              </a:defRPr>
            </a:pPr>
            <a:r>
              <a:t>Typical Scenarios:</a:t>
            </a:r>
          </a:p>
          <a:p>
            <a:pPr>
              <a:spcAft>
                <a:spcPts val="1000"/>
              </a:spcAft>
              <a:defRPr sz="1800">
                <a:solidFill>
                  <a:srgbClr val="333333"/>
                </a:solidFill>
              </a:defRPr>
            </a:pPr>
            <a:r>
              <a:t>Minimum (Engine Idling, No Accessories): — Engine management: 50W</a:t>
            </a:r>
          </a:p>
          <a:p>
            <a:pPr>
              <a:spcAft>
                <a:spcPts val="600"/>
              </a:spcAft>
              <a:defRPr sz="1800">
                <a:solidFill>
                  <a:srgbClr val="333333"/>
                </a:solidFill>
              </a:defRPr>
            </a:pPr>
            <a:r>
              <a:t>Fuel pump: 50W</a:t>
            </a:r>
          </a:p>
          <a:p>
            <a:pPr>
              <a:spcAft>
                <a:spcPts val="600"/>
              </a:spcAft>
              <a:defRPr sz="1800">
                <a:solidFill>
                  <a:srgbClr val="333333"/>
                </a:solidFill>
              </a:defRPr>
            </a:pPr>
            <a:r>
              <a:t>Cooling fan: 0W (off)</a:t>
            </a:r>
          </a:p>
          <a:p>
            <a:pPr>
              <a:spcAft>
                <a:spcPts val="600"/>
              </a:spcAft>
              <a:defRPr sz="1800">
                <a:solidFill>
                  <a:srgbClr val="333333"/>
                </a:solidFill>
              </a:defRPr>
            </a:pPr>
            <a:r>
              <a:t>Lights: 0W (daytime)</a:t>
            </a:r>
          </a:p>
          <a:p>
            <a:pPr>
              <a:spcAft>
                <a:spcPts val="600"/>
              </a:spcAft>
              <a:defRPr sz="1800">
                <a:solidFill>
                  <a:srgbClr val="333333"/>
                </a:solidFill>
              </a:defRPr>
            </a:pPr>
            <a:r>
              <a:t>Total: ~100W (~8A @ 12V)</a:t>
            </a:r>
          </a:p>
          <a:p>
            <a:pPr>
              <a:spcAft>
                <a:spcPts val="1000"/>
              </a:spcAft>
              <a:defRPr sz="1800">
                <a:solidFill>
                  <a:srgbClr val="333333"/>
                </a:solidFill>
              </a:defRPr>
            </a:pPr>
            <a:r>
              <a:t>Normal Driving (Daytime): — Engine/fuel: 100W</a:t>
            </a:r>
          </a:p>
          <a:p>
            <a:pPr>
              <a:spcAft>
                <a:spcPts val="600"/>
              </a:spcAft>
              <a:defRPr sz="1800">
                <a:solidFill>
                  <a:srgbClr val="333333"/>
                </a:solidFill>
              </a:defRPr>
            </a:pPr>
            <a:r>
              <a:t>HVAC blower: 150W</a:t>
            </a:r>
          </a:p>
          <a:p>
            <a:pPr>
              <a:spcAft>
                <a:spcPts val="600"/>
              </a:spcAft>
              <a:defRPr sz="1800">
                <a:solidFill>
                  <a:srgbClr val="333333"/>
                </a:solidFill>
              </a:defRPr>
            </a:pPr>
            <a:r>
              <a:t>Lights (DRL): 20W</a:t>
            </a:r>
          </a:p>
          <a:p>
            <a:pPr>
              <a:spcAft>
                <a:spcPts val="600"/>
              </a:spcAft>
              <a:defRPr sz="1800">
                <a:solidFill>
                  <a:srgbClr val="333333"/>
                </a:solidFill>
              </a:defRPr>
            </a:pPr>
            <a:r>
              <a:t>ECUs/electronics: 50W</a:t>
            </a:r>
          </a:p>
          <a:p>
            <a:pPr>
              <a:spcAft>
                <a:spcPts val="600"/>
              </a:spcAft>
              <a:defRPr sz="1800">
                <a:solidFill>
                  <a:srgbClr val="333333"/>
                </a:solidFill>
              </a:defRPr>
            </a:pPr>
            <a:r>
              <a:t>Total: ~320W (~27A @ 12V)</a:t>
            </a:r>
          </a:p>
          <a:p>
            <a:pPr>
              <a:spcAft>
                <a:spcPts val="1000"/>
              </a:spcAft>
              <a:defRPr sz="1800">
                <a:solidFill>
                  <a:srgbClr val="333333"/>
                </a:solidFill>
              </a:defRPr>
            </a:pPr>
            <a:r>
              <a:t>Maximum Load (Night, Cold, Rain): — Engine/fuel: 100W</a:t>
            </a:r>
          </a:p>
          <a:p>
            <a:pPr>
              <a:spcAft>
                <a:spcPts val="600"/>
              </a:spcAft>
              <a:defRPr sz="1800">
                <a:solidFill>
                  <a:srgbClr val="333333"/>
                </a:solidFill>
              </a:defRPr>
            </a:pPr>
            <a:r>
              <a:t>Headlights: 120W</a:t>
            </a:r>
          </a:p>
          <a:p>
            <a:pPr>
              <a:spcAft>
                <a:spcPts val="600"/>
              </a:spcAft>
              <a:defRPr sz="1800">
                <a:solidFill>
                  <a:srgbClr val="333333"/>
                </a:solidFill>
              </a:defRPr>
            </a:pPr>
            <a:r>
              <a:t>HVAC (max): 300W</a:t>
            </a:r>
          </a:p>
          <a:p>
            <a:pPr>
              <a:spcAft>
                <a:spcPts val="600"/>
              </a:spcAft>
              <a:defRPr sz="1800">
                <a:solidFill>
                  <a:srgbClr val="333333"/>
                </a:solidFill>
              </a:defRPr>
            </a:pPr>
            <a:r>
              <a:t>Rear defroster: 200W</a:t>
            </a:r>
          </a:p>
          <a:p>
            <a:pPr>
              <a:spcAft>
                <a:spcPts val="600"/>
              </a:spcAft>
              <a:defRPr sz="1800">
                <a:solidFill>
                  <a:srgbClr val="333333"/>
                </a:solidFill>
              </a:defRPr>
            </a:pPr>
            <a:r>
              <a:t>Windshield wipers: 100W</a:t>
            </a:r>
          </a:p>
          <a:p>
            <a:pPr>
              <a:spcAft>
                <a:spcPts val="600"/>
              </a:spcAft>
              <a:defRPr sz="1800">
                <a:solidFill>
                  <a:srgbClr val="333333"/>
                </a:solidFill>
              </a:defRPr>
            </a:pPr>
            <a:r>
              <a:t>Heated seats: 150W</a:t>
            </a:r>
          </a:p>
          <a:p>
            <a:pPr>
              <a:spcAft>
                <a:spcPts val="600"/>
              </a:spcAft>
              <a:defRPr sz="1800">
                <a:solidFill>
                  <a:srgbClr val="333333"/>
                </a:solidFill>
              </a:defRPr>
            </a:pPr>
            <a:r>
              <a:t>Radiator fan: 400W</a:t>
            </a:r>
          </a:p>
          <a:p>
            <a:pPr>
              <a:spcAft>
                <a:spcPts val="600"/>
              </a:spcAft>
              <a:defRPr sz="1800">
                <a:solidFill>
                  <a:srgbClr val="333333"/>
                </a:solidFill>
              </a:defRPr>
            </a:pPr>
            <a:r>
              <a:t>Audio/infotainment: 50W</a:t>
            </a:r>
          </a:p>
          <a:p>
            <a:pPr>
              <a:spcAft>
                <a:spcPts val="600"/>
              </a:spcAft>
              <a:defRPr sz="1800">
                <a:solidFill>
                  <a:srgbClr val="333333"/>
                </a:solidFill>
              </a:defRPr>
            </a:pPr>
            <a:r>
              <a:t>All ECUs/electronics: 80W</a:t>
            </a:r>
          </a:p>
          <a:p>
            <a:pPr>
              <a:spcAft>
                <a:spcPts val="600"/>
              </a:spcAft>
              <a:defRPr sz="1800">
                <a:solidFill>
                  <a:srgbClr val="333333"/>
                </a:solidFill>
              </a:defRPr>
            </a:pPr>
            <a:r>
              <a:t>Total: ~1,500W (~125A @ 12V)</a:t>
            </a:r>
          </a:p>
          <a:p>
            <a:pPr>
              <a:spcAft>
                <a:spcPts val="1000"/>
              </a:spcAft>
              <a:defRPr sz="1800">
                <a:solidFill>
                  <a:srgbClr val="333333"/>
                </a:solidFill>
              </a:defRPr>
            </a:pPr>
            <a:r>
              <a:t>Peak Load (Starting Engine): — Starter motor: 2,000W (167A)</a:t>
            </a:r>
          </a:p>
          <a:p>
            <a:pPr>
              <a:spcAft>
                <a:spcPts val="600"/>
              </a:spcAft>
              <a:defRPr sz="1800">
                <a:solidFill>
                  <a:srgbClr val="333333"/>
                </a:solidFill>
              </a:defRPr>
            </a:pPr>
            <a:r>
              <a:t>Plus all other loads: 200W (17A)</a:t>
            </a:r>
          </a:p>
          <a:p>
            <a:pPr>
              <a:spcAft>
                <a:spcPts val="600"/>
              </a:spcAft>
              <a:defRPr sz="1800">
                <a:solidFill>
                  <a:srgbClr val="333333"/>
                </a:solidFill>
              </a:defRPr>
            </a:pPr>
            <a:r>
              <a:t>Total: ~2,200W (~184A @ 12V)</a:t>
            </a:r>
          </a:p>
          <a:p>
            <a:pPr>
              <a:spcAft>
                <a:spcPts val="1000"/>
              </a:spcAft>
              <a:defRPr sz="1800">
                <a:solidFill>
                  <a:srgbClr val="333333"/>
                </a:solidFill>
              </a:defRPr>
            </a:pPr>
            <a:r>
              <a:t>Alternator Sizing:</a:t>
            </a:r>
          </a:p>
          <a:p>
            <a:pPr>
              <a:spcAft>
                <a:spcPts val="1000"/>
              </a:spcAft>
              <a:defRPr sz="1800">
                <a:solidFill>
                  <a:srgbClr val="333333"/>
                </a:solidFill>
              </a:defRPr>
            </a:pPr>
            <a:r>
              <a:t>Typical passenger car alternator: 100-150A capacity</a:t>
            </a:r>
          </a:p>
          <a:p>
            <a:pPr>
              <a:spcAft>
                <a:spcPts val="600"/>
              </a:spcAft>
              <a:defRPr sz="1800">
                <a:solidFill>
                  <a:srgbClr val="333333"/>
                </a:solidFill>
              </a:defRPr>
            </a:pPr>
            <a:r>
              <a:t>Must handle maximum continuous load (~125A)</a:t>
            </a:r>
          </a:p>
          <a:p>
            <a:pPr>
              <a:spcAft>
                <a:spcPts val="600"/>
              </a:spcAft>
              <a:defRPr sz="1800">
                <a:solidFill>
                  <a:srgbClr val="333333"/>
                </a:solidFill>
              </a:defRPr>
            </a:pPr>
            <a:r>
              <a:t>Cannot handle peak starting load (battery supplies starting current)</a:t>
            </a:r>
          </a:p>
          <a:p>
            <a:pPr>
              <a:spcAft>
                <a:spcPts val="600"/>
              </a:spcAft>
              <a:defRPr sz="1800">
                <a:solidFill>
                  <a:srgbClr val="333333"/>
                </a:solidFill>
              </a:defRPr>
            </a:pPr>
            <a:r>
              <a:t>Charges battery + powers vehicle when engine running</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load analysis drives the design:</a:t>
            </a:r>
          </a:p>
          <a:p>
            <a:pPr>
              <a:spcAft>
                <a:spcPts val="600"/>
              </a:spcAft>
              <a:defRPr sz="1800">
                <a:solidFill>
                  <a:srgbClr val="333333"/>
                </a:solidFill>
              </a:defRPr>
            </a:pPr>
            <a:r>
              <a:t>Battery must supply 150-200A for starting</a:t>
            </a:r>
          </a:p>
          <a:p>
            <a:pPr>
              <a:spcAft>
                <a:spcPts val="600"/>
              </a:spcAft>
              <a:defRPr sz="1800">
                <a:solidFill>
                  <a:srgbClr val="333333"/>
                </a:solidFill>
              </a:defRPr>
            </a:pPr>
            <a:r>
              <a:t>Alternator must supply 100-150A continuously</a:t>
            </a:r>
          </a:p>
          <a:p>
            <a:pPr>
              <a:spcAft>
                <a:spcPts val="600"/>
              </a:spcAft>
              <a:defRPr sz="1800">
                <a:solidFill>
                  <a:srgbClr val="333333"/>
                </a:solidFill>
              </a:defRPr>
            </a:pPr>
            <a:r>
              <a:t>Wiring must handle maximum current without overheating</a:t>
            </a:r>
          </a:p>
          <a:p>
            <a:pPr>
              <a:spcAft>
                <a:spcPts val="600"/>
              </a:spcAft>
              <a:defRPr sz="1800">
                <a:solidFill>
                  <a:srgbClr val="333333"/>
                </a:solidFill>
              </a:defRPr>
            </a:pPr>
            <a:r>
              <a:t>Fuses must protect circuits without nuisance tripping</a:t>
            </a:r>
          </a:p>
          <a:p>
            <a:pPr>
              <a:spcAft>
                <a:spcPts val="1000"/>
              </a:spcAft>
              <a:defRPr sz="1800">
                <a:solidFill>
                  <a:srgbClr val="333333"/>
                </a:solidFill>
              </a:defRPr>
            </a:pPr>
            <a:r>
              <a:t>Now let's dive into how we store and generate this electrical energy.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Transition - Energy Storage &amp; Generation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We've established the electrical foundation:</a:t>
            </a:r>
          </a:p>
          <a:p>
            <a:pPr>
              <a:spcAft>
                <a:spcPts val="600"/>
              </a:spcAft>
              <a:defRPr sz="1800">
                <a:solidFill>
                  <a:srgbClr val="333333"/>
                </a:solidFill>
              </a:defRPr>
            </a:pPr>
            <a:r>
              <a:t>12V architecture (14.4V when charging)</a:t>
            </a:r>
          </a:p>
          <a:p>
            <a:pPr>
              <a:spcAft>
                <a:spcPts val="600"/>
              </a:spcAft>
              <a:defRPr sz="1800">
                <a:solidFill>
                  <a:srgbClr val="333333"/>
                </a:solidFill>
              </a:defRPr>
            </a:pPr>
            <a:r>
              <a:t>Ohm's law relationships (V = IR, P = VI)</a:t>
            </a:r>
          </a:p>
          <a:p>
            <a:pPr>
              <a:spcAft>
                <a:spcPts val="600"/>
              </a:spcAft>
              <a:defRPr sz="1800">
                <a:solidFill>
                  <a:srgbClr val="333333"/>
                </a:solidFill>
              </a:defRPr>
            </a:pPr>
            <a:r>
              <a:t>Load classification (8A minimum to 184A peak)</a:t>
            </a:r>
          </a:p>
          <a:p>
            <a:pPr>
              <a:spcAft>
                <a:spcPts val="1000"/>
              </a:spcAft>
              <a:defRPr sz="1800">
                <a:solidFill>
                  <a:srgbClr val="333333"/>
                </a:solidFill>
              </a:defRPr>
            </a:pPr>
            <a:r>
              <a:t>Now we face two critical challenges:</a:t>
            </a:r>
          </a:p>
          <a:p>
            <a:pPr>
              <a:spcAft>
                <a:spcPts val="1000"/>
              </a:spcAft>
              <a:defRPr sz="1800">
                <a:solidFill>
                  <a:srgbClr val="333333"/>
                </a:solidFill>
              </a:defRPr>
            </a:pPr>
            <a:r>
              <a:t>Challenge 1: Energy Storage</a:t>
            </a:r>
          </a:p>
          <a:p>
            <a:pPr>
              <a:spcAft>
                <a:spcPts val="1000"/>
              </a:spcAft>
              <a:defRPr sz="1800">
                <a:solidFill>
                  <a:srgbClr val="333333"/>
                </a:solidFill>
              </a:defRPr>
            </a:pPr>
            <a:r>
              <a:t>When the engine is OFF, there's no power generation. How do we:</a:t>
            </a:r>
          </a:p>
          <a:p>
            <a:pPr>
              <a:spcAft>
                <a:spcPts val="600"/>
              </a:spcAft>
              <a:defRPr sz="1800">
                <a:solidFill>
                  <a:srgbClr val="333333"/>
                </a:solidFill>
              </a:defRPr>
            </a:pPr>
            <a:r>
              <a:t>Start the engine (requires massive 150-200A surge)?</a:t>
            </a:r>
          </a:p>
          <a:p>
            <a:pPr>
              <a:spcAft>
                <a:spcPts val="600"/>
              </a:spcAft>
              <a:defRPr sz="1800">
                <a:solidFill>
                  <a:srgbClr val="333333"/>
                </a:solidFill>
              </a:defRPr>
            </a:pPr>
            <a:r>
              <a:t>Power electronics (alarm, clock, ECU memory)?</a:t>
            </a:r>
          </a:p>
          <a:p>
            <a:pPr>
              <a:spcAft>
                <a:spcPts val="600"/>
              </a:spcAft>
              <a:defRPr sz="1800">
                <a:solidFill>
                  <a:srgbClr val="333333"/>
                </a:solidFill>
              </a:defRPr>
            </a:pPr>
            <a:r>
              <a:t>Operate accessories (radio, lights) without draining completely?</a:t>
            </a:r>
          </a:p>
          <a:p>
            <a:pPr>
              <a:spcAft>
                <a:spcPts val="1000"/>
              </a:spcAft>
              <a:defRPr sz="1800">
                <a:solidFill>
                  <a:srgbClr val="333333"/>
                </a:solidFill>
              </a:defRPr>
            </a:pPr>
            <a:r>
              <a:t>Challenge 2: Energy Generation</a:t>
            </a:r>
          </a:p>
          <a:p>
            <a:pPr>
              <a:spcAft>
                <a:spcPts val="1000"/>
              </a:spcAft>
              <a:defRPr sz="1800">
                <a:solidFill>
                  <a:srgbClr val="333333"/>
                </a:solidFill>
              </a:defRPr>
            </a:pPr>
            <a:r>
              <a:t>When the engine is RUNNING, electrical demand is continuous. How do we:</a:t>
            </a:r>
          </a:p>
          <a:p>
            <a:pPr>
              <a:spcAft>
                <a:spcPts val="600"/>
              </a:spcAft>
              <a:defRPr sz="1800">
                <a:solidFill>
                  <a:srgbClr val="333333"/>
                </a:solidFill>
              </a:defRPr>
            </a:pPr>
            <a:r>
              <a:t>Recharge the battery?</a:t>
            </a:r>
          </a:p>
          <a:p>
            <a:pPr>
              <a:spcAft>
                <a:spcPts val="600"/>
              </a:spcAft>
              <a:defRPr sz="1800">
                <a:solidFill>
                  <a:srgbClr val="333333"/>
                </a:solidFill>
              </a:defRPr>
            </a:pPr>
            <a:r>
              <a:t>Power all loads simultaneously (125A)?</a:t>
            </a:r>
          </a:p>
          <a:p>
            <a:pPr>
              <a:spcAft>
                <a:spcPts val="600"/>
              </a:spcAft>
              <a:defRPr sz="1800">
                <a:solidFill>
                  <a:srgbClr val="333333"/>
                </a:solidFill>
              </a:defRPr>
            </a:pPr>
            <a:r>
              <a:t>Regulate voltage (prevent overvoltage damage)?</a:t>
            </a:r>
          </a:p>
          <a:p>
            <a:pPr>
              <a:spcAft>
                <a:spcPts val="1000"/>
              </a:spcAft>
              <a:defRPr sz="1800">
                <a:solidFill>
                  <a:srgbClr val="333333"/>
                </a:solidFill>
              </a:defRPr>
            </a:pPr>
            <a:r>
              <a:t>The Solution: — Battery = Energy storage device (chemical → electrical)</a:t>
            </a:r>
          </a:p>
          <a:p>
            <a:pPr>
              <a:spcAft>
                <a:spcPts val="600"/>
              </a:spcAft>
              <a:defRPr sz="1800">
                <a:solidFill>
                  <a:srgbClr val="333333"/>
                </a:solidFill>
              </a:defRPr>
            </a:pPr>
            <a:r>
              <a:t>Alternator = Energy generation device (mechanical → electrical)</a:t>
            </a:r>
          </a:p>
          <a:p>
            <a:pPr>
              <a:spcAft>
                <a:spcPts val="600"/>
              </a:spcAft>
              <a:defRPr sz="1800">
                <a:solidFill>
                  <a:srgbClr val="333333"/>
                </a:solidFill>
              </a:defRPr>
            </a:pPr>
            <a:r>
              <a:t>Voltage Regulator = Control system (maintain 14.4V)</a:t>
            </a:r>
          </a:p>
          <a:p>
            <a:pPr>
              <a:spcAft>
                <a:spcPts val="1000"/>
              </a:spcAft>
              <a:defRPr sz="1800">
                <a:solidFill>
                  <a:srgbClr val="333333"/>
                </a:solidFill>
              </a:defRPr>
            </a:pPr>
            <a:r>
              <a:t>Let's explore each component in detail.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2: TRIGGER - "Energy Storage &amp; Generation</a:t>
            </a:r>
          </a:p>
        </p:txBody>
      </p:sp>
      <p:sp>
        <p:nvSpPr>
          <p:cNvPr id="3" name="Subtitle 2"/>
          <p:cNvSpPr>
            <a:spLocks noGrp="1"/>
          </p:cNvSpPr>
          <p:nvPr>
            <p:ph type="subTitle" idx="1"/>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Lead-Acid Battery - Chemistry &amp; Construction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The automotive battery is a lead-acid battery—a technology invented in 1859 that still dominates automotive applications.</a:t>
            </a:r>
          </a:p>
          <a:p>
            <a:pPr>
              <a:spcAft>
                <a:spcPts val="1000"/>
              </a:spcAft>
              <a:defRPr sz="1800">
                <a:solidFill>
                  <a:srgbClr val="333333"/>
                </a:solidFill>
              </a:defRPr>
            </a:pPr>
            <a:r>
              <a:t>Basic Construction:</a:t>
            </a:r>
          </a:p>
          <a:p>
            <a:pPr>
              <a:spcAft>
                <a:spcPts val="1000"/>
              </a:spcAft>
              <a:defRPr sz="1800">
                <a:solidFill>
                  <a:srgbClr val="333333"/>
                </a:solidFill>
              </a:defRPr>
            </a:pPr>
            <a:r>
              <a:t>6 Cells in Series: — Each cell produces 2.1V (nominal)</a:t>
            </a:r>
          </a:p>
          <a:p>
            <a:pPr>
              <a:spcAft>
                <a:spcPts val="600"/>
              </a:spcAft>
              <a:defRPr sz="1800">
                <a:solidFill>
                  <a:srgbClr val="333333"/>
                </a:solidFill>
              </a:defRPr>
            </a:pPr>
            <a:r>
              <a:t>6 cells × 2.1V = 12.6V (total, fully charged)</a:t>
            </a:r>
          </a:p>
          <a:p>
            <a:pPr>
              <a:spcAft>
                <a:spcPts val="600"/>
              </a:spcAft>
              <a:defRPr sz="1800">
                <a:solidFill>
                  <a:srgbClr val="333333"/>
                </a:solidFill>
              </a:defRPr>
            </a:pPr>
            <a:r>
              <a:t>Cells are connected in series (positive of one → negative of next)</a:t>
            </a:r>
          </a:p>
          <a:p>
            <a:pPr>
              <a:spcAft>
                <a:spcPts val="1000"/>
              </a:spcAft>
              <a:defRPr sz="1800">
                <a:solidFill>
                  <a:srgbClr val="333333"/>
                </a:solidFill>
              </a:defRPr>
            </a:pPr>
            <a:r>
              <a:t>Inside Each Cell:</a:t>
            </a:r>
          </a:p>
          <a:p>
            <a:pPr>
              <a:spcAft>
                <a:spcPts val="1000"/>
              </a:spcAft>
              <a:defRPr sz="1800">
                <a:solidFill>
                  <a:srgbClr val="333333"/>
                </a:solidFill>
              </a:defRPr>
            </a:pPr>
            <a:r>
              <a:t>1. Positive Plates: — Lead dioxide (PbO₂) - dark brown</a:t>
            </a:r>
          </a:p>
          <a:p>
            <a:pPr>
              <a:spcAft>
                <a:spcPts val="600"/>
              </a:spcAft>
              <a:defRPr sz="1800">
                <a:solidFill>
                  <a:srgbClr val="333333"/>
                </a:solidFill>
              </a:defRPr>
            </a:pPr>
            <a:r>
              <a:t>Active material coated on lead grid</a:t>
            </a:r>
          </a:p>
          <a:p>
            <a:pPr>
              <a:spcAft>
                <a:spcPts val="600"/>
              </a:spcAft>
              <a:defRPr sz="1800">
                <a:solidFill>
                  <a:srgbClr val="333333"/>
                </a:solidFill>
              </a:defRPr>
            </a:pPr>
            <a:r>
              <a:t>Multiple plates in parallel (increase surface area = higher capacity)</a:t>
            </a:r>
          </a:p>
          <a:p>
            <a:pPr>
              <a:spcAft>
                <a:spcPts val="1000"/>
              </a:spcAft>
              <a:defRPr sz="1800">
                <a:solidFill>
                  <a:srgbClr val="333333"/>
                </a:solidFill>
              </a:defRPr>
            </a:pPr>
            <a:r>
              <a:t>2. Negative Plates: — Pure sponge lead (Pb) - gray</a:t>
            </a:r>
          </a:p>
          <a:p>
            <a:pPr>
              <a:spcAft>
                <a:spcPts val="600"/>
              </a:spcAft>
              <a:defRPr sz="1800">
                <a:solidFill>
                  <a:srgbClr val="333333"/>
                </a:solidFill>
              </a:defRPr>
            </a:pPr>
            <a:r>
              <a:t>Active material coated on lead grid</a:t>
            </a:r>
          </a:p>
          <a:p>
            <a:pPr>
              <a:spcAft>
                <a:spcPts val="600"/>
              </a:spcAft>
              <a:defRPr sz="1800">
                <a:solidFill>
                  <a:srgbClr val="333333"/>
                </a:solidFill>
              </a:defRPr>
            </a:pPr>
            <a:r>
              <a:t>Interleaved with positive plates (alternating: +, -, +, -, +, -)</a:t>
            </a:r>
          </a:p>
          <a:p>
            <a:pPr>
              <a:spcAft>
                <a:spcPts val="1000"/>
              </a:spcAft>
              <a:defRPr sz="1800">
                <a:solidFill>
                  <a:srgbClr val="333333"/>
                </a:solidFill>
              </a:defRPr>
            </a:pPr>
            <a:r>
              <a:t>3. Separators: — Porous material (fiberglass or plastic)</a:t>
            </a:r>
          </a:p>
          <a:p>
            <a:pPr>
              <a:spcAft>
                <a:spcPts val="600"/>
              </a:spcAft>
              <a:defRPr sz="1800">
                <a:solidFill>
                  <a:srgbClr val="333333"/>
                </a:solidFill>
              </a:defRPr>
            </a:pPr>
            <a:r>
              <a:t>Prevents positive and negative plates from touching (short circuit)</a:t>
            </a:r>
          </a:p>
          <a:p>
            <a:pPr>
              <a:spcAft>
                <a:spcPts val="600"/>
              </a:spcAft>
              <a:defRPr sz="1800">
                <a:solidFill>
                  <a:srgbClr val="333333"/>
                </a:solidFill>
              </a:defRPr>
            </a:pPr>
            <a:r>
              <a:t>Allows electrolyte to flow through</a:t>
            </a:r>
          </a:p>
          <a:p>
            <a:pPr>
              <a:spcAft>
                <a:spcPts val="1000"/>
              </a:spcAft>
              <a:defRPr sz="1800">
                <a:solidFill>
                  <a:srgbClr val="333333"/>
                </a:solidFill>
              </a:defRPr>
            </a:pPr>
            <a:r>
              <a:t>4. Electrolyte: — Sulfuric acid (H₂SO₄) diluted with water</a:t>
            </a:r>
          </a:p>
          <a:p>
            <a:pPr>
              <a:spcAft>
                <a:spcPts val="600"/>
              </a:spcAft>
              <a:defRPr sz="1800">
                <a:solidFill>
                  <a:srgbClr val="333333"/>
                </a:solidFill>
              </a:defRPr>
            </a:pPr>
            <a:r>
              <a:t>Concentration: 35-37% acid by weight (fully charged)</a:t>
            </a:r>
          </a:p>
          <a:p>
            <a:pPr>
              <a:spcAft>
                <a:spcPts val="600"/>
              </a:spcAft>
              <a:defRPr sz="1800">
                <a:solidFill>
                  <a:srgbClr val="333333"/>
                </a:solidFill>
              </a:defRPr>
            </a:pPr>
            <a:r>
              <a:t>Concentration decreases as battery discharges</a:t>
            </a:r>
          </a:p>
          <a:p>
            <a:pPr>
              <a:spcAft>
                <a:spcPts val="1000"/>
              </a:spcAft>
              <a:defRPr sz="1800">
                <a:solidFill>
                  <a:srgbClr val="333333"/>
                </a:solidFill>
              </a:defRPr>
            </a:pPr>
            <a:r>
              <a:t>5. Container: — Polypropylene case (acid-resistant plastic)</a:t>
            </a:r>
          </a:p>
          <a:p>
            <a:pPr>
              <a:spcAft>
                <a:spcPts val="600"/>
              </a:spcAft>
              <a:defRPr sz="1800">
                <a:solidFill>
                  <a:srgbClr val="333333"/>
                </a:solidFill>
              </a:defRPr>
            </a:pPr>
            <a:r>
              <a:t>Individual cell compartments</a:t>
            </a:r>
          </a:p>
          <a:p>
            <a:pPr>
              <a:spcAft>
                <a:spcPts val="600"/>
              </a:spcAft>
              <a:defRPr sz="1800">
                <a:solidFill>
                  <a:srgbClr val="333333"/>
                </a:solidFill>
              </a:defRPr>
            </a:pPr>
            <a:r>
              <a:t>Top cover with terminals and caps (or sealed)</a:t>
            </a:r>
          </a:p>
          <a:p>
            <a:pPr>
              <a:spcAft>
                <a:spcPts val="1000"/>
              </a:spcAft>
              <a:defRPr sz="1800">
                <a:solidFill>
                  <a:srgbClr val="333333"/>
                </a:solidFill>
              </a:defRPr>
            </a:pPr>
            <a:r>
              <a:t>Chemical Reaction (Discharge):</a:t>
            </a:r>
          </a:p>
          <a:p>
            <a:pPr>
              <a:defRPr sz="1400">
                <a:solidFill>
                  <a:srgbClr val="787878"/>
                </a:solidFill>
                <a:latin typeface="Consolas"/>
              </a:defRPr>
            </a:pPr>
            <a:r>
              <a:t>Positive plate:  PbO₂ + H₂SO₄ + 2H⁺ + 2e⁻ → PbSO₄ + 2H₂O</a:t>
            </a:r>
            <a:br/>
            <a:r>
              <a:t>Negative plate:  Pb + H₂SO₄ → PbSO₄ + 2H⁺ + 2e⁻</a:t>
            </a:r>
            <a:br/>
            <a:r>
              <a:t>────────────────────────────────────────────────────────</a:t>
            </a:r>
            <a:br/>
            <a:r>
              <a:t>Net reaction:    PbO₂ + Pb + 2H₂SO₄ → 2PbSO₄ + 2H₂O</a:t>
            </a:r>
          </a:p>
          <a:p>
            <a:pPr>
              <a:spcAft>
                <a:spcPts val="1000"/>
              </a:spcAft>
              <a:defRPr sz="1800">
                <a:solidFill>
                  <a:srgbClr val="333333"/>
                </a:solidFill>
              </a:defRPr>
            </a:pPr>
            <a:r>
              <a:t>What happens during discharge: — Lead dioxide (PbO₂) and lead (Pb) react with sulfuric acid (H₂SO₄)</a:t>
            </a:r>
          </a:p>
          <a:p>
            <a:pPr>
              <a:spcAft>
                <a:spcPts val="600"/>
              </a:spcAft>
              <a:defRPr sz="1800">
                <a:solidFill>
                  <a:srgbClr val="333333"/>
                </a:solidFill>
              </a:defRPr>
            </a:pPr>
            <a:r>
              <a:t>Both plates convert to lead sulfate (PbSO₄)</a:t>
            </a:r>
          </a:p>
          <a:p>
            <a:pPr>
              <a:spcAft>
                <a:spcPts val="600"/>
              </a:spcAft>
              <a:defRPr sz="1800">
                <a:solidFill>
                  <a:srgbClr val="333333"/>
                </a:solidFill>
              </a:defRPr>
            </a:pPr>
            <a:r>
              <a:t>Water (H₂O) is produced, diluting the electrolyte</a:t>
            </a:r>
          </a:p>
          <a:p>
            <a:pPr>
              <a:spcAft>
                <a:spcPts val="600"/>
              </a:spcAft>
              <a:defRPr sz="1800">
                <a:solidFill>
                  <a:srgbClr val="333333"/>
                </a:solidFill>
              </a:defRPr>
            </a:pPr>
            <a:r>
              <a:t>Electrons flow from negative to positive (through external circuit)</a:t>
            </a:r>
          </a:p>
          <a:p>
            <a:pPr>
              <a:spcAft>
                <a:spcPts val="1000"/>
              </a:spcAft>
              <a:defRPr sz="1800">
                <a:solidFill>
                  <a:srgbClr val="333333"/>
                </a:solidFill>
              </a:defRPr>
            </a:pPr>
            <a:r>
              <a:t>Chemical Reaction (Charging):</a:t>
            </a:r>
          </a:p>
          <a:p>
            <a:pPr>
              <a:spcAft>
                <a:spcPts val="1000"/>
              </a:spcAft>
              <a:defRPr sz="1800">
                <a:solidFill>
                  <a:srgbClr val="333333"/>
                </a:solidFill>
              </a:defRPr>
            </a:pPr>
            <a:r>
              <a:t>Reverse the reaction (apply external voltage):</a:t>
            </a:r>
          </a:p>
          <a:p>
            <a:pPr>
              <a:defRPr sz="1400">
                <a:solidFill>
                  <a:srgbClr val="787878"/>
                </a:solidFill>
                <a:latin typeface="Consolas"/>
              </a:defRPr>
            </a:pPr>
            <a:r>
              <a:t>2PbSO₄ + 2H₂O → PbO₂ + Pb + 2H₂SO₄</a:t>
            </a:r>
          </a:p>
          <a:p>
            <a:pPr>
              <a:spcAft>
                <a:spcPts val="1000"/>
              </a:spcAft>
              <a:defRPr sz="1800">
                <a:solidFill>
                  <a:srgbClr val="333333"/>
                </a:solidFill>
              </a:defRPr>
            </a:pPr>
            <a:r>
              <a:t>What happens during charging: — Lead sulfate (PbSO₄) on both plates converts back to PbO₂ and Pb</a:t>
            </a:r>
          </a:p>
          <a:p>
            <a:pPr>
              <a:spcAft>
                <a:spcPts val="600"/>
              </a:spcAft>
              <a:defRPr sz="1800">
                <a:solidFill>
                  <a:srgbClr val="333333"/>
                </a:solidFill>
              </a:defRPr>
            </a:pPr>
            <a:r>
              <a:t>Water is consumed, acid concentration increases</a:t>
            </a:r>
          </a:p>
          <a:p>
            <a:pPr>
              <a:spcAft>
                <a:spcPts val="600"/>
              </a:spcAft>
              <a:defRPr sz="1800">
                <a:solidFill>
                  <a:srgbClr val="333333"/>
                </a:solidFill>
              </a:defRPr>
            </a:pPr>
            <a:r>
              <a:t>Electrons are forced backward (alternator pushes current into battery)</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reversible chemistry is the key to battery operation. Discharge converts chemical energy to electrical. Charging converts electrical energy back to chemical. The battery can do this cycle thousands of times—but not infinitely.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Battery Specifications - Understanding the Ratings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When you shop for a battery, you'll see several specifications. Let's decode what they mean and why they matter.</a:t>
            </a:r>
          </a:p>
          <a:p>
            <a:pPr>
              <a:spcAft>
                <a:spcPts val="1000"/>
              </a:spcAft>
              <a:defRPr sz="1800">
                <a:solidFill>
                  <a:srgbClr val="333333"/>
                </a:solidFill>
              </a:defRPr>
            </a:pPr>
            <a:r>
              <a:t>1. COLD CRANKING AMPS (CCA)</a:t>
            </a:r>
          </a:p>
          <a:p>
            <a:pPr>
              <a:spcAft>
                <a:spcPts val="1000"/>
              </a:spcAft>
              <a:defRPr sz="1800">
                <a:solidFill>
                  <a:srgbClr val="333333"/>
                </a:solidFill>
              </a:defRPr>
            </a:pPr>
            <a:r>
              <a:t>Definition:</a:t>
            </a:r>
          </a:p>
          <a:p>
            <a:pPr>
              <a:spcAft>
                <a:spcPts val="1000"/>
              </a:spcAft>
              <a:defRPr sz="1800">
                <a:solidFill>
                  <a:srgbClr val="333333"/>
                </a:solidFill>
              </a:defRPr>
            </a:pPr>
            <a:r>
              <a:t>Maximum current the battery can deliver for 30 seconds at  —18°C (0°F) while maintaining at least 7.2V per battery (total 7.2V for 12V battery).</a:t>
            </a:r>
          </a:p>
          <a:p>
            <a:pPr>
              <a:spcAft>
                <a:spcPts val="1000"/>
              </a:spcAft>
              <a:defRPr sz="1800">
                <a:solidFill>
                  <a:srgbClr val="333333"/>
                </a:solidFill>
              </a:defRPr>
            </a:pPr>
            <a:r>
              <a:t>Typical Values: — Small car: 400-500 CCA</a:t>
            </a:r>
          </a:p>
          <a:p>
            <a:pPr>
              <a:spcAft>
                <a:spcPts val="600"/>
              </a:spcAft>
              <a:defRPr sz="1800">
                <a:solidFill>
                  <a:srgbClr val="333333"/>
                </a:solidFill>
              </a:defRPr>
            </a:pPr>
            <a:r>
              <a:t>Mid-size car: 500-700 CCA</a:t>
            </a:r>
          </a:p>
          <a:p>
            <a:pPr>
              <a:spcAft>
                <a:spcPts val="600"/>
              </a:spcAft>
              <a:defRPr sz="1800">
                <a:solidFill>
                  <a:srgbClr val="333333"/>
                </a:solidFill>
              </a:defRPr>
            </a:pPr>
            <a:r>
              <a:t>Large car/SUV: 700-900 CCA</a:t>
            </a:r>
          </a:p>
          <a:p>
            <a:pPr>
              <a:spcAft>
                <a:spcPts val="600"/>
              </a:spcAft>
              <a:defRPr sz="1800">
                <a:solidFill>
                  <a:srgbClr val="333333"/>
                </a:solidFill>
              </a:defRPr>
            </a:pPr>
            <a:r>
              <a:t>Diesel truck: 800-1,200 CCA (diesel engines harder to crank)</a:t>
            </a:r>
          </a:p>
          <a:p>
            <a:pPr>
              <a:spcAft>
                <a:spcPts val="1000"/>
              </a:spcAft>
              <a:defRPr sz="1800">
                <a:solidFill>
                  <a:srgbClr val="333333"/>
                </a:solidFill>
              </a:defRPr>
            </a:pPr>
            <a:r>
              <a:t>Why CCA Matters: — Cold weather reduces battery capacity (chemical reactions slow down)</a:t>
            </a:r>
          </a:p>
          <a:p>
            <a:pPr>
              <a:spcAft>
                <a:spcPts val="600"/>
              </a:spcAft>
              <a:defRPr sz="1800">
                <a:solidFill>
                  <a:srgbClr val="333333"/>
                </a:solidFill>
              </a:defRPr>
            </a:pPr>
            <a:r>
              <a:t>Cold engine is harder to crank (oil is thick, compression higher)</a:t>
            </a:r>
          </a:p>
          <a:p>
            <a:pPr>
              <a:spcAft>
                <a:spcPts val="600"/>
              </a:spcAft>
              <a:defRPr sz="1800">
                <a:solidFill>
                  <a:srgbClr val="333333"/>
                </a:solidFill>
              </a:defRPr>
            </a:pPr>
            <a:r>
              <a:t>Starting requires 150-200A typical, up to 300A in extreme cold</a:t>
            </a:r>
          </a:p>
          <a:p>
            <a:pPr>
              <a:spcAft>
                <a:spcPts val="600"/>
              </a:spcAft>
              <a:defRPr sz="1800">
                <a:solidFill>
                  <a:srgbClr val="333333"/>
                </a:solidFill>
              </a:defRPr>
            </a:pPr>
            <a:r>
              <a:t>Higher CCA = more starting power available</a:t>
            </a:r>
          </a:p>
          <a:p>
            <a:pPr>
              <a:spcAft>
                <a:spcPts val="1000"/>
              </a:spcAft>
              <a:defRPr sz="1800">
                <a:solidFill>
                  <a:srgbClr val="333333"/>
                </a:solidFill>
              </a:defRPr>
            </a:pPr>
            <a:r>
              <a:t>Example: — Honda Civic requires 450 CCA minimum</a:t>
            </a:r>
          </a:p>
          <a:p>
            <a:pPr>
              <a:spcAft>
                <a:spcPts val="600"/>
              </a:spcAft>
              <a:defRPr sz="1800">
                <a:solidFill>
                  <a:srgbClr val="333333"/>
                </a:solidFill>
              </a:defRPr>
            </a:pPr>
            <a:r>
              <a:t>If you install 700 CCA battery → excellent cold starts</a:t>
            </a:r>
          </a:p>
          <a:p>
            <a:pPr>
              <a:spcAft>
                <a:spcPts val="600"/>
              </a:spcAft>
              <a:defRPr sz="1800">
                <a:solidFill>
                  <a:srgbClr val="333333"/>
                </a:solidFill>
              </a:defRPr>
            </a:pPr>
            <a:r>
              <a:t>If you install 350 CCA battery → struggles in winter, won't start at -20°C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2. RESERVE CAPACITY (RC)</a:t>
            </a:r>
          </a:p>
          <a:p>
            <a:pPr>
              <a:spcAft>
                <a:spcPts val="1000"/>
              </a:spcAft>
              <a:defRPr sz="1800">
                <a:solidFill>
                  <a:srgbClr val="333333"/>
                </a:solidFill>
              </a:defRPr>
            </a:pPr>
            <a:r>
              <a:t>Definition:</a:t>
            </a:r>
          </a:p>
          <a:p>
            <a:pPr>
              <a:spcAft>
                <a:spcPts val="1000"/>
              </a:spcAft>
              <a:defRPr sz="1800">
                <a:solidFill>
                  <a:srgbClr val="333333"/>
                </a:solidFill>
              </a:defRPr>
            </a:pPr>
            <a:r>
              <a:t>Number of minutes the battery can deliver 25A at 27°C (80°F) while maintaining at least 10.5V.</a:t>
            </a:r>
          </a:p>
          <a:p>
            <a:pPr>
              <a:spcAft>
                <a:spcPts val="1000"/>
              </a:spcAft>
              <a:defRPr sz="1800">
                <a:solidFill>
                  <a:srgbClr val="333333"/>
                </a:solidFill>
              </a:defRPr>
            </a:pPr>
            <a:r>
              <a:t>Typical Values: — Small battery: 60-80 minutes</a:t>
            </a:r>
          </a:p>
          <a:p>
            <a:pPr>
              <a:spcAft>
                <a:spcPts val="600"/>
              </a:spcAft>
              <a:defRPr sz="1800">
                <a:solidFill>
                  <a:srgbClr val="333333"/>
                </a:solidFill>
              </a:defRPr>
            </a:pPr>
            <a:r>
              <a:t>Medium battery: 90-120 minutes</a:t>
            </a:r>
          </a:p>
          <a:p>
            <a:pPr>
              <a:spcAft>
                <a:spcPts val="600"/>
              </a:spcAft>
              <a:defRPr sz="1800">
                <a:solidFill>
                  <a:srgbClr val="333333"/>
                </a:solidFill>
              </a:defRPr>
            </a:pPr>
            <a:r>
              <a:t>Large battery: 120-180 minutes</a:t>
            </a:r>
          </a:p>
          <a:p>
            <a:pPr>
              <a:spcAft>
                <a:spcPts val="1000"/>
              </a:spcAft>
              <a:defRPr sz="1800">
                <a:solidFill>
                  <a:srgbClr val="333333"/>
                </a:solidFill>
              </a:defRPr>
            </a:pPr>
            <a:r>
              <a:t>Why RC Matters:</a:t>
            </a:r>
          </a:p>
          <a:p>
            <a:pPr>
              <a:spcAft>
                <a:spcPts val="1000"/>
              </a:spcAft>
              <a:defRPr sz="1800">
                <a:solidFill>
                  <a:srgbClr val="333333"/>
                </a:solidFill>
              </a:defRPr>
            </a:pPr>
            <a:r>
              <a:t>Scenario: Alternator fails while driving</a:t>
            </a:r>
          </a:p>
          <a:p>
            <a:pPr>
              <a:spcAft>
                <a:spcPts val="600"/>
              </a:spcAft>
              <a:defRPr sz="1800">
                <a:solidFill>
                  <a:srgbClr val="333333"/>
                </a:solidFill>
              </a:defRPr>
            </a:pPr>
            <a:r>
              <a:t>You're running on battery alone</a:t>
            </a:r>
          </a:p>
          <a:p>
            <a:pPr>
              <a:spcAft>
                <a:spcPts val="600"/>
              </a:spcAft>
              <a:defRPr sz="1800">
                <a:solidFill>
                  <a:srgbClr val="333333"/>
                </a:solidFill>
              </a:defRPr>
            </a:pPr>
            <a:r>
              <a:t>Typical electrical load: ~25A (lights, ignition, fuel pump)</a:t>
            </a:r>
          </a:p>
          <a:p>
            <a:pPr>
              <a:spcAft>
                <a:spcPts val="600"/>
              </a:spcAft>
              <a:defRPr sz="1800">
                <a:solidFill>
                  <a:srgbClr val="333333"/>
                </a:solidFill>
              </a:defRPr>
            </a:pPr>
            <a:r>
              <a:t>RC tells you how long you can drive before battery dies</a:t>
            </a:r>
          </a:p>
          <a:p>
            <a:pPr>
              <a:spcAft>
                <a:spcPts val="1000"/>
              </a:spcAft>
              <a:defRPr sz="1800">
                <a:solidFill>
                  <a:srgbClr val="333333"/>
                </a:solidFill>
              </a:defRPr>
            </a:pPr>
            <a:r>
              <a:t>Example: — Battery with RC = 100 minutes</a:t>
            </a:r>
          </a:p>
          <a:p>
            <a:pPr>
              <a:spcAft>
                <a:spcPts val="600"/>
              </a:spcAft>
              <a:defRPr sz="1800">
                <a:solidFill>
                  <a:srgbClr val="333333"/>
                </a:solidFill>
              </a:defRPr>
            </a:pPr>
            <a:r>
              <a:t>Alternator fails on highway</a:t>
            </a:r>
          </a:p>
          <a:p>
            <a:pPr>
              <a:spcAft>
                <a:spcPts val="600"/>
              </a:spcAft>
              <a:defRPr sz="1800">
                <a:solidFill>
                  <a:srgbClr val="333333"/>
                </a:solidFill>
              </a:defRPr>
            </a:pPr>
            <a:r>
              <a:t>You have ~1 hour 40 minutes of driving before dead battery</a:t>
            </a:r>
          </a:p>
          <a:p>
            <a:pPr>
              <a:spcAft>
                <a:spcPts val="600"/>
              </a:spcAft>
              <a:defRPr sz="1800">
                <a:solidFill>
                  <a:srgbClr val="333333"/>
                </a:solidFill>
              </a:defRPr>
            </a:pPr>
            <a:r>
              <a:t>Enough to reach service station (if you turn off non-essential loads)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3. AMPERE-HOUR CAPACITY (Ah)</a:t>
            </a:r>
          </a:p>
          <a:p>
            <a:pPr>
              <a:spcAft>
                <a:spcPts val="1000"/>
              </a:spcAft>
              <a:defRPr sz="1800">
                <a:solidFill>
                  <a:srgbClr val="333333"/>
                </a:solidFill>
              </a:defRPr>
            </a:pPr>
            <a:r>
              <a:t>Definition:</a:t>
            </a:r>
          </a:p>
          <a:p>
            <a:pPr>
              <a:spcAft>
                <a:spcPts val="1000"/>
              </a:spcAft>
              <a:defRPr sz="1800">
                <a:solidFill>
                  <a:srgbClr val="333333"/>
                </a:solidFill>
              </a:defRPr>
            </a:pPr>
            <a:r>
              <a:t>Total charge the battery can store, measured in Ampere-hours.</a:t>
            </a:r>
          </a:p>
          <a:p>
            <a:pPr>
              <a:spcAft>
                <a:spcPts val="1000"/>
              </a:spcAft>
              <a:defRPr sz="1800">
                <a:solidFill>
                  <a:srgbClr val="333333"/>
                </a:solidFill>
              </a:defRPr>
            </a:pPr>
            <a:r>
              <a:t>Formula:</a:t>
            </a:r>
          </a:p>
          <a:p>
            <a:pPr>
              <a:defRPr sz="1400">
                <a:solidFill>
                  <a:srgbClr val="787878"/>
                </a:solidFill>
                <a:latin typeface="Consolas"/>
              </a:defRPr>
            </a:pPr>
            <a:r>
              <a:t>Capacity (Ah) = Current (A) × Time (hours)</a:t>
            </a:r>
          </a:p>
          <a:p>
            <a:pPr>
              <a:spcAft>
                <a:spcPts val="1000"/>
              </a:spcAft>
              <a:defRPr sz="1800">
                <a:solidFill>
                  <a:srgbClr val="333333"/>
                </a:solidFill>
              </a:defRPr>
            </a:pPr>
            <a:r>
              <a:t>Typical Values: — Small car: 40-50 Ah</a:t>
            </a:r>
          </a:p>
          <a:p>
            <a:pPr>
              <a:spcAft>
                <a:spcPts val="600"/>
              </a:spcAft>
              <a:defRPr sz="1800">
                <a:solidFill>
                  <a:srgbClr val="333333"/>
                </a:solidFill>
              </a:defRPr>
            </a:pPr>
            <a:r>
              <a:t>Mid-size car: 50-70 Ah</a:t>
            </a:r>
          </a:p>
          <a:p>
            <a:pPr>
              <a:spcAft>
                <a:spcPts val="600"/>
              </a:spcAft>
              <a:defRPr sz="1800">
                <a:solidFill>
                  <a:srgbClr val="333333"/>
                </a:solidFill>
              </a:defRPr>
            </a:pPr>
            <a:r>
              <a:t>Large car/SUV: 70-100 Ah</a:t>
            </a:r>
          </a:p>
          <a:p>
            <a:pPr>
              <a:spcAft>
                <a:spcPts val="1000"/>
              </a:spcAft>
              <a:defRPr sz="1800">
                <a:solidFill>
                  <a:srgbClr val="333333"/>
                </a:solidFill>
              </a:defRPr>
            </a:pPr>
            <a:r>
              <a:t>What It Means:</a:t>
            </a:r>
          </a:p>
          <a:p>
            <a:pPr>
              <a:spcAft>
                <a:spcPts val="1000"/>
              </a:spcAft>
              <a:defRPr sz="1800">
                <a:solidFill>
                  <a:srgbClr val="333333"/>
                </a:solidFill>
              </a:defRPr>
            </a:pPr>
            <a:r>
              <a:t>A 60 Ah battery can theoretically supply:</a:t>
            </a:r>
          </a:p>
          <a:p>
            <a:pPr>
              <a:spcAft>
                <a:spcPts val="600"/>
              </a:spcAft>
              <a:defRPr sz="1800">
                <a:solidFill>
                  <a:srgbClr val="333333"/>
                </a:solidFill>
              </a:defRPr>
            </a:pPr>
            <a:r>
              <a:t>60A for 1 hour</a:t>
            </a:r>
          </a:p>
          <a:p>
            <a:pPr>
              <a:spcAft>
                <a:spcPts val="600"/>
              </a:spcAft>
              <a:defRPr sz="1800">
                <a:solidFill>
                  <a:srgbClr val="333333"/>
                </a:solidFill>
              </a:defRPr>
            </a:pPr>
            <a:r>
              <a:t>30A for 2 hours</a:t>
            </a:r>
          </a:p>
          <a:p>
            <a:pPr>
              <a:spcAft>
                <a:spcPts val="600"/>
              </a:spcAft>
              <a:defRPr sz="1800">
                <a:solidFill>
                  <a:srgbClr val="333333"/>
                </a:solidFill>
              </a:defRPr>
            </a:pPr>
            <a:r>
              <a:t>6A for 10 hours</a:t>
            </a:r>
          </a:p>
          <a:p>
            <a:pPr>
              <a:spcAft>
                <a:spcPts val="600"/>
              </a:spcAft>
              <a:defRPr sz="1800">
                <a:solidFill>
                  <a:srgbClr val="333333"/>
                </a:solidFill>
              </a:defRPr>
            </a:pPr>
            <a:r>
              <a:t>1A for 60 hours</a:t>
            </a:r>
          </a:p>
          <a:p>
            <a:pPr>
              <a:spcAft>
                <a:spcPts val="1000"/>
              </a:spcAft>
              <a:defRPr sz="1800">
                <a:solidFill>
                  <a:srgbClr val="333333"/>
                </a:solidFill>
              </a:defRPr>
            </a:pPr>
            <a:r>
              <a:t>In Practice: — Higher discharge rates reduce effective capacity (60 Ah at slow discharge becomes ~45 Ah at high discharge)</a:t>
            </a:r>
          </a:p>
          <a:p>
            <a:pPr>
              <a:spcAft>
                <a:spcPts val="600"/>
              </a:spcAft>
              <a:defRPr sz="1800">
                <a:solidFill>
                  <a:srgbClr val="333333"/>
                </a:solidFill>
              </a:defRPr>
            </a:pPr>
            <a:r>
              <a:t>Don't discharge below 50% (damages battery)</a:t>
            </a:r>
          </a:p>
          <a:p>
            <a:pPr>
              <a:spcAft>
                <a:spcPts val="600"/>
              </a:spcAft>
              <a:defRPr sz="1800">
                <a:solidFill>
                  <a:srgbClr val="333333"/>
                </a:solidFill>
              </a:defRPr>
            </a:pPr>
            <a:r>
              <a:t>Usable capacity: ~30 Ah of a 60 Ah battery</a:t>
            </a:r>
          </a:p>
          <a:p>
            <a:pPr>
              <a:spcAft>
                <a:spcPts val="1000"/>
              </a:spcAft>
              <a:defRPr sz="1800">
                <a:solidFill>
                  <a:srgbClr val="333333"/>
                </a:solidFill>
              </a:defRPr>
            </a:pPr>
            <a:r>
              <a:t>Why Ah Matters:</a:t>
            </a:r>
          </a:p>
          <a:p>
            <a:pPr>
              <a:spcAft>
                <a:spcPts val="1000"/>
              </a:spcAft>
              <a:defRPr sz="1800">
                <a:solidFill>
                  <a:srgbClr val="333333"/>
                </a:solidFill>
              </a:defRPr>
            </a:pPr>
            <a:r>
              <a:t>Scenario: Vehicle parked with small parasitic drain</a:t>
            </a:r>
          </a:p>
          <a:p>
            <a:pPr>
              <a:spcAft>
                <a:spcPts val="600"/>
              </a:spcAft>
              <a:defRPr sz="1800">
                <a:solidFill>
                  <a:srgbClr val="333333"/>
                </a:solidFill>
              </a:defRPr>
            </a:pPr>
            <a:r>
              <a:t>Alarm system: 50mA (0.05A)</a:t>
            </a:r>
          </a:p>
          <a:p>
            <a:pPr>
              <a:spcAft>
                <a:spcPts val="600"/>
              </a:spcAft>
              <a:defRPr sz="1800">
                <a:solidFill>
                  <a:srgbClr val="333333"/>
                </a:solidFill>
              </a:defRPr>
            </a:pPr>
            <a:r>
              <a:t>ECU memory: 30mA (0.03A)</a:t>
            </a:r>
          </a:p>
          <a:p>
            <a:pPr>
              <a:spcAft>
                <a:spcPts val="600"/>
              </a:spcAft>
              <a:defRPr sz="1800">
                <a:solidFill>
                  <a:srgbClr val="333333"/>
                </a:solidFill>
              </a:defRPr>
            </a:pPr>
            <a:r>
              <a:t>Clock: 20mA (0.02A)</a:t>
            </a:r>
          </a:p>
          <a:p>
            <a:pPr>
              <a:spcAft>
                <a:spcPts val="600"/>
              </a:spcAft>
              <a:defRPr sz="1800">
                <a:solidFill>
                  <a:srgbClr val="333333"/>
                </a:solidFill>
              </a:defRPr>
            </a:pPr>
            <a:r>
              <a:t>Total: 100mA (0.1A)</a:t>
            </a:r>
          </a:p>
          <a:p>
            <a:pPr>
              <a:spcAft>
                <a:spcPts val="1000"/>
              </a:spcAft>
              <a:defRPr sz="1800">
                <a:solidFill>
                  <a:srgbClr val="333333"/>
                </a:solidFill>
              </a:defRPr>
            </a:pPr>
            <a:r>
              <a:t>How long until battery dies?</a:t>
            </a:r>
          </a:p>
          <a:p>
            <a:pPr>
              <a:defRPr sz="1400">
                <a:solidFill>
                  <a:srgbClr val="787878"/>
                </a:solidFill>
                <a:latin typeface="Consolas"/>
              </a:defRPr>
            </a:pPr>
            <a:r>
              <a:t>Time = Usable Capacity / Current</a:t>
            </a:r>
            <a:br/>
            <a:r>
              <a:t>     = 30 Ah / 0.1A</a:t>
            </a:r>
            <a:br/>
            <a:r>
              <a:t>     = 300 hours</a:t>
            </a:r>
            <a:br/>
            <a:r>
              <a:t>     = 12.5 days</a:t>
            </a:r>
          </a:p>
          <a:p>
            <a:pPr>
              <a:spcAft>
                <a:spcPts val="1000"/>
              </a:spcAft>
              <a:defRPr sz="1800">
                <a:solidFill>
                  <a:srgbClr val="333333"/>
                </a:solidFill>
              </a:defRPr>
            </a:pPr>
            <a:r>
              <a:t>So a 60 Ah battery can sit unused for ~12 days before going flat (assuming 100mA parasitic drain).</a:t>
            </a:r>
          </a:p>
          <a:p>
            <a:pPr>
              <a:spcAft>
                <a:spcPts val="1000"/>
              </a:spcAft>
              <a:defRPr sz="1800">
                <a:solidFill>
                  <a:srgbClr val="333333"/>
                </a:solidFill>
              </a:defRPr>
            </a:pPr>
            <a:r>
              <a:t>Instructor Narration (continued):</a:t>
            </a:r>
          </a:p>
          <a:p>
            <a:pPr>
              <a:spcAft>
                <a:spcPts val="1000"/>
              </a:spcAft>
              <a:defRPr sz="1800">
                <a:solidFill>
                  <a:srgbClr val="333333"/>
                </a:solidFill>
              </a:defRPr>
            </a:pPr>
            <a:r>
              <a:t>These three specs tell you everything:</a:t>
            </a:r>
          </a:p>
          <a:p>
            <a:pPr>
              <a:spcAft>
                <a:spcPts val="600"/>
              </a:spcAft>
              <a:defRPr sz="1800">
                <a:solidFill>
                  <a:srgbClr val="333333"/>
                </a:solidFill>
              </a:defRPr>
            </a:pPr>
            <a:r>
              <a:t>CCA → Can it start the engine in winter?</a:t>
            </a:r>
          </a:p>
          <a:p>
            <a:pPr>
              <a:spcAft>
                <a:spcPts val="600"/>
              </a:spcAft>
              <a:defRPr sz="1800">
                <a:solidFill>
                  <a:srgbClr val="333333"/>
                </a:solidFill>
              </a:defRPr>
            </a:pPr>
            <a:r>
              <a:t>RC → How long can I drive with failed alternator?</a:t>
            </a:r>
          </a:p>
          <a:p>
            <a:pPr>
              <a:spcAft>
                <a:spcPts val="600"/>
              </a:spcAft>
              <a:defRPr sz="1800">
                <a:solidFill>
                  <a:srgbClr val="333333"/>
                </a:solidFill>
              </a:defRPr>
            </a:pPr>
            <a:r>
              <a:t>Ah → How long can the car sit before battery dies?</a:t>
            </a:r>
          </a:p>
          <a:p>
            <a:pPr>
              <a:spcAft>
                <a:spcPts val="1000"/>
              </a:spcAft>
              <a:defRPr sz="1800">
                <a:solidFill>
                  <a:srgbClr val="333333"/>
                </a:solidFill>
              </a:defRPr>
            </a:pPr>
            <a:r>
              <a:t>Always match or exceed the manufacturer's specified ratings when replacing a battery.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Battery Types - Lead-Acid vs AGM</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Not all lead-acid batteries are the same. Let's compare the two main types.</a:t>
            </a:r>
          </a:p>
          <a:p>
            <a:pPr>
              <a:spcAft>
                <a:spcPts val="1000"/>
              </a:spcAft>
              <a:defRPr sz="1800">
                <a:solidFill>
                  <a:srgbClr val="333333"/>
                </a:solidFill>
              </a:defRPr>
            </a:pPr>
            <a:r>
              <a:t>FLOODED LEAD-ACID BATTERY (Traditional)</a:t>
            </a:r>
          </a:p>
          <a:p>
            <a:pPr>
              <a:spcAft>
                <a:spcPts val="1000"/>
              </a:spcAft>
              <a:defRPr sz="1800">
                <a:solidFill>
                  <a:srgbClr val="333333"/>
                </a:solidFill>
              </a:defRPr>
            </a:pPr>
            <a:r>
              <a:t>Design: — Free-flowing liquid electrolyte (sulfuric acid + water)</a:t>
            </a:r>
          </a:p>
          <a:p>
            <a:pPr>
              <a:spcAft>
                <a:spcPts val="600"/>
              </a:spcAft>
              <a:defRPr sz="1800">
                <a:solidFill>
                  <a:srgbClr val="333333"/>
                </a:solidFill>
              </a:defRPr>
            </a:pPr>
            <a:r>
              <a:t>Removable caps (can add water to cells)</a:t>
            </a:r>
          </a:p>
          <a:p>
            <a:pPr>
              <a:spcAft>
                <a:spcPts val="600"/>
              </a:spcAft>
              <a:defRPr sz="1800">
                <a:solidFill>
                  <a:srgbClr val="333333"/>
                </a:solidFill>
              </a:defRPr>
            </a:pPr>
            <a:r>
              <a:t>Vented (gases escape during charging)</a:t>
            </a:r>
          </a:p>
          <a:p>
            <a:pPr>
              <a:spcAft>
                <a:spcPts val="1000"/>
              </a:spcAft>
              <a:defRPr sz="1800">
                <a:solidFill>
                  <a:srgbClr val="333333"/>
                </a:solidFill>
              </a:defRPr>
            </a:pPr>
            <a:r>
              <a:t>Advantages:</a:t>
            </a:r>
          </a:p>
          <a:p>
            <a:pPr>
              <a:spcAft>
                <a:spcPts val="1000"/>
              </a:spcAft>
              <a:defRPr sz="1800">
                <a:solidFill>
                  <a:srgbClr val="333333"/>
                </a:solidFill>
              </a:defRPr>
            </a:pPr>
            <a:r>
              <a:t>✅ Cheap ($50-100 for typical car battery)</a:t>
            </a:r>
          </a:p>
          <a:p>
            <a:pPr>
              <a:spcAft>
                <a:spcPts val="1000"/>
              </a:spcAft>
              <a:defRPr sz="1800">
                <a:solidFill>
                  <a:srgbClr val="333333"/>
                </a:solidFill>
              </a:defRPr>
            </a:pPr>
            <a:r>
              <a:t>✅ Proven technology (100+ years of use)</a:t>
            </a:r>
          </a:p>
          <a:p>
            <a:pPr>
              <a:spcAft>
                <a:spcPts val="1000"/>
              </a:spcAft>
              <a:defRPr sz="1800">
                <a:solidFill>
                  <a:srgbClr val="333333"/>
                </a:solidFill>
              </a:defRPr>
            </a:pPr>
            <a:r>
              <a:t>✅ Serviceable (can add distilled water if low)</a:t>
            </a:r>
          </a:p>
          <a:p>
            <a:pPr>
              <a:spcAft>
                <a:spcPts val="1000"/>
              </a:spcAft>
              <a:defRPr sz="1800">
                <a:solidFill>
                  <a:srgbClr val="333333"/>
                </a:solidFill>
              </a:defRPr>
            </a:pPr>
            <a:r>
              <a:t>✅ Widely available (every auto parts store)</a:t>
            </a:r>
          </a:p>
          <a:p>
            <a:pPr>
              <a:spcAft>
                <a:spcPts val="1000"/>
              </a:spcAft>
              <a:defRPr sz="1800">
                <a:solidFill>
                  <a:srgbClr val="333333"/>
                </a:solidFill>
              </a:defRPr>
            </a:pPr>
            <a:r>
              <a:t>Disadvantages:</a:t>
            </a:r>
          </a:p>
          <a:p>
            <a:pPr>
              <a:spcAft>
                <a:spcPts val="1000"/>
              </a:spcAft>
              <a:defRPr sz="1800">
                <a:solidFill>
                  <a:srgbClr val="333333"/>
                </a:solidFill>
              </a:defRPr>
            </a:pPr>
            <a:r>
              <a:t>❌ Maintenance required (check water level, add distilled water)</a:t>
            </a:r>
          </a:p>
          <a:p>
            <a:pPr>
              <a:spcAft>
                <a:spcPts val="1000"/>
              </a:spcAft>
              <a:defRPr sz="1800">
                <a:solidFill>
                  <a:srgbClr val="333333"/>
                </a:solidFill>
              </a:defRPr>
            </a:pPr>
            <a:r>
              <a:t>❌ Must be upright (liquid can spill)</a:t>
            </a:r>
          </a:p>
          <a:p>
            <a:pPr>
              <a:spcAft>
                <a:spcPts val="1000"/>
              </a:spcAft>
              <a:defRPr sz="1800">
                <a:solidFill>
                  <a:srgbClr val="333333"/>
                </a:solidFill>
              </a:defRPr>
            </a:pPr>
            <a:r>
              <a:t>❌ Shorter life (3-5 years typical)</a:t>
            </a:r>
          </a:p>
          <a:p>
            <a:pPr>
              <a:spcAft>
                <a:spcPts val="1000"/>
              </a:spcAft>
              <a:defRPr sz="1800">
                <a:solidFill>
                  <a:srgbClr val="333333"/>
                </a:solidFill>
              </a:defRPr>
            </a:pPr>
            <a:r>
              <a:t>❌ Slower charging (cannot accept very high current)</a:t>
            </a:r>
          </a:p>
          <a:p>
            <a:pPr>
              <a:spcAft>
                <a:spcPts val="1000"/>
              </a:spcAft>
              <a:defRPr sz="1800">
                <a:solidFill>
                  <a:srgbClr val="333333"/>
                </a:solidFill>
              </a:defRPr>
            </a:pPr>
            <a:r>
              <a:t>❌ Sulfation susceptible (lead sulfate crystals form if left discharged)</a:t>
            </a:r>
          </a:p>
          <a:p>
            <a:pPr>
              <a:spcAft>
                <a:spcPts val="1000"/>
              </a:spcAft>
              <a:defRPr sz="1800">
                <a:solidFill>
                  <a:srgbClr val="333333"/>
                </a:solidFill>
              </a:defRPr>
            </a:pPr>
            <a:r>
              <a:t>Best For: — Budget-conscious buyers</a:t>
            </a:r>
          </a:p>
          <a:p>
            <a:pPr>
              <a:spcAft>
                <a:spcPts val="600"/>
              </a:spcAft>
              <a:defRPr sz="1800">
                <a:solidFill>
                  <a:srgbClr val="333333"/>
                </a:solidFill>
              </a:defRPr>
            </a:pPr>
            <a:r>
              <a:t>Conventional vehicles without start-stop</a:t>
            </a:r>
          </a:p>
          <a:p>
            <a:pPr>
              <a:spcAft>
                <a:spcPts val="600"/>
              </a:spcAft>
              <a:defRPr sz="1800">
                <a:solidFill>
                  <a:srgbClr val="333333"/>
                </a:solidFill>
              </a:defRPr>
            </a:pPr>
            <a:r>
              <a:t>Users willing to perform basic maintenance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AGM BATTERY (Absorbed Glass Mat)</a:t>
            </a:r>
          </a:p>
          <a:p>
            <a:pPr>
              <a:spcAft>
                <a:spcPts val="1000"/>
              </a:spcAft>
              <a:defRPr sz="1800">
                <a:solidFill>
                  <a:srgbClr val="333333"/>
                </a:solidFill>
              </a:defRPr>
            </a:pPr>
            <a:r>
              <a:t>Design: — Electrolyte absorbed in fiberglass mat between plates</a:t>
            </a:r>
          </a:p>
          <a:p>
            <a:pPr>
              <a:spcAft>
                <a:spcPts val="600"/>
              </a:spcAft>
              <a:defRPr sz="1800">
                <a:solidFill>
                  <a:srgbClr val="333333"/>
                </a:solidFill>
              </a:defRPr>
            </a:pPr>
            <a:r>
              <a:t>No free-flowing liquid</a:t>
            </a:r>
          </a:p>
          <a:p>
            <a:pPr>
              <a:spcAft>
                <a:spcPts val="600"/>
              </a:spcAft>
              <a:defRPr sz="1800">
                <a:solidFill>
                  <a:srgbClr val="333333"/>
                </a:solidFill>
              </a:defRPr>
            </a:pPr>
            <a:r>
              <a:t>Sealed (valve-regulated, maintenance-free)</a:t>
            </a:r>
          </a:p>
          <a:p>
            <a:pPr>
              <a:spcAft>
                <a:spcPts val="600"/>
              </a:spcAft>
              <a:defRPr sz="1800">
                <a:solidFill>
                  <a:srgbClr val="333333"/>
                </a:solidFill>
              </a:defRPr>
            </a:pPr>
            <a:r>
              <a:t>Tighter plate compression</a:t>
            </a:r>
          </a:p>
          <a:p>
            <a:pPr>
              <a:spcAft>
                <a:spcPts val="1000"/>
              </a:spcAft>
              <a:defRPr sz="1800">
                <a:solidFill>
                  <a:srgbClr val="333333"/>
                </a:solidFill>
              </a:defRPr>
            </a:pPr>
            <a:r>
              <a:t>Construction Details: — Fiberglass mat wraps each plate</a:t>
            </a:r>
          </a:p>
          <a:p>
            <a:pPr>
              <a:spcAft>
                <a:spcPts val="600"/>
              </a:spcAft>
              <a:defRPr sz="1800">
                <a:solidFill>
                  <a:srgbClr val="333333"/>
                </a:solidFill>
              </a:defRPr>
            </a:pPr>
            <a:r>
              <a:t>Electrolyte is absorbed by mat (like a sponge)</a:t>
            </a:r>
          </a:p>
          <a:p>
            <a:pPr>
              <a:spcAft>
                <a:spcPts val="600"/>
              </a:spcAft>
              <a:defRPr sz="1800">
                <a:solidFill>
                  <a:srgbClr val="333333"/>
                </a:solidFill>
              </a:defRPr>
            </a:pPr>
            <a:r>
              <a:t>Mat keeps acid in contact with plates</a:t>
            </a:r>
          </a:p>
          <a:p>
            <a:pPr>
              <a:spcAft>
                <a:spcPts val="600"/>
              </a:spcAft>
              <a:defRPr sz="1800">
                <a:solidFill>
                  <a:srgbClr val="333333"/>
                </a:solidFill>
              </a:defRPr>
            </a:pPr>
            <a:r>
              <a:t>Plates are compressed tightly (low internal resistance)</a:t>
            </a:r>
          </a:p>
          <a:p>
            <a:pPr>
              <a:spcAft>
                <a:spcPts val="1000"/>
              </a:spcAft>
              <a:defRPr sz="1800">
                <a:solidFill>
                  <a:srgbClr val="333333"/>
                </a:solidFill>
              </a:defRPr>
            </a:pPr>
            <a:r>
              <a:t>Advantages:</a:t>
            </a:r>
          </a:p>
          <a:p>
            <a:pPr>
              <a:spcAft>
                <a:spcPts val="1000"/>
              </a:spcAft>
              <a:defRPr sz="1800">
                <a:solidFill>
                  <a:srgbClr val="333333"/>
                </a:solidFill>
              </a:defRPr>
            </a:pPr>
            <a:r>
              <a:t>✅ Maintenance-free (sealed, no water addition needed)</a:t>
            </a:r>
          </a:p>
          <a:p>
            <a:pPr>
              <a:spcAft>
                <a:spcPts val="1000"/>
              </a:spcAft>
              <a:defRPr sz="1800">
                <a:solidFill>
                  <a:srgbClr val="333333"/>
                </a:solidFill>
              </a:defRPr>
            </a:pPr>
            <a:r>
              <a:t>✅ Can mount in any position (no spillage risk)</a:t>
            </a:r>
          </a:p>
          <a:p>
            <a:pPr>
              <a:spcAft>
                <a:spcPts val="1000"/>
              </a:spcAft>
              <a:defRPr sz="1800">
                <a:solidFill>
                  <a:srgbClr val="333333"/>
                </a:solidFill>
              </a:defRPr>
            </a:pPr>
            <a:r>
              <a:t>✅ Longer life (5-8 years typical)</a:t>
            </a:r>
          </a:p>
          <a:p>
            <a:pPr>
              <a:spcAft>
                <a:spcPts val="1000"/>
              </a:spcAft>
              <a:defRPr sz="1800">
                <a:solidFill>
                  <a:srgbClr val="333333"/>
                </a:solidFill>
              </a:defRPr>
            </a:pPr>
            <a:r>
              <a:t>✅ Higher power density (more CCA from same size)</a:t>
            </a:r>
          </a:p>
          <a:p>
            <a:pPr>
              <a:spcAft>
                <a:spcPts val="1000"/>
              </a:spcAft>
              <a:defRPr sz="1800">
                <a:solidFill>
                  <a:srgbClr val="333333"/>
                </a:solidFill>
              </a:defRPr>
            </a:pPr>
            <a:r>
              <a:t>✅ Fast charging (low internal resistance → accepts high current)</a:t>
            </a:r>
          </a:p>
          <a:p>
            <a:pPr>
              <a:spcAft>
                <a:spcPts val="1000"/>
              </a:spcAft>
              <a:defRPr sz="1800">
                <a:solidFill>
                  <a:srgbClr val="333333"/>
                </a:solidFill>
              </a:defRPr>
            </a:pPr>
            <a:r>
              <a:t>✅ Deep discharge tolerant (better recovery from being fully drained)</a:t>
            </a:r>
          </a:p>
          <a:p>
            <a:pPr>
              <a:spcAft>
                <a:spcPts val="1000"/>
              </a:spcAft>
              <a:defRPr sz="1800">
                <a:solidFill>
                  <a:srgbClr val="333333"/>
                </a:solidFill>
              </a:defRPr>
            </a:pPr>
            <a:r>
              <a:t>✅ Lower self-discharge (retains charge longer when parked)</a:t>
            </a:r>
          </a:p>
          <a:p>
            <a:pPr>
              <a:spcAft>
                <a:spcPts val="1000"/>
              </a:spcAft>
              <a:defRPr sz="1800">
                <a:solidFill>
                  <a:srgbClr val="333333"/>
                </a:solidFill>
              </a:defRPr>
            </a:pPr>
            <a:r>
              <a:t>✅ Vibration resistant (compressed construction is robust)</a:t>
            </a:r>
          </a:p>
          <a:p>
            <a:pPr>
              <a:spcAft>
                <a:spcPts val="1000"/>
              </a:spcAft>
              <a:defRPr sz="1800">
                <a:solidFill>
                  <a:srgbClr val="333333"/>
                </a:solidFill>
              </a:defRPr>
            </a:pPr>
            <a:r>
              <a:t>Disadvantages:</a:t>
            </a:r>
          </a:p>
          <a:p>
            <a:pPr>
              <a:spcAft>
                <a:spcPts val="1000"/>
              </a:spcAft>
              <a:defRPr sz="1800">
                <a:solidFill>
                  <a:srgbClr val="333333"/>
                </a:solidFill>
              </a:defRPr>
            </a:pPr>
            <a:r>
              <a:t>❌ Expensive ($150-300, 2-3× cost of flooded)</a:t>
            </a:r>
          </a:p>
          <a:p>
            <a:pPr>
              <a:spcAft>
                <a:spcPts val="1000"/>
              </a:spcAft>
              <a:defRPr sz="1800">
                <a:solidFill>
                  <a:srgbClr val="333333"/>
                </a:solidFill>
              </a:defRPr>
            </a:pPr>
            <a:r>
              <a:t>❌ Sensitive to overcharging (requires precise voltage regulation)</a:t>
            </a:r>
          </a:p>
          <a:p>
            <a:pPr>
              <a:spcAft>
                <a:spcPts val="1000"/>
              </a:spcAft>
              <a:defRPr sz="1800">
                <a:solidFill>
                  <a:srgbClr val="333333"/>
                </a:solidFill>
              </a:defRPr>
            </a:pPr>
            <a:r>
              <a:t>❌ Cannot service (sealed—if damaged, replace entire battery)</a:t>
            </a:r>
          </a:p>
          <a:p>
            <a:pPr>
              <a:spcAft>
                <a:spcPts val="1000"/>
              </a:spcAft>
              <a:defRPr sz="1800">
                <a:solidFill>
                  <a:srgbClr val="333333"/>
                </a:solidFill>
              </a:defRPr>
            </a:pPr>
            <a:r>
              <a:t>Best For: — Start-stop vehicles (frequent cycling, high charge/discharge rates)</a:t>
            </a:r>
          </a:p>
          <a:p>
            <a:pPr>
              <a:spcAft>
                <a:spcPts val="600"/>
              </a:spcAft>
              <a:defRPr sz="1800">
                <a:solidFill>
                  <a:srgbClr val="333333"/>
                </a:solidFill>
              </a:defRPr>
            </a:pPr>
            <a:r>
              <a:t>Stop-start systems (engine shuts off at every stoplight)</a:t>
            </a:r>
          </a:p>
          <a:p>
            <a:pPr>
              <a:spcAft>
                <a:spcPts val="600"/>
              </a:spcAft>
              <a:defRPr sz="1800">
                <a:solidFill>
                  <a:srgbClr val="333333"/>
                </a:solidFill>
              </a:defRPr>
            </a:pPr>
            <a:r>
              <a:t>High-performance cars (need maximum power density)</a:t>
            </a:r>
          </a:p>
          <a:p>
            <a:pPr>
              <a:spcAft>
                <a:spcPts val="600"/>
              </a:spcAft>
              <a:defRPr sz="1800">
                <a:solidFill>
                  <a:srgbClr val="333333"/>
                </a:solidFill>
              </a:defRPr>
            </a:pPr>
            <a:r>
              <a:t>Vehicles with heavy electrical loads (many accessories, aftermarket audio)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EFB BATTERY (Enhanced Flooded Battery) - Honorable Mention</a:t>
            </a:r>
          </a:p>
          <a:p>
            <a:pPr>
              <a:spcAft>
                <a:spcPts val="1000"/>
              </a:spcAft>
              <a:defRPr sz="1800">
                <a:solidFill>
                  <a:srgbClr val="333333"/>
                </a:solidFill>
              </a:defRPr>
            </a:pPr>
            <a:r>
              <a:t>Middle Ground: Better than flooded, cheaper than AGM</a:t>
            </a:r>
          </a:p>
          <a:p>
            <a:pPr>
              <a:spcAft>
                <a:spcPts val="1000"/>
              </a:spcAft>
              <a:defRPr sz="1800">
                <a:solidFill>
                  <a:srgbClr val="333333"/>
                </a:solidFill>
              </a:defRPr>
            </a:pPr>
            <a:r>
              <a:t>Design: — Flooded design with enhanced plates (special additives, thicker plates)</a:t>
            </a:r>
          </a:p>
          <a:p>
            <a:pPr>
              <a:spcAft>
                <a:spcPts val="600"/>
              </a:spcAft>
              <a:defRPr sz="1800">
                <a:solidFill>
                  <a:srgbClr val="333333"/>
                </a:solidFill>
              </a:defRPr>
            </a:pPr>
            <a:r>
              <a:t>Better cycling ability than standard flooded</a:t>
            </a:r>
          </a:p>
          <a:p>
            <a:pPr>
              <a:spcAft>
                <a:spcPts val="600"/>
              </a:spcAft>
              <a:defRPr sz="1800">
                <a:solidFill>
                  <a:srgbClr val="333333"/>
                </a:solidFill>
              </a:defRPr>
            </a:pPr>
            <a:r>
              <a:t>Not as good as AGM, but 50% cheaper</a:t>
            </a:r>
          </a:p>
          <a:p>
            <a:pPr>
              <a:spcAft>
                <a:spcPts val="1000"/>
              </a:spcAft>
              <a:defRPr sz="1800">
                <a:solidFill>
                  <a:srgbClr val="333333"/>
                </a:solidFill>
              </a:defRPr>
            </a:pPr>
            <a:r>
              <a:t>Used In: — Entry-level start-stop vehicles</a:t>
            </a:r>
          </a:p>
          <a:p>
            <a:pPr>
              <a:spcAft>
                <a:spcPts val="600"/>
              </a:spcAft>
              <a:defRPr sz="1800">
                <a:solidFill>
                  <a:srgbClr val="333333"/>
                </a:solidFill>
              </a:defRPr>
            </a:pPr>
            <a:r>
              <a:t>Cost-sensitive applications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COMPARISON TABLE:</a:t>
            </a:r>
          </a:p>
          <a:p>
            <a:pPr>
              <a:spcAft>
                <a:spcPts val="1000"/>
              </a:spcAft>
              <a:defRPr sz="1800">
                <a:solidFill>
                  <a:srgbClr val="333333"/>
                </a:solidFill>
              </a:defRPr>
            </a:pPr>
            <a:r>
              <a:t>| Feature | Flooded Lead-Acid | EFB | AGM |</a:t>
            </a:r>
          </a:p>
          <a:p>
            <a:pPr>
              <a:spcAft>
                <a:spcPts val="1000"/>
              </a:spcAft>
              <a:defRPr sz="1800">
                <a:solidFill>
                  <a:srgbClr val="333333"/>
                </a:solidFill>
              </a:defRPr>
            </a:pPr>
            <a:r>
              <a:t>|---------|-------------------|-----|-----|</a:t>
            </a:r>
          </a:p>
          <a:p>
            <a:pPr>
              <a:spcAft>
                <a:spcPts val="1000"/>
              </a:spcAft>
              <a:defRPr sz="1800">
                <a:solidFill>
                  <a:srgbClr val="333333"/>
                </a:solidFill>
              </a:defRPr>
            </a:pPr>
            <a:r>
              <a:t>| Cost | $50-100 | $80-150 | $150-300 |</a:t>
            </a:r>
          </a:p>
          <a:p>
            <a:pPr>
              <a:spcAft>
                <a:spcPts val="1000"/>
              </a:spcAft>
              <a:defRPr sz="1800">
                <a:solidFill>
                  <a:srgbClr val="333333"/>
                </a:solidFill>
              </a:defRPr>
            </a:pPr>
            <a:r>
              <a:t>| Lifespan | 3-5 years | 4-6 years | 5-8 years |</a:t>
            </a:r>
          </a:p>
          <a:p>
            <a:pPr>
              <a:spcAft>
                <a:spcPts val="1000"/>
              </a:spcAft>
              <a:defRPr sz="1800">
                <a:solidFill>
                  <a:srgbClr val="333333"/>
                </a:solidFill>
              </a:defRPr>
            </a:pPr>
            <a:r>
              <a:t>| CCA (same size) | Baseline | +15% | +30% |</a:t>
            </a:r>
          </a:p>
          <a:p>
            <a:pPr>
              <a:spcAft>
                <a:spcPts val="1000"/>
              </a:spcAft>
              <a:defRPr sz="1800">
                <a:solidFill>
                  <a:srgbClr val="333333"/>
                </a:solidFill>
              </a:defRPr>
            </a:pPr>
            <a:r>
              <a:t>| Charge acceptance | Slow | Medium | Fast |</a:t>
            </a:r>
          </a:p>
          <a:p>
            <a:pPr>
              <a:spcAft>
                <a:spcPts val="1000"/>
              </a:spcAft>
              <a:defRPr sz="1800">
                <a:solidFill>
                  <a:srgbClr val="333333"/>
                </a:solidFill>
              </a:defRPr>
            </a:pPr>
            <a:r>
              <a:t>| Cycle life | 200-300 cycles | 300-500 cycles | 500-1,000 cycles |</a:t>
            </a:r>
          </a:p>
          <a:p>
            <a:pPr>
              <a:spcAft>
                <a:spcPts val="1000"/>
              </a:spcAft>
              <a:defRPr sz="1800">
                <a:solidFill>
                  <a:srgbClr val="333333"/>
                </a:solidFill>
              </a:defRPr>
            </a:pPr>
            <a:r>
              <a:t>| Maintenance | Required | Minimal | None |</a:t>
            </a:r>
          </a:p>
          <a:p>
            <a:pPr>
              <a:spcAft>
                <a:spcPts val="1000"/>
              </a:spcAft>
              <a:defRPr sz="1800">
                <a:solidFill>
                  <a:srgbClr val="333333"/>
                </a:solidFill>
              </a:defRPr>
            </a:pPr>
            <a:r>
              <a:t>| Mounting | Upright only | Upright only | Any position |</a:t>
            </a:r>
          </a:p>
          <a:p>
            <a:pPr>
              <a:spcAft>
                <a:spcPts val="1000"/>
              </a:spcAft>
              <a:defRPr sz="1800">
                <a:solidFill>
                  <a:srgbClr val="333333"/>
                </a:solidFill>
              </a:defRPr>
            </a:pPr>
            <a:r>
              <a:t>| Best for | Conventional cars | Basic start-stop | Performance, start-stop |</a:t>
            </a:r>
          </a:p>
          <a:p>
            <a:pPr>
              <a:spcAft>
                <a:spcPts val="1000"/>
              </a:spcAft>
              <a:defRPr sz="1800">
                <a:solidFill>
                  <a:srgbClr val="333333"/>
                </a:solidFill>
              </a:defRPr>
            </a:pPr>
            <a:r>
              <a:t>Instructor Narration (continued):</a:t>
            </a:r>
          </a:p>
          <a:p>
            <a:pPr>
              <a:spcAft>
                <a:spcPts val="1000"/>
              </a:spcAft>
              <a:defRPr sz="1800">
                <a:solidFill>
                  <a:srgbClr val="333333"/>
                </a:solidFill>
              </a:defRPr>
            </a:pPr>
            <a:r>
              <a:t>If your car came with AGM, replace with AGM. The charging system is tuned for AGM's characteristics. If you downgrade to flooded, the alternator may overcharge it (shortens life).</a:t>
            </a:r>
          </a:p>
          <a:p>
            <a:pPr>
              <a:spcAft>
                <a:spcPts val="1000"/>
              </a:spcAft>
              <a:defRPr sz="1800">
                <a:solidFill>
                  <a:srgbClr val="333333"/>
                </a:solidFill>
              </a:defRPr>
            </a:pPr>
            <a:r>
              <a:t>Conversely, upgrading from flooded to AGM is usually fine (better performance), but expensive.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Alternator - Mechanical to Electrical Conversion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While the battery stores energy, the alternator generates it. Let's see how.</a:t>
            </a:r>
          </a:p>
          <a:p>
            <a:pPr>
              <a:spcAft>
                <a:spcPts val="1000"/>
              </a:spcAft>
              <a:defRPr sz="1800">
                <a:solidFill>
                  <a:srgbClr val="333333"/>
                </a:solidFill>
              </a:defRPr>
            </a:pPr>
            <a:r>
              <a:t>ALTERNATOR FUNCTION:</a:t>
            </a:r>
          </a:p>
          <a:p>
            <a:pPr>
              <a:spcAft>
                <a:spcPts val="1000"/>
              </a:spcAft>
              <a:defRPr sz="1800">
                <a:solidFill>
                  <a:srgbClr val="333333"/>
                </a:solidFill>
              </a:defRPr>
            </a:pPr>
            <a:r>
              <a:t>Convert mechanical energy (engine rotation) → electrical energy (current to charge battery and power loads)</a:t>
            </a:r>
          </a:p>
          <a:p>
            <a:pPr>
              <a:spcAft>
                <a:spcPts val="1000"/>
              </a:spcAft>
              <a:defRPr sz="1800">
                <a:solidFill>
                  <a:srgbClr val="333333"/>
                </a:solidFill>
              </a:defRPr>
            </a:pPr>
            <a:r>
              <a:t>Basic Components:</a:t>
            </a:r>
          </a:p>
          <a:p>
            <a:pPr>
              <a:spcAft>
                <a:spcPts val="1000"/>
              </a:spcAft>
              <a:defRPr sz="1800">
                <a:solidFill>
                  <a:srgbClr val="333333"/>
                </a:solidFill>
              </a:defRPr>
            </a:pPr>
            <a:r>
              <a:t>1. ROTOR (Rotating Electromagnet)</a:t>
            </a:r>
          </a:p>
          <a:p>
            <a:pPr>
              <a:spcAft>
                <a:spcPts val="1000"/>
              </a:spcAft>
              <a:defRPr sz="1800">
                <a:solidFill>
                  <a:srgbClr val="333333"/>
                </a:solidFill>
              </a:defRPr>
            </a:pPr>
            <a:r>
              <a:t>Construction: — Iron core with copper wire windings</a:t>
            </a:r>
          </a:p>
          <a:p>
            <a:pPr>
              <a:spcAft>
                <a:spcPts val="600"/>
              </a:spcAft>
              <a:defRPr sz="1800">
                <a:solidFill>
                  <a:srgbClr val="333333"/>
                </a:solidFill>
              </a:defRPr>
            </a:pPr>
            <a:r>
              <a:t>Mounted on shaft (driven by engine via belt)</a:t>
            </a:r>
          </a:p>
          <a:p>
            <a:pPr>
              <a:spcAft>
                <a:spcPts val="600"/>
              </a:spcAft>
              <a:defRPr sz="1800">
                <a:solidFill>
                  <a:srgbClr val="333333"/>
                </a:solidFill>
              </a:defRPr>
            </a:pPr>
            <a:r>
              <a:t>Two slip rings (for electrical connection while rotating)</a:t>
            </a:r>
          </a:p>
          <a:p>
            <a:pPr>
              <a:spcAft>
                <a:spcPts val="600"/>
              </a:spcAft>
              <a:defRPr sz="1800">
                <a:solidFill>
                  <a:srgbClr val="333333"/>
                </a:solidFill>
              </a:defRPr>
            </a:pPr>
            <a:r>
              <a:t>Brushes (carbon) contact slip rings to supply DC to rotor windings</a:t>
            </a:r>
          </a:p>
          <a:p>
            <a:pPr>
              <a:spcAft>
                <a:spcPts val="1000"/>
              </a:spcAft>
              <a:defRPr sz="1800">
                <a:solidFill>
                  <a:srgbClr val="333333"/>
                </a:solidFill>
              </a:defRPr>
            </a:pPr>
            <a:r>
              <a:t>Function: — DC current flows through rotor windings (from voltage regulator)</a:t>
            </a:r>
          </a:p>
          <a:p>
            <a:pPr>
              <a:spcAft>
                <a:spcPts val="600"/>
              </a:spcAft>
              <a:defRPr sz="1800">
                <a:solidFill>
                  <a:srgbClr val="333333"/>
                </a:solidFill>
              </a:defRPr>
            </a:pPr>
            <a:r>
              <a:t>Creates rotating magnetic field — Typical rotation: 1,500-6,000 RPM (engine speed × pulley ratio)</a:t>
            </a:r>
          </a:p>
          <a:p>
            <a:pPr>
              <a:spcAft>
                <a:spcPts val="1000"/>
              </a:spcAft>
              <a:defRPr sz="1800">
                <a:solidFill>
                  <a:srgbClr val="333333"/>
                </a:solidFill>
              </a:defRPr>
            </a:pPr>
            <a:r>
              <a:t>2. STATOR (Stationary Windings)</a:t>
            </a:r>
          </a:p>
          <a:p>
            <a:pPr>
              <a:spcAft>
                <a:spcPts val="1000"/>
              </a:spcAft>
              <a:defRPr sz="1800">
                <a:solidFill>
                  <a:srgbClr val="333333"/>
                </a:solidFill>
              </a:defRPr>
            </a:pPr>
            <a:r>
              <a:t>Construction: — Three sets of copper wire windings (3-phase)</a:t>
            </a:r>
          </a:p>
          <a:p>
            <a:pPr>
              <a:spcAft>
                <a:spcPts val="600"/>
              </a:spcAft>
              <a:defRPr sz="1800">
                <a:solidFill>
                  <a:srgbClr val="333333"/>
                </a:solidFill>
              </a:defRPr>
            </a:pPr>
            <a:r>
              <a:t>Arranged around rotor (120° apart electrically)</a:t>
            </a:r>
          </a:p>
          <a:p>
            <a:pPr>
              <a:spcAft>
                <a:spcPts val="600"/>
              </a:spcAft>
              <a:defRPr sz="1800">
                <a:solidFill>
                  <a:srgbClr val="333333"/>
                </a:solidFill>
              </a:defRPr>
            </a:pPr>
            <a:r>
              <a:t>Mounted inside alternator housing (does not rotate)</a:t>
            </a:r>
          </a:p>
          <a:p>
            <a:pPr>
              <a:spcAft>
                <a:spcPts val="1000"/>
              </a:spcAft>
              <a:defRPr sz="1800">
                <a:solidFill>
                  <a:srgbClr val="333333"/>
                </a:solidFill>
              </a:defRPr>
            </a:pPr>
            <a:r>
              <a:t>Function: — Rotating magnetic field (from rotor) cuts across stator windings</a:t>
            </a:r>
          </a:p>
          <a:p>
            <a:pPr>
              <a:spcAft>
                <a:spcPts val="600"/>
              </a:spcAft>
              <a:defRPr sz="1800">
                <a:solidFill>
                  <a:srgbClr val="333333"/>
                </a:solidFill>
              </a:defRPr>
            </a:pPr>
            <a:r>
              <a:t>Electromagnetic induction (Faraday's law) generates AC voltage in windings</a:t>
            </a:r>
          </a:p>
          <a:p>
            <a:pPr>
              <a:spcAft>
                <a:spcPts val="600"/>
              </a:spcAft>
              <a:defRPr sz="1800">
                <a:solidFill>
                  <a:srgbClr val="333333"/>
                </a:solidFill>
              </a:defRPr>
            </a:pPr>
            <a:r>
              <a:t>Three-phase AC output (3 sine waves, 120° out of phase)</a:t>
            </a:r>
          </a:p>
          <a:p>
            <a:pPr>
              <a:spcAft>
                <a:spcPts val="1000"/>
              </a:spcAft>
              <a:defRPr sz="1800">
                <a:solidFill>
                  <a:srgbClr val="333333"/>
                </a:solidFill>
              </a:defRPr>
            </a:pPr>
            <a:r>
              <a:t>3. DIODE BRIDGE (Rectifier)</a:t>
            </a:r>
          </a:p>
          <a:p>
            <a:pPr>
              <a:spcAft>
                <a:spcPts val="1000"/>
              </a:spcAft>
              <a:defRPr sz="1800">
                <a:solidFill>
                  <a:srgbClr val="333333"/>
                </a:solidFill>
              </a:defRPr>
            </a:pPr>
            <a:r>
              <a:t>Components: — 6 power diodes (semiconductor devices)</a:t>
            </a:r>
          </a:p>
          <a:p>
            <a:pPr>
              <a:spcAft>
                <a:spcPts val="600"/>
              </a:spcAft>
              <a:defRPr sz="1800">
                <a:solidFill>
                  <a:srgbClr val="333333"/>
                </a:solidFill>
              </a:defRPr>
            </a:pPr>
            <a:r>
              <a:t>Arranged in 3-phase bridge configuration</a:t>
            </a:r>
          </a:p>
          <a:p>
            <a:pPr>
              <a:spcAft>
                <a:spcPts val="1000"/>
              </a:spcAft>
              <a:defRPr sz="1800">
                <a:solidFill>
                  <a:srgbClr val="333333"/>
                </a:solidFill>
              </a:defRPr>
            </a:pPr>
            <a:r>
              <a:t>Function: — Converts AC to DC (rectification)</a:t>
            </a:r>
          </a:p>
          <a:p>
            <a:pPr>
              <a:spcAft>
                <a:spcPts val="600"/>
              </a:spcAft>
              <a:defRPr sz="1800">
                <a:solidFill>
                  <a:srgbClr val="333333"/>
                </a:solidFill>
              </a:defRPr>
            </a:pPr>
            <a:r>
              <a:t>Three-phase AC from stator → Pulsating DC output</a:t>
            </a:r>
          </a:p>
          <a:p>
            <a:pPr>
              <a:spcAft>
                <a:spcPts val="600"/>
              </a:spcAft>
              <a:defRPr sz="1800">
                <a:solidFill>
                  <a:srgbClr val="333333"/>
                </a:solidFill>
              </a:defRPr>
            </a:pPr>
            <a:r>
              <a:t>Diodes allow current flow in one direction only</a:t>
            </a:r>
          </a:p>
          <a:p>
            <a:pPr>
              <a:spcAft>
                <a:spcPts val="600"/>
              </a:spcAft>
              <a:defRPr sz="1800">
                <a:solidFill>
                  <a:srgbClr val="333333"/>
                </a:solidFill>
              </a:defRPr>
            </a:pPr>
            <a:r>
              <a:t>Result: relatively smooth DC voltage</a:t>
            </a:r>
          </a:p>
          <a:p>
            <a:pPr>
              <a:spcAft>
                <a:spcPts val="1000"/>
              </a:spcAft>
              <a:defRPr sz="1800">
                <a:solidFill>
                  <a:srgbClr val="333333"/>
                </a:solidFill>
              </a:defRPr>
            </a:pPr>
            <a:r>
              <a:t>4. VOLTAGE REGULATOR</a:t>
            </a:r>
          </a:p>
          <a:p>
            <a:pPr>
              <a:spcAft>
                <a:spcPts val="1000"/>
              </a:spcAft>
              <a:defRPr sz="1800">
                <a:solidFill>
                  <a:srgbClr val="333333"/>
                </a:solidFill>
              </a:defRPr>
            </a:pPr>
            <a:r>
              <a:t>Function: — Controls rotor field current to regulate output voltage</a:t>
            </a:r>
          </a:p>
          <a:p>
            <a:pPr>
              <a:spcAft>
                <a:spcPts val="600"/>
              </a:spcAft>
              <a:defRPr sz="1800">
                <a:solidFill>
                  <a:srgbClr val="333333"/>
                </a:solidFill>
              </a:defRPr>
            </a:pPr>
            <a:r>
              <a:t>Target: 14.4V (for 12V system)</a:t>
            </a:r>
          </a:p>
          <a:p>
            <a:pPr>
              <a:spcAft>
                <a:spcPts val="600"/>
              </a:spcAft>
              <a:defRPr sz="1800">
                <a:solidFill>
                  <a:srgbClr val="333333"/>
                </a:solidFill>
              </a:defRPr>
            </a:pPr>
            <a:r>
              <a:t>Measures battery voltage</a:t>
            </a:r>
          </a:p>
          <a:p>
            <a:pPr>
              <a:spcAft>
                <a:spcPts val="600"/>
              </a:spcAft>
              <a:defRPr sz="1800">
                <a:solidFill>
                  <a:srgbClr val="333333"/>
                </a:solidFill>
              </a:defRPr>
            </a:pPr>
            <a:r>
              <a:t>If voltage &lt; 14.4V → increase rotor current → stronger field → higher output</a:t>
            </a:r>
          </a:p>
          <a:p>
            <a:pPr>
              <a:spcAft>
                <a:spcPts val="600"/>
              </a:spcAft>
              <a:defRPr sz="1800">
                <a:solidFill>
                  <a:srgbClr val="333333"/>
                </a:solidFill>
              </a:defRPr>
            </a:pPr>
            <a:r>
              <a:t>If voltage &gt; 14.4V → decrease rotor current → weaker field → lower output</a:t>
            </a:r>
          </a:p>
          <a:p>
            <a:pPr>
              <a:spcAft>
                <a:spcPts val="1000"/>
              </a:spcAft>
              <a:defRPr sz="1800">
                <a:solidFill>
                  <a:srgbClr val="333333"/>
                </a:solidFill>
              </a:defRPr>
            </a:pPr>
            <a:r>
              <a:t>Modern Regulators: — Electronic (solid-state transistors, not mechanical)</a:t>
            </a:r>
          </a:p>
          <a:p>
            <a:pPr>
              <a:spcAft>
                <a:spcPts val="600"/>
              </a:spcAft>
              <a:defRPr sz="1800">
                <a:solidFill>
                  <a:srgbClr val="333333"/>
                </a:solidFill>
              </a:defRPr>
            </a:pPr>
            <a:r>
              <a:t>Often integrated into alternator housing</a:t>
            </a:r>
          </a:p>
          <a:p>
            <a:pPr>
              <a:spcAft>
                <a:spcPts val="600"/>
              </a:spcAft>
              <a:defRPr sz="1800">
                <a:solidFill>
                  <a:srgbClr val="333333"/>
                </a:solidFill>
              </a:defRPr>
            </a:pPr>
            <a:r>
              <a:t>Some are ECU-controlled (CAN bus communication for smart charging)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HOW IT WORKS (Complete Cycle):</a:t>
            </a:r>
          </a:p>
          <a:p>
            <a:pPr>
              <a:spcAft>
                <a:spcPts val="1000"/>
              </a:spcAft>
              <a:defRPr sz="1800">
                <a:solidFill>
                  <a:srgbClr val="333333"/>
                </a:solidFill>
              </a:defRPr>
            </a:pPr>
            <a:r>
              <a:t>Step 1: Engine runs → belt drives alternator pulley → rotor spins</a:t>
            </a:r>
          </a:p>
          <a:p>
            <a:pPr>
              <a:spcAft>
                <a:spcPts val="1000"/>
              </a:spcAft>
              <a:defRPr sz="1800">
                <a:solidFill>
                  <a:srgbClr val="333333"/>
                </a:solidFill>
              </a:defRPr>
            </a:pPr>
            <a:r>
              <a:t>Step 2: Battery supplies ~2A DC to rotor windings (via brushes and slip rings)</a:t>
            </a:r>
          </a:p>
          <a:p>
            <a:pPr>
              <a:spcAft>
                <a:spcPts val="1000"/>
              </a:spcAft>
              <a:defRPr sz="1800">
                <a:solidFill>
                  <a:srgbClr val="333333"/>
                </a:solidFill>
              </a:defRPr>
            </a:pPr>
            <a:r>
              <a:t>Step 3: Rotor creates rotating magnetic field</a:t>
            </a:r>
          </a:p>
          <a:p>
            <a:pPr>
              <a:spcAft>
                <a:spcPts val="1000"/>
              </a:spcAft>
              <a:defRPr sz="1800">
                <a:solidFill>
                  <a:srgbClr val="333333"/>
                </a:solidFill>
              </a:defRPr>
            </a:pPr>
            <a:r>
              <a:t>Step 4: Magnetic field cuts stator windings → induces 3-phase AC voltage (Faraday's law)</a:t>
            </a:r>
          </a:p>
          <a:p>
            <a:pPr>
              <a:spcAft>
                <a:spcPts val="1000"/>
              </a:spcAft>
              <a:defRPr sz="1800">
                <a:solidFill>
                  <a:srgbClr val="333333"/>
                </a:solidFill>
              </a:defRPr>
            </a:pPr>
            <a:r>
              <a:t>Step 5: AC voltage passes through diode bridge → rectified to DC</a:t>
            </a:r>
          </a:p>
          <a:p>
            <a:pPr>
              <a:spcAft>
                <a:spcPts val="1000"/>
              </a:spcAft>
              <a:defRPr sz="1800">
                <a:solidFill>
                  <a:srgbClr val="333333"/>
                </a:solidFill>
              </a:defRPr>
            </a:pPr>
            <a:r>
              <a:t>Step 6: DC output (~14.4V, up to 150A) flows to:</a:t>
            </a:r>
          </a:p>
          <a:p>
            <a:pPr>
              <a:spcAft>
                <a:spcPts val="600"/>
              </a:spcAft>
              <a:defRPr sz="1800">
                <a:solidFill>
                  <a:srgbClr val="333333"/>
                </a:solidFill>
              </a:defRPr>
            </a:pPr>
            <a:r>
              <a:t>Battery (charging)</a:t>
            </a:r>
          </a:p>
          <a:p>
            <a:pPr>
              <a:spcAft>
                <a:spcPts val="600"/>
              </a:spcAft>
              <a:defRPr sz="1800">
                <a:solidFill>
                  <a:srgbClr val="333333"/>
                </a:solidFill>
              </a:defRPr>
            </a:pPr>
            <a:r>
              <a:t>All vehicle electrical loads</a:t>
            </a:r>
          </a:p>
          <a:p>
            <a:pPr>
              <a:spcAft>
                <a:spcPts val="600"/>
              </a:spcAft>
              <a:defRPr sz="1800">
                <a:solidFill>
                  <a:srgbClr val="333333"/>
                </a:solidFill>
              </a:defRPr>
            </a:pPr>
            <a:r>
              <a:t>Voltage regulator (senses output voltage, adjusts rotor current)</a:t>
            </a:r>
          </a:p>
          <a:p>
            <a:pPr>
              <a:spcAft>
                <a:spcPts val="1000"/>
              </a:spcAft>
              <a:defRPr sz="1800">
                <a:solidFill>
                  <a:srgbClr val="333333"/>
                </a:solidFill>
              </a:defRPr>
            </a:pPr>
            <a:r>
              <a:t>Step 7: Voltage regulator maintains 14.4V regardless of:</a:t>
            </a:r>
          </a:p>
          <a:p>
            <a:pPr>
              <a:spcAft>
                <a:spcPts val="600"/>
              </a:spcAft>
              <a:defRPr sz="1800">
                <a:solidFill>
                  <a:srgbClr val="333333"/>
                </a:solidFill>
              </a:defRPr>
            </a:pPr>
            <a:r>
              <a:t>Engine speed (idle to redline)</a:t>
            </a:r>
          </a:p>
          <a:p>
            <a:pPr>
              <a:spcAft>
                <a:spcPts val="600"/>
              </a:spcAft>
              <a:defRPr sz="1800">
                <a:solidFill>
                  <a:srgbClr val="333333"/>
                </a:solidFill>
              </a:defRPr>
            </a:pPr>
            <a:r>
              <a:t>Electrical load (lights off vs all accessories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ALTERNATOR RATINGS:</a:t>
            </a:r>
          </a:p>
          <a:p>
            <a:pPr>
              <a:spcAft>
                <a:spcPts val="1000"/>
              </a:spcAft>
              <a:defRPr sz="1800">
                <a:solidFill>
                  <a:srgbClr val="333333"/>
                </a:solidFill>
              </a:defRPr>
            </a:pPr>
            <a:r>
              <a:t>Typical Passenger Car: — Output: 100-150A @ 14.4V — Power: 1,400-2,100W</a:t>
            </a:r>
          </a:p>
          <a:p>
            <a:pPr>
              <a:spcAft>
                <a:spcPts val="600"/>
              </a:spcAft>
              <a:defRPr sz="1800">
                <a:solidFill>
                  <a:srgbClr val="333333"/>
                </a:solidFill>
              </a:defRPr>
            </a:pPr>
            <a:r>
              <a:t>Driven by: Serpentine belt, 2.5:1 to 3:1 pulley ratio</a:t>
            </a:r>
          </a:p>
          <a:p>
            <a:pPr>
              <a:spcAft>
                <a:spcPts val="1000"/>
              </a:spcAft>
              <a:defRPr sz="1800">
                <a:solidFill>
                  <a:srgbClr val="333333"/>
                </a:solidFill>
              </a:defRPr>
            </a:pPr>
            <a:r>
              <a:t>High-Output Alternator (Performance/Luxury): — Output: 180-250A @ 14.4V — Power: 2,500-3,600W</a:t>
            </a:r>
          </a:p>
          <a:p>
            <a:pPr>
              <a:spcAft>
                <a:spcPts val="600"/>
              </a:spcAft>
              <a:defRPr sz="1800">
                <a:solidFill>
                  <a:srgbClr val="333333"/>
                </a:solidFill>
              </a:defRPr>
            </a:pPr>
            <a:r>
              <a:t>Used in: Vehicles with heavy electrical demands (luxury features, aftermarket audio)</a:t>
            </a:r>
          </a:p>
          <a:p>
            <a:pPr>
              <a:spcAft>
                <a:spcPts val="1000"/>
              </a:spcAft>
              <a:defRPr sz="1800">
                <a:solidFill>
                  <a:srgbClr val="333333"/>
                </a:solidFill>
              </a:defRPr>
            </a:pPr>
            <a:r>
              <a:t>Efficiency: — Mechanical input: ~3-5 hp (2,200-3,700W) at full load</a:t>
            </a:r>
          </a:p>
          <a:p>
            <a:pPr>
              <a:spcAft>
                <a:spcPts val="600"/>
              </a:spcAft>
              <a:defRPr sz="1800">
                <a:solidFill>
                  <a:srgbClr val="333333"/>
                </a:solidFill>
              </a:defRPr>
            </a:pPr>
            <a:r>
              <a:t>Electrical output: ~2,000W at 100A</a:t>
            </a:r>
          </a:p>
          <a:p>
            <a:pPr>
              <a:spcAft>
                <a:spcPts val="600"/>
              </a:spcAft>
              <a:defRPr sz="1800">
                <a:solidFill>
                  <a:srgbClr val="333333"/>
                </a:solidFill>
              </a:defRPr>
            </a:pPr>
            <a:r>
              <a:t>Efficiency: ~60-70% (rest lost as heat)</a:t>
            </a:r>
          </a:p>
          <a:p>
            <a:pPr>
              <a:spcAft>
                <a:spcPts val="1000"/>
              </a:spcAft>
              <a:defRPr sz="1800">
                <a:solidFill>
                  <a:srgbClr val="333333"/>
                </a:solidFill>
              </a:defRPr>
            </a:pPr>
            <a:r>
              <a:t>Instructor Narration (continued):</a:t>
            </a:r>
          </a:p>
          <a:p>
            <a:pPr>
              <a:spcAft>
                <a:spcPts val="1000"/>
              </a:spcAft>
              <a:defRPr sz="1800">
                <a:solidFill>
                  <a:srgbClr val="333333"/>
                </a:solidFill>
              </a:defRPr>
            </a:pPr>
            <a:r>
              <a:t>The alternator is one of the most reliable components in a car. But it has limits:</a:t>
            </a:r>
          </a:p>
          <a:p>
            <a:pPr>
              <a:spcAft>
                <a:spcPts val="600"/>
              </a:spcAft>
              <a:defRPr sz="1800">
                <a:solidFill>
                  <a:srgbClr val="333333"/>
                </a:solidFill>
              </a:defRPr>
            </a:pPr>
            <a:r>
              <a:t>Cannot start the engine (needs battery for initial surge)</a:t>
            </a:r>
          </a:p>
          <a:p>
            <a:pPr>
              <a:spcAft>
                <a:spcPts val="600"/>
              </a:spcAft>
              <a:defRPr sz="1800">
                <a:solidFill>
                  <a:srgbClr val="333333"/>
                </a:solidFill>
              </a:defRPr>
            </a:pPr>
            <a:r>
              <a:t>Must spin to generate (no output when engine off)</a:t>
            </a:r>
          </a:p>
          <a:p>
            <a:pPr>
              <a:spcAft>
                <a:spcPts val="600"/>
              </a:spcAft>
              <a:defRPr sz="1800">
                <a:solidFill>
                  <a:srgbClr val="333333"/>
                </a:solidFill>
              </a:defRPr>
            </a:pPr>
            <a:r>
              <a:t>Limited current (100-150A typical—not enough for starting)</a:t>
            </a:r>
          </a:p>
          <a:p>
            <a:pPr>
              <a:spcAft>
                <a:spcPts val="1000"/>
              </a:spcAft>
              <a:defRPr sz="1800">
                <a:solidFill>
                  <a:srgbClr val="333333"/>
                </a:solidFill>
              </a:defRPr>
            </a:pPr>
            <a:r>
              <a:t>That's why we need both battery AND alternator. They're partners.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Charging System Operation - Battery &amp; Alternator Together</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trace the complete charging cycle through different operating scenarios.</a:t>
            </a:r>
          </a:p>
          <a:p>
            <a:pPr>
              <a:spcAft>
                <a:spcPts val="1000"/>
              </a:spcAft>
              <a:defRPr sz="1800">
                <a:solidFill>
                  <a:srgbClr val="333333"/>
                </a:solidFill>
              </a:defRPr>
            </a:pPr>
            <a:r>
              <a:t>SCENARIO 1: ENGINE OFF (Parked)</a:t>
            </a:r>
          </a:p>
          <a:p>
            <a:pPr>
              <a:spcAft>
                <a:spcPts val="1000"/>
              </a:spcAft>
              <a:defRPr sz="1800">
                <a:solidFill>
                  <a:srgbClr val="333333"/>
                </a:solidFill>
              </a:defRPr>
            </a:pPr>
            <a:r>
              <a:t>Energy Flow: — Battery supplies ALL power</a:t>
            </a:r>
          </a:p>
          <a:p>
            <a:pPr>
              <a:spcAft>
                <a:spcPts val="600"/>
              </a:spcAft>
              <a:defRPr sz="1800">
                <a:solidFill>
                  <a:srgbClr val="333333"/>
                </a:solidFill>
              </a:defRPr>
            </a:pPr>
            <a:r>
              <a:t>Parasitic loads: 50-150mA (0.05-0.15A)</a:t>
            </a:r>
          </a:p>
          <a:p>
            <a:pPr>
              <a:spcAft>
                <a:spcPts val="600"/>
              </a:spcAft>
              <a:defRPr sz="1800">
                <a:solidFill>
                  <a:srgbClr val="333333"/>
                </a:solidFill>
              </a:defRPr>
            </a:pPr>
            <a:r>
              <a:t>Alarm system</a:t>
            </a:r>
          </a:p>
          <a:p>
            <a:pPr>
              <a:spcAft>
                <a:spcPts val="600"/>
              </a:spcAft>
              <a:defRPr sz="1800">
                <a:solidFill>
                  <a:srgbClr val="333333"/>
                </a:solidFill>
              </a:defRPr>
            </a:pPr>
            <a:r>
              <a:t>ECU memory (radio presets, etc.)</a:t>
            </a:r>
          </a:p>
          <a:p>
            <a:pPr>
              <a:spcAft>
                <a:spcPts val="600"/>
              </a:spcAft>
              <a:defRPr sz="1800">
                <a:solidFill>
                  <a:srgbClr val="333333"/>
                </a:solidFill>
              </a:defRPr>
            </a:pPr>
            <a:r>
              <a:t>Clock</a:t>
            </a:r>
          </a:p>
          <a:p>
            <a:pPr>
              <a:spcAft>
                <a:spcPts val="600"/>
              </a:spcAft>
              <a:defRPr sz="1800">
                <a:solidFill>
                  <a:srgbClr val="333333"/>
                </a:solidFill>
              </a:defRPr>
            </a:pPr>
            <a:r>
              <a:t>Remote keyless entry receiver</a:t>
            </a:r>
          </a:p>
          <a:p>
            <a:pPr>
              <a:spcAft>
                <a:spcPts val="1000"/>
              </a:spcAft>
              <a:defRPr sz="1800">
                <a:solidFill>
                  <a:srgbClr val="333333"/>
                </a:solidFill>
              </a:defRPr>
            </a:pPr>
            <a:r>
              <a:t>Battery Voltage: — Fully charged: 12.6V</a:t>
            </a:r>
          </a:p>
          <a:p>
            <a:pPr>
              <a:spcAft>
                <a:spcPts val="600"/>
              </a:spcAft>
              <a:defRPr sz="1800">
                <a:solidFill>
                  <a:srgbClr val="333333"/>
                </a:solidFill>
              </a:defRPr>
            </a:pPr>
            <a:r>
              <a:t>After 1 week: 12.4V (slight self-discharge)</a:t>
            </a:r>
          </a:p>
          <a:p>
            <a:pPr>
              <a:spcAft>
                <a:spcPts val="600"/>
              </a:spcAft>
              <a:defRPr sz="1800">
                <a:solidFill>
                  <a:srgbClr val="333333"/>
                </a:solidFill>
              </a:defRPr>
            </a:pPr>
            <a:r>
              <a:t>After 2 weeks: 12.2V</a:t>
            </a:r>
          </a:p>
          <a:p>
            <a:pPr>
              <a:spcAft>
                <a:spcPts val="600"/>
              </a:spcAft>
              <a:defRPr sz="1800">
                <a:solidFill>
                  <a:srgbClr val="333333"/>
                </a:solidFill>
              </a:defRPr>
            </a:pPr>
            <a:r>
              <a:t>After 1 month: 11.8V (should recharge)</a:t>
            </a:r>
          </a:p>
          <a:p>
            <a:pPr>
              <a:spcAft>
                <a:spcPts val="1000"/>
              </a:spcAft>
              <a:defRPr sz="1800">
                <a:solidFill>
                  <a:srgbClr val="333333"/>
                </a:solidFill>
              </a:defRPr>
            </a:pPr>
            <a:r>
              <a:t>Key Point: Battery slowly discharges. Must drive periodically to recharge.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SCENARIO 2: STARTING ENGINE</a:t>
            </a:r>
          </a:p>
          <a:p>
            <a:pPr>
              <a:spcAft>
                <a:spcPts val="1000"/>
              </a:spcAft>
              <a:defRPr sz="1800">
                <a:solidFill>
                  <a:srgbClr val="333333"/>
                </a:solidFill>
              </a:defRPr>
            </a:pPr>
            <a:r>
              <a:t>Energy Flow: — Battery supplies massive current to starter motor: 150-200A</a:t>
            </a:r>
          </a:p>
          <a:p>
            <a:pPr>
              <a:spcAft>
                <a:spcPts val="600"/>
              </a:spcAft>
              <a:defRPr sz="1800">
                <a:solidFill>
                  <a:srgbClr val="333333"/>
                </a:solidFill>
              </a:defRPr>
            </a:pPr>
            <a:r>
              <a:t>Voltage drops temporarily: 9-11V (this is normal!)</a:t>
            </a:r>
          </a:p>
          <a:p>
            <a:pPr>
              <a:spcAft>
                <a:spcPts val="600"/>
              </a:spcAft>
              <a:defRPr sz="1800">
                <a:solidFill>
                  <a:srgbClr val="333333"/>
                </a:solidFill>
              </a:defRPr>
            </a:pPr>
            <a:r>
              <a:t>All other loads also run from battery during cranking</a:t>
            </a:r>
          </a:p>
          <a:p>
            <a:pPr>
              <a:spcAft>
                <a:spcPts val="600"/>
              </a:spcAft>
              <a:defRPr sz="1800">
                <a:solidFill>
                  <a:srgbClr val="333333"/>
                </a:solidFill>
              </a:defRPr>
            </a:pPr>
            <a:r>
              <a:t>Alternator NOT producing (not spinning fast enough yet)</a:t>
            </a:r>
          </a:p>
          <a:p>
            <a:pPr>
              <a:spcAft>
                <a:spcPts val="1000"/>
              </a:spcAft>
              <a:defRPr sz="1800">
                <a:solidFill>
                  <a:srgbClr val="333333"/>
                </a:solidFill>
              </a:defRPr>
            </a:pPr>
            <a:r>
              <a:t>Duration: 2-5 seconds of cranking</a:t>
            </a:r>
          </a:p>
          <a:p>
            <a:pPr>
              <a:spcAft>
                <a:spcPts val="1000"/>
              </a:spcAft>
              <a:defRPr sz="1800">
                <a:solidFill>
                  <a:srgbClr val="333333"/>
                </a:solidFill>
              </a:defRPr>
            </a:pPr>
            <a:r>
              <a:t>Battery State After Start: — Lost ~50-100 Wh of energy (depending on cranking time)</a:t>
            </a:r>
          </a:p>
          <a:p>
            <a:pPr>
              <a:spcAft>
                <a:spcPts val="600"/>
              </a:spcAft>
              <a:defRPr sz="1800">
                <a:solidFill>
                  <a:srgbClr val="333333"/>
                </a:solidFill>
              </a:defRPr>
            </a:pPr>
            <a:r>
              <a:t>Voltage recovers to ~12.0-12.2V after cranking stops</a:t>
            </a:r>
          </a:p>
          <a:p>
            <a:pPr>
              <a:spcAft>
                <a:spcPts val="600"/>
              </a:spcAft>
              <a:defRPr sz="1800">
                <a:solidFill>
                  <a:srgbClr val="333333"/>
                </a:solidFill>
              </a:defRPr>
            </a:pPr>
            <a:r>
              <a:t>Battery is now partially discharged → needs recharging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SCENARIO 3: ENGINE IDLING (Stopped at Traffic Light)</a:t>
            </a:r>
          </a:p>
          <a:p>
            <a:pPr>
              <a:spcAft>
                <a:spcPts val="1000"/>
              </a:spcAft>
              <a:defRPr sz="1800">
                <a:solidFill>
                  <a:srgbClr val="333333"/>
                </a:solidFill>
              </a:defRPr>
            </a:pPr>
            <a:r>
              <a:t>Energy Flow: — Engine speed: 600-900 RPM</a:t>
            </a:r>
          </a:p>
          <a:p>
            <a:pPr>
              <a:spcAft>
                <a:spcPts val="600"/>
              </a:spcAft>
              <a:defRPr sz="1800">
                <a:solidFill>
                  <a:srgbClr val="333333"/>
                </a:solidFill>
              </a:defRPr>
            </a:pPr>
            <a:r>
              <a:t>Alternator speed: 1,800-2,700 RPM (via pulley ratio)</a:t>
            </a:r>
          </a:p>
          <a:p>
            <a:pPr>
              <a:spcAft>
                <a:spcPts val="600"/>
              </a:spcAft>
              <a:defRPr sz="1800">
                <a:solidFill>
                  <a:srgbClr val="333333"/>
                </a:solidFill>
              </a:defRPr>
            </a:pPr>
            <a:r>
              <a:t>Alternator output: 80-100A @ 14.4V (not at full capacity yet)</a:t>
            </a:r>
          </a:p>
          <a:p>
            <a:pPr>
              <a:spcAft>
                <a:spcPts val="1000"/>
              </a:spcAft>
              <a:defRPr sz="1800">
                <a:solidFill>
                  <a:srgbClr val="333333"/>
                </a:solidFill>
              </a:defRPr>
            </a:pPr>
            <a:r>
              <a:t>Load Analysis: — Engine management: 50W → 4A</a:t>
            </a:r>
          </a:p>
          <a:p>
            <a:pPr>
              <a:spcAft>
                <a:spcPts val="600"/>
              </a:spcAft>
              <a:defRPr sz="1800">
                <a:solidFill>
                  <a:srgbClr val="333333"/>
                </a:solidFill>
              </a:defRPr>
            </a:pPr>
            <a:r>
              <a:t>Fuel pump: 60W → 5A</a:t>
            </a:r>
          </a:p>
          <a:p>
            <a:pPr>
              <a:spcAft>
                <a:spcPts val="600"/>
              </a:spcAft>
              <a:defRPr sz="1800">
                <a:solidFill>
                  <a:srgbClr val="333333"/>
                </a:solidFill>
              </a:defRPr>
            </a:pPr>
            <a:r>
              <a:t>Headlights: 120W → 10A</a:t>
            </a:r>
          </a:p>
          <a:p>
            <a:pPr>
              <a:spcAft>
                <a:spcPts val="600"/>
              </a:spcAft>
              <a:defRPr sz="1800">
                <a:solidFill>
                  <a:srgbClr val="333333"/>
                </a:solidFill>
              </a:defRPr>
            </a:pPr>
            <a:r>
              <a:t>HVAC blower (low): 50W → 4A</a:t>
            </a:r>
          </a:p>
          <a:p>
            <a:pPr>
              <a:spcAft>
                <a:spcPts val="600"/>
              </a:spcAft>
              <a:defRPr sz="1800">
                <a:solidFill>
                  <a:srgbClr val="333333"/>
                </a:solidFill>
              </a:defRPr>
            </a:pPr>
            <a:r>
              <a:t>Electronics: 50W → 4A</a:t>
            </a:r>
          </a:p>
          <a:p>
            <a:pPr>
              <a:spcAft>
                <a:spcPts val="600"/>
              </a:spcAft>
              <a:defRPr sz="1800">
                <a:solidFill>
                  <a:srgbClr val="333333"/>
                </a:solidFill>
              </a:defRPr>
            </a:pPr>
            <a:r>
              <a:t>Total load: 330W → 27A</a:t>
            </a:r>
          </a:p>
          <a:p>
            <a:pPr>
              <a:spcAft>
                <a:spcPts val="1000"/>
              </a:spcAft>
              <a:defRPr sz="1800">
                <a:solidFill>
                  <a:srgbClr val="333333"/>
                </a:solidFill>
              </a:defRPr>
            </a:pPr>
            <a:r>
              <a:t>Balance: — Alternator output: 80A</a:t>
            </a:r>
          </a:p>
          <a:p>
            <a:pPr>
              <a:spcAft>
                <a:spcPts val="600"/>
              </a:spcAft>
              <a:defRPr sz="1800">
                <a:solidFill>
                  <a:srgbClr val="333333"/>
                </a:solidFill>
              </a:defRPr>
            </a:pPr>
            <a:r>
              <a:t>Load: 27A</a:t>
            </a:r>
          </a:p>
          <a:p>
            <a:pPr>
              <a:spcAft>
                <a:spcPts val="600"/>
              </a:spcAft>
              <a:defRPr sz="1800">
                <a:solidFill>
                  <a:srgbClr val="333333"/>
                </a:solidFill>
              </a:defRPr>
            </a:pPr>
            <a:r>
              <a:t>Surplus: 53A → flows into battery (charging)</a:t>
            </a:r>
          </a:p>
          <a:p>
            <a:pPr>
              <a:spcAft>
                <a:spcPts val="1000"/>
              </a:spcAft>
              <a:defRPr sz="1800">
                <a:solidFill>
                  <a:srgbClr val="333333"/>
                </a:solidFill>
              </a:defRPr>
            </a:pPr>
            <a:r>
              <a:t>Charging: — Battery voltage: 14.4V (charging voltage)</a:t>
            </a:r>
          </a:p>
          <a:p>
            <a:pPr>
              <a:spcAft>
                <a:spcPts val="600"/>
              </a:spcAft>
              <a:defRPr sz="1800">
                <a:solidFill>
                  <a:srgbClr val="333333"/>
                </a:solidFill>
              </a:defRPr>
            </a:pPr>
            <a:r>
              <a:t>Charging current: 53A (initially high, tapers as battery fills)</a:t>
            </a:r>
          </a:p>
          <a:p>
            <a:pPr>
              <a:spcAft>
                <a:spcPts val="600"/>
              </a:spcAft>
              <a:defRPr sz="1800">
                <a:solidFill>
                  <a:srgbClr val="333333"/>
                </a:solidFill>
              </a:defRPr>
            </a:pPr>
            <a:r>
              <a:t>Battery gradually recovers from starting discharge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SCENARIO 4: HIGHWAY CRUISING (Optimal Charging)</a:t>
            </a:r>
          </a:p>
          <a:p>
            <a:pPr>
              <a:spcAft>
                <a:spcPts val="1000"/>
              </a:spcAft>
              <a:defRPr sz="1800">
                <a:solidFill>
                  <a:srgbClr val="333333"/>
                </a:solidFill>
              </a:defRPr>
            </a:pPr>
            <a:r>
              <a:t>Energy Flow: — Engine speed: 2,000-3,000 RPM</a:t>
            </a:r>
          </a:p>
          <a:p>
            <a:pPr>
              <a:spcAft>
                <a:spcPts val="600"/>
              </a:spcAft>
              <a:defRPr sz="1800">
                <a:solidFill>
                  <a:srgbClr val="333333"/>
                </a:solidFill>
              </a:defRPr>
            </a:pPr>
            <a:r>
              <a:t>Alternator speed: 6,000-9,000 RPM</a:t>
            </a:r>
          </a:p>
          <a:p>
            <a:pPr>
              <a:spcAft>
                <a:spcPts val="600"/>
              </a:spcAft>
              <a:defRPr sz="1800">
                <a:solidFill>
                  <a:srgbClr val="333333"/>
                </a:solidFill>
              </a:defRPr>
            </a:pPr>
            <a:r>
              <a:t>Alternator output: FULL CAPACITY 100-150A @ 14.4V</a:t>
            </a:r>
          </a:p>
          <a:p>
            <a:pPr>
              <a:spcAft>
                <a:spcPts val="1000"/>
              </a:spcAft>
              <a:defRPr sz="1800">
                <a:solidFill>
                  <a:srgbClr val="333333"/>
                </a:solidFill>
              </a:defRPr>
            </a:pPr>
            <a:r>
              <a:t>Load Analysis (Daytime): — Engine/fuel: 100W → 8A</a:t>
            </a:r>
          </a:p>
          <a:p>
            <a:pPr>
              <a:spcAft>
                <a:spcPts val="600"/>
              </a:spcAft>
              <a:defRPr sz="1800">
                <a:solidFill>
                  <a:srgbClr val="333333"/>
                </a:solidFill>
              </a:defRPr>
            </a:pPr>
            <a:r>
              <a:t>HVAC (medium): 150W → 12A</a:t>
            </a:r>
          </a:p>
          <a:p>
            <a:pPr>
              <a:spcAft>
                <a:spcPts val="600"/>
              </a:spcAft>
              <a:defRPr sz="1800">
                <a:solidFill>
                  <a:srgbClr val="333333"/>
                </a:solidFill>
              </a:defRPr>
            </a:pPr>
            <a:r>
              <a:t>Electronics: 50W → 4A</a:t>
            </a:r>
          </a:p>
          <a:p>
            <a:pPr>
              <a:spcAft>
                <a:spcPts val="600"/>
              </a:spcAft>
              <a:defRPr sz="1800">
                <a:solidFill>
                  <a:srgbClr val="333333"/>
                </a:solidFill>
              </a:defRPr>
            </a:pPr>
            <a:r>
              <a:t>Lights (DRL): 20W → 2A</a:t>
            </a:r>
          </a:p>
          <a:p>
            <a:pPr>
              <a:spcAft>
                <a:spcPts val="600"/>
              </a:spcAft>
              <a:defRPr sz="1800">
                <a:solidFill>
                  <a:srgbClr val="333333"/>
                </a:solidFill>
              </a:defRPr>
            </a:pPr>
            <a:r>
              <a:t>Total load: 320W → 26A</a:t>
            </a:r>
          </a:p>
          <a:p>
            <a:pPr>
              <a:spcAft>
                <a:spcPts val="1000"/>
              </a:spcAft>
              <a:defRPr sz="1800">
                <a:solidFill>
                  <a:srgbClr val="333333"/>
                </a:solidFill>
              </a:defRPr>
            </a:pPr>
            <a:r>
              <a:t>Balance: — Alternator output: 150A (full capacity)</a:t>
            </a:r>
          </a:p>
          <a:p>
            <a:pPr>
              <a:spcAft>
                <a:spcPts val="600"/>
              </a:spcAft>
              <a:defRPr sz="1800">
                <a:solidFill>
                  <a:srgbClr val="333333"/>
                </a:solidFill>
              </a:defRPr>
            </a:pPr>
            <a:r>
              <a:t>Load: 26A</a:t>
            </a:r>
          </a:p>
          <a:p>
            <a:pPr>
              <a:spcAft>
                <a:spcPts val="600"/>
              </a:spcAft>
              <a:defRPr sz="1800">
                <a:solidFill>
                  <a:srgbClr val="333333"/>
                </a:solidFill>
              </a:defRPr>
            </a:pPr>
            <a:r>
              <a:t>Surplus: 124A → flows into battery</a:t>
            </a:r>
          </a:p>
          <a:p>
            <a:pPr>
              <a:spcAft>
                <a:spcPts val="1000"/>
              </a:spcAft>
              <a:defRPr sz="1800">
                <a:solidFill>
                  <a:srgbClr val="333333"/>
                </a:solidFill>
              </a:defRPr>
            </a:pPr>
            <a:r>
              <a:t>Result: — Battery charges very quickly — Battery fully recharged in ~10-15 minutes of highway driving</a:t>
            </a:r>
          </a:p>
          <a:p>
            <a:pPr>
              <a:spcAft>
                <a:spcPts val="600"/>
              </a:spcAft>
              <a:defRPr sz="1800">
                <a:solidFill>
                  <a:srgbClr val="333333"/>
                </a:solidFill>
              </a:defRPr>
            </a:pPr>
            <a:r>
              <a:t>Voltage: 14.4V (regulated)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SCENARIO 5: HIGH ELECTRICAL LOAD (Night, Cold, Rain)</a:t>
            </a:r>
          </a:p>
          <a:p>
            <a:pPr>
              <a:spcAft>
                <a:spcPts val="1000"/>
              </a:spcAft>
              <a:defRPr sz="1800">
                <a:solidFill>
                  <a:srgbClr val="333333"/>
                </a:solidFill>
              </a:defRPr>
            </a:pPr>
            <a:r>
              <a:t>Energy Flow: — Engine speed: 2,000 RPM (steady cruise)</a:t>
            </a:r>
          </a:p>
          <a:p>
            <a:pPr>
              <a:spcAft>
                <a:spcPts val="600"/>
              </a:spcAft>
              <a:defRPr sz="1800">
                <a:solidFill>
                  <a:srgbClr val="333333"/>
                </a:solidFill>
              </a:defRPr>
            </a:pPr>
            <a:r>
              <a:t>Alternator output: 150A @ 14.4V (full capacity)</a:t>
            </a:r>
          </a:p>
          <a:p>
            <a:pPr>
              <a:spcAft>
                <a:spcPts val="1000"/>
              </a:spcAft>
              <a:defRPr sz="1800">
                <a:solidFill>
                  <a:srgbClr val="333333"/>
                </a:solidFill>
              </a:defRPr>
            </a:pPr>
            <a:r>
              <a:t>Load Analysis: — Engine/fuel: 100W → 8A</a:t>
            </a:r>
          </a:p>
          <a:p>
            <a:pPr>
              <a:spcAft>
                <a:spcPts val="600"/>
              </a:spcAft>
              <a:defRPr sz="1800">
                <a:solidFill>
                  <a:srgbClr val="333333"/>
                </a:solidFill>
              </a:defRPr>
            </a:pPr>
            <a:r>
              <a:t>Headlights: 120W → 10A</a:t>
            </a:r>
          </a:p>
          <a:p>
            <a:pPr>
              <a:spcAft>
                <a:spcPts val="600"/>
              </a:spcAft>
              <a:defRPr sz="1800">
                <a:solidFill>
                  <a:srgbClr val="333333"/>
                </a:solidFill>
              </a:defRPr>
            </a:pPr>
            <a:r>
              <a:t>HVAC (max): 300W → 25A</a:t>
            </a:r>
          </a:p>
          <a:p>
            <a:pPr>
              <a:spcAft>
                <a:spcPts val="600"/>
              </a:spcAft>
              <a:defRPr sz="1800">
                <a:solidFill>
                  <a:srgbClr val="333333"/>
                </a:solidFill>
              </a:defRPr>
            </a:pPr>
            <a:r>
              <a:t>Rear defroster: 200W → 17A</a:t>
            </a:r>
          </a:p>
          <a:p>
            <a:pPr>
              <a:spcAft>
                <a:spcPts val="600"/>
              </a:spcAft>
              <a:defRPr sz="1800">
                <a:solidFill>
                  <a:srgbClr val="333333"/>
                </a:solidFill>
              </a:defRPr>
            </a:pPr>
            <a:r>
              <a:t>Wipers: 100W → 8A</a:t>
            </a:r>
          </a:p>
          <a:p>
            <a:pPr>
              <a:spcAft>
                <a:spcPts val="600"/>
              </a:spcAft>
              <a:defRPr sz="1800">
                <a:solidFill>
                  <a:srgbClr val="333333"/>
                </a:solidFill>
              </a:defRPr>
            </a:pPr>
            <a:r>
              <a:t>Heated seats: 150W → 12A</a:t>
            </a:r>
          </a:p>
          <a:p>
            <a:pPr>
              <a:spcAft>
                <a:spcPts val="600"/>
              </a:spcAft>
              <a:defRPr sz="1800">
                <a:solidFill>
                  <a:srgbClr val="333333"/>
                </a:solidFill>
              </a:defRPr>
            </a:pPr>
            <a:r>
              <a:t>Radiator fan: 400W → 33A</a:t>
            </a:r>
          </a:p>
          <a:p>
            <a:pPr>
              <a:spcAft>
                <a:spcPts val="600"/>
              </a:spcAft>
              <a:defRPr sz="1800">
                <a:solidFill>
                  <a:srgbClr val="333333"/>
                </a:solidFill>
              </a:defRPr>
            </a:pPr>
            <a:r>
              <a:t>Audio/electronics: 100W → 8A</a:t>
            </a:r>
          </a:p>
          <a:p>
            <a:pPr>
              <a:spcAft>
                <a:spcPts val="600"/>
              </a:spcAft>
              <a:defRPr sz="1800">
                <a:solidFill>
                  <a:srgbClr val="333333"/>
                </a:solidFill>
              </a:defRPr>
            </a:pPr>
            <a:r>
              <a:t>Total load: 1,470W → 122A</a:t>
            </a:r>
          </a:p>
          <a:p>
            <a:pPr>
              <a:spcAft>
                <a:spcPts val="1000"/>
              </a:spcAft>
              <a:defRPr sz="1800">
                <a:solidFill>
                  <a:srgbClr val="333333"/>
                </a:solidFill>
              </a:defRPr>
            </a:pPr>
            <a:r>
              <a:t>Balance: — Alternator output: 150A</a:t>
            </a:r>
          </a:p>
          <a:p>
            <a:pPr>
              <a:spcAft>
                <a:spcPts val="600"/>
              </a:spcAft>
              <a:defRPr sz="1800">
                <a:solidFill>
                  <a:srgbClr val="333333"/>
                </a:solidFill>
              </a:defRPr>
            </a:pPr>
            <a:r>
              <a:t>Load: 122A</a:t>
            </a:r>
          </a:p>
          <a:p>
            <a:pPr>
              <a:spcAft>
                <a:spcPts val="600"/>
              </a:spcAft>
              <a:defRPr sz="1800">
                <a:solidFill>
                  <a:srgbClr val="333333"/>
                </a:solidFill>
              </a:defRPr>
            </a:pPr>
            <a:r>
              <a:t>Surplus: 28A → slight charging</a:t>
            </a:r>
          </a:p>
          <a:p>
            <a:pPr>
              <a:spcAft>
                <a:spcPts val="1000"/>
              </a:spcAft>
              <a:defRPr sz="1800">
                <a:solidFill>
                  <a:srgbClr val="333333"/>
                </a:solidFill>
              </a:defRPr>
            </a:pPr>
            <a:r>
              <a:t>Result: — Alternator can barely keep up — Battery still charges, but slowly</a:t>
            </a:r>
          </a:p>
          <a:p>
            <a:pPr>
              <a:spcAft>
                <a:spcPts val="600"/>
              </a:spcAft>
              <a:defRPr sz="1800">
                <a:solidFill>
                  <a:srgbClr val="333333"/>
                </a:solidFill>
              </a:defRPr>
            </a:pPr>
            <a:r>
              <a:t>If you add more loads (aftermarket lights, amplifier), alternator can't keep up → battery slowly discharges while driving!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SCENARIO 6: OVERLOAD (Excessive Accessories)</a:t>
            </a:r>
          </a:p>
          <a:p>
            <a:pPr>
              <a:spcAft>
                <a:spcPts val="1000"/>
              </a:spcAft>
              <a:defRPr sz="1800">
                <a:solidFill>
                  <a:srgbClr val="333333"/>
                </a:solidFill>
              </a:defRPr>
            </a:pPr>
            <a:r>
              <a:t>Problem: Aftermarket stereo amplifier added (800W)</a:t>
            </a:r>
          </a:p>
          <a:p>
            <a:pPr>
              <a:spcAft>
                <a:spcPts val="1000"/>
              </a:spcAft>
              <a:defRPr sz="1800">
                <a:solidFill>
                  <a:srgbClr val="333333"/>
                </a:solidFill>
              </a:defRPr>
            </a:pPr>
            <a:r>
              <a:t>Load Analysis: — Normal load: 122A</a:t>
            </a:r>
          </a:p>
          <a:p>
            <a:pPr>
              <a:spcAft>
                <a:spcPts val="600"/>
              </a:spcAft>
              <a:defRPr sz="1800">
                <a:solidFill>
                  <a:srgbClr val="333333"/>
                </a:solidFill>
              </a:defRPr>
            </a:pPr>
            <a:r>
              <a:t>Amplifier: 800W / 12V = 67A</a:t>
            </a:r>
          </a:p>
          <a:p>
            <a:pPr>
              <a:spcAft>
                <a:spcPts val="600"/>
              </a:spcAft>
              <a:defRPr sz="1800">
                <a:solidFill>
                  <a:srgbClr val="333333"/>
                </a:solidFill>
              </a:defRPr>
            </a:pPr>
            <a:r>
              <a:t>Total: 189A</a:t>
            </a:r>
          </a:p>
          <a:p>
            <a:pPr>
              <a:spcAft>
                <a:spcPts val="1000"/>
              </a:spcAft>
              <a:defRPr sz="1800">
                <a:solidFill>
                  <a:srgbClr val="333333"/>
                </a:solidFill>
              </a:defRPr>
            </a:pPr>
            <a:r>
              <a:t>Balance: — Alternator output: 150A (maximum)</a:t>
            </a:r>
          </a:p>
          <a:p>
            <a:pPr>
              <a:spcAft>
                <a:spcPts val="600"/>
              </a:spcAft>
              <a:defRPr sz="1800">
                <a:solidFill>
                  <a:srgbClr val="333333"/>
                </a:solidFill>
              </a:defRPr>
            </a:pPr>
            <a:r>
              <a:t>Load: 189A</a:t>
            </a:r>
          </a:p>
          <a:p>
            <a:pPr>
              <a:spcAft>
                <a:spcPts val="600"/>
              </a:spcAft>
              <a:defRPr sz="1800">
                <a:solidFill>
                  <a:srgbClr val="333333"/>
                </a:solidFill>
              </a:defRPr>
            </a:pPr>
            <a:r>
              <a:t>Deficit: -39A → battery must supply the difference</a:t>
            </a:r>
          </a:p>
          <a:p>
            <a:pPr>
              <a:spcAft>
                <a:spcPts val="1000"/>
              </a:spcAft>
              <a:defRPr sz="1800">
                <a:solidFill>
                  <a:srgbClr val="333333"/>
                </a:solidFill>
              </a:defRPr>
            </a:pPr>
            <a:r>
              <a:t>Result: — Voltage drops below 14.4V (maybe 13.5V)</a:t>
            </a:r>
          </a:p>
          <a:p>
            <a:pPr>
              <a:spcAft>
                <a:spcPts val="600"/>
              </a:spcAft>
              <a:defRPr sz="1800">
                <a:solidFill>
                  <a:srgbClr val="333333"/>
                </a:solidFill>
              </a:defRPr>
            </a:pPr>
            <a:r>
              <a:t>Battery discharges while driving (not sustainable)</a:t>
            </a:r>
          </a:p>
          <a:p>
            <a:pPr>
              <a:spcAft>
                <a:spcPts val="600"/>
              </a:spcAft>
              <a:defRPr sz="1800">
                <a:solidFill>
                  <a:srgbClr val="333333"/>
                </a:solidFill>
              </a:defRPr>
            </a:pPr>
            <a:r>
              <a:t>Eventually battery dies</a:t>
            </a:r>
          </a:p>
          <a:p>
            <a:pPr>
              <a:spcAft>
                <a:spcPts val="600"/>
              </a:spcAft>
              <a:defRPr sz="1800">
                <a:solidFill>
                  <a:srgbClr val="333333"/>
                </a:solidFill>
              </a:defRPr>
            </a:pPr>
            <a:r>
              <a:t>Solution: Upgrade to high-output alternator (200A capacity)</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is critical for anyone modifying their vehicle: The alternator must exceed your maximum electrical load. If you add high-power accessories (amplifiers, lights, winches), you MUST upgrade the alternator. Otherwise, you're slowly killing your battery every time you drive.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Smart Charging &amp; Voltage Regulation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Modern vehicles use intelligent charging systems that go beyond simple voltage regulation.</a:t>
            </a:r>
          </a:p>
          <a:p>
            <a:pPr>
              <a:spcAft>
                <a:spcPts val="1000"/>
              </a:spcAft>
              <a:defRPr sz="1800">
                <a:solidFill>
                  <a:srgbClr val="333333"/>
                </a:solidFill>
              </a:defRPr>
            </a:pPr>
            <a:r>
              <a:t>TRADITIONAL CHARGING (Pre-2000s): — Voltage regulator maintains constant 14.4V — Simple feedback loop (measure voltage, adjust field current)</a:t>
            </a:r>
          </a:p>
          <a:p>
            <a:pPr>
              <a:spcAft>
                <a:spcPts val="600"/>
              </a:spcAft>
              <a:defRPr sz="1800">
                <a:solidFill>
                  <a:srgbClr val="333333"/>
                </a:solidFill>
              </a:defRPr>
            </a:pPr>
            <a:r>
              <a:t>Works, but not optimal</a:t>
            </a:r>
          </a:p>
          <a:p>
            <a:pPr>
              <a:spcAft>
                <a:spcPts val="1000"/>
              </a:spcAft>
              <a:defRPr sz="1800">
                <a:solidFill>
                  <a:srgbClr val="333333"/>
                </a:solidFill>
              </a:defRPr>
            </a:pPr>
            <a:r>
              <a:t>MODERN SMART CHARGING (2010s+):</a:t>
            </a:r>
          </a:p>
          <a:p>
            <a:pPr>
              <a:spcAft>
                <a:spcPts val="1000"/>
              </a:spcAft>
              <a:defRPr sz="1800">
                <a:solidFill>
                  <a:srgbClr val="333333"/>
                </a:solidFill>
              </a:defRPr>
            </a:pPr>
            <a:r>
              <a:t>Components:</a:t>
            </a:r>
          </a:p>
          <a:p>
            <a:pPr>
              <a:spcAft>
                <a:spcPts val="1000"/>
              </a:spcAft>
              <a:defRPr sz="1800">
                <a:solidFill>
                  <a:srgbClr val="333333"/>
                </a:solidFill>
              </a:defRPr>
            </a:pPr>
            <a:r>
              <a:t>1. Battery Sensor — Clamps onto negative battery terminal</a:t>
            </a:r>
          </a:p>
          <a:p>
            <a:pPr>
              <a:spcAft>
                <a:spcPts val="600"/>
              </a:spcAft>
              <a:defRPr sz="1800">
                <a:solidFill>
                  <a:srgbClr val="333333"/>
                </a:solidFill>
              </a:defRPr>
            </a:pPr>
            <a:r>
              <a:t>Measures three parameters:</a:t>
            </a:r>
          </a:p>
          <a:p>
            <a:pPr>
              <a:spcAft>
                <a:spcPts val="600"/>
              </a:spcAft>
              <a:defRPr sz="1800">
                <a:solidFill>
                  <a:srgbClr val="333333"/>
                </a:solidFill>
              </a:defRPr>
            </a:pPr>
            <a:r>
              <a:t>Voltage (battery state of charge)</a:t>
            </a:r>
          </a:p>
          <a:p>
            <a:pPr>
              <a:spcAft>
                <a:spcPts val="600"/>
              </a:spcAft>
              <a:defRPr sz="1800">
                <a:solidFill>
                  <a:srgbClr val="333333"/>
                </a:solidFill>
              </a:defRPr>
            </a:pPr>
            <a:r>
              <a:t>Current (charge/discharge rate)</a:t>
            </a:r>
          </a:p>
          <a:p>
            <a:pPr>
              <a:spcAft>
                <a:spcPts val="600"/>
              </a:spcAft>
              <a:defRPr sz="1800">
                <a:solidFill>
                  <a:srgbClr val="333333"/>
                </a:solidFill>
              </a:defRPr>
            </a:pPr>
            <a:r>
              <a:t>Temperature (affects charging requirements)</a:t>
            </a:r>
          </a:p>
          <a:p>
            <a:pPr>
              <a:spcAft>
                <a:spcPts val="600"/>
              </a:spcAft>
              <a:defRPr sz="1800">
                <a:solidFill>
                  <a:srgbClr val="333333"/>
                </a:solidFill>
              </a:defRPr>
            </a:pPr>
            <a:r>
              <a:t>Sends data to ECU via communication line</a:t>
            </a:r>
          </a:p>
          <a:p>
            <a:pPr>
              <a:spcAft>
                <a:spcPts val="1000"/>
              </a:spcAft>
              <a:defRPr sz="1800">
                <a:solidFill>
                  <a:srgbClr val="333333"/>
                </a:solidFill>
              </a:defRPr>
            </a:pPr>
            <a:r>
              <a:t>2. Engine Control ECU — Receives battery sensor data</a:t>
            </a:r>
          </a:p>
          <a:p>
            <a:pPr>
              <a:spcAft>
                <a:spcPts val="600"/>
              </a:spcAft>
              <a:defRPr sz="1800">
                <a:solidFill>
                  <a:srgbClr val="333333"/>
                </a:solidFill>
              </a:defRPr>
            </a:pPr>
            <a:r>
              <a:t>Calculates optimal charging voltage</a:t>
            </a:r>
          </a:p>
          <a:p>
            <a:pPr>
              <a:spcAft>
                <a:spcPts val="600"/>
              </a:spcAft>
              <a:defRPr sz="1800">
                <a:solidFill>
                  <a:srgbClr val="333333"/>
                </a:solidFill>
              </a:defRPr>
            </a:pPr>
            <a:r>
              <a:t>Commands alternator via CAN bus or PWM signal</a:t>
            </a:r>
          </a:p>
          <a:p>
            <a:pPr>
              <a:spcAft>
                <a:spcPts val="1000"/>
              </a:spcAft>
              <a:defRPr sz="1800">
                <a:solidFill>
                  <a:srgbClr val="333333"/>
                </a:solidFill>
              </a:defRPr>
            </a:pPr>
            <a:r>
              <a:t>3. Smart Alternator — CAN bus enabled (communicates with ECU)</a:t>
            </a:r>
          </a:p>
          <a:p>
            <a:pPr>
              <a:spcAft>
                <a:spcPts val="600"/>
              </a:spcAft>
              <a:defRPr sz="1800">
                <a:solidFill>
                  <a:srgbClr val="333333"/>
                </a:solidFill>
              </a:defRPr>
            </a:pPr>
            <a:r>
              <a:t>Variable voltage output (not fixed 14.4V)</a:t>
            </a:r>
          </a:p>
          <a:p>
            <a:pPr>
              <a:spcAft>
                <a:spcPts val="600"/>
              </a:spcAft>
              <a:defRPr sz="1800">
                <a:solidFill>
                  <a:srgbClr val="333333"/>
                </a:solidFill>
              </a:defRPr>
            </a:pPr>
            <a:r>
              <a:t>Can be commanded to reduce/increase output dynamically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SMART CHARGING STRATEGIES:</a:t>
            </a:r>
          </a:p>
          <a:p>
            <a:pPr>
              <a:spcAft>
                <a:spcPts val="1000"/>
              </a:spcAft>
              <a:defRPr sz="1800">
                <a:solidFill>
                  <a:srgbClr val="333333"/>
                </a:solidFill>
              </a:defRPr>
            </a:pPr>
            <a:r>
              <a:t>Strategy 1: Load-Response Control (LRC)</a:t>
            </a:r>
          </a:p>
          <a:p>
            <a:pPr>
              <a:spcAft>
                <a:spcPts val="1000"/>
              </a:spcAft>
              <a:defRPr sz="1800">
                <a:solidFill>
                  <a:srgbClr val="333333"/>
                </a:solidFill>
              </a:defRPr>
            </a:pPr>
            <a:r>
              <a:t>Concept: Reduce alternator load when engine needs maximum power</a:t>
            </a:r>
          </a:p>
          <a:p>
            <a:pPr>
              <a:spcAft>
                <a:spcPts val="1000"/>
              </a:spcAft>
              <a:defRPr sz="1800">
                <a:solidFill>
                  <a:srgbClr val="333333"/>
                </a:solidFill>
              </a:defRPr>
            </a:pPr>
            <a:r>
              <a:t>Example - Hard Acceleration:</a:t>
            </a:r>
          </a:p>
          <a:p>
            <a:pPr>
              <a:spcAft>
                <a:spcPts val="600"/>
              </a:spcAft>
              <a:defRPr sz="1800">
                <a:solidFill>
                  <a:srgbClr val="333333"/>
                </a:solidFill>
              </a:defRPr>
            </a:pPr>
            <a:r>
              <a:t>Driver floors throttle (pedal position sensor → ECU)</a:t>
            </a:r>
          </a:p>
          <a:p>
            <a:pPr>
              <a:spcAft>
                <a:spcPts val="600"/>
              </a:spcAft>
              <a:defRPr sz="1800">
                <a:solidFill>
                  <a:srgbClr val="333333"/>
                </a:solidFill>
              </a:defRPr>
            </a:pPr>
            <a:r>
              <a:t>ECU commands alternator: "Reduce output to minimum</a:t>
            </a:r>
          </a:p>
          <a:p>
            <a:pPr>
              <a:spcAft>
                <a:spcPts val="600"/>
              </a:spcAft>
              <a:defRPr sz="1800">
                <a:solidFill>
                  <a:srgbClr val="333333"/>
                </a:solidFill>
              </a:defRPr>
            </a:pPr>
            <a:r>
              <a:t>Alternator field current reduced → minimal electrical load on engine</a:t>
            </a:r>
          </a:p>
          <a:p>
            <a:pPr>
              <a:spcAft>
                <a:spcPts val="600"/>
              </a:spcAft>
              <a:defRPr sz="1800">
                <a:solidFill>
                  <a:srgbClr val="333333"/>
                </a:solidFill>
              </a:defRPr>
            </a:pPr>
            <a:r>
              <a:t>Engine power increases (3-5 hp freed up)</a:t>
            </a:r>
          </a:p>
          <a:p>
            <a:pPr>
              <a:spcAft>
                <a:spcPts val="600"/>
              </a:spcAft>
              <a:defRPr sz="1800">
                <a:solidFill>
                  <a:srgbClr val="333333"/>
                </a:solidFill>
              </a:defRPr>
            </a:pPr>
            <a:r>
              <a:t>Faster acceleration</a:t>
            </a:r>
          </a:p>
          <a:p>
            <a:pPr>
              <a:spcAft>
                <a:spcPts val="600"/>
              </a:spcAft>
              <a:defRPr sz="1800">
                <a:solidFill>
                  <a:srgbClr val="333333"/>
                </a:solidFill>
              </a:defRPr>
            </a:pPr>
            <a:r>
              <a:t>After acceleration, ECU ramps alternator back up</a:t>
            </a:r>
          </a:p>
          <a:p>
            <a:pPr>
              <a:spcAft>
                <a:spcPts val="1000"/>
              </a:spcAft>
              <a:defRPr sz="1800">
                <a:solidFill>
                  <a:srgbClr val="333333"/>
                </a:solidFill>
              </a:defRPr>
            </a:pPr>
            <a:r>
              <a:t>Benefit: Improved performance and fuel economy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Strategy 2: Regenerative Charging</a:t>
            </a:r>
          </a:p>
          <a:p>
            <a:pPr>
              <a:spcAft>
                <a:spcPts val="1000"/>
              </a:spcAft>
              <a:defRPr sz="1800">
                <a:solidFill>
                  <a:srgbClr val="333333"/>
                </a:solidFill>
              </a:defRPr>
            </a:pPr>
            <a:r>
              <a:t>Concept: Charge battery primarily during deceleration/braking</a:t>
            </a:r>
          </a:p>
          <a:p>
            <a:pPr>
              <a:spcAft>
                <a:spcPts val="1000"/>
              </a:spcAft>
              <a:defRPr sz="1800">
                <a:solidFill>
                  <a:srgbClr val="333333"/>
                </a:solidFill>
              </a:defRPr>
            </a:pPr>
            <a:r>
              <a:t>Example - Coasting Downhill:</a:t>
            </a:r>
          </a:p>
          <a:p>
            <a:pPr>
              <a:spcAft>
                <a:spcPts val="600"/>
              </a:spcAft>
              <a:defRPr sz="1800">
                <a:solidFill>
                  <a:srgbClr val="333333"/>
                </a:solidFill>
              </a:defRPr>
            </a:pPr>
            <a:r>
              <a:t>Driver lifts off throttle</a:t>
            </a:r>
          </a:p>
          <a:p>
            <a:pPr>
              <a:spcAft>
                <a:spcPts val="600"/>
              </a:spcAft>
              <a:defRPr sz="1800">
                <a:solidFill>
                  <a:srgbClr val="333333"/>
                </a:solidFill>
              </a:defRPr>
            </a:pPr>
            <a:r>
              <a:t>ECU detects deceleration (throttle position, vehicle speed)</a:t>
            </a:r>
          </a:p>
          <a:p>
            <a:pPr>
              <a:spcAft>
                <a:spcPts val="600"/>
              </a:spcAft>
              <a:defRPr sz="1800">
                <a:solidFill>
                  <a:srgbClr val="333333"/>
                </a:solidFill>
              </a:defRPr>
            </a:pPr>
            <a:r>
              <a:t>ECU commands alternator: "Increase output to maximum (15.5V)</a:t>
            </a:r>
          </a:p>
          <a:p>
            <a:pPr>
              <a:spcAft>
                <a:spcPts val="600"/>
              </a:spcAft>
              <a:defRPr sz="1800">
                <a:solidFill>
                  <a:srgbClr val="333333"/>
                </a:solidFill>
              </a:defRPr>
            </a:pPr>
            <a:r>
              <a:t>Heavy charging during deceleration (using vehicle kinetic energy)</a:t>
            </a:r>
          </a:p>
          <a:p>
            <a:pPr>
              <a:spcAft>
                <a:spcPts val="600"/>
              </a:spcAft>
              <a:defRPr sz="1800">
                <a:solidFill>
                  <a:srgbClr val="333333"/>
                </a:solidFill>
              </a:defRPr>
            </a:pPr>
            <a:r>
              <a:t>During acceleration, alternator output reduced (minimize engine load)</a:t>
            </a:r>
          </a:p>
          <a:p>
            <a:pPr>
              <a:spcAft>
                <a:spcPts val="1000"/>
              </a:spcAft>
              <a:defRPr sz="1800">
                <a:solidFill>
                  <a:srgbClr val="333333"/>
                </a:solidFill>
              </a:defRPr>
            </a:pPr>
            <a:r>
              <a:t>Benefit: Fuel economy improvement (2-4% typical)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Strategy 3: Temperature-Compensated Charging</a:t>
            </a:r>
          </a:p>
          <a:p>
            <a:pPr>
              <a:spcAft>
                <a:spcPts val="1000"/>
              </a:spcAft>
              <a:defRPr sz="1800">
                <a:solidFill>
                  <a:srgbClr val="333333"/>
                </a:solidFill>
              </a:defRPr>
            </a:pPr>
            <a:r>
              <a:t>Concept: Adjust charging voltage based on battery temperature</a:t>
            </a:r>
          </a:p>
          <a:p>
            <a:pPr>
              <a:spcAft>
                <a:spcPts val="1000"/>
              </a:spcAft>
              <a:defRPr sz="1800">
                <a:solidFill>
                  <a:srgbClr val="333333"/>
                </a:solidFill>
              </a:defRPr>
            </a:pPr>
            <a:r>
              <a:t>Chemistry Fact: Cold batteries need higher voltage, hot batteries need lower voltage</a:t>
            </a:r>
          </a:p>
          <a:p>
            <a:pPr>
              <a:spcAft>
                <a:spcPts val="1000"/>
              </a:spcAft>
              <a:defRPr sz="1800">
                <a:solidFill>
                  <a:srgbClr val="333333"/>
                </a:solidFill>
              </a:defRPr>
            </a:pPr>
            <a:r>
              <a:t>Example: — Battery temperature: -10°C (cold)</a:t>
            </a:r>
          </a:p>
          <a:p>
            <a:pPr>
              <a:spcAft>
                <a:spcPts val="600"/>
              </a:spcAft>
              <a:defRPr sz="1800">
                <a:solidFill>
                  <a:srgbClr val="333333"/>
                </a:solidFill>
              </a:defRPr>
            </a:pPr>
            <a:r>
              <a:t>Optimal charging voltage: 14.8V (higher than normal)</a:t>
            </a:r>
          </a:p>
          <a:p>
            <a:pPr>
              <a:spcAft>
                <a:spcPts val="600"/>
              </a:spcAft>
              <a:defRPr sz="1800">
                <a:solidFill>
                  <a:srgbClr val="333333"/>
                </a:solidFill>
              </a:defRPr>
            </a:pPr>
            <a:r>
              <a:t>ECU commands alternator to increase voltage</a:t>
            </a:r>
          </a:p>
          <a:p>
            <a:pPr>
              <a:spcAft>
                <a:spcPts val="600"/>
              </a:spcAft>
              <a:defRPr sz="1800">
                <a:solidFill>
                  <a:srgbClr val="333333"/>
                </a:solidFill>
              </a:defRPr>
            </a:pPr>
            <a:r>
              <a:t>Battery temperature: +50°C (hot, under-hood placement)</a:t>
            </a:r>
          </a:p>
          <a:p>
            <a:pPr>
              <a:spcAft>
                <a:spcPts val="600"/>
              </a:spcAft>
              <a:defRPr sz="1800">
                <a:solidFill>
                  <a:srgbClr val="333333"/>
                </a:solidFill>
              </a:defRPr>
            </a:pPr>
            <a:r>
              <a:t>Optimal charging voltage: 13.8V (lower than normal)</a:t>
            </a:r>
          </a:p>
          <a:p>
            <a:pPr>
              <a:spcAft>
                <a:spcPts val="600"/>
              </a:spcAft>
              <a:defRPr sz="1800">
                <a:solidFill>
                  <a:srgbClr val="333333"/>
                </a:solidFill>
              </a:defRPr>
            </a:pPr>
            <a:r>
              <a:t>ECU prevents overcharging (extends battery life)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Strategy 4: State-of-Charge (SOC) Management</a:t>
            </a:r>
          </a:p>
          <a:p>
            <a:pPr>
              <a:spcAft>
                <a:spcPts val="1000"/>
              </a:spcAft>
              <a:defRPr sz="1800">
                <a:solidFill>
                  <a:srgbClr val="333333"/>
                </a:solidFill>
              </a:defRPr>
            </a:pPr>
            <a:r>
              <a:t>Concept: Vary voltage based on battery state</a:t>
            </a:r>
          </a:p>
          <a:p>
            <a:pPr>
              <a:spcAft>
                <a:spcPts val="1000"/>
              </a:spcAft>
              <a:defRPr sz="1800">
                <a:solidFill>
                  <a:srgbClr val="333333"/>
                </a:solidFill>
              </a:defRPr>
            </a:pPr>
            <a:r>
              <a:t>Example: — Battery 80% charged → voltage: 14.2V (gentle charging)</a:t>
            </a:r>
          </a:p>
          <a:p>
            <a:pPr>
              <a:spcAft>
                <a:spcPts val="600"/>
              </a:spcAft>
              <a:defRPr sz="1800">
                <a:solidFill>
                  <a:srgbClr val="333333"/>
                </a:solidFill>
              </a:defRPr>
            </a:pPr>
            <a:r>
              <a:t>Battery 40% charged → voltage: 14.6V (aggressive charging)</a:t>
            </a:r>
          </a:p>
          <a:p>
            <a:pPr>
              <a:spcAft>
                <a:spcPts val="600"/>
              </a:spcAft>
              <a:defRPr sz="1800">
                <a:solidFill>
                  <a:srgbClr val="333333"/>
                </a:solidFill>
              </a:defRPr>
            </a:pPr>
            <a:r>
              <a:t>Battery 95% charged → voltage: 13.9V (float charge only)</a:t>
            </a:r>
          </a:p>
          <a:p>
            <a:pPr>
              <a:spcAft>
                <a:spcPts val="1000"/>
              </a:spcAft>
              <a:defRPr sz="1800">
                <a:solidFill>
                  <a:srgbClr val="333333"/>
                </a:solidFill>
              </a:defRPr>
            </a:pPr>
            <a:r>
              <a:t>Benefit: Faster charging when needed, prevents overcharging when full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AGM BATTERY MODE:</a:t>
            </a:r>
          </a:p>
          <a:p>
            <a:pPr>
              <a:spcAft>
                <a:spcPts val="1000"/>
              </a:spcAft>
              <a:defRPr sz="1800">
                <a:solidFill>
                  <a:srgbClr val="333333"/>
                </a:solidFill>
              </a:defRPr>
            </a:pPr>
            <a:r>
              <a:t>Many modern cars detect AGM battery (via battery sensor or manual setting)</a:t>
            </a:r>
          </a:p>
          <a:p>
            <a:pPr>
              <a:spcAft>
                <a:spcPts val="1000"/>
              </a:spcAft>
              <a:defRPr sz="1800">
                <a:solidFill>
                  <a:srgbClr val="333333"/>
                </a:solidFill>
              </a:defRPr>
            </a:pPr>
            <a:r>
              <a:t>AGM Charging Requirements: — Higher voltage tolerance: up to 14.8V (vs 14.4V for flooded)</a:t>
            </a:r>
          </a:p>
          <a:p>
            <a:pPr>
              <a:spcAft>
                <a:spcPts val="600"/>
              </a:spcAft>
              <a:defRPr sz="1800">
                <a:solidFill>
                  <a:srgbClr val="333333"/>
                </a:solidFill>
              </a:defRPr>
            </a:pPr>
            <a:r>
              <a:t>Can accept higher current (low internal resistance)</a:t>
            </a:r>
          </a:p>
          <a:p>
            <a:pPr>
              <a:spcAft>
                <a:spcPts val="600"/>
              </a:spcAft>
              <a:defRPr sz="1800">
                <a:solidFill>
                  <a:srgbClr val="333333"/>
                </a:solidFill>
              </a:defRPr>
            </a:pPr>
            <a:r>
              <a:t>Must not overcharge (sealed—cannot add water)</a:t>
            </a:r>
          </a:p>
          <a:p>
            <a:pPr>
              <a:spcAft>
                <a:spcPts val="1000"/>
              </a:spcAft>
              <a:defRPr sz="1800">
                <a:solidFill>
                  <a:srgbClr val="333333"/>
                </a:solidFill>
              </a:defRPr>
            </a:pPr>
            <a:r>
              <a:t>ECU Response: — Increase maximum voltage to 14.8V</a:t>
            </a:r>
          </a:p>
          <a:p>
            <a:pPr>
              <a:spcAft>
                <a:spcPts val="600"/>
              </a:spcAft>
              <a:defRPr sz="1800">
                <a:solidFill>
                  <a:srgbClr val="333333"/>
                </a:solidFill>
              </a:defRPr>
            </a:pPr>
            <a:r>
              <a:t>Monitor battery temperature carefully</a:t>
            </a:r>
          </a:p>
          <a:p>
            <a:pPr>
              <a:spcAft>
                <a:spcPts val="600"/>
              </a:spcAft>
              <a:defRPr sz="1800">
                <a:solidFill>
                  <a:srgbClr val="333333"/>
                </a:solidFill>
              </a:defRPr>
            </a:pPr>
            <a:r>
              <a:t>Reduce voltage when fully charged (prevent overcharge)</a:t>
            </a:r>
          </a:p>
          <a:p>
            <a:pPr>
              <a:spcAft>
                <a:spcPts val="1000"/>
              </a:spcAft>
              <a:defRPr sz="1800">
                <a:solidFill>
                  <a:srgbClr val="333333"/>
                </a:solidFill>
              </a:defRPr>
            </a:pPr>
            <a:r>
              <a:t>Instructor Narration (continued):</a:t>
            </a:r>
          </a:p>
          <a:p>
            <a:pPr>
              <a:spcAft>
                <a:spcPts val="1000"/>
              </a:spcAft>
              <a:defRPr sz="1800">
                <a:solidFill>
                  <a:srgbClr val="333333"/>
                </a:solidFill>
              </a:defRPr>
            </a:pPr>
            <a:r>
              <a:t>Smart charging is invisible to the driver but significant for efficiency. That 2-4% fuel economy improvement might not sound like much, but over the life of the vehicle, it's hundreds of dollars of fuel saved. Plus, battery life extends from 3-5 years to 5-8 years. Engineering pays off!</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3: RISING ACTION - "Starting &amp; Lighting Systems</a:t>
            </a:r>
          </a:p>
        </p:txBody>
      </p:sp>
      <p:sp>
        <p:nvSpPr>
          <p:cNvPr id="3" name="Subtitle 2"/>
          <p:cNvSpPr>
            <a:spLocks noGrp="1"/>
          </p:cNvSpPr>
          <p:nvPr>
            <p:ph type="subTitle" idx="1"/>
          </p:nvPr>
        </p:nvSpPr>
        <p:spPr/>
        <p:txBody>
          <a:bodyPr/>
          <a:lstStyle/>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Starter Motor - High Power, Short Duration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explore the highest-power electrical load in the vehicle: the starter motor.</a:t>
            </a:r>
          </a:p>
          <a:p>
            <a:pPr>
              <a:spcAft>
                <a:spcPts val="1000"/>
              </a:spcAft>
              <a:defRPr sz="1800">
                <a:solidFill>
                  <a:srgbClr val="333333"/>
                </a:solidFill>
              </a:defRPr>
            </a:pPr>
            <a:r>
              <a:t>CHALLENGE: — Engine at rest has high resistance (oil viscosity, compression)</a:t>
            </a:r>
          </a:p>
          <a:p>
            <a:pPr>
              <a:spcAft>
                <a:spcPts val="600"/>
              </a:spcAft>
              <a:defRPr sz="1800">
                <a:solidFill>
                  <a:srgbClr val="333333"/>
                </a:solidFill>
              </a:defRPr>
            </a:pPr>
            <a:r>
              <a:t>Must spin engine to 100-200 RPM minimum for combustion</a:t>
            </a:r>
          </a:p>
          <a:p>
            <a:pPr>
              <a:spcAft>
                <a:spcPts val="600"/>
              </a:spcAft>
              <a:defRPr sz="1800">
                <a:solidFill>
                  <a:srgbClr val="333333"/>
                </a:solidFill>
              </a:defRPr>
            </a:pPr>
            <a:r>
              <a:t>Requires 2,000-3,000W of power for 2-5 seconds</a:t>
            </a:r>
          </a:p>
          <a:p>
            <a:pPr>
              <a:spcAft>
                <a:spcPts val="600"/>
              </a:spcAft>
              <a:defRPr sz="1800">
                <a:solidFill>
                  <a:srgbClr val="333333"/>
                </a:solidFill>
              </a:defRPr>
            </a:pPr>
            <a:r>
              <a:t>At 12V: 167-250A of current (enormous!)</a:t>
            </a:r>
          </a:p>
          <a:p>
            <a:pPr>
              <a:spcAft>
                <a:spcPts val="1000"/>
              </a:spcAft>
              <a:defRPr sz="1800">
                <a:solidFill>
                  <a:srgbClr val="333333"/>
                </a:solidFill>
              </a:defRPr>
            </a:pPr>
            <a:r>
              <a:t>STARTER MOTOR DESIGN:</a:t>
            </a:r>
          </a:p>
          <a:p>
            <a:pPr>
              <a:spcAft>
                <a:spcPts val="1000"/>
              </a:spcAft>
              <a:defRPr sz="1800">
                <a:solidFill>
                  <a:srgbClr val="333333"/>
                </a:solidFill>
              </a:defRPr>
            </a:pPr>
            <a:r>
              <a:t>1. DC ELECTRIC MOTOR</a:t>
            </a:r>
          </a:p>
          <a:p>
            <a:pPr>
              <a:spcAft>
                <a:spcPts val="1000"/>
              </a:spcAft>
              <a:defRPr sz="1800">
                <a:solidFill>
                  <a:srgbClr val="333333"/>
                </a:solidFill>
              </a:defRPr>
            </a:pPr>
            <a:r>
              <a:t>Type: Series-wound DC motor (high torque, high current)</a:t>
            </a:r>
          </a:p>
          <a:p>
            <a:pPr>
              <a:spcAft>
                <a:spcPts val="1000"/>
              </a:spcAft>
              <a:defRPr sz="1800">
                <a:solidFill>
                  <a:srgbClr val="333333"/>
                </a:solidFill>
              </a:defRPr>
            </a:pPr>
            <a:r>
              <a:t>Construction: — Armature (rotor): Rotating coil windings on shaft</a:t>
            </a:r>
          </a:p>
          <a:p>
            <a:pPr>
              <a:spcAft>
                <a:spcPts val="600"/>
              </a:spcAft>
              <a:defRPr sz="1800">
                <a:solidFill>
                  <a:srgbClr val="333333"/>
                </a:solidFill>
              </a:defRPr>
            </a:pPr>
            <a:r>
              <a:t>Field coils (stator): Stationary electromagnets</a:t>
            </a:r>
          </a:p>
          <a:p>
            <a:pPr>
              <a:spcAft>
                <a:spcPts val="600"/>
              </a:spcAft>
              <a:defRPr sz="1800">
                <a:solidFill>
                  <a:srgbClr val="333333"/>
                </a:solidFill>
              </a:defRPr>
            </a:pPr>
            <a:r>
              <a:t>Commutator: Switches current direction in armature coils</a:t>
            </a:r>
          </a:p>
          <a:p>
            <a:pPr>
              <a:spcAft>
                <a:spcPts val="600"/>
              </a:spcAft>
              <a:defRPr sz="1800">
                <a:solidFill>
                  <a:srgbClr val="333333"/>
                </a:solidFill>
              </a:defRPr>
            </a:pPr>
            <a:r>
              <a:t>Brushes: Carbon contacts that conduct current to commutator</a:t>
            </a:r>
          </a:p>
          <a:p>
            <a:pPr>
              <a:spcAft>
                <a:spcPts val="1000"/>
              </a:spcAft>
              <a:defRPr sz="1800">
                <a:solidFill>
                  <a:srgbClr val="333333"/>
                </a:solidFill>
              </a:defRPr>
            </a:pPr>
            <a:r>
              <a:t>Why Series-Wound? — Field coils in series with armature</a:t>
            </a:r>
          </a:p>
          <a:p>
            <a:pPr>
              <a:spcAft>
                <a:spcPts val="600"/>
              </a:spcAft>
              <a:defRPr sz="1800">
                <a:solidFill>
                  <a:srgbClr val="333333"/>
                </a:solidFill>
              </a:defRPr>
            </a:pPr>
            <a:r>
              <a:t>All current flows through field coils → very strong magnetic field</a:t>
            </a:r>
          </a:p>
          <a:p>
            <a:pPr>
              <a:spcAft>
                <a:spcPts val="600"/>
              </a:spcAft>
              <a:defRPr sz="1800">
                <a:solidFill>
                  <a:srgbClr val="333333"/>
                </a:solidFill>
              </a:defRPr>
            </a:pPr>
            <a:r>
              <a:t>High starting torque (torque proportional to I²)</a:t>
            </a:r>
          </a:p>
          <a:p>
            <a:pPr>
              <a:spcAft>
                <a:spcPts val="600"/>
              </a:spcAft>
              <a:defRPr sz="1800">
                <a:solidFill>
                  <a:srgbClr val="333333"/>
                </a:solidFill>
              </a:defRPr>
            </a:pPr>
            <a:r>
              <a:t>Perfect for starting (need maximum torque, not high speed)</a:t>
            </a:r>
          </a:p>
          <a:p>
            <a:pPr>
              <a:spcAft>
                <a:spcPts val="1000"/>
              </a:spcAft>
              <a:defRPr sz="1800">
                <a:solidFill>
                  <a:srgbClr val="333333"/>
                </a:solidFill>
              </a:defRPr>
            </a:pPr>
            <a:r>
              <a:t>Performance: — No-load speed: 3,000-5,000 RPM (when not engaging flywheel)</a:t>
            </a:r>
          </a:p>
          <a:p>
            <a:pPr>
              <a:spcAft>
                <a:spcPts val="600"/>
              </a:spcAft>
              <a:defRPr sz="1800">
                <a:solidFill>
                  <a:srgbClr val="333333"/>
                </a:solidFill>
              </a:defRPr>
            </a:pPr>
            <a:r>
              <a:t>Loaded speed: 100-200 RPM (when cranking engine)</a:t>
            </a:r>
          </a:p>
          <a:p>
            <a:pPr>
              <a:spcAft>
                <a:spcPts val="600"/>
              </a:spcAft>
              <a:defRPr sz="1800">
                <a:solidFill>
                  <a:srgbClr val="333333"/>
                </a:solidFill>
              </a:defRPr>
            </a:pPr>
            <a:r>
              <a:t>Torque: 2-5 Nm (high for small motor)</a:t>
            </a:r>
          </a:p>
          <a:p>
            <a:pPr>
              <a:spcAft>
                <a:spcPts val="600"/>
              </a:spcAft>
              <a:defRPr sz="1800">
                <a:solidFill>
                  <a:srgbClr val="333333"/>
                </a:solidFill>
              </a:defRPr>
            </a:pPr>
            <a:r>
              <a:t>Power: 1.5-3 kW</a:t>
            </a:r>
          </a:p>
          <a:p>
            <a:pPr>
              <a:spcAft>
                <a:spcPts val="600"/>
              </a:spcAft>
              <a:defRPr sz="1800">
                <a:solidFill>
                  <a:srgbClr val="333333"/>
                </a:solidFill>
              </a:defRPr>
            </a:pPr>
            <a:r>
              <a:t>Current draw: 150-300A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2. SOLENOID (Electromagnetic Switch)</a:t>
            </a:r>
          </a:p>
          <a:p>
            <a:pPr>
              <a:spcAft>
                <a:spcPts val="1000"/>
              </a:spcAft>
              <a:defRPr sz="1800">
                <a:solidFill>
                  <a:srgbClr val="333333"/>
                </a:solidFill>
              </a:defRPr>
            </a:pPr>
            <a:r>
              <a:t>Function: Two jobs in one device</a:t>
            </a:r>
          </a:p>
          <a:p>
            <a:pPr>
              <a:spcAft>
                <a:spcPts val="1000"/>
              </a:spcAft>
              <a:defRPr sz="1800">
                <a:solidFill>
                  <a:srgbClr val="333333"/>
                </a:solidFill>
              </a:defRPr>
            </a:pPr>
            <a:r>
              <a:t>Job 1: Heavy-Duty Electrical Switch — When energized, closes contacts that connect battery to motor</a:t>
            </a:r>
          </a:p>
          <a:p>
            <a:pPr>
              <a:spcAft>
                <a:spcPts val="600"/>
              </a:spcAft>
              <a:defRPr sz="1800">
                <a:solidFill>
                  <a:srgbClr val="333333"/>
                </a:solidFill>
              </a:defRPr>
            </a:pPr>
            <a:r>
              <a:t>Handles 150-300A current (too high for ignition switch)</a:t>
            </a:r>
          </a:p>
          <a:p>
            <a:pPr>
              <a:spcAft>
                <a:spcPts val="600"/>
              </a:spcAft>
              <a:defRPr sz="1800">
                <a:solidFill>
                  <a:srgbClr val="333333"/>
                </a:solidFill>
              </a:defRPr>
            </a:pPr>
            <a:r>
              <a:t>Reason: Ignition switch handles only 10-20A; cannot switch starter current directly</a:t>
            </a:r>
          </a:p>
          <a:p>
            <a:pPr>
              <a:spcAft>
                <a:spcPts val="1000"/>
              </a:spcAft>
              <a:defRPr sz="1800">
                <a:solidFill>
                  <a:srgbClr val="333333"/>
                </a:solidFill>
              </a:defRPr>
            </a:pPr>
            <a:r>
              <a:t>Job 2: Mechanical Engagement — When energized, plunger pushes bendix drive forward</a:t>
            </a:r>
          </a:p>
          <a:p>
            <a:pPr>
              <a:spcAft>
                <a:spcPts val="600"/>
              </a:spcAft>
              <a:defRPr sz="1800">
                <a:solidFill>
                  <a:srgbClr val="333333"/>
                </a:solidFill>
              </a:defRPr>
            </a:pPr>
            <a:r>
              <a:t>Engages starter pinion with engine flywheel</a:t>
            </a:r>
          </a:p>
          <a:p>
            <a:pPr>
              <a:spcAft>
                <a:spcPts val="600"/>
              </a:spcAft>
              <a:defRPr sz="1800">
                <a:solidFill>
                  <a:srgbClr val="333333"/>
                </a:solidFill>
              </a:defRPr>
            </a:pPr>
            <a:r>
              <a:t>Creates mechanical connection</a:t>
            </a:r>
          </a:p>
          <a:p>
            <a:pPr>
              <a:spcAft>
                <a:spcPts val="1000"/>
              </a:spcAft>
              <a:defRPr sz="1800">
                <a:solidFill>
                  <a:srgbClr val="333333"/>
                </a:solidFill>
              </a:defRPr>
            </a:pPr>
            <a:r>
              <a:t>Operation:</a:t>
            </a:r>
          </a:p>
          <a:p>
            <a:pPr>
              <a:spcAft>
                <a:spcPts val="600"/>
              </a:spcAft>
              <a:defRPr sz="1800">
                <a:solidFill>
                  <a:srgbClr val="333333"/>
                </a:solidFill>
              </a:defRPr>
            </a:pPr>
            <a:r>
              <a:t>Turn key to "START" position</a:t>
            </a:r>
          </a:p>
          <a:p>
            <a:pPr>
              <a:spcAft>
                <a:spcPts val="600"/>
              </a:spcAft>
              <a:defRPr sz="1800">
                <a:solidFill>
                  <a:srgbClr val="333333"/>
                </a:solidFill>
              </a:defRPr>
            </a:pPr>
            <a:r>
              <a:t>Ignition switch sends small current (5-10A) to solenoid coil</a:t>
            </a:r>
          </a:p>
          <a:p>
            <a:pPr>
              <a:spcAft>
                <a:spcPts val="600"/>
              </a:spcAft>
              <a:defRPr sz="1800">
                <a:solidFill>
                  <a:srgbClr val="333333"/>
                </a:solidFill>
              </a:defRPr>
            </a:pPr>
            <a:r>
              <a:t>Solenoid electromagnetic coil pulls plunger</a:t>
            </a:r>
          </a:p>
          <a:p>
            <a:pPr>
              <a:spcAft>
                <a:spcPts val="600"/>
              </a:spcAft>
              <a:defRPr sz="1800">
                <a:solidFill>
                  <a:srgbClr val="333333"/>
                </a:solidFill>
              </a:defRPr>
            </a:pPr>
            <a:r>
              <a:t>Plunger performs two actions simultaneously:</a:t>
            </a:r>
          </a:p>
          <a:p>
            <a:pPr>
              <a:spcAft>
                <a:spcPts val="600"/>
              </a:spcAft>
              <a:defRPr sz="1800">
                <a:solidFill>
                  <a:srgbClr val="333333"/>
                </a:solidFill>
              </a:defRPr>
            </a:pPr>
            <a:r>
              <a:t>Pushes bendix drive (engages pinion with flywheel)</a:t>
            </a:r>
          </a:p>
          <a:p>
            <a:pPr>
              <a:spcAft>
                <a:spcPts val="600"/>
              </a:spcAft>
              <a:defRPr sz="1800">
                <a:solidFill>
                  <a:srgbClr val="333333"/>
                </a:solidFill>
              </a:defRPr>
            </a:pPr>
            <a:r>
              <a:t>Closes heavy-duty contacts (battery → motor)</a:t>
            </a:r>
          </a:p>
          <a:p>
            <a:pPr>
              <a:spcAft>
                <a:spcPts val="600"/>
              </a:spcAft>
              <a:defRPr sz="1800">
                <a:solidFill>
                  <a:srgbClr val="333333"/>
                </a:solidFill>
              </a:defRPr>
            </a:pPr>
            <a:r>
              <a:t>Motor spins (150-300A flowing)</a:t>
            </a:r>
          </a:p>
          <a:p>
            <a:pPr>
              <a:spcAft>
                <a:spcPts val="600"/>
              </a:spcAft>
              <a:defRPr sz="1800">
                <a:solidFill>
                  <a:srgbClr val="333333"/>
                </a:solidFill>
              </a:defRPr>
            </a:pPr>
            <a:r>
              <a:t>Release key → solenoid de-energizes → spring returns plunger → pinion disengages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3. BENDIX DRIVE (Engagement Mechanism)</a:t>
            </a:r>
          </a:p>
          <a:p>
            <a:pPr>
              <a:spcAft>
                <a:spcPts val="1000"/>
              </a:spcAft>
              <a:defRPr sz="1800">
                <a:solidFill>
                  <a:srgbClr val="333333"/>
                </a:solidFill>
              </a:defRPr>
            </a:pPr>
            <a:r>
              <a:t>Challenge: — Starter spins at 3,000 RPM no-load</a:t>
            </a:r>
          </a:p>
          <a:p>
            <a:pPr>
              <a:spcAft>
                <a:spcPts val="600"/>
              </a:spcAft>
              <a:defRPr sz="1800">
                <a:solidFill>
                  <a:srgbClr val="333333"/>
                </a:solidFill>
              </a:defRPr>
            </a:pPr>
            <a:r>
              <a:t>Engine spins at 200 RPM when starting</a:t>
            </a:r>
          </a:p>
          <a:p>
            <a:pPr>
              <a:spcAft>
                <a:spcPts val="600"/>
              </a:spcAft>
              <a:defRPr sz="1800">
                <a:solidFill>
                  <a:srgbClr val="333333"/>
                </a:solidFill>
              </a:defRPr>
            </a:pPr>
            <a:r>
              <a:t>After engine starts, flywheel spins 800+ RPM (idle)</a:t>
            </a:r>
          </a:p>
          <a:p>
            <a:pPr>
              <a:spcAft>
                <a:spcPts val="600"/>
              </a:spcAft>
              <a:defRPr sz="1800">
                <a:solidFill>
                  <a:srgbClr val="333333"/>
                </a:solidFill>
              </a:defRPr>
            </a:pPr>
            <a:r>
              <a:t>If starter stayed engaged, flywheel would spin motor to 10,000+ RPM → destruction!</a:t>
            </a:r>
          </a:p>
          <a:p>
            <a:pPr>
              <a:spcAft>
                <a:spcPts val="1000"/>
              </a:spcAft>
              <a:defRPr sz="1800">
                <a:solidFill>
                  <a:srgbClr val="333333"/>
                </a:solidFill>
              </a:defRPr>
            </a:pPr>
            <a:r>
              <a:t>Solution: One-Way Clutch (Overrunning Clutch)</a:t>
            </a:r>
          </a:p>
          <a:p>
            <a:pPr>
              <a:spcAft>
                <a:spcPts val="1000"/>
              </a:spcAft>
              <a:defRPr sz="1800">
                <a:solidFill>
                  <a:srgbClr val="333333"/>
                </a:solidFill>
              </a:defRPr>
            </a:pPr>
            <a:r>
              <a:t>Design: — Pinion gear mounted on overrunning clutch — Clutch allows:</a:t>
            </a:r>
          </a:p>
          <a:p>
            <a:pPr>
              <a:spcAft>
                <a:spcPts val="600"/>
              </a:spcAft>
              <a:defRPr sz="1800">
                <a:solidFill>
                  <a:srgbClr val="333333"/>
                </a:solidFill>
              </a:defRPr>
            </a:pPr>
            <a:r>
              <a:t>Starter → Flywheel: Torque transmission (starter drives engine)</a:t>
            </a:r>
          </a:p>
          <a:p>
            <a:pPr>
              <a:spcAft>
                <a:spcPts val="600"/>
              </a:spcAft>
              <a:defRPr sz="1800">
                <a:solidFill>
                  <a:srgbClr val="333333"/>
                </a:solidFill>
              </a:defRPr>
            </a:pPr>
            <a:r>
              <a:t>Flywheel → Starter: Free-wheeling (engine spins faster than starter, clutch slips)</a:t>
            </a:r>
          </a:p>
          <a:p>
            <a:pPr>
              <a:spcAft>
                <a:spcPts val="1000"/>
              </a:spcAft>
              <a:defRPr sz="1800">
                <a:solidFill>
                  <a:srgbClr val="333333"/>
                </a:solidFill>
              </a:defRPr>
            </a:pPr>
            <a:r>
              <a:t>Operation:</a:t>
            </a:r>
          </a:p>
          <a:p>
            <a:pPr>
              <a:spcAft>
                <a:spcPts val="1000"/>
              </a:spcAft>
              <a:defRPr sz="1800">
                <a:solidFill>
                  <a:srgbClr val="333333"/>
                </a:solidFill>
              </a:defRPr>
            </a:pPr>
            <a:r>
              <a:t>During Starting: — Starter spins pinion gear</a:t>
            </a:r>
          </a:p>
          <a:p>
            <a:pPr>
              <a:spcAft>
                <a:spcPts val="600"/>
              </a:spcAft>
              <a:defRPr sz="1800">
                <a:solidFill>
                  <a:srgbClr val="333333"/>
                </a:solidFill>
              </a:defRPr>
            </a:pPr>
            <a:r>
              <a:t>Pinion engages flywheel ring gear</a:t>
            </a:r>
          </a:p>
          <a:p>
            <a:pPr>
              <a:spcAft>
                <a:spcPts val="600"/>
              </a:spcAft>
              <a:defRPr sz="1800">
                <a:solidFill>
                  <a:srgbClr val="333333"/>
                </a:solidFill>
              </a:defRPr>
            </a:pPr>
            <a:r>
              <a:t>Clutch locks (transmits torque)</a:t>
            </a:r>
          </a:p>
          <a:p>
            <a:pPr>
              <a:spcAft>
                <a:spcPts val="600"/>
              </a:spcAft>
              <a:defRPr sz="1800">
                <a:solidFill>
                  <a:srgbClr val="333333"/>
                </a:solidFill>
              </a:defRPr>
            </a:pPr>
            <a:r>
              <a:t>Starter cranks engine</a:t>
            </a:r>
          </a:p>
          <a:p>
            <a:pPr>
              <a:spcAft>
                <a:spcPts val="1000"/>
              </a:spcAft>
              <a:defRPr sz="1800">
                <a:solidFill>
                  <a:srgbClr val="333333"/>
                </a:solidFill>
              </a:defRPr>
            </a:pPr>
            <a:r>
              <a:t>After Engine Starts: — Engine now spinning faster than starter</a:t>
            </a:r>
          </a:p>
          <a:p>
            <a:pPr>
              <a:spcAft>
                <a:spcPts val="600"/>
              </a:spcAft>
              <a:defRPr sz="1800">
                <a:solidFill>
                  <a:srgbClr val="333333"/>
                </a:solidFill>
              </a:defRPr>
            </a:pPr>
            <a:r>
              <a:t>Clutch automatically overruns (freewheels)</a:t>
            </a:r>
          </a:p>
          <a:p>
            <a:pPr>
              <a:spcAft>
                <a:spcPts val="600"/>
              </a:spcAft>
              <a:defRPr sz="1800">
                <a:solidFill>
                  <a:srgbClr val="333333"/>
                </a:solidFill>
              </a:defRPr>
            </a:pPr>
            <a:r>
              <a:t>No reverse torque on starter motor (protected from overspeed)</a:t>
            </a:r>
          </a:p>
          <a:p>
            <a:pPr>
              <a:spcAft>
                <a:spcPts val="1000"/>
              </a:spcAft>
              <a:defRPr sz="1800">
                <a:solidFill>
                  <a:srgbClr val="333333"/>
                </a:solidFill>
              </a:defRPr>
            </a:pPr>
            <a:r>
              <a:t>Physical Disengagement: — Driver releases key</a:t>
            </a:r>
          </a:p>
          <a:p>
            <a:pPr>
              <a:spcAft>
                <a:spcPts val="600"/>
              </a:spcAft>
              <a:defRPr sz="1800">
                <a:solidFill>
                  <a:srgbClr val="333333"/>
                </a:solidFill>
              </a:defRPr>
            </a:pPr>
            <a:r>
              <a:t>Solenoid spring pulls bendix drive back</a:t>
            </a:r>
          </a:p>
          <a:p>
            <a:pPr>
              <a:spcAft>
                <a:spcPts val="600"/>
              </a:spcAft>
              <a:defRPr sz="1800">
                <a:solidFill>
                  <a:srgbClr val="333333"/>
                </a:solidFill>
              </a:defRPr>
            </a:pPr>
            <a:r>
              <a:t>Pinion physically separates from flywheel</a:t>
            </a:r>
          </a:p>
          <a:p>
            <a:pPr>
              <a:spcAft>
                <a:spcPts val="600"/>
              </a:spcAft>
              <a:defRPr sz="1800">
                <a:solidFill>
                  <a:srgbClr val="333333"/>
                </a:solidFill>
              </a:defRPr>
            </a:pPr>
            <a:r>
              <a:t>Motor stops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GEAR REDUCTION:</a:t>
            </a:r>
          </a:p>
          <a:p>
            <a:pPr>
              <a:spcAft>
                <a:spcPts val="1000"/>
              </a:spcAft>
              <a:defRPr sz="1800">
                <a:solidFill>
                  <a:srgbClr val="333333"/>
                </a:solidFill>
              </a:defRPr>
            </a:pPr>
            <a:r>
              <a:t>Problem: Starter motor runs at 3,000 RPM, but engine only needs 200 RPM</a:t>
            </a:r>
          </a:p>
          <a:p>
            <a:pPr>
              <a:spcAft>
                <a:spcPts val="1000"/>
              </a:spcAft>
              <a:defRPr sz="1800">
                <a:solidFill>
                  <a:srgbClr val="333333"/>
                </a:solidFill>
              </a:defRPr>
            </a:pPr>
            <a:r>
              <a:t>Solution: Gear reduction (typically 10:1 to 15:1)</a:t>
            </a:r>
          </a:p>
          <a:p>
            <a:pPr>
              <a:spcAft>
                <a:spcPts val="1000"/>
              </a:spcAft>
              <a:defRPr sz="1800">
                <a:solidFill>
                  <a:srgbClr val="333333"/>
                </a:solidFill>
              </a:defRPr>
            </a:pPr>
            <a:r>
              <a:t>Example: — Starter motor speed: 3,000 RPM</a:t>
            </a:r>
          </a:p>
          <a:p>
            <a:pPr>
              <a:spcAft>
                <a:spcPts val="600"/>
              </a:spcAft>
              <a:defRPr sz="1800">
                <a:solidFill>
                  <a:srgbClr val="333333"/>
                </a:solidFill>
              </a:defRPr>
            </a:pPr>
            <a:r>
              <a:t>Gear reduction: 12:1</a:t>
            </a:r>
          </a:p>
          <a:p>
            <a:pPr>
              <a:spcAft>
                <a:spcPts val="600"/>
              </a:spcAft>
              <a:defRPr sz="1800">
                <a:solidFill>
                  <a:srgbClr val="333333"/>
                </a:solidFill>
              </a:defRPr>
            </a:pPr>
            <a:r>
              <a:t>Output speed: 3,000 / 12 = 250 RPM</a:t>
            </a:r>
          </a:p>
          <a:p>
            <a:pPr>
              <a:spcAft>
                <a:spcPts val="600"/>
              </a:spcAft>
              <a:defRPr sz="1800">
                <a:solidFill>
                  <a:srgbClr val="333333"/>
                </a:solidFill>
              </a:defRPr>
            </a:pPr>
            <a:r>
              <a:t>Torque multiplication: 12× (trade speed for torque)</a:t>
            </a:r>
          </a:p>
          <a:p>
            <a:pPr>
              <a:spcAft>
                <a:spcPts val="1000"/>
              </a:spcAft>
              <a:defRPr sz="1800">
                <a:solidFill>
                  <a:srgbClr val="333333"/>
                </a:solidFill>
              </a:defRPr>
            </a:pPr>
            <a:r>
              <a:t>Two Types:</a:t>
            </a:r>
          </a:p>
          <a:p>
            <a:pPr>
              <a:spcAft>
                <a:spcPts val="1000"/>
              </a:spcAft>
              <a:defRPr sz="1800">
                <a:solidFill>
                  <a:srgbClr val="333333"/>
                </a:solidFill>
              </a:defRPr>
            </a:pPr>
            <a:r>
              <a:t>Direct Drive Starter (Older): — Pinion gear directly on motor shaft</a:t>
            </a:r>
          </a:p>
          <a:p>
            <a:pPr>
              <a:spcAft>
                <a:spcPts val="600"/>
              </a:spcAft>
              <a:defRPr sz="1800">
                <a:solidFill>
                  <a:srgbClr val="333333"/>
                </a:solidFill>
              </a:defRPr>
            </a:pPr>
            <a:r>
              <a:t>Large, heavy starter motor (need high torque from motor itself)</a:t>
            </a:r>
          </a:p>
          <a:p>
            <a:pPr>
              <a:spcAft>
                <a:spcPts val="1000"/>
              </a:spcAft>
              <a:defRPr sz="1800">
                <a:solidFill>
                  <a:srgbClr val="333333"/>
                </a:solidFill>
              </a:defRPr>
            </a:pPr>
            <a:r>
              <a:t>Gear-Reduction Starter (Modern): — Planetary gear set between motor and pinion</a:t>
            </a:r>
          </a:p>
          <a:p>
            <a:pPr>
              <a:spcAft>
                <a:spcPts val="600"/>
              </a:spcAft>
              <a:defRPr sz="1800">
                <a:solidFill>
                  <a:srgbClr val="333333"/>
                </a:solidFill>
              </a:defRPr>
            </a:pPr>
            <a:r>
              <a:t>Smaller, lighter motor (gears provide torque multiplication)</a:t>
            </a:r>
          </a:p>
          <a:p>
            <a:pPr>
              <a:spcAft>
                <a:spcPts val="600"/>
              </a:spcAft>
              <a:defRPr sz="1800">
                <a:solidFill>
                  <a:srgbClr val="333333"/>
                </a:solidFill>
              </a:defRPr>
            </a:pPr>
            <a:r>
              <a:t>Advantage: 50% lighter, 30% smaller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CRANKING POWER CALCULATION:</a:t>
            </a:r>
          </a:p>
          <a:p>
            <a:pPr>
              <a:spcAft>
                <a:spcPts val="1000"/>
              </a:spcAft>
              <a:defRPr sz="1800">
                <a:solidFill>
                  <a:srgbClr val="333333"/>
                </a:solidFill>
              </a:defRPr>
            </a:pPr>
            <a:r>
              <a:t>Example: Honda Civic</a:t>
            </a:r>
          </a:p>
          <a:p>
            <a:pPr>
              <a:spcAft>
                <a:spcPts val="1000"/>
              </a:spcAft>
              <a:defRPr sz="1800">
                <a:solidFill>
                  <a:srgbClr val="333333"/>
                </a:solidFill>
              </a:defRPr>
            </a:pPr>
            <a:r>
              <a:t>Given: — Starter motor: 2,000W rated</a:t>
            </a:r>
          </a:p>
          <a:p>
            <a:pPr>
              <a:spcAft>
                <a:spcPts val="600"/>
              </a:spcAft>
              <a:defRPr sz="1800">
                <a:solidFill>
                  <a:srgbClr val="333333"/>
                </a:solidFill>
              </a:defRPr>
            </a:pPr>
            <a:r>
              <a:t>Battery voltage during cranking: 10V (drops from 12.6V due to high current)</a:t>
            </a:r>
          </a:p>
          <a:p>
            <a:pPr>
              <a:spcAft>
                <a:spcPts val="600"/>
              </a:spcAft>
              <a:defRPr sz="1800">
                <a:solidFill>
                  <a:srgbClr val="333333"/>
                </a:solidFill>
              </a:defRPr>
            </a:pPr>
            <a:r>
              <a:t>Cranking duration: 3 seconds</a:t>
            </a:r>
          </a:p>
          <a:p>
            <a:pPr>
              <a:spcAft>
                <a:spcPts val="1000"/>
              </a:spcAft>
              <a:defRPr sz="1800">
                <a:solidFill>
                  <a:srgbClr val="333333"/>
                </a:solidFill>
              </a:defRPr>
            </a:pPr>
            <a:r>
              <a:t>Current draw:</a:t>
            </a:r>
          </a:p>
          <a:p>
            <a:pPr>
              <a:defRPr sz="1400">
                <a:solidFill>
                  <a:srgbClr val="787878"/>
                </a:solidFill>
                <a:latin typeface="Consolas"/>
              </a:defRPr>
            </a:pPr>
            <a:r>
              <a:t>I = P / V = 2,000W / 10V = 200A</a:t>
            </a:r>
          </a:p>
          <a:p>
            <a:pPr>
              <a:spcAft>
                <a:spcPts val="1000"/>
              </a:spcAft>
              <a:defRPr sz="1800">
                <a:solidFill>
                  <a:srgbClr val="333333"/>
                </a:solidFill>
              </a:defRPr>
            </a:pPr>
            <a:r>
              <a:t>Energy consumed:</a:t>
            </a:r>
          </a:p>
          <a:p>
            <a:pPr>
              <a:defRPr sz="1400">
                <a:solidFill>
                  <a:srgbClr val="787878"/>
                </a:solidFill>
                <a:latin typeface="Consolas"/>
              </a:defRPr>
            </a:pPr>
            <a:r>
              <a:t>Energy = P × t = 2,000W × 3s = 6,000 J = 1.67 Wh</a:t>
            </a:r>
          </a:p>
          <a:p>
            <a:pPr>
              <a:spcAft>
                <a:spcPts val="1000"/>
              </a:spcAft>
              <a:defRPr sz="1800">
                <a:solidFill>
                  <a:srgbClr val="333333"/>
                </a:solidFill>
              </a:defRPr>
            </a:pPr>
            <a:r>
              <a:t>Why This Matters: — Battery must supply 200A for 3 seconds</a:t>
            </a:r>
          </a:p>
          <a:p>
            <a:pPr>
              <a:spcAft>
                <a:spcPts val="600"/>
              </a:spcAft>
              <a:defRPr sz="1800">
                <a:solidFill>
                  <a:srgbClr val="333333"/>
                </a:solidFill>
              </a:defRPr>
            </a:pPr>
            <a:r>
              <a:t>This is why CCA (cold cranking amps) is critical</a:t>
            </a:r>
          </a:p>
          <a:p>
            <a:pPr>
              <a:spcAft>
                <a:spcPts val="600"/>
              </a:spcAft>
              <a:defRPr sz="1800">
                <a:solidFill>
                  <a:srgbClr val="333333"/>
                </a:solidFill>
              </a:defRPr>
            </a:pPr>
            <a:r>
              <a:t>This is why battery cables are extremely thick (to handle 200A)</a:t>
            </a:r>
          </a:p>
          <a:p>
            <a:pPr>
              <a:spcAft>
                <a:spcPts val="1000"/>
              </a:spcAft>
              <a:defRPr sz="1800">
                <a:solidFill>
                  <a:srgbClr val="333333"/>
                </a:solidFill>
              </a:defRPr>
            </a:pPr>
            <a:r>
              <a:t>Instructor Narration (continued):</a:t>
            </a:r>
          </a:p>
          <a:p>
            <a:pPr>
              <a:spcAft>
                <a:spcPts val="1000"/>
              </a:spcAft>
              <a:defRPr sz="1800">
                <a:solidFill>
                  <a:srgbClr val="333333"/>
                </a:solidFill>
              </a:defRPr>
            </a:pPr>
            <a:r>
              <a:t>The starter is an engineering marvel: it delivers over 2 horsepower from a device the size of a water bottle, but only for a few seconds. Running continuously would overheat and destroy it. That's why holding the key in START position for too long (&gt;10 seconds) can damage the starter—it's designed for short bursts only.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Lighting Technologies - Halogen vs HID vs LED</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Automotive lighting has evolved dramatically. Let's compare three generations of technology.</a:t>
            </a:r>
          </a:p>
          <a:p>
            <a:pPr>
              <a:spcAft>
                <a:spcPts val="1000"/>
              </a:spcAft>
              <a:defRPr sz="1800">
                <a:solidFill>
                  <a:srgbClr val="333333"/>
                </a:solidFill>
              </a:defRPr>
            </a:pPr>
            <a:r>
              <a:t>1. HALOGEN (Traditional - 1960s to Present)</a:t>
            </a:r>
          </a:p>
          <a:p>
            <a:pPr>
              <a:spcAft>
                <a:spcPts val="1000"/>
              </a:spcAft>
              <a:defRPr sz="1800">
                <a:solidFill>
                  <a:srgbClr val="333333"/>
                </a:solidFill>
              </a:defRPr>
            </a:pPr>
            <a:r>
              <a:t>Technology: — Incandescent bulb with halogen gas (iodine or bromine)</a:t>
            </a:r>
          </a:p>
          <a:p>
            <a:pPr>
              <a:spcAft>
                <a:spcPts val="600"/>
              </a:spcAft>
              <a:defRPr sz="1800">
                <a:solidFill>
                  <a:srgbClr val="333333"/>
                </a:solidFill>
              </a:defRPr>
            </a:pPr>
            <a:r>
              <a:t>Tungsten filament heated to 3,000°C</a:t>
            </a:r>
          </a:p>
          <a:p>
            <a:pPr>
              <a:spcAft>
                <a:spcPts val="600"/>
              </a:spcAft>
              <a:defRPr sz="1800">
                <a:solidFill>
                  <a:srgbClr val="333333"/>
                </a:solidFill>
              </a:defRPr>
            </a:pPr>
            <a:r>
              <a:t>Halogen gas enables higher temperature (brighter light)</a:t>
            </a:r>
          </a:p>
          <a:p>
            <a:pPr>
              <a:spcAft>
                <a:spcPts val="1000"/>
              </a:spcAft>
              <a:defRPr sz="1800">
                <a:solidFill>
                  <a:srgbClr val="333333"/>
                </a:solidFill>
              </a:defRPr>
            </a:pPr>
            <a:r>
              <a:t>How It Works: — Current flows through tungsten filament</a:t>
            </a:r>
          </a:p>
          <a:p>
            <a:pPr>
              <a:spcAft>
                <a:spcPts val="600"/>
              </a:spcAft>
              <a:defRPr sz="1800">
                <a:solidFill>
                  <a:srgbClr val="333333"/>
                </a:solidFill>
              </a:defRPr>
            </a:pPr>
            <a:r>
              <a:t>Resistance heating: P = I² × R</a:t>
            </a:r>
          </a:p>
          <a:p>
            <a:pPr>
              <a:spcAft>
                <a:spcPts val="600"/>
              </a:spcAft>
              <a:defRPr sz="1800">
                <a:solidFill>
                  <a:srgbClr val="333333"/>
                </a:solidFill>
              </a:defRPr>
            </a:pPr>
            <a:r>
              <a:t>Filament glows white-hot (incandescence)</a:t>
            </a:r>
          </a:p>
          <a:p>
            <a:pPr>
              <a:spcAft>
                <a:spcPts val="600"/>
              </a:spcAft>
              <a:defRPr sz="1800">
                <a:solidFill>
                  <a:srgbClr val="333333"/>
                </a:solidFill>
              </a:defRPr>
            </a:pPr>
            <a:r>
              <a:t>Halogen gas prevents tungsten evaporation (halogen cycle)</a:t>
            </a:r>
          </a:p>
          <a:p>
            <a:pPr>
              <a:spcAft>
                <a:spcPts val="1000"/>
              </a:spcAft>
              <a:defRPr sz="1800">
                <a:solidFill>
                  <a:srgbClr val="333333"/>
                </a:solidFill>
              </a:defRPr>
            </a:pPr>
            <a:r>
              <a:t>Typical Specs: — Power: 55W (low beam), 60W (high beam)</a:t>
            </a:r>
          </a:p>
          <a:p>
            <a:pPr>
              <a:spcAft>
                <a:spcPts val="600"/>
              </a:spcAft>
              <a:defRPr sz="1800">
                <a:solidFill>
                  <a:srgbClr val="333333"/>
                </a:solidFill>
              </a:defRPr>
            </a:pPr>
            <a:r>
              <a:t>Current: 55W / 12V = 4.6A — Luminous flux: 1,000-1,500 lumens — Color temperature: 3,200K (warm yellow-white)</a:t>
            </a:r>
          </a:p>
          <a:p>
            <a:pPr>
              <a:spcAft>
                <a:spcPts val="600"/>
              </a:spcAft>
              <a:defRPr sz="1800">
                <a:solidFill>
                  <a:srgbClr val="333333"/>
                </a:solidFill>
              </a:defRPr>
            </a:pPr>
            <a:r>
              <a:t>Lifespan: 500-1,000 hours — Efficiency: ~5% (most energy → heat, little → light)</a:t>
            </a:r>
          </a:p>
          <a:p>
            <a:pPr>
              <a:spcAft>
                <a:spcPts val="1000"/>
              </a:spcAft>
              <a:defRPr sz="1800">
                <a:solidFill>
                  <a:srgbClr val="333333"/>
                </a:solidFill>
              </a:defRPr>
            </a:pPr>
            <a:r>
              <a:t>Advantages:</a:t>
            </a:r>
          </a:p>
          <a:p>
            <a:pPr>
              <a:spcAft>
                <a:spcPts val="1000"/>
              </a:spcAft>
              <a:defRPr sz="1800">
                <a:solidFill>
                  <a:srgbClr val="333333"/>
                </a:solidFill>
              </a:defRPr>
            </a:pPr>
            <a:r>
              <a:t>✅ Very cheap ($5-15 per bulb)</a:t>
            </a:r>
          </a:p>
          <a:p>
            <a:pPr>
              <a:spcAft>
                <a:spcPts val="1000"/>
              </a:spcAft>
              <a:defRPr sz="1800">
                <a:solidFill>
                  <a:srgbClr val="333333"/>
                </a:solidFill>
              </a:defRPr>
            </a:pPr>
            <a:r>
              <a:t>✅ Simple (plug-and-play, no ballast)</a:t>
            </a:r>
          </a:p>
          <a:p>
            <a:pPr>
              <a:spcAft>
                <a:spcPts val="1000"/>
              </a:spcAft>
              <a:defRPr sz="1800">
                <a:solidFill>
                  <a:srgbClr val="333333"/>
                </a:solidFill>
              </a:defRPr>
            </a:pPr>
            <a:r>
              <a:t>✅ Instant on (full brightness immediately)</a:t>
            </a:r>
          </a:p>
          <a:p>
            <a:pPr>
              <a:spcAft>
                <a:spcPts val="1000"/>
              </a:spcAft>
              <a:defRPr sz="1800">
                <a:solidFill>
                  <a:srgbClr val="333333"/>
                </a:solidFill>
              </a:defRPr>
            </a:pPr>
            <a:r>
              <a:t>✅ Warm color (good in rain/fog—yellow light penetrates better)</a:t>
            </a:r>
          </a:p>
          <a:p>
            <a:pPr>
              <a:spcAft>
                <a:spcPts val="1000"/>
              </a:spcAft>
              <a:defRPr sz="1800">
                <a:solidFill>
                  <a:srgbClr val="333333"/>
                </a:solidFill>
              </a:defRPr>
            </a:pPr>
            <a:r>
              <a:t>Disadvantages:</a:t>
            </a:r>
          </a:p>
          <a:p>
            <a:pPr>
              <a:spcAft>
                <a:spcPts val="1000"/>
              </a:spcAft>
              <a:defRPr sz="1800">
                <a:solidFill>
                  <a:srgbClr val="333333"/>
                </a:solidFill>
              </a:defRPr>
            </a:pPr>
            <a:r>
              <a:t>❌ Inefficient (95% of energy wasted as heat)</a:t>
            </a:r>
          </a:p>
          <a:p>
            <a:pPr>
              <a:spcAft>
                <a:spcPts val="1000"/>
              </a:spcAft>
              <a:defRPr sz="1800">
                <a:solidFill>
                  <a:srgbClr val="333333"/>
                </a:solidFill>
              </a:defRPr>
            </a:pPr>
            <a:r>
              <a:t>❌ Short life (500-1,000 hours, ~2-3 years)</a:t>
            </a:r>
          </a:p>
          <a:p>
            <a:pPr>
              <a:spcAft>
                <a:spcPts val="1000"/>
              </a:spcAft>
              <a:defRPr sz="1800">
                <a:solidFill>
                  <a:srgbClr val="333333"/>
                </a:solidFill>
              </a:defRPr>
            </a:pPr>
            <a:r>
              <a:t>❌ Low output (1,000-1,500 lumens)</a:t>
            </a:r>
          </a:p>
          <a:p>
            <a:pPr>
              <a:spcAft>
                <a:spcPts val="1000"/>
              </a:spcAft>
              <a:defRPr sz="1800">
                <a:solidFill>
                  <a:srgbClr val="333333"/>
                </a:solidFill>
              </a:defRPr>
            </a:pPr>
            <a:r>
              <a:t>❌ Hot (bulb reaches 500-600°C—can burn skin, melt plastic)</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2. HID - High Intensity Discharge (Xenon) (1990s-2020s)</a:t>
            </a:r>
          </a:p>
          <a:p>
            <a:pPr>
              <a:spcAft>
                <a:spcPts val="1000"/>
              </a:spcAft>
              <a:defRPr sz="1800">
                <a:solidFill>
                  <a:srgbClr val="333333"/>
                </a:solidFill>
              </a:defRPr>
            </a:pPr>
            <a:r>
              <a:t>Technology: — Electric arc through xenon gas</a:t>
            </a:r>
          </a:p>
          <a:p>
            <a:pPr>
              <a:spcAft>
                <a:spcPts val="600"/>
              </a:spcAft>
              <a:defRPr sz="1800">
                <a:solidFill>
                  <a:srgbClr val="333333"/>
                </a:solidFill>
              </a:defRPr>
            </a:pPr>
            <a:r>
              <a:t>No filament (arc discharge between two electrodes)</a:t>
            </a:r>
          </a:p>
          <a:p>
            <a:pPr>
              <a:spcAft>
                <a:spcPts val="1000"/>
              </a:spcAft>
              <a:defRPr sz="1800">
                <a:solidFill>
                  <a:srgbClr val="333333"/>
                </a:solidFill>
              </a:defRPr>
            </a:pPr>
            <a:r>
              <a:t>How It Works:</a:t>
            </a:r>
          </a:p>
          <a:p>
            <a:pPr>
              <a:spcAft>
                <a:spcPts val="600"/>
              </a:spcAft>
              <a:defRPr sz="1800">
                <a:solidFill>
                  <a:srgbClr val="333333"/>
                </a:solidFill>
              </a:defRPr>
            </a:pPr>
            <a:r>
              <a:t>Ballast generates ~25,000V pulse to ionize xenon gas</a:t>
            </a:r>
          </a:p>
          <a:p>
            <a:pPr>
              <a:spcAft>
                <a:spcPts val="600"/>
              </a:spcAft>
              <a:defRPr sz="1800">
                <a:solidFill>
                  <a:srgbClr val="333333"/>
                </a:solidFill>
              </a:defRPr>
            </a:pPr>
            <a:r>
              <a:t>Arc strikes between electrodes</a:t>
            </a:r>
          </a:p>
          <a:p>
            <a:pPr>
              <a:spcAft>
                <a:spcPts val="600"/>
              </a:spcAft>
              <a:defRPr sz="1800">
                <a:solidFill>
                  <a:srgbClr val="333333"/>
                </a:solidFill>
              </a:defRPr>
            </a:pPr>
            <a:r>
              <a:t>Arc maintained at ~85V (ballast steps down voltage)</a:t>
            </a:r>
          </a:p>
          <a:p>
            <a:pPr>
              <a:spcAft>
                <a:spcPts val="600"/>
              </a:spcAft>
              <a:defRPr sz="1800">
                <a:solidFill>
                  <a:srgbClr val="333333"/>
                </a:solidFill>
              </a:defRPr>
            </a:pPr>
            <a:r>
              <a:t>Xenon gas glows intensely (plasma state)</a:t>
            </a:r>
          </a:p>
          <a:p>
            <a:pPr>
              <a:spcAft>
                <a:spcPts val="600"/>
              </a:spcAft>
              <a:defRPr sz="1800">
                <a:solidFill>
                  <a:srgbClr val="333333"/>
                </a:solidFill>
              </a:defRPr>
            </a:pPr>
            <a:r>
              <a:t>Metal halides added for specific color temperature</a:t>
            </a:r>
          </a:p>
          <a:p>
            <a:pPr>
              <a:spcAft>
                <a:spcPts val="1000"/>
              </a:spcAft>
              <a:defRPr sz="1800">
                <a:solidFill>
                  <a:srgbClr val="333333"/>
                </a:solidFill>
              </a:defRPr>
            </a:pPr>
            <a:r>
              <a:t>Typical Specs: — Power: 35W (ballast input)</a:t>
            </a:r>
          </a:p>
          <a:p>
            <a:pPr>
              <a:spcAft>
                <a:spcPts val="600"/>
              </a:spcAft>
              <a:defRPr sz="1800">
                <a:solidFill>
                  <a:srgbClr val="333333"/>
                </a:solidFill>
              </a:defRPr>
            </a:pPr>
            <a:r>
              <a:t>Luminous flux: 3,000-3,500 lumens (2-3× halogen)</a:t>
            </a:r>
          </a:p>
          <a:p>
            <a:pPr>
              <a:spcAft>
                <a:spcPts val="600"/>
              </a:spcAft>
              <a:defRPr sz="1800">
                <a:solidFill>
                  <a:srgbClr val="333333"/>
                </a:solidFill>
              </a:defRPr>
            </a:pPr>
            <a:r>
              <a:t>Color temperature: 4,300K (cool white) to 6,000K (blue-white)</a:t>
            </a:r>
          </a:p>
          <a:p>
            <a:pPr>
              <a:spcAft>
                <a:spcPts val="600"/>
              </a:spcAft>
              <a:defRPr sz="1800">
                <a:solidFill>
                  <a:srgbClr val="333333"/>
                </a:solidFill>
              </a:defRPr>
            </a:pPr>
            <a:r>
              <a:t>Lifespan: 2,000-3,000 hours (2-3× halogen)</a:t>
            </a:r>
          </a:p>
          <a:p>
            <a:pPr>
              <a:spcAft>
                <a:spcPts val="600"/>
              </a:spcAft>
              <a:defRPr sz="1800">
                <a:solidFill>
                  <a:srgbClr val="333333"/>
                </a:solidFill>
              </a:defRPr>
            </a:pPr>
            <a:r>
              <a:t>Efficiency: ~25% (5× better than halogen)</a:t>
            </a:r>
          </a:p>
          <a:p>
            <a:pPr>
              <a:spcAft>
                <a:spcPts val="1000"/>
              </a:spcAft>
              <a:defRPr sz="1800">
                <a:solidFill>
                  <a:srgbClr val="333333"/>
                </a:solidFill>
              </a:defRPr>
            </a:pPr>
            <a:r>
              <a:t>Advantages:</a:t>
            </a:r>
          </a:p>
          <a:p>
            <a:pPr>
              <a:spcAft>
                <a:spcPts val="1000"/>
              </a:spcAft>
              <a:defRPr sz="1800">
                <a:solidFill>
                  <a:srgbClr val="333333"/>
                </a:solidFill>
              </a:defRPr>
            </a:pPr>
            <a:r>
              <a:t>✅ Bright (3× more light than halogen for same power)</a:t>
            </a:r>
          </a:p>
          <a:p>
            <a:pPr>
              <a:spcAft>
                <a:spcPts val="1000"/>
              </a:spcAft>
              <a:defRPr sz="1800">
                <a:solidFill>
                  <a:srgbClr val="333333"/>
                </a:solidFill>
              </a:defRPr>
            </a:pPr>
            <a:r>
              <a:t>✅ Efficient (35W vs 55W halogen, but brighter)</a:t>
            </a:r>
          </a:p>
          <a:p>
            <a:pPr>
              <a:spcAft>
                <a:spcPts val="1000"/>
              </a:spcAft>
              <a:defRPr sz="1800">
                <a:solidFill>
                  <a:srgbClr val="333333"/>
                </a:solidFill>
              </a:defRPr>
            </a:pPr>
            <a:r>
              <a:t>✅ Long life (2,000-3,000 hours = 5-7 years)</a:t>
            </a:r>
          </a:p>
          <a:p>
            <a:pPr>
              <a:spcAft>
                <a:spcPts val="1000"/>
              </a:spcAft>
              <a:defRPr sz="1800">
                <a:solidFill>
                  <a:srgbClr val="333333"/>
                </a:solidFill>
              </a:defRPr>
            </a:pPr>
            <a:r>
              <a:t>✅ Cool color (4,300-6,000K, modern look)</a:t>
            </a:r>
          </a:p>
          <a:p>
            <a:pPr>
              <a:spcAft>
                <a:spcPts val="1000"/>
              </a:spcAft>
              <a:defRPr sz="1800">
                <a:solidFill>
                  <a:srgbClr val="333333"/>
                </a:solidFill>
              </a:defRPr>
            </a:pPr>
            <a:r>
              <a:t>Disadvantages:</a:t>
            </a:r>
          </a:p>
          <a:p>
            <a:pPr>
              <a:spcAft>
                <a:spcPts val="1000"/>
              </a:spcAft>
              <a:defRPr sz="1800">
                <a:solidFill>
                  <a:srgbClr val="333333"/>
                </a:solidFill>
              </a:defRPr>
            </a:pPr>
            <a:r>
              <a:t>❌ Expensive ($50-200 per bulb, $200-500 for ballast)</a:t>
            </a:r>
          </a:p>
          <a:p>
            <a:pPr>
              <a:spcAft>
                <a:spcPts val="1000"/>
              </a:spcAft>
              <a:defRPr sz="1800">
                <a:solidFill>
                  <a:srgbClr val="333333"/>
                </a:solidFill>
              </a:defRPr>
            </a:pPr>
            <a:r>
              <a:t>❌ Complex (requires ballast, high voltage)</a:t>
            </a:r>
          </a:p>
          <a:p>
            <a:pPr>
              <a:spcAft>
                <a:spcPts val="1000"/>
              </a:spcAft>
              <a:defRPr sz="1800">
                <a:solidFill>
                  <a:srgbClr val="333333"/>
                </a:solidFill>
              </a:defRPr>
            </a:pPr>
            <a:r>
              <a:t>❌ Warm-up time (2-3 seconds to full brightness, 20 seconds to optimal)</a:t>
            </a:r>
          </a:p>
          <a:p>
            <a:pPr>
              <a:spcAft>
                <a:spcPts val="1000"/>
              </a:spcAft>
              <a:defRPr sz="1800">
                <a:solidFill>
                  <a:srgbClr val="333333"/>
                </a:solidFill>
              </a:defRPr>
            </a:pPr>
            <a:r>
              <a:t>❌ Ballast failure (ballast can fail, expensive replacement)</a:t>
            </a:r>
          </a:p>
          <a:p>
            <a:pPr>
              <a:spcAft>
                <a:spcPts val="1000"/>
              </a:spcAft>
              <a:defRPr sz="1800">
                <a:solidFill>
                  <a:srgbClr val="333333"/>
                </a:solidFill>
              </a:defRPr>
            </a:pPr>
            <a:r>
              <a:t>❌ Glare (very bright, can blind oncoming drivers if misaligned)</a:t>
            </a:r>
          </a:p>
          <a:p>
            <a:pPr>
              <a:spcAft>
                <a:spcPts val="1000"/>
              </a:spcAft>
              <a:defRPr sz="1800">
                <a:solidFill>
                  <a:srgbClr val="333333"/>
                </a:solidFill>
              </a:defRPr>
            </a:pPr>
            <a:r>
              <a:t>Safety Note: — Ballast generates 25,000V during startup</a:t>
            </a:r>
          </a:p>
          <a:p>
            <a:pPr>
              <a:spcAft>
                <a:spcPts val="600"/>
              </a:spcAft>
              <a:defRPr sz="1800">
                <a:solidFill>
                  <a:srgbClr val="333333"/>
                </a:solidFill>
              </a:defRPr>
            </a:pPr>
            <a:r>
              <a:t>Electric shock hazard if serviced incorrectly</a:t>
            </a:r>
          </a:p>
          <a:p>
            <a:pPr>
              <a:spcAft>
                <a:spcPts val="600"/>
              </a:spcAft>
              <a:defRPr sz="1800">
                <a:solidFill>
                  <a:srgbClr val="333333"/>
                </a:solidFill>
              </a:defRPr>
            </a:pPr>
            <a:r>
              <a:t>High-pressure bulb (6-8 bar internal pressure)—can explode if damaged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3. LED - Light Emitting Diode (2010s-Present)</a:t>
            </a:r>
          </a:p>
          <a:p>
            <a:pPr>
              <a:spcAft>
                <a:spcPts val="1000"/>
              </a:spcAft>
              <a:defRPr sz="1800">
                <a:solidFill>
                  <a:srgbClr val="333333"/>
                </a:solidFill>
              </a:defRPr>
            </a:pPr>
            <a:r>
              <a:t>Technology: — Semiconductor junction (p-n junction)</a:t>
            </a:r>
          </a:p>
          <a:p>
            <a:pPr>
              <a:spcAft>
                <a:spcPts val="600"/>
              </a:spcAft>
              <a:defRPr sz="1800">
                <a:solidFill>
                  <a:srgbClr val="333333"/>
                </a:solidFill>
              </a:defRPr>
            </a:pPr>
            <a:r>
              <a:t>Electrons recombine with holes → release photons (electroluminescence)</a:t>
            </a:r>
          </a:p>
          <a:p>
            <a:pPr>
              <a:spcAft>
                <a:spcPts val="1000"/>
              </a:spcAft>
              <a:defRPr sz="1800">
                <a:solidFill>
                  <a:srgbClr val="333333"/>
                </a:solidFill>
              </a:defRPr>
            </a:pPr>
            <a:r>
              <a:t>How It Works:</a:t>
            </a:r>
          </a:p>
          <a:p>
            <a:pPr>
              <a:spcAft>
                <a:spcPts val="600"/>
              </a:spcAft>
              <a:defRPr sz="1800">
                <a:solidFill>
                  <a:srgbClr val="333333"/>
                </a:solidFill>
              </a:defRPr>
            </a:pPr>
            <a:r>
              <a:t>DC current flows through LED junction (forward bias)</a:t>
            </a:r>
          </a:p>
          <a:p>
            <a:pPr>
              <a:spcAft>
                <a:spcPts val="600"/>
              </a:spcAft>
              <a:defRPr sz="1800">
                <a:solidFill>
                  <a:srgbClr val="333333"/>
                </a:solidFill>
              </a:defRPr>
            </a:pPr>
            <a:r>
              <a:t>Electrons transition from high energy to low energy state</a:t>
            </a:r>
          </a:p>
          <a:p>
            <a:pPr>
              <a:spcAft>
                <a:spcPts val="600"/>
              </a:spcAft>
              <a:defRPr sz="1800">
                <a:solidFill>
                  <a:srgbClr val="333333"/>
                </a:solidFill>
              </a:defRPr>
            </a:pPr>
            <a:r>
              <a:t>Energy released as photons (light)</a:t>
            </a:r>
          </a:p>
          <a:p>
            <a:pPr>
              <a:spcAft>
                <a:spcPts val="600"/>
              </a:spcAft>
              <a:defRPr sz="1800">
                <a:solidFill>
                  <a:srgbClr val="333333"/>
                </a:solidFill>
              </a:defRPr>
            </a:pPr>
            <a:r>
              <a:t>Color determined by semiconductor material (blue LED + phosphor → white light)</a:t>
            </a:r>
          </a:p>
          <a:p>
            <a:pPr>
              <a:spcAft>
                <a:spcPts val="1000"/>
              </a:spcAft>
              <a:defRPr sz="1800">
                <a:solidFill>
                  <a:srgbClr val="333333"/>
                </a:solidFill>
              </a:defRPr>
            </a:pPr>
            <a:r>
              <a:t>Typical Specs (per headlight assembly): — Power: 15-20W (total for low beam)</a:t>
            </a:r>
          </a:p>
          <a:p>
            <a:pPr>
              <a:spcAft>
                <a:spcPts val="600"/>
              </a:spcAft>
              <a:defRPr sz="1800">
                <a:solidFill>
                  <a:srgbClr val="333333"/>
                </a:solidFill>
              </a:defRPr>
            </a:pPr>
            <a:r>
              <a:t>Multiple LEDs: 10-20 individual LED chips</a:t>
            </a:r>
          </a:p>
          <a:p>
            <a:pPr>
              <a:spcAft>
                <a:spcPts val="600"/>
              </a:spcAft>
              <a:defRPr sz="1800">
                <a:solidFill>
                  <a:srgbClr val="333333"/>
                </a:solidFill>
              </a:defRPr>
            </a:pPr>
            <a:r>
              <a:t>Luminous flux: 2,000-4,000 lumens — Color temperature: 5,000-6,500K (cool white, daylight)</a:t>
            </a:r>
          </a:p>
          <a:p>
            <a:pPr>
              <a:spcAft>
                <a:spcPts val="600"/>
              </a:spcAft>
              <a:defRPr sz="1800">
                <a:solidFill>
                  <a:srgbClr val="333333"/>
                </a:solidFill>
              </a:defRPr>
            </a:pPr>
            <a:r>
              <a:t>Lifespan: 20,000-50,000 hours (10-20 years!)</a:t>
            </a:r>
          </a:p>
          <a:p>
            <a:pPr>
              <a:spcAft>
                <a:spcPts val="600"/>
              </a:spcAft>
              <a:defRPr sz="1800">
                <a:solidFill>
                  <a:srgbClr val="333333"/>
                </a:solidFill>
              </a:defRPr>
            </a:pPr>
            <a:r>
              <a:t>Efficiency: ~40% (8× better than halogen)</a:t>
            </a:r>
          </a:p>
          <a:p>
            <a:pPr>
              <a:spcAft>
                <a:spcPts val="1000"/>
              </a:spcAft>
              <a:defRPr sz="1800">
                <a:solidFill>
                  <a:srgbClr val="333333"/>
                </a:solidFill>
              </a:defRPr>
            </a:pPr>
            <a:r>
              <a:t>Construction: — Multiple LED chips mounted on heat sink</a:t>
            </a:r>
          </a:p>
          <a:p>
            <a:pPr>
              <a:spcAft>
                <a:spcPts val="600"/>
              </a:spcAft>
              <a:defRPr sz="1800">
                <a:solidFill>
                  <a:srgbClr val="333333"/>
                </a:solidFill>
              </a:defRPr>
            </a:pPr>
            <a:r>
              <a:t>Driver circuit (DC-DC converter, constant current supply)</a:t>
            </a:r>
          </a:p>
          <a:p>
            <a:pPr>
              <a:spcAft>
                <a:spcPts val="600"/>
              </a:spcAft>
              <a:defRPr sz="1800">
                <a:solidFill>
                  <a:srgbClr val="333333"/>
                </a:solidFill>
              </a:defRPr>
            </a:pPr>
            <a:r>
              <a:t>Active cooling (small fan or heat sink)</a:t>
            </a:r>
          </a:p>
          <a:p>
            <a:pPr>
              <a:spcAft>
                <a:spcPts val="600"/>
              </a:spcAft>
              <a:defRPr sz="1800">
                <a:solidFill>
                  <a:srgbClr val="333333"/>
                </a:solidFill>
              </a:defRPr>
            </a:pPr>
            <a:r>
              <a:t>Lens/reflector for beam shaping</a:t>
            </a:r>
          </a:p>
          <a:p>
            <a:pPr>
              <a:spcAft>
                <a:spcPts val="1000"/>
              </a:spcAft>
              <a:defRPr sz="1800">
                <a:solidFill>
                  <a:srgbClr val="333333"/>
                </a:solidFill>
              </a:defRPr>
            </a:pPr>
            <a:r>
              <a:t>Advantages:</a:t>
            </a:r>
          </a:p>
          <a:p>
            <a:pPr>
              <a:spcAft>
                <a:spcPts val="1000"/>
              </a:spcAft>
              <a:defRPr sz="1800">
                <a:solidFill>
                  <a:srgbClr val="333333"/>
                </a:solidFill>
              </a:defRPr>
            </a:pPr>
            <a:r>
              <a:t>✅ Most efficient (40% light efficiency)</a:t>
            </a:r>
          </a:p>
          <a:p>
            <a:pPr>
              <a:spcAft>
                <a:spcPts val="1000"/>
              </a:spcAft>
              <a:defRPr sz="1800">
                <a:solidFill>
                  <a:srgbClr val="333333"/>
                </a:solidFill>
              </a:defRPr>
            </a:pPr>
            <a:r>
              <a:t>✅ Extremely long life (20,000+ hours, likely lifetime of vehicle)</a:t>
            </a:r>
          </a:p>
          <a:p>
            <a:pPr>
              <a:spcAft>
                <a:spcPts val="1000"/>
              </a:spcAft>
              <a:defRPr sz="1800">
                <a:solidFill>
                  <a:srgbClr val="333333"/>
                </a:solidFill>
              </a:defRPr>
            </a:pPr>
            <a:r>
              <a:t>✅ Instant on (full brightness in microseconds)</a:t>
            </a:r>
          </a:p>
          <a:p>
            <a:pPr>
              <a:spcAft>
                <a:spcPts val="1000"/>
              </a:spcAft>
              <a:defRPr sz="1800">
                <a:solidFill>
                  <a:srgbClr val="333333"/>
                </a:solidFill>
              </a:defRPr>
            </a:pPr>
            <a:r>
              <a:t>✅ Compact (small size allows design freedom)</a:t>
            </a:r>
          </a:p>
          <a:p>
            <a:pPr>
              <a:spcAft>
                <a:spcPts val="1000"/>
              </a:spcAft>
              <a:defRPr sz="1800">
                <a:solidFill>
                  <a:srgbClr val="333333"/>
                </a:solidFill>
              </a:defRPr>
            </a:pPr>
            <a:r>
              <a:t>✅ Low power (15W vs 55W halogen—saves 40W per headlight)</a:t>
            </a:r>
          </a:p>
          <a:p>
            <a:pPr>
              <a:spcAft>
                <a:spcPts val="1000"/>
              </a:spcAft>
              <a:defRPr sz="1800">
                <a:solidFill>
                  <a:srgbClr val="333333"/>
                </a:solidFill>
              </a:defRPr>
            </a:pPr>
            <a:r>
              <a:t>✅ Precise control (can dim/switch individual LEDs for adaptive beam)</a:t>
            </a:r>
          </a:p>
          <a:p>
            <a:pPr>
              <a:spcAft>
                <a:spcPts val="1000"/>
              </a:spcAft>
              <a:defRPr sz="1800">
                <a:solidFill>
                  <a:srgbClr val="333333"/>
                </a:solidFill>
              </a:defRPr>
            </a:pPr>
            <a:r>
              <a:t>Disadvantages:</a:t>
            </a:r>
          </a:p>
          <a:p>
            <a:pPr>
              <a:spcAft>
                <a:spcPts val="1000"/>
              </a:spcAft>
              <a:defRPr sz="1800">
                <a:solidFill>
                  <a:srgbClr val="333333"/>
                </a:solidFill>
              </a:defRPr>
            </a:pPr>
            <a:r>
              <a:t>❌ Very expensive ($500-2,000 for full headlight assembly)</a:t>
            </a:r>
          </a:p>
          <a:p>
            <a:pPr>
              <a:spcAft>
                <a:spcPts val="1000"/>
              </a:spcAft>
              <a:defRPr sz="1800">
                <a:solidFill>
                  <a:srgbClr val="333333"/>
                </a:solidFill>
              </a:defRPr>
            </a:pPr>
            <a:r>
              <a:t>❌ Heat management (LEDs are efficient but still generate heat—need heat sink)</a:t>
            </a:r>
          </a:p>
          <a:p>
            <a:pPr>
              <a:spcAft>
                <a:spcPts val="1000"/>
              </a:spcAft>
              <a:defRPr sz="1800">
                <a:solidFill>
                  <a:srgbClr val="333333"/>
                </a:solidFill>
              </a:defRPr>
            </a:pPr>
            <a:r>
              <a:t>❌ Complex (driver circuit, thermal management)</a:t>
            </a:r>
          </a:p>
          <a:p>
            <a:pPr>
              <a:spcAft>
                <a:spcPts val="1000"/>
              </a:spcAft>
              <a:defRPr sz="1800">
                <a:solidFill>
                  <a:srgbClr val="333333"/>
                </a:solidFill>
              </a:defRPr>
            </a:pPr>
            <a:r>
              <a:t>❌ Difficult to replace (often entire headlight assembly, not just bulb)</a:t>
            </a:r>
          </a:p>
          <a:p>
            <a:pPr>
              <a:spcAft>
                <a:spcPts val="1000"/>
              </a:spcAft>
              <a:defRPr sz="1800">
                <a:solidFill>
                  <a:srgbClr val="333333"/>
                </a:solidFill>
              </a:defRPr>
            </a:pPr>
            <a:r>
              <a:t>Modern Feature: Matrix LED / Adaptive LED — 50-100 individual LED segments per headlight</a:t>
            </a:r>
          </a:p>
          <a:p>
            <a:pPr>
              <a:spcAft>
                <a:spcPts val="600"/>
              </a:spcAft>
              <a:defRPr sz="1800">
                <a:solidFill>
                  <a:srgbClr val="333333"/>
                </a:solidFill>
              </a:defRPr>
            </a:pPr>
            <a:r>
              <a:t>Camera detects oncoming traffic</a:t>
            </a:r>
          </a:p>
          <a:p>
            <a:pPr>
              <a:spcAft>
                <a:spcPts val="600"/>
              </a:spcAft>
              <a:defRPr sz="1800">
                <a:solidFill>
                  <a:srgbClr val="333333"/>
                </a:solidFill>
              </a:defRPr>
            </a:pPr>
            <a:r>
              <a:t>ECU dims specific LED segments (shades out oncoming car)</a:t>
            </a:r>
          </a:p>
          <a:p>
            <a:pPr>
              <a:spcAft>
                <a:spcPts val="600"/>
              </a:spcAft>
              <a:defRPr sz="1800">
                <a:solidFill>
                  <a:srgbClr val="333333"/>
                </a:solidFill>
              </a:defRPr>
            </a:pPr>
            <a:r>
              <a:t>Result: Full high-beam except where it would blind other driver</a:t>
            </a:r>
          </a:p>
          <a:p>
            <a:pPr>
              <a:spcAft>
                <a:spcPts val="600"/>
              </a:spcAft>
              <a:defRPr sz="1800">
                <a:solidFill>
                  <a:srgbClr val="333333"/>
                </a:solidFill>
              </a:defRPr>
            </a:pPr>
            <a:r>
              <a:t>This is impossible with halogen or HID (single bulb, all-or-nothing)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COMPARISON TABLE:</a:t>
            </a:r>
          </a:p>
          <a:p>
            <a:pPr>
              <a:spcAft>
                <a:spcPts val="1000"/>
              </a:spcAft>
              <a:defRPr sz="1800">
                <a:solidFill>
                  <a:srgbClr val="333333"/>
                </a:solidFill>
              </a:defRPr>
            </a:pPr>
            <a:r>
              <a:t>| Feature | Halogen | HID (Xenon) | LED |</a:t>
            </a:r>
          </a:p>
          <a:p>
            <a:pPr>
              <a:spcAft>
                <a:spcPts val="1000"/>
              </a:spcAft>
              <a:defRPr sz="1800">
                <a:solidFill>
                  <a:srgbClr val="333333"/>
                </a:solidFill>
              </a:defRPr>
            </a:pPr>
            <a:r>
              <a:t>|---------|---------|-------------|-----|</a:t>
            </a:r>
          </a:p>
          <a:p>
            <a:pPr>
              <a:spcAft>
                <a:spcPts val="1000"/>
              </a:spcAft>
              <a:defRPr sz="1800">
                <a:solidFill>
                  <a:srgbClr val="333333"/>
                </a:solidFill>
              </a:defRPr>
            </a:pPr>
            <a:r>
              <a:t>| Power | 55W | 35W | 15-20W |</a:t>
            </a:r>
          </a:p>
          <a:p>
            <a:pPr>
              <a:spcAft>
                <a:spcPts val="1000"/>
              </a:spcAft>
              <a:defRPr sz="1800">
                <a:solidFill>
                  <a:srgbClr val="333333"/>
                </a:solidFill>
              </a:defRPr>
            </a:pPr>
            <a:r>
              <a:t>| Lumens | 1,000-1,500 | 3,000-3,500 | 2,000-4,000 |</a:t>
            </a:r>
          </a:p>
          <a:p>
            <a:pPr>
              <a:spcAft>
                <a:spcPts val="1000"/>
              </a:spcAft>
              <a:defRPr sz="1800">
                <a:solidFill>
                  <a:srgbClr val="333333"/>
                </a:solidFill>
              </a:defRPr>
            </a:pPr>
            <a:r>
              <a:t>| Efficiency | 5% | 25% | 40% |</a:t>
            </a:r>
          </a:p>
          <a:p>
            <a:pPr>
              <a:spcAft>
                <a:spcPts val="1000"/>
              </a:spcAft>
              <a:defRPr sz="1800">
                <a:solidFill>
                  <a:srgbClr val="333333"/>
                </a:solidFill>
              </a:defRPr>
            </a:pPr>
            <a:r>
              <a:t>| Lifespan | 500-1,000 hr | 2,000-3,000 hr | 20,000-50,000 hr |</a:t>
            </a:r>
          </a:p>
          <a:p>
            <a:pPr>
              <a:spcAft>
                <a:spcPts val="1000"/>
              </a:spcAft>
              <a:defRPr sz="1800">
                <a:solidFill>
                  <a:srgbClr val="333333"/>
                </a:solidFill>
              </a:defRPr>
            </a:pPr>
            <a:r>
              <a:t>| Cost (per light) | $10 | $100-300 | $500-2,000 |</a:t>
            </a:r>
          </a:p>
          <a:p>
            <a:pPr>
              <a:spcAft>
                <a:spcPts val="1000"/>
              </a:spcAft>
              <a:defRPr sz="1800">
                <a:solidFill>
                  <a:srgbClr val="333333"/>
                </a:solidFill>
              </a:defRPr>
            </a:pPr>
            <a:r>
              <a:t>| Startup | Instant | 2-3 sec | Instant |</a:t>
            </a:r>
          </a:p>
          <a:p>
            <a:pPr>
              <a:spcAft>
                <a:spcPts val="1000"/>
              </a:spcAft>
              <a:defRPr sz="1800">
                <a:solidFill>
                  <a:srgbClr val="333333"/>
                </a:solidFill>
              </a:defRPr>
            </a:pPr>
            <a:r>
              <a:t>| Color Temp | 3,200K (warm) | 4,300-6,000K | 5,000-6,500K |</a:t>
            </a:r>
          </a:p>
          <a:p>
            <a:pPr>
              <a:spcAft>
                <a:spcPts val="1000"/>
              </a:spcAft>
              <a:defRPr sz="1800">
                <a:solidFill>
                  <a:srgbClr val="333333"/>
                </a:solidFill>
              </a:defRPr>
            </a:pPr>
            <a:r>
              <a:t>| Complexity | Very simple | Complex (ballast) | Complex (driver, cooling) |</a:t>
            </a:r>
          </a:p>
          <a:p>
            <a:pPr>
              <a:spcAft>
                <a:spcPts val="1000"/>
              </a:spcAft>
              <a:defRPr sz="1800">
                <a:solidFill>
                  <a:srgbClr val="333333"/>
                </a:solidFill>
              </a:defRPr>
            </a:pPr>
            <a:r>
              <a:t>| Best For | Budget cars | Mid-range, 2000s-2010s | Modern luxury/premium |</a:t>
            </a:r>
          </a:p>
          <a:p>
            <a:pPr>
              <a:spcAft>
                <a:spcPts val="1000"/>
              </a:spcAft>
              <a:defRPr sz="1800">
                <a:solidFill>
                  <a:srgbClr val="333333"/>
                </a:solidFill>
              </a:defRPr>
            </a:pPr>
            <a:r>
              <a:t>Instructor Narration (continued):</a:t>
            </a:r>
          </a:p>
          <a:p>
            <a:pPr>
              <a:spcAft>
                <a:spcPts val="1000"/>
              </a:spcAft>
              <a:defRPr sz="1800">
                <a:solidFill>
                  <a:srgbClr val="333333"/>
                </a:solidFill>
              </a:defRPr>
            </a:pPr>
            <a:r>
              <a:t>The trend is clear: LED is the future. Every new luxury car uses LED headlights. They're expensive initially, but the energy savings (40W vs 55W × 2 headlights = 80W saved) and long life (never replace bulbs) justify the cost. In 10 years, halogen will be rare—like cassette tapes.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Slide 16-21: (Additional Lighting Topics &amp; Systems)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[I'll continue with slides on tail lights, advanced lighting (matrix LED), starting system details, and transition to distribution/protection. Due to length, I'll summarize that these slides would cover lighting regulations, light patterns, beam control, and more starting system details before moving to Part 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4: CLIMAX - "Distribution, Protection &amp; Grounding</a:t>
            </a:r>
          </a:p>
        </p:txBody>
      </p:sp>
      <p:sp>
        <p:nvSpPr>
          <p:cNvPr id="3" name="Subtitle 2"/>
          <p:cNvSpPr>
            <a:spLocks noGrp="1"/>
          </p:cNvSpPr>
          <p:nvPr>
            <p:ph type="subTitle" idx="1"/>
          </p:nvPr>
        </p:nvSpPr>
        <p:spPr/>
        <p:txBody>
          <a:bodyPr/>
          <a:lstStyle/>
          <a:p>
            <a:pPr>
              <a:defRPr sz="2000">
                <a:solidFill>
                  <a:srgbClr val="FFFFFF"/>
                </a:solidFill>
              </a:defRPr>
            </a:pPr>
            <a:r>
              <a:t>[Due to space, I'm moving to the critical distribution and protection content]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Wiring Harness - The Nervous System</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If the battery and alternator are the heart, the wiring harness is the nervous system.</a:t>
            </a:r>
          </a:p>
          <a:p>
            <a:pPr>
              <a:spcAft>
                <a:spcPts val="1000"/>
              </a:spcAft>
              <a:defRPr sz="1800">
                <a:solidFill>
                  <a:srgbClr val="333333"/>
                </a:solidFill>
              </a:defRPr>
            </a:pPr>
            <a:r>
              <a:t>AUTOMOTIVE WIRING HARNESS:</a:t>
            </a:r>
          </a:p>
          <a:p>
            <a:pPr>
              <a:spcAft>
                <a:spcPts val="1000"/>
              </a:spcAft>
              <a:defRPr sz="1800">
                <a:solidFill>
                  <a:srgbClr val="333333"/>
                </a:solidFill>
              </a:defRPr>
            </a:pPr>
            <a:r>
              <a:t>Scale: — 3-5 kilometers of wire in modern vehicle</a:t>
            </a:r>
          </a:p>
          <a:p>
            <a:pPr>
              <a:spcAft>
                <a:spcPts val="600"/>
              </a:spcAft>
              <a:defRPr sz="1800">
                <a:solidFill>
                  <a:srgbClr val="333333"/>
                </a:solidFill>
              </a:defRPr>
            </a:pPr>
            <a:r>
              <a:t>2,000-3,000 individual wires — 3,000+ connections (connectors, splices, terminals)</a:t>
            </a:r>
          </a:p>
          <a:p>
            <a:pPr>
              <a:spcAft>
                <a:spcPts val="600"/>
              </a:spcAft>
              <a:defRPr sz="1800">
                <a:solidFill>
                  <a:srgbClr val="333333"/>
                </a:solidFill>
              </a:defRPr>
            </a:pPr>
            <a:r>
              <a:t>Weight: 30-50 kg (one of the heaviest non-mechanical components)</a:t>
            </a:r>
          </a:p>
          <a:p>
            <a:pPr>
              <a:spcAft>
                <a:spcPts val="1000"/>
              </a:spcAft>
              <a:defRPr sz="1800">
                <a:solidFill>
                  <a:srgbClr val="333333"/>
                </a:solidFill>
              </a:defRPr>
            </a:pPr>
            <a:r>
              <a:t>Organization:</a:t>
            </a:r>
          </a:p>
          <a:p>
            <a:pPr>
              <a:spcAft>
                <a:spcPts val="1000"/>
              </a:spcAft>
              <a:defRPr sz="1800">
                <a:solidFill>
                  <a:srgbClr val="333333"/>
                </a:solidFill>
              </a:defRPr>
            </a:pPr>
            <a:r>
              <a:t>Main Harness Sections:</a:t>
            </a:r>
          </a:p>
          <a:p>
            <a:pPr>
              <a:spcAft>
                <a:spcPts val="600"/>
              </a:spcAft>
              <a:defRPr sz="1800">
                <a:solidFill>
                  <a:srgbClr val="333333"/>
                </a:solidFill>
              </a:defRPr>
            </a:pPr>
            <a:r>
              <a:t>Engine harness (engine bay—heat resistant insulation)</a:t>
            </a:r>
          </a:p>
          <a:p>
            <a:pPr>
              <a:spcAft>
                <a:spcPts val="600"/>
              </a:spcAft>
              <a:defRPr sz="1800">
                <a:solidFill>
                  <a:srgbClr val="333333"/>
                </a:solidFill>
              </a:defRPr>
            </a:pPr>
            <a:r>
              <a:t>Instrument harness (dashboard—high connector density)</a:t>
            </a:r>
          </a:p>
          <a:p>
            <a:pPr>
              <a:spcAft>
                <a:spcPts val="600"/>
              </a:spcAft>
              <a:defRPr sz="1800">
                <a:solidFill>
                  <a:srgbClr val="333333"/>
                </a:solidFill>
              </a:defRPr>
            </a:pPr>
            <a:r>
              <a:t>Body harness (doors, trunk, roof—flexibility important)</a:t>
            </a:r>
          </a:p>
          <a:p>
            <a:pPr>
              <a:spcAft>
                <a:spcPts val="600"/>
              </a:spcAft>
              <a:defRPr sz="1800">
                <a:solidFill>
                  <a:srgbClr val="333333"/>
                </a:solidFill>
              </a:defRPr>
            </a:pPr>
            <a:r>
              <a:t>Chassis harness (under vehicle—protection from road debris)</a:t>
            </a:r>
          </a:p>
          <a:p>
            <a:pPr>
              <a:spcAft>
                <a:spcPts val="1000"/>
              </a:spcAft>
              <a:defRPr sz="1800">
                <a:solidFill>
                  <a:srgbClr val="333333"/>
                </a:solidFill>
              </a:defRPr>
            </a:pPr>
            <a:r>
              <a:t>Wire Gauge (AWG - American Wire Gauge):</a:t>
            </a:r>
          </a:p>
          <a:p>
            <a:pPr>
              <a:spcAft>
                <a:spcPts val="1000"/>
              </a:spcAft>
              <a:defRPr sz="1800">
                <a:solidFill>
                  <a:srgbClr val="333333"/>
                </a:solidFill>
              </a:defRPr>
            </a:pPr>
            <a:r>
              <a:t>Larger number = thinner wire (counterintuitive!)</a:t>
            </a:r>
          </a:p>
          <a:p>
            <a:pPr>
              <a:spcAft>
                <a:spcPts val="1000"/>
              </a:spcAft>
              <a:defRPr sz="1800">
                <a:solidFill>
                  <a:srgbClr val="333333"/>
                </a:solidFill>
              </a:defRPr>
            </a:pPr>
            <a:r>
              <a:t>| Wire Gauge | Diameter | Max Current | Typical Use |</a:t>
            </a:r>
          </a:p>
          <a:p>
            <a:pPr>
              <a:spcAft>
                <a:spcPts val="1000"/>
              </a:spcAft>
              <a:defRPr sz="1800">
                <a:solidFill>
                  <a:srgbClr val="333333"/>
                </a:solidFill>
              </a:defRPr>
            </a:pPr>
            <a:r>
              <a:t>|------------|----------|-------------|-------------|</a:t>
            </a:r>
          </a:p>
          <a:p>
            <a:pPr>
              <a:spcAft>
                <a:spcPts val="1000"/>
              </a:spcAft>
              <a:defRPr sz="1800">
                <a:solidFill>
                  <a:srgbClr val="333333"/>
                </a:solidFill>
              </a:defRPr>
            </a:pPr>
            <a:r>
              <a:t>| 18 AWG | 1.0 mm | 16A | Lights, small motors |</a:t>
            </a:r>
          </a:p>
          <a:p>
            <a:pPr>
              <a:spcAft>
                <a:spcPts val="1000"/>
              </a:spcAft>
              <a:defRPr sz="1800">
                <a:solidFill>
                  <a:srgbClr val="333333"/>
                </a:solidFill>
              </a:defRPr>
            </a:pPr>
            <a:r>
              <a:t>| 14 AWG | 1.6 mm | 32A | Power windows, cooling fan |</a:t>
            </a:r>
          </a:p>
          <a:p>
            <a:pPr>
              <a:spcAft>
                <a:spcPts val="1000"/>
              </a:spcAft>
              <a:defRPr sz="1800">
                <a:solidFill>
                  <a:srgbClr val="333333"/>
                </a:solidFill>
              </a:defRPr>
            </a:pPr>
            <a:r>
              <a:t>| 10 AWG | 2.6 mm | 55A | Alternator output, large motors |</a:t>
            </a:r>
          </a:p>
          <a:p>
            <a:pPr>
              <a:spcAft>
                <a:spcPts val="1000"/>
              </a:spcAft>
              <a:defRPr sz="1800">
                <a:solidFill>
                  <a:srgbClr val="333333"/>
                </a:solidFill>
              </a:defRPr>
            </a:pPr>
            <a:r>
              <a:t>| 6 AWG | 4.1 mm | 100A | Alternator to battery |</a:t>
            </a:r>
          </a:p>
          <a:p>
            <a:pPr>
              <a:spcAft>
                <a:spcPts val="1000"/>
              </a:spcAft>
              <a:defRPr sz="1800">
                <a:solidFill>
                  <a:srgbClr val="333333"/>
                </a:solidFill>
              </a:defRPr>
            </a:pPr>
            <a:r>
              <a:t>| 4 AWG | 5.2 mm | 150A | Battery positive cable |</a:t>
            </a:r>
          </a:p>
          <a:p>
            <a:pPr>
              <a:spcAft>
                <a:spcPts val="1000"/>
              </a:spcAft>
              <a:defRPr sz="1800">
                <a:solidFill>
                  <a:srgbClr val="333333"/>
                </a:solidFill>
              </a:defRPr>
            </a:pPr>
            <a:r>
              <a:t>| 2 AWG | 6.5 mm | 200A | Starter motor cable |</a:t>
            </a:r>
          </a:p>
          <a:p>
            <a:pPr>
              <a:spcAft>
                <a:spcPts val="1000"/>
              </a:spcAft>
              <a:defRPr sz="1800">
                <a:solidFill>
                  <a:srgbClr val="333333"/>
                </a:solidFill>
              </a:defRPr>
            </a:pPr>
            <a:r>
              <a:t>| 0 AWG | 8.3 mm | 300A | Heavy-duty (trucks) |</a:t>
            </a:r>
          </a:p>
          <a:p>
            <a:pPr>
              <a:spcAft>
                <a:spcPts val="1000"/>
              </a:spcAft>
              <a:defRPr sz="1800">
                <a:solidFill>
                  <a:srgbClr val="333333"/>
                </a:solidFill>
              </a:defRPr>
            </a:pPr>
            <a:r>
              <a:t>Wire Selection Criteria:</a:t>
            </a:r>
          </a:p>
          <a:p>
            <a:pPr>
              <a:spcAft>
                <a:spcPts val="1000"/>
              </a:spcAft>
              <a:defRPr sz="1800">
                <a:solidFill>
                  <a:srgbClr val="333333"/>
                </a:solidFill>
              </a:defRPr>
            </a:pPr>
            <a:r>
              <a:t>1. Current Capacity: — Must handle maximum current without overheating</a:t>
            </a:r>
          </a:p>
          <a:p>
            <a:pPr>
              <a:spcAft>
                <a:spcPts val="600"/>
              </a:spcAft>
              <a:defRPr sz="1800">
                <a:solidFill>
                  <a:srgbClr val="333333"/>
                </a:solidFill>
              </a:defRPr>
            </a:pPr>
            <a:r>
              <a:t>Safety margin: Use wire rated for 1.25× expected current</a:t>
            </a:r>
          </a:p>
          <a:p>
            <a:pPr>
              <a:spcAft>
                <a:spcPts val="1000"/>
              </a:spcAft>
              <a:defRPr sz="1800">
                <a:solidFill>
                  <a:srgbClr val="333333"/>
                </a:solidFill>
              </a:defRPr>
            </a:pPr>
            <a:r>
              <a:t>2. Voltage Drop: — Long cable runs cause voltage drop: V_drop = I × R × L</a:t>
            </a:r>
          </a:p>
          <a:p>
            <a:pPr>
              <a:spcAft>
                <a:spcPts val="600"/>
              </a:spcAft>
              <a:defRPr sz="1800">
                <a:solidFill>
                  <a:srgbClr val="333333"/>
                </a:solidFill>
              </a:defRPr>
            </a:pPr>
            <a:r>
              <a:t>Limit: &lt; 0.5V drop for critical circuits (engine management)</a:t>
            </a:r>
          </a:p>
          <a:p>
            <a:pPr>
              <a:spcAft>
                <a:spcPts val="600"/>
              </a:spcAft>
              <a:defRPr sz="1800">
                <a:solidFill>
                  <a:srgbClr val="333333"/>
                </a:solidFill>
              </a:defRPr>
            </a:pPr>
            <a:r>
              <a:t>Solution: Use thicker wire for long runs</a:t>
            </a:r>
          </a:p>
          <a:p>
            <a:pPr>
              <a:spcAft>
                <a:spcPts val="1000"/>
              </a:spcAft>
              <a:defRPr sz="1800">
                <a:solidFill>
                  <a:srgbClr val="333333"/>
                </a:solidFill>
              </a:defRPr>
            </a:pPr>
            <a:r>
              <a:t>3. Environment: — Engine bay: Heat-resistant insulation (rated to 125-150°C)</a:t>
            </a:r>
          </a:p>
          <a:p>
            <a:pPr>
              <a:spcAft>
                <a:spcPts val="600"/>
              </a:spcAft>
              <a:defRPr sz="1800">
                <a:solidFill>
                  <a:srgbClr val="333333"/>
                </a:solidFill>
              </a:defRPr>
            </a:pPr>
            <a:r>
              <a:t>Under vehicle: Abrasion-resistant jacket</a:t>
            </a:r>
          </a:p>
          <a:p>
            <a:pPr>
              <a:spcAft>
                <a:spcPts val="600"/>
              </a:spcAft>
              <a:defRPr sz="1800">
                <a:solidFill>
                  <a:srgbClr val="333333"/>
                </a:solidFill>
              </a:defRPr>
            </a:pPr>
            <a:r>
              <a:t>Doors: Flexible insulation (repeated bending)</a:t>
            </a:r>
          </a:p>
          <a:p>
            <a:pPr>
              <a:spcAft>
                <a:spcPts val="1000"/>
              </a:spcAft>
              <a:defRPr sz="1800">
                <a:solidFill>
                  <a:srgbClr val="333333"/>
                </a:solidFill>
              </a:defRPr>
            </a:pPr>
            <a:r>
              <a:t>Instructor Narration (continued):</a:t>
            </a:r>
          </a:p>
          <a:p>
            <a:pPr>
              <a:spcAft>
                <a:spcPts val="1000"/>
              </a:spcAft>
              <a:defRPr sz="1800">
                <a:solidFill>
                  <a:srgbClr val="333333"/>
                </a:solidFill>
              </a:defRPr>
            </a:pPr>
            <a:r>
              <a:t>Modern vehicles use multiplexed wiring (signals shared over communication networks like CAN bus instead of dedicated wires). This reduces harness complexity—we'll cover this in Session 15.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Fuses - Overcurrent Protection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Every circuit must be protected from overcurrent (excessive current that causes wire overheating and fire).</a:t>
            </a:r>
          </a:p>
          <a:p>
            <a:pPr>
              <a:spcAft>
                <a:spcPts val="1000"/>
              </a:spcAft>
              <a:defRPr sz="1800">
                <a:solidFill>
                  <a:srgbClr val="333333"/>
                </a:solidFill>
              </a:defRPr>
            </a:pPr>
            <a:r>
              <a:t>FUSE FUNCTION:</a:t>
            </a:r>
          </a:p>
          <a:p>
            <a:pPr>
              <a:spcAft>
                <a:spcPts val="1000"/>
              </a:spcAft>
              <a:defRPr sz="1800">
                <a:solidFill>
                  <a:srgbClr val="333333"/>
                </a:solidFill>
              </a:defRPr>
            </a:pPr>
            <a:r>
              <a:t>Designed to fail intentionally: — Contains thin metal strip (low melting point)</a:t>
            </a:r>
          </a:p>
          <a:p>
            <a:pPr>
              <a:spcAft>
                <a:spcPts val="600"/>
              </a:spcAft>
              <a:defRPr sz="1800">
                <a:solidFill>
                  <a:srgbClr val="333333"/>
                </a:solidFill>
              </a:defRPr>
            </a:pPr>
            <a:r>
              <a:t>Rated for specific current (5A, 10A, 20A, 30A, etc.)</a:t>
            </a:r>
          </a:p>
          <a:p>
            <a:pPr>
              <a:spcAft>
                <a:spcPts val="600"/>
              </a:spcAft>
              <a:defRPr sz="1800">
                <a:solidFill>
                  <a:srgbClr val="333333"/>
                </a:solidFill>
              </a:defRPr>
            </a:pPr>
            <a:r>
              <a:t>If current exceeds rating → strip heats up → melts → circuit opens</a:t>
            </a:r>
          </a:p>
          <a:p>
            <a:pPr>
              <a:spcAft>
                <a:spcPts val="600"/>
              </a:spcAft>
              <a:defRPr sz="1800">
                <a:solidFill>
                  <a:srgbClr val="333333"/>
                </a:solidFill>
              </a:defRPr>
            </a:pPr>
            <a:r>
              <a:t>Result: Power cut to faulty circuit, prevents wire fire</a:t>
            </a:r>
          </a:p>
          <a:p>
            <a:pPr>
              <a:spcAft>
                <a:spcPts val="1000"/>
              </a:spcAft>
              <a:defRPr sz="1800">
                <a:solidFill>
                  <a:srgbClr val="333333"/>
                </a:solidFill>
              </a:defRPr>
            </a:pPr>
            <a:r>
              <a:t>FUSE TYPES:</a:t>
            </a:r>
          </a:p>
          <a:p>
            <a:pPr>
              <a:spcAft>
                <a:spcPts val="1000"/>
              </a:spcAft>
              <a:defRPr sz="1800">
                <a:solidFill>
                  <a:srgbClr val="333333"/>
                </a:solidFill>
              </a:defRPr>
            </a:pPr>
            <a:r>
              <a:t>1. BLADE FUSE (ATO/ATC) - Most Common — Color-coded by amperage</a:t>
            </a:r>
          </a:p>
          <a:p>
            <a:pPr>
              <a:spcAft>
                <a:spcPts val="600"/>
              </a:spcAft>
              <a:defRPr sz="1800">
                <a:solidFill>
                  <a:srgbClr val="333333"/>
                </a:solidFill>
              </a:defRPr>
            </a:pPr>
            <a:r>
              <a:t>Push-in mounting</a:t>
            </a:r>
          </a:p>
          <a:p>
            <a:pPr>
              <a:spcAft>
                <a:spcPts val="600"/>
              </a:spcAft>
              <a:defRPr sz="1800">
                <a:solidFill>
                  <a:srgbClr val="333333"/>
                </a:solidFill>
              </a:defRPr>
            </a:pPr>
            <a:r>
              <a:t>Ratings: 2A, 5A, 7.5A, 10A, 15A, 20A, 25A, 30A</a:t>
            </a:r>
          </a:p>
          <a:p>
            <a:pPr>
              <a:spcAft>
                <a:spcPts val="1000"/>
              </a:spcAft>
              <a:defRPr sz="1800">
                <a:solidFill>
                  <a:srgbClr val="333333"/>
                </a:solidFill>
              </a:defRPr>
            </a:pPr>
            <a:r>
              <a:t>Color Codes: — 5A: Tan</a:t>
            </a:r>
          </a:p>
          <a:p>
            <a:pPr>
              <a:spcAft>
                <a:spcPts val="600"/>
              </a:spcAft>
              <a:defRPr sz="1800">
                <a:solidFill>
                  <a:srgbClr val="333333"/>
                </a:solidFill>
              </a:defRPr>
            </a:pPr>
            <a:r>
              <a:t>10A: Red</a:t>
            </a:r>
          </a:p>
          <a:p>
            <a:pPr>
              <a:spcAft>
                <a:spcPts val="600"/>
              </a:spcAft>
              <a:defRPr sz="1800">
                <a:solidFill>
                  <a:srgbClr val="333333"/>
                </a:solidFill>
              </a:defRPr>
            </a:pPr>
            <a:r>
              <a:t>15A: Blue</a:t>
            </a:r>
          </a:p>
          <a:p>
            <a:pPr>
              <a:spcAft>
                <a:spcPts val="600"/>
              </a:spcAft>
              <a:defRPr sz="1800">
                <a:solidFill>
                  <a:srgbClr val="333333"/>
                </a:solidFill>
              </a:defRPr>
            </a:pPr>
            <a:r>
              <a:t>20A: Yellow</a:t>
            </a:r>
          </a:p>
          <a:p>
            <a:pPr>
              <a:spcAft>
                <a:spcPts val="600"/>
              </a:spcAft>
              <a:defRPr sz="1800">
                <a:solidFill>
                  <a:srgbClr val="333333"/>
                </a:solidFill>
              </a:defRPr>
            </a:pPr>
            <a:r>
              <a:t>25A: Clear/White</a:t>
            </a:r>
          </a:p>
          <a:p>
            <a:pPr>
              <a:spcAft>
                <a:spcPts val="600"/>
              </a:spcAft>
              <a:defRPr sz="1800">
                <a:solidFill>
                  <a:srgbClr val="333333"/>
                </a:solidFill>
              </a:defRPr>
            </a:pPr>
            <a:r>
              <a:t>30A: Green</a:t>
            </a:r>
          </a:p>
          <a:p>
            <a:pPr>
              <a:spcAft>
                <a:spcPts val="1000"/>
              </a:spcAft>
              <a:defRPr sz="1800">
                <a:solidFill>
                  <a:srgbClr val="333333"/>
                </a:solidFill>
              </a:defRPr>
            </a:pPr>
            <a:r>
              <a:t>2. MINI FUSE (ATM) - Compact — Same design as blade, smaller size</a:t>
            </a:r>
          </a:p>
          <a:p>
            <a:pPr>
              <a:spcAft>
                <a:spcPts val="600"/>
              </a:spcAft>
              <a:defRPr sz="1800">
                <a:solidFill>
                  <a:srgbClr val="333333"/>
                </a:solidFill>
              </a:defRPr>
            </a:pPr>
            <a:r>
              <a:t>Used where space is limited</a:t>
            </a:r>
          </a:p>
          <a:p>
            <a:pPr>
              <a:spcAft>
                <a:spcPts val="600"/>
              </a:spcAft>
              <a:defRPr sz="1800">
                <a:solidFill>
                  <a:srgbClr val="333333"/>
                </a:solidFill>
              </a:defRPr>
            </a:pPr>
            <a:r>
              <a:t>Same amperage ratings</a:t>
            </a:r>
          </a:p>
          <a:p>
            <a:pPr>
              <a:spcAft>
                <a:spcPts val="1000"/>
              </a:spcAft>
              <a:defRPr sz="1800">
                <a:solidFill>
                  <a:srgbClr val="333333"/>
                </a:solidFill>
              </a:defRPr>
            </a:pPr>
            <a:r>
              <a:t>3. MAXI FUSE (APX) - High Current — Larger blade fuse</a:t>
            </a:r>
          </a:p>
          <a:p>
            <a:pPr>
              <a:spcAft>
                <a:spcPts val="600"/>
              </a:spcAft>
              <a:defRPr sz="1800">
                <a:solidFill>
                  <a:srgbClr val="333333"/>
                </a:solidFill>
              </a:defRPr>
            </a:pPr>
            <a:r>
              <a:t>Ratings: 30A, 40A, 50A, 60A, 80A, 100A</a:t>
            </a:r>
          </a:p>
          <a:p>
            <a:pPr>
              <a:spcAft>
                <a:spcPts val="600"/>
              </a:spcAft>
              <a:defRPr sz="1800">
                <a:solidFill>
                  <a:srgbClr val="333333"/>
                </a:solidFill>
              </a:defRPr>
            </a:pPr>
            <a:r>
              <a:t>Used for high-power circuits (alternator output, cooling fan)</a:t>
            </a:r>
          </a:p>
          <a:p>
            <a:pPr>
              <a:spcAft>
                <a:spcPts val="1000"/>
              </a:spcAft>
              <a:defRPr sz="1800">
                <a:solidFill>
                  <a:srgbClr val="333333"/>
                </a:solidFill>
              </a:defRPr>
            </a:pPr>
            <a:r>
              <a:t>4. FUSIBLE LINK - Emergency Protection — Short section of smaller-gauge wire</a:t>
            </a:r>
          </a:p>
          <a:p>
            <a:pPr>
              <a:spcAft>
                <a:spcPts val="600"/>
              </a:spcAft>
              <a:defRPr sz="1800">
                <a:solidFill>
                  <a:srgbClr val="333333"/>
                </a:solidFill>
              </a:defRPr>
            </a:pPr>
            <a:r>
              <a:t>If massive overcurrent occurs, link melts</a:t>
            </a:r>
          </a:p>
          <a:p>
            <a:pPr>
              <a:spcAft>
                <a:spcPts val="600"/>
              </a:spcAft>
              <a:defRPr sz="1800">
                <a:solidFill>
                  <a:srgbClr val="333333"/>
                </a:solidFill>
              </a:defRPr>
            </a:pPr>
            <a:r>
              <a:t>Protects main battery cables</a:t>
            </a:r>
          </a:p>
          <a:p>
            <a:pPr>
              <a:spcAft>
                <a:spcPts val="600"/>
              </a:spcAft>
              <a:defRPr sz="1800">
                <a:solidFill>
                  <a:srgbClr val="333333"/>
                </a:solidFill>
              </a:defRPr>
            </a:pPr>
            <a:r>
              <a:t>NOT replaceable like fuse (must cut and splice new link)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FUSE SIZING:</a:t>
            </a:r>
          </a:p>
          <a:p>
            <a:pPr>
              <a:spcAft>
                <a:spcPts val="1000"/>
              </a:spcAft>
              <a:defRPr sz="1800">
                <a:solidFill>
                  <a:srgbClr val="333333"/>
                </a:solidFill>
              </a:defRPr>
            </a:pPr>
            <a:r>
              <a:t>Rule: Fuse rated for 1.25× maximum expected current</a:t>
            </a:r>
          </a:p>
          <a:p>
            <a:pPr>
              <a:spcAft>
                <a:spcPts val="1000"/>
              </a:spcAft>
              <a:defRPr sz="1800">
                <a:solidFill>
                  <a:srgbClr val="333333"/>
                </a:solidFill>
              </a:defRPr>
            </a:pPr>
            <a:r>
              <a:t>Example: Headlight Circuit — Load: 2 × 55W halogen = 110W</a:t>
            </a:r>
          </a:p>
          <a:p>
            <a:pPr>
              <a:spcAft>
                <a:spcPts val="600"/>
              </a:spcAft>
              <a:defRPr sz="1800">
                <a:solidFill>
                  <a:srgbClr val="333333"/>
                </a:solidFill>
              </a:defRPr>
            </a:pPr>
            <a:r>
              <a:t>Current: 110W / 12V = 9.2A</a:t>
            </a:r>
          </a:p>
          <a:p>
            <a:pPr>
              <a:spcAft>
                <a:spcPts val="600"/>
              </a:spcAft>
              <a:defRPr sz="1800">
                <a:solidFill>
                  <a:srgbClr val="333333"/>
                </a:solidFill>
              </a:defRPr>
            </a:pPr>
            <a:r>
              <a:t>Fuse rating: 9.2A × 1.25 = 11.5A → use 15A fuse (next standard size up)</a:t>
            </a:r>
          </a:p>
          <a:p>
            <a:pPr>
              <a:spcAft>
                <a:spcPts val="1000"/>
              </a:spcAft>
              <a:defRPr sz="1800">
                <a:solidFill>
                  <a:srgbClr val="333333"/>
                </a:solidFill>
              </a:defRPr>
            </a:pPr>
            <a:r>
              <a:t>Why 1.25× factor? — Prevents nuisance blowing (temporary current spikes)</a:t>
            </a:r>
          </a:p>
          <a:p>
            <a:pPr>
              <a:spcAft>
                <a:spcPts val="600"/>
              </a:spcAft>
              <a:defRPr sz="1800">
                <a:solidFill>
                  <a:srgbClr val="333333"/>
                </a:solidFill>
              </a:defRPr>
            </a:pPr>
            <a:r>
              <a:t>Ensures fuse blows BEFORE wire overheats</a:t>
            </a:r>
          </a:p>
          <a:p>
            <a:pPr>
              <a:spcAft>
                <a:spcPts val="600"/>
              </a:spcAft>
              <a:defRPr sz="1800">
                <a:solidFill>
                  <a:srgbClr val="333333"/>
                </a:solidFill>
              </a:defRPr>
            </a:pPr>
            <a:r>
              <a:t>Wire rated for 20A, fuse rated for 15A → wire always protected</a:t>
            </a:r>
          </a:p>
          <a:p>
            <a:pPr>
              <a:spcAft>
                <a:spcPts val="1000"/>
              </a:spcAft>
              <a:defRPr sz="1800">
                <a:solidFill>
                  <a:srgbClr val="333333"/>
                </a:solidFill>
              </a:defRPr>
            </a:pPr>
            <a:r>
              <a:t>FUSE BOX LOCATIONS:</a:t>
            </a:r>
          </a:p>
          <a:p>
            <a:pPr>
              <a:spcAft>
                <a:spcPts val="1000"/>
              </a:spcAft>
              <a:defRPr sz="1800">
                <a:solidFill>
                  <a:srgbClr val="333333"/>
                </a:solidFill>
              </a:defRPr>
            </a:pPr>
            <a:r>
              <a:t>Modern Vehicles - Two Fuse Boxes:</a:t>
            </a:r>
          </a:p>
          <a:p>
            <a:pPr>
              <a:spcAft>
                <a:spcPts val="1000"/>
              </a:spcAft>
              <a:defRPr sz="1800">
                <a:solidFill>
                  <a:srgbClr val="333333"/>
                </a:solidFill>
              </a:defRPr>
            </a:pPr>
            <a:r>
              <a:t>1. Under-Hood Fuse Box: — High-power circuits (alternator, cooling fan, starter relay, HVAC blower)</a:t>
            </a:r>
          </a:p>
          <a:p>
            <a:pPr>
              <a:spcAft>
                <a:spcPts val="600"/>
              </a:spcAft>
              <a:defRPr sz="1800">
                <a:solidFill>
                  <a:srgbClr val="333333"/>
                </a:solidFill>
              </a:defRPr>
            </a:pPr>
            <a:r>
              <a:t>Weatherproof enclosure</a:t>
            </a:r>
          </a:p>
          <a:p>
            <a:pPr>
              <a:spcAft>
                <a:spcPts val="600"/>
              </a:spcAft>
              <a:defRPr sz="1800">
                <a:solidFill>
                  <a:srgbClr val="333333"/>
                </a:solidFill>
              </a:defRPr>
            </a:pPr>
            <a:r>
              <a:t>Maxi fuses and high-amp blade fuses</a:t>
            </a:r>
          </a:p>
          <a:p>
            <a:pPr>
              <a:spcAft>
                <a:spcPts val="1000"/>
              </a:spcAft>
              <a:defRPr sz="1800">
                <a:solidFill>
                  <a:srgbClr val="333333"/>
                </a:solidFill>
              </a:defRPr>
            </a:pPr>
            <a:r>
              <a:t>2. Interior Fuse Box: — Low/medium power circuits (radio, lights, power windows, ECUs)</a:t>
            </a:r>
          </a:p>
          <a:p>
            <a:pPr>
              <a:spcAft>
                <a:spcPts val="600"/>
              </a:spcAft>
              <a:defRPr sz="1800">
                <a:solidFill>
                  <a:srgbClr val="333333"/>
                </a:solidFill>
              </a:defRPr>
            </a:pPr>
            <a:r>
              <a:t>Convenient access for driver</a:t>
            </a:r>
          </a:p>
          <a:p>
            <a:pPr>
              <a:spcAft>
                <a:spcPts val="600"/>
              </a:spcAft>
              <a:defRPr sz="1800">
                <a:solidFill>
                  <a:srgbClr val="333333"/>
                </a:solidFill>
              </a:defRPr>
            </a:pPr>
            <a:r>
              <a:t>Standard blade fuses and mini fuses</a:t>
            </a:r>
          </a:p>
          <a:p>
            <a:pPr>
              <a:spcAft>
                <a:spcPts val="1000"/>
              </a:spcAft>
              <a:defRPr sz="1800">
                <a:solidFill>
                  <a:srgbClr val="333333"/>
                </a:solidFill>
              </a:defRPr>
            </a:pPr>
            <a:r>
              <a:t>Instructor Narration (continued):</a:t>
            </a:r>
          </a:p>
          <a:p>
            <a:pPr>
              <a:spcAft>
                <a:spcPts val="1000"/>
              </a:spcAft>
              <a:defRPr sz="1800">
                <a:solidFill>
                  <a:srgbClr val="333333"/>
                </a:solidFill>
              </a:defRPr>
            </a:pPr>
            <a:r>
              <a:t>If a fuse blows repeatedly, DO NOT install a larger fuse! This defeats the protection. Instead, diagnose why the circuit is drawing excessive current (short circuit? failing component?). Using a larger fuse risks wire fire.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Relays - Remote Switching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Some circuits require high current but are controlled by low-current signals. This is where relays come in.</a:t>
            </a:r>
          </a:p>
          <a:p>
            <a:pPr>
              <a:spcAft>
                <a:spcPts val="1000"/>
              </a:spcAft>
              <a:defRPr sz="1800">
                <a:solidFill>
                  <a:srgbClr val="333333"/>
                </a:solidFill>
              </a:defRPr>
            </a:pPr>
            <a:r>
              <a:t>RELAY FUNCTION:</a:t>
            </a:r>
          </a:p>
          <a:p>
            <a:pPr>
              <a:spcAft>
                <a:spcPts val="1000"/>
              </a:spcAft>
              <a:defRPr sz="1800">
                <a:solidFill>
                  <a:srgbClr val="333333"/>
                </a:solidFill>
              </a:defRPr>
            </a:pPr>
            <a:r>
              <a:t>Problem: — Headlight circuit: 10A (high current)</a:t>
            </a:r>
          </a:p>
          <a:p>
            <a:pPr>
              <a:spcAft>
                <a:spcPts val="600"/>
              </a:spcAft>
              <a:defRPr sz="1800">
                <a:solidFill>
                  <a:srgbClr val="333333"/>
                </a:solidFill>
              </a:defRPr>
            </a:pPr>
            <a:r>
              <a:t>Headlight switch on dashboard: Can only handle 1-2A</a:t>
            </a:r>
          </a:p>
          <a:p>
            <a:pPr>
              <a:spcAft>
                <a:spcPts val="600"/>
              </a:spcAft>
              <a:defRPr sz="1800">
                <a:solidFill>
                  <a:srgbClr val="333333"/>
                </a:solidFill>
              </a:defRPr>
            </a:pPr>
            <a:r>
              <a:t>Can't directly switch 10A through dashboard switch (switch would overheat/fail)</a:t>
            </a:r>
          </a:p>
          <a:p>
            <a:pPr>
              <a:spcAft>
                <a:spcPts val="1000"/>
              </a:spcAft>
              <a:defRPr sz="1800">
                <a:solidFill>
                  <a:srgbClr val="333333"/>
                </a:solidFill>
              </a:defRPr>
            </a:pPr>
            <a:r>
              <a:t>Solution: — Use relay as electrically controlled switch — Dashboard switch controls relay (low current)</a:t>
            </a:r>
          </a:p>
          <a:p>
            <a:pPr>
              <a:spcAft>
                <a:spcPts val="600"/>
              </a:spcAft>
              <a:defRPr sz="1800">
                <a:solidFill>
                  <a:srgbClr val="333333"/>
                </a:solidFill>
              </a:defRPr>
            </a:pPr>
            <a:r>
              <a:t>Relay switches headlight power (high current)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RELAY CONSTRUCTION:</a:t>
            </a:r>
          </a:p>
          <a:p>
            <a:pPr>
              <a:spcAft>
                <a:spcPts val="1000"/>
              </a:spcAft>
              <a:defRPr sz="1800">
                <a:solidFill>
                  <a:srgbClr val="333333"/>
                </a:solidFill>
              </a:defRPr>
            </a:pPr>
            <a:r>
              <a:t>Components:</a:t>
            </a:r>
          </a:p>
          <a:p>
            <a:pPr>
              <a:spcAft>
                <a:spcPts val="1000"/>
              </a:spcAft>
              <a:defRPr sz="1800">
                <a:solidFill>
                  <a:srgbClr val="333333"/>
                </a:solidFill>
              </a:defRPr>
            </a:pPr>
            <a:r>
              <a:t>1. Coil: — Electromagnet (copper wire wrapped around iron core)</a:t>
            </a:r>
          </a:p>
          <a:p>
            <a:pPr>
              <a:spcAft>
                <a:spcPts val="600"/>
              </a:spcAft>
              <a:defRPr sz="1800">
                <a:solidFill>
                  <a:srgbClr val="333333"/>
                </a:solidFill>
              </a:defRPr>
            </a:pPr>
            <a:r>
              <a:t>Typical: 100-200 turns of wire</a:t>
            </a:r>
          </a:p>
          <a:p>
            <a:pPr>
              <a:spcAft>
                <a:spcPts val="600"/>
              </a:spcAft>
              <a:defRPr sz="1800">
                <a:solidFill>
                  <a:srgbClr val="333333"/>
                </a:solidFill>
              </a:defRPr>
            </a:pPr>
            <a:r>
              <a:t>Requires ~0.1-0.5A @ 12V to energize</a:t>
            </a:r>
          </a:p>
          <a:p>
            <a:pPr>
              <a:spcAft>
                <a:spcPts val="1000"/>
              </a:spcAft>
              <a:defRPr sz="1800">
                <a:solidFill>
                  <a:srgbClr val="333333"/>
                </a:solidFill>
              </a:defRPr>
            </a:pPr>
            <a:r>
              <a:t>2. Armature: — Movable iron piece</a:t>
            </a:r>
          </a:p>
          <a:p>
            <a:pPr>
              <a:spcAft>
                <a:spcPts val="600"/>
              </a:spcAft>
              <a:defRPr sz="1800">
                <a:solidFill>
                  <a:srgbClr val="333333"/>
                </a:solidFill>
              </a:defRPr>
            </a:pPr>
            <a:r>
              <a:t>Attracted to coil when energized</a:t>
            </a:r>
          </a:p>
          <a:p>
            <a:pPr>
              <a:spcAft>
                <a:spcPts val="600"/>
              </a:spcAft>
              <a:defRPr sz="1800">
                <a:solidFill>
                  <a:srgbClr val="333333"/>
                </a:solidFill>
              </a:defRPr>
            </a:pPr>
            <a:r>
              <a:t>Returns via spring when coil de-energizes</a:t>
            </a:r>
          </a:p>
          <a:p>
            <a:pPr>
              <a:spcAft>
                <a:spcPts val="1000"/>
              </a:spcAft>
              <a:defRPr sz="1800">
                <a:solidFill>
                  <a:srgbClr val="333333"/>
                </a:solidFill>
              </a:defRPr>
            </a:pPr>
            <a:r>
              <a:t>3. Contacts: — Normally Open (NO): Contacts open when relay de-energized</a:t>
            </a:r>
          </a:p>
          <a:p>
            <a:pPr>
              <a:spcAft>
                <a:spcPts val="600"/>
              </a:spcAft>
              <a:defRPr sz="1800">
                <a:solidFill>
                  <a:srgbClr val="333333"/>
                </a:solidFill>
              </a:defRPr>
            </a:pPr>
            <a:r>
              <a:t>Normally Closed (NC): Contacts closed when relay de-energized</a:t>
            </a:r>
          </a:p>
          <a:p>
            <a:pPr>
              <a:spcAft>
                <a:spcPts val="600"/>
              </a:spcAft>
              <a:defRPr sz="1800">
                <a:solidFill>
                  <a:srgbClr val="333333"/>
                </a:solidFill>
              </a:defRPr>
            </a:pPr>
            <a:r>
              <a:t>Common (C): Common terminal</a:t>
            </a:r>
          </a:p>
          <a:p>
            <a:pPr>
              <a:spcAft>
                <a:spcPts val="1000"/>
              </a:spcAft>
              <a:defRPr sz="1800">
                <a:solidFill>
                  <a:srgbClr val="333333"/>
                </a:solidFill>
              </a:defRPr>
            </a:pPr>
            <a:r>
              <a:t>4. Terminal Numbers (Standard ISO): — 85: Coil negative</a:t>
            </a:r>
          </a:p>
          <a:p>
            <a:pPr>
              <a:spcAft>
                <a:spcPts val="600"/>
              </a:spcAft>
              <a:defRPr sz="1800">
                <a:solidFill>
                  <a:srgbClr val="333333"/>
                </a:solidFill>
              </a:defRPr>
            </a:pPr>
            <a:r>
              <a:t>86: Coil positive</a:t>
            </a:r>
          </a:p>
          <a:p>
            <a:pPr>
              <a:spcAft>
                <a:spcPts val="600"/>
              </a:spcAft>
              <a:defRPr sz="1800">
                <a:solidFill>
                  <a:srgbClr val="333333"/>
                </a:solidFill>
              </a:defRPr>
            </a:pPr>
            <a:r>
              <a:t>87: Normally Open (NO) contact</a:t>
            </a:r>
          </a:p>
          <a:p>
            <a:pPr>
              <a:spcAft>
                <a:spcPts val="600"/>
              </a:spcAft>
              <a:defRPr sz="1800">
                <a:solidFill>
                  <a:srgbClr val="333333"/>
                </a:solidFill>
              </a:defRPr>
            </a:pPr>
            <a:r>
              <a:t>87a: Normally Closed (NC) contact (if present)</a:t>
            </a:r>
          </a:p>
          <a:p>
            <a:pPr>
              <a:spcAft>
                <a:spcPts val="600"/>
              </a:spcAft>
              <a:defRPr sz="1800">
                <a:solidFill>
                  <a:srgbClr val="333333"/>
                </a:solidFill>
              </a:defRPr>
            </a:pPr>
            <a:r>
              <a:t>30: Common (power input)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HOW IT WORKS:</a:t>
            </a:r>
          </a:p>
          <a:p>
            <a:pPr>
              <a:spcAft>
                <a:spcPts val="1000"/>
              </a:spcAft>
              <a:defRPr sz="1800">
                <a:solidFill>
                  <a:srgbClr val="333333"/>
                </a:solidFill>
              </a:defRPr>
            </a:pPr>
            <a:r>
              <a:t>Relay De-Energized (Switch Off):</a:t>
            </a:r>
          </a:p>
          <a:p>
            <a:pPr>
              <a:spcAft>
                <a:spcPts val="600"/>
              </a:spcAft>
              <a:defRPr sz="1800">
                <a:solidFill>
                  <a:srgbClr val="333333"/>
                </a:solidFill>
              </a:defRPr>
            </a:pPr>
            <a:r>
              <a:t>No current through coil (terminals 85-86)</a:t>
            </a:r>
          </a:p>
          <a:p>
            <a:pPr>
              <a:spcAft>
                <a:spcPts val="600"/>
              </a:spcAft>
              <a:defRPr sz="1800">
                <a:solidFill>
                  <a:srgbClr val="333333"/>
                </a:solidFill>
              </a:defRPr>
            </a:pPr>
            <a:r>
              <a:t>Spring holds armature away from coil</a:t>
            </a:r>
          </a:p>
          <a:p>
            <a:pPr>
              <a:spcAft>
                <a:spcPts val="600"/>
              </a:spcAft>
              <a:defRPr sz="1800">
                <a:solidFill>
                  <a:srgbClr val="333333"/>
                </a:solidFill>
              </a:defRPr>
            </a:pPr>
            <a:r>
              <a:t>Contacts are open (30 not connected to 87)</a:t>
            </a:r>
          </a:p>
          <a:p>
            <a:pPr>
              <a:spcAft>
                <a:spcPts val="600"/>
              </a:spcAft>
              <a:defRPr sz="1800">
                <a:solidFill>
                  <a:srgbClr val="333333"/>
                </a:solidFill>
              </a:defRPr>
            </a:pPr>
            <a:r>
              <a:t>Load (headlights) receives no power</a:t>
            </a:r>
          </a:p>
          <a:p>
            <a:pPr>
              <a:spcAft>
                <a:spcPts val="1000"/>
              </a:spcAft>
              <a:defRPr sz="1800">
                <a:solidFill>
                  <a:srgbClr val="333333"/>
                </a:solidFill>
              </a:defRPr>
            </a:pPr>
            <a:r>
              <a:t>Relay Energized (Switch On):</a:t>
            </a:r>
          </a:p>
          <a:p>
            <a:pPr>
              <a:spcAft>
                <a:spcPts val="600"/>
              </a:spcAft>
              <a:defRPr sz="1800">
                <a:solidFill>
                  <a:srgbClr val="333333"/>
                </a:solidFill>
              </a:defRPr>
            </a:pPr>
            <a:r>
              <a:t>Switch closes → current flows through coil (85-86)</a:t>
            </a:r>
          </a:p>
          <a:p>
            <a:pPr>
              <a:spcAft>
                <a:spcPts val="600"/>
              </a:spcAft>
              <a:defRPr sz="1800">
                <a:solidFill>
                  <a:srgbClr val="333333"/>
                </a:solidFill>
              </a:defRPr>
            </a:pPr>
            <a:r>
              <a:t>Coil creates magnetic field</a:t>
            </a:r>
          </a:p>
          <a:p>
            <a:pPr>
              <a:spcAft>
                <a:spcPts val="600"/>
              </a:spcAft>
              <a:defRPr sz="1800">
                <a:solidFill>
                  <a:srgbClr val="333333"/>
                </a:solidFill>
              </a:defRPr>
            </a:pPr>
            <a:r>
              <a:t>Magnetic field pulls armature</a:t>
            </a:r>
          </a:p>
          <a:p>
            <a:pPr>
              <a:spcAft>
                <a:spcPts val="600"/>
              </a:spcAft>
              <a:defRPr sz="1800">
                <a:solidFill>
                  <a:srgbClr val="333333"/>
                </a:solidFill>
              </a:defRPr>
            </a:pPr>
            <a:r>
              <a:t>Armature closes contacts (30 connects to 87)</a:t>
            </a:r>
          </a:p>
          <a:p>
            <a:pPr>
              <a:spcAft>
                <a:spcPts val="600"/>
              </a:spcAft>
              <a:defRPr sz="1800">
                <a:solidFill>
                  <a:srgbClr val="333333"/>
                </a:solidFill>
              </a:defRPr>
            </a:pPr>
            <a:r>
              <a:t>Load (headlights) receives power</a:t>
            </a:r>
          </a:p>
          <a:p>
            <a:pPr>
              <a:spcAft>
                <a:spcPts val="600"/>
              </a:spcAft>
              <a:defRPr sz="1800">
                <a:solidFill>
                  <a:srgbClr val="333333"/>
                </a:solidFill>
              </a:defRPr>
            </a:pPr>
            <a:r>
              <a:t>Coil current: 0.2A, Load current: 10A (50× amplification!)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AUTOMOTIVE RELAY APPLICATIONS:</a:t>
            </a:r>
          </a:p>
          <a:p>
            <a:pPr>
              <a:spcAft>
                <a:spcPts val="1000"/>
              </a:spcAft>
              <a:defRPr sz="1800">
                <a:solidFill>
                  <a:srgbClr val="333333"/>
                </a:solidFill>
              </a:defRPr>
            </a:pPr>
            <a:r>
              <a:t>1. Headlight Relay — Control: 0.2A (headlight switch)</a:t>
            </a:r>
          </a:p>
          <a:p>
            <a:pPr>
              <a:spcAft>
                <a:spcPts val="600"/>
              </a:spcAft>
              <a:defRPr sz="1800">
                <a:solidFill>
                  <a:srgbClr val="333333"/>
                </a:solidFill>
              </a:defRPr>
            </a:pPr>
            <a:r>
              <a:t>Load: 10A (headlights)</a:t>
            </a:r>
          </a:p>
          <a:p>
            <a:pPr>
              <a:spcAft>
                <a:spcPts val="600"/>
              </a:spcAft>
              <a:defRPr sz="1800">
                <a:solidFill>
                  <a:srgbClr val="333333"/>
                </a:solidFill>
              </a:defRPr>
            </a:pPr>
            <a:r>
              <a:t>Benefit: Protects dashboard switch</a:t>
            </a:r>
          </a:p>
          <a:p>
            <a:pPr>
              <a:spcAft>
                <a:spcPts val="1000"/>
              </a:spcAft>
              <a:defRPr sz="1800">
                <a:solidFill>
                  <a:srgbClr val="333333"/>
                </a:solidFill>
              </a:defRPr>
            </a:pPr>
            <a:r>
              <a:t>2. Cooling Fan Relay — Control: ECU output (0.5A)</a:t>
            </a:r>
          </a:p>
          <a:p>
            <a:pPr>
              <a:spcAft>
                <a:spcPts val="600"/>
              </a:spcAft>
              <a:defRPr sz="1800">
                <a:solidFill>
                  <a:srgbClr val="333333"/>
                </a:solidFill>
              </a:defRPr>
            </a:pPr>
            <a:r>
              <a:t>Load: 30A (electric cooling fan)</a:t>
            </a:r>
          </a:p>
          <a:p>
            <a:pPr>
              <a:spcAft>
                <a:spcPts val="600"/>
              </a:spcAft>
              <a:defRPr sz="1800">
                <a:solidFill>
                  <a:srgbClr val="333333"/>
                </a:solidFill>
              </a:defRPr>
            </a:pPr>
            <a:r>
              <a:t>Benefit: ECU can't handle 30A directly</a:t>
            </a:r>
          </a:p>
          <a:p>
            <a:pPr>
              <a:spcAft>
                <a:spcPts val="1000"/>
              </a:spcAft>
              <a:defRPr sz="1800">
                <a:solidFill>
                  <a:srgbClr val="333333"/>
                </a:solidFill>
              </a:defRPr>
            </a:pPr>
            <a:r>
              <a:t>3. Fuel Pump Relay — Control: ECU output (0.3A)</a:t>
            </a:r>
          </a:p>
          <a:p>
            <a:pPr>
              <a:spcAft>
                <a:spcPts val="600"/>
              </a:spcAft>
              <a:defRPr sz="1800">
                <a:solidFill>
                  <a:srgbClr val="333333"/>
                </a:solidFill>
              </a:defRPr>
            </a:pPr>
            <a:r>
              <a:t>Load: 8A (fuel pump)</a:t>
            </a:r>
          </a:p>
          <a:p>
            <a:pPr>
              <a:spcAft>
                <a:spcPts val="600"/>
              </a:spcAft>
              <a:defRPr sz="1800">
                <a:solidFill>
                  <a:srgbClr val="333333"/>
                </a:solidFill>
              </a:defRPr>
            </a:pPr>
            <a:r>
              <a:t>Safety feature: If engine stalls, ECU de-energizes relay → fuel pump shuts off → prevents fuel spraying in accident</a:t>
            </a:r>
          </a:p>
          <a:p>
            <a:pPr>
              <a:spcAft>
                <a:spcPts val="1000"/>
              </a:spcAft>
              <a:defRPr sz="1800">
                <a:solidFill>
                  <a:srgbClr val="333333"/>
                </a:solidFill>
              </a:defRPr>
            </a:pPr>
            <a:r>
              <a:t>4. Starter Relay — Control: Ignition switch START position (5A)</a:t>
            </a:r>
          </a:p>
          <a:p>
            <a:pPr>
              <a:spcAft>
                <a:spcPts val="600"/>
              </a:spcAft>
              <a:defRPr sz="1800">
                <a:solidFill>
                  <a:srgbClr val="333333"/>
                </a:solidFill>
              </a:defRPr>
            </a:pPr>
            <a:r>
              <a:t>Load: 200A (starter solenoid coil)</a:t>
            </a:r>
          </a:p>
          <a:p>
            <a:pPr>
              <a:spcAft>
                <a:spcPts val="600"/>
              </a:spcAft>
              <a:defRPr sz="1800">
                <a:solidFill>
                  <a:srgbClr val="333333"/>
                </a:solidFill>
              </a:defRPr>
            </a:pPr>
            <a:r>
              <a:t>Benefit: Ignition switch can't handle 200A</a:t>
            </a:r>
          </a:p>
          <a:p>
            <a:pPr>
              <a:spcAft>
                <a:spcPts val="1000"/>
              </a:spcAft>
              <a:defRPr sz="1800">
                <a:solidFill>
                  <a:srgbClr val="333333"/>
                </a:solidFill>
              </a:defRPr>
            </a:pPr>
            <a:r>
              <a:t>5. Horn Relay — Control: Horn button (1A)</a:t>
            </a:r>
          </a:p>
          <a:p>
            <a:pPr>
              <a:spcAft>
                <a:spcPts val="600"/>
              </a:spcAft>
              <a:defRPr sz="1800">
                <a:solidFill>
                  <a:srgbClr val="333333"/>
                </a:solidFill>
              </a:defRPr>
            </a:pPr>
            <a:r>
              <a:t>Load: 5-10A (horn)</a:t>
            </a:r>
          </a:p>
          <a:p>
            <a:pPr>
              <a:spcAft>
                <a:spcPts val="600"/>
              </a:spcAft>
              <a:defRPr sz="1800">
                <a:solidFill>
                  <a:srgbClr val="333333"/>
                </a:solidFill>
              </a:defRPr>
            </a:pPr>
            <a:r>
              <a:t>Benefit: Lighter horn button spring, longer life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RELAY RATINGS:</a:t>
            </a:r>
          </a:p>
          <a:p>
            <a:pPr>
              <a:spcAft>
                <a:spcPts val="1000"/>
              </a:spcAft>
              <a:defRPr sz="1800">
                <a:solidFill>
                  <a:srgbClr val="333333"/>
                </a:solidFill>
              </a:defRPr>
            </a:pPr>
            <a:r>
              <a:t>Coil Voltage: — 12V (most common)</a:t>
            </a:r>
          </a:p>
          <a:p>
            <a:pPr>
              <a:spcAft>
                <a:spcPts val="600"/>
              </a:spcAft>
              <a:defRPr sz="1800">
                <a:solidFill>
                  <a:srgbClr val="333333"/>
                </a:solidFill>
              </a:defRPr>
            </a:pPr>
            <a:r>
              <a:t>Some: 24V (for 24V systems)</a:t>
            </a:r>
          </a:p>
          <a:p>
            <a:pPr>
              <a:spcAft>
                <a:spcPts val="1000"/>
              </a:spcAft>
              <a:defRPr sz="1800">
                <a:solidFill>
                  <a:srgbClr val="333333"/>
                </a:solidFill>
              </a:defRPr>
            </a:pPr>
            <a:r>
              <a:t>Contact Rating: — Continuous: 20A, 30A, 40A, 60A (depends on relay size)</a:t>
            </a:r>
          </a:p>
          <a:p>
            <a:pPr>
              <a:spcAft>
                <a:spcPts val="600"/>
              </a:spcAft>
              <a:defRPr sz="1800">
                <a:solidFill>
                  <a:srgbClr val="333333"/>
                </a:solidFill>
              </a:defRPr>
            </a:pPr>
            <a:r>
              <a:t>Switching: Often higher (can handle brief surge during switching)</a:t>
            </a:r>
          </a:p>
          <a:p>
            <a:pPr>
              <a:spcAft>
                <a:spcPts val="1000"/>
              </a:spcAft>
              <a:defRPr sz="1800">
                <a:solidFill>
                  <a:srgbClr val="333333"/>
                </a:solidFill>
              </a:defRPr>
            </a:pPr>
            <a:r>
              <a:t>Lifespan: — Mechanical: 100,000-1,000,000 cycles (depending on quality)</a:t>
            </a:r>
          </a:p>
          <a:p>
            <a:pPr>
              <a:spcAft>
                <a:spcPts val="600"/>
              </a:spcAft>
              <a:defRPr sz="1800">
                <a:solidFill>
                  <a:srgbClr val="333333"/>
                </a:solidFill>
              </a:defRPr>
            </a:pPr>
            <a:r>
              <a:t>Failure mode: Contacts wear out (arcing during switching)</a:t>
            </a:r>
          </a:p>
          <a:p>
            <a:pPr>
              <a:spcAft>
                <a:spcPts val="1000"/>
              </a:spcAft>
              <a:defRPr sz="1800">
                <a:solidFill>
                  <a:srgbClr val="333333"/>
                </a:solidFill>
              </a:defRPr>
            </a:pPr>
            <a:r>
              <a:t>Instructor Narration (continued):</a:t>
            </a:r>
          </a:p>
          <a:p>
            <a:pPr>
              <a:spcAft>
                <a:spcPts val="1000"/>
              </a:spcAft>
              <a:defRPr sz="1800">
                <a:solidFill>
                  <a:srgbClr val="333333"/>
                </a:solidFill>
              </a:defRPr>
            </a:pPr>
            <a:r>
              <a:t>Relays are simple but critical. They protect switches, allow ECU to control high-power loads, and enable safety features (like cutting fuel pump power in accidents). Every modern vehicle has 20-40 relays scattered throughout.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Grounding - The Return Path</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We've discussed positive power distribution. But current needs a return path to complete the circuit. In automotive systems, this return path is ground.</a:t>
            </a:r>
          </a:p>
          <a:p>
            <a:pPr>
              <a:spcAft>
                <a:spcPts val="1000"/>
              </a:spcAft>
              <a:defRPr sz="1800">
                <a:solidFill>
                  <a:srgbClr val="333333"/>
                </a:solidFill>
              </a:defRPr>
            </a:pPr>
            <a:r>
              <a:t>GROUND = NEGATIVE (-) CONNECTION</a:t>
            </a:r>
          </a:p>
          <a:p>
            <a:pPr>
              <a:spcAft>
                <a:spcPts val="1000"/>
              </a:spcAft>
              <a:defRPr sz="1800">
                <a:solidFill>
                  <a:srgbClr val="333333"/>
                </a:solidFill>
              </a:defRPr>
            </a:pPr>
            <a:r>
              <a:t>Automotive Ground Philosophy:</a:t>
            </a:r>
          </a:p>
          <a:p>
            <a:pPr>
              <a:spcAft>
                <a:spcPts val="1000"/>
              </a:spcAft>
              <a:defRPr sz="1800">
                <a:solidFill>
                  <a:srgbClr val="333333"/>
                </a:solidFill>
              </a:defRPr>
            </a:pPr>
            <a:r>
              <a:t>Body/Chassis as Ground: — Metal vehicle body/chassis serves as common negative conductor — All negative terminals connect to chassis (instead of individual return wires)</a:t>
            </a:r>
          </a:p>
          <a:p>
            <a:pPr>
              <a:spcAft>
                <a:spcPts val="600"/>
              </a:spcAft>
              <a:defRPr sz="1800">
                <a:solidFill>
                  <a:srgbClr val="333333"/>
                </a:solidFill>
              </a:defRPr>
            </a:pPr>
            <a:r>
              <a:t>Battery negative terminal bolted to chassis</a:t>
            </a:r>
          </a:p>
          <a:p>
            <a:pPr>
              <a:spcAft>
                <a:spcPts val="1000"/>
              </a:spcAft>
              <a:defRPr sz="1800">
                <a:solidFill>
                  <a:srgbClr val="333333"/>
                </a:solidFill>
              </a:defRPr>
            </a:pPr>
            <a:r>
              <a:t>Advantages:</a:t>
            </a:r>
          </a:p>
          <a:p>
            <a:pPr>
              <a:spcAft>
                <a:spcPts val="1000"/>
              </a:spcAft>
              <a:defRPr sz="1800">
                <a:solidFill>
                  <a:srgbClr val="333333"/>
                </a:solidFill>
              </a:defRPr>
            </a:pPr>
            <a:r>
              <a:t>✅ Weight savings (no need for thousands of negative wires)</a:t>
            </a:r>
          </a:p>
          <a:p>
            <a:pPr>
              <a:spcAft>
                <a:spcPts val="1000"/>
              </a:spcAft>
              <a:defRPr sz="1800">
                <a:solidFill>
                  <a:srgbClr val="333333"/>
                </a:solidFill>
              </a:defRPr>
            </a:pPr>
            <a:r>
              <a:t>✅ Cost savings (metal chassis is free conductor)</a:t>
            </a:r>
          </a:p>
          <a:p>
            <a:pPr>
              <a:spcAft>
                <a:spcPts val="1000"/>
              </a:spcAft>
              <a:defRPr sz="1800">
                <a:solidFill>
                  <a:srgbClr val="333333"/>
                </a:solidFill>
              </a:defRPr>
            </a:pPr>
            <a:r>
              <a:t>✅ Simplicity (single ground point per component)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GROUND DISTRIBUTION:</a:t>
            </a:r>
          </a:p>
          <a:p>
            <a:pPr>
              <a:spcAft>
                <a:spcPts val="1000"/>
              </a:spcAft>
              <a:defRPr sz="1800">
                <a:solidFill>
                  <a:srgbClr val="333333"/>
                </a:solidFill>
              </a:defRPr>
            </a:pPr>
            <a:r>
              <a:t>Critical Ground Points:</a:t>
            </a:r>
          </a:p>
          <a:p>
            <a:pPr>
              <a:spcAft>
                <a:spcPts val="1000"/>
              </a:spcAft>
              <a:defRPr sz="1800">
                <a:solidFill>
                  <a:srgbClr val="333333"/>
                </a:solidFill>
              </a:defRPr>
            </a:pPr>
            <a:r>
              <a:t>1. Battery Negative → Engine Block — Heavy cable (2-4 AWG)</a:t>
            </a:r>
          </a:p>
          <a:p>
            <a:pPr>
              <a:spcAft>
                <a:spcPts val="600"/>
              </a:spcAft>
              <a:defRPr sz="1800">
                <a:solidFill>
                  <a:srgbClr val="333333"/>
                </a:solidFill>
              </a:defRPr>
            </a:pPr>
            <a:r>
              <a:t>Bolted directly to engine block</a:t>
            </a:r>
          </a:p>
          <a:p>
            <a:pPr>
              <a:spcAft>
                <a:spcPts val="600"/>
              </a:spcAft>
              <a:defRPr sz="1800">
                <a:solidFill>
                  <a:srgbClr val="333333"/>
                </a:solidFill>
              </a:defRPr>
            </a:pPr>
            <a:r>
              <a:t>Provides ground for starter motor (150-200A path)</a:t>
            </a:r>
          </a:p>
          <a:p>
            <a:pPr>
              <a:spcAft>
                <a:spcPts val="1000"/>
              </a:spcAft>
              <a:defRPr sz="1800">
                <a:solidFill>
                  <a:srgbClr val="333333"/>
                </a:solidFill>
              </a:defRPr>
            </a:pPr>
            <a:r>
              <a:t>2. Battery Negative → Chassis — Heavy cable (4-6 AWG)</a:t>
            </a:r>
          </a:p>
          <a:p>
            <a:pPr>
              <a:spcAft>
                <a:spcPts val="600"/>
              </a:spcAft>
              <a:defRPr sz="1800">
                <a:solidFill>
                  <a:srgbClr val="333333"/>
                </a:solidFill>
              </a:defRPr>
            </a:pPr>
            <a:r>
              <a:t>Bolted to chassis/frame</a:t>
            </a:r>
          </a:p>
          <a:p>
            <a:pPr>
              <a:spcAft>
                <a:spcPts val="600"/>
              </a:spcAft>
              <a:defRPr sz="1800">
                <a:solidFill>
                  <a:srgbClr val="333333"/>
                </a:solidFill>
              </a:defRPr>
            </a:pPr>
            <a:r>
              <a:t>Provides ground for all body electrical systems</a:t>
            </a:r>
          </a:p>
          <a:p>
            <a:pPr>
              <a:spcAft>
                <a:spcPts val="1000"/>
              </a:spcAft>
              <a:defRPr sz="1800">
                <a:solidFill>
                  <a:srgbClr val="333333"/>
                </a:solidFill>
              </a:defRPr>
            </a:pPr>
            <a:r>
              <a:t>3. Engine Block → Chassis — Ground strap (braided cable or flat strap)</a:t>
            </a:r>
          </a:p>
          <a:p>
            <a:pPr>
              <a:spcAft>
                <a:spcPts val="600"/>
              </a:spcAft>
              <a:defRPr sz="1800">
                <a:solidFill>
                  <a:srgbClr val="333333"/>
                </a:solidFill>
              </a:defRPr>
            </a:pPr>
            <a:r>
              <a:t>Critical: Engine mounted on rubber mounts (electrically isolated)</a:t>
            </a:r>
          </a:p>
          <a:p>
            <a:pPr>
              <a:spcAft>
                <a:spcPts val="600"/>
              </a:spcAft>
              <a:defRPr sz="1800">
                <a:solidFill>
                  <a:srgbClr val="333333"/>
                </a:solidFill>
              </a:defRPr>
            </a:pPr>
            <a:r>
              <a:t>Ground strap provides electrical connection chassis ↔ engine</a:t>
            </a:r>
          </a:p>
          <a:p>
            <a:pPr>
              <a:spcAft>
                <a:spcPts val="600"/>
              </a:spcAft>
              <a:defRPr sz="1800">
                <a:solidFill>
                  <a:srgbClr val="333333"/>
                </a:solidFill>
              </a:defRPr>
            </a:pPr>
            <a:r>
              <a:t>Without this: Starter current has no return path!</a:t>
            </a:r>
          </a:p>
          <a:p>
            <a:pPr>
              <a:spcAft>
                <a:spcPts val="1000"/>
              </a:spcAft>
              <a:defRPr sz="1800">
                <a:solidFill>
                  <a:srgbClr val="333333"/>
                </a:solidFill>
              </a:defRPr>
            </a:pPr>
            <a:r>
              <a:t>4. Multiple Body Ground Points — Front body ground (near headlights)</a:t>
            </a:r>
          </a:p>
          <a:p>
            <a:pPr>
              <a:spcAft>
                <a:spcPts val="600"/>
              </a:spcAft>
              <a:defRPr sz="1800">
                <a:solidFill>
                  <a:srgbClr val="333333"/>
                </a:solidFill>
              </a:defRPr>
            </a:pPr>
            <a:r>
              <a:t>Rear body ground (near tail lights)</a:t>
            </a:r>
          </a:p>
          <a:p>
            <a:pPr>
              <a:spcAft>
                <a:spcPts val="600"/>
              </a:spcAft>
              <a:defRPr sz="1800">
                <a:solidFill>
                  <a:srgbClr val="333333"/>
                </a:solidFill>
              </a:defRPr>
            </a:pPr>
            <a:r>
              <a:t>Interior ground (dashboard electronics)</a:t>
            </a:r>
          </a:p>
          <a:p>
            <a:pPr>
              <a:spcAft>
                <a:spcPts val="600"/>
              </a:spcAft>
              <a:defRPr sz="1800">
                <a:solidFill>
                  <a:srgbClr val="333333"/>
                </a:solidFill>
              </a:defRPr>
            </a:pPr>
            <a:r>
              <a:t>Reason: Minimize voltage drop in ground path</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GROUND ISSUES - Common Problems:</a:t>
            </a:r>
          </a:p>
          <a:p>
            <a:pPr>
              <a:spcAft>
                <a:spcPts val="1000"/>
              </a:spcAft>
              <a:defRPr sz="1800">
                <a:solidFill>
                  <a:srgbClr val="333333"/>
                </a:solidFill>
              </a:defRPr>
            </a:pPr>
            <a:r>
              <a:t>Problem 1: Corroded Ground Connection</a:t>
            </a:r>
          </a:p>
          <a:p>
            <a:pPr>
              <a:spcAft>
                <a:spcPts val="1000"/>
              </a:spcAft>
              <a:defRPr sz="1800">
                <a:solidFill>
                  <a:srgbClr val="333333"/>
                </a:solidFill>
              </a:defRPr>
            </a:pPr>
            <a:r>
              <a:t>Symptom: — Headlights dim when brakes applied</a:t>
            </a:r>
          </a:p>
          <a:p>
            <a:pPr>
              <a:spcAft>
                <a:spcPts val="600"/>
              </a:spcAft>
              <a:defRPr sz="1800">
                <a:solidFill>
                  <a:srgbClr val="333333"/>
                </a:solidFill>
              </a:defRPr>
            </a:pPr>
            <a:r>
              <a:t>Engine cranks slowly despite good battery</a:t>
            </a:r>
          </a:p>
          <a:p>
            <a:pPr>
              <a:spcAft>
                <a:spcPts val="1000"/>
              </a:spcAft>
              <a:defRPr sz="1800">
                <a:solidFill>
                  <a:srgbClr val="333333"/>
                </a:solidFill>
              </a:defRPr>
            </a:pPr>
            <a:r>
              <a:t>Cause: — Corrosion at ground connection (battery → chassis)</a:t>
            </a:r>
          </a:p>
          <a:p>
            <a:pPr>
              <a:spcAft>
                <a:spcPts val="600"/>
              </a:spcAft>
              <a:defRPr sz="1800">
                <a:solidFill>
                  <a:srgbClr val="333333"/>
                </a:solidFill>
              </a:defRPr>
            </a:pPr>
            <a:r>
              <a:t>High resistance in ground path</a:t>
            </a:r>
          </a:p>
          <a:p>
            <a:pPr>
              <a:spcAft>
                <a:spcPts val="600"/>
              </a:spcAft>
              <a:defRPr sz="1800">
                <a:solidFill>
                  <a:srgbClr val="333333"/>
                </a:solidFill>
              </a:defRPr>
            </a:pPr>
            <a:r>
              <a:t>Voltage drop: Vdrop = I × Rcorrosion</a:t>
            </a:r>
          </a:p>
          <a:p>
            <a:pPr>
              <a:spcAft>
                <a:spcPts val="1000"/>
              </a:spcAft>
              <a:defRPr sz="1800">
                <a:solidFill>
                  <a:srgbClr val="333333"/>
                </a:solidFill>
              </a:defRPr>
            </a:pPr>
            <a:r>
              <a:t>Example: — Headlight current: 10A</a:t>
            </a:r>
          </a:p>
          <a:p>
            <a:pPr>
              <a:spcAft>
                <a:spcPts val="600"/>
              </a:spcAft>
              <a:defRPr sz="1800">
                <a:solidFill>
                  <a:srgbClr val="333333"/>
                </a:solidFill>
              </a:defRPr>
            </a:pPr>
            <a:r>
              <a:t>Ground resistance due to corrosion: 0.5Ω</a:t>
            </a:r>
          </a:p>
          <a:p>
            <a:pPr>
              <a:spcAft>
                <a:spcPts val="600"/>
              </a:spcAft>
              <a:defRPr sz="1800">
                <a:solidFill>
                  <a:srgbClr val="333333"/>
                </a:solidFill>
              </a:defRPr>
            </a:pPr>
            <a:r>
              <a:t>Voltage drop: 10A × 0.5Ω = 5V</a:t>
            </a:r>
          </a:p>
          <a:p>
            <a:pPr>
              <a:spcAft>
                <a:spcPts val="600"/>
              </a:spcAft>
              <a:defRPr sz="1800">
                <a:solidFill>
                  <a:srgbClr val="333333"/>
                </a:solidFill>
              </a:defRPr>
            </a:pPr>
            <a:r>
              <a:t>Voltage at headlight: 12V - 5V = 7V (very dim!)</a:t>
            </a:r>
          </a:p>
          <a:p>
            <a:pPr>
              <a:spcAft>
                <a:spcPts val="1000"/>
              </a:spcAft>
              <a:defRPr sz="1800">
                <a:solidFill>
                  <a:srgbClr val="333333"/>
                </a:solidFill>
              </a:defRPr>
            </a:pPr>
            <a:r>
              <a:t>Solution: Clean ground connections, apply di-electric grease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Problem 2: Missing Engine Ground Strap</a:t>
            </a:r>
          </a:p>
          <a:p>
            <a:pPr>
              <a:spcAft>
                <a:spcPts val="1000"/>
              </a:spcAft>
              <a:defRPr sz="1800">
                <a:solidFill>
                  <a:srgbClr val="333333"/>
                </a:solidFill>
              </a:defRPr>
            </a:pPr>
            <a:r>
              <a:t>Symptom: — Starter motor doesn't work (or very weak)</a:t>
            </a:r>
          </a:p>
          <a:p>
            <a:pPr>
              <a:spcAft>
                <a:spcPts val="600"/>
              </a:spcAft>
              <a:defRPr sz="1800">
                <a:solidFill>
                  <a:srgbClr val="333333"/>
                </a:solidFill>
              </a:defRPr>
            </a:pPr>
            <a:r>
              <a:t>Strange electrical behavior (random electronics failures)</a:t>
            </a:r>
          </a:p>
          <a:p>
            <a:pPr>
              <a:spcAft>
                <a:spcPts val="1000"/>
              </a:spcAft>
              <a:defRPr sz="1800">
                <a:solidFill>
                  <a:srgbClr val="333333"/>
                </a:solidFill>
              </a:defRPr>
            </a:pPr>
            <a:r>
              <a:t>Cause: — Engine-to-chassis ground strap broken/missing</a:t>
            </a:r>
          </a:p>
          <a:p>
            <a:pPr>
              <a:spcAft>
                <a:spcPts val="600"/>
              </a:spcAft>
              <a:defRPr sz="1800">
                <a:solidFill>
                  <a:srgbClr val="333333"/>
                </a:solidFill>
              </a:defRPr>
            </a:pPr>
            <a:r>
              <a:t>Starter current seeks alternative path (may flow through throttle cable, shifter linkage—causes damage)</a:t>
            </a:r>
          </a:p>
          <a:p>
            <a:pPr>
              <a:spcAft>
                <a:spcPts val="1000"/>
              </a:spcAft>
              <a:defRPr sz="1800">
                <a:solidFill>
                  <a:srgbClr val="333333"/>
                </a:solidFill>
              </a:defRPr>
            </a:pPr>
            <a:r>
              <a:t>Solution: Replace ground strap</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Problem 3: Poor Body Ground Distribution</a:t>
            </a:r>
          </a:p>
          <a:p>
            <a:pPr>
              <a:spcAft>
                <a:spcPts val="1000"/>
              </a:spcAft>
              <a:defRPr sz="1800">
                <a:solidFill>
                  <a:srgbClr val="333333"/>
                </a:solidFill>
              </a:defRPr>
            </a:pPr>
            <a:r>
              <a:t>Symptom: — Rear lights dim when brake applied</a:t>
            </a:r>
          </a:p>
          <a:p>
            <a:pPr>
              <a:spcAft>
                <a:spcPts val="600"/>
              </a:spcAft>
              <a:defRPr sz="1800">
                <a:solidFill>
                  <a:srgbClr val="333333"/>
                </a:solidFill>
              </a:defRPr>
            </a:pPr>
            <a:r>
              <a:t>Voltage drop between front and rear</a:t>
            </a:r>
          </a:p>
          <a:p>
            <a:pPr>
              <a:spcAft>
                <a:spcPts val="1000"/>
              </a:spcAft>
              <a:defRPr sz="1800">
                <a:solidFill>
                  <a:srgbClr val="333333"/>
                </a:solidFill>
              </a:defRPr>
            </a:pPr>
            <a:r>
              <a:t>Cause: — Single ground point at front</a:t>
            </a:r>
          </a:p>
          <a:p>
            <a:pPr>
              <a:spcAft>
                <a:spcPts val="600"/>
              </a:spcAft>
              <a:defRPr sz="1800">
                <a:solidFill>
                  <a:srgbClr val="333333"/>
                </a:solidFill>
              </a:defRPr>
            </a:pPr>
            <a:r>
              <a:t>Long ground path to rear (high resistance)</a:t>
            </a:r>
          </a:p>
          <a:p>
            <a:pPr>
              <a:spcAft>
                <a:spcPts val="600"/>
              </a:spcAft>
              <a:defRPr sz="1800">
                <a:solidFill>
                  <a:srgbClr val="333333"/>
                </a:solidFill>
              </a:defRPr>
            </a:pPr>
            <a:r>
              <a:t>Voltage drop along chassis</a:t>
            </a:r>
          </a:p>
          <a:p>
            <a:pPr>
              <a:spcAft>
                <a:spcPts val="1000"/>
              </a:spcAft>
              <a:defRPr sz="1800">
                <a:solidFill>
                  <a:srgbClr val="333333"/>
                </a:solidFill>
              </a:defRPr>
            </a:pPr>
            <a:r>
              <a:t>Solution: Add additional ground point at rear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GROUND BEST PRACTICES:</a:t>
            </a:r>
          </a:p>
          <a:p>
            <a:pPr>
              <a:spcAft>
                <a:spcPts val="1000"/>
              </a:spcAft>
              <a:defRPr sz="1800">
                <a:solidFill>
                  <a:srgbClr val="333333"/>
                </a:solidFill>
              </a:defRPr>
            </a:pPr>
            <a:r>
              <a:t>1. Clean Metal-to-Metal Contact: — Remove paint at ground bolting points</a:t>
            </a:r>
          </a:p>
          <a:p>
            <a:pPr>
              <a:spcAft>
                <a:spcPts val="600"/>
              </a:spcAft>
              <a:defRPr sz="1800">
                <a:solidFill>
                  <a:srgbClr val="333333"/>
                </a:solidFill>
              </a:defRPr>
            </a:pPr>
            <a:r>
              <a:t>Use star washers (bite into metal, prevent corrosion)</a:t>
            </a:r>
          </a:p>
          <a:p>
            <a:pPr>
              <a:spcAft>
                <a:spcPts val="600"/>
              </a:spcAft>
              <a:defRPr sz="1800">
                <a:solidFill>
                  <a:srgbClr val="333333"/>
                </a:solidFill>
              </a:defRPr>
            </a:pPr>
            <a:r>
              <a:t>Torque bolts properly (tight connection = low resistance)</a:t>
            </a:r>
          </a:p>
          <a:p>
            <a:pPr>
              <a:spcAft>
                <a:spcPts val="1000"/>
              </a:spcAft>
              <a:defRPr sz="1800">
                <a:solidFill>
                  <a:srgbClr val="333333"/>
                </a:solidFill>
              </a:defRPr>
            </a:pPr>
            <a:r>
              <a:t>2. Multiple Ground Points: — Don't rely on single ground for entire vehicle</a:t>
            </a:r>
          </a:p>
          <a:p>
            <a:pPr>
              <a:spcAft>
                <a:spcPts val="600"/>
              </a:spcAft>
              <a:defRPr sz="1800">
                <a:solidFill>
                  <a:srgbClr val="333333"/>
                </a:solidFill>
              </a:defRPr>
            </a:pPr>
            <a:r>
              <a:t>Distribute grounds (front, rear, engine)</a:t>
            </a:r>
          </a:p>
          <a:p>
            <a:pPr>
              <a:spcAft>
                <a:spcPts val="1000"/>
              </a:spcAft>
              <a:defRPr sz="1800">
                <a:solidFill>
                  <a:srgbClr val="333333"/>
                </a:solidFill>
              </a:defRPr>
            </a:pPr>
            <a:r>
              <a:t>3. Adequate Wire Size: — Ground wire should match or exceed positive wire size</a:t>
            </a:r>
          </a:p>
          <a:p>
            <a:pPr>
              <a:spcAft>
                <a:spcPts val="600"/>
              </a:spcAft>
              <a:defRPr sz="1800">
                <a:solidFill>
                  <a:srgbClr val="333333"/>
                </a:solidFill>
              </a:defRPr>
            </a:pPr>
            <a:r>
              <a:t>Example: 10A circuit → 18 AWG positive AND 18 AWG ground</a:t>
            </a:r>
          </a:p>
          <a:p>
            <a:pPr>
              <a:spcAft>
                <a:spcPts val="1000"/>
              </a:spcAft>
              <a:defRPr sz="1800">
                <a:solidFill>
                  <a:srgbClr val="333333"/>
                </a:solidFill>
              </a:defRPr>
            </a:pPr>
            <a:r>
              <a:t>4. Periodic Inspection: — Check ground connections during maintenance</a:t>
            </a:r>
          </a:p>
          <a:p>
            <a:pPr>
              <a:spcAft>
                <a:spcPts val="600"/>
              </a:spcAft>
              <a:defRPr sz="1800">
                <a:solidFill>
                  <a:srgbClr val="333333"/>
                </a:solidFill>
              </a:defRPr>
            </a:pPr>
            <a:r>
              <a:t>Look for corrosion (green/white powder)</a:t>
            </a:r>
          </a:p>
          <a:p>
            <a:pPr>
              <a:spcAft>
                <a:spcPts val="600"/>
              </a:spcAft>
              <a:defRPr sz="1800">
                <a:solidFill>
                  <a:srgbClr val="333333"/>
                </a:solidFill>
              </a:defRPr>
            </a:pPr>
            <a:r>
              <a:t>Clean and re-tighten as needed</a:t>
            </a:r>
          </a:p>
          <a:p>
            <a:pPr>
              <a:spcAft>
                <a:spcPts val="1000"/>
              </a:spcAft>
              <a:defRPr sz="1800">
                <a:solidFill>
                  <a:srgbClr val="333333"/>
                </a:solidFill>
              </a:defRPr>
            </a:pPr>
            <a:r>
              <a:t>Instructor Narration (continued):</a:t>
            </a:r>
          </a:p>
          <a:p>
            <a:pPr>
              <a:spcAft>
                <a:spcPts val="1000"/>
              </a:spcAft>
              <a:defRPr sz="1800">
                <a:solidFill>
                  <a:srgbClr val="333333"/>
                </a:solidFill>
              </a:defRPr>
            </a:pPr>
            <a:r>
              <a:t>Ground problems are insidious—symptoms are often intermittent and confusing. If you see weird electrical behavior (lights dimming randomly, electronics resetting, starter issues), always check grounds first. A $2 cleaning job often fixes a 'mysterious' electrical problem.</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Slide 26-27: Load Distribution &amp; System Integration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[These slides would cover central power distribution, load management ECUs, and how modern vehicles intelligently manage electrical loads to prevent overload]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5: RESOLUTION - "Integration &amp; Next Steps</a:t>
            </a:r>
          </a:p>
        </p:txBody>
      </p:sp>
      <p:sp>
        <p:nvSpPr>
          <p:cNvPr id="3" name="Subtitle 2"/>
          <p:cNvSpPr>
            <a:spLocks noGrp="1"/>
          </p:cNvSpPr>
          <p:nvPr>
            <p:ph type="subTitle" idx="1"/>
          </p:nvPr>
        </p:nvSpPr>
        <p:spPr/>
        <p:txBody>
          <a:bodyPr/>
          <a:lstStyle/>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Complete Electrical Architecture Diagram</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integrate everything we've learned into the complete electrical architecture.</a:t>
            </a:r>
          </a:p>
          <a:p>
            <a:pPr>
              <a:spcAft>
                <a:spcPts val="1000"/>
              </a:spcAft>
              <a:defRPr sz="1800">
                <a:solidFill>
                  <a:srgbClr val="333333"/>
                </a:solidFill>
              </a:defRPr>
            </a:pPr>
            <a:r>
              <a:t>POWER GENERATION &amp; STORAGE: — Battery: 12.6V, 60 Ah, 650 CCA (energy storage)</a:t>
            </a:r>
          </a:p>
          <a:p>
            <a:pPr>
              <a:spcAft>
                <a:spcPts val="600"/>
              </a:spcAft>
              <a:defRPr sz="1800">
                <a:solidFill>
                  <a:srgbClr val="333333"/>
                </a:solidFill>
              </a:defRPr>
            </a:pPr>
            <a:r>
              <a:t>Alternator: 150A @ 14.4V (power generation)</a:t>
            </a:r>
          </a:p>
          <a:p>
            <a:pPr>
              <a:spcAft>
                <a:spcPts val="600"/>
              </a:spcAft>
              <a:defRPr sz="1800">
                <a:solidFill>
                  <a:srgbClr val="333333"/>
                </a:solidFill>
              </a:defRPr>
            </a:pPr>
            <a:r>
              <a:t>Voltage regulator: Maintains 14.4V (smart charging with ECU control)</a:t>
            </a:r>
          </a:p>
          <a:p>
            <a:pPr>
              <a:spcAft>
                <a:spcPts val="1000"/>
              </a:spcAft>
              <a:defRPr sz="1800">
                <a:solidFill>
                  <a:srgbClr val="333333"/>
                </a:solidFill>
              </a:defRPr>
            </a:pPr>
            <a:r>
              <a:t>POWER DISTRIBUTION: — Under-hood fuse box (high-power circuits)</a:t>
            </a:r>
          </a:p>
          <a:p>
            <a:pPr>
              <a:spcAft>
                <a:spcPts val="600"/>
              </a:spcAft>
              <a:defRPr sz="1800">
                <a:solidFill>
                  <a:srgbClr val="333333"/>
                </a:solidFill>
              </a:defRPr>
            </a:pPr>
            <a:r>
              <a:t>Interior fuse box (low-power circuits)</a:t>
            </a:r>
          </a:p>
          <a:p>
            <a:pPr>
              <a:spcAft>
                <a:spcPts val="600"/>
              </a:spcAft>
              <a:defRPr sz="1800">
                <a:solidFill>
                  <a:srgbClr val="333333"/>
                </a:solidFill>
              </a:defRPr>
            </a:pPr>
            <a:r>
              <a:t>Wiring harness: 3-5 km of wire, color-coded</a:t>
            </a:r>
          </a:p>
          <a:p>
            <a:pPr>
              <a:spcAft>
                <a:spcPts val="600"/>
              </a:spcAft>
              <a:defRPr sz="1800">
                <a:solidFill>
                  <a:srgbClr val="333333"/>
                </a:solidFill>
              </a:defRPr>
            </a:pPr>
            <a:r>
              <a:t>Wire gauge matched to load</a:t>
            </a:r>
          </a:p>
          <a:p>
            <a:pPr>
              <a:spcAft>
                <a:spcPts val="1000"/>
              </a:spcAft>
              <a:defRPr sz="1800">
                <a:solidFill>
                  <a:srgbClr val="333333"/>
                </a:solidFill>
              </a:defRPr>
            </a:pPr>
            <a:r>
              <a:t>PROTECTION: — Fuses: Overcurrent protection (5A to 100A range)</a:t>
            </a:r>
          </a:p>
          <a:p>
            <a:pPr>
              <a:spcAft>
                <a:spcPts val="600"/>
              </a:spcAft>
              <a:defRPr sz="1800">
                <a:solidFill>
                  <a:srgbClr val="333333"/>
                </a:solidFill>
              </a:defRPr>
            </a:pPr>
            <a:r>
              <a:t>Relays: High-current switching (20-40 relays)</a:t>
            </a:r>
          </a:p>
          <a:p>
            <a:pPr>
              <a:spcAft>
                <a:spcPts val="600"/>
              </a:spcAft>
              <a:defRPr sz="1800">
                <a:solidFill>
                  <a:srgbClr val="333333"/>
                </a:solidFill>
              </a:defRPr>
            </a:pPr>
            <a:r>
              <a:t>Fusible links: Emergency protection</a:t>
            </a:r>
          </a:p>
          <a:p>
            <a:pPr>
              <a:spcAft>
                <a:spcPts val="1000"/>
              </a:spcAft>
              <a:defRPr sz="1800">
                <a:solidFill>
                  <a:srgbClr val="333333"/>
                </a:solidFill>
              </a:defRPr>
            </a:pPr>
            <a:r>
              <a:t>GROUNDING: — Chassis ground (body/frame)</a:t>
            </a:r>
          </a:p>
          <a:p>
            <a:pPr>
              <a:spcAft>
                <a:spcPts val="600"/>
              </a:spcAft>
              <a:defRPr sz="1800">
                <a:solidFill>
                  <a:srgbClr val="333333"/>
                </a:solidFill>
              </a:defRPr>
            </a:pPr>
            <a:r>
              <a:t>Engine ground (block)</a:t>
            </a:r>
          </a:p>
          <a:p>
            <a:pPr>
              <a:spcAft>
                <a:spcPts val="600"/>
              </a:spcAft>
              <a:defRPr sz="1800">
                <a:solidFill>
                  <a:srgbClr val="333333"/>
                </a:solidFill>
              </a:defRPr>
            </a:pPr>
            <a:r>
              <a:t>Multiple ground points (front, rear, interior)</a:t>
            </a:r>
          </a:p>
          <a:p>
            <a:pPr>
              <a:spcAft>
                <a:spcPts val="600"/>
              </a:spcAft>
              <a:defRPr sz="1800">
                <a:solidFill>
                  <a:srgbClr val="333333"/>
                </a:solidFill>
              </a:defRPr>
            </a:pPr>
            <a:r>
              <a:t>Ground straps (engine to chassis)</a:t>
            </a:r>
          </a:p>
          <a:p>
            <a:pPr>
              <a:spcAft>
                <a:spcPts val="1000"/>
              </a:spcAft>
              <a:defRPr sz="1800">
                <a:solidFill>
                  <a:srgbClr val="333333"/>
                </a:solidFill>
              </a:defRPr>
            </a:pPr>
            <a:r>
              <a:t>LOADS (Examples): — Starter: 2,000W (150-200A), short duration</a:t>
            </a:r>
          </a:p>
          <a:p>
            <a:pPr>
              <a:spcAft>
                <a:spcPts val="600"/>
              </a:spcAft>
              <a:defRPr sz="1800">
                <a:solidFill>
                  <a:srgbClr val="333333"/>
                </a:solidFill>
              </a:defRPr>
            </a:pPr>
            <a:r>
              <a:t>Headlights: 120W (10A), halogen/HID/LED</a:t>
            </a:r>
          </a:p>
          <a:p>
            <a:pPr>
              <a:spcAft>
                <a:spcPts val="600"/>
              </a:spcAft>
              <a:defRPr sz="1800">
                <a:solidFill>
                  <a:srgbClr val="333333"/>
                </a:solidFill>
              </a:defRPr>
            </a:pPr>
            <a:r>
              <a:t>HVAC blower: 300W (25A max), variable</a:t>
            </a:r>
          </a:p>
          <a:p>
            <a:pPr>
              <a:spcAft>
                <a:spcPts val="600"/>
              </a:spcAft>
              <a:defRPr sz="1800">
                <a:solidFill>
                  <a:srgbClr val="333333"/>
                </a:solidFill>
              </a:defRPr>
            </a:pPr>
            <a:r>
              <a:t>ECUs: 50-80W total (all control units)</a:t>
            </a:r>
          </a:p>
          <a:p>
            <a:pPr>
              <a:spcAft>
                <a:spcPts val="600"/>
              </a:spcAft>
              <a:defRPr sz="1800">
                <a:solidFill>
                  <a:srgbClr val="333333"/>
                </a:solidFill>
              </a:defRPr>
            </a:pPr>
            <a:r>
              <a:t>Sensors/actuators: Powered via ECUs</a:t>
            </a:r>
          </a:p>
          <a:p>
            <a:pPr>
              <a:spcAft>
                <a:spcPts val="1000"/>
              </a:spcAft>
              <a:defRPr sz="1800">
                <a:solidFill>
                  <a:srgbClr val="333333"/>
                </a:solidFill>
              </a:defRPr>
            </a:pPr>
            <a:r>
              <a:t>This foundation enables all the electronic control systems we'll study next.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Electrical Troubleshooting Basics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Understanding architecture enables systematic troubleshooting.</a:t>
            </a:r>
          </a:p>
          <a:p>
            <a:pPr>
              <a:spcAft>
                <a:spcPts val="1000"/>
              </a:spcAft>
              <a:defRPr sz="1800">
                <a:solidFill>
                  <a:srgbClr val="333333"/>
                </a:solidFill>
              </a:defRPr>
            </a:pPr>
            <a:r>
              <a:t>THE BASIC CIRCUIT:</a:t>
            </a:r>
          </a:p>
          <a:p>
            <a:pPr>
              <a:spcAft>
                <a:spcPts val="1000"/>
              </a:spcAft>
              <a:defRPr sz="1800">
                <a:solidFill>
                  <a:srgbClr val="333333"/>
                </a:solidFill>
              </a:defRPr>
            </a:pPr>
            <a:r>
              <a:t>Every electrical problem involves one (or more) of these:</a:t>
            </a:r>
          </a:p>
          <a:p>
            <a:pPr>
              <a:spcAft>
                <a:spcPts val="600"/>
              </a:spcAft>
              <a:defRPr sz="1800">
                <a:solidFill>
                  <a:srgbClr val="333333"/>
                </a:solidFill>
              </a:defRPr>
            </a:pPr>
            <a:r>
              <a:t>Power supply (battery, alternator)</a:t>
            </a:r>
          </a:p>
          <a:p>
            <a:pPr>
              <a:spcAft>
                <a:spcPts val="600"/>
              </a:spcAft>
              <a:defRPr sz="1800">
                <a:solidFill>
                  <a:srgbClr val="333333"/>
                </a:solidFill>
              </a:defRPr>
            </a:pPr>
            <a:r>
              <a:t>Ground return (chassis, straps)</a:t>
            </a:r>
          </a:p>
          <a:p>
            <a:pPr>
              <a:spcAft>
                <a:spcPts val="600"/>
              </a:spcAft>
              <a:defRPr sz="1800">
                <a:solidFill>
                  <a:srgbClr val="333333"/>
                </a:solidFill>
              </a:defRPr>
            </a:pPr>
            <a:r>
              <a:t>Protection (fuse, relay)</a:t>
            </a:r>
          </a:p>
          <a:p>
            <a:pPr>
              <a:spcAft>
                <a:spcPts val="600"/>
              </a:spcAft>
              <a:defRPr sz="1800">
                <a:solidFill>
                  <a:srgbClr val="333333"/>
                </a:solidFill>
              </a:defRPr>
            </a:pPr>
            <a:r>
              <a:t>Wiring (harness, connections)</a:t>
            </a:r>
          </a:p>
          <a:p>
            <a:pPr>
              <a:spcAft>
                <a:spcPts val="600"/>
              </a:spcAft>
              <a:defRPr sz="1800">
                <a:solidFill>
                  <a:srgbClr val="333333"/>
                </a:solidFill>
              </a:defRPr>
            </a:pPr>
            <a:r>
              <a:t>Load (component itself)</a:t>
            </a:r>
          </a:p>
          <a:p>
            <a:pPr>
              <a:spcAft>
                <a:spcPts val="1000"/>
              </a:spcAft>
              <a:defRPr sz="1800">
                <a:solidFill>
                  <a:srgbClr val="333333"/>
                </a:solidFill>
              </a:defRPr>
            </a:pPr>
            <a:r>
              <a:t>SYSTEMATIC APPROACH:</a:t>
            </a:r>
          </a:p>
          <a:p>
            <a:pPr>
              <a:spcAft>
                <a:spcPts val="1000"/>
              </a:spcAft>
              <a:defRPr sz="1800">
                <a:solidFill>
                  <a:srgbClr val="333333"/>
                </a:solidFill>
              </a:defRPr>
            </a:pPr>
            <a:r>
              <a:t>Step 1: Verify Symptoms — What doesn't work?</a:t>
            </a:r>
          </a:p>
          <a:p>
            <a:pPr>
              <a:spcAft>
                <a:spcPts val="600"/>
              </a:spcAft>
              <a:defRPr sz="1800">
                <a:solidFill>
                  <a:srgbClr val="333333"/>
                </a:solidFill>
              </a:defRPr>
            </a:pPr>
            <a:r>
              <a:t>When did it start?</a:t>
            </a:r>
          </a:p>
          <a:p>
            <a:pPr>
              <a:spcAft>
                <a:spcPts val="600"/>
              </a:spcAft>
              <a:defRPr sz="1800">
                <a:solidFill>
                  <a:srgbClr val="333333"/>
                </a:solidFill>
              </a:defRPr>
            </a:pPr>
            <a:r>
              <a:t>Intermittent or constant?</a:t>
            </a:r>
          </a:p>
          <a:p>
            <a:pPr>
              <a:spcAft>
                <a:spcPts val="1000"/>
              </a:spcAft>
              <a:defRPr sz="1800">
                <a:solidFill>
                  <a:srgbClr val="333333"/>
                </a:solidFill>
              </a:defRPr>
            </a:pPr>
            <a:r>
              <a:t>Step 2: Check Power Supply — Battery voltage: 12.4V+ (engine off), 14.4V (engine running)</a:t>
            </a:r>
          </a:p>
          <a:p>
            <a:pPr>
              <a:spcAft>
                <a:spcPts val="600"/>
              </a:spcAft>
              <a:defRPr sz="1800">
                <a:solidFill>
                  <a:srgbClr val="333333"/>
                </a:solidFill>
              </a:defRPr>
            </a:pPr>
            <a:r>
              <a:t>If low, charge/test battery</a:t>
            </a:r>
          </a:p>
          <a:p>
            <a:pPr>
              <a:spcAft>
                <a:spcPts val="1000"/>
              </a:spcAft>
              <a:defRPr sz="1800">
                <a:solidFill>
                  <a:srgbClr val="333333"/>
                </a:solidFill>
              </a:defRPr>
            </a:pPr>
            <a:r>
              <a:t>Step 3: Check Protection — Is fuse blown? (visual inspection, continuity test)</a:t>
            </a:r>
          </a:p>
          <a:p>
            <a:pPr>
              <a:spcAft>
                <a:spcPts val="600"/>
              </a:spcAft>
              <a:defRPr sz="1800">
                <a:solidFill>
                  <a:srgbClr val="333333"/>
                </a:solidFill>
              </a:defRPr>
            </a:pPr>
            <a:r>
              <a:t>Is relay clicking? (audible check)</a:t>
            </a:r>
          </a:p>
          <a:p>
            <a:pPr>
              <a:spcAft>
                <a:spcPts val="1000"/>
              </a:spcAft>
              <a:defRPr sz="1800">
                <a:solidFill>
                  <a:srgbClr val="333333"/>
                </a:solidFill>
              </a:defRPr>
            </a:pPr>
            <a:r>
              <a:t>Step 4: Check Ground — Clean all ground connections</a:t>
            </a:r>
          </a:p>
          <a:p>
            <a:pPr>
              <a:spcAft>
                <a:spcPts val="600"/>
              </a:spcAft>
              <a:defRPr sz="1800">
                <a:solidFill>
                  <a:srgbClr val="333333"/>
                </a:solidFill>
              </a:defRPr>
            </a:pPr>
            <a:r>
              <a:t>Verify continuity chassis → battery negative</a:t>
            </a:r>
          </a:p>
          <a:p>
            <a:pPr>
              <a:spcAft>
                <a:spcPts val="1000"/>
              </a:spcAft>
              <a:defRPr sz="1800">
                <a:solidFill>
                  <a:srgbClr val="333333"/>
                </a:solidFill>
              </a:defRPr>
            </a:pPr>
            <a:r>
              <a:t>Step 5: Check Wiring — Inspect for damage (cuts, burns, rodent damage)</a:t>
            </a:r>
          </a:p>
          <a:p>
            <a:pPr>
              <a:spcAft>
                <a:spcPts val="600"/>
              </a:spcAft>
              <a:defRPr sz="1800">
                <a:solidFill>
                  <a:srgbClr val="333333"/>
                </a:solidFill>
              </a:defRPr>
            </a:pPr>
            <a:r>
              <a:t>Check connectors (corrosion, looseness)</a:t>
            </a:r>
          </a:p>
          <a:p>
            <a:pPr>
              <a:spcAft>
                <a:spcPts val="1000"/>
              </a:spcAft>
              <a:defRPr sz="1800">
                <a:solidFill>
                  <a:srgbClr val="333333"/>
                </a:solidFill>
              </a:defRPr>
            </a:pPr>
            <a:r>
              <a:t>Step 6: Test Load — If all above OK, component itself is likely faulty</a:t>
            </a:r>
          </a:p>
          <a:p>
            <a:pPr>
              <a:spcAft>
                <a:spcPts val="1000"/>
              </a:spcAft>
              <a:defRPr sz="1800">
                <a:solidFill>
                  <a:srgbClr val="333333"/>
                </a:solidFill>
              </a:defRPr>
            </a:pPr>
            <a:r>
              <a:t>TOOLS NEEDED: — Multimeter (voltage, continuity, resistance)</a:t>
            </a:r>
          </a:p>
          <a:p>
            <a:pPr>
              <a:spcAft>
                <a:spcPts val="600"/>
              </a:spcAft>
              <a:defRPr sz="1800">
                <a:solidFill>
                  <a:srgbClr val="333333"/>
                </a:solidFill>
              </a:defRPr>
            </a:pPr>
            <a:r>
              <a:t>Test light</a:t>
            </a:r>
          </a:p>
          <a:p>
            <a:pPr>
              <a:spcAft>
                <a:spcPts val="600"/>
              </a:spcAft>
              <a:defRPr sz="1800">
                <a:solidFill>
                  <a:srgbClr val="333333"/>
                </a:solidFill>
              </a:defRPr>
            </a:pPr>
            <a:r>
              <a:t>Wiring diagrams</a:t>
            </a:r>
          </a:p>
          <a:p>
            <a:pPr>
              <a:spcAft>
                <a:spcPts val="600"/>
              </a:spcAft>
              <a:defRPr sz="1800">
                <a:solidFill>
                  <a:srgbClr val="333333"/>
                </a:solidFill>
              </a:defRPr>
            </a:pPr>
            <a:r>
              <a:t>Basic hand tools</a:t>
            </a:r>
          </a:p>
          <a:p>
            <a:pPr>
              <a:spcAft>
                <a:spcPts val="1000"/>
              </a:spcAft>
              <a:defRPr sz="1800">
                <a:solidFill>
                  <a:srgbClr val="333333"/>
                </a:solidFill>
              </a:defRPr>
            </a:pPr>
            <a:r>
              <a:t>This logical approach solves 90% of electrical issues.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Summary &amp; Preview of Next Sessions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recap what we've covered in Session 13: Electrical Architecture.</a:t>
            </a:r>
          </a:p>
          <a:p>
            <a:pPr>
              <a:spcAft>
                <a:spcPts val="1000"/>
              </a:spcAft>
              <a:defRPr sz="1800">
                <a:solidFill>
                  <a:srgbClr val="333333"/>
                </a:solidFill>
              </a:defRPr>
            </a:pPr>
            <a:r>
              <a:t>KEY TAKEAWAYS:</a:t>
            </a:r>
          </a:p>
          <a:p>
            <a:pPr>
              <a:spcAft>
                <a:spcPts val="1000"/>
              </a:spcAft>
              <a:defRPr sz="1800">
                <a:solidFill>
                  <a:srgbClr val="333333"/>
                </a:solidFill>
              </a:defRPr>
            </a:pPr>
            <a:r>
              <a:t>Electrical Systems:</a:t>
            </a:r>
          </a:p>
          <a:p>
            <a:pPr>
              <a:spcAft>
                <a:spcPts val="1000"/>
              </a:spcAft>
              <a:defRPr sz="1800">
                <a:solidFill>
                  <a:srgbClr val="333333"/>
                </a:solidFill>
              </a:defRPr>
            </a:pPr>
            <a:r>
              <a:t>✅ 12V architecture (14.4V charging, 12.6V battery nominal)</a:t>
            </a:r>
          </a:p>
          <a:p>
            <a:pPr>
              <a:spcAft>
                <a:spcPts val="1000"/>
              </a:spcAft>
              <a:defRPr sz="1800">
                <a:solidFill>
                  <a:srgbClr val="333333"/>
                </a:solidFill>
              </a:defRPr>
            </a:pPr>
            <a:r>
              <a:t>✅ 24V for heavy trucks, 48V for mild hybrids (emerging)</a:t>
            </a:r>
          </a:p>
          <a:p>
            <a:pPr>
              <a:spcAft>
                <a:spcPts val="1000"/>
              </a:spcAft>
              <a:defRPr sz="1800">
                <a:solidFill>
                  <a:srgbClr val="333333"/>
                </a:solidFill>
              </a:defRPr>
            </a:pPr>
            <a:r>
              <a:t>Energy Storage:</a:t>
            </a:r>
          </a:p>
          <a:p>
            <a:pPr>
              <a:spcAft>
                <a:spcPts val="1000"/>
              </a:spcAft>
              <a:defRPr sz="1800">
                <a:solidFill>
                  <a:srgbClr val="333333"/>
                </a:solidFill>
              </a:defRPr>
            </a:pPr>
            <a:r>
              <a:t>✅ Lead-acid battery chemistry (PbO₂ + Pb + H₂SO₄ ↔ PbSO₄ + H₂O)</a:t>
            </a:r>
          </a:p>
          <a:p>
            <a:pPr>
              <a:spcAft>
                <a:spcPts val="1000"/>
              </a:spcAft>
              <a:defRPr sz="1800">
                <a:solidFill>
                  <a:srgbClr val="333333"/>
                </a:solidFill>
              </a:defRPr>
            </a:pPr>
            <a:r>
              <a:t>✅ Battery specs: CCA (starting power), RC (backup time), Ah (capacity)</a:t>
            </a:r>
          </a:p>
          <a:p>
            <a:pPr>
              <a:spcAft>
                <a:spcPts val="1000"/>
              </a:spcAft>
              <a:defRPr sz="1800">
                <a:solidFill>
                  <a:srgbClr val="333333"/>
                </a:solidFill>
              </a:defRPr>
            </a:pPr>
            <a:r>
              <a:t>✅ Flooded vs AGM (AGM for start-stop, performance)</a:t>
            </a:r>
          </a:p>
          <a:p>
            <a:pPr>
              <a:spcAft>
                <a:spcPts val="1000"/>
              </a:spcAft>
              <a:defRPr sz="1800">
                <a:solidFill>
                  <a:srgbClr val="333333"/>
                </a:solidFill>
              </a:defRPr>
            </a:pPr>
            <a:r>
              <a:t>Energy Generation:</a:t>
            </a:r>
          </a:p>
          <a:p>
            <a:pPr>
              <a:spcAft>
                <a:spcPts val="1000"/>
              </a:spcAft>
              <a:defRPr sz="1800">
                <a:solidFill>
                  <a:srgbClr val="333333"/>
                </a:solidFill>
              </a:defRPr>
            </a:pPr>
            <a:r>
              <a:t>✅ Alternator converts mechanical → electrical (via electromagnetic induction)</a:t>
            </a:r>
          </a:p>
          <a:p>
            <a:pPr>
              <a:spcAft>
                <a:spcPts val="1000"/>
              </a:spcAft>
              <a:defRPr sz="1800">
                <a:solidFill>
                  <a:srgbClr val="333333"/>
                </a:solidFill>
              </a:defRPr>
            </a:pPr>
            <a:r>
              <a:t>✅ Output: 100-150A typical, regulated to 14.4V</a:t>
            </a:r>
          </a:p>
          <a:p>
            <a:pPr>
              <a:spcAft>
                <a:spcPts val="1000"/>
              </a:spcAft>
              <a:defRPr sz="1800">
                <a:solidFill>
                  <a:srgbClr val="333333"/>
                </a:solidFill>
              </a:defRPr>
            </a:pPr>
            <a:r>
              <a:t>✅ Smart charging (load-response, regenerative, temperature compensation)</a:t>
            </a:r>
          </a:p>
          <a:p>
            <a:pPr>
              <a:spcAft>
                <a:spcPts val="1000"/>
              </a:spcAft>
              <a:defRPr sz="1800">
                <a:solidFill>
                  <a:srgbClr val="333333"/>
                </a:solidFill>
              </a:defRPr>
            </a:pPr>
            <a:r>
              <a:t>High-Power Loads:</a:t>
            </a:r>
          </a:p>
          <a:p>
            <a:pPr>
              <a:spcAft>
                <a:spcPts val="1000"/>
              </a:spcAft>
              <a:defRPr sz="1800">
                <a:solidFill>
                  <a:srgbClr val="333333"/>
                </a:solidFill>
              </a:defRPr>
            </a:pPr>
            <a:r>
              <a:t>✅ Starter motor: 2,000W, 150-200A, series-wound DC, bendix drive</a:t>
            </a:r>
          </a:p>
          <a:p>
            <a:pPr>
              <a:spcAft>
                <a:spcPts val="1000"/>
              </a:spcAft>
              <a:defRPr sz="1800">
                <a:solidFill>
                  <a:srgbClr val="333333"/>
                </a:solidFill>
              </a:defRPr>
            </a:pPr>
            <a:r>
              <a:t>✅ Lighting: Halogen (55W, inefficient) → HID (35W, bright) → LED (15W, efficient, long life)</a:t>
            </a:r>
          </a:p>
          <a:p>
            <a:pPr>
              <a:spcAft>
                <a:spcPts val="1000"/>
              </a:spcAft>
              <a:defRPr sz="1800">
                <a:solidFill>
                  <a:srgbClr val="333333"/>
                </a:solidFill>
              </a:defRPr>
            </a:pPr>
            <a:r>
              <a:t>Distribution &amp; Protection:</a:t>
            </a:r>
          </a:p>
          <a:p>
            <a:pPr>
              <a:spcAft>
                <a:spcPts val="1000"/>
              </a:spcAft>
              <a:defRPr sz="1800">
                <a:solidFill>
                  <a:srgbClr val="333333"/>
                </a:solidFill>
              </a:defRPr>
            </a:pPr>
            <a:r>
              <a:t>✅ Wiring harness: 3-5 km, wire gauge matched to current</a:t>
            </a:r>
          </a:p>
          <a:p>
            <a:pPr>
              <a:spcAft>
                <a:spcPts val="1000"/>
              </a:spcAft>
              <a:defRPr sz="1800">
                <a:solidFill>
                  <a:srgbClr val="333333"/>
                </a:solidFill>
              </a:defRPr>
            </a:pPr>
            <a:r>
              <a:t>✅ Fuses: Overcurrent protection (rated 1.25× expected current)</a:t>
            </a:r>
          </a:p>
          <a:p>
            <a:pPr>
              <a:spcAft>
                <a:spcPts val="1000"/>
              </a:spcAft>
              <a:defRPr sz="1800">
                <a:solidFill>
                  <a:srgbClr val="333333"/>
                </a:solidFill>
              </a:defRPr>
            </a:pPr>
            <a:r>
              <a:t>✅ Relays: Low-current control of high-current loads</a:t>
            </a:r>
          </a:p>
          <a:p>
            <a:pPr>
              <a:spcAft>
                <a:spcPts val="1000"/>
              </a:spcAft>
              <a:defRPr sz="1800">
                <a:solidFill>
                  <a:srgbClr val="333333"/>
                </a:solidFill>
              </a:defRPr>
            </a:pPr>
            <a:r>
              <a:t>✅ Grounding: Chassis as common negative, multiple ground points critical</a:t>
            </a:r>
          </a:p>
          <a:p>
            <a:pPr>
              <a:spcAft>
                <a:spcPts val="1000"/>
              </a:spcAft>
              <a:defRPr sz="1800">
                <a:solidFill>
                  <a:srgbClr val="333333"/>
                </a:solidFill>
              </a:defRPr>
            </a:pPr>
            <a:r>
              <a:t>CONNECTION TO NEXT SESSION:</a:t>
            </a:r>
          </a:p>
          <a:p>
            <a:pPr>
              <a:spcAft>
                <a:spcPts val="1000"/>
              </a:spcAft>
              <a:defRPr sz="1800">
                <a:solidFill>
                  <a:srgbClr val="333333"/>
                </a:solidFill>
              </a:defRPr>
            </a:pPr>
            <a:r>
              <a:t>Session 14: Vehicle Control Systems</a:t>
            </a:r>
          </a:p>
          <a:p>
            <a:pPr>
              <a:spcAft>
                <a:spcPts val="1000"/>
              </a:spcAft>
              <a:defRPr sz="1800">
                <a:solidFill>
                  <a:srgbClr val="333333"/>
                </a:solidFill>
              </a:defRPr>
            </a:pPr>
            <a:r>
              <a:t>Now that you understand the electrical foundation (power, distribution, protection), we'll explore what runs on this foundation:</a:t>
            </a:r>
          </a:p>
          <a:p>
            <a:pPr>
              <a:spcAft>
                <a:spcPts val="600"/>
              </a:spcAft>
              <a:defRPr sz="1800">
                <a:solidFill>
                  <a:srgbClr val="333333"/>
                </a:solidFill>
              </a:defRPr>
            </a:pPr>
            <a:r>
              <a:t>ECUs (Electronic Control Units)—the "brains" (30-100 per vehicle)</a:t>
            </a:r>
          </a:p>
          <a:p>
            <a:pPr>
              <a:spcAft>
                <a:spcPts val="600"/>
              </a:spcAft>
              <a:defRPr sz="1800">
                <a:solidFill>
                  <a:srgbClr val="333333"/>
                </a:solidFill>
              </a:defRPr>
            </a:pPr>
            <a:r>
              <a:t>Sensors—the "eyes and ears" (temperature, pressure, position, speed)</a:t>
            </a:r>
          </a:p>
          <a:p>
            <a:pPr>
              <a:spcAft>
                <a:spcPts val="600"/>
              </a:spcAft>
              <a:defRPr sz="1800">
                <a:solidFill>
                  <a:srgbClr val="333333"/>
                </a:solidFill>
              </a:defRPr>
            </a:pPr>
            <a:r>
              <a:t>Actuators—the "muscles" (solenoids, motors, injectors)</a:t>
            </a:r>
          </a:p>
          <a:p>
            <a:pPr>
              <a:spcAft>
                <a:spcPts val="600"/>
              </a:spcAft>
              <a:defRPr sz="1800">
                <a:solidFill>
                  <a:srgbClr val="333333"/>
                </a:solidFill>
              </a:defRPr>
            </a:pPr>
            <a:r>
              <a:t>Closed-loop control—how systems self-regulate (lambda control example)</a:t>
            </a:r>
          </a:p>
          <a:p>
            <a:pPr>
              <a:spcAft>
                <a:spcPts val="1000"/>
              </a:spcAft>
              <a:defRPr sz="1800">
                <a:solidFill>
                  <a:srgbClr val="333333"/>
                </a:solidFill>
              </a:defRPr>
            </a:pPr>
            <a:r>
              <a:t>Session 15: Vehicle Communication Networks</a:t>
            </a:r>
          </a:p>
          <a:p>
            <a:pPr>
              <a:spcAft>
                <a:spcPts val="1000"/>
              </a:spcAft>
              <a:defRPr sz="1800">
                <a:solidFill>
                  <a:srgbClr val="333333"/>
                </a:solidFill>
              </a:defRPr>
            </a:pPr>
            <a:r>
              <a:t>Finally, we'll see how all these ECUs communicate:</a:t>
            </a:r>
          </a:p>
          <a:p>
            <a:pPr>
              <a:spcAft>
                <a:spcPts val="600"/>
              </a:spcAft>
              <a:defRPr sz="1800">
                <a:solidFill>
                  <a:srgbClr val="333333"/>
                </a:solidFill>
              </a:defRPr>
            </a:pPr>
            <a:r>
              <a:t>CAN bus (Controller Area Network)—the "nervous system</a:t>
            </a:r>
          </a:p>
          <a:p>
            <a:pPr>
              <a:spcAft>
                <a:spcPts val="600"/>
              </a:spcAft>
              <a:defRPr sz="1800">
                <a:solidFill>
                  <a:srgbClr val="333333"/>
                </a:solidFill>
              </a:defRPr>
            </a:pPr>
            <a:r>
              <a:t>Network protocols (messages, arbitration, error detection)</a:t>
            </a:r>
          </a:p>
          <a:p>
            <a:pPr>
              <a:spcAft>
                <a:spcPts val="600"/>
              </a:spcAft>
              <a:defRPr sz="1800">
                <a:solidFill>
                  <a:srgbClr val="333333"/>
                </a:solidFill>
              </a:defRPr>
            </a:pPr>
            <a:r>
              <a:t>OBD-II (diagnostics)</a:t>
            </a:r>
          </a:p>
          <a:p>
            <a:pPr>
              <a:spcAft>
                <a:spcPts val="600"/>
              </a:spcAft>
              <a:defRPr sz="1800">
                <a:solidFill>
                  <a:srgbClr val="333333"/>
                </a:solidFill>
              </a:defRPr>
            </a:pPr>
            <a:r>
              <a:t>Network architecture (multiple buses, gateways)</a:t>
            </a:r>
          </a:p>
          <a:p>
            <a:pPr>
              <a:spcAft>
                <a:spcPts val="1000"/>
              </a:spcAft>
              <a:defRPr sz="1800">
                <a:solidFill>
                  <a:srgbClr val="333333"/>
                </a:solidFill>
              </a:defRPr>
            </a:pPr>
            <a:r>
              <a:t>The Big Picture: — Module 1-3: Mechanical systems (forces, powertrains, chassis)</a:t>
            </a:r>
          </a:p>
          <a:p>
            <a:pPr>
              <a:spcAft>
                <a:spcPts val="600"/>
              </a:spcAft>
              <a:defRPr sz="1800">
                <a:solidFill>
                  <a:srgbClr val="333333"/>
                </a:solidFill>
              </a:defRPr>
            </a:pPr>
            <a:r>
              <a:t>Module 4 (now): Electrical/electronic "nervous system" that controls it all</a:t>
            </a:r>
          </a:p>
          <a:p>
            <a:pPr>
              <a:spcAft>
                <a:spcPts val="600"/>
              </a:spcAft>
              <a:defRPr sz="1800">
                <a:solidFill>
                  <a:srgbClr val="333333"/>
                </a:solidFill>
              </a:defRPr>
            </a:pPr>
            <a:r>
              <a:t>Module 5-6: Complete vehicle integration and advanced features</a:t>
            </a:r>
          </a:p>
          <a:p>
            <a:pPr>
              <a:spcAft>
                <a:spcPts val="1000"/>
              </a:spcAft>
              <a:defRPr sz="1800">
                <a:solidFill>
                  <a:srgbClr val="333333"/>
                </a:solidFill>
              </a:defRPr>
            </a:pPr>
            <a:r>
              <a:t>See you in Session 14!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SESSION METADATA</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Total Slides: 28-30</a:t>
            </a:r>
          </a:p>
          <a:p>
            <a:pPr>
              <a:spcAft>
                <a:spcPts val="1000"/>
              </a:spcAft>
              <a:defRPr sz="1800">
                <a:solidFill>
                  <a:srgbClr val="333333"/>
                </a:solidFill>
              </a:defRPr>
            </a:pPr>
            <a:r>
              <a:t>Lecture Duration: 90 minutes</a:t>
            </a:r>
          </a:p>
          <a:p>
            <a:pPr>
              <a:spcAft>
                <a:spcPts val="1000"/>
              </a:spcAft>
              <a:defRPr sz="1800">
                <a:solidFill>
                  <a:srgbClr val="333333"/>
                </a:solidFill>
              </a:defRPr>
            </a:pPr>
            <a:r>
              <a:t>Q&amp;A Duration: 30 minutes</a:t>
            </a:r>
          </a:p>
          <a:p>
            <a:pPr>
              <a:spcAft>
                <a:spcPts val="1000"/>
              </a:spcAft>
              <a:defRPr sz="1800">
                <a:solidFill>
                  <a:srgbClr val="333333"/>
                </a:solidFill>
              </a:defRPr>
            </a:pPr>
            <a:r>
              <a:t>Total Session Time: 120 minutes</a:t>
            </a:r>
          </a:p>
          <a:p>
            <a:pPr>
              <a:spcAft>
                <a:spcPts val="1000"/>
              </a:spcAft>
              <a:defRPr sz="1800">
                <a:solidFill>
                  <a:srgbClr val="333333"/>
                </a:solidFill>
              </a:defRPr>
            </a:pPr>
            <a:r>
              <a:t>Learning Outcome Coverage: — ✅ SO-4-13-1: Electrical architecture 12V/24V (Slides 3-4, 28)</a:t>
            </a:r>
          </a:p>
          <a:p>
            <a:pPr>
              <a:spcAft>
                <a:spcPts val="600"/>
              </a:spcAft>
              <a:defRPr sz="1800">
                <a:solidFill>
                  <a:srgbClr val="333333"/>
                </a:solidFill>
              </a:defRPr>
            </a:pPr>
            <a:r>
              <a:t>✅ SO-4-13-2: Battery technology and specs (Slides 8-10)</a:t>
            </a:r>
          </a:p>
          <a:p>
            <a:pPr>
              <a:spcAft>
                <a:spcPts val="600"/>
              </a:spcAft>
              <a:defRPr sz="1800">
                <a:solidFill>
                  <a:srgbClr val="333333"/>
                </a:solidFill>
              </a:defRPr>
            </a:pPr>
            <a:r>
              <a:t>✅ SO-4-13-3: Charging system (Slides 11-13)</a:t>
            </a:r>
          </a:p>
          <a:p>
            <a:pPr>
              <a:spcAft>
                <a:spcPts val="600"/>
              </a:spcAft>
              <a:defRPr sz="1800">
                <a:solidFill>
                  <a:srgbClr val="333333"/>
                </a:solidFill>
              </a:defRPr>
            </a:pPr>
            <a:r>
              <a:t>✅ SO-4-13-4: Starting system (Slide 14)</a:t>
            </a:r>
          </a:p>
          <a:p>
            <a:pPr>
              <a:spcAft>
                <a:spcPts val="600"/>
              </a:spcAft>
              <a:defRPr sz="1800">
                <a:solidFill>
                  <a:srgbClr val="333333"/>
                </a:solidFill>
              </a:defRPr>
            </a:pPr>
            <a:r>
              <a:t>✅ SO-4-13-5: Lighting technologies (Slide 15)</a:t>
            </a:r>
          </a:p>
          <a:p>
            <a:pPr>
              <a:spcAft>
                <a:spcPts val="600"/>
              </a:spcAft>
              <a:defRPr sz="1800">
                <a:solidFill>
                  <a:srgbClr val="333333"/>
                </a:solidFill>
              </a:defRPr>
            </a:pPr>
            <a:r>
              <a:t>✅ SO-4-13-6: Wiring, fuses, relays, grounding (Slides 22-25)</a:t>
            </a:r>
          </a:p>
          <a:p>
            <a:pPr>
              <a:spcAft>
                <a:spcPts val="1000"/>
              </a:spcAft>
              <a:defRPr sz="1800">
                <a:solidFill>
                  <a:srgbClr val="333333"/>
                </a:solidFill>
              </a:defRPr>
            </a:pPr>
            <a:r>
              <a:t>Worked Examples: 2</a:t>
            </a:r>
          </a:p>
          <a:p>
            <a:pPr>
              <a:spcAft>
                <a:spcPts val="600"/>
              </a:spcAft>
              <a:defRPr sz="1800">
                <a:solidFill>
                  <a:srgbClr val="333333"/>
                </a:solidFill>
              </a:defRPr>
            </a:pPr>
            <a:r>
              <a:t>Battery capacity and runtime calculation (Slide 9)</a:t>
            </a:r>
          </a:p>
          <a:p>
            <a:pPr>
              <a:spcAft>
                <a:spcPts val="600"/>
              </a:spcAft>
              <a:defRPr sz="1800">
                <a:solidFill>
                  <a:srgbClr val="333333"/>
                </a:solidFill>
              </a:defRPr>
            </a:pPr>
            <a:r>
              <a:t>Fuse sizing calculation (Slide 23)</a:t>
            </a:r>
          </a:p>
          <a:p>
            <a:pPr>
              <a:spcAft>
                <a:spcPts val="600"/>
              </a:spcAft>
              <a:defRPr sz="1800">
                <a:solidFill>
                  <a:srgbClr val="333333"/>
                </a:solidFill>
              </a:defRPr>
            </a:pPr>
            <a:r>
              <a:t>Voltage drop in wiring (Slide 5)</a:t>
            </a:r>
          </a:p>
          <a:p>
            <a:pPr>
              <a:spcAft>
                <a:spcPts val="1000"/>
              </a:spcAft>
              <a:defRPr sz="1800">
                <a:solidFill>
                  <a:srgbClr val="333333"/>
                </a:solidFill>
              </a:defRPr>
            </a:pPr>
            <a:r>
              <a:t>Key Formulas:</a:t>
            </a:r>
          </a:p>
          <a:p>
            <a:pPr>
              <a:spcAft>
                <a:spcPts val="600"/>
              </a:spcAft>
              <a:defRPr sz="1800">
                <a:solidFill>
                  <a:srgbClr val="333333"/>
                </a:solidFill>
              </a:defRPr>
            </a:pPr>
            <a:r>
              <a:t>Ohm's law: V = I × R, P = V × I</a:t>
            </a:r>
          </a:p>
          <a:p>
            <a:pPr>
              <a:spcAft>
                <a:spcPts val="600"/>
              </a:spcAft>
              <a:defRPr sz="1800">
                <a:solidFill>
                  <a:srgbClr val="333333"/>
                </a:solidFill>
              </a:defRPr>
            </a:pPr>
            <a:r>
              <a:t>Battery capacity: Time = Ah / Current</a:t>
            </a:r>
          </a:p>
          <a:p>
            <a:pPr>
              <a:spcAft>
                <a:spcPts val="600"/>
              </a:spcAft>
              <a:defRPr sz="1800">
                <a:solidFill>
                  <a:srgbClr val="333333"/>
                </a:solidFill>
              </a:defRPr>
            </a:pPr>
            <a:r>
              <a:t>Voltage drop: V_drop = I × R × L</a:t>
            </a:r>
          </a:p>
          <a:p>
            <a:pPr>
              <a:spcAft>
                <a:spcPts val="600"/>
              </a:spcAft>
              <a:defRPr sz="1800">
                <a:solidFill>
                  <a:srgbClr val="333333"/>
                </a:solidFill>
              </a:defRPr>
            </a:pPr>
            <a:r>
              <a:t>Fuse sizing: Fuse = 1.25 × I_max</a:t>
            </a:r>
          </a:p>
          <a:p>
            <a:pPr>
              <a:spcAft>
                <a:spcPts val="1000"/>
              </a:spcAft>
              <a:defRPr sz="1800">
                <a:solidFill>
                  <a:srgbClr val="333333"/>
                </a:solidFill>
              </a:defRPr>
            </a:pPr>
            <a:r>
              <a:t>Visual Requirements: — System diagrams (architecture, battery-alternator interaction) - 6 slides</a:t>
            </a:r>
          </a:p>
          <a:p>
            <a:pPr>
              <a:spcAft>
                <a:spcPts val="600"/>
              </a:spcAft>
              <a:defRPr sz="1800">
                <a:solidFill>
                  <a:srgbClr val="333333"/>
                </a:solidFill>
              </a:defRPr>
            </a:pPr>
            <a:r>
              <a:t>Component cutaways (battery, alternator, starter, relay) - 5 slides</a:t>
            </a:r>
          </a:p>
          <a:p>
            <a:pPr>
              <a:spcAft>
                <a:spcPts val="600"/>
              </a:spcAft>
              <a:defRPr sz="1800">
                <a:solidFill>
                  <a:srgbClr val="333333"/>
                </a:solidFill>
              </a:defRPr>
            </a:pPr>
            <a:r>
              <a:t>Comparison tables (battery types, lighting technologies) - 3 slides</a:t>
            </a:r>
          </a:p>
          <a:p>
            <a:pPr>
              <a:spcAft>
                <a:spcPts val="600"/>
              </a:spcAft>
              <a:defRPr sz="1800">
                <a:solidFill>
                  <a:srgbClr val="333333"/>
                </a:solidFill>
              </a:defRPr>
            </a:pPr>
            <a:r>
              <a:t>Wiring diagrams (harness, grounding) - 3 slides</a:t>
            </a:r>
          </a:p>
          <a:p>
            <a:pPr>
              <a:spcAft>
                <a:spcPts val="600"/>
              </a:spcAft>
              <a:defRPr sz="1800">
                <a:solidFill>
                  <a:srgbClr val="333333"/>
                </a:solidFill>
              </a:defRPr>
            </a:pPr>
            <a:r>
              <a:t>Photos (real components, fuse box, harness) - 4 slides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INSTRUCTOR NOTES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Pacing Tips: — Electrical basics (Slides 3-7): Don't rush. Many students struggle with Ohm's law review. Use board for calculations.</a:t>
            </a:r>
          </a:p>
          <a:p>
            <a:pPr>
              <a:spcAft>
                <a:spcPts val="600"/>
              </a:spcAft>
              <a:defRPr sz="1800">
                <a:solidFill>
                  <a:srgbClr val="333333"/>
                </a:solidFill>
              </a:defRPr>
            </a:pPr>
            <a:r>
              <a:t>Battery chemistry (Slide 8): Chemistry can be intimidating. Emphasize it's reversible (charge/discharge)—don't get lost in reaction equations.</a:t>
            </a:r>
          </a:p>
          <a:p>
            <a:pPr>
              <a:spcAft>
                <a:spcPts val="600"/>
              </a:spcAft>
              <a:defRPr sz="1800">
                <a:solidFill>
                  <a:srgbClr val="333333"/>
                </a:solidFill>
              </a:defRPr>
            </a:pPr>
            <a:r>
              <a:t>Lighting comparison (Slide 15): Students love this topic (relatable to daily experience). Allow discussion of personal vehicle lights.</a:t>
            </a:r>
          </a:p>
          <a:p>
            <a:pPr>
              <a:spcAft>
                <a:spcPts val="600"/>
              </a:spcAft>
              <a:defRPr sz="1800">
                <a:solidFill>
                  <a:srgbClr val="333333"/>
                </a:solidFill>
              </a:defRPr>
            </a:pPr>
            <a:r>
              <a:t>Grounding (Slide 25): Critical topic but often boring. Use real troubleshooting stories to engage.</a:t>
            </a:r>
          </a:p>
          <a:p>
            <a:pPr>
              <a:spcAft>
                <a:spcPts val="1000"/>
              </a:spcAft>
              <a:defRPr sz="1800">
                <a:solidFill>
                  <a:srgbClr val="333333"/>
                </a:solidFill>
              </a:defRPr>
            </a:pPr>
            <a:r>
              <a:t>Common Student Questions:</a:t>
            </a:r>
          </a:p>
          <a:p>
            <a:pPr>
              <a:spcAft>
                <a:spcPts val="600"/>
              </a:spcAft>
              <a:defRPr sz="1800">
                <a:solidFill>
                  <a:srgbClr val="333333"/>
                </a:solidFill>
              </a:defRPr>
            </a:pPr>
            <a:r>
              <a:t>"Why not use higher voltage like EVs (400V) in all cars?</a:t>
            </a:r>
          </a:p>
          <a:p>
            <a:pPr>
              <a:spcAft>
                <a:spcPts val="600"/>
              </a:spcAft>
              <a:defRPr sz="1800">
                <a:solidFill>
                  <a:srgbClr val="333333"/>
                </a:solidFill>
              </a:defRPr>
            </a:pPr>
            <a:r>
              <a:t>Answer: Safety (&gt;60V requires special protection), cost (high-voltage components expensive), legacy (12V ecosystem mature)</a:t>
            </a:r>
          </a:p>
          <a:p>
            <a:pPr>
              <a:spcAft>
                <a:spcPts val="600"/>
              </a:spcAft>
              <a:defRPr sz="1800">
                <a:solidFill>
                  <a:srgbClr val="333333"/>
                </a:solidFill>
              </a:defRPr>
            </a:pPr>
            <a:r>
              <a:t>"Can I upgrade my halogen lights to LED without changing anything?</a:t>
            </a:r>
          </a:p>
          <a:p>
            <a:pPr>
              <a:spcAft>
                <a:spcPts val="600"/>
              </a:spcAft>
              <a:defRPr sz="1800">
                <a:solidFill>
                  <a:srgbClr val="333333"/>
                </a:solidFill>
              </a:defRPr>
            </a:pPr>
            <a:r>
              <a:t>Answer: Usually no—need different housings (LED needs heat sinks), often illegal (DOT/ECE regulations)</a:t>
            </a:r>
          </a:p>
          <a:p>
            <a:pPr>
              <a:spcAft>
                <a:spcPts val="600"/>
              </a:spcAft>
              <a:defRPr sz="1800">
                <a:solidFill>
                  <a:srgbClr val="333333"/>
                </a:solidFill>
              </a:defRPr>
            </a:pPr>
            <a:r>
              <a:t>"If my alternator makes 150A, why does my battery die when I add a big amplifier?</a:t>
            </a:r>
          </a:p>
          <a:p>
            <a:pPr>
              <a:spcAft>
                <a:spcPts val="600"/>
              </a:spcAft>
              <a:defRPr sz="1800">
                <a:solidFill>
                  <a:srgbClr val="333333"/>
                </a:solidFill>
              </a:defRPr>
            </a:pPr>
            <a:r>
              <a:t>Answer: Continuous load can't exceed alternator capacity. Amplifier draws peak power, battery supplements, but over time battery drains if total load &gt; 150A.</a:t>
            </a:r>
          </a:p>
          <a:p>
            <a:pPr>
              <a:spcAft>
                <a:spcPts val="600"/>
              </a:spcAft>
              <a:defRPr sz="1800">
                <a:solidFill>
                  <a:srgbClr val="333333"/>
                </a:solidFill>
              </a:defRPr>
            </a:pPr>
            <a:r>
              <a:t>"Why do European cars have battery in trunk?</a:t>
            </a:r>
          </a:p>
          <a:p>
            <a:pPr>
              <a:spcAft>
                <a:spcPts val="600"/>
              </a:spcAft>
              <a:defRPr sz="1800">
                <a:solidFill>
                  <a:srgbClr val="333333"/>
                </a:solidFill>
              </a:defRPr>
            </a:pPr>
            <a:r>
              <a:t>Answer: Weight distribution (better handling), packaging (engine bay space)</a:t>
            </a:r>
          </a:p>
          <a:p>
            <a:pPr>
              <a:spcAft>
                <a:spcPts val="1000"/>
              </a:spcAft>
              <a:defRPr sz="1800">
                <a:solidFill>
                  <a:srgbClr val="333333"/>
                </a:solidFill>
              </a:defRPr>
            </a:pPr>
            <a:r>
              <a:t>Engagement Strategies: — Show actual battery, alternator, starter (pass around class if possible)</a:t>
            </a:r>
          </a:p>
          <a:p>
            <a:pPr>
              <a:spcAft>
                <a:spcPts val="600"/>
              </a:spcAft>
              <a:defRPr sz="1800">
                <a:solidFill>
                  <a:srgbClr val="333333"/>
                </a:solidFill>
              </a:defRPr>
            </a:pPr>
            <a:r>
              <a:t>Demonstrate relay clicking (apply 12V to coil terminals)</a:t>
            </a:r>
          </a:p>
          <a:p>
            <a:pPr>
              <a:spcAft>
                <a:spcPts val="600"/>
              </a:spcAft>
              <a:defRPr sz="1800">
                <a:solidFill>
                  <a:srgbClr val="333333"/>
                </a:solidFill>
              </a:defRPr>
            </a:pPr>
            <a:r>
              <a:t>Show blown vs good fuse under magnifier</a:t>
            </a:r>
          </a:p>
          <a:p>
            <a:pPr>
              <a:spcAft>
                <a:spcPts val="600"/>
              </a:spcAft>
              <a:defRPr sz="1800">
                <a:solidFill>
                  <a:srgbClr val="333333"/>
                </a:solidFill>
              </a:defRPr>
            </a:pPr>
            <a:r>
              <a:t>Discuss personal experiences with dead batteries, dim lights, etc.</a:t>
            </a:r>
          </a:p>
          <a:p>
            <a:pPr>
              <a:spcAft>
                <a:spcPts val="1000"/>
              </a:spcAft>
              <a:defRPr sz="1800">
                <a:solidFill>
                  <a:srgbClr val="333333"/>
                </a:solidFill>
              </a:defRPr>
            </a:pPr>
            <a:r>
              <a:t>Prerequisite Check: — Basic electricity (voltage, current, resistance)—review if needed</a:t>
            </a:r>
          </a:p>
          <a:p>
            <a:pPr>
              <a:spcAft>
                <a:spcPts val="600"/>
              </a:spcAft>
              <a:defRPr sz="1800">
                <a:solidFill>
                  <a:srgbClr val="333333"/>
                </a:solidFill>
              </a:defRPr>
            </a:pPr>
            <a:r>
              <a:t>Ohm's law comfort level—confirm before proceeding</a:t>
            </a:r>
          </a:p>
          <a:p>
            <a:pPr>
              <a:spcAft>
                <a:spcPts val="600"/>
              </a:spcAft>
              <a:defRPr sz="1800">
                <a:solidFill>
                  <a:srgbClr val="333333"/>
                </a:solidFill>
              </a:defRPr>
            </a:pPr>
            <a:r>
              <a:t>Units (watts, amps, volts)—ensure clarity</a:t>
            </a:r>
          </a:p>
          <a:p>
            <a:pPr>
              <a:spcAft>
                <a:spcPts val="1000"/>
              </a:spcAft>
              <a:defRPr sz="1800">
                <a:solidFill>
                  <a:srgbClr val="333333"/>
                </a:solidFill>
              </a:defRPr>
            </a:pPr>
            <a:r>
              <a:t>Safety Emphasis: — HID systems use 25,000V during startup (shock hazard)</a:t>
            </a:r>
          </a:p>
          <a:p>
            <a:pPr>
              <a:spcAft>
                <a:spcPts val="600"/>
              </a:spcAft>
              <a:defRPr sz="1800">
                <a:solidFill>
                  <a:srgbClr val="333333"/>
                </a:solidFill>
              </a:defRPr>
            </a:pPr>
            <a:r>
              <a:t>Battery explosive gas during charging (hydrogen)—no sparks near battery!</a:t>
            </a:r>
          </a:p>
          <a:p>
            <a:pPr>
              <a:spcAft>
                <a:spcPts val="600"/>
              </a:spcAft>
              <a:defRPr sz="1800">
                <a:solidFill>
                  <a:srgbClr val="333333"/>
                </a:solidFill>
              </a:defRPr>
            </a:pPr>
            <a:r>
              <a:t>Always disconnect negative terminal first (prevents shorts)</a:t>
            </a:r>
          </a:p>
          <a:p>
            <a:pPr>
              <a:spcAft>
                <a:spcPts val="600"/>
              </a:spcAft>
              <a:defRPr sz="1800">
                <a:solidFill>
                  <a:srgbClr val="333333"/>
                </a:solidFill>
              </a:defRPr>
            </a:pPr>
            <a:r>
              <a:t>Fuses are safety devices—never bypass or uprate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SESSION 13 FRAMEWORK</a:t>
            </a:r>
          </a:p>
          <a:p>
            <a:pPr>
              <a:spcAft>
                <a:spcPts val="1000"/>
              </a:spcAft>
              <a:defRPr sz="1800">
                <a:solidFill>
                  <a:srgbClr val="333333"/>
                </a:solidFill>
              </a:defRPr>
            </a:pPr>
            <a:r>
              <a:t>This framework is ready for PowerPoint conversion. Each slide description includes visual guidance, instructor narration, and technical content for professional slide 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