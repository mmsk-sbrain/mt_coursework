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---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marp: true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theme: engineering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paginate: true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math: katex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header: 'Session 5: Engine Support Systems - Cooling &amp; Lubrication'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472C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Engine Support Systems - Cooling &amp; Lubrication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t>Session 5 | Automotive Vehicles (AEL ZC441)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Welcome to Session 5. Last week, we learned how engines generate torque through combustion. Today, we address the consequences of that combustion.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Connection to Session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In Session 4, you learned the 4-stroke cycle. Let me remind you what happens during the power stroke: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Compressed air-fuel mixture ignites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Combustion temperature: ~2000-2500°C — Pressure: 60-100 bar pushing piston down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This happens thousands of times per minute (at 3000 RPM = 1500 combustion events per minute in a 4-cylinder engine!)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Question: What happens to all that heat?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The Problem We Must Solve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Here's the harsh reality: Without proper cooling and lubrication, your engine would destroy itself in minutes.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Heat problems: — Aluminum pistons melt at ~660°C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Oil breaks down above ~200°C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Metal expands → parts seize together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Friction problems: — Piston sliding in cylinder: 10-20 meters per second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Crankshaft spinning at 3000-6000 RPM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Without oil: Metal-on-metal contact → catastrophic wear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Today's mission: Understand the systems that keep engines alive.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Why This Matters for Automotive Electronics Engineers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As electronics engineers, why should you care about cooling and lubrication?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Because modern systems are electronically controlled: — Cooling fan – ECU-controlled based on coolant temperature sensor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Thermostat – Electronic thermostats now common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Oil pressure monitoring – Sensors and warning systems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Variable oil pumps – Electronic control for efficiency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You design the control systems. You must understand what you're controlling.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Real-World Scenario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Picture this: You're driving on a highway. Suddenly, the temperature warning light comes on. Within 2 minutes, steam pours from under the hood. You pull over.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What happened? Cooling system failed.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What got damaged? — Cylinder head gasket blown → coolant leaked into engine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Engine overheated → piston rings damaged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Repair cost: ₹50,000 - ₹1,00,000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All because: One component in the cooling system failed – maybe just a ₹200 thermostat.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Understanding these systems isn't academic – it's economically critical.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Why Engines Need Cooling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Let's talk numbers. In a typical gasoline engine: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Fuel Energy (100%) breaks down as: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~30-35% → Useful mechanical work (powering vehicle)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~30-35% → Lost as exhaust heat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~25-30% → Lost as engine heat (cooling system removes this)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~5-10% → Friction losses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That means nearly 1/3 of fuel energy becomes heat that must be removed.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For a 100 HP (75 kW) engine, cooling system must remove ~60-70 kW of heat – equivalent to running 60-70 electric room heaters!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What Happens If We Don't Cool?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Let me show you the failure timeline without cooling: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0-2 minutes: Temperature rises from 90°C → 150°C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Oil viscosity drops → increased wear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2-5 minutes: 150°C → 250°C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Coolant boils → steam pockets form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Oil starts breaking down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5-10 minutes: 250°C → 400°C+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Piston rings lose tension → compression lost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Aluminum components start deforming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10+ minutes: Catastrophic failure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Pistons seize in cylinders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Cylinder head warps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Engine destroyed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Cooling isn't optional – it's survival.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Two Cooling Approaches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There are two fundamental approaches: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AIR-COOLED: — Heat dissipates directly to air via fins on cylinder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Airflow (from vehicle motion or fan) carries heat away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Simple, lightweight, no coolant needed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LIQUID-COOLED: — Coolant (water + antifreeze) circulates through engine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Absorbs heat from engine → releases heat at radiator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More complex, but more effective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Let's compare them.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Air-Cooled vs Liquid-Cooled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AIR-COOLED SYSTEMS: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Advantages: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✓ Simple – fewer parts, less maintenance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✓ Lightweight – no radiator, hoses, coolant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✓ No coolant leaks or freezing issues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Disadvantages: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✗ Less effective cooling – limited heat transfer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✗ Temperature control difficult – depends on airflow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✗ Noisy – need large cooling fins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✗ Limited to smaller engines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LIQUID-COOLED SYSTEMS: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Advantages: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✓ Very effective – water absorbs heat well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✓ Precise temperature control – thermostat regulation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✓ Quieter operation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✓ Works for high-power engines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Disadvantages: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✗ Complex – more components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✗ Heavier – radiator, coolant, hoses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✗ Maintenance required – coolant replacement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✗ Potential leaks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Modern cars: 99% use liquid cooling. Motorcycles: Mix of both.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Liquid Cooling System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Here's the complete liquid cooling system. Let me walk you through it: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Components (we'll detail each):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Water jacket – Passages around cylinders and combustion chambers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Water pump – Circulates coolant through system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Thermostat – Controls coolant flow based on temperature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Radiator – Heat exchanger that cools the coolant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Cooling fan – Forces air through radiator (when needed)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Coolant – Water + antifreeze mixture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Hoses – Connect components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Expansion tank – Handles coolant expansion/contraction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Flow path: Engine → Thermostat → Radiator → Back to engine (cycle repeats)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Let's examine each component.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#### Part 2: Cooling System Components (Slides 13-17, ~15 minutes)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Water Jacket &amp; Water Pump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Water Jacket: — Network of passages cast into engine block and cylinder head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Surrounds cylinders and combustion chambers (hottest areas)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Coolant flows through, absorbing heat from metal walls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Water Pump: — Centrifugal pump (impeller design)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Driven by engine via belt from crankshaft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Pumps coolant through entire system at ~40-60 liters per minute — Modern cars: Some use electric pumps (ECU controlled for efficiency)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Thermostat – The Temperature Controller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The thermostat is brilliant in its simplicity: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Function: Control coolant flow to maintain optimal engine temperature (~90-95°C)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Operation: — Cold engine (below ~85°C): Thermostat CLOSED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→ Coolant circulates only within engine (bypass circuit)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→ Engine warms up quickly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Hot engine (above ~95°C): Thermostat OPENS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→ Coolant flows to radiator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→ Heat is released to atmosphere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Mechanism: — Contains wax pellet that expands with heat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Expansion pushes valve open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Purely mechanical – no electronics needed (traditional design)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Modern: Electronic thermostats with heater element – ECU can control opening temperature for efficiency.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Radiator – The Heat Exchanger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Radiator Design: — Thin metal tubes carry hot coolant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Fins attached to tubes increase surface area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Air flows through fins (from vehicle motion or fan)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Heat transfers from coolant → tubes → fins → air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Materials: — Tubes: Aluminum or copper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Fins: Aluminum (good heat conductor, lightweight)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Tanks: Plastic or aluminum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Performance: — Coolant enters at ~95-100°C (top)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Exits at ~75-85°C (bottom)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ΔT ~ 15-20°C in one pass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Capacity: Sized to dissipate engine's heat rejection at maximum power.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Cooling Fan &amp; Control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Cooling Fan Function: — Provides airflow when vehicle speed is low or stopped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Not needed at highway speeds (ram air sufficient)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Types: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Mechanical fan (older vehicles)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Belt-driven from engine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Always spinning (inefficient)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Viscous coupling can modulate speed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Electric fan (modern vehicles) ✓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Driven by electric motor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ECU-controlled based on coolant temperature sensor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Control Logic: — Coolant temp &lt; 95°C → Fan OFF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Coolant temp &gt; 100°C → Fan ON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AC compressor ON → Fan ON (helps condenser cooling too)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Benefits: Reduces engine load, improves fuel efficiency, precise control.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Coolant &amp; Expansion Tank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Coolant Composition: — Not pure water! Mixture of: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50% water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50% ethylene glycol (antifreeze)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Why antifreeze? — Lowers freezing point: ~0°C →  —37°C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Raises boiling point: 100°C → 129°C (under pressure)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Corrosion protection: Additives prevent rust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Lubrication: Protects water pump seal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Expansion Tank (Overflow Reservoir): — Coolant expands when hot, contracts when cold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Tank accommodates volume changes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Maintains system pressure (~1.0-1.3 bar)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Fill level: Check when engine cold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Maintenance: Replace coolant every 2-3 years (additives degrade).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#### Part 3: Lubrication Systems Fundamentals (Slides 18-21, ~12 minutes)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Why Engines Need Lubrication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Let's shift to the second critical support system: Lubrication.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The friction problem: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Even polished metal surfaces are rough at microscopic level. When metal slides on metal at high speed: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Extreme friction → Heat generation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Rapid wear → Surface damage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Seizing → Parts weld together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Examples in engine: — Piston sliding in cylinder: 10-20 m/s — Crankshaft journal in bearing: 3000-6000 RPM — Camshaft lobes pushing valves: High pressure contact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Solution: Create a thin film of oil between surfaces → prevents metal-to-metal contact.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Engine Oil Functions (Beyond Lubrication)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Engine oil does much more than reduce friction. It has 5 critical functions: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1. FRICTION REDUCTION (Primary function) — Creates oil film between moving parts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Reduces friction coefficient from ~0.3 (dry) to ~0.01 (lubricated)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Reduces power loss due to friction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2. HEAT DISSIPATION — Oil absorbs heat from pistons, bearings, etc.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Carries heat to oil pan (sump) where it dissipates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Removes ~10-15% of engine heat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3. CLEANING — Detergent additives suspend carbon deposits and soot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Prevents sludge buildup on engine parts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Contaminants removed by oil filter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4. SEALING — Oil film between piston rings and cylinder wall seals combustion chamber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Improves compression and prevents blowby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5. CORROSION PROTECTION — Additives prevent rust and corrosion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Protects parts during engine-off periods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One fluid, five functions – that's why oil quality matters!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What Happens Without Proper Lubrication?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Let's see the failure timeline without oil: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0-30 seconds: Oil pressure drops to zero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Metal-to-metal contact begins at bearings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Friction increases → heat generation accelerates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30 seconds - 2 minutes: — Bearings start melting (babbit metal softens)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Piston rings score cylinder walls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Loud knocking noises (bearing knock)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2-5 minutes: — Bearings seize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Crankshaft stops rotating → connecting rod breaks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Catastrophic failure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Real-world: Some race engines can survive ~10 seconds without oil (at reduced load). Street engines? Maybe 1 minute before serious damage.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Bottom line: Never drive with low oil pressure warning on!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Lubrication System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Here's the complete lubrication system: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Components: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Oil sump (pan) – Reservoir holds 4-6 liters of oil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Oil pump – Pressurizes and circulates oil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Oil filter – Removes contaminants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Oil galleries – Passages in engine block/head delivering oil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Oil pressure sensor – Monitors system pressure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PCV valve – Handles blowby gases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Flow path: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Sump → Pump → Filter → Main gallery → Bearings/Camshaft/Pistons → Drains back to sump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Pressure: Typically 3-5 bar at operating temperature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Let's examine the components.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#### Part 4: Lubrication System Components &amp; Oil Specifications (Slides 22-24, ~10 minutes)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Oil Pump, Filter &amp; Galleries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Oil Pump: — Type: Usually gear pump (two meshing gears) or rotor pump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Drive: Driven by crankshaft or camshaft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Pressure: Maintains 3-5 bar (higher at cold start, lower when hot)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Relief valve: Opens if pressure too high (protects system)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Oil Filter: — Function: Removes particles down to ~10-30 microns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Type: Spin-on cartridge or replaceable element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Bypass valve: If filter clogs, oil bypasses (dirty oil better than no oil!)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Replacement: Every 5,000-10,000 km (depends on oil type)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Oil Galleries: — Main oil gallery: Large passage in engine block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Branch passages: Deliver oil to specific locations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Crankshaft main bearings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Connecting rod bearings (via drilled holes in crankshaft!)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Camshaft bearings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Piston cooling jets (high-performance engines)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Oil drains back to sump by gravity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Engine Oil Specifications – Viscosity Grades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When you see '5W-30' on an oil bottle, what does it mean?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Understanding Viscosity Grades: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Format: XW-Y (e.g., 5W-30, 10W-40)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'XW' (Winter viscosity):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Number before 'W' = cold temperature performance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Lower number = flows better when cold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5W = Good to -30°C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10W = Good to -25°C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15W = Good to -20°C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'Y' (High temperature viscosity):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Number after hyphen = viscosity at 100°C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Higher number = thicker oil at operating temperature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30 = Thinner (better fuel economy)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40 = Medium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50 = Thicker (better protection under heavy load)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Example: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5W-30: — Flows like 5-weight oil when cold (easy cold starts)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Protects like 30-weight oil when hot (normal operation)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Choosing: — Cold climate (Ladakh): 0W-30 or 5W-30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Hot climate (Rajasthan): 10W-40 or 15W-40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Severe service (racing): 10W-50 or 20W-50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Always follow manufacturer recommendation!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Cooling &amp; Lubrication Working Together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Here's the big picture: Cooling and lubrication are interconnected systems working together to manage engine heat and friction.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Heat Generation Sources: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Combustion → ~60-70% of heat (cooling system removes)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Friction → ~10% of heat (oil removes)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Heat Removal Paths: — Cooling system: 60-65% of total heat rejection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Lubrication system: 10-15% (oil carries heat from pistons/bearings)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Exhaust: 25-30%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They work together: — Oil temperature controlled by cooling system (some engines have oil cooler using coolant)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Coolant temperature affects oil viscosity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Both must maintain optimal temperature range (oil: ~90-110°C, coolant: ~90-95°C)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If either fails → Engine fails.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Solving Today's Challenges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Remember our challenges from the beginning? Let's solve them: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Challenge 1: Design cooling system for 100 HP engine (-20°C to +45°C operation)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Solution: — Liquid cooling system (air-cooling inadequate for 100 HP)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Radiator size: ~0.5-0.6 m² frontal area (dissipates ~60 kW)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Coolant: 50/50 mix ethylene glycol/water (freeze protection to -37°C, boil protection to ~130°C)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Thermostat: 85-90°C opening temp (ensures warm-up in winter, cooling in summer)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Electric fan: ECU-controlled with temperature sensor (on above 100°C)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Expansion tank: 10-15% of system capacity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Challenge 2: Select oil for Delhi vs Ladakh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Delhi (hot summers, cool winters): — 5W-30 or 10W-40 (good all-year performance)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Fully synthetic (handles temperature swings better)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Ladakh (extreme cold, can reach -30°C): — 0W-30 or 0W-40 (critical for cold starts)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Fully synthetic (flows at extreme low temps)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Both: API SN or higher for modern engines.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Key Takeaways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Let's summarize what you've mastered today: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COOLING SYSTEMS: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✓ Engines reject ~60-70 kW of heat (must be removed to prevent damage)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✓ Liquid cooling more effective than air cooling for automotive use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✓ Key components: Water jacket, pump, thermostat, radiator, fan, coolant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✓ Coolant: 50/50 water/antifreeze mix (freeze protection + boil protection)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✓ Thermostat maintains optimal 90-95°C operating temperature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LUBRICATION SYSTEMS: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✓ Oil has 5 functions: friction reduction, heat dissipation, cleaning, sealing, corrosion protection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✓ Key components: Sump, pump, filter, oil galleries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✓ Oil pressure: 3-5 bar at operating temperature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✓ Viscosity grade (e.g., 5W-30): Cold flow (5W) + Hot protection (30)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✓ API/ACEA ratings indicate oil quality and application suitability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You can now explain why engines need support systems and how they work!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Connection to Next Session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Today we covered how to keep the engine alive. Next session, we focus on optimizing engine performance: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Session 6: Engine Performance &amp; Fuel Systems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You'll learn: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How to interpret engine performance maps (torque curves, power curves, BSFC)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How fuel is delivered to the engine (carburetor vs fuel injection)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Multi-Point Fuel Injection (MPFI) and Direct Injection (GDI) systems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Air-fuel ratio control and emissions basics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Connection: Cooling/lubrication keep engine running. Fuel systems optimize how efficiently it runs.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Building towards: Complete understanding of powertrain systems (Sessions 4-6 form a cluster).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📊 PPT DESIGN GUIDANCE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 b="1">
                <a:solidFill>
                  <a:srgbClr val="2E5090"/>
                </a:solidFill>
              </a:defRPr>
            </a:pPr>
            <a:r>
              <a:t>Visual Elements to Include: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Assignment (Due before Session 6):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Problem 1: A 4-cylinder, 2.0L engine produces 150 HP (110 kW) at maximum power. Assuming 30% thermal efficiency, calculate: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a) Total fuel energy input rate (kW)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b) Heat rejection rate that cooling system must handle (kW)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c) If coolant flow rate is 60 L/min and temperature rise is 15°C, verify that cooling system capacity is adequate (use: Q = ṁ × cp × ΔT, where cp = 4.18 kJ/kg·K for water)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Problem 2: Select appropriate engine oil for the following scenarios: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a) Taxi in Mumbai (high mileage, frequent stops, hot climate)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b) Truck in Manali-Leh route (cold climate, heavy load)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c) Sports car used for weekend track days (high RPM, high load)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Justify your viscosity grade choice and synthetic vs mineral recommendation.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Problem 3: Research and sketch the lubrication path in a 4-cylinder engine from oil sump to crankshaft main bearing and back. Label all components.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Discussion Questions for Q&amp;A: — Why do electric cooling fans improve fuel efficiency compared to belt-driven fans?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What are the trade-offs between long oil change intervals (15,000 km) vs short intervals (5,000 km)?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How do turbocharged engines modify cooling requirements?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30 minutes for your questions. —--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Consistency: Maintain professional engineering template from Sessions 1-4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Technical Professionalism: Clear system diagrams, component cutaways, flow charts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Color coding: — Red/Orange for hot coolant, heat flow, friction points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Blue for cool coolant, oil flow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Gray for mechanical components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Green for sensors/electronic control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Font sizes: Labels on diagrams should be large and readable (18-24pt)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Slide 3: The problem (overheating/seizure) – Establishes urgency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Slide 12: Complete cooling system diagram – Students will photograph this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Slide 19: Five functions of engine oil – Core concept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Slide 23: Viscosity grade interpretation – Practical application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Slide 28: Summary – Comprehensive reference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Slide 12: Build animation showing coolant flow path through system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Slide 14: Thermostat opening/closing animation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Slide 21: Oil circulation path animation (sump → pump → filter → galleries → back)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Slide 22: Gear pump operation animation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Keep flow animations smooth – helps visualize circulation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Cutaway diagrams: Real engines showing water jacket passages, oil galleries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Component photos: Real radiator, thermostat, oil filter, oil pump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System schematics: Flow diagrams with arrows showing fluid circulation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Comparison tables: Air-cooled vs liquid-cooled, synthetic vs mineral oil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Temperature/pressure graphs: Show operating ranges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Oil bottle labels: Real examples of 5W-30, API SN markings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🎯 INSTRUCTOR NOTES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 b="1">
                <a:solidFill>
                  <a:srgbClr val="2E5090"/>
                </a:solidFill>
              </a:defRPr>
            </a:pPr>
            <a:r>
              <a:t>Safety/Ethics Notes: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Consequence-driven: Start with "what happens if we don't" (failure modes create urgency)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System thinking: Show how cooling and lubrication interconnect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Real-world relevance: Use actual vehicle examples (Honda Civic, Toyota, etc.)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Practical application: Oil selection, coolant maintenance – skills students can use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Connect to electronics: Emphasize ECU control, sensors throughout (their domain)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Challenge 1: "Why 50/50 coolant mix? Why not 100% antifreeze for better protection?"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How to address: Explain that pure antifreeze (ethylene glycol) has worse heat transfer properties than water. 50/50 mix balances freeze/boil protection with heat transfer effectiveness. Show data: water cp = 4.18 kJ/kg·K, antifreeze cp = 2.4 kJ/kg·K.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Challenge 2: "Can I use thicker oil (like 20W-50) for 'better protection'?"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How to address: Explain trade-offs: Thicker oil → more friction → power loss + worse fuel economy + harder cold starts. Modern engines designed for specific viscosity – using wrong grade can cause oil starvation (oil passages sized for specific flow). Always follow manufacturer spec.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Challenge 3: "How does oil get to top of engine (cylinder head) if pump is at bottom?"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How to address: Explain pressurized system – pump creates 3-5 bar pressure, forces oil up through galleries against gravity. Show oil gallery diagram. Drainback is gravity-fed.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Challenge 4: "Why does oil pressure drop when engine is hot?"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How to address: Viscosity decreases with temperature → oil flows more easily → less resistance → lower pressure. This is normal. Oil pressure warning typically set to ~0.5 bar – if it drops below that, insufficient lubrication.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If running short: — Condense Slide 11 (air-cooled vs liquid-cooled comparison) – briefly mention, don't dwell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Combine oil pump and filter into single slide (Slide 22)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Reduce time on API/ACEA classifications (just mention they exist)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If running long: — Move oil specification details (Slide 23-24) to assignment reading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Defer oil cooler discussion to Q&amp;A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Reduce time on expansion tank details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Core content (must cover): — Slides 8-9 (why cooling needed – critical understanding)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Slides 12-16 (cooling system components – complete system)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Slides 18-21 (lubrication fundamentals and system – critical understanding)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Slide 23 (viscosity grades – practical skill)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Slide 3: Ask "Has anyone experienced engine overheating? What happened?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Slide 11: Poll students: "Who has seen an air-cooled engine? Where?" (motorcycles, old VW Beetles)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Slide 14: Draw thermostat operation on board – show wax pellet expansion concept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Slide 19: Ask "If oil only reduced friction, what would happen to all the heat and dirt in the engine?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Slide 23: Interactive: Given climate conditions, have students select oil grade together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Q&amp;A: Be ready for questions about: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Oil additives: Mention ZDDP (zinc) for wear protection, detergents/dispersants for cleaning, friction modifiers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Coolant colors: Green, orange, pink – different formulations, DO NOT MIX different types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Oil change intervals: How to determine (oil analysis, manufacturer recommendation, driving conditions)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Turbocharger cooling: Brief mention of oil cooling for turbo bearings, some have water cooling too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Environmental: Used engine oil is hazardous waste – must be disposed properly, NOT down drains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Coolant toxicity: Ethylene glycol is toxic – handle carefully, sweet taste attracts animals/children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Maintenance importance: Regular oil/coolant changes prevent costly failures – false economy to skip maintenance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Oil quality: Counterfeit oil is a problem in some markets – buy from reputable sources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✅ Session Success Criteria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Students leave able to: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✓ Explain why engines generate heat and need cooling systems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✓ Compare air-cooled and liquid-cooled systems with analysis of suitability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✓ Identify all cooling system components and explain their operation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✓ Explain need for lubrication and all five functions of engine oil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✓ Describe lubrication system components and oil circulation path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✓ Interpret oil specifications (5W-30, API SN) and select appropriate oil for given conditions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Most importantly: Students understand that cooling and lubrication are critical support systems without which engines would destroy themselves, and they can apply this knowledge to real-world scenarios (selecting oil, diagnosing cooling issues, understanding ECU control requirements).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📝 ADDITIONAL NOTES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 b="1">
                <a:solidFill>
                  <a:srgbClr val="2E5090"/>
                </a:solidFill>
              </a:defRPr>
            </a:pPr>
            <a:r>
              <a:t>Common Misconceptions to Address: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Session 4: Introduced engine as torque generator – Session 5 shows support systems needed for that generator to survive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Sessions 1-3: Calculated power requirements – Session 5 explains how to manage the heat generated when producing that power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Throughout session, mention fuel delivery and efficiency occasionally. At end: "We know how to keep engine alive (Session 5). Next: How to optimize its performance through fuel delivery and management.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Cooling failures: Blown head gasket symptoms, overheating on hills (inadequate cooling capacity)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Lubrication failures: Low oil pressure warning, engine knock, seized engines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Maintenance: Oil change process, coolant flush, why regular service matters economically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Performance modifications: Oil coolers for track cars, upgraded radiators for towing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Emphasize throughout that modern systems are electronically managed: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Cooling fan – PWM control for variable speed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Thermostat – Electric heating element for faster/ECU-controlled opening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Oil pump – Variable displacement pumps (ECU-controlled pressure)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Sensors – Temperature, pressure sensors feed ECU for monitoring and control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This connects mechanical understanding to their electronics engineering background.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"More oil is better" – No, overfilling causes aeration, foaming, pressure issues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"Thicker oil is always better protection" – No, modern tight tolerances need specified viscosity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"Flush radiator with water is same as proper coolant" – No, loses antifreeze and corrosion protection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"Oil looks clean, so it's still good" – No, additives deplete even if oil looks clean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End of Session 5 Framework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