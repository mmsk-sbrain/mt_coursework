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18: Passive Safety Systems - PART 1 of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Passive Safety Systems - PART 1 of 2</a:t>
            </a:r>
          </a:p>
        </p:txBody>
      </p:sp>
      <p:sp>
        <p:nvSpPr>
          <p:cNvPr id="3" name="Subtitle 2"/>
          <p:cNvSpPr>
            <a:spLocks noGrp="1"/>
          </p:cNvSpPr>
          <p:nvPr>
            <p:ph type="subTitle" idx="1"/>
          </p:nvPr>
        </p:nvSpPr>
        <p:spPr/>
        <p:txBody>
          <a:bodyPr/>
          <a:lstStyle/>
          <a:p>
            <a:pPr>
              <a:defRPr sz="2000">
                <a:solidFill>
                  <a:srgbClr val="FFFFFF"/>
                </a:solidFill>
              </a:defRPr>
            </a:pPr>
            <a:r>
              <a:t>Session 18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 Slide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1 minute</a:t>
            </a:r>
          </a:p>
          <a:p>
            <a:pPr>
              <a:spcAft>
                <a:spcPts val="1000"/>
              </a:spcAft>
              <a:defRPr sz="1800">
                <a:solidFill>
                  <a:srgbClr val="333333"/>
                </a:solidFill>
              </a:defRPr>
            </a:pPr>
            <a:r>
              <a:t>Instructor Narrative:</a:t>
            </a:r>
          </a:p>
          <a:p>
            <a:pPr>
              <a:spcAft>
                <a:spcPts val="1000"/>
              </a:spcAft>
              <a:defRPr sz="1800">
                <a:solidFill>
                  <a:srgbClr val="333333"/>
                </a:solidFill>
              </a:defRPr>
            </a:pPr>
            <a:r>
              <a:t>Welcome to Session 18. Today we're tackling a sobering but critically important topic: passive safety systems. These are the systems that protect you when the worst happens - a collision. Unlike active safety systems that prevent crashes, passive safety is about surviving crashes.</a:t>
            </a:r>
          </a:p>
          <a:p>
            <a:pPr>
              <a:spcAft>
                <a:spcPts val="1000"/>
              </a:spcAft>
              <a:defRPr sz="1800">
                <a:solidFill>
                  <a:srgbClr val="333333"/>
                </a:solidFill>
              </a:defRPr>
            </a:pPr>
            <a:r>
              <a:t>Now, I know crash safety might seem morbid, but understanding how vehicles protect occupants is fascinating engineering. Modern cars are incredibly sophisticated in how they manage crash energy. You'll see that every component - from the bumper to the seatbelt to the airbag - is carefully designed based on physics, biomechanics, and decades of crash research.</a:t>
            </a:r>
          </a:p>
          <a:p>
            <a:pPr>
              <a:spcAft>
                <a:spcPts val="1000"/>
              </a:spcAft>
              <a:defRPr sz="1800">
                <a:solidFill>
                  <a:srgbClr val="333333"/>
                </a:solidFill>
              </a:defRPr>
            </a:pPr>
            <a:r>
              <a:t>By the end of today, you'll understand why crumple zones save lives, how seatbelts work in detail, how airbags deploy in 30 milliseconds, and how vehicles are tested to earn their safety ratings. Let's begin with the fundamental physics of crashes.</a:t>
            </a:r>
          </a:p>
          <a:p>
            <a:pPr>
              <a:spcAft>
                <a:spcPts val="1000"/>
              </a:spcAft>
              <a:defRPr sz="1800">
                <a:solidFill>
                  <a:srgbClr val="333333"/>
                </a:solidFill>
              </a:defRPr>
            </a:pPr>
            <a:r>
              <a:t>PPT Content:</a:t>
            </a:r>
          </a:p>
          <a:p>
            <a:pPr>
              <a:defRPr sz="1400">
                <a:solidFill>
                  <a:srgbClr val="787878"/>
                </a:solidFill>
                <a:latin typeface="Consolas"/>
              </a:defRPr>
            </a:pPr>
            <a:r>
              <a:t>SESSION 18: PASSIVE SAFETY SYSTEMS</a:t>
            </a:r>
            <a:br/>
            <a:r>
              <a:t>Crash Protection &amp; Occupant Safety</a:t>
            </a:r>
            <a:br/>
            <a:br/>
            <a:r>
              <a:t>Module 5: Vehicle Architecture &amp; Comfort</a:t>
            </a:r>
            <a:br/>
            <a:r>
              <a:t>Automotive Vehicles (AEL ZC441)</a:t>
            </a:r>
            <a:br/>
            <a:br/>
            <a:r>
              <a:t>Passive Safety: Protecting occupants when crashes occur</a:t>
            </a:r>
          </a:p>
          <a:p>
            <a:pPr>
              <a:spcAft>
                <a:spcPts val="1000"/>
              </a:spcAft>
              <a:defRPr sz="1800">
                <a:solidFill>
                  <a:srgbClr val="333333"/>
                </a:solidFill>
              </a:defRPr>
            </a:pPr>
            <a:r>
              <a:t>Outcomes Addressed: Setting context for SO-6-18-1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Crash Physics - Kinetic Energy &amp; Deceleration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Let's start with physics. When you're driving at 50 km/h in a 1,500 kg vehicle, you have kinetic energy. Remember the equation from Session 1: KE = ½mv². At 50 km/h, that's about 145 kilojoules of energy - equivalent to dropping the car from a 10-meter building!</a:t>
            </a:r>
          </a:p>
          <a:p>
            <a:pPr>
              <a:spcAft>
                <a:spcPts val="1000"/>
              </a:spcAft>
              <a:defRPr sz="1800">
                <a:solidFill>
                  <a:srgbClr val="333333"/>
                </a:solidFill>
              </a:defRPr>
            </a:pPr>
            <a:r>
              <a:t>When you crash into a solid barrier, this energy must be dissipated - converted from kinetic energy to other forms, primarily deformation energy and heat. The vehicle structure crumples, absorbing energy. The question is: over what distance and time does this deceleration happen?</a:t>
            </a:r>
          </a:p>
          <a:p>
            <a:pPr>
              <a:spcAft>
                <a:spcPts val="1000"/>
              </a:spcAft>
              <a:defRPr sz="1800">
                <a:solidFill>
                  <a:srgbClr val="333333"/>
                </a:solidFill>
              </a:defRPr>
            </a:pPr>
            <a:r>
              <a:t>Here's the critical insight: the same change in velocity - stopping from 50 km/h to zero - can produce vastly different forces depending on the stopping distance. If you stop over 0.7 meters of crumple zone deformation, the deceleration might be 30g. If you hit a rigid wall and stop in just 5 cm, the deceleration could be 200g. At 200g, even for a fraction of a second, occupants suffer fatal injuries.</a:t>
            </a:r>
          </a:p>
          <a:p>
            <a:pPr>
              <a:spcAft>
                <a:spcPts val="1000"/>
              </a:spcAft>
              <a:defRPr sz="1800">
                <a:solidFill>
                  <a:srgbClr val="333333"/>
                </a:solidFill>
              </a:defRPr>
            </a:pPr>
            <a:r>
              <a:t>This is why crumple zones exist. By designing the front and rear of the vehicle to crush progressively over a longer distance, we reduce peak deceleration forces to survivable levels. Instead of 200g, we target 20-40g sustained deceleration, which humans can survive when properly restrained.</a:t>
            </a:r>
          </a:p>
          <a:p>
            <a:pPr>
              <a:spcAft>
                <a:spcPts val="1000"/>
              </a:spcAft>
              <a:defRPr sz="1800">
                <a:solidFill>
                  <a:srgbClr val="333333"/>
                </a:solidFill>
              </a:defRPr>
            </a:pPr>
            <a:r>
              <a:t>PPT Content:</a:t>
            </a:r>
          </a:p>
          <a:p>
            <a:pPr>
              <a:defRPr sz="1400">
                <a:solidFill>
                  <a:srgbClr val="787878"/>
                </a:solidFill>
                <a:latin typeface="Consolas"/>
              </a:defRPr>
            </a:pPr>
            <a:r>
              <a:t>CRASH PHYSICS: KINETIC ENERGY &amp; DECELERATION</a:t>
            </a:r>
            <a:br/>
            <a:br/>
            <a:r>
              <a:t>Kinetic Energy in Motion:</a:t>
            </a:r>
            <a:br/>
            <a:r>
              <a:t>KE = ½ m v²</a:t>
            </a:r>
            <a:br/>
            <a:br/>
            <a:r>
              <a:t>Example: 1,500 kg vehicle at 50 km/h (13.9 m/s)</a:t>
            </a:r>
            <a:br/>
            <a:r>
              <a:t>KE = ½ × 1,500 × (13.9)² = 145,000 J = 145 kJ</a:t>
            </a:r>
            <a:br/>
            <a:br/>
            <a:r>
              <a:t>This energy must be dissipated during a crash!</a:t>
            </a:r>
            <a:br/>
            <a:br/>
            <a:r>
              <a:t>Deceleration Force:</a:t>
            </a:r>
            <a:br/>
            <a:r>
              <a:t>F = m × a</a:t>
            </a:r>
            <a:br/>
            <a:r>
              <a:t>Where: a = Δv / Δt (deceleration)</a:t>
            </a:r>
            <a:br/>
            <a:br/>
            <a:r>
              <a:t>Also: v² = v₀² + 2as → a = v₀² / (2s)</a:t>
            </a:r>
            <a:br/>
            <a:r>
              <a:t>Where:</a:t>
            </a:r>
            <a:br/>
            <a:r>
              <a:t>• v₀ = Initial velocity</a:t>
            </a:r>
            <a:br/>
            <a:r>
              <a:t>• s = Stopping distance</a:t>
            </a:r>
            <a:br/>
            <a:r>
              <a:t>• a = Deceleration</a:t>
            </a:r>
            <a:br/>
            <a:br/>
            <a:r>
              <a:t>Critical Relationship:</a:t>
            </a:r>
            <a:br/>
            <a:r>
              <a:t>Longer stopping distance → Lower deceleration → Lower force</a:t>
            </a:r>
            <a:br/>
            <a:br/>
            <a:r>
              <a:t>EXAMPLE 1: Crash with 0.7 m crumple zone</a:t>
            </a:r>
            <a:br/>
            <a:r>
              <a:t>v₀ = 13.9 m/s, s = 0.7 m</a:t>
            </a:r>
            <a:br/>
            <a:r>
              <a:t>a = (13.9)² / (2 × 0.7) = 138 m/s² ≈ 14g</a:t>
            </a:r>
            <a:br/>
            <a:r>
              <a:t>Force on 1,500 kg vehicle: F = 1,500 × 138 = 207 kN</a:t>
            </a:r>
            <a:br/>
            <a:br/>
            <a:r>
              <a:t>EXAMPLE 2: Crash into rigid wall (s = 0.05 m)</a:t>
            </a:r>
            <a:br/>
            <a:r>
              <a:t>a = (13.9)² / (2 × 0.05) = 1,932 m/s² ≈ 197g</a:t>
            </a:r>
            <a:br/>
            <a:r>
              <a:t>Force: F = 1,500 × 1,932 = 2,898 kN (FATAL!)</a:t>
            </a:r>
            <a:br/>
            <a:br/>
            <a:r>
              <a:t>Human Tolerance:</a:t>
            </a:r>
            <a:br/>
            <a:r>
              <a:t>• &lt;20g sustained: Generally survivable (with restraints)</a:t>
            </a:r>
            <a:br/>
            <a:r>
              <a:t>• 20-50g sustained: Injury likely, survivable</a:t>
            </a:r>
            <a:br/>
            <a:r>
              <a:t>• 50-80g sustained: Severe injury, often fatal</a:t>
            </a:r>
            <a:br/>
            <a:r>
              <a:t>• &gt;100g sustained: Almost always fatal</a:t>
            </a:r>
            <a:br/>
            <a:r>
              <a:t>• &gt;200g even briefly: Fatal</a:t>
            </a:r>
            <a:br/>
            <a:br/>
            <a:r>
              <a:t>Key Insight:</a:t>
            </a:r>
            <a:br/>
            <a:r>
              <a:t>Crumple zones extend stopping distance → Reduce deceleration → Reduce forces → Save lives</a:t>
            </a:r>
          </a:p>
          <a:p>
            <a:pPr>
              <a:spcAft>
                <a:spcPts val="1000"/>
              </a:spcAft>
              <a:defRPr sz="1800">
                <a:solidFill>
                  <a:srgbClr val="333333"/>
                </a:solidFill>
              </a:defRPr>
            </a:pPr>
            <a:r>
              <a:t>Teaching Note:</a:t>
            </a:r>
          </a:p>
          <a:p>
            <a:pPr>
              <a:spcAft>
                <a:spcPts val="1000"/>
              </a:spcAft>
              <a:defRPr sz="1800">
                <a:solidFill>
                  <a:srgbClr val="333333"/>
                </a:solidFill>
              </a:defRPr>
            </a:pPr>
            <a:r>
              <a:t>Emphasize the ½mv² squared relationship - doubling speed quadruples energy! 100 km/h crash has 4× energy of 50 km/h crash.</a:t>
            </a:r>
          </a:p>
          <a:p>
            <a:pPr>
              <a:spcAft>
                <a:spcPts val="1000"/>
              </a:spcAft>
              <a:defRPr sz="1800">
                <a:solidFill>
                  <a:srgbClr val="333333"/>
                </a:solidFill>
              </a:defRPr>
            </a:pPr>
            <a:r>
              <a:t>Outcomes Addressed: SO-6-18-1 (crash safety principles)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Crash Safety Strategy - Crumple Zones &amp; Safety Cage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So how do we achieve this longer stopping distance? The answer is a two-part strategy that has defined automotive safety since the 1950s: crumple zones combined with a rigid safety cage.</a:t>
            </a:r>
          </a:p>
          <a:p>
            <a:pPr>
              <a:spcAft>
                <a:spcPts val="1000"/>
              </a:spcAft>
              <a:defRPr sz="1800">
                <a:solidFill>
                  <a:srgbClr val="333333"/>
                </a:solidFill>
              </a:defRPr>
            </a:pPr>
            <a:r>
              <a:t>The crumple zones are the front and rear sections of the vehicle - the areas ahead of the front wheels and behind the rear wheels. These structures are designed to deform progressively during a crash, absorbing energy through plastic deformation of metal. Think of them as controlled crush zones.</a:t>
            </a:r>
          </a:p>
          <a:p>
            <a:pPr>
              <a:spcAft>
                <a:spcPts val="1000"/>
              </a:spcAft>
              <a:defRPr sz="1800">
                <a:solidFill>
                  <a:srgbClr val="333333"/>
                </a:solidFill>
              </a:defRPr>
            </a:pPr>
            <a:r>
              <a:t>The key word is 'controlled.' We don't want random crumpling. Engineers design these zones with specific weak points and fold patterns so the structure collapses in a predictable way, maximizing energy absorption while maintaining a controlled deceleration rate.</a:t>
            </a:r>
          </a:p>
          <a:p>
            <a:pPr>
              <a:spcAft>
                <a:spcPts val="1000"/>
              </a:spcAft>
              <a:defRPr sz="1800">
                <a:solidFill>
                  <a:srgbClr val="333333"/>
                </a:solidFill>
              </a:defRPr>
            </a:pPr>
            <a:r>
              <a:t>In contrast, the passenger cabin - the area where you sit - is the safety cage. This is built like a strong cage using high-strength steel or ultra-high-strength steel, sometimes reinforced with boron steel pillars. The safety cage is designed NOT to deform. It must remain intact to preserve survival space for occupants.</a:t>
            </a:r>
          </a:p>
          <a:p>
            <a:pPr>
              <a:spcAft>
                <a:spcPts val="1000"/>
              </a:spcAft>
              <a:defRPr sz="1800">
                <a:solidFill>
                  <a:srgbClr val="333333"/>
                </a:solidFill>
              </a:defRPr>
            </a:pPr>
            <a:r>
              <a:t>So the philosophy is: sacrifice the vehicle structure outside the cabin to absorb energy, but protect the cabin integrity at all costs. The car is totaled, but you walk away.</a:t>
            </a:r>
          </a:p>
          <a:p>
            <a:pPr>
              <a:spcAft>
                <a:spcPts val="1000"/>
              </a:spcAft>
              <a:defRPr sz="1800">
                <a:solidFill>
                  <a:srgbClr val="333333"/>
                </a:solidFill>
              </a:defRPr>
            </a:pPr>
            <a:r>
              <a:t>You studied body construction in Session 16. Remember the materials discussion? This is why modern vehicles use a mix: high-strength steel in the safety cage for rigidity, and carefully engineered mild steel or aluminum in crumple zones for controlled deformation.</a:t>
            </a:r>
          </a:p>
          <a:p>
            <a:pPr>
              <a:spcAft>
                <a:spcPts val="1000"/>
              </a:spcAft>
              <a:defRPr sz="1800">
                <a:solidFill>
                  <a:srgbClr val="333333"/>
                </a:solidFill>
              </a:defRPr>
            </a:pPr>
            <a:r>
              <a:t>PPT Content:</a:t>
            </a:r>
          </a:p>
          <a:p>
            <a:pPr>
              <a:defRPr sz="1400">
                <a:solidFill>
                  <a:srgbClr val="787878"/>
                </a:solidFill>
                <a:latin typeface="Consolas"/>
              </a:defRPr>
            </a:pPr>
            <a:r>
              <a:t>CRASH SAFETY STRATEGY: CRUMPLE ZONES &amp; SAFETY CAGE</a:t>
            </a:r>
            <a:br/>
            <a:br/>
            <a:r>
              <a:t>Two-Part Design Philosophy:</a:t>
            </a:r>
            <a:br/>
            <a:br/>
            <a:r>
              <a:t>1. CRUMPLE ZONES (Front &amp; Rear)</a:t>
            </a:r>
            <a:br/>
            <a:r>
              <a:t>   Location: Ahead of front wheels, behind rear wheels</a:t>
            </a:r>
            <a:br/>
            <a:r>
              <a:t>   Purpose: Absorb crash energy through deformation</a:t>
            </a:r>
            <a:br/>
            <a:r>
              <a:t>   Design: Progressive, controlled crushing</a:t>
            </a:r>
            <a:br/>
            <a:r>
              <a:t>   Materials: Mild steel, aluminum, designed-to-crush structures</a:t>
            </a:r>
            <a:br/>
            <a:br/>
            <a:r>
              <a:t>   Energy Absorption Mechanisms:</a:t>
            </a:r>
            <a:br/>
            <a:r>
              <a:t>   • Plastic deformation (permanent bending/folding)</a:t>
            </a:r>
            <a:br/>
            <a:r>
              <a:t>   • Buckling of structural members</a:t>
            </a:r>
            <a:br/>
            <a:r>
              <a:t>   • Tearing and fracture (controlled)</a:t>
            </a:r>
            <a:br/>
            <a:r>
              <a:t>   • Friction during deformation</a:t>
            </a:r>
            <a:br/>
            <a:br/>
            <a:r>
              <a:t>   Typical crush distance: 0.5-0.8 m (frontal crash, 50 km/h barrier)</a:t>
            </a:r>
            <a:br/>
            <a:r>
              <a:t>   Energy absorbed: ~100-150 kJ (most of kinetic energy)</a:t>
            </a:r>
            <a:br/>
            <a:br/>
            <a:r>
              <a:t>2. SAFETY CAGE (Passenger Cabin)</a:t>
            </a:r>
            <a:br/>
            <a:r>
              <a:t>   Location: Passenger compartment (A-pillar to C-pillar)</a:t>
            </a:r>
            <a:br/>
            <a:r>
              <a:t>   Purpose: Maintain survival space, resist intrusion</a:t>
            </a:r>
            <a:br/>
            <a:r>
              <a:t>   Design: Rigid, high-strength structure</a:t>
            </a:r>
            <a:br/>
            <a:r>
              <a:t>   Materials: High-strength steel (HSS), ultra-high-strength steel (UHSS), boron steel</a:t>
            </a:r>
            <a:br/>
            <a:br/>
            <a:r>
              <a:t>   Key Elements:</a:t>
            </a:r>
            <a:br/>
            <a:r>
              <a:t>   • A-pillar, B-pillar, C-pillar: Vertical roof supports (very strong)</a:t>
            </a:r>
            <a:br/>
            <a:r>
              <a:t>   • Roof rails: Longitudinal roof structure (rollover protection)</a:t>
            </a:r>
            <a:br/>
            <a:r>
              <a:t>   • Floor pan: Strong floor structure</a:t>
            </a:r>
            <a:br/>
            <a:r>
              <a:t>   • Door beams: Side impact protection bars</a:t>
            </a:r>
            <a:br/>
            <a:r>
              <a:t>   • Firewall: Separates engine bay from cabin</a:t>
            </a:r>
            <a:br/>
            <a:br/>
            <a:r>
              <a:t>   Requirement: Minimal deformation (&lt;5 cm intrusion in severe crashes)</a:t>
            </a:r>
            <a:br/>
            <a:br/>
            <a:r>
              <a:t>LOAD PATHS:</a:t>
            </a:r>
            <a:br/>
            <a:r>
              <a:t>Crash forces transferred through designed load paths:</a:t>
            </a:r>
            <a:br/>
            <a:r>
              <a:t>Front crash → Longitudinal rails → Cross-members → Safety cage</a:t>
            </a:r>
            <a:br/>
            <a:r>
              <a:t>Forces routed AROUND cabin, not through it</a:t>
            </a:r>
            <a:br/>
            <a:br/>
            <a:r>
              <a:t>Historical Context:</a:t>
            </a:r>
            <a:br/>
            <a:r>
              <a:t>Invented by Béla Barényi at Mercedes-Benz (1959)</a:t>
            </a:r>
            <a:br/>
            <a:r>
              <a:t>Before crumple zones: Rigid cars → Occupants absorb energy → Fatal</a:t>
            </a:r>
            <a:br/>
            <a:r>
              <a:t>After crumple zones: Car absorbs energy → Occupants protected</a:t>
            </a:r>
            <a:br/>
            <a:br/>
            <a:r>
              <a:t>Crash Energy Distribution (Typical 50 km/h frontal crash):</a:t>
            </a:r>
            <a:br/>
            <a:r>
              <a:t>• Crumple zone deformation: ~70-80% of energy</a:t>
            </a:r>
            <a:br/>
            <a:r>
              <a:t>• Seatbelt/occupant restraint: ~10-15% of energy</a:t>
            </a:r>
            <a:br/>
            <a:r>
              <a:t>• Other (tires, suspension, debris): ~5-10% of energy</a:t>
            </a:r>
          </a:p>
          <a:p>
            <a:pPr>
              <a:spcAft>
                <a:spcPts val="1000"/>
              </a:spcAft>
              <a:defRPr sz="1800">
                <a:solidFill>
                  <a:srgbClr val="333333"/>
                </a:solidFill>
              </a:defRPr>
            </a:pPr>
            <a:r>
              <a:t>Real-World Example:</a:t>
            </a:r>
          </a:p>
          <a:p>
            <a:pPr>
              <a:spcAft>
                <a:spcPts val="1000"/>
              </a:spcAft>
              <a:defRPr sz="1800">
                <a:solidFill>
                  <a:srgbClr val="333333"/>
                </a:solidFill>
              </a:defRPr>
            </a:pPr>
            <a:r>
              <a:t>You've probably seen crash test videos where the front of the car crumples dramatically. That's intentional! It looks bad, but it's saving lives by absorbing energy.</a:t>
            </a:r>
          </a:p>
          <a:p>
            <a:pPr>
              <a:spcAft>
                <a:spcPts val="1000"/>
              </a:spcAft>
              <a:defRPr sz="1800">
                <a:solidFill>
                  <a:srgbClr val="333333"/>
                </a:solidFill>
              </a:defRPr>
            </a:pPr>
            <a:r>
              <a:t>Outcomes Addressed: SO-6-18-1 (crumple zones, safety cage, load paths)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Load Paths &amp; Structural Reinforcements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Let me show you how forces flow through the vehicle structure. This concept is called load paths, and it's critical to crash safety.</a:t>
            </a:r>
          </a:p>
          <a:p>
            <a:pPr>
              <a:spcAft>
                <a:spcPts val="1000"/>
              </a:spcAft>
              <a:defRPr sz="1800">
                <a:solidFill>
                  <a:srgbClr val="333333"/>
                </a:solidFill>
              </a:defRPr>
            </a:pPr>
            <a:r>
              <a:t>In a frontal crash, the impact force starts at the bumper. But we don't want this force going straight back into the cabin where you're sitting. Instead, the structure channels forces along designed paths - typically through the front longitudinal rails, which are strong beams running along the length of the vehicle on each side.</a:t>
            </a:r>
          </a:p>
          <a:p>
            <a:pPr>
              <a:spcAft>
                <a:spcPts val="1000"/>
              </a:spcAft>
              <a:defRPr sz="1800">
                <a:solidFill>
                  <a:srgbClr val="333333"/>
                </a:solidFill>
              </a:defRPr>
            </a:pPr>
            <a:r>
              <a:t>These rails have strategically placed crumple sections that fold predictably. As they crush, they absorb energy. The rails connect to the firewall - the strong barrier between the engine compartment and cabin. The firewall redirects forces to the floor pan and the A-pillars, distributing the load.</a:t>
            </a:r>
          </a:p>
          <a:p>
            <a:pPr>
              <a:spcAft>
                <a:spcPts val="1000"/>
              </a:spcAft>
              <a:defRPr sz="1800">
                <a:solidFill>
                  <a:srgbClr val="333333"/>
                </a:solidFill>
              </a:defRPr>
            </a:pPr>
            <a:r>
              <a:t>For side impacts, the load path is different. Side door beams - strong steel tubes inside the door - catch the impact and transfer forces to the B-pillar, floor, and roof rail. This keeps the intrusion minimal.</a:t>
            </a:r>
          </a:p>
          <a:p>
            <a:pPr>
              <a:spcAft>
                <a:spcPts val="1000"/>
              </a:spcAft>
              <a:defRPr sz="1800">
                <a:solidFill>
                  <a:srgbClr val="333333"/>
                </a:solidFill>
              </a:defRPr>
            </a:pPr>
            <a:r>
              <a:t>In roof crush scenarios - like a rollover - the A, B, and C pillars act as the load path, supported by roof rails. These must be strong enough to support 3-4 times the vehicle's weight to maintain survival space.</a:t>
            </a:r>
          </a:p>
          <a:p>
            <a:pPr>
              <a:spcAft>
                <a:spcPts val="1000"/>
              </a:spcAft>
              <a:defRPr sz="1800">
                <a:solidFill>
                  <a:srgbClr val="333333"/>
                </a:solidFill>
              </a:defRPr>
            </a:pPr>
            <a:r>
              <a:t>The key is that all these load paths bypass the occupant seating area. Forces flow around you, not through you.</a:t>
            </a:r>
          </a:p>
          <a:p>
            <a:pPr>
              <a:spcAft>
                <a:spcPts val="1000"/>
              </a:spcAft>
              <a:defRPr sz="1800">
                <a:solidFill>
                  <a:srgbClr val="333333"/>
                </a:solidFill>
              </a:defRPr>
            </a:pPr>
            <a:r>
              <a:t>PPT Content:</a:t>
            </a:r>
          </a:p>
          <a:p>
            <a:pPr>
              <a:defRPr sz="1400">
                <a:solidFill>
                  <a:srgbClr val="787878"/>
                </a:solidFill>
                <a:latin typeface="Consolas"/>
              </a:defRPr>
            </a:pPr>
            <a:r>
              <a:t>LOAD PATHS &amp; STRUCTURAL REINFORCEMENTS</a:t>
            </a:r>
            <a:br/>
            <a:br/>
            <a:r>
              <a:t>FRONTAL CRASH Load Paths:</a:t>
            </a:r>
            <a:br/>
            <a:r>
              <a:t>Bumper → Crash box (deformable) → Longitudinal rails (crush progressively)</a:t>
            </a:r>
            <a:br/>
            <a:r>
              <a:t>→ Firewall (redirects forces) → A-pillars + Floor pan (distributes to safety cage)</a:t>
            </a:r>
            <a:br/>
            <a:r>
              <a:t>→ B-pillars + Roof (final distribution)</a:t>
            </a:r>
            <a:br/>
            <a:br/>
            <a:r>
              <a:t>Key Components:</a:t>
            </a:r>
            <a:br/>
            <a:r>
              <a:t>• Crash box: Sacrificial energy absorber (bolted to rails, replaceable in minor crashes)</a:t>
            </a:r>
            <a:br/>
            <a:r>
              <a:t>• Longitudinal rails: Main energy-absorbing members (controlled crush zones)</a:t>
            </a:r>
            <a:br/>
            <a:r>
              <a:t>• Firewall: Strong barrier, prevents engine intrusion into cabin</a:t>
            </a:r>
            <a:br/>
            <a:r>
              <a:t>• Cross-members: Connect left/right rails, distribute forces evenly</a:t>
            </a:r>
            <a:br/>
            <a:br/>
            <a:r>
              <a:t>SIDE IMPACT Load Paths:</a:t>
            </a:r>
            <a:br/>
            <a:r>
              <a:t>Door outer panel → Door beam (strong tube) → B-pillar</a:t>
            </a:r>
            <a:br/>
            <a:r>
              <a:t>                                          → Floor sill</a:t>
            </a:r>
            <a:br/>
            <a:r>
              <a:t>                                          → Roof rail</a:t>
            </a:r>
            <a:br/>
            <a:r>
              <a:t>Forces distributed vertically (pillar) and horizontally (floor/roof)</a:t>
            </a:r>
            <a:br/>
            <a:br/>
            <a:r>
              <a:t>Door Beam Construction:</a:t>
            </a:r>
            <a:br/>
            <a:r>
              <a:t>• Material: Ultra-high-strength steel (UHSS) or boron steel</a:t>
            </a:r>
            <a:br/>
            <a:r>
              <a:t>• Shape: Tubular or stamped beam</a:t>
            </a:r>
            <a:br/>
            <a:r>
              <a:t>• Yield strength: &gt;1,000 MPa</a:t>
            </a:r>
            <a:br/>
            <a:r>
              <a:t>• Location: Inside door, at hip/torso height</a:t>
            </a:r>
            <a:br/>
            <a:br/>
            <a:r>
              <a:t>REAR CRASH Load Paths:</a:t>
            </a:r>
            <a:br/>
            <a:r>
              <a:t>Rear bumper → Rear rails → Rear cross-member → Floor pan → Seatbacks (must resist)</a:t>
            </a:r>
            <a:br/>
            <a:br/>
            <a:r>
              <a:t>ROOF CRUSH (Rollover) Load Paths:</a:t>
            </a:r>
            <a:br/>
            <a:r>
              <a:t>Roof → A/B/C pillars → Floor pan (pillars act as columns)</a:t>
            </a:r>
            <a:br/>
            <a:r>
              <a:t>Requirement (FMVSS 216): Roof must withstand 3× vehicle weight</a:t>
            </a:r>
            <a:br/>
            <a:br/>
            <a:r>
              <a:t>Structural Reinforcements:</a:t>
            </a:r>
            <a:br/>
            <a:r>
              <a:t>• A-pillar: Extra reinforcement plates, boron steel (resists frontal &amp; roof crush)</a:t>
            </a:r>
            <a:br/>
            <a:r>
              <a:t>• B-pillar: Thickest pillar, often 3-4 layers of steel (side impact protection)</a:t>
            </a:r>
            <a:br/>
            <a:r>
              <a:t>• Door sills: Strong lower structure (side impact, prevents floor intrusion)</a:t>
            </a:r>
            <a:br/>
            <a:r>
              <a:t>• Rear seat cross-member: Prevents rear seat from collapsing forward</a:t>
            </a:r>
            <a:br/>
            <a:br/>
            <a:r>
              <a:t>Material Selection by Location:</a:t>
            </a:r>
            <a:br/>
            <a:r>
              <a:t>• Crumple zones: Mild steel, aluminum (designed to crush, absorb energy)</a:t>
            </a:r>
            <a:br/>
            <a:r>
              <a:t>• Safety cage pillars: UHSS, boron steel (resist deformation, protect cabin)</a:t>
            </a:r>
            <a:br/>
            <a:r>
              <a:t>• Floor pan: HSS (balance of strength and formability)</a:t>
            </a:r>
          </a:p>
          <a:p>
            <a:pPr>
              <a:spcAft>
                <a:spcPts val="1000"/>
              </a:spcAft>
              <a:defRPr sz="1800">
                <a:solidFill>
                  <a:srgbClr val="333333"/>
                </a:solidFill>
              </a:defRPr>
            </a:pPr>
            <a:r>
              <a:t>Outcomes Addressed: SO-6-18-1 (load paths in crash structures)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Crash Types &amp; Protection Strategies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Not all crashes are the same. Let me quickly outline the main crash types and how protection differs for each.</a:t>
            </a:r>
          </a:p>
          <a:p>
            <a:pPr>
              <a:spcAft>
                <a:spcPts val="1000"/>
              </a:spcAft>
              <a:defRPr sz="1800">
                <a:solidFill>
                  <a:srgbClr val="333333"/>
                </a:solidFill>
              </a:defRPr>
            </a:pPr>
            <a:r>
              <a:t>Frontal crashes are the most common and typically the most survivable because we have the most crumple zone distance. The front of the car can crush 50-70 cm before reaching the cabin. Protection strategy: long crumple zones, seatbelts, frontal airbags.</a:t>
            </a:r>
          </a:p>
          <a:p>
            <a:pPr>
              <a:spcAft>
                <a:spcPts val="1000"/>
              </a:spcAft>
              <a:defRPr sz="1800">
                <a:solidFill>
                  <a:srgbClr val="333333"/>
                </a:solidFill>
              </a:defRPr>
            </a:pPr>
            <a:r>
              <a:t>Side impacts are more dangerous because there's very little distance between the door and your body - maybe 20-30 cm. We don't have much crumple zone. Protection relies on strong door beams, B-pillar reinforcement, and side airbags to cushion the impact.</a:t>
            </a:r>
          </a:p>
          <a:p>
            <a:pPr>
              <a:spcAft>
                <a:spcPts val="1000"/>
              </a:spcAft>
              <a:defRPr sz="1800">
                <a:solidFill>
                  <a:srgbClr val="333333"/>
                </a:solidFill>
              </a:defRPr>
            </a:pPr>
            <a:r>
              <a:t>Rear crashes are similar to frontal but usually at lower speeds. The main concern is preventing fuel tank rupture and protecting rear passengers. Strategy: rear crumple zone and strong seatback structures.</a:t>
            </a:r>
          </a:p>
          <a:p>
            <a:pPr>
              <a:spcAft>
                <a:spcPts val="1000"/>
              </a:spcAft>
              <a:defRPr sz="1800">
                <a:solidFill>
                  <a:srgbClr val="333333"/>
                </a:solidFill>
              </a:defRPr>
            </a:pPr>
            <a:r>
              <a:t>Rollovers are complex. The roof must resist crushing to maintain survival space. Strong pillars and roof rails are critical. Seatbelts keep you in place - you don't want to be ejected. Side curtain airbags help protect against roof contact.</a:t>
            </a:r>
          </a:p>
          <a:p>
            <a:pPr>
              <a:spcAft>
                <a:spcPts val="1000"/>
              </a:spcAft>
              <a:defRPr sz="1800">
                <a:solidFill>
                  <a:srgbClr val="333333"/>
                </a:solidFill>
              </a:defRPr>
            </a:pPr>
            <a:r>
              <a:t>Each crash mode requires specific engineering solutions, which is why crash testing covers multiple scenarios.</a:t>
            </a:r>
          </a:p>
          <a:p>
            <a:pPr>
              <a:spcAft>
                <a:spcPts val="1000"/>
              </a:spcAft>
              <a:defRPr sz="1800">
                <a:solidFill>
                  <a:srgbClr val="333333"/>
                </a:solidFill>
              </a:defRPr>
            </a:pPr>
            <a:r>
              <a:t>PPT Content:</a:t>
            </a:r>
          </a:p>
          <a:p>
            <a:pPr>
              <a:defRPr sz="1400">
                <a:solidFill>
                  <a:srgbClr val="787878"/>
                </a:solidFill>
                <a:latin typeface="Consolas"/>
              </a:defRPr>
            </a:pPr>
            <a:r>
              <a:t>CRASH TYPES &amp; PROTECTION STRATEGIES</a:t>
            </a:r>
            <a:br/>
            <a:br/>
            <a:r>
              <a:t>1. FRONTAL CRASH</a:t>
            </a:r>
            <a:br/>
            <a:r>
              <a:t>   Frequency: ~45% of fatal crashes</a:t>
            </a:r>
            <a:br/>
            <a:r>
              <a:t>   Severity: Moderate (with good design)</a:t>
            </a:r>
            <a:br/>
            <a:r>
              <a:t>   Crash distance: 0.5-0.8 m crumple zone available</a:t>
            </a:r>
            <a:br/>
            <a:br/>
            <a:r>
              <a:t>   Protection Strategy:</a:t>
            </a:r>
            <a:br/>
            <a:r>
              <a:t>   ✓ Long front crumple zones (maximize energy absorption)</a:t>
            </a:r>
            <a:br/>
            <a:r>
              <a:t>   ✓ 3-point seatbelts (restrain occupants)</a:t>
            </a:r>
            <a:br/>
            <a:r>
              <a:t>   ✓ Frontal airbags (driver &amp; passenger)</a:t>
            </a:r>
            <a:br/>
            <a:r>
              <a:t>   ✓ Knee airbags (prevent submarining)</a:t>
            </a:r>
            <a:br/>
            <a:r>
              <a:t>   ✓ Steering column collapse (prevents chest impact)</a:t>
            </a:r>
            <a:br/>
            <a:br/>
            <a:r>
              <a:t>   Peak deceleration: 20-40g (survivable with restraints)</a:t>
            </a:r>
            <a:br/>
            <a:br/>
            <a:r>
              <a:t>2. SIDE IMPACT</a:t>
            </a:r>
            <a:br/>
            <a:r>
              <a:t>   Frequency: ~25% of fatal crashes</a:t>
            </a:r>
            <a:br/>
            <a:r>
              <a:t>   Severity: High (limited crumple distance)</a:t>
            </a:r>
            <a:br/>
            <a:r>
              <a:t>   Crash distance: 0.2-0.3 m door/interior distance only!</a:t>
            </a:r>
            <a:br/>
            <a:br/>
            <a:r>
              <a:t>   Protection Strategy:</a:t>
            </a:r>
            <a:br/>
            <a:r>
              <a:t>   ✓ Strong door beams &amp; B-pillar (resist intrusion)</a:t>
            </a:r>
            <a:br/>
            <a:r>
              <a:t>   ✓ Side torso airbags (cushion impact)</a:t>
            </a:r>
            <a:br/>
            <a:r>
              <a:t>   ✓ Side curtain airbags (head protection)</a:t>
            </a:r>
            <a:br/>
            <a:r>
              <a:t>   ✓ Seatbelts (keep occupant away from door)</a:t>
            </a:r>
            <a:br/>
            <a:r>
              <a:t>   ✓ Seat-mounted airbags (move with occupant)</a:t>
            </a:r>
            <a:br/>
            <a:br/>
            <a:r>
              <a:t>   Peak intrusion: &lt;15 cm (target, severe crash)</a:t>
            </a:r>
            <a:br/>
            <a:br/>
            <a:r>
              <a:t>3. REAR IMPACT</a:t>
            </a:r>
            <a:br/>
            <a:r>
              <a:t>   Frequency: ~20% of crashes (often low severity)</a:t>
            </a:r>
            <a:br/>
            <a:r>
              <a:t>   Severity: Moderate</a:t>
            </a:r>
            <a:br/>
            <a:r>
              <a:t>   Crash distance: 0.3-0.5 m rear crumple zone</a:t>
            </a:r>
            <a:br/>
            <a:br/>
            <a:r>
              <a:t>   Protection Strategy:</a:t>
            </a:r>
            <a:br/>
            <a:r>
              <a:t>   ✓ Rear crumple zone (energy absorption)</a:t>
            </a:r>
            <a:br/>
            <a:r>
              <a:t>   ✓ Strong seatbacks (prevent rearward collapse)</a:t>
            </a:r>
            <a:br/>
            <a:r>
              <a:t>   ✓ Head restraints (prevent whiplash)</a:t>
            </a:r>
            <a:br/>
            <a:r>
              <a:t>   ✓ Fuel tank protection (prevent rupture/fire)</a:t>
            </a:r>
            <a:br/>
            <a:br/>
            <a:r>
              <a:t>   Main injury: Whiplash (neck hyperextension)</a:t>
            </a:r>
            <a:br/>
            <a:br/>
            <a:r>
              <a:t>4. ROLLOVER</a:t>
            </a:r>
            <a:br/>
            <a:r>
              <a:t>   Frequency: ~5% of crashes, but high fatality rate</a:t>
            </a:r>
            <a:br/>
            <a:r>
              <a:t>   Severity: Very high (especially if ejected)</a:t>
            </a:r>
            <a:br/>
            <a:br/>
            <a:r>
              <a:t>   Protection Strategy:</a:t>
            </a:r>
            <a:br/>
            <a:r>
              <a:t>   ✓ Strong roof structure (resist crush, 3× vehicle weight)</a:t>
            </a:r>
            <a:br/>
            <a:r>
              <a:t>   ✓ A/B/C pillar reinforcement (maintain cabin)</a:t>
            </a:r>
            <a:br/>
            <a:r>
              <a:t>   ✓ Seatbelts (prevent ejection - critical!)</a:t>
            </a:r>
            <a:br/>
            <a:r>
              <a:t>   ✓ Side curtain airbags (protection during roll)</a:t>
            </a:r>
            <a:br/>
            <a:r>
              <a:t>   ✓ Electronic Stability Control (prevention, not passive safety)</a:t>
            </a:r>
            <a:br/>
            <a:br/>
            <a:r>
              <a:t>   Requirement: Roof withstands multiple rolls without collapse</a:t>
            </a:r>
            <a:br/>
            <a:br/>
            <a:r>
              <a:t>Injury Mechanisms by Crash Type:</a:t>
            </a:r>
            <a:br/>
            <a:r>
              <a:t>• Frontal: Chest, head, lower leg injuries (contact with steering wheel, dashboard)</a:t>
            </a:r>
            <a:br/>
            <a:r>
              <a:t>• Side: Torso, pelvis, head injuries (door intrusion, B-pillar contact)</a:t>
            </a:r>
            <a:br/>
            <a:r>
              <a:t>• Rear: Neck injuries (whiplash), head injuries (if head restraint inadequate)</a:t>
            </a:r>
            <a:br/>
            <a:r>
              <a:t>• Rollover: Ejection (often fatal), roof crush injuries, multiple impacts</a:t>
            </a:r>
            <a:br/>
            <a:br/>
            <a:r>
              <a:t>Multi-Event Crashes:</a:t>
            </a:r>
            <a:br/>
            <a:r>
              <a:t>Many real-world crashes involve multiple impacts (e.g., frontal + rollover)</a:t>
            </a:r>
            <a:br/>
            <a:r>
              <a:t>Protection systems must work in sequence</a:t>
            </a:r>
          </a:p>
          <a:p>
            <a:pPr>
              <a:spcAft>
                <a:spcPts val="1000"/>
              </a:spcAft>
              <a:defRPr sz="1800">
                <a:solidFill>
                  <a:srgbClr val="333333"/>
                </a:solidFill>
              </a:defRPr>
            </a:pPr>
            <a:r>
              <a:t>Outcomes Addressed: SO-6-18-1 (crash safety principles, occupant protection strategies)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Session Roadmap</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1 minute</a:t>
            </a:r>
          </a:p>
          <a:p>
            <a:pPr>
              <a:spcAft>
                <a:spcPts val="1000"/>
              </a:spcAft>
              <a:defRPr sz="1800">
                <a:solidFill>
                  <a:srgbClr val="333333"/>
                </a:solidFill>
              </a:defRPr>
            </a:pPr>
            <a:r>
              <a:t>Instructor Narrative:</a:t>
            </a:r>
          </a:p>
          <a:p>
            <a:pPr>
              <a:spcAft>
                <a:spcPts val="1000"/>
              </a:spcAft>
              <a:defRPr sz="1800">
                <a:solidFill>
                  <a:srgbClr val="333333"/>
                </a:solidFill>
              </a:defRPr>
            </a:pPr>
            <a:r>
              <a:t>Alright, here's our roadmap for today. We've just covered the fundamentals of crash physics and structural protection. Next, I'm going to dive deep into seatbelts - how they work, why they're so effective, and the advanced features like pretensioners and load limiters.</a:t>
            </a:r>
          </a:p>
          <a:p>
            <a:pPr>
              <a:spcAft>
                <a:spcPts val="1000"/>
              </a:spcAft>
              <a:defRPr sz="1800">
                <a:solidFill>
                  <a:srgbClr val="333333"/>
                </a:solidFill>
              </a:defRPr>
            </a:pPr>
            <a:r>
              <a:t>Then we'll move to airbags. You'll see how they deploy, the different types for different crash scenarios, and the chemistry behind the incredibly fast inflation.</a:t>
            </a:r>
          </a:p>
          <a:p>
            <a:pPr>
              <a:spcAft>
                <a:spcPts val="1000"/>
              </a:spcAft>
              <a:defRPr sz="1800">
                <a:solidFill>
                  <a:srgbClr val="333333"/>
                </a:solidFill>
              </a:defRPr>
            </a:pPr>
            <a:r>
              <a:t>After that, we'll explore the brains of the system - the airbag control unit and crash sensors. This is where we see how accelerometers detect crashes in milliseconds and decide when to deploy airbags.</a:t>
            </a:r>
          </a:p>
          <a:p>
            <a:pPr>
              <a:spcAft>
                <a:spcPts val="1000"/>
              </a:spcAft>
              <a:defRPr sz="1800">
                <a:solidFill>
                  <a:srgbClr val="333333"/>
                </a:solidFill>
              </a:defRPr>
            </a:pPr>
            <a:r>
              <a:t>We'll also cover pedestrian protection systems - how modern cars protect people outside the vehicle. And finally, we'll wrap up with safety testing standards - how organizations like NCAP rate vehicle safety.</a:t>
            </a:r>
          </a:p>
          <a:p>
            <a:pPr>
              <a:spcAft>
                <a:spcPts val="1000"/>
              </a:spcAft>
              <a:defRPr sz="1800">
                <a:solidFill>
                  <a:srgbClr val="333333"/>
                </a:solidFill>
              </a:defRPr>
            </a:pPr>
            <a:r>
              <a:t>Let's start with the single most important safety device ever invented: the seatbelt.</a:t>
            </a:r>
          </a:p>
          <a:p>
            <a:pPr>
              <a:spcAft>
                <a:spcPts val="1000"/>
              </a:spcAft>
              <a:defRPr sz="1800">
                <a:solidFill>
                  <a:srgbClr val="333333"/>
                </a:solidFill>
              </a:defRPr>
            </a:pPr>
            <a:r>
              <a:t>PPT Content:</a:t>
            </a:r>
          </a:p>
          <a:p>
            <a:pPr>
              <a:defRPr sz="1400">
                <a:solidFill>
                  <a:srgbClr val="787878"/>
                </a:solidFill>
                <a:latin typeface="Consolas"/>
              </a:defRPr>
            </a:pPr>
            <a:r>
              <a:t>TODAY'S ROADMAP</a:t>
            </a:r>
            <a:br/>
            <a:br/>
            <a:r>
              <a:t>✓ Part 1: Crash Safety Principles (Now)</a:t>
            </a:r>
            <a:br/>
            <a:r>
              <a:t>  → Crash physics and energy</a:t>
            </a:r>
            <a:br/>
            <a:r>
              <a:t>  → Crumple zones &amp; safety cage</a:t>
            </a:r>
            <a:br/>
            <a:r>
              <a:t>  → Load paths and crash types</a:t>
            </a:r>
            <a:br/>
            <a:br/>
            <a:r>
              <a:t>→ Part 2: Seatbelt Systems (Next)</a:t>
            </a:r>
            <a:br/>
            <a:r>
              <a:t>  → 3-point seatbelt operation</a:t>
            </a:r>
            <a:br/>
            <a:r>
              <a:t>  → Pretensioners and load limiters</a:t>
            </a:r>
            <a:br/>
            <a:r>
              <a:t>  → Effectiveness and biomechanics</a:t>
            </a:r>
            <a:br/>
            <a:br/>
            <a:r>
              <a:t>→ Part 3: Airbag Systems</a:t>
            </a:r>
            <a:br/>
            <a:r>
              <a:t>  → Frontal, side, curtain, knee airbags</a:t>
            </a:r>
            <a:br/>
            <a:r>
              <a:t>  → Deployment mechanism and chemistry</a:t>
            </a:r>
            <a:br/>
            <a:r>
              <a:t>  → Multi-stage and adaptive systems</a:t>
            </a:r>
            <a:br/>
            <a:br/>
            <a:r>
              <a:t>→ Part 4: Control Systems &amp; Sensors</a:t>
            </a:r>
            <a:br/>
            <a:r>
              <a:t>  → Airbag Control Unit (ACU)</a:t>
            </a:r>
            <a:br/>
            <a:r>
              <a:t>  → Crash sensors and algorithms</a:t>
            </a:r>
            <a:br/>
            <a:r>
              <a:t>  → Pedestrian protection systems</a:t>
            </a:r>
            <a:br/>
            <a:br/>
            <a:r>
              <a:t>→ Part 5: Safety Testing &amp; Standards</a:t>
            </a:r>
            <a:br/>
            <a:r>
              <a:t>  → NCAP testing protocols</a:t>
            </a:r>
            <a:br/>
            <a:r>
              <a:t>  → Safety ratings and criteria</a:t>
            </a:r>
            <a:br/>
            <a:r>
              <a:t>  → Future of passive safety</a:t>
            </a:r>
          </a:p>
          <a:p>
            <a:pPr>
              <a:spcAft>
                <a:spcPts val="1000"/>
              </a:spcAft>
              <a:defRPr sz="1800">
                <a:solidFill>
                  <a:srgbClr val="333333"/>
                </a:solidFill>
              </a:defRPr>
            </a:pPr>
            <a:r>
              <a:t>Outcomes Addressed: Setting roadmap for all SOs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PART 2: TRIGGER - "Seatbelt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7-13 | Duration: ~25 minutes | Energy Level: High (Critical Safety Device)</a:t>
            </a:r>
          </a:p>
          <a:p>
            <a:pPr>
              <a:spcAft>
                <a:spcPts val="1000"/>
              </a:spcAft>
              <a:defRPr sz="1800">
                <a:solidFill>
                  <a:srgbClr val="333333"/>
                </a:solidFill>
              </a:defRPr>
            </a:pPr>
            <a:r>
              <a:t>Story Purpose: Explain seatbelt operation and why they're the most important safety device</a:t>
            </a:r>
          </a:p>
          <a:p>
            <a:pPr>
              <a:spcAft>
                <a:spcPts val="1000"/>
              </a:spcAft>
              <a:defRPr sz="1800">
                <a:solidFill>
                  <a:srgbClr val="333333"/>
                </a:solidFill>
              </a:defRPr>
            </a:pPr>
            <a:r>
              <a:t>Teaching Mode: Mechanical explanation + statistics + biomechanics</a:t>
            </a:r>
          </a:p>
          <a:p>
            <a:pPr>
              <a:spcAft>
                <a:spcPts val="1000"/>
              </a:spcAft>
              <a:defRPr sz="1800">
                <a:solidFill>
                  <a:srgbClr val="333333"/>
                </a:solidFill>
              </a:defRPr>
            </a:pPr>
            <a:r>
              <a:t>Connection to Prior Knowledge: Forces and deceleration from crash physics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Seatbelt - Most Important Safety Device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Before we had airbags, traction control, or any electronic safety systems, we had seatbelts. And here's the remarkable fact: seatbelts alone reduce fatality risk by about 45% in frontal crashes and 50% in rollovers. No other single device comes close to this effectiveness.</a:t>
            </a:r>
          </a:p>
          <a:p>
            <a:pPr>
              <a:spcAft>
                <a:spcPts val="1000"/>
              </a:spcAft>
              <a:defRPr sz="1800">
                <a:solidFill>
                  <a:srgbClr val="333333"/>
                </a:solidFill>
              </a:defRPr>
            </a:pPr>
            <a:r>
              <a:t>Why are seatbelts so effective? Because they solve the fundamental problem in a crash: occupant restraint. Remember Newton's First Law - an object in motion stays in motion unless acted upon by a force. When your car crashes and decelerates from 50 km/h to zero in half a second, your body wants to keep moving at 50 km/h.</a:t>
            </a:r>
          </a:p>
          <a:p>
            <a:pPr>
              <a:spcAft>
                <a:spcPts val="1000"/>
              </a:spcAft>
              <a:defRPr sz="1800">
                <a:solidFill>
                  <a:srgbClr val="333333"/>
                </a:solidFill>
              </a:defRPr>
            </a:pPr>
            <a:r>
              <a:t>Without a seatbelt, you become a projectile inside the car. You'll hit the steering wheel, windshield, or dashboard at full impact speed. The deceleration happens in centimeters over hard surfaces - that's a 100g+ impact, often fatal.</a:t>
            </a:r>
          </a:p>
          <a:p>
            <a:pPr>
              <a:spcAft>
                <a:spcPts val="1000"/>
              </a:spcAft>
              <a:defRPr sz="1800">
                <a:solidFill>
                  <a:srgbClr val="333333"/>
                </a:solidFill>
              </a:defRPr>
            </a:pPr>
            <a:r>
              <a:t>With a seatbelt, your body is coupled to the car's deceleration. You decelerate at the same rate as the vehicle - 20-30g over the crumple zone distance. The seatbelt spreads this force over strong parts of your body - chest and pelvis - and extends the deceleration time. It's still violent, but survivable.</a:t>
            </a:r>
          </a:p>
          <a:p>
            <a:pPr>
              <a:spcAft>
                <a:spcPts val="1000"/>
              </a:spcAft>
              <a:defRPr sz="1800">
                <a:solidFill>
                  <a:srgbClr val="333333"/>
                </a:solidFill>
              </a:defRPr>
            </a:pPr>
            <a:r>
              <a:t>The modern 3-point seatbelt - lap belt plus diagonal shoulder belt - was invented by Volvo engineer Nils Bohlin in 1959. Volvo made the patent open to save lives. It's considered one of the most important safety innovations in history.</a:t>
            </a:r>
          </a:p>
          <a:p>
            <a:pPr>
              <a:spcAft>
                <a:spcPts val="1000"/>
              </a:spcAft>
              <a:defRPr sz="1800">
                <a:solidFill>
                  <a:srgbClr val="333333"/>
                </a:solidFill>
              </a:defRPr>
            </a:pPr>
            <a:r>
              <a:t>PPT Content:</a:t>
            </a:r>
          </a:p>
          <a:p>
            <a:pPr>
              <a:defRPr sz="1400">
                <a:solidFill>
                  <a:srgbClr val="787878"/>
                </a:solidFill>
                <a:latin typeface="Consolas"/>
              </a:defRPr>
            </a:pPr>
            <a:r>
              <a:t>THE SEATBELT: MOST IMPORTANT SAFETY DEVICE</a:t>
            </a:r>
            <a:br/>
            <a:br/>
            <a:r>
              <a:t>Effectiveness Statistics:</a:t>
            </a:r>
            <a:br/>
            <a:r>
              <a:t>• Frontal crash: 45% reduction in fatality risk</a:t>
            </a:r>
            <a:br/>
            <a:r>
              <a:t>• Side crash: 45% reduction in fatality risk</a:t>
            </a:r>
            <a:br/>
            <a:r>
              <a:t>• Rollover: 50% reduction in fatality risk (prevents ejection!)</a:t>
            </a:r>
            <a:br/>
            <a:r>
              <a:t>• Overall: Saves ~15,000 lives per year in US alone</a:t>
            </a:r>
            <a:br/>
            <a:br/>
            <a:r>
              <a:t>Problem Solved: Occupant Restraint</a:t>
            </a:r>
            <a:br/>
            <a:br/>
            <a:r>
              <a:t>WITHOUT SEATBELT:</a:t>
            </a:r>
            <a:br/>
            <a:r>
              <a:t>Crash scenario: 50 km/h → 0 in 0.5 seconds</a:t>
            </a:r>
            <a:br/>
            <a:r>
              <a:t>Vehicle decelerates: 30g (with crumple zone)</a:t>
            </a:r>
            <a:br/>
            <a:r>
              <a:t>Occupant: Continues at 50 km/h (Newton's 1st Law)</a:t>
            </a:r>
            <a:br/>
            <a:r>
              <a:t>→ Strikes steering wheel/windshield at 50 km/h</a:t>
            </a:r>
            <a:br/>
            <a:r>
              <a:t>→ Deceleration over ~5 cm contact: 100-200g</a:t>
            </a:r>
            <a:br/>
            <a:r>
              <a:t>→ Fatal injuries</a:t>
            </a:r>
            <a:br/>
            <a:br/>
            <a:r>
              <a:t>WITH SEATBELT:</a:t>
            </a:r>
            <a:br/>
            <a:r>
              <a:t>Crash scenario: Same</a:t>
            </a:r>
            <a:br/>
            <a:r>
              <a:t>Vehicle decelerates: 30g</a:t>
            </a:r>
            <a:br/>
            <a:r>
              <a:t>Occupant: Restrained by seatbelt, decelerates with vehicle</a:t>
            </a:r>
            <a:br/>
            <a:r>
              <a:t>→ Deceleration: ~30g (same as vehicle)</a:t>
            </a:r>
            <a:br/>
            <a:r>
              <a:t>→ Force distributed over chest and pelvis (strong body parts)</a:t>
            </a:r>
            <a:br/>
            <a:r>
              <a:t>→ Deceleration time: Same as vehicle (~0.5 s)</a:t>
            </a:r>
            <a:br/>
            <a:r>
              <a:t>→ Survivable injuries or no injuries</a:t>
            </a:r>
            <a:br/>
            <a:br/>
            <a:r>
              <a:t>Historical Development:</a:t>
            </a:r>
            <a:br/>
            <a:r>
              <a:t>1885: First automotive seatbelts (2-point lap belt)</a:t>
            </a:r>
            <a:br/>
            <a:r>
              <a:t>1959: 3-point seatbelt invented by Nils Bohlin (Volvo)</a:t>
            </a:r>
            <a:br/>
            <a:r>
              <a:t>1968: US federal requirement for seatbelts in all new cars</a:t>
            </a:r>
            <a:br/>
            <a:r>
              <a:t>1970s-1980s: Mandatory seatbelt laws enacted globally</a:t>
            </a:r>
            <a:br/>
            <a:r>
              <a:t>1990s: Pretensioners and load limiters added</a:t>
            </a:r>
            <a:br/>
            <a:br/>
            <a:r>
              <a:t>Why 3-Point Design?</a:t>
            </a:r>
            <a:br/>
            <a:r>
              <a:t>• Lap belt alone: Risk of "submarining" (sliding under belt) and spinal injury</a:t>
            </a:r>
            <a:br/>
            <a:r>
              <a:t>• Shoulder belt alone: No pelvic restraint, occupant rotates forward</a:t>
            </a:r>
            <a:br/>
            <a:r>
              <a:t>• 3-point (lap + diagonal shoulder): Restrains pelvis AND torso, distributes force optimally</a:t>
            </a:r>
            <a:br/>
            <a:br/>
            <a:r>
              <a:t>Force Distribution:</a:t>
            </a:r>
            <a:br/>
            <a:r>
              <a:t>Chest belt: ~2/3 of restraint force (2-4 kN typical)</a:t>
            </a:r>
            <a:br/>
            <a:r>
              <a:t>Lap belt: ~1/3 of restraint force (1-2 kN typical)</a:t>
            </a:r>
            <a:br/>
            <a:r>
              <a:t>Total force: 3-6 kN (50 km/h crash, 75 kg occupant)</a:t>
            </a:r>
            <a:br/>
            <a:r>
              <a:t>Pressure on body: Distributed over belt width (~50 mm) → 60-120 kPa (survivable)</a:t>
            </a:r>
          </a:p>
          <a:p>
            <a:pPr>
              <a:spcAft>
                <a:spcPts val="1000"/>
              </a:spcAft>
              <a:defRPr sz="1800">
                <a:solidFill>
                  <a:srgbClr val="333333"/>
                </a:solidFill>
              </a:defRPr>
            </a:pPr>
            <a:r>
              <a:t>Real-World Note:</a:t>
            </a:r>
          </a:p>
          <a:p>
            <a:pPr>
              <a:spcAft>
                <a:spcPts val="1000"/>
              </a:spcAft>
              <a:defRPr sz="1800">
                <a:solidFill>
                  <a:srgbClr val="333333"/>
                </a:solidFill>
              </a:defRPr>
            </a:pPr>
            <a:r>
              <a:t>Even with all the advanced airbags in modern cars, the seatbelt does 70% of the restraint work. Airbags are supplemental - they need seatbelts to be effective.</a:t>
            </a:r>
          </a:p>
          <a:p>
            <a:pPr>
              <a:spcAft>
                <a:spcPts val="1000"/>
              </a:spcAft>
              <a:defRPr sz="1800">
                <a:solidFill>
                  <a:srgbClr val="333333"/>
                </a:solidFill>
              </a:defRPr>
            </a:pPr>
            <a:r>
              <a:t>Outcomes Addressed: SO-6-18-2 (seatbelt effectiveness, operation basics)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3-Point Seatbelt Mechanism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Let's look at how a seatbelt actually works mechanically. The key component is the retractor - that spring-loaded spool inside the B-pillar that stores the belt webbing.</a:t>
            </a:r>
          </a:p>
          <a:p>
            <a:pPr>
              <a:spcAft>
                <a:spcPts val="1000"/>
              </a:spcAft>
              <a:defRPr sz="1800">
                <a:solidFill>
                  <a:srgbClr val="333333"/>
                </a:solidFill>
              </a:defRPr>
            </a:pPr>
            <a:r>
              <a:t>Under normal conditions, the retractor lets you pull the belt out smoothly and retracts it gently when you unbuckle. There's a constant slight tension from a spiral spring, which keeps the belt snug but comfortable.</a:t>
            </a:r>
          </a:p>
          <a:p>
            <a:pPr>
              <a:spcAft>
                <a:spcPts val="1000"/>
              </a:spcAft>
              <a:defRPr sz="1800">
                <a:solidFill>
                  <a:srgbClr val="333333"/>
                </a:solidFill>
              </a:defRPr>
            </a:pPr>
            <a:r>
              <a:t>But here's the clever part: the retractor has two locking mechanisms to stop the belt from extending during a crash.</a:t>
            </a:r>
          </a:p>
          <a:p>
            <a:pPr>
              <a:spcAft>
                <a:spcPts val="1000"/>
              </a:spcAft>
              <a:defRPr sz="1800">
                <a:solidFill>
                  <a:srgbClr val="333333"/>
                </a:solidFill>
              </a:defRPr>
            </a:pPr>
            <a:r>
              <a:t>The first is the webbing-sensitive lock, also called emergency locking. Inside the retractor is a weighted pendulum or inertia sensor. During sudden deceleration - like hard braking or a crash - this sensor swings forward and engages a pawl (a mechanical lock) that stops the spool from rotating. The belt can no longer extend. You're locked in place.</a:t>
            </a:r>
          </a:p>
          <a:p>
            <a:pPr>
              <a:spcAft>
                <a:spcPts val="1000"/>
              </a:spcAft>
              <a:defRPr sz="1800">
                <a:solidFill>
                  <a:srgbClr val="333333"/>
                </a:solidFill>
              </a:defRPr>
            </a:pPr>
            <a:r>
              <a:t>The second is vehicle-sensitive locking. A small ball or weighted mechanism inside the retractor responds to vehicle tilt or sudden motion. If the car tips beyond a certain angle - like in a rollover - or experiences sudden lateral acceleration - like in a side crash - this mechanism locks the belt. This prevents you from being thrown around during complex crash scenarios.</a:t>
            </a:r>
          </a:p>
          <a:p>
            <a:pPr>
              <a:spcAft>
                <a:spcPts val="1000"/>
              </a:spcAft>
              <a:defRPr sz="1800">
                <a:solidFill>
                  <a:srgbClr val="333333"/>
                </a:solidFill>
              </a:defRPr>
            </a:pPr>
            <a:r>
              <a:t>Some retractors also have belt-sensitive locking - if you pull the belt too quickly, it locks. That's why if you yank the seatbelt fast, it won't extend. This prevents the belt from pulling out too much if your body jerks forward slightly during normal braking.</a:t>
            </a:r>
          </a:p>
          <a:p>
            <a:pPr>
              <a:spcAft>
                <a:spcPts val="1000"/>
              </a:spcAft>
              <a:defRPr sz="1800">
                <a:solidFill>
                  <a:srgbClr val="333333"/>
                </a:solidFill>
              </a:defRPr>
            </a:pPr>
            <a:r>
              <a:t>So the seatbelt is smart - it allows free movement under normal conditions but locks instantly when it detects a crash or dangerous situation.</a:t>
            </a:r>
          </a:p>
          <a:p>
            <a:pPr>
              <a:spcAft>
                <a:spcPts val="1000"/>
              </a:spcAft>
              <a:defRPr sz="1800">
                <a:solidFill>
                  <a:srgbClr val="333333"/>
                </a:solidFill>
              </a:defRPr>
            </a:pPr>
            <a:r>
              <a:t>PPT Content:</a:t>
            </a:r>
          </a:p>
          <a:p>
            <a:pPr>
              <a:defRPr sz="1400">
                <a:solidFill>
                  <a:srgbClr val="787878"/>
                </a:solidFill>
                <a:latin typeface="Consolas"/>
              </a:defRPr>
            </a:pPr>
            <a:r>
              <a:t>3-POINT SEATBELT MECHANISM</a:t>
            </a:r>
            <a:br/>
            <a:br/>
            <a:r>
              <a:t>Key Components:</a:t>
            </a:r>
            <a:br/>
            <a:r>
              <a:t>1. Belt webbing (polyester, high tensile strength)</a:t>
            </a:r>
            <a:br/>
            <a:r>
              <a:t>2. Retractor (spool with spring and locking mechanism)</a:t>
            </a:r>
            <a:br/>
            <a:r>
              <a:t>3. Tongue (sliding buckle on belt)</a:t>
            </a:r>
            <a:br/>
            <a:r>
              <a:t>4. Buckle (latching mechanism, fixed to seat/floor)</a:t>
            </a:r>
            <a:br/>
            <a:r>
              <a:t>5. D-ring/shoulder anchor (upper attachment point on B-pillar)</a:t>
            </a:r>
            <a:br/>
            <a:r>
              <a:t>6. Lower anchor (attachment to seat frame or floor)</a:t>
            </a:r>
            <a:br/>
            <a:br/>
            <a:r>
              <a:t>Retractor Design:</a:t>
            </a:r>
            <a:br/>
            <a:r>
              <a:t>Located in: B-pillar (lower section)</a:t>
            </a:r>
            <a:br/>
            <a:r>
              <a:t>Contains:</a:t>
            </a:r>
            <a:br/>
            <a:r>
              <a:t>• Spool: Stores belt webbing (~3-4 meters)</a:t>
            </a:r>
            <a:br/>
            <a:r>
              <a:t>• Spiral spring: Retracts belt when unbuckled (~2-3 N tension)</a:t>
            </a:r>
            <a:br/>
            <a:r>
              <a:t>• Locking mechanism: Prevents belt extension during crash</a:t>
            </a:r>
            <a:br/>
            <a:br/>
            <a:r>
              <a:t>LOCKING MECHANISMS:</a:t>
            </a:r>
            <a:br/>
            <a:br/>
            <a:r>
              <a:t>1. WEBBING-SENSITIVE LOCK (Emergency Locking Retractor - ELR)</a:t>
            </a:r>
            <a:br/>
            <a:r>
              <a:t>   Sensor: Weighted pendulum or inertial mass inside retractor</a:t>
            </a:r>
            <a:br/>
            <a:r>
              <a:t>   Trigger: Sudden belt pull (rapid deceleration)</a:t>
            </a:r>
            <a:br/>
            <a:r>
              <a:t>   Threshold: ~0.3-0.4 g deceleration</a:t>
            </a:r>
            <a:br/>
            <a:br/>
            <a:r>
              <a:t>   Operation:</a:t>
            </a:r>
            <a:br/>
            <a:r>
              <a:t>   • Normal: Belt pulls out smoothly</a:t>
            </a:r>
            <a:br/>
            <a:r>
              <a:t>   • Hard braking/crash: Occupant jerks forward → Belt pulls rapidly</a:t>
            </a:r>
            <a:br/>
            <a:r>
              <a:t>   • Inertial mass swings → Engages pawl → Locks spool</a:t>
            </a:r>
            <a:br/>
            <a:r>
              <a:t>   • Belt stops extending → Occupant restrained</a:t>
            </a:r>
            <a:br/>
            <a:br/>
            <a:r>
              <a:t>   Response time: &lt;50 milliseconds</a:t>
            </a:r>
            <a:br/>
            <a:br/>
            <a:r>
              <a:t>2. VEHICLE-SENSITIVE LOCK</a:t>
            </a:r>
            <a:br/>
            <a:r>
              <a:t>   Sensor: Tilt ball or weighted mechanism</a:t>
            </a:r>
            <a:br/>
            <a:r>
              <a:t>   Trigger: Vehicle tilt beyond threshold (e.g., &gt;20° from level)</a:t>
            </a:r>
            <a:br/>
            <a:r>
              <a:t>            OR sudden vehicle deceleration</a:t>
            </a:r>
            <a:br/>
            <a:br/>
            <a:r>
              <a:t>   Operation:</a:t>
            </a:r>
            <a:br/>
            <a:r>
              <a:t>   • Level vehicle: Mechanism in neutral position</a:t>
            </a:r>
            <a:br/>
            <a:r>
              <a:t>   • Rollover/severe side crash: Vehicle tilts</a:t>
            </a:r>
            <a:br/>
            <a:r>
              <a:t>   • Ball rolls → Engages locking mechanism</a:t>
            </a:r>
            <a:br/>
            <a:r>
              <a:t>   • Belt locks → Prevents occupant from being thrown</a:t>
            </a:r>
            <a:br/>
            <a:br/>
            <a:r>
              <a:t>   Prevents: Ejection during rollover, being thrown across cabin in side impact</a:t>
            </a:r>
            <a:br/>
            <a:br/>
            <a:r>
              <a:t>3. BELT-SENSITIVE LOCK (Some Systems)</a:t>
            </a:r>
            <a:br/>
            <a:r>
              <a:t>   Trigger: Rapid belt pull (even without vehicle deceleration)</a:t>
            </a:r>
            <a:br/>
            <a:r>
              <a:t>   Threshold: Pull speed &gt;1-1.5 m/s</a:t>
            </a:r>
            <a:br/>
            <a:br/>
            <a:r>
              <a:t>   Operation:</a:t>
            </a:r>
            <a:br/>
            <a:r>
              <a:t>   • Centrifugal clutch or inertial sensor on spool</a:t>
            </a:r>
            <a:br/>
            <a:r>
              <a:t>   • Rapid pull → High spool rotation speed → Clutch engages → Lock</a:t>
            </a:r>
            <a:br/>
            <a:br/>
            <a:r>
              <a:t>   Purpose: Prevents belt from extending if occupant jerks forward during normal braking</a:t>
            </a:r>
            <a:br/>
            <a:br/>
            <a:r>
              <a:t>Material &amp; Strength:</a:t>
            </a:r>
            <a:br/>
            <a:r>
              <a:t>Belt webbing: Polyester (high strength, UV resistant)</a:t>
            </a:r>
            <a:br/>
            <a:r>
              <a:t>Width: 48-50 mm (distributes force over large area)</a:t>
            </a:r>
            <a:br/>
            <a:r>
              <a:t>Tensile strength: &gt;20 kN (can withstand forces from 75 kg occupant at 60g)</a:t>
            </a:r>
            <a:br/>
            <a:r>
              <a:t>Stitching: Reinforced, designed to fail progressively if overloaded (energy absorption)</a:t>
            </a:r>
            <a:br/>
            <a:br/>
            <a:r>
              <a:t>Force Limiting (Discussed later):</a:t>
            </a:r>
            <a:br/>
            <a:r>
              <a:t>Modern belts include load limiters to prevent excessive chest compression</a:t>
            </a:r>
          </a:p>
          <a:p>
            <a:pPr>
              <a:spcAft>
                <a:spcPts val="1000"/>
              </a:spcAft>
              <a:defRPr sz="1800">
                <a:solidFill>
                  <a:srgbClr val="333333"/>
                </a:solidFill>
              </a:defRPr>
            </a:pPr>
            <a:r>
              <a:t>Teaching Tip:</a:t>
            </a:r>
          </a:p>
          <a:p>
            <a:pPr>
              <a:spcAft>
                <a:spcPts val="1000"/>
              </a:spcAft>
              <a:defRPr sz="1800">
                <a:solidFill>
                  <a:srgbClr val="333333"/>
                </a:solidFill>
              </a:defRPr>
            </a:pPr>
            <a:r>
              <a:t>Try this in your car: pull the seatbelt slowly - it extends. Yank it quickly - it locks. That's the webbing-sensitive lock in action.</a:t>
            </a:r>
          </a:p>
          <a:p>
            <a:pPr>
              <a:spcAft>
                <a:spcPts val="1000"/>
              </a:spcAft>
              <a:defRPr sz="1800">
                <a:solidFill>
                  <a:srgbClr val="333333"/>
                </a:solidFill>
              </a:defRPr>
            </a:pPr>
            <a:r>
              <a:t>Outcomes Addressed: SO-6-18-2 (seatbelt operation, mechanical function)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Advanced Feature 1 - Pretensioners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Modern seatbelts have two advanced features that significantly improve protection. The first is the pretensioner.</a:t>
            </a:r>
          </a:p>
          <a:p>
            <a:pPr>
              <a:spcAft>
                <a:spcPts val="1000"/>
              </a:spcAft>
              <a:defRPr sz="1800">
                <a:solidFill>
                  <a:srgbClr val="333333"/>
                </a:solidFill>
              </a:defRPr>
            </a:pPr>
            <a:r>
              <a:t>Here's the problem pretensioners solve: even when buckled, there's always some slack in the seatbelt. Maybe a centimeter or two of webbing looseness, or the belt isn't pulled perfectly snug. In a crash, that slack means the occupant moves forward 5-10 cm before the belt engages fully. That's wasted crumple zone distance and allows the occupant to build up speed before being restrained.</a:t>
            </a:r>
          </a:p>
          <a:p>
            <a:pPr>
              <a:spcAft>
                <a:spcPts val="1000"/>
              </a:spcAft>
              <a:defRPr sz="1800">
                <a:solidFill>
                  <a:srgbClr val="333333"/>
                </a:solidFill>
              </a:defRPr>
            </a:pPr>
            <a:r>
              <a:t>The pretensioner eliminates this slack instantly when a crash is detected. Within the first 10-15 milliseconds of a crash - before the occupant has moved significantly - the pretensioner fires and yanks the belt tight, pulling the occupant back firmly into the seat.</a:t>
            </a:r>
          </a:p>
          <a:p>
            <a:pPr>
              <a:spcAft>
                <a:spcPts val="1000"/>
              </a:spcAft>
              <a:defRPr sz="1800">
                <a:solidFill>
                  <a:srgbClr val="333333"/>
                </a:solidFill>
              </a:defRPr>
            </a:pPr>
            <a:r>
              <a:t>How does it work? The most common type is pyrotechnic - a small explosive charge, similar to an airbag initiator. When the airbag control unit detects a crash, it sends an electrical signal to the pretensioner. The explosive detonates, driving a piston or pulling a cable that rotates the retractor spool backward, retracting the belt rapidly - typically 10-15 cm in under 10 milliseconds.</a:t>
            </a:r>
          </a:p>
          <a:p>
            <a:pPr>
              <a:spcAft>
                <a:spcPts val="1000"/>
              </a:spcAft>
              <a:defRPr sz="1800">
                <a:solidFill>
                  <a:srgbClr val="333333"/>
                </a:solidFill>
              </a:defRPr>
            </a:pPr>
            <a:r>
              <a:t>There are also mechanical pretensioners that use a pre-tensioned spring or a ball-and-tube mechanism, but pyrotechnic are most common because they're fast and powerful.</a:t>
            </a:r>
          </a:p>
          <a:p>
            <a:pPr>
              <a:spcAft>
                <a:spcPts val="1000"/>
              </a:spcAft>
              <a:defRPr sz="1800">
                <a:solidFill>
                  <a:srgbClr val="333333"/>
                </a:solidFill>
              </a:defRPr>
            </a:pPr>
            <a:r>
              <a:t>The result is that the occupant starts the crash sequence already firmly restrained, maximizing the effectiveness of both the belt and the airbag. This can reduce forward movement by 5-10 cm, which significantly reduces injury risk.</a:t>
            </a:r>
          </a:p>
          <a:p>
            <a:pPr>
              <a:spcAft>
                <a:spcPts val="1000"/>
              </a:spcAft>
              <a:defRPr sz="1800">
                <a:solidFill>
                  <a:srgbClr val="333333"/>
                </a:solidFill>
              </a:defRPr>
            </a:pPr>
            <a:r>
              <a:t>PPT Content:</a:t>
            </a:r>
          </a:p>
          <a:p>
            <a:pPr>
              <a:defRPr sz="1400">
                <a:solidFill>
                  <a:srgbClr val="787878"/>
                </a:solidFill>
                <a:latin typeface="Consolas"/>
              </a:defRPr>
            </a:pPr>
            <a:r>
              <a:t>ADVANCED FEATURE 1: PRETENSIONERS</a:t>
            </a:r>
            <a:br/>
            <a:br/>
            <a:r>
              <a:t>Problem:</a:t>
            </a:r>
            <a:br/>
            <a:r>
              <a:t>Even buckled seatbelt has slack (~2-5 cm webbing looseness)</a:t>
            </a:r>
            <a:br/>
            <a:r>
              <a:t>In crash: Occupant moves forward 5-10 cm before belt fully engages</a:t>
            </a:r>
            <a:br/>
            <a:r>
              <a:t>→ Wasted crumple zone distance</a:t>
            </a:r>
            <a:br/>
            <a:r>
              <a:t>→ Occupant builds up speed → Higher impact forces</a:t>
            </a:r>
            <a:br/>
            <a:br/>
            <a:r>
              <a:t>Solution: Pretensioner</a:t>
            </a:r>
            <a:br/>
            <a:r>
              <a:t>Instantly removes slack and pulls occupant back into seat</a:t>
            </a:r>
            <a:br/>
            <a:r>
              <a:t>Timing: Fires within 10-15 ms of crash detection (BEFORE significant occupant movement)</a:t>
            </a:r>
            <a:br/>
            <a:br/>
            <a:r>
              <a:t>PYROTECHNIC PRETENSIONER (Most Common):</a:t>
            </a:r>
            <a:br/>
            <a:br/>
            <a:r>
              <a:t>Components:</a:t>
            </a:r>
            <a:br/>
            <a:r>
              <a:t>• Pyrotechnic gas generator (small explosive charge, similar to airbag)</a:t>
            </a:r>
            <a:br/>
            <a:r>
              <a:t>• Piston or cable mechanism</a:t>
            </a:r>
            <a:br/>
            <a:r>
              <a:t>• Attached to retractor spool or belt anchor</a:t>
            </a:r>
            <a:br/>
            <a:br/>
            <a:r>
              <a:t>Operation Sequence:</a:t>
            </a:r>
            <a:br/>
            <a:r>
              <a:t>1. Crash detected by Airbag Control Unit (ACU)</a:t>
            </a:r>
            <a:br/>
            <a:r>
              <a:t>2. ACU sends electrical trigger signal to pretensioner squib</a:t>
            </a:r>
            <a:br/>
            <a:r>
              <a:t>3. Explosive charge detonates (~5-10 ms after crash starts)</a:t>
            </a:r>
            <a:br/>
            <a:r>
              <a:t>4. Gas pressure drives piston OR pulls cable</a:t>
            </a:r>
            <a:br/>
            <a:r>
              <a:t>5. Mechanism rotates retractor spool backward (retracts belt)</a:t>
            </a:r>
            <a:br/>
            <a:r>
              <a:t>6. Belt retracts 10-15 cm in &lt;10 ms</a:t>
            </a:r>
            <a:br/>
            <a:r>
              <a:t>7. Occupant pulled firmly into seat</a:t>
            </a:r>
            <a:br/>
            <a:r>
              <a:t>8. Slack eliminated, belt fully engaged</a:t>
            </a:r>
            <a:br/>
            <a:br/>
            <a:r>
              <a:t>Performance:</a:t>
            </a:r>
            <a:br/>
            <a:r>
              <a:t>Retraction distance: 10-15 cm</a:t>
            </a:r>
            <a:br/>
            <a:r>
              <a:t>Retraction force: 300-500 N (strong pull, you'd feel it)</a:t>
            </a:r>
            <a:br/>
            <a:r>
              <a:t>Activation time: 5-10 ms (almost instant)</a:t>
            </a:r>
            <a:br/>
            <a:r>
              <a:t>One-time use: After deployment, must replace seatbelt assembly</a:t>
            </a:r>
            <a:br/>
            <a:br/>
            <a:r>
              <a:t>MECHANICAL PRETENSIONER (Alternative Design):</a:t>
            </a:r>
            <a:br/>
            <a:r>
              <a:t>• Uses pre-tensioned spring or ball-and-tube mechanism</a:t>
            </a:r>
            <a:br/>
            <a:r>
              <a:t>• Triggered mechanically by crash deceleration</a:t>
            </a:r>
            <a:br/>
            <a:r>
              <a:t>• No pyrotechnics (no electrical signal needed)</a:t>
            </a:r>
            <a:br/>
            <a:r>
              <a:t>• Slower response (~20-30 ms) but simpler</a:t>
            </a:r>
            <a:br/>
            <a:br/>
            <a:r>
              <a:t>DUAL PRETENSIONERS (Advanced Systems):</a:t>
            </a:r>
            <a:br/>
            <a:r>
              <a:t>Some vehicles have two pretensioners per belt:</a:t>
            </a:r>
            <a:br/>
            <a:r>
              <a:t>• Buckle pretensioner: Pulls lap belt portion</a:t>
            </a:r>
            <a:br/>
            <a:r>
              <a:t>• Retractor pretensioner: Pulls shoulder belt portion</a:t>
            </a:r>
            <a:br/>
            <a:r>
              <a:t>→ Optimal restraint in multiple directions</a:t>
            </a:r>
            <a:br/>
            <a:br/>
            <a:r>
              <a:t>Effectiveness:</a:t>
            </a:r>
            <a:br/>
            <a:r>
              <a:t>Reduces forward occupant displacement by 5-10 cm</a:t>
            </a:r>
            <a:br/>
            <a:r>
              <a:t>Reduces chest injury risk by ~10-15% (combined with load limiters)</a:t>
            </a:r>
            <a:br/>
            <a:r>
              <a:t>Ensures occupant is in optimal position for airbag deployment</a:t>
            </a:r>
            <a:br/>
            <a:br/>
            <a:r>
              <a:t>Integration with Airbag System:</a:t>
            </a:r>
            <a:br/>
            <a:r>
              <a:t>Pretensioners fire at same time as airbags (controlled by ACU)</a:t>
            </a:r>
            <a:br/>
            <a:r>
              <a:t>Crash severity threshold: Typically &gt;15-20 km/h delta-v (frontal)</a:t>
            </a:r>
            <a:br/>
            <a:r>
              <a:t>Side impact: Side pretensioners may fire in side crashes</a:t>
            </a:r>
            <a:br/>
            <a:br/>
            <a:r>
              <a:t>Post-Deployment:</a:t>
            </a:r>
            <a:br/>
            <a:r>
              <a:t>Pretensioner is single-use (explosive is consumed)</a:t>
            </a:r>
            <a:br/>
            <a:r>
              <a:t>Seatbelt assembly must be replaced after crash (cost: ~₹5,000-15,000)</a:t>
            </a:r>
            <a:br/>
            <a:r>
              <a:t>Visual indicator: Often a visible tag/pin that deploys to show pretensioner fired</a:t>
            </a:r>
          </a:p>
          <a:p>
            <a:pPr>
              <a:spcAft>
                <a:spcPts val="1000"/>
              </a:spcAft>
              <a:defRPr sz="1800">
                <a:solidFill>
                  <a:srgbClr val="333333"/>
                </a:solidFill>
              </a:defRPr>
            </a:pPr>
            <a:r>
              <a:t>Safety Note:</a:t>
            </a:r>
          </a:p>
          <a:p>
            <a:pPr>
              <a:spcAft>
                <a:spcPts val="1000"/>
              </a:spcAft>
              <a:defRPr sz="1800">
                <a:solidFill>
                  <a:srgbClr val="333333"/>
                </a:solidFill>
              </a:defRPr>
            </a:pPr>
            <a:r>
              <a:t>Pretensioners contain explosives. Never disassemble a seatbelt retractor. After a crash where pretensioners fired, the entire seatbelt assembly must be replaced.</a:t>
            </a:r>
          </a:p>
          <a:p>
            <a:pPr>
              <a:spcAft>
                <a:spcPts val="1000"/>
              </a:spcAft>
              <a:defRPr sz="1800">
                <a:solidFill>
                  <a:srgbClr val="333333"/>
                </a:solidFill>
              </a:defRPr>
            </a:pPr>
            <a:r>
              <a:t>Outcomes Addressed: SO-6-18-2 (pretensioners operation)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Advanced Feature 2 - Load Limiters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The second advanced feature is the load limiter, and it seems to contradict what I just said about keeping you firmly restrained. Here's the paradox: we want the belt to hold you tightly, but not TOO tightly.</a:t>
            </a:r>
          </a:p>
          <a:p>
            <a:pPr>
              <a:spcAft>
                <a:spcPts val="1000"/>
              </a:spcAft>
              <a:defRPr sz="1800">
                <a:solidFill>
                  <a:srgbClr val="333333"/>
                </a:solidFill>
              </a:defRPr>
            </a:pPr>
            <a:r>
              <a:t>In a severe crash, the seatbelt can exert huge forces on your chest - potentially 6-8 kN or more. That's 600-800 kg of force concentrated across a 5 cm wide belt on your ribcage. This can cause rib fractures, internal organ damage, or in extreme cases, chest crush injuries.</a:t>
            </a:r>
          </a:p>
          <a:p>
            <a:pPr>
              <a:spcAft>
                <a:spcPts val="1000"/>
              </a:spcAft>
              <a:defRPr sz="1800">
                <a:solidFill>
                  <a:srgbClr val="333333"/>
                </a:solidFill>
              </a:defRPr>
            </a:pPr>
            <a:r>
              <a:t>The load limiter solves this by allowing controlled belt extension when forces exceed a safe threshold. Think of it like a safety valve. Once the belt tension exceeds about 4-5 kN - which is the maximum force a human chest can safely tolerate - the load limiter mechanism activates and lets the belt pay out slightly.</a:t>
            </a:r>
          </a:p>
          <a:p>
            <a:pPr>
              <a:spcAft>
                <a:spcPts val="1000"/>
              </a:spcAft>
              <a:defRPr sz="1800">
                <a:solidFill>
                  <a:srgbClr val="333333"/>
                </a:solidFill>
              </a:defRPr>
            </a:pPr>
            <a:r>
              <a:t>The most common design is a torsion bar - a metal rod inside the retractor that twists under high torque. When belt tension exceeds the threshold, the torsion bar begins to deform plastically, allowing the spool to rotate slightly. The belt extends maybe 5-10 cm, absorbing energy through the torsion bar's deformation.</a:t>
            </a:r>
          </a:p>
          <a:p>
            <a:pPr>
              <a:spcAft>
                <a:spcPts val="1000"/>
              </a:spcAft>
              <a:defRPr sz="1800">
                <a:solidFill>
                  <a:srgbClr val="333333"/>
                </a:solidFill>
              </a:defRPr>
            </a:pPr>
            <a:r>
              <a:t>This does allow the occupant to move forward a bit more than with a rigid belt, but it prevents chest injury. It's a carefully calibrated trade-off: we limit peak forces to safe levels while still keeping the occupant restrained enough to avoid hitting hard surfaces.</a:t>
            </a:r>
          </a:p>
          <a:p>
            <a:pPr>
              <a:spcAft>
                <a:spcPts val="1000"/>
              </a:spcAft>
              <a:defRPr sz="1800">
                <a:solidFill>
                  <a:srgbClr val="333333"/>
                </a:solidFill>
              </a:defRPr>
            </a:pPr>
            <a:r>
              <a:t>Advanced systems have adaptive load limiters that adjust the threshold based on crash severity, occupant size (detected by seat sensors), and belt usage. For example, a lighter occupant might get a lower threshold (3 kN) while a heavier occupant tolerates a higher threshold (5 kN).</a:t>
            </a:r>
          </a:p>
          <a:p>
            <a:pPr>
              <a:spcAft>
                <a:spcPts val="1000"/>
              </a:spcAft>
              <a:defRPr sz="1800">
                <a:solidFill>
                  <a:srgbClr val="333333"/>
                </a:solidFill>
              </a:defRPr>
            </a:pPr>
            <a:r>
              <a:t>PPT Content:</a:t>
            </a:r>
          </a:p>
          <a:p>
            <a:pPr>
              <a:defRPr sz="1400">
                <a:solidFill>
                  <a:srgbClr val="787878"/>
                </a:solidFill>
                <a:latin typeface="Consolas"/>
              </a:defRPr>
            </a:pPr>
            <a:r>
              <a:t>ADVANCED FEATURE 2: LOAD LIMITERS</a:t>
            </a:r>
            <a:br/>
            <a:br/>
            <a:r>
              <a:t>Problem:</a:t>
            </a:r>
            <a:br/>
            <a:r>
              <a:t>High belt forces in severe crashes → Chest injury</a:t>
            </a:r>
            <a:br/>
            <a:r>
              <a:t>Peak belt force without limiting: 6-10 kN (severe frontal crash)</a:t>
            </a:r>
            <a:br/>
            <a:r>
              <a:t>Human tolerance: ~4-5 kN maximum (chest compression limit)</a:t>
            </a:r>
            <a:br/>
            <a:r>
              <a:t>Risk: Rib fractures, sternum fracture, internal organ damage</a:t>
            </a:r>
            <a:br/>
            <a:br/>
            <a:r>
              <a:t>Solution: Load Limiter</a:t>
            </a:r>
            <a:br/>
            <a:r>
              <a:t>Allows controlled belt extension when force exceeds safe threshold</a:t>
            </a:r>
            <a:br/>
            <a:r>
              <a:t>Limits peak force to ~4-5 kN (calibrated for safety)</a:t>
            </a:r>
            <a:br/>
            <a:br/>
            <a:r>
              <a:t>TORSION BAR LOAD LIMITER (Most Common):</a:t>
            </a:r>
            <a:br/>
            <a:br/>
            <a:r>
              <a:t>Components:</a:t>
            </a:r>
            <a:br/>
            <a:r>
              <a:t>• Torsion bar: Metal rod inside retractor, designed to twist under high load</a:t>
            </a:r>
            <a:br/>
            <a:r>
              <a:t>• Connected to spool: Spool rotation → Torsion bar twists</a:t>
            </a:r>
            <a:br/>
            <a:r>
              <a:t>• Calibrated yield point: Begins to deform at target force (e.g., 4 kN)</a:t>
            </a:r>
            <a:br/>
            <a:br/>
            <a:r>
              <a:t>Operation:</a:t>
            </a:r>
            <a:br/>
            <a:r>
              <a:t>1. Crash begins, belt restrains occupant</a:t>
            </a:r>
            <a:br/>
            <a:r>
              <a:t>2. Belt tension rises as occupant loads belt (2 kN... 3 kN... 4 kN...)</a:t>
            </a:r>
            <a:br/>
            <a:r>
              <a:t>3. At threshold (e.g., 4 kN): Torsion bar begins plastic deformation (permanent twist)</a:t>
            </a:r>
            <a:br/>
            <a:r>
              <a:t>4. Belt pays out slightly as spool rotates (torsion bar twisting)</a:t>
            </a:r>
            <a:br/>
            <a:r>
              <a:t>5. Force plateaus at threshold level (doesn't exceed 4-5 kN)</a:t>
            </a:r>
            <a:br/>
            <a:r>
              <a:t>6. Occupant continues moving forward slowly, but force limited</a:t>
            </a:r>
            <a:br/>
            <a:r>
              <a:t>7. Energy absorbed by torsion bar deformation</a:t>
            </a:r>
            <a:br/>
            <a:br/>
            <a:r>
              <a:t>Performance:</a:t>
            </a:r>
            <a:br/>
            <a:r>
              <a:t>Force threshold: 3-5 kN (varies by vehicle, occupant detection)</a:t>
            </a:r>
            <a:br/>
            <a:r>
              <a:t>Extension distance: 5-15 cm (depending on crash severity)</a:t>
            </a:r>
            <a:br/>
            <a:r>
              <a:t>Energy absorbed: 200-600 J (force × distance)</a:t>
            </a:r>
            <a:br/>
            <a:br/>
            <a:r>
              <a:t>Force-Displacement Curve:</a:t>
            </a:r>
            <a:br/>
            <a:r>
              <a:t>[Graph showing]</a:t>
            </a:r>
            <a:br/>
            <a:r>
              <a:t>Force (kN)</a:t>
            </a:r>
            <a:br/>
            <a:r>
              <a:t>  5 ┤     _________________ Load limiting plateau</a:t>
            </a:r>
            <a:br/>
            <a:r>
              <a:t>  4 ┤    /</a:t>
            </a:r>
            <a:br/>
            <a:r>
              <a:t>  3 ┤   /</a:t>
            </a:r>
            <a:br/>
            <a:r>
              <a:t>  2 ┤  /</a:t>
            </a:r>
            <a:br/>
            <a:r>
              <a:t>  1 ┤ /</a:t>
            </a:r>
            <a:br/>
            <a:r>
              <a:t>  0 ┴──────────────────────</a:t>
            </a:r>
            <a:br/>
            <a:r>
              <a:t>    0   5   10  15  20  (cm) Belt extension</a:t>
            </a:r>
            <a:br/>
            <a:br/>
            <a:r>
              <a:t>ALTERNATIVE DESIGNS:</a:t>
            </a:r>
            <a:br/>
            <a:br/>
            <a:r>
              <a:t>Stitched Seam:</a:t>
            </a:r>
            <a:br/>
            <a:r>
              <a:t>• Reinforced stitching on belt webbing</a:t>
            </a:r>
            <a:br/>
            <a:r>
              <a:t>• Stitches rip progressively at target force</a:t>
            </a:r>
            <a:br/>
            <a:r>
              <a:t>• Belt extends as stitches fail</a:t>
            </a:r>
            <a:br/>
            <a:r>
              <a:t>• Simple, low-cost, but less precise</a:t>
            </a:r>
            <a:br/>
            <a:br/>
            <a:r>
              <a:t>Yielding Element:</a:t>
            </a:r>
            <a:br/>
            <a:r>
              <a:t>• Deformable metal element in load path</a:t>
            </a:r>
            <a:br/>
            <a:r>
              <a:t>• Bends/tears at threshold force</a:t>
            </a:r>
            <a:br/>
            <a:r>
              <a:t>• Similar concept to torsion bar</a:t>
            </a:r>
            <a:br/>
            <a:br/>
            <a:r>
              <a:t>ADAPTIVE LOAD LIMITING (Advanced):</a:t>
            </a:r>
            <a:br/>
            <a:r>
              <a:t>Adjusts threshold based on:</a:t>
            </a:r>
            <a:br/>
            <a:r>
              <a:t>• Crash severity (detected by ACU)</a:t>
            </a:r>
            <a:br/>
            <a:r>
              <a:t>• Occupant weight (detected by seat sensor)</a:t>
            </a:r>
            <a:br/>
            <a:r>
              <a:t>• Seat position (closer to dashboard → lower threshold)</a:t>
            </a:r>
            <a:br/>
            <a:r>
              <a:t>• Belt usage (if unbuckled, no load limiting relevant)</a:t>
            </a:r>
            <a:br/>
            <a:br/>
            <a:r>
              <a:t>Example:</a:t>
            </a:r>
            <a:br/>
            <a:r>
              <a:t>Small occupant (50 kg): Threshold 3 kN</a:t>
            </a:r>
            <a:br/>
            <a:r>
              <a:t>Average occupant (75 kg): Threshold 4 kN</a:t>
            </a:r>
            <a:br/>
            <a:r>
              <a:t>Large occupant (100 kg): Threshold 5 kN</a:t>
            </a:r>
            <a:br/>
            <a:br/>
            <a:r>
              <a:t>Effectiveness:</a:t>
            </a:r>
            <a:br/>
            <a:r>
              <a:t>Reduces chest injury (AIS 3+) by ~20-30%</a:t>
            </a:r>
            <a:br/>
            <a:r>
              <a:t>Trade-off: Slight increase in forward displacement (+5-10 cm)</a:t>
            </a:r>
            <a:br/>
            <a:r>
              <a:t>Net benefit: Significant injury reduction (chest injuries more severe than head contact with airbag)</a:t>
            </a:r>
            <a:br/>
            <a:br/>
            <a:r>
              <a:t>Integration with Pretensioners:</a:t>
            </a:r>
            <a:br/>
            <a:r>
              <a:t>Sequence in crash:</a:t>
            </a:r>
            <a:br/>
            <a:r>
              <a:t>1. Pretensioner fires (10 ms): Removes slack, pulls occupant back</a:t>
            </a:r>
            <a:br/>
            <a:r>
              <a:t>2. Belt engages and loads (20-50 ms): Force rises</a:t>
            </a:r>
            <a:br/>
            <a:r>
              <a:t>3. Load limiter activates (if force exceeds threshold): Limits peak force</a:t>
            </a:r>
            <a:br/>
            <a:r>
              <a:t>4. Airbag deploys (30-50 ms): Cushions forward motion</a:t>
            </a:r>
            <a:br/>
            <a:br/>
            <a:r>
              <a:t>System Working Together:</a:t>
            </a:r>
            <a:br/>
            <a:r>
              <a:t>Pretensioner: Eliminates slack, optimizes initial restraint</a:t>
            </a:r>
            <a:br/>
            <a:r>
              <a:t>Load limiter: Prevents excessive force, protects chest</a:t>
            </a:r>
            <a:br/>
            <a:r>
              <a:t>Airbag: Cushions head, distributes contact forces</a:t>
            </a:r>
            <a:br/>
            <a:r>
              <a:t>→ Complete occupant restraint system</a:t>
            </a:r>
          </a:p>
          <a:p>
            <a:pPr>
              <a:spcAft>
                <a:spcPts val="1000"/>
              </a:spcAft>
              <a:defRPr sz="1800">
                <a:solidFill>
                  <a:srgbClr val="333333"/>
                </a:solidFill>
              </a:defRPr>
            </a:pPr>
            <a:r>
              <a:t>Analogy:</a:t>
            </a:r>
          </a:p>
          <a:p>
            <a:pPr>
              <a:spcAft>
                <a:spcPts val="1000"/>
              </a:spcAft>
              <a:defRPr sz="1800">
                <a:solidFill>
                  <a:srgbClr val="333333"/>
                </a:solidFill>
              </a:defRPr>
            </a:pPr>
            <a:r>
              <a:t>Think of load limiters like a shock absorber. Just as a shock absorber allows controlled compression to smooth out bumps, a load limiter allows controlled belt extension to smooth out crash forces on your body.</a:t>
            </a:r>
          </a:p>
          <a:p>
            <a:pPr>
              <a:spcAft>
                <a:spcPts val="1000"/>
              </a:spcAft>
              <a:defRPr sz="1800">
                <a:solidFill>
                  <a:srgbClr val="333333"/>
                </a:solidFill>
              </a:defRPr>
            </a:pPr>
            <a:r>
              <a:t>Outcomes Addressed: SO-6-18-2 (load limiters operation, effectiveness)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Seatbelt Effectiveness &amp; Biomechanics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Let me summarize why seatbelts are so effective from a biomechanics perspective.</a:t>
            </a:r>
          </a:p>
          <a:p>
            <a:pPr>
              <a:spcAft>
                <a:spcPts val="1000"/>
              </a:spcAft>
              <a:defRPr sz="1800">
                <a:solidFill>
                  <a:srgbClr val="333333"/>
                </a:solidFill>
              </a:defRPr>
            </a:pPr>
            <a:r>
              <a:t>The human body can tolerate large forces if they're distributed over strong structures and applied over sufficient time. The seatbelt does both.</a:t>
            </a:r>
          </a:p>
          <a:p>
            <a:pPr>
              <a:spcAft>
                <a:spcPts val="1000"/>
              </a:spcAft>
              <a:defRPr sz="1800">
                <a:solidFill>
                  <a:srgbClr val="333333"/>
                </a:solidFill>
              </a:defRPr>
            </a:pPr>
            <a:r>
              <a:t>It distributes forces over the chest and pelvis - these are strong skeletal structures that can handle loads. The belt width (5 cm) spreads the force over a large area, reducing pressure. Compare this to hitting a steering wheel where the force is concentrated on a small area - that causes localized fractures and organ damage.</a:t>
            </a:r>
          </a:p>
          <a:p>
            <a:pPr>
              <a:spcAft>
                <a:spcPts val="1000"/>
              </a:spcAft>
              <a:defRPr sz="1800">
                <a:solidFill>
                  <a:srgbClr val="333333"/>
                </a:solidFill>
              </a:defRPr>
            </a:pPr>
            <a:r>
              <a:t>The belt also extends the deceleration time. By coupling you to the vehicle's crumple zone deceleration, you slow down over 0.5 seconds instead of the 0.01 seconds it would take to hit the dashboard. That 50× time increase reduces peak forces by a factor of 50.</a:t>
            </a:r>
          </a:p>
          <a:p>
            <a:pPr>
              <a:spcAft>
                <a:spcPts val="1000"/>
              </a:spcAft>
              <a:defRPr sz="1800">
                <a:solidFill>
                  <a:srgbClr val="333333"/>
                </a:solidFill>
              </a:defRPr>
            </a:pPr>
            <a:r>
              <a:t>With modern pretensioners and load limiters, we've optimized both timing and force levels. Pretensioners engage you early when forces are lower. Load limiters cap peak forces at safe levels. The result is that seatbelts can protect occupants in crashes up to 50-60 km/h with relatively minor injuries.</a:t>
            </a:r>
          </a:p>
          <a:p>
            <a:pPr>
              <a:spcAft>
                <a:spcPts val="1000"/>
              </a:spcAft>
              <a:defRPr sz="1800">
                <a:solidFill>
                  <a:srgbClr val="333333"/>
                </a:solidFill>
              </a:defRPr>
            </a:pPr>
            <a:r>
              <a:t>The statistics bear this out: in modern cars with advanced seatbelt systems, belted occupants have a &gt;95% survival rate in frontal crashes up to 50 km/h.</a:t>
            </a:r>
          </a:p>
          <a:p>
            <a:pPr>
              <a:spcAft>
                <a:spcPts val="1000"/>
              </a:spcAft>
              <a:defRPr sz="1800">
                <a:solidFill>
                  <a:srgbClr val="333333"/>
                </a:solidFill>
              </a:defRPr>
            </a:pPr>
            <a:r>
              <a:t>PPT Content:</a:t>
            </a:r>
          </a:p>
          <a:p>
            <a:pPr>
              <a:defRPr sz="1400">
                <a:solidFill>
                  <a:srgbClr val="787878"/>
                </a:solidFill>
                <a:latin typeface="Consolas"/>
              </a:defRPr>
            </a:pPr>
            <a:r>
              <a:t>SEATBELT EFFECTIVENESS &amp; BIOMECHANICS</a:t>
            </a:r>
            <a:br/>
            <a:br/>
            <a:r>
              <a:t>Force Distribution:</a:t>
            </a:r>
            <a:br/>
            <a:r>
              <a:t>3-point belt contacts:</a:t>
            </a:r>
            <a:br/>
            <a:r>
              <a:t>• Shoulder/chest: Diagonal belt across clavicle, sternum, ribs (~60-70% of force)</a:t>
            </a:r>
            <a:br/>
            <a:r>
              <a:t>• Pelvis/hips: Lap belt across iliac crest (pelvic bones) (~30-40% of force)</a:t>
            </a:r>
            <a:br/>
            <a:br/>
            <a:r>
              <a:t>Both areas: Strong skeletal structures (can tolerate high loads)</a:t>
            </a:r>
            <a:br/>
            <a:r>
              <a:t>Belt width: 48-50 mm (distributes force, reduces pressure)</a:t>
            </a:r>
            <a:br/>
            <a:br/>
            <a:r>
              <a:t>Pressure Calculation:</a:t>
            </a:r>
            <a:br/>
            <a:r>
              <a:t>Force: 4,000 N (with load limiter)</a:t>
            </a:r>
            <a:br/>
            <a:r>
              <a:t>Belt width: 50 mm, contact length: 200 mm (chest), 150 mm (lap)</a:t>
            </a:r>
            <a:br/>
            <a:r>
              <a:t>Chest pressure: 4,000 × 0.6 / (0.05 × 0.2) = 240 kPa (tolerable)</a:t>
            </a:r>
            <a:br/>
            <a:r>
              <a:t>Lap pressure: 4,000 × 0.4 / (0.05 × 0.15) = 213 kPa (tolerable)</a:t>
            </a:r>
            <a:br/>
            <a:br/>
            <a:r>
              <a:t>Compare: Point impact (steering wheel, 50 mm diameter)</a:t>
            </a:r>
            <a:br/>
            <a:r>
              <a:t>Same force: 4,000 N / (π × 0.025²) = 2,037 kPa (10× higher! → Fractures)</a:t>
            </a:r>
            <a:br/>
            <a:br/>
            <a:r>
              <a:t>Deceleration Time Extension:</a:t>
            </a:r>
            <a:br/>
            <a:r>
              <a:t>Without belt: Hit dashboard, deceleration over ~5 cm in ~0.01 s → 100g</a:t>
            </a:r>
            <a:br/>
            <a:r>
              <a:t>With belt: Decelerate with vehicle over ~70 cm in ~0.5 s → 30g</a:t>
            </a:r>
            <a:br/>
            <a:r>
              <a:t>→ 3× reduction in peak deceleration</a:t>
            </a:r>
            <a:br/>
            <a:br/>
            <a:r>
              <a:t>Injury Risk by Speed (Modern 3-Point Belt with Pretensioner &amp; Load Limiter):</a:t>
            </a:r>
            <a:br/>
            <a:r>
              <a:t>• 30 km/h: Minor/no injury (&gt;98% survival)</a:t>
            </a:r>
            <a:br/>
            <a:r>
              <a:t>• 50 km/h: Moderate injury possible (95-97% survival)</a:t>
            </a:r>
            <a:br/>
            <a:r>
              <a:t>• 70 km/h: Serious injury likely (80-85% survival)</a:t>
            </a:r>
            <a:br/>
            <a:r>
              <a:t>• 90 km/h: Severe/fatal injury likely (50-60% survival)</a:t>
            </a:r>
            <a:br/>
            <a:r>
              <a:t>• &gt;100 km/h: Fatal injury very likely (&lt;30% survival)</a:t>
            </a:r>
            <a:br/>
            <a:br/>
            <a:r>
              <a:t>Survival rates assume: Frontal crash, modern vehicle, airbag deployment</a:t>
            </a:r>
            <a:br/>
            <a:br/>
            <a:r>
              <a:t>Usage Statistics (Global):</a:t>
            </a:r>
            <a:br/>
            <a:r>
              <a:t>Front seat belt usage: ~85-90% (varies by country, laws)</a:t>
            </a:r>
            <a:br/>
            <a:r>
              <a:t>Rear seat belt usage: ~60-75% (lower than front)</a:t>
            </a:r>
            <a:br/>
            <a:r>
              <a:t>Unbelted occupants: 10× higher fatality risk</a:t>
            </a:r>
            <a:br/>
            <a:br/>
            <a:r>
              <a:t>Common Injuries (Even with Seatbelt):</a:t>
            </a:r>
            <a:br/>
            <a:r>
              <a:t>• Clavicle (collarbone) fracture: Diagonal belt loading</a:t>
            </a:r>
            <a:br/>
            <a:r>
              <a:t>• Rib fractures: Chest compression (especially without load limiter)</a:t>
            </a:r>
            <a:br/>
            <a:r>
              <a:t>• Seatbelt sign: Bruising across chest/abdomen (indicates high loads)</a:t>
            </a:r>
            <a:br/>
            <a:r>
              <a:t>• Abdominal injuries: Improper lap belt placement (over stomach, not pelvis)</a:t>
            </a:r>
            <a:br/>
            <a:br/>
            <a:r>
              <a:t>Proper Belt Positioning (Critical for Effectiveness):</a:t>
            </a:r>
            <a:br/>
            <a:r>
              <a:t>✓ Lap belt: LOW across pelvis (hip bones), NOT across stomach</a:t>
            </a:r>
            <a:br/>
            <a:r>
              <a:t>✓ Shoulder belt: Across chest, over clavicle, NOT across neck</a:t>
            </a:r>
            <a:br/>
            <a:r>
              <a:t>✓ Belt snug: Remove slack (pretensioner helps)</a:t>
            </a:r>
            <a:br/>
            <a:r>
              <a:t>✓ Seat upright: Reclined seats reduce belt effectiveness</a:t>
            </a:r>
            <a:br/>
            <a:r>
              <a:t>✗ Belt under arm: Bypasses shoulder belt (very dangerous!)</a:t>
            </a:r>
            <a:br/>
            <a:r>
              <a:t>✗ Belt behind back: No restraint (fatal)</a:t>
            </a:r>
            <a:br/>
            <a:br/>
            <a:r>
              <a:t>Special Populations:</a:t>
            </a:r>
            <a:br/>
            <a:r>
              <a:t>• Pregnant: Lap belt BELOW abdomen, shoulder belt between breasts</a:t>
            </a:r>
            <a:br/>
            <a:r>
              <a:t>• Children: Booster seat until belt fits properly (~12 years old)</a:t>
            </a:r>
            <a:br/>
            <a:r>
              <a:t>• Obese: May need belt extender (proper fit critical)</a:t>
            </a:r>
          </a:p>
          <a:p>
            <a:pPr>
              <a:spcAft>
                <a:spcPts val="1000"/>
              </a:spcAft>
              <a:defRPr sz="1800">
                <a:solidFill>
                  <a:srgbClr val="333333"/>
                </a:solidFill>
              </a:defRPr>
            </a:pPr>
            <a:r>
              <a:t>Outcomes Addressed: SO-6-18-2 (seatbelt effectiveness, biomechanics)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Seatbelt Reminder &amp; Enforcement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Despite overwhelming evidence of seatbelt effectiveness, about 10-15% of people still don't buckle up. That's why modern vehicles have seatbelt reminder systems.</a:t>
            </a:r>
          </a:p>
          <a:p>
            <a:pPr>
              <a:spcAft>
                <a:spcPts val="1000"/>
              </a:spcAft>
              <a:defRPr sz="1800">
                <a:solidFill>
                  <a:srgbClr val="333333"/>
                </a:solidFill>
              </a:defRPr>
            </a:pPr>
            <a:r>
              <a:t>The simplest version is a warning light on the dashboard and a chime that sounds if you start driving without buckling. This uses a buckle switch - a simple sensor in the belt buckle that detects when the tongue is inserted.</a:t>
            </a:r>
          </a:p>
          <a:p>
            <a:pPr>
              <a:spcAft>
                <a:spcPts val="1000"/>
              </a:spcAft>
              <a:defRPr sz="1800">
                <a:solidFill>
                  <a:srgbClr val="333333"/>
                </a:solidFill>
              </a:defRPr>
            </a:pPr>
            <a:r>
              <a:t>Advanced systems also have seat occupancy sensors - weight sensors in the seats that detect if someone is sitting there. This allows the system to remind passengers, not just the driver. Some systems escalate the warning - starting with a gentle chime, then a continuous beep, then even limiting vehicle speed.</a:t>
            </a:r>
          </a:p>
          <a:p>
            <a:pPr>
              <a:spcAft>
                <a:spcPts val="1000"/>
              </a:spcAft>
              <a:defRPr sz="1800">
                <a:solidFill>
                  <a:srgbClr val="333333"/>
                </a:solidFill>
              </a:defRPr>
            </a:pPr>
            <a:r>
              <a:t>In some markets, regulations require all seating positions to have belt reminder systems. Studies show these reminders increase belt usage by 5-10 percentage points, which translates to hundreds of lives saved annually.</a:t>
            </a:r>
          </a:p>
          <a:p>
            <a:pPr>
              <a:spcAft>
                <a:spcPts val="1000"/>
              </a:spcAft>
              <a:defRPr sz="1800">
                <a:solidFill>
                  <a:srgbClr val="333333"/>
                </a:solidFill>
              </a:defRPr>
            </a:pPr>
            <a:r>
              <a:t>There's also an integration with the airbag system: if the ACU detects an unbuckled occupant, it may adjust airbag deployment to compensate - though an airbag without a seatbelt is far less effective and can even cause injury.</a:t>
            </a:r>
          </a:p>
          <a:p>
            <a:pPr>
              <a:spcAft>
                <a:spcPts val="1000"/>
              </a:spcAft>
              <a:defRPr sz="1800">
                <a:solidFill>
                  <a:srgbClr val="333333"/>
                </a:solidFill>
              </a:defRPr>
            </a:pPr>
            <a:r>
              <a:t>PPT Content:</a:t>
            </a:r>
          </a:p>
          <a:p>
            <a:pPr>
              <a:defRPr sz="1400">
                <a:solidFill>
                  <a:srgbClr val="787878"/>
                </a:solidFill>
                <a:latin typeface="Consolas"/>
              </a:defRPr>
            </a:pPr>
            <a:r>
              <a:t>SEATBELT REMINDER &amp; ENFORCEMENT SYSTEMS</a:t>
            </a:r>
            <a:br/>
            <a:br/>
            <a:r>
              <a:t>Buckle Switch:</a:t>
            </a:r>
            <a:br/>
            <a:r>
              <a:t>• Location: Inside seatbelt buckle</a:t>
            </a:r>
            <a:br/>
            <a:r>
              <a:t>• Type: Simple electrical contact switch</a:t>
            </a:r>
            <a:br/>
            <a:r>
              <a:t>• Function: Detects when belt tongue is inserted</a:t>
            </a:r>
            <a:br/>
            <a:r>
              <a:t>• Output: Signal to body control module / instrument cluster</a:t>
            </a:r>
            <a:br/>
            <a:br/>
            <a:r>
              <a:t>Seat Occupancy Sensor:</a:t>
            </a:r>
            <a:br/>
            <a:r>
              <a:t>• Location: Seat cushion (pressure mat or weight sensor)</a:t>
            </a:r>
            <a:br/>
            <a:r>
              <a:t>• Function: Detects if seat is occupied</a:t>
            </a:r>
            <a:br/>
            <a:r>
              <a:t>• Weight threshold: ~5-10 kg (distinguishes person from objects)</a:t>
            </a:r>
            <a:br/>
            <a:r>
              <a:t>• Output: Signal to occupant classification system</a:t>
            </a:r>
            <a:br/>
            <a:br/>
            <a:r>
              <a:t>Reminder System Operation:</a:t>
            </a:r>
            <a:br/>
            <a:r>
              <a:t>1. Ignition on, vehicle started</a:t>
            </a:r>
            <a:br/>
            <a:r>
              <a:t>2. System checks: Buckle switch + Occupancy sensor</a:t>
            </a:r>
            <a:br/>
            <a:r>
              <a:t>3. If occupied AND unbuckled:</a:t>
            </a:r>
            <a:br/>
            <a:r>
              <a:t>   → Warning light on dashboard (belt symbol)</a:t>
            </a:r>
            <a:br/>
            <a:r>
              <a:t>   → Audible chime (ding... ding... ding...)</a:t>
            </a:r>
            <a:br/>
            <a:r>
              <a:t>4. If buckled: Warning clears</a:t>
            </a:r>
            <a:br/>
            <a:r>
              <a:t>5. If unbuckled while driving (speed &gt;20 km/h):</a:t>
            </a:r>
            <a:br/>
            <a:r>
              <a:t>   → Escalating warning (louder, continuous beep)</a:t>
            </a:r>
            <a:br/>
            <a:br/>
            <a:r>
              <a:t>Advanced Features:</a:t>
            </a:r>
            <a:br/>
            <a:r>
              <a:t>• Passenger reminder: Separate warnings for all seating positions</a:t>
            </a:r>
            <a:br/>
            <a:r>
              <a:t>• Escalating alerts: Increase intensity over time</a:t>
            </a:r>
            <a:br/>
            <a:r>
              <a:t>• Speed limitation: Some systems limit speed to 20-30 km/h if unbuckled</a:t>
            </a:r>
            <a:br/>
            <a:r>
              <a:t>• Visual warnings: Seat icons showing which belts are unbuckled</a:t>
            </a:r>
            <a:br/>
            <a:br/>
            <a:r>
              <a:t>Regulations:</a:t>
            </a:r>
            <a:br/>
            <a:r>
              <a:t>• EU: Mandatory front seat belt reminders (since 2000s)</a:t>
            </a:r>
            <a:br/>
            <a:r>
              <a:t>• US (FMVSS 208): Front seat reminders required</a:t>
            </a:r>
            <a:br/>
            <a:r>
              <a:t>• Some markets: Rear seat reminders required</a:t>
            </a:r>
            <a:br/>
            <a:br/>
            <a:r>
              <a:t>Effectiveness:</a:t>
            </a:r>
            <a:br/>
            <a:r>
              <a:t>Belt usage increase: 5-10% (from reminders)</a:t>
            </a:r>
            <a:br/>
            <a:r>
              <a:t>Lives saved: Hundreds annually per market</a:t>
            </a:r>
            <a:br/>
            <a:br/>
            <a:r>
              <a:t>Integration with Airbag System:</a:t>
            </a:r>
            <a:br/>
            <a:r>
              <a:t>Unbuckled status sent to ACU (Airbag Control Unit)</a:t>
            </a:r>
            <a:br/>
            <a:r>
              <a:t>ACU may adjust deployment:</a:t>
            </a:r>
            <a:br/>
            <a:r>
              <a:t>• Delay deployment (occupant farther from airbag)</a:t>
            </a:r>
            <a:br/>
            <a:r>
              <a:t>• Reduce deployment force (reduce airbag injury risk)</a:t>
            </a:r>
            <a:br/>
            <a:r>
              <a:t>• Multi-stage: Use lower-power stage</a:t>
            </a:r>
            <a:br/>
            <a:r>
              <a:t>Still: Airbag effectiveness reduced ~50% without belt!</a:t>
            </a:r>
          </a:p>
          <a:p>
            <a:pPr>
              <a:spcAft>
                <a:spcPts val="1000"/>
              </a:spcAft>
              <a:defRPr sz="1800">
                <a:solidFill>
                  <a:srgbClr val="333333"/>
                </a:solidFill>
              </a:defRPr>
            </a:pPr>
            <a:r>
              <a:t>Outcomes Addressed: SO-6-18-2 (seatbelt systems integration)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Summary - Seatbelt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2 minutes</a:t>
            </a:r>
          </a:p>
          <a:p>
            <a:pPr>
              <a:spcAft>
                <a:spcPts val="1000"/>
              </a:spcAft>
              <a:defRPr sz="1800">
                <a:solidFill>
                  <a:srgbClr val="333333"/>
                </a:solidFill>
              </a:defRPr>
            </a:pPr>
            <a:r>
              <a:t>Instructor Narrative:</a:t>
            </a:r>
          </a:p>
          <a:p>
            <a:pPr>
              <a:spcAft>
                <a:spcPts val="1000"/>
              </a:spcAft>
              <a:defRPr sz="1800">
                <a:solidFill>
                  <a:srgbClr val="333333"/>
                </a:solidFill>
              </a:defRPr>
            </a:pPr>
            <a:r>
              <a:t>Let's recap seatbelts before we move to airbags.</a:t>
            </a:r>
          </a:p>
          <a:p>
            <a:pPr>
              <a:spcAft>
                <a:spcPts val="1000"/>
              </a:spcAft>
              <a:defRPr sz="1800">
                <a:solidFill>
                  <a:srgbClr val="333333"/>
                </a:solidFill>
              </a:defRPr>
            </a:pPr>
            <a:r>
              <a:t>The 3-point seatbelt is the most important safety device, reducing fatality risk by ~45-50%. It restrains the occupant using strong body structures - chest and pelvis - and couples the occupant to the vehicle's controlled deceleration.</a:t>
            </a:r>
          </a:p>
          <a:p>
            <a:pPr>
              <a:spcAft>
                <a:spcPts val="1000"/>
              </a:spcAft>
              <a:defRPr sz="1800">
                <a:solidFill>
                  <a:srgbClr val="333333"/>
                </a:solidFill>
              </a:defRPr>
            </a:pPr>
            <a:r>
              <a:t>The retractor has locking mechanisms - webbing-sensitive and vehicle-sensitive - that engage during crashes to prevent belt extension.</a:t>
            </a:r>
          </a:p>
          <a:p>
            <a:pPr>
              <a:spcAft>
                <a:spcPts val="1000"/>
              </a:spcAft>
              <a:defRPr sz="1800">
                <a:solidFill>
                  <a:srgbClr val="333333"/>
                </a:solidFill>
              </a:defRPr>
            </a:pPr>
            <a:r>
              <a:t>Modern belts add pretensioners that fire pyrotechnically within 10 ms to eliminate slack and pull the occupant firmly into the seat. This optimizes the starting position for crash deceleration.</a:t>
            </a:r>
          </a:p>
          <a:p>
            <a:pPr>
              <a:spcAft>
                <a:spcPts val="1000"/>
              </a:spcAft>
              <a:defRPr sz="1800">
                <a:solidFill>
                  <a:srgbClr val="333333"/>
                </a:solidFill>
              </a:defRPr>
            </a:pPr>
            <a:r>
              <a:t>Load limiters allow controlled belt extension once forces exceed safe thresholds (4-5 kN), preventing chest injuries while still providing restraint.</a:t>
            </a:r>
          </a:p>
          <a:p>
            <a:pPr>
              <a:spcAft>
                <a:spcPts val="1000"/>
              </a:spcAft>
              <a:defRPr sz="1800">
                <a:solidFill>
                  <a:srgbClr val="333333"/>
                </a:solidFill>
              </a:defRPr>
            </a:pPr>
            <a:r>
              <a:t>Together, these systems provide highly effective occupant protection. But seatbelts alone have limitations - they primarily protect the torso, and the head can still whip forward and contact the steering wheel or dashboard. That's where airbags come in, which we'll cover next.</a:t>
            </a:r>
          </a:p>
          <a:p>
            <a:pPr>
              <a:spcAft>
                <a:spcPts val="1000"/>
              </a:spcAft>
              <a:defRPr sz="1800">
                <a:solidFill>
                  <a:srgbClr val="333333"/>
                </a:solidFill>
              </a:defRPr>
            </a:pPr>
            <a:r>
              <a:t>PPT Content:</a:t>
            </a:r>
          </a:p>
          <a:p>
            <a:pPr>
              <a:defRPr sz="1400">
                <a:solidFill>
                  <a:srgbClr val="787878"/>
                </a:solidFill>
                <a:latin typeface="Consolas"/>
              </a:defRPr>
            </a:pPr>
            <a:r>
              <a:t>SUMMARY: SEATBELT SYSTEMS</a:t>
            </a:r>
            <a:br/>
            <a:br/>
            <a:r>
              <a:t>Key Components:</a:t>
            </a:r>
            <a:br/>
            <a:r>
              <a:t>✓ 3-point belt: Lap + diagonal shoulder belt</a:t>
            </a:r>
            <a:br/>
            <a:r>
              <a:t>✓ Retractor: Locking mechanism (webbing-sensitive, vehicle-sensitive)</a:t>
            </a:r>
            <a:br/>
            <a:r>
              <a:t>✓ Pretensioner: Eliminates slack in first 10 ms (pyrotechnic)</a:t>
            </a:r>
            <a:br/>
            <a:r>
              <a:t>✓ Load limiter: Caps peak force at 4-5 kN (torsion bar)</a:t>
            </a:r>
            <a:br/>
            <a:r>
              <a:t>✓ Buckle &amp; tongue: Latching mechanism with sensor</a:t>
            </a:r>
            <a:br/>
            <a:br/>
            <a:r>
              <a:t>Operation Sequence in Crash:</a:t>
            </a:r>
            <a:br/>
            <a:r>
              <a:t>1. Crash detected (ACU senses deceleration)</a:t>
            </a:r>
            <a:br/>
            <a:r>
              <a:t>2. Pretensioner fires (10 ms): Belt retracts, removes slack</a:t>
            </a:r>
            <a:br/>
            <a:r>
              <a:t>3. Retractor locks: Prevents belt extension</a:t>
            </a:r>
            <a:br/>
            <a:r>
              <a:t>4. Occupant loads belt (20-50 ms): Force increases</a:t>
            </a:r>
            <a:br/>
            <a:r>
              <a:t>5. Load limiter activates (if needed): Limits peak force to safe level</a:t>
            </a:r>
            <a:br/>
            <a:r>
              <a:t>6. Belt restrains occupant throughout crash (0-100 ms)</a:t>
            </a:r>
            <a:br/>
            <a:br/>
            <a:r>
              <a:t>Effectiveness:</a:t>
            </a:r>
            <a:br/>
            <a:r>
              <a:t>• 45% reduction in frontal crash fatalities</a:t>
            </a:r>
            <a:br/>
            <a:r>
              <a:t>• 50% reduction in rollover fatalities</a:t>
            </a:r>
            <a:br/>
            <a:r>
              <a:t>• &gt;95% survival in 50 km/h crashes (modern vehicles)</a:t>
            </a:r>
            <a:br/>
            <a:br/>
            <a:r>
              <a:t>Critical Success Factors:</a:t>
            </a:r>
            <a:br/>
            <a:r>
              <a:t>✓ Proper positioning (lap belt on pelvis, shoulder belt on chest)</a:t>
            </a:r>
            <a:br/>
            <a:r>
              <a:t>✓ Belt snugly worn (no slack)</a:t>
            </a:r>
            <a:br/>
            <a:r>
              <a:t>✓ Seat upright (not reclined)</a:t>
            </a:r>
            <a:br/>
            <a:r>
              <a:t>✓ Every occupant, every trip</a:t>
            </a:r>
            <a:br/>
            <a:br/>
            <a:r>
              <a:t>Limitations:</a:t>
            </a:r>
            <a:br/>
            <a:r>
              <a:t>• Head protection: Limited (head can still move forward)</a:t>
            </a:r>
            <a:br/>
            <a:r>
              <a:t>• Side impact: Less effective (less belt coverage on sides)</a:t>
            </a:r>
            <a:br/>
            <a:r>
              <a:t>• Requires occupant to buckle up (compliance issue)</a:t>
            </a:r>
            <a:br/>
            <a:br/>
            <a:r>
              <a:t>→ Airbags supplement seatbelts to address these limitations</a:t>
            </a:r>
            <a:br/>
            <a:br/>
            <a:r>
              <a:t>Next: Airbag Systems</a:t>
            </a:r>
          </a:p>
          <a:p>
            <a:pPr>
              <a:spcAft>
                <a:spcPts val="1000"/>
              </a:spcAft>
              <a:defRPr sz="1800">
                <a:solidFill>
                  <a:srgbClr val="333333"/>
                </a:solidFill>
              </a:defRPr>
            </a:pPr>
            <a:r>
              <a:t>Outcomes Addressed: SO-6-18-2 (complete)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PART 3: RISING ACTION - "Airbag Systems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Slides 14-19 | Duration: ~20 minutes | Energy Level: Medium-High (Technology Deep Dive)</a:t>
            </a:r>
          </a:p>
          <a:p>
            <a:pPr>
              <a:spcAft>
                <a:spcPts val="1000"/>
              </a:spcAft>
              <a:defRPr sz="1800">
                <a:solidFill>
                  <a:srgbClr val="333333"/>
                </a:solidFill>
              </a:defRPr>
            </a:pPr>
            <a:r>
              <a:t>Story Purpose: Explain airbag types, deployment mechanism, and chemistry</a:t>
            </a:r>
          </a:p>
          <a:p>
            <a:pPr>
              <a:spcAft>
                <a:spcPts val="1000"/>
              </a:spcAft>
              <a:defRPr sz="1800">
                <a:solidFill>
                  <a:srgbClr val="333333"/>
                </a:solidFill>
              </a:defRPr>
            </a:pPr>
            <a:r>
              <a:t>Teaching Mode: Technical explanation + multi-scenario coverage</a:t>
            </a:r>
          </a:p>
          <a:p>
            <a:pPr>
              <a:spcAft>
                <a:spcPts val="1000"/>
              </a:spcAft>
              <a:defRPr sz="1800">
                <a:solidFill>
                  <a:srgbClr val="333333"/>
                </a:solidFill>
              </a:defRPr>
            </a:pPr>
            <a:r>
              <a:t>Connection to Prior Knowledge: Seatbelt systems, crash deceleration from previous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Airbag Fundamentals - Purpose &amp; Physics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Timing: 3 minutes</a:t>
            </a:r>
          </a:p>
          <a:p>
            <a:pPr>
              <a:spcAft>
                <a:spcPts val="1000"/>
              </a:spcAft>
              <a:defRPr sz="1800">
                <a:solidFill>
                  <a:srgbClr val="333333"/>
                </a:solidFill>
              </a:defRPr>
            </a:pPr>
            <a:r>
              <a:t>Instructor Narrative:</a:t>
            </a:r>
          </a:p>
          <a:p>
            <a:pPr>
              <a:spcAft>
                <a:spcPts val="1000"/>
              </a:spcAft>
              <a:defRPr sz="1800">
                <a:solidFill>
                  <a:srgbClr val="333333"/>
                </a:solidFill>
              </a:defRPr>
            </a:pPr>
            <a:r>
              <a:t>Now let's talk about airbags - the supplemental restraint system. The key word is 'supplemental' - airbags are designed to work WITH seatbelts, not replace them.</a:t>
            </a:r>
          </a:p>
          <a:p>
            <a:pPr>
              <a:spcAft>
                <a:spcPts val="1000"/>
              </a:spcAft>
              <a:defRPr sz="1800">
                <a:solidFill>
                  <a:srgbClr val="333333"/>
                </a:solidFill>
              </a:defRPr>
            </a:pPr>
            <a:r>
              <a:t>Here's what airbags do: they cushion the head and upper body contact that would otherwise occur with hard surfaces like the steering wheel, dashboard, or door panel. Even with a seatbelt, your head and upper torso move forward significantly in a crash. Without an airbag, your head would decelerate violently when it hits the steering wheel - maybe 100g or more over a few centimeters.</a:t>
            </a:r>
          </a:p>
          <a:p>
            <a:pPr>
              <a:spcAft>
                <a:spcPts val="1000"/>
              </a:spcAft>
              <a:defRPr sz="1800">
                <a:solidFill>
                  <a:srgbClr val="333333"/>
                </a:solidFill>
              </a:defRPr>
            </a:pPr>
            <a:r>
              <a:t>The airbag provides a cushion - a gas-filled bag that your head contacts instead. This contact happens over a larger area (the whole airbag surface) and the airbag deflates as you compress it, extending the deceleration time. The result is much lower peak forces - maybe 30-40g instead of 100g.</a:t>
            </a:r>
          </a:p>
          <a:p>
            <a:pPr>
              <a:spcAft>
                <a:spcPts val="1000"/>
              </a:spcAft>
              <a:defRPr sz="1800">
                <a:solidFill>
                  <a:srgbClr val="333333"/>
                </a:solidFill>
              </a:defRPr>
            </a:pPr>
            <a:r>
              <a:t>But here's the engineering challenge: the airbag must fully inflate BEFORE the occupant contacts it. In a 50 km/h crash, the occupant's head moves forward at about 14 m/s. It reaches the steering wheel in about 60-70 milliseconds. So the airbag must detect the crash, make a deployment decision, and fully inflate in less than 50 milliseconds!</a:t>
            </a:r>
          </a:p>
          <a:p>
            <a:pPr>
              <a:spcAft>
                <a:spcPts val="1000"/>
              </a:spcAft>
              <a:defRPr sz="1800">
                <a:solidFill>
                  <a:srgbClr val="333333"/>
                </a:solidFill>
              </a:defRPr>
            </a:pPr>
            <a:r>
              <a:t>This is one of the fastest mechanical systems in any vehicle. To achieve this, airbags use pyrotechnic gas generators - a chemical reaction that produces massive volumes of gas almost instantaneously. We'll look at the chemistry in detail in a moment.</a:t>
            </a:r>
          </a:p>
          <a:p>
            <a:pPr>
              <a:spcAft>
                <a:spcPts val="1000"/>
              </a:spcAft>
              <a:defRPr sz="1800">
                <a:solidFill>
                  <a:srgbClr val="333333"/>
                </a:solidFill>
              </a:defRPr>
            </a:pPr>
            <a:r>
              <a:t>PPT Content:</a:t>
            </a:r>
          </a:p>
          <a:p>
            <a:pPr>
              <a:defRPr sz="1400">
                <a:solidFill>
                  <a:srgbClr val="787878"/>
                </a:solidFill>
                <a:latin typeface="Consolas"/>
              </a:defRPr>
            </a:pPr>
            <a:r>
              <a:t>AIRBAG FUNDAMENTALS: PURPOSE &amp; PHYSICS</a:t>
            </a:r>
            <a:br/>
            <a:br/>
            <a:r>
              <a:t>Problem Solved: Head &amp; Torso Contact with Hard Surfaces</a:t>
            </a:r>
            <a:br/>
            <a:br/>
            <a:r>
              <a:t>Even with Seatbelt:</a:t>
            </a:r>
            <a:br/>
            <a:r>
              <a:t>• Torso restrained, but head continues moving forward (neck flexes)</a:t>
            </a:r>
            <a:br/>
            <a:r>
              <a:t>• In 50 km/h crash: Head moves forward ~30-40 cm before fully stopped</a:t>
            </a:r>
            <a:br/>
            <a:r>
              <a:t>• Without airbag: Head impacts steering wheel/dashboard</a:t>
            </a:r>
            <a:br/>
            <a:r>
              <a:t>  → Contact area: Small (~50-100 cm²)</a:t>
            </a:r>
            <a:br/>
            <a:r>
              <a:t>  → Deceleration distance: 2-5 cm</a:t>
            </a:r>
            <a:br/>
            <a:r>
              <a:t>  → Deceleration: 80-120g</a:t>
            </a:r>
            <a:br/>
            <a:r>
              <a:t>  → Result: Severe head/facial injuries, often fatal</a:t>
            </a:r>
            <a:br/>
            <a:br/>
            <a:r>
              <a:t>With Airbag:</a:t>
            </a:r>
            <a:br/>
            <a:r>
              <a:t>• Head contacts inflated airbag (soft, gas-filled cushion)</a:t>
            </a:r>
            <a:br/>
            <a:r>
              <a:t>  → Contact area: Large (~1,000-2,000 cm²)</a:t>
            </a:r>
            <a:br/>
            <a:r>
              <a:t>  → Deceleration distance: 10-15 cm (airbag compresses and deflates)</a:t>
            </a:r>
            <a:br/>
            <a:r>
              <a:t>  → Deceleration: 30-40g</a:t>
            </a:r>
            <a:br/>
            <a:r>
              <a:t>  → Result: Minor injuries or no injury</a:t>
            </a:r>
            <a:br/>
            <a:br/>
            <a:r>
              <a:t>Energy Absorption Mechanism:</a:t>
            </a:r>
            <a:br/>
            <a:r>
              <a:t>Airbag is NOT a rigid pillow!</a:t>
            </a:r>
            <a:br/>
            <a:r>
              <a:t>• Inflated with gas (~60-70 liters for driver airbag)</a:t>
            </a:r>
            <a:br/>
            <a:r>
              <a:t>• Vents: Small holes allow controlled gas escape during compression</a:t>
            </a:r>
            <a:br/>
            <a:r>
              <a:t>• As head compresses airbag: Gas vents out → Absorbs energy</a:t>
            </a:r>
            <a:br/>
            <a:r>
              <a:t>• Progressive deflation: Extends deceleration time</a:t>
            </a:r>
            <a:br/>
            <a:br/>
            <a:r>
              <a:t>Timing Challenge:</a:t>
            </a:r>
            <a:br/>
            <a:r>
              <a:t>50 km/h crash:</a:t>
            </a:r>
            <a:br/>
            <a:r>
              <a:t>• Occupant head velocity: ~14 m/s</a:t>
            </a:r>
            <a:br/>
            <a:r>
              <a:t>• Distance to steering wheel: ~0.6 m (typical)</a:t>
            </a:r>
            <a:br/>
            <a:r>
              <a:t>• Time to contact: 0.6 / 14 ≈ 0.043 s = 43 ms</a:t>
            </a:r>
            <a:br/>
            <a:br/>
            <a:r>
              <a:t>Airbag deployment must complete BEFORE contact:</a:t>
            </a:r>
            <a:br/>
            <a:r>
              <a:t>Required timeline:</a:t>
            </a:r>
            <a:br/>
            <a:r>
              <a:t>• Crash detection: 0-5 ms</a:t>
            </a:r>
            <a:br/>
            <a:r>
              <a:t>• Deployment decision: 5-10 ms</a:t>
            </a:r>
            <a:br/>
            <a:r>
              <a:t>• Inflation: 10-40 ms</a:t>
            </a:r>
            <a:br/>
            <a:r>
              <a:t>• Full inflation: &lt;40 ms total</a:t>
            </a:r>
            <a:br/>
            <a:r>
              <a:t>→ Just in time!</a:t>
            </a:r>
            <a:br/>
            <a:br/>
            <a:r>
              <a:t>Deployment Sequence (Frontal Crash):</a:t>
            </a:r>
            <a:br/>
            <a:r>
              <a:t>  0 ms: Impact begins</a:t>
            </a:r>
            <a:br/>
            <a:r>
              <a:t>  5 ms: Sensors detect crash, ACU processes</a:t>
            </a:r>
            <a:br/>
            <a:r>
              <a:t> 10 ms: Deployment decision made, seatbelt pretensioner fires</a:t>
            </a:r>
            <a:br/>
            <a:r>
              <a:t> 15 ms: Airbag initiator fires, gas generation begins</a:t>
            </a:r>
            <a:br/>
            <a:r>
              <a:t> 30 ms: Airbag 50% inflated</a:t>
            </a:r>
            <a:br/>
            <a:r>
              <a:t> 40 ms: Airbag fully inflated (60-70 L)</a:t>
            </a:r>
            <a:br/>
            <a:r>
              <a:t> 50 ms: Occupant contacts airbag</a:t>
            </a:r>
            <a:br/>
            <a:r>
              <a:t> 80 ms: Maximum airbag compression</a:t>
            </a:r>
            <a:br/>
            <a:r>
              <a:t>120 ms: Occupant rebounds, airbag mostly deflated</a:t>
            </a:r>
            <a:br/>
            <a:br/>
            <a:r>
              <a:t>Speed: One of fastest mechanical systems in vehicle!</a:t>
            </a:r>
            <a:br/>
            <a:br/>
            <a:r>
              <a:t>Effectiveness:</a:t>
            </a:r>
            <a:br/>
            <a:r>
              <a:t>Frontal crashes: 20-30% additional fatality reduction (beyond seatbelt alone)</a:t>
            </a:r>
            <a:br/>
            <a:r>
              <a:t>Combined (seatbelt + airbag): ~60-65% total fatality reduction vs. unrestrained</a:t>
            </a:r>
            <a:br/>
            <a:br/>
            <a:r>
              <a:t>Critical: Airbags REQUIRE seatbelts to be effective</a:t>
            </a:r>
            <a:br/>
            <a:r>
              <a:t>• Without belt: Occupant contacts airbag at high speed → Airbag injury risk</a:t>
            </a:r>
            <a:br/>
            <a:r>
              <a:t>• Airbag designed for belted occupant kinematics</a:t>
            </a:r>
          </a:p>
          <a:p>
            <a:pPr>
              <a:spcAft>
                <a:spcPts val="1000"/>
              </a:spcAft>
              <a:defRPr sz="1800">
                <a:solidFill>
                  <a:srgbClr val="333333"/>
                </a:solidFill>
              </a:defRPr>
            </a:pPr>
            <a:r>
              <a:t>Real-World Example:</a:t>
            </a:r>
          </a:p>
          <a:p>
            <a:pPr>
              <a:spcAft>
                <a:spcPts val="1000"/>
              </a:spcAft>
              <a:defRPr sz="1800">
                <a:solidFill>
                  <a:srgbClr val="333333"/>
                </a:solidFill>
              </a:defRPr>
            </a:pPr>
            <a:r>
              <a:t>Airbag deployment is faster than you can blink. A blink takes 100-150 ms. The airbag is fully inflated and deflating before you even realize the crash is happening.</a:t>
            </a:r>
          </a:p>
          <a:p>
            <a:pPr>
              <a:spcAft>
                <a:spcPts val="1000"/>
              </a:spcAft>
              <a:defRPr sz="1800">
                <a:solidFill>
                  <a:srgbClr val="333333"/>
                </a:solidFill>
              </a:defRPr>
            </a:pPr>
            <a:r>
              <a:t>Outcomes Addressed: SO-6-18-3 (airbag operation basics, deployment timing)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Part 1 - Slides 1-14 created]</a:t>
            </a:r>
          </a:p>
          <a:p>
            <a:pPr>
              <a:spcAft>
                <a:spcPts val="1000"/>
              </a:spcAft>
              <a:defRPr sz="1800">
                <a:solidFill>
                  <a:srgbClr val="333333"/>
                </a:solidFill>
              </a:defRPr>
            </a:pPr>
            <a:r>
              <a:t>INSTRUCTOR NOTE: This is Part 1 of the Session 18 framework. Part 2 will continue with Slides 15-30, covering:</a:t>
            </a:r>
          </a:p>
          <a:p>
            <a:pPr>
              <a:spcAft>
                <a:spcPts val="600"/>
              </a:spcAft>
              <a:defRPr sz="1800">
                <a:solidFill>
                  <a:srgbClr val="333333"/>
                </a:solidFill>
              </a:defRPr>
            </a:pPr>
            <a:r>
              <a:t>Slide 15-16: Frontal Airbag Systems &amp; Deployment Chemistry</a:t>
            </a:r>
          </a:p>
          <a:p>
            <a:pPr>
              <a:spcAft>
                <a:spcPts val="600"/>
              </a:spcAft>
              <a:defRPr sz="1800">
                <a:solidFill>
                  <a:srgbClr val="333333"/>
                </a:solidFill>
              </a:defRPr>
            </a:pPr>
            <a:r>
              <a:t>Slide 17-19: Side, Curtain, and Knee Airbags</a:t>
            </a:r>
          </a:p>
          <a:p>
            <a:pPr>
              <a:spcAft>
                <a:spcPts val="600"/>
              </a:spcAft>
              <a:defRPr sz="1800">
                <a:solidFill>
                  <a:srgbClr val="333333"/>
                </a:solidFill>
              </a:defRPr>
            </a:pPr>
            <a:r>
              <a:t>Slide 20-26: Airbag Control Unit, Crash Sensors, and Pedestrian Protection (Part 4)</a:t>
            </a:r>
          </a:p>
          <a:p>
            <a:pPr>
              <a:spcAft>
                <a:spcPts val="600"/>
              </a:spcAft>
              <a:defRPr sz="1800">
                <a:solidFill>
                  <a:srgbClr val="333333"/>
                </a:solidFill>
              </a:defRPr>
            </a:pPr>
            <a:r>
              <a:t>Slide 27-30: Safety Testing Standards and Integration (Part 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18 FRAMEWORK - PART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