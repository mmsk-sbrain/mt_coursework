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11: Steering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Steering Systems</a:t>
            </a:r>
          </a:p>
        </p:txBody>
      </p:sp>
      <p:sp>
        <p:nvSpPr>
          <p:cNvPr id="3" name="Subtitle 2"/>
          <p:cNvSpPr>
            <a:spLocks noGrp="1"/>
          </p:cNvSpPr>
          <p:nvPr>
            <p:ph type="subTitle" idx="1"/>
          </p:nvPr>
        </p:nvSpPr>
        <p:spPr/>
        <p:txBody>
          <a:bodyPr/>
          <a:lstStyle/>
          <a:p>
            <a:pPr>
              <a:defRPr sz="2000">
                <a:solidFill>
                  <a:srgbClr val="FFFFFF"/>
                </a:solidFill>
              </a:defRPr>
            </a:pPr>
            <a:r>
              <a:t>Session 11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 Slide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Welcome to Session 11: Steering Systems. Today, we're going to solve one of the most elegant geometric problems in automotive engineering—how to make a vehicle turn smoothly when all four wheels are traveling in different circles.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Fundamental Steering Challenge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 me show you the problem we need to solve.</a:t>
            </a:r>
          </a:p>
          <a:p>
            <a:pPr>
              <a:spcAft>
                <a:spcPts val="1000"/>
              </a:spcAft>
              <a:defRPr sz="1800">
                <a:solidFill>
                  <a:srgbClr val="333333"/>
                </a:solidFill>
              </a:defRPr>
            </a:pPr>
            <a:r>
              <a:t>When a car turns, imagine looking at it from above. The inside front wheel is traveling in the smallest circle. The outside front wheel is traveling in a larger circle. The rear wheels are on even larger circles.</a:t>
            </a:r>
          </a:p>
          <a:p>
            <a:pPr>
              <a:spcAft>
                <a:spcPts val="1000"/>
              </a:spcAft>
              <a:defRPr sz="1800">
                <a:solidFill>
                  <a:srgbClr val="333333"/>
                </a:solidFill>
              </a:defRPr>
            </a:pPr>
            <a:r>
              <a:t>The Problem: If all wheels pointed in exactly the same direction during a turn, what would happen?</a:t>
            </a:r>
          </a:p>
          <a:p>
            <a:pPr>
              <a:spcAft>
                <a:spcPts val="1000"/>
              </a:spcAft>
              <a:defRPr sz="1800">
                <a:solidFill>
                  <a:srgbClr val="333333"/>
                </a:solidFill>
              </a:defRPr>
            </a:pPr>
            <a:r>
              <a:t>[PAUSE for student thinking]</a:t>
            </a:r>
          </a:p>
          <a:p>
            <a:pPr>
              <a:spcAft>
                <a:spcPts val="1000"/>
              </a:spcAft>
              <a:defRPr sz="1800">
                <a:solidFill>
                  <a:srgbClr val="333333"/>
                </a:solidFill>
              </a:defRPr>
            </a:pPr>
            <a:r>
              <a:t>The tires would scrub against the road surface. They'd be fighting each other. This creates:</a:t>
            </a:r>
          </a:p>
          <a:p>
            <a:pPr>
              <a:spcAft>
                <a:spcPts val="600"/>
              </a:spcAft>
              <a:defRPr sz="1800">
                <a:solidFill>
                  <a:srgbClr val="333333"/>
                </a:solidFill>
              </a:defRPr>
            </a:pPr>
            <a:r>
              <a:t>Tire wear</a:t>
            </a:r>
          </a:p>
          <a:p>
            <a:pPr>
              <a:spcAft>
                <a:spcPts val="600"/>
              </a:spcAft>
              <a:defRPr sz="1800">
                <a:solidFill>
                  <a:srgbClr val="333333"/>
                </a:solidFill>
              </a:defRPr>
            </a:pPr>
            <a:r>
              <a:t>Increased steering effort</a:t>
            </a:r>
          </a:p>
          <a:p>
            <a:pPr>
              <a:spcAft>
                <a:spcPts val="600"/>
              </a:spcAft>
              <a:defRPr sz="1800">
                <a:solidFill>
                  <a:srgbClr val="333333"/>
                </a:solidFill>
              </a:defRPr>
            </a:pPr>
            <a:r>
              <a:t>Reduced grip (bad for cornering!)</a:t>
            </a:r>
          </a:p>
          <a:p>
            <a:pPr>
              <a:spcAft>
                <a:spcPts val="600"/>
              </a:spcAft>
              <a:defRPr sz="1800">
                <a:solidFill>
                  <a:srgbClr val="333333"/>
                </a:solidFill>
              </a:defRPr>
            </a:pPr>
            <a:r>
              <a:t>Poor handling feel</a:t>
            </a:r>
          </a:p>
          <a:p>
            <a:pPr>
              <a:spcAft>
                <a:spcPts val="1000"/>
              </a:spcAft>
              <a:defRPr sz="1800">
                <a:solidFill>
                  <a:srgbClr val="333333"/>
                </a:solidFill>
              </a:defRPr>
            </a:pPr>
            <a:r>
              <a:t>So we need a geometric solution where each wheel points in exactly the right direction for its particular circular path.</a:t>
            </a:r>
          </a:p>
          <a:p>
            <a:pPr>
              <a:spcAft>
                <a:spcPts val="1000"/>
              </a:spcAft>
              <a:defRPr sz="1800">
                <a:solidFill>
                  <a:srgbClr val="333333"/>
                </a:solidFill>
              </a:defRPr>
            </a:pPr>
            <a:r>
              <a:t>KEY INSIGHT BOX:</a:t>
            </a:r>
          </a:p>
          <a:p>
            <a:pPr>
              <a:defRPr sz="1400">
                <a:solidFill>
                  <a:srgbClr val="787878"/>
                </a:solidFill>
                <a:latin typeface="Consolas"/>
              </a:defRPr>
            </a:pPr>
            <a:r>
              <a:t>STEERING CHALLENGE:</a:t>
            </a:r>
            <a:br/>
            <a:r>
              <a:t>Each wheel must follow its own unique circular path</a:t>
            </a:r>
            <a:br/>
            <a:r>
              <a:t>Inner wheels → smaller radius → sharper angle</a:t>
            </a:r>
            <a:br/>
            <a:r>
              <a:t>Outer wheels → larger radius → gentler angle</a:t>
            </a:r>
            <a:br/>
            <a:r>
              <a:t>Solution: Ackermann Steering Geometry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Ackermann Steering Geometry - The Principle</a:t>
            </a:r>
          </a:p>
        </p:txBody>
      </p:sp>
      <p:sp>
        <p:nvSpPr>
          <p:cNvPr id="3" name="Content Placeholder 2"/>
          <p:cNvSpPr>
            <a:spLocks noGrp="1"/>
          </p:cNvSpPr>
          <p:nvPr>
            <p:ph idx="1"/>
          </p:nvPr>
        </p:nvSpPr>
        <p:spPr/>
        <p:txBody>
          <a:bodyPr/>
          <a:lstStyle/>
          <a:p>
            <a:pPr>
              <a:spcAft>
                <a:spcPts val="600"/>
              </a:spcAft>
              <a:defRPr sz="1800">
                <a:solidFill>
                  <a:srgbClr val="333333"/>
                </a:solidFill>
              </a:defRPr>
            </a:pPr>
            <a:r>
              <a:t>Vehicle wheelbase (L)</a:t>
            </a:r>
          </a:p>
          <a:p>
            <a:pPr>
              <a:spcAft>
                <a:spcPts val="600"/>
              </a:spcAft>
              <a:defRPr sz="1800">
                <a:solidFill>
                  <a:srgbClr val="333333"/>
                </a:solidFill>
              </a:defRPr>
            </a:pPr>
            <a:r>
              <a:t>Track width (t)</a:t>
            </a:r>
          </a:p>
          <a:p>
            <a:pPr>
              <a:spcAft>
                <a:spcPts val="600"/>
              </a:spcAft>
              <a:defRPr sz="1800">
                <a:solidFill>
                  <a:srgbClr val="333333"/>
                </a:solidFill>
              </a:defRPr>
            </a:pPr>
            <a:r>
              <a:t>Inner wheel angle (δᵢ)</a:t>
            </a:r>
          </a:p>
          <a:p>
            <a:pPr>
              <a:spcAft>
                <a:spcPts val="600"/>
              </a:spcAft>
              <a:defRPr sz="1800">
                <a:solidFill>
                  <a:srgbClr val="333333"/>
                </a:solidFill>
              </a:defRPr>
            </a:pPr>
            <a:r>
              <a:t>Outer wheel angle (δₒ)</a:t>
            </a:r>
          </a:p>
          <a:p>
            <a:pPr>
              <a:spcAft>
                <a:spcPts val="600"/>
              </a:spcAft>
              <a:defRPr sz="1800">
                <a:solidFill>
                  <a:srgbClr val="333333"/>
                </a:solidFill>
              </a:defRPr>
            </a:pPr>
            <a:r>
              <a:t>Instantaneous center of rotation (ICR)</a:t>
            </a:r>
          </a:p>
          <a:p>
            <a:pPr>
              <a:spcAft>
                <a:spcPts val="600"/>
              </a:spcAft>
              <a:defRPr sz="1800">
                <a:solidFill>
                  <a:srgbClr val="333333"/>
                </a:solidFill>
              </a:defRPr>
            </a:pPr>
            <a:r>
              <a:t>Extension lines from both front wheels meeting at ICR</a:t>
            </a:r>
          </a:p>
          <a:p>
            <a:pPr>
              <a:spcAft>
                <a:spcPts val="1000"/>
              </a:spcAft>
              <a:defRPr sz="1800">
                <a:solidFill>
                  <a:srgbClr val="333333"/>
                </a:solidFill>
              </a:defRPr>
            </a:pPr>
            <a:r>
              <a:t>Instructor Narration:</a:t>
            </a:r>
          </a:p>
          <a:p>
            <a:pPr>
              <a:spcAft>
                <a:spcPts val="1000"/>
              </a:spcAft>
              <a:defRPr sz="1800">
                <a:solidFill>
                  <a:srgbClr val="333333"/>
                </a:solidFill>
              </a:defRPr>
            </a:pPr>
            <a:r>
              <a:t>The solution was discovered in 1817 by a German carriage designer named Georg Lankensperger, but patented by his agent Rudolph Ackermann in England. So we call it Ackermann steering geometry.</a:t>
            </a:r>
          </a:p>
          <a:p>
            <a:pPr>
              <a:spcAft>
                <a:spcPts val="1000"/>
              </a:spcAft>
              <a:defRPr sz="1800">
                <a:solidFill>
                  <a:srgbClr val="333333"/>
                </a:solidFill>
              </a:defRPr>
            </a:pPr>
            <a:r>
              <a:t>The principle is beautifully simple:</a:t>
            </a:r>
          </a:p>
          <a:p>
            <a:pPr>
              <a:spcAft>
                <a:spcPts val="1000"/>
              </a:spcAft>
              <a:defRPr sz="1800">
                <a:solidFill>
                  <a:srgbClr val="333333"/>
                </a:solidFill>
              </a:defRPr>
            </a:pPr>
            <a:r>
              <a:t>All wheels must rotate about the same instantaneous center.</a:t>
            </a:r>
          </a:p>
          <a:p>
            <a:pPr>
              <a:spcAft>
                <a:spcPts val="1000"/>
              </a:spcAft>
              <a:defRPr sz="1800">
                <a:solidFill>
                  <a:srgbClr val="333333"/>
                </a:solidFill>
              </a:defRPr>
            </a:pPr>
            <a:r>
              <a:t>Look at this diagram. When we extend imaginary lines through both front wheels, they must meet at a single point—the instantaneous center of rotation (ICR). The rear axle centerline also passes through this point.</a:t>
            </a:r>
          </a:p>
          <a:p>
            <a:pPr>
              <a:spcAft>
                <a:spcPts val="1000"/>
              </a:spcAft>
              <a:defRPr sz="1800">
                <a:solidFill>
                  <a:srgbClr val="333333"/>
                </a:solidFill>
              </a:defRPr>
            </a:pPr>
            <a:r>
              <a:t>This geometric constraint gives us a relationship between the inner and outer wheel angles.</a:t>
            </a:r>
          </a:p>
          <a:p>
            <a:pPr>
              <a:spcAft>
                <a:spcPts val="1000"/>
              </a:spcAft>
              <a:defRPr sz="1800">
                <a:solidFill>
                  <a:srgbClr val="333333"/>
                </a:solidFill>
              </a:defRPr>
            </a:pPr>
            <a:r>
              <a:t>EQUATION DISPLAY:</a:t>
            </a:r>
          </a:p>
          <a:p>
            <a:pPr>
              <a:defRPr sz="1400">
                <a:solidFill>
                  <a:srgbClr val="787878"/>
                </a:solidFill>
                <a:latin typeface="Consolas"/>
              </a:defRPr>
            </a:pPr>
            <a:r>
              <a:t>ACKERMANN PRINCIPLE:</a:t>
            </a:r>
            <a:br/>
            <a:br/>
            <a:r>
              <a:t>cot(δₒ) - cot(δᵢ) = t/L</a:t>
            </a:r>
            <a:br/>
            <a:br/>
            <a:r>
              <a:t>Where:</a:t>
            </a:r>
            <a:br/>
            <a:r>
              <a:t>δᵢ = Inner wheel steering angle (deg)</a:t>
            </a:r>
            <a:br/>
            <a:r>
              <a:t>δₒ = Outer wheel steering angle (deg)</a:t>
            </a:r>
            <a:br/>
            <a:r>
              <a:t>t = Track width (wheel center to wheel center) (m)</a:t>
            </a:r>
            <a:br/>
            <a:r>
              <a:t>L = Wheelbase (front axle to rear axle) (m)</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equation tells us: for any given inner wheel angle δᵢ, there is one correct outer wheel angle δₒ that satisfies pure rolling without slip.</a:t>
            </a:r>
          </a:p>
          <a:p>
            <a:pPr>
              <a:spcAft>
                <a:spcPts val="1000"/>
              </a:spcAft>
              <a:defRPr sz="1800">
                <a:solidFill>
                  <a:srgbClr val="333333"/>
                </a:solidFill>
              </a:defRPr>
            </a:pPr>
            <a:r>
              <a:t>The outer wheel always turns at a smaller angle than the inner wheel. Why? Because it's traveling in a larger circle.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Simplified Ackermann Approximation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For small steering angles—typical of normal driving, not tight parking maneuvers—we can use a simpler approximation:</a:t>
            </a:r>
          </a:p>
          <a:p>
            <a:pPr>
              <a:spcAft>
                <a:spcPts val="1000"/>
              </a:spcAft>
              <a:defRPr sz="1800">
                <a:solidFill>
                  <a:srgbClr val="333333"/>
                </a:solidFill>
              </a:defRPr>
            </a:pPr>
            <a:r>
              <a:t>Simplified Ackermann (for small angles):</a:t>
            </a:r>
          </a:p>
          <a:p>
            <a:pPr>
              <a:defRPr sz="1400">
                <a:solidFill>
                  <a:srgbClr val="787878"/>
                </a:solidFill>
                <a:latin typeface="Consolas"/>
              </a:defRPr>
            </a:pPr>
            <a:r>
              <a:t>δₒ ≈ δᵢ × [1 - (t/L)]</a:t>
            </a:r>
          </a:p>
          <a:p>
            <a:pPr>
              <a:spcAft>
                <a:spcPts val="1000"/>
              </a:spcAft>
              <a:defRPr sz="1800">
                <a:solidFill>
                  <a:srgbClr val="333333"/>
                </a:solidFill>
              </a:defRPr>
            </a:pPr>
            <a:r>
              <a:t>But for precise calculations and larger angles (parking, U-turns), we use the full cotangent relationship.</a:t>
            </a:r>
          </a:p>
          <a:p>
            <a:pPr>
              <a:spcAft>
                <a:spcPts val="1000"/>
              </a:spcAft>
              <a:defRPr sz="1800">
                <a:solidFill>
                  <a:srgbClr val="333333"/>
                </a:solidFill>
              </a:defRPr>
            </a:pPr>
            <a:r>
              <a:t>Let me show you how to use this in practice.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Turning Radius Calculation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Once we know the steering angles, we can calculate the vehicle's turning radius.</a:t>
            </a:r>
          </a:p>
          <a:p>
            <a:pPr>
              <a:spcAft>
                <a:spcPts val="1000"/>
              </a:spcAft>
              <a:defRPr sz="1800">
                <a:solidFill>
                  <a:srgbClr val="333333"/>
                </a:solidFill>
              </a:defRPr>
            </a:pPr>
            <a:r>
              <a:t>The turning radius R is measured from the instantaneous center to the center of the rear axle (not the front axle, notice!).</a:t>
            </a:r>
          </a:p>
          <a:p>
            <a:pPr>
              <a:spcAft>
                <a:spcPts val="1000"/>
              </a:spcAft>
              <a:defRPr sz="1800">
                <a:solidFill>
                  <a:srgbClr val="333333"/>
                </a:solidFill>
              </a:defRPr>
            </a:pPr>
            <a:r>
              <a:t>From basic geometry:</a:t>
            </a:r>
          </a:p>
          <a:p>
            <a:pPr>
              <a:spcAft>
                <a:spcPts val="1000"/>
              </a:spcAft>
              <a:defRPr sz="1800">
                <a:solidFill>
                  <a:srgbClr val="333333"/>
                </a:solidFill>
              </a:defRPr>
            </a:pPr>
            <a:r>
              <a:t>For the inner wheel:</a:t>
            </a:r>
          </a:p>
          <a:p>
            <a:pPr>
              <a:defRPr sz="1400">
                <a:solidFill>
                  <a:srgbClr val="787878"/>
                </a:solidFill>
                <a:latin typeface="Consolas"/>
              </a:defRPr>
            </a:pPr>
            <a:r>
              <a:t>R = L / tan(δᵢ)</a:t>
            </a:r>
          </a:p>
          <a:p>
            <a:pPr>
              <a:spcAft>
                <a:spcPts val="1000"/>
              </a:spcAft>
              <a:defRPr sz="1800">
                <a:solidFill>
                  <a:srgbClr val="333333"/>
                </a:solidFill>
              </a:defRPr>
            </a:pPr>
            <a:r>
              <a:t>For the outer wheel:</a:t>
            </a:r>
          </a:p>
          <a:p>
            <a:pPr>
              <a:defRPr sz="1400">
                <a:solidFill>
                  <a:srgbClr val="787878"/>
                </a:solidFill>
                <a:latin typeface="Consolas"/>
              </a:defRPr>
            </a:pPr>
            <a:r>
              <a:t>R = L / tan(δₒ)</a:t>
            </a:r>
          </a:p>
          <a:p>
            <a:pPr>
              <a:spcAft>
                <a:spcPts val="1000"/>
              </a:spcAft>
              <a:defRPr sz="1800">
                <a:solidFill>
                  <a:srgbClr val="333333"/>
                </a:solidFill>
              </a:defRPr>
            </a:pPr>
            <a:r>
              <a:t>But these give slightly different values unless we have perfect Ackermann. In practice, we use the average front wheel angle:</a:t>
            </a:r>
          </a:p>
          <a:p>
            <a:pPr>
              <a:defRPr sz="1400">
                <a:solidFill>
                  <a:srgbClr val="787878"/>
                </a:solidFill>
                <a:latin typeface="Consolas"/>
              </a:defRPr>
            </a:pPr>
            <a:r>
              <a:t>δ_avg = (δᵢ + δₒ) / 2</a:t>
            </a:r>
            <a:br/>
            <a:br/>
            <a:r>
              <a:t>R ≈ L / tan(δ_avg)</a:t>
            </a:r>
          </a:p>
          <a:p>
            <a:pPr>
              <a:spcAft>
                <a:spcPts val="1000"/>
              </a:spcAft>
              <a:defRPr sz="1800">
                <a:solidFill>
                  <a:srgbClr val="333333"/>
                </a:solidFill>
              </a:defRPr>
            </a:pPr>
            <a:r>
              <a:t>Or if you only know the steering wheel angle θ_SW, you need to account for the steering ratio:</a:t>
            </a:r>
          </a:p>
          <a:p>
            <a:pPr>
              <a:defRPr sz="1400">
                <a:solidFill>
                  <a:srgbClr val="787878"/>
                </a:solidFill>
                <a:latin typeface="Consolas"/>
              </a:defRPr>
            </a:pPr>
            <a:r>
              <a:t>δ_avg = θ_SW / (Steering Ratio)</a:t>
            </a:r>
            <a:br/>
            <a:r>
              <a:t>R = L / tan(δ_avg)</a:t>
            </a:r>
          </a:p>
          <a:p>
            <a:pPr>
              <a:spcAft>
                <a:spcPts val="1000"/>
              </a:spcAft>
              <a:defRPr sz="1800">
                <a:solidFill>
                  <a:srgbClr val="333333"/>
                </a:solidFill>
              </a:defRPr>
            </a:pPr>
            <a:r>
              <a:t>Instructor Narration (continued):</a:t>
            </a:r>
          </a:p>
          <a:p>
            <a:pPr>
              <a:spcAft>
                <a:spcPts val="1000"/>
              </a:spcAft>
              <a:defRPr sz="1800">
                <a:solidFill>
                  <a:srgbClr val="333333"/>
                </a:solidFill>
              </a:defRPr>
            </a:pPr>
            <a:r>
              <a:t>Smaller wheelbase L → smaller turning radius → more maneuverable vehicle. That's why city cars have short wheelbases!</a:t>
            </a:r>
          </a:p>
          <a:p>
            <a:pPr>
              <a:spcAft>
                <a:spcPts val="1000"/>
              </a:spcAft>
              <a:defRPr sz="1800">
                <a:solidFill>
                  <a:srgbClr val="333333"/>
                </a:solidFill>
              </a:defRPr>
            </a:pPr>
            <a:r>
              <a:t>Larger steering angle δ → smaller turning radius → tighter turns.</a:t>
            </a:r>
          </a:p>
          <a:p>
            <a:pPr>
              <a:spcAft>
                <a:spcPts val="1000"/>
              </a:spcAft>
              <a:defRPr sz="1800">
                <a:solidFill>
                  <a:srgbClr val="333333"/>
                </a:solidFill>
              </a:defRPr>
            </a:pPr>
            <a:r>
              <a:t>KEY FORMULA BOX:</a:t>
            </a:r>
          </a:p>
          <a:p>
            <a:pPr>
              <a:defRPr sz="1400">
                <a:solidFill>
                  <a:srgbClr val="787878"/>
                </a:solidFill>
                <a:latin typeface="Consolas"/>
              </a:defRPr>
            </a:pPr>
            <a:r>
              <a:t>TURNING RADIUS:</a:t>
            </a:r>
            <a:br/>
            <a:br/>
            <a:r>
              <a:t>R = L / tan(δ_avg)</a:t>
            </a:r>
            <a:br/>
            <a:br/>
            <a:r>
              <a:t>Where:</a:t>
            </a:r>
            <a:br/>
            <a:r>
              <a:t>R = Turning radius (m) [measured at rear axle center]</a:t>
            </a:r>
            <a:br/>
            <a:r>
              <a:t>L = Wheelbase (m)</a:t>
            </a:r>
            <a:br/>
            <a:r>
              <a:t>δ_avg = Average front wheel steering angle (deg or rad)</a:t>
            </a:r>
            <a:br/>
            <a:br/>
            <a:r>
              <a:t>Small angle approximation (δ in radians):</a:t>
            </a:r>
            <a:br/>
            <a:r>
              <a:t>R ≈ L / δ_avg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Worked Example - Ackermann Calculation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work through a complete example using our Honda Civic.</a:t>
            </a:r>
          </a:p>
          <a:p>
            <a:pPr>
              <a:spcAft>
                <a:spcPts val="1000"/>
              </a:spcAft>
              <a:defRPr sz="1800">
                <a:solidFill>
                  <a:srgbClr val="333333"/>
                </a:solidFill>
              </a:defRPr>
            </a:pPr>
            <a:r>
              <a:t>GIVEN DATA: — Wheelbase L = 2.7 m</a:t>
            </a:r>
          </a:p>
          <a:p>
            <a:pPr>
              <a:spcAft>
                <a:spcPts val="600"/>
              </a:spcAft>
              <a:defRPr sz="1800">
                <a:solidFill>
                  <a:srgbClr val="333333"/>
                </a:solidFill>
              </a:defRPr>
            </a:pPr>
            <a:r>
              <a:t>Track width t = 1.52 m</a:t>
            </a:r>
          </a:p>
          <a:p>
            <a:pPr>
              <a:spcAft>
                <a:spcPts val="600"/>
              </a:spcAft>
              <a:defRPr sz="1800">
                <a:solidFill>
                  <a:srgbClr val="333333"/>
                </a:solidFill>
              </a:defRPr>
            </a:pPr>
            <a:r>
              <a:t>Inner wheel angle δᵢ = 35° (tight turn, parking scenario)</a:t>
            </a:r>
          </a:p>
          <a:p>
            <a:pPr>
              <a:spcAft>
                <a:spcPts val="600"/>
              </a:spcAft>
              <a:defRPr sz="1800">
                <a:solidFill>
                  <a:srgbClr val="333333"/>
                </a:solidFill>
              </a:defRPr>
            </a:pPr>
            <a:r>
              <a:t>Find: Outer wheel angle δₒ and turning radius R</a:t>
            </a:r>
          </a:p>
          <a:p>
            <a:pPr>
              <a:spcAft>
                <a:spcPts val="1000"/>
              </a:spcAft>
              <a:defRPr sz="1800">
                <a:solidFill>
                  <a:srgbClr val="333333"/>
                </a:solidFill>
              </a:defRPr>
            </a:pPr>
            <a:r>
              <a:t>SOLUTION:</a:t>
            </a:r>
          </a:p>
          <a:p>
            <a:pPr>
              <a:spcAft>
                <a:spcPts val="1000"/>
              </a:spcAft>
              <a:defRPr sz="1800">
                <a:solidFill>
                  <a:srgbClr val="333333"/>
                </a:solidFill>
              </a:defRPr>
            </a:pPr>
            <a:r>
              <a:t>Step 1: Convert angles to radians for calculation</a:t>
            </a:r>
          </a:p>
          <a:p>
            <a:pPr>
              <a:defRPr sz="1400">
                <a:solidFill>
                  <a:srgbClr val="787878"/>
                </a:solidFill>
                <a:latin typeface="Consolas"/>
              </a:defRPr>
            </a:pPr>
            <a:r>
              <a:t>δᵢ = 35° × (π/180) = 0.6109 rad</a:t>
            </a:r>
          </a:p>
          <a:p>
            <a:pPr>
              <a:spcAft>
                <a:spcPts val="1000"/>
              </a:spcAft>
              <a:defRPr sz="1800">
                <a:solidFill>
                  <a:srgbClr val="333333"/>
                </a:solidFill>
              </a:defRPr>
            </a:pPr>
            <a:r>
              <a:t>Step 2: Apply Ackermann equation</a:t>
            </a:r>
          </a:p>
          <a:p>
            <a:pPr>
              <a:defRPr sz="1400">
                <a:solidFill>
                  <a:srgbClr val="787878"/>
                </a:solidFill>
                <a:latin typeface="Consolas"/>
              </a:defRPr>
            </a:pPr>
            <a:r>
              <a:t>cot(δₒ) - cot(δᵢ) = t/L</a:t>
            </a:r>
            <a:br/>
            <a:br/>
            <a:r>
              <a:t>cot(δₒ) = cot(δᵢ) + (t/L)</a:t>
            </a:r>
            <a:br/>
            <a:br/>
            <a:r>
              <a:t>cot(δᵢ) = 1/tan(0.6109) = 1/0.7002 = 1.4282</a:t>
            </a:r>
            <a:br/>
            <a:br/>
            <a:r>
              <a:t>cot(δₒ) = 1.4282 + (1.52/2.7)</a:t>
            </a:r>
            <a:br/>
            <a:r>
              <a:t>        = 1.4282 + 0.5630</a:t>
            </a:r>
            <a:br/>
            <a:r>
              <a:t>        = 1.9912</a:t>
            </a:r>
            <a:br/>
            <a:br/>
            <a:r>
              <a:t>δₒ = arccot(1.9912)</a:t>
            </a:r>
            <a:br/>
            <a:r>
              <a:t>   = arctan(1/1.9912)</a:t>
            </a:r>
            <a:br/>
            <a:r>
              <a:t>   = arctan(0.5022)</a:t>
            </a:r>
            <a:br/>
            <a:r>
              <a:t>   = 0.4665 rad</a:t>
            </a:r>
            <a:br/>
            <a:r>
              <a:t>   = 26.7°</a:t>
            </a:r>
          </a:p>
          <a:p>
            <a:pPr>
              <a:spcAft>
                <a:spcPts val="1000"/>
              </a:spcAft>
              <a:defRPr sz="1800">
                <a:solidFill>
                  <a:srgbClr val="333333"/>
                </a:solidFill>
              </a:defRPr>
            </a:pPr>
            <a:r>
              <a:t>Step 3: Calculate average steering angle</a:t>
            </a:r>
          </a:p>
          <a:p>
            <a:pPr>
              <a:defRPr sz="1400">
                <a:solidFill>
                  <a:srgbClr val="787878"/>
                </a:solidFill>
                <a:latin typeface="Consolas"/>
              </a:defRPr>
            </a:pPr>
            <a:r>
              <a:t>δ_avg = (35° + 26.7°) / 2 = 30.85°</a:t>
            </a:r>
            <a:br/>
            <a:r>
              <a:t>      = 0.5387 rad</a:t>
            </a:r>
          </a:p>
          <a:p>
            <a:pPr>
              <a:spcAft>
                <a:spcPts val="1000"/>
              </a:spcAft>
              <a:defRPr sz="1800">
                <a:solidFill>
                  <a:srgbClr val="333333"/>
                </a:solidFill>
              </a:defRPr>
            </a:pPr>
            <a:r>
              <a:t>Step 4: Calculate turning radius</a:t>
            </a:r>
          </a:p>
          <a:p>
            <a:pPr>
              <a:defRPr sz="1400">
                <a:solidFill>
                  <a:srgbClr val="787878"/>
                </a:solidFill>
                <a:latin typeface="Consolas"/>
              </a:defRPr>
            </a:pPr>
            <a:r>
              <a:t>R = L / tan(δ_avg)</a:t>
            </a:r>
            <a:br/>
            <a:r>
              <a:t>  = 2.7 / tan(0.5387)</a:t>
            </a:r>
            <a:br/>
            <a:r>
              <a:t>  = 2.7 / 0.5960</a:t>
            </a:r>
            <a:br/>
            <a:r>
              <a:t>  = 4.53 m</a:t>
            </a:r>
          </a:p>
          <a:p>
            <a:pPr>
              <a:spcAft>
                <a:spcPts val="1000"/>
              </a:spcAft>
              <a:defRPr sz="1800">
                <a:solidFill>
                  <a:srgbClr val="333333"/>
                </a:solidFill>
              </a:defRPr>
            </a:pPr>
            <a:r>
              <a:t>RESULTS: — Outer wheel angle: 26.7° (8.3° less than inner wheel)</a:t>
            </a:r>
          </a:p>
          <a:p>
            <a:pPr>
              <a:spcAft>
                <a:spcPts val="600"/>
              </a:spcAft>
              <a:defRPr sz="1800">
                <a:solidFill>
                  <a:srgbClr val="333333"/>
                </a:solidFill>
              </a:defRPr>
            </a:pPr>
            <a:r>
              <a:t>Turning radius: 4.53 m (measured at rear axle center)</a:t>
            </a:r>
          </a:p>
          <a:p>
            <a:pPr>
              <a:spcAft>
                <a:spcPts val="600"/>
              </a:spcAft>
              <a:defRPr sz="1800">
                <a:solidFill>
                  <a:srgbClr val="333333"/>
                </a:solidFill>
              </a:defRPr>
            </a:pPr>
            <a:r>
              <a:t>Turning circle diameter: ~9 m (for complete U-turn)</a:t>
            </a:r>
          </a:p>
          <a:p>
            <a:pPr>
              <a:spcAft>
                <a:spcPts val="1000"/>
              </a:spcAft>
              <a:defRPr sz="1800">
                <a:solidFill>
                  <a:srgbClr val="333333"/>
                </a:solidFill>
              </a:defRPr>
            </a:pPr>
            <a:r>
              <a:t>Instructor Narration (continued):</a:t>
            </a:r>
          </a:p>
          <a:p>
            <a:pPr>
              <a:spcAft>
                <a:spcPts val="1000"/>
              </a:spcAft>
              <a:defRPr sz="1800">
                <a:solidFill>
                  <a:srgbClr val="333333"/>
                </a:solidFill>
              </a:defRPr>
            </a:pPr>
            <a:r>
              <a:t>Notice the outer wheel turns 8.3 degrees less than the inner wheel. This is the Ackermann effect preventing tire scrub.</a:t>
            </a:r>
          </a:p>
          <a:p>
            <a:pPr>
              <a:spcAft>
                <a:spcPts val="1000"/>
              </a:spcAft>
              <a:defRPr sz="1800">
                <a:solidFill>
                  <a:srgbClr val="333333"/>
                </a:solidFill>
              </a:defRPr>
            </a:pPr>
            <a:r>
              <a:t>A 4.53-meter turning radius gives this Civic excellent maneuverability for city driving and parking.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Practice Problem 1 - Turning Radius Calculation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PRACTICE PROBLEM:</a:t>
            </a:r>
          </a:p>
          <a:p>
            <a:pPr>
              <a:defRPr sz="1400">
                <a:solidFill>
                  <a:srgbClr val="787878"/>
                </a:solidFill>
                <a:latin typeface="Consolas"/>
              </a:defRPr>
            </a:pPr>
            <a:r>
              <a:t>A large SUV has the following specifications:</a:t>
            </a:r>
            <a:br/>
            <a:r>
              <a:t>- Wheelbase L = 3.0 m</a:t>
            </a:r>
            <a:br/>
            <a:r>
              <a:t>- Maximum front wheel steering angle δ_max = 40°</a:t>
            </a:r>
            <a:br/>
            <a:br/>
            <a:r>
              <a:t>Calculate:</a:t>
            </a:r>
            <a:br/>
            <a:r>
              <a:t>(a) Minimum turning radius</a:t>
            </a:r>
            <a:br/>
            <a:r>
              <a:t>(b) Turning circle diameter (for complete 180° turn)</a:t>
            </a:r>
            <a:br/>
            <a:r>
              <a:t>(c) Compare with the Honda Civic (R = 4.53 m)</a:t>
            </a:r>
          </a:p>
          <a:p>
            <a:pPr>
              <a:spcAft>
                <a:spcPts val="1000"/>
              </a:spcAft>
              <a:defRPr sz="1800">
                <a:solidFill>
                  <a:srgbClr val="333333"/>
                </a:solidFill>
              </a:defRPr>
            </a:pPr>
            <a:r>
              <a:t>SOLUTION (for instructor reference, reveal after student attempt):</a:t>
            </a:r>
          </a:p>
          <a:p>
            <a:pPr>
              <a:spcAft>
                <a:spcPts val="1000"/>
              </a:spcAft>
              <a:defRPr sz="1800">
                <a:solidFill>
                  <a:srgbClr val="333333"/>
                </a:solidFill>
              </a:defRPr>
            </a:pPr>
            <a:r>
              <a:t>(a) Minimum turning radius:</a:t>
            </a:r>
          </a:p>
          <a:p>
            <a:pPr>
              <a:defRPr sz="1400">
                <a:solidFill>
                  <a:srgbClr val="787878"/>
                </a:solidFill>
                <a:latin typeface="Consolas"/>
              </a:defRPr>
            </a:pPr>
            <a:r>
              <a:t>R_min = L / tan(δ_max)</a:t>
            </a:r>
            <a:br/>
            <a:r>
              <a:t>      = 3.0 / tan(40°)</a:t>
            </a:r>
            <a:br/>
            <a:r>
              <a:t>      = 3.0 / 0.8391</a:t>
            </a:r>
            <a:br/>
            <a:r>
              <a:t>      = 3.58 m</a:t>
            </a:r>
          </a:p>
          <a:p>
            <a:pPr>
              <a:spcAft>
                <a:spcPts val="1000"/>
              </a:spcAft>
              <a:defRPr sz="1800">
                <a:solidFill>
                  <a:srgbClr val="333333"/>
                </a:solidFill>
              </a:defRPr>
            </a:pPr>
            <a:r>
              <a:t>(b) Turning circle diameter:</a:t>
            </a:r>
          </a:p>
          <a:p>
            <a:pPr>
              <a:defRPr sz="1400">
                <a:solidFill>
                  <a:srgbClr val="787878"/>
                </a:solidFill>
                <a:latin typeface="Consolas"/>
              </a:defRPr>
            </a:pPr>
            <a:r>
              <a:t>Turning circle = 2 × R_min</a:t>
            </a:r>
            <a:br/>
            <a:r>
              <a:t>               = 2 × 3.58</a:t>
            </a:r>
            <a:br/>
            <a:r>
              <a:t>               = 7.16 m</a:t>
            </a:r>
          </a:p>
          <a:p>
            <a:pPr>
              <a:spcAft>
                <a:spcPts val="1000"/>
              </a:spcAft>
              <a:defRPr sz="1800">
                <a:solidFill>
                  <a:srgbClr val="333333"/>
                </a:solidFill>
              </a:defRPr>
            </a:pPr>
            <a:r>
              <a:t>(c) Comparison: — SUV: R_min = 3.58 m (but remember: longer wheelbase = less maneuverable)</a:t>
            </a:r>
          </a:p>
          <a:p>
            <a:pPr>
              <a:spcAft>
                <a:spcPts val="600"/>
              </a:spcAft>
              <a:defRPr sz="1800">
                <a:solidFill>
                  <a:srgbClr val="333333"/>
                </a:solidFill>
              </a:defRPr>
            </a:pPr>
            <a:r>
              <a:t>Civic: R_min = 4.53 m at δ = 30.85°</a:t>
            </a:r>
          </a:p>
          <a:p>
            <a:pPr>
              <a:spcAft>
                <a:spcPts val="1000"/>
              </a:spcAft>
              <a:defRPr sz="1800">
                <a:solidFill>
                  <a:srgbClr val="333333"/>
                </a:solidFill>
              </a:defRPr>
            </a:pPr>
            <a:r>
              <a:t>Wait—the SUV has a smaller turning radius? Actually, NO. This calculation used a 40° maximum angle. Let's recalculate at the same 30.85° angle:</a:t>
            </a:r>
          </a:p>
          <a:p>
            <a:pPr>
              <a:defRPr sz="1400">
                <a:solidFill>
                  <a:srgbClr val="787878"/>
                </a:solidFill>
                <a:latin typeface="Consolas"/>
              </a:defRPr>
            </a:pPr>
            <a:r>
              <a:t>R_SUV @ 30.85° = 3.0 / tan(30.85°) = 3.0 / 0.5960 = 5.03 m</a:t>
            </a:r>
          </a:p>
          <a:p>
            <a:pPr>
              <a:spcAft>
                <a:spcPts val="1000"/>
              </a:spcAft>
              <a:defRPr sz="1800">
                <a:solidFill>
                  <a:srgbClr val="333333"/>
                </a:solidFill>
              </a:defRPr>
            </a:pPr>
            <a:r>
              <a:t>Now we see the truth: longer wheelbase = larger turning radius = harder to maneuver.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Real-World Ackermann Implementation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How do we actually achieve Ackermann geometry mechanically?</a:t>
            </a:r>
          </a:p>
          <a:p>
            <a:pPr>
              <a:spcAft>
                <a:spcPts val="1000"/>
              </a:spcAft>
              <a:defRPr sz="1800">
                <a:solidFill>
                  <a:srgbClr val="333333"/>
                </a:solidFill>
              </a:defRPr>
            </a:pPr>
            <a:r>
              <a:t>The secret is in the steering linkage geometry. Look at this real steering system. The steering arms are not parallel—they're angled inward at the base.</a:t>
            </a:r>
          </a:p>
          <a:p>
            <a:pPr>
              <a:spcAft>
                <a:spcPts val="1000"/>
              </a:spcAft>
              <a:defRPr sz="1800">
                <a:solidFill>
                  <a:srgbClr val="333333"/>
                </a:solidFill>
              </a:defRPr>
            </a:pPr>
            <a:r>
              <a:t>When the linkage pushes the inner wheel to turn, the geometry naturally creates a larger angle on the inner wheel compared to the outer wheel.</a:t>
            </a:r>
          </a:p>
          <a:p>
            <a:pPr>
              <a:spcAft>
                <a:spcPts val="1000"/>
              </a:spcAft>
              <a:defRPr sz="1800">
                <a:solidFill>
                  <a:srgbClr val="333333"/>
                </a:solidFill>
              </a:defRPr>
            </a:pPr>
            <a:r>
              <a:t>MECHANICAL IMPLEMENTATION:</a:t>
            </a:r>
          </a:p>
          <a:p>
            <a:pPr>
              <a:spcAft>
                <a:spcPts val="600"/>
              </a:spcAft>
              <a:defRPr sz="1800">
                <a:solidFill>
                  <a:srgbClr val="333333"/>
                </a:solidFill>
              </a:defRPr>
            </a:pPr>
            <a:r>
              <a:t>Steering arms are angled inward (typically 10-15° from vertical axis)</a:t>
            </a:r>
          </a:p>
          <a:p>
            <a:pPr>
              <a:spcAft>
                <a:spcPts val="600"/>
              </a:spcAft>
              <a:defRPr sz="1800">
                <a:solidFill>
                  <a:srgbClr val="333333"/>
                </a:solidFill>
              </a:defRPr>
            </a:pPr>
            <a:r>
              <a:t>Tie rods connect left and right wheels via a track rod</a:t>
            </a:r>
          </a:p>
          <a:p>
            <a:pPr>
              <a:spcAft>
                <a:spcPts val="600"/>
              </a:spcAft>
              <a:defRPr sz="1800">
                <a:solidFill>
                  <a:srgbClr val="333333"/>
                </a:solidFill>
              </a:defRPr>
            </a:pPr>
            <a:r>
              <a:t>As the rack moves (we'll discuss rack-and-pinion soon), the geometry creates the Ackermann effect</a:t>
            </a:r>
          </a:p>
          <a:p>
            <a:pPr>
              <a:spcAft>
                <a:spcPts val="600"/>
              </a:spcAft>
              <a:defRPr sz="1800">
                <a:solidFill>
                  <a:srgbClr val="333333"/>
                </a:solidFill>
              </a:defRPr>
            </a:pPr>
            <a:r>
              <a:t>The angle of the steering arms determines how much Ackermann effect you get</a:t>
            </a:r>
          </a:p>
          <a:p>
            <a:pPr>
              <a:spcAft>
                <a:spcPts val="1000"/>
              </a:spcAft>
              <a:defRPr sz="1800">
                <a:solidFill>
                  <a:srgbClr val="333333"/>
                </a:solidFill>
              </a:defRPr>
            </a:pPr>
            <a:r>
              <a:t>100% Ackermann vs Parallel Steering: — 100% Ackermann: Perfect geometry, no tire scrub (ideal for low-speed maneuvers)</a:t>
            </a:r>
          </a:p>
          <a:p>
            <a:pPr>
              <a:spcAft>
                <a:spcPts val="600"/>
              </a:spcAft>
              <a:defRPr sz="1800">
                <a:solidFill>
                  <a:srgbClr val="333333"/>
                </a:solidFill>
              </a:defRPr>
            </a:pPr>
            <a:r>
              <a:t>Parallel steering: Both wheels turn equal amounts (used in some race cars for high-speed stability)</a:t>
            </a:r>
          </a:p>
          <a:p>
            <a:pPr>
              <a:spcAft>
                <a:spcPts val="600"/>
              </a:spcAft>
              <a:defRPr sz="1800">
                <a:solidFill>
                  <a:srgbClr val="333333"/>
                </a:solidFill>
              </a:defRPr>
            </a:pPr>
            <a:r>
              <a:t>Most road cars: 60-80% Ackermann (compromise between low-speed maneuverability and high-speed stability)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Transition - Beyond Pure Geometry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We've solved the fundamental geometry problem—how to make all four wheels turn about the same center.</a:t>
            </a:r>
          </a:p>
          <a:p>
            <a:pPr>
              <a:spcAft>
                <a:spcPts val="1000"/>
              </a:spcAft>
              <a:defRPr sz="1800">
                <a:solidFill>
                  <a:srgbClr val="333333"/>
                </a:solidFill>
              </a:defRPr>
            </a:pPr>
            <a:r>
              <a:t>But there's more to steering than just horizontal angles.</a:t>
            </a:r>
          </a:p>
          <a:p>
            <a:pPr>
              <a:spcAft>
                <a:spcPts val="1000"/>
              </a:spcAft>
              <a:defRPr sz="1800">
                <a:solidFill>
                  <a:srgbClr val="333333"/>
                </a:solidFill>
              </a:defRPr>
            </a:pPr>
            <a:r>
              <a:t>When you look at a car from the front or side, you'll see the wheels aren't perfectly vertical or aligned. There are several invisible angles built into every steering system:</a:t>
            </a:r>
          </a:p>
          <a:p>
            <a:pPr>
              <a:spcAft>
                <a:spcPts val="600"/>
              </a:spcAft>
              <a:defRPr sz="1800">
                <a:solidFill>
                  <a:srgbClr val="333333"/>
                </a:solidFill>
              </a:defRPr>
            </a:pPr>
            <a:r>
              <a:t>Caster (front-to-back tilt)</a:t>
            </a:r>
          </a:p>
          <a:p>
            <a:pPr>
              <a:spcAft>
                <a:spcPts val="600"/>
              </a:spcAft>
              <a:defRPr sz="1800">
                <a:solidFill>
                  <a:srgbClr val="333333"/>
                </a:solidFill>
              </a:defRPr>
            </a:pPr>
            <a:r>
              <a:t>Camber (side-to-side tilt)</a:t>
            </a:r>
          </a:p>
          <a:p>
            <a:pPr>
              <a:spcAft>
                <a:spcPts val="600"/>
              </a:spcAft>
              <a:defRPr sz="1800">
                <a:solidFill>
                  <a:srgbClr val="333333"/>
                </a:solidFill>
              </a:defRPr>
            </a:pPr>
            <a:r>
              <a:t>Toe (slight inward/outward pointing)</a:t>
            </a:r>
          </a:p>
          <a:p>
            <a:pPr>
              <a:spcAft>
                <a:spcPts val="600"/>
              </a:spcAft>
              <a:defRPr sz="1800">
                <a:solidFill>
                  <a:srgbClr val="333333"/>
                </a:solidFill>
              </a:defRPr>
            </a:pPr>
            <a:r>
              <a:t>Kingpin inclination (steering axis angle)</a:t>
            </a:r>
          </a:p>
          <a:p>
            <a:pPr>
              <a:spcAft>
                <a:spcPts val="1000"/>
              </a:spcAft>
              <a:defRPr sz="1800">
                <a:solidFill>
                  <a:srgbClr val="333333"/>
                </a:solidFill>
              </a:defRPr>
            </a:pPr>
            <a:r>
              <a:t>These angles seem small, but they have enormous effects on handling, tire wear, and steering feel.</a:t>
            </a:r>
          </a:p>
          <a:p>
            <a:pPr>
              <a:spcAft>
                <a:spcPts val="1000"/>
              </a:spcAft>
              <a:defRPr sz="1800">
                <a:solidFill>
                  <a:srgbClr val="333333"/>
                </a:solidFill>
              </a:defRPr>
            </a:pPr>
            <a:r>
              <a:t>Let's explore why these angles exist and what they 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2: TRIGGER - "Steering Alignment Parameters</a:t>
            </a:r>
          </a:p>
        </p:txBody>
      </p:sp>
      <p:sp>
        <p:nvSpPr>
          <p:cNvPr id="3" name="Subtitle 2"/>
          <p:cNvSpPr>
            <a:spLocks noGrp="1"/>
          </p:cNvSpPr>
          <p:nvPr>
            <p:ph type="subTitle"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Four Alignment Angles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Every wheel has four critical alignment angles. These are the 'DNA' of your steering system.</a:t>
            </a:r>
          </a:p>
          <a:p>
            <a:pPr>
              <a:spcAft>
                <a:spcPts val="1000"/>
              </a:spcAft>
              <a:defRPr sz="1800">
                <a:solidFill>
                  <a:srgbClr val="333333"/>
                </a:solidFill>
              </a:defRPr>
            </a:pPr>
            <a:r>
              <a:t>Let me introduce them:</a:t>
            </a:r>
          </a:p>
          <a:p>
            <a:pPr>
              <a:spcAft>
                <a:spcPts val="1000"/>
              </a:spcAft>
              <a:defRPr sz="1800">
                <a:solidFill>
                  <a:srgbClr val="333333"/>
                </a:solidFill>
              </a:defRPr>
            </a:pPr>
            <a:r>
              <a:t>1. CASTER (Side View) — Tilt of the steering axis front-to-back</a:t>
            </a:r>
          </a:p>
          <a:p>
            <a:pPr>
              <a:spcAft>
                <a:spcPts val="600"/>
              </a:spcAft>
              <a:defRPr sz="1800">
                <a:solidFill>
                  <a:srgbClr val="333333"/>
                </a:solidFill>
              </a:defRPr>
            </a:pPr>
            <a:r>
              <a:t>Measured in degrees</a:t>
            </a:r>
          </a:p>
          <a:p>
            <a:pPr>
              <a:spcAft>
                <a:spcPts val="600"/>
              </a:spcAft>
              <a:defRPr sz="1800">
                <a:solidFill>
                  <a:srgbClr val="333333"/>
                </a:solidFill>
              </a:defRPr>
            </a:pPr>
            <a:r>
              <a:t>Typical value: +2° to +7° (positive caster)</a:t>
            </a:r>
          </a:p>
          <a:p>
            <a:pPr>
              <a:spcAft>
                <a:spcPts val="1000"/>
              </a:spcAft>
              <a:defRPr sz="1800">
                <a:solidFill>
                  <a:srgbClr val="333333"/>
                </a:solidFill>
              </a:defRPr>
            </a:pPr>
            <a:r>
              <a:t>2. CAMBER (Front View) — Tilt of the wheel top-to-bottom</a:t>
            </a:r>
          </a:p>
          <a:p>
            <a:pPr>
              <a:spcAft>
                <a:spcPts val="600"/>
              </a:spcAft>
              <a:defRPr sz="1800">
                <a:solidFill>
                  <a:srgbClr val="333333"/>
                </a:solidFill>
              </a:defRPr>
            </a:pPr>
            <a:r>
              <a:t>Measured in degrees</a:t>
            </a:r>
          </a:p>
          <a:p>
            <a:pPr>
              <a:spcAft>
                <a:spcPts val="600"/>
              </a:spcAft>
              <a:defRPr sz="1800">
                <a:solidFill>
                  <a:srgbClr val="333333"/>
                </a:solidFill>
              </a:defRPr>
            </a:pPr>
            <a:r>
              <a:t>Typical value: -0.5° to +1° (slightly negative for modern cars)</a:t>
            </a:r>
          </a:p>
          <a:p>
            <a:pPr>
              <a:spcAft>
                <a:spcPts val="1000"/>
              </a:spcAft>
              <a:defRPr sz="1800">
                <a:solidFill>
                  <a:srgbClr val="333333"/>
                </a:solidFill>
              </a:defRPr>
            </a:pPr>
            <a:r>
              <a:t>3. TOE (Top View) — Slight inward or outward pointing</a:t>
            </a:r>
          </a:p>
          <a:p>
            <a:pPr>
              <a:spcAft>
                <a:spcPts val="600"/>
              </a:spcAft>
              <a:defRPr sz="1800">
                <a:solidFill>
                  <a:srgbClr val="333333"/>
                </a:solidFill>
              </a:defRPr>
            </a:pPr>
            <a:r>
              <a:t>Measured in mm or degrees</a:t>
            </a:r>
          </a:p>
          <a:p>
            <a:pPr>
              <a:spcAft>
                <a:spcPts val="600"/>
              </a:spcAft>
              <a:defRPr sz="1800">
                <a:solidFill>
                  <a:srgbClr val="333333"/>
                </a:solidFill>
              </a:defRPr>
            </a:pPr>
            <a:r>
              <a:t>Typical value: 0-3 mm toe-in (front wheels)</a:t>
            </a:r>
          </a:p>
          <a:p>
            <a:pPr>
              <a:spcAft>
                <a:spcPts val="1000"/>
              </a:spcAft>
              <a:defRPr sz="1800">
                <a:solidFill>
                  <a:srgbClr val="333333"/>
                </a:solidFill>
              </a:defRPr>
            </a:pPr>
            <a:r>
              <a:t>4. KINGPIN INCLINATION (Front View) — Tilt of the steering axis inward at the top</a:t>
            </a:r>
          </a:p>
          <a:p>
            <a:pPr>
              <a:spcAft>
                <a:spcPts val="600"/>
              </a:spcAft>
              <a:defRPr sz="1800">
                <a:solidFill>
                  <a:srgbClr val="333333"/>
                </a:solidFill>
              </a:defRPr>
            </a:pPr>
            <a:r>
              <a:t>Measured in degrees</a:t>
            </a:r>
          </a:p>
          <a:p>
            <a:pPr>
              <a:spcAft>
                <a:spcPts val="600"/>
              </a:spcAft>
              <a:defRPr sz="1800">
                <a:solidFill>
                  <a:srgbClr val="333333"/>
                </a:solidFill>
              </a:defRPr>
            </a:pPr>
            <a:r>
              <a:t>Typical value: 5° to 15°</a:t>
            </a:r>
          </a:p>
          <a:p>
            <a:pPr>
              <a:spcAft>
                <a:spcPts val="1000"/>
              </a:spcAft>
              <a:defRPr sz="1800">
                <a:solidFill>
                  <a:srgbClr val="333333"/>
                </a:solidFill>
              </a:defRPr>
            </a:pPr>
            <a:r>
              <a:t>These four angles work together to create:</a:t>
            </a:r>
          </a:p>
          <a:p>
            <a:pPr>
              <a:spcAft>
                <a:spcPts val="600"/>
              </a:spcAft>
              <a:defRPr sz="1800">
                <a:solidFill>
                  <a:srgbClr val="333333"/>
                </a:solidFill>
              </a:defRPr>
            </a:pPr>
            <a:r>
              <a:t>Self-centering steering</a:t>
            </a:r>
          </a:p>
          <a:p>
            <a:pPr>
              <a:spcAft>
                <a:spcPts val="600"/>
              </a:spcAft>
              <a:defRPr sz="1800">
                <a:solidFill>
                  <a:srgbClr val="333333"/>
                </a:solidFill>
              </a:defRPr>
            </a:pPr>
            <a:r>
              <a:t>Straight-line stability</a:t>
            </a:r>
          </a:p>
          <a:p>
            <a:pPr>
              <a:spcAft>
                <a:spcPts val="600"/>
              </a:spcAft>
              <a:defRPr sz="1800">
                <a:solidFill>
                  <a:srgbClr val="333333"/>
                </a:solidFill>
              </a:defRPr>
            </a:pPr>
            <a:r>
              <a:t>Proper tire contact patch</a:t>
            </a:r>
          </a:p>
          <a:p>
            <a:pPr>
              <a:spcAft>
                <a:spcPts val="600"/>
              </a:spcAft>
              <a:defRPr sz="1800">
                <a:solidFill>
                  <a:srgbClr val="333333"/>
                </a:solidFill>
              </a:defRPr>
            </a:pPr>
            <a:r>
              <a:t>Minimal steering effort</a:t>
            </a:r>
          </a:p>
          <a:p>
            <a:pPr>
              <a:spcAft>
                <a:spcPts val="600"/>
              </a:spcAft>
              <a:defRPr sz="1800">
                <a:solidFill>
                  <a:srgbClr val="333333"/>
                </a:solidFill>
              </a:defRPr>
            </a:pPr>
            <a:r>
              <a:t>Even tire wear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Caster Angle - Straight-Line Stability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Caster is the front-to-back tilt of the steering axis.</a:t>
            </a:r>
          </a:p>
          <a:p>
            <a:pPr>
              <a:spcAft>
                <a:spcPts val="1000"/>
              </a:spcAft>
              <a:defRPr sz="1800">
                <a:solidFill>
                  <a:srgbClr val="333333"/>
                </a:solidFill>
              </a:defRPr>
            </a:pPr>
            <a:r>
              <a:t>Look at this side view. The steering axis (the imaginary line through the ball joints or strut mounts) is tilted backward at the top. This is positive caster.</a:t>
            </a:r>
          </a:p>
          <a:p>
            <a:pPr>
              <a:spcAft>
                <a:spcPts val="1000"/>
              </a:spcAft>
              <a:defRPr sz="1800">
                <a:solidFill>
                  <a:srgbClr val="333333"/>
                </a:solidFill>
              </a:defRPr>
            </a:pPr>
            <a:r>
              <a:t>Why do we want positive caster?</a:t>
            </a:r>
          </a:p>
          <a:p>
            <a:pPr>
              <a:spcAft>
                <a:spcPts val="1000"/>
              </a:spcAft>
              <a:defRPr sz="1800">
                <a:solidFill>
                  <a:srgbClr val="333333"/>
                </a:solidFill>
              </a:defRPr>
            </a:pPr>
            <a:r>
              <a:t>It creates a self-centering effect, just like a shopping cart wheel!</a:t>
            </a:r>
          </a:p>
          <a:p>
            <a:pPr>
              <a:spcAft>
                <a:spcPts val="1000"/>
              </a:spcAft>
              <a:defRPr sz="1800">
                <a:solidFill>
                  <a:srgbClr val="333333"/>
                </a:solidFill>
              </a:defRPr>
            </a:pPr>
            <a:r>
              <a:t>The Physics:</a:t>
            </a:r>
          </a:p>
          <a:p>
            <a:pPr>
              <a:spcAft>
                <a:spcPts val="1000"/>
              </a:spcAft>
              <a:defRPr sz="1800">
                <a:solidFill>
                  <a:srgbClr val="333333"/>
                </a:solidFill>
              </a:defRPr>
            </a:pPr>
            <a:r>
              <a:t>When the steering axis is tilted back, the tire contact patch is behind the point where the steering axis intersects the road. This creates a mechanical trail (also called caster trail).</a:t>
            </a:r>
          </a:p>
          <a:p>
            <a:pPr>
              <a:defRPr sz="1400">
                <a:solidFill>
                  <a:srgbClr val="787878"/>
                </a:solidFill>
                <a:latin typeface="Consolas"/>
              </a:defRPr>
            </a:pPr>
            <a:r>
              <a:t>Mechanical Trail = Caster Angle × (Tire Radius)</a:t>
            </a:r>
            <a:br/>
            <a:br/>
            <a:r>
              <a:t>Typical values: 20-40 mm</a:t>
            </a:r>
          </a:p>
          <a:p>
            <a:pPr>
              <a:spcAft>
                <a:spcPts val="1000"/>
              </a:spcAft>
              <a:defRPr sz="1800">
                <a:solidFill>
                  <a:srgbClr val="333333"/>
                </a:solidFill>
              </a:defRPr>
            </a:pPr>
            <a:r>
              <a:t>When you're driving straight and hit a bump that disturbs the wheel, the mechanical trail creates a restoring torque that pulls the wheel back to center.</a:t>
            </a:r>
          </a:p>
          <a:p>
            <a:pPr>
              <a:spcAft>
                <a:spcPts val="1000"/>
              </a:spcAft>
              <a:defRPr sz="1800">
                <a:solidFill>
                  <a:srgbClr val="333333"/>
                </a:solidFill>
              </a:defRPr>
            </a:pPr>
            <a:r>
              <a:t>Effects of Caster:</a:t>
            </a:r>
          </a:p>
          <a:p>
            <a:pPr>
              <a:spcAft>
                <a:spcPts val="1000"/>
              </a:spcAft>
              <a:defRPr sz="1800">
                <a:solidFill>
                  <a:srgbClr val="333333"/>
                </a:solidFill>
              </a:defRPr>
            </a:pPr>
            <a:r>
              <a:t>✅ Positive Caster (typical): — Self-centering steering (hands-off stability)</a:t>
            </a:r>
          </a:p>
          <a:p>
            <a:pPr>
              <a:spcAft>
                <a:spcPts val="600"/>
              </a:spcAft>
              <a:defRPr sz="1800">
                <a:solidFill>
                  <a:srgbClr val="333333"/>
                </a:solidFill>
              </a:defRPr>
            </a:pPr>
            <a:r>
              <a:t>Increased straight-line stability</a:t>
            </a:r>
          </a:p>
          <a:p>
            <a:pPr>
              <a:spcAft>
                <a:spcPts val="600"/>
              </a:spcAft>
              <a:defRPr sz="1800">
                <a:solidFill>
                  <a:srgbClr val="333333"/>
                </a:solidFill>
              </a:defRPr>
            </a:pPr>
            <a:r>
              <a:t>Slightly heavier steering effort (more trail = more torque needed)</a:t>
            </a:r>
          </a:p>
          <a:p>
            <a:pPr>
              <a:spcAft>
                <a:spcPts val="600"/>
              </a:spcAft>
              <a:defRPr sz="1800">
                <a:solidFill>
                  <a:srgbClr val="333333"/>
                </a:solidFill>
              </a:defRPr>
            </a:pPr>
            <a:r>
              <a:t>Better feedback to driver</a:t>
            </a:r>
          </a:p>
          <a:p>
            <a:pPr>
              <a:spcAft>
                <a:spcPts val="1000"/>
              </a:spcAft>
              <a:defRPr sz="1800">
                <a:solidFill>
                  <a:srgbClr val="333333"/>
                </a:solidFill>
              </a:defRPr>
            </a:pPr>
            <a:r>
              <a:t>❌ Negative Caster (rare, avoided): — No self-centering</a:t>
            </a:r>
          </a:p>
          <a:p>
            <a:pPr>
              <a:spcAft>
                <a:spcPts val="600"/>
              </a:spcAft>
              <a:defRPr sz="1800">
                <a:solidFill>
                  <a:srgbClr val="333333"/>
                </a:solidFill>
              </a:defRPr>
            </a:pPr>
            <a:r>
              <a:t>Wandering steering</a:t>
            </a:r>
          </a:p>
          <a:p>
            <a:pPr>
              <a:spcAft>
                <a:spcPts val="600"/>
              </a:spcAft>
              <a:defRPr sz="1800">
                <a:solidFill>
                  <a:srgbClr val="333333"/>
                </a:solidFill>
              </a:defRPr>
            </a:pPr>
            <a:r>
              <a:t>Unstable at speed</a:t>
            </a:r>
          </a:p>
          <a:p>
            <a:pPr>
              <a:spcAft>
                <a:spcPts val="1000"/>
              </a:spcAft>
              <a:defRPr sz="1800">
                <a:solidFill>
                  <a:srgbClr val="333333"/>
                </a:solidFill>
              </a:defRPr>
            </a:pPr>
            <a:r>
              <a:t>Real-World Values: — Economy cars: +2° to +4° (lighter steering, adequate stability)</a:t>
            </a:r>
          </a:p>
          <a:p>
            <a:pPr>
              <a:spcAft>
                <a:spcPts val="600"/>
              </a:spcAft>
              <a:defRPr sz="1800">
                <a:solidFill>
                  <a:srgbClr val="333333"/>
                </a:solidFill>
              </a:defRPr>
            </a:pPr>
            <a:r>
              <a:t>Sports cars: +5° to +7° (strong self-centering, better feel, heavier steering)</a:t>
            </a:r>
          </a:p>
          <a:p>
            <a:pPr>
              <a:spcAft>
                <a:spcPts val="600"/>
              </a:spcAft>
              <a:defRPr sz="1800">
                <a:solidFill>
                  <a:srgbClr val="333333"/>
                </a:solidFill>
              </a:defRPr>
            </a:pPr>
            <a:r>
              <a:t>Trucks/SUVs: +3° to +5° (balance of stability and effort)</a:t>
            </a:r>
          </a:p>
          <a:p>
            <a:pPr>
              <a:spcAft>
                <a:spcPts val="1000"/>
              </a:spcAft>
              <a:defRPr sz="1800">
                <a:solidFill>
                  <a:srgbClr val="333333"/>
                </a:solidFill>
              </a:defRPr>
            </a:pPr>
            <a:r>
              <a:t>Instructor Narration (continued):</a:t>
            </a:r>
          </a:p>
          <a:p>
            <a:pPr>
              <a:spcAft>
                <a:spcPts val="1000"/>
              </a:spcAft>
              <a:defRPr sz="1800">
                <a:solidFill>
                  <a:srgbClr val="333333"/>
                </a:solidFill>
              </a:defRPr>
            </a:pPr>
            <a:r>
              <a:t>Have you noticed that when you let go of the steering wheel after a turn, it automatically returns to center? That's positive caster at work. Race cars use very high caster (8-10°) for maximum feedback, but your arms would get tired in daily driving!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Camber Angle - Tire Contact Optimization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Camber is the inward or outward tilt of the wheel when viewed from the front.</a:t>
            </a:r>
          </a:p>
          <a:p>
            <a:pPr>
              <a:spcAft>
                <a:spcPts val="1000"/>
              </a:spcAft>
              <a:defRPr sz="1800">
                <a:solidFill>
                  <a:srgbClr val="333333"/>
                </a:solidFill>
              </a:defRPr>
            </a:pPr>
            <a:r>
              <a:t>Negative Camber: Top of wheel tilts inward (toward the vehicle center)</a:t>
            </a:r>
          </a:p>
          <a:p>
            <a:pPr>
              <a:spcAft>
                <a:spcPts val="1000"/>
              </a:spcAft>
              <a:defRPr sz="1800">
                <a:solidFill>
                  <a:srgbClr val="333333"/>
                </a:solidFill>
              </a:defRPr>
            </a:pPr>
            <a:r>
              <a:t>Positive Camber: Top of wheel tilts outward (away from vehicle center)</a:t>
            </a:r>
          </a:p>
          <a:p>
            <a:pPr>
              <a:spcAft>
                <a:spcPts val="1000"/>
              </a:spcAft>
              <a:defRPr sz="1800">
                <a:solidFill>
                  <a:srgbClr val="333333"/>
                </a:solidFill>
              </a:defRPr>
            </a:pPr>
            <a:r>
              <a:t>Why do we use camber?</a:t>
            </a:r>
          </a:p>
          <a:p>
            <a:pPr>
              <a:spcAft>
                <a:spcPts val="1000"/>
              </a:spcAft>
              <a:defRPr sz="1800">
                <a:solidFill>
                  <a:srgbClr val="333333"/>
                </a:solidFill>
              </a:defRPr>
            </a:pPr>
            <a:r>
              <a:t>It's all about maintaining optimal tire contact during cornering.</a:t>
            </a:r>
          </a:p>
          <a:p>
            <a:pPr>
              <a:spcAft>
                <a:spcPts val="1000"/>
              </a:spcAft>
              <a:defRPr sz="1800">
                <a:solidFill>
                  <a:srgbClr val="333333"/>
                </a:solidFill>
              </a:defRPr>
            </a:pPr>
            <a:r>
              <a:t>The Physics:</a:t>
            </a:r>
          </a:p>
          <a:p>
            <a:pPr>
              <a:spcAft>
                <a:spcPts val="1000"/>
              </a:spcAft>
              <a:defRPr sz="1800">
                <a:solidFill>
                  <a:srgbClr val="333333"/>
                </a:solidFill>
              </a:defRPr>
            </a:pPr>
            <a:r>
              <a:t>When a car corners, the body rolls outward (we calculated this roll motion in Session 9's lateral load transfer!). This body roll would cause the outside tire to lean outward, reducing contact patch area.</a:t>
            </a:r>
          </a:p>
          <a:p>
            <a:pPr>
              <a:spcAft>
                <a:spcPts val="1000"/>
              </a:spcAft>
              <a:defRPr sz="1800">
                <a:solidFill>
                  <a:srgbClr val="333333"/>
                </a:solidFill>
              </a:defRPr>
            </a:pPr>
            <a:r>
              <a:t>By starting with slight negative camber at rest, when the car corners and rolls, the tire straightens up and maintains full contact with the road.</a:t>
            </a:r>
          </a:p>
          <a:p>
            <a:pPr>
              <a:spcAft>
                <a:spcPts val="1000"/>
              </a:spcAft>
              <a:defRPr sz="1800">
                <a:solidFill>
                  <a:srgbClr val="333333"/>
                </a:solidFill>
              </a:defRPr>
            </a:pPr>
            <a:r>
              <a:t>Effects of Camber:</a:t>
            </a:r>
          </a:p>
          <a:p>
            <a:pPr>
              <a:spcAft>
                <a:spcPts val="1000"/>
              </a:spcAft>
              <a:defRPr sz="1800">
                <a:solidFill>
                  <a:srgbClr val="333333"/>
                </a:solidFill>
              </a:defRPr>
            </a:pPr>
            <a:r>
              <a:t>✅ Slight Negative Camber (-0.5° to -2°): — Better cornering grip (tire stays flat during body roll)</a:t>
            </a:r>
          </a:p>
          <a:p>
            <a:pPr>
              <a:spcAft>
                <a:spcPts val="600"/>
              </a:spcAft>
              <a:defRPr sz="1800">
                <a:solidFill>
                  <a:srgbClr val="333333"/>
                </a:solidFill>
              </a:defRPr>
            </a:pPr>
            <a:r>
              <a:t>More even tire wear (if set correctly)</a:t>
            </a:r>
          </a:p>
          <a:p>
            <a:pPr>
              <a:spcAft>
                <a:spcPts val="600"/>
              </a:spcAft>
              <a:defRPr sz="1800">
                <a:solidFill>
                  <a:srgbClr val="333333"/>
                </a:solidFill>
              </a:defRPr>
            </a:pPr>
            <a:r>
              <a:t>Common in modern sports cars</a:t>
            </a:r>
          </a:p>
          <a:p>
            <a:pPr>
              <a:spcAft>
                <a:spcPts val="1000"/>
              </a:spcAft>
              <a:defRPr sz="1800">
                <a:solidFill>
                  <a:srgbClr val="333333"/>
                </a:solidFill>
              </a:defRPr>
            </a:pPr>
            <a:r>
              <a:t>⚖️ Zero Camber (0°): — Maximum straight-line contact patch</a:t>
            </a:r>
          </a:p>
          <a:p>
            <a:pPr>
              <a:spcAft>
                <a:spcPts val="600"/>
              </a:spcAft>
              <a:defRPr sz="1800">
                <a:solidFill>
                  <a:srgbClr val="333333"/>
                </a:solidFill>
              </a:defRPr>
            </a:pPr>
            <a:r>
              <a:t>Simple, no special effects</a:t>
            </a:r>
          </a:p>
          <a:p>
            <a:pPr>
              <a:spcAft>
                <a:spcPts val="600"/>
              </a:spcAft>
              <a:defRPr sz="1800">
                <a:solidFill>
                  <a:srgbClr val="333333"/>
                </a:solidFill>
              </a:defRPr>
            </a:pPr>
            <a:r>
              <a:t>Common in trucks and economy cars</a:t>
            </a:r>
          </a:p>
          <a:p>
            <a:pPr>
              <a:spcAft>
                <a:spcPts val="1000"/>
              </a:spcAft>
              <a:defRPr sz="1800">
                <a:solidFill>
                  <a:srgbClr val="333333"/>
                </a:solidFill>
              </a:defRPr>
            </a:pPr>
            <a:r>
              <a:t>❌ Excessive Negative Camber (-3° or more): — Inner tire edge wears rapidly</a:t>
            </a:r>
          </a:p>
          <a:p>
            <a:pPr>
              <a:spcAft>
                <a:spcPts val="600"/>
              </a:spcAft>
              <a:defRPr sz="1800">
                <a:solidFill>
                  <a:srgbClr val="333333"/>
                </a:solidFill>
              </a:defRPr>
            </a:pPr>
            <a:r>
              <a:t>Reduced straight-line grip</a:t>
            </a:r>
          </a:p>
          <a:p>
            <a:pPr>
              <a:spcAft>
                <a:spcPts val="600"/>
              </a:spcAft>
              <a:defRPr sz="1800">
                <a:solidFill>
                  <a:srgbClr val="333333"/>
                </a:solidFill>
              </a:defRPr>
            </a:pPr>
            <a:r>
              <a:t>Used only in racing (extreme cornering grip prioritized)</a:t>
            </a:r>
          </a:p>
          <a:p>
            <a:pPr>
              <a:spcAft>
                <a:spcPts val="1000"/>
              </a:spcAft>
              <a:defRPr sz="1800">
                <a:solidFill>
                  <a:srgbClr val="333333"/>
                </a:solidFill>
              </a:defRPr>
            </a:pPr>
            <a:r>
              <a:t>❌ Positive Camber (+1° or more): — Outer tire edge wears rapidly</a:t>
            </a:r>
          </a:p>
          <a:p>
            <a:pPr>
              <a:spcAft>
                <a:spcPts val="600"/>
              </a:spcAft>
              <a:defRPr sz="1800">
                <a:solidFill>
                  <a:srgbClr val="333333"/>
                </a:solidFill>
              </a:defRPr>
            </a:pPr>
            <a:r>
              <a:t>Generally avoided in modern cars</a:t>
            </a:r>
          </a:p>
          <a:p>
            <a:pPr>
              <a:spcAft>
                <a:spcPts val="600"/>
              </a:spcAft>
              <a:defRPr sz="1800">
                <a:solidFill>
                  <a:srgbClr val="333333"/>
                </a:solidFill>
              </a:defRPr>
            </a:pPr>
            <a:r>
              <a:t>Was used in old vehicles with solid axles</a:t>
            </a:r>
          </a:p>
          <a:p>
            <a:pPr>
              <a:spcAft>
                <a:spcPts val="1000"/>
              </a:spcAft>
              <a:defRPr sz="1800">
                <a:solidFill>
                  <a:srgbClr val="333333"/>
                </a:solidFill>
              </a:defRPr>
            </a:pPr>
            <a:r>
              <a:t>Real-World Values: — Economy cars: -0.5° to 0° (prioritize tire wear and comfort)</a:t>
            </a:r>
          </a:p>
          <a:p>
            <a:pPr>
              <a:spcAft>
                <a:spcPts val="600"/>
              </a:spcAft>
              <a:defRPr sz="1800">
                <a:solidFill>
                  <a:srgbClr val="333333"/>
                </a:solidFill>
              </a:defRPr>
            </a:pPr>
            <a:r>
              <a:t>Sports cars: -1° to -2° (prioritize cornering)</a:t>
            </a:r>
          </a:p>
          <a:p>
            <a:pPr>
              <a:spcAft>
                <a:spcPts val="600"/>
              </a:spcAft>
              <a:defRPr sz="1800">
                <a:solidFill>
                  <a:srgbClr val="333333"/>
                </a:solidFill>
              </a:defRPr>
            </a:pPr>
            <a:r>
              <a:t>Race cars: -3° to -5° (maximum cornering, tire wear ignored)</a:t>
            </a:r>
          </a:p>
          <a:p>
            <a:pPr>
              <a:spcAft>
                <a:spcPts val="1000"/>
              </a:spcAft>
              <a:defRPr sz="1800">
                <a:solidFill>
                  <a:srgbClr val="333333"/>
                </a:solidFill>
              </a:defRPr>
            </a:pPr>
            <a:r>
              <a:t>Instructor Narration (continued):</a:t>
            </a:r>
          </a:p>
          <a:p>
            <a:pPr>
              <a:spcAft>
                <a:spcPts val="1000"/>
              </a:spcAft>
              <a:defRPr sz="1800">
                <a:solidFill>
                  <a:srgbClr val="333333"/>
                </a:solidFill>
              </a:defRPr>
            </a:pPr>
            <a:r>
              <a:t>If you've ever seen those cars with extremely tilted wheels (stance culture), they're running -10° to -15° camber. This is purely aesthetic—it destroys tires and handling. Don't do it on your personal car!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Toe Angle - Straight-Line Tracking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Toe is the slight inward or outward pointing of the wheels when viewed from above.</a:t>
            </a:r>
          </a:p>
          <a:p>
            <a:pPr>
              <a:spcAft>
                <a:spcPts val="1000"/>
              </a:spcAft>
              <a:defRPr sz="1800">
                <a:solidFill>
                  <a:srgbClr val="333333"/>
                </a:solidFill>
              </a:defRPr>
            </a:pPr>
            <a:r>
              <a:t>Toe-In: Front edges of wheels closer together than rear edges</a:t>
            </a:r>
          </a:p>
          <a:p>
            <a:pPr>
              <a:spcAft>
                <a:spcPts val="1000"/>
              </a:spcAft>
              <a:defRPr sz="1800">
                <a:solidFill>
                  <a:srgbClr val="333333"/>
                </a:solidFill>
              </a:defRPr>
            </a:pPr>
            <a:r>
              <a:t>Toe-Out: Front edges of wheels farther apart than rear edges</a:t>
            </a:r>
          </a:p>
          <a:p>
            <a:pPr>
              <a:spcAft>
                <a:spcPts val="1000"/>
              </a:spcAft>
              <a:defRPr sz="1800">
                <a:solidFill>
                  <a:srgbClr val="333333"/>
                </a:solidFill>
              </a:defRPr>
            </a:pPr>
            <a:r>
              <a:t>Toe is measured in millimeters (distance difference between front and rear of tires) or degrees.</a:t>
            </a:r>
          </a:p>
          <a:p>
            <a:pPr>
              <a:defRPr sz="1400">
                <a:solidFill>
                  <a:srgbClr val="787878"/>
                </a:solidFill>
                <a:latin typeface="Consolas"/>
              </a:defRPr>
            </a:pPr>
            <a:r>
              <a:t>Toe-In:  Front wheels point slightly inward  [  /\  ]</a:t>
            </a:r>
            <a:br/>
            <a:r>
              <a:t>Toe-Out: Front wheels point slightly outward [  \/  ]</a:t>
            </a:r>
          </a:p>
          <a:p>
            <a:pPr>
              <a:spcAft>
                <a:spcPts val="1000"/>
              </a:spcAft>
              <a:defRPr sz="1800">
                <a:solidFill>
                  <a:srgbClr val="333333"/>
                </a:solidFill>
              </a:defRPr>
            </a:pPr>
            <a:r>
              <a:t>Why do we use toe?</a:t>
            </a:r>
          </a:p>
          <a:p>
            <a:pPr>
              <a:spcAft>
                <a:spcPts val="1000"/>
              </a:spcAft>
              <a:defRPr sz="1800">
                <a:solidFill>
                  <a:srgbClr val="333333"/>
                </a:solidFill>
              </a:defRPr>
            </a:pPr>
            <a:r>
              <a:t>It compensates for suspension compliance and road forces.</a:t>
            </a:r>
          </a:p>
          <a:p>
            <a:pPr>
              <a:spcAft>
                <a:spcPts val="1000"/>
              </a:spcAft>
              <a:defRPr sz="1800">
                <a:solidFill>
                  <a:srgbClr val="333333"/>
                </a:solidFill>
              </a:defRPr>
            </a:pPr>
            <a:r>
              <a:t>The Physics:</a:t>
            </a:r>
          </a:p>
          <a:p>
            <a:pPr>
              <a:spcAft>
                <a:spcPts val="1000"/>
              </a:spcAft>
              <a:defRPr sz="1800">
                <a:solidFill>
                  <a:srgbClr val="333333"/>
                </a:solidFill>
              </a:defRPr>
            </a:pPr>
            <a:r>
              <a:t>When you're driving, road forces push and pull on the wheels. On a FWD car, the driving force tends to push the front wheels outward. On a RWD car, resistance tends to push them inward.</a:t>
            </a:r>
          </a:p>
          <a:p>
            <a:pPr>
              <a:spcAft>
                <a:spcPts val="1000"/>
              </a:spcAft>
              <a:defRPr sz="1800">
                <a:solidFill>
                  <a:srgbClr val="333333"/>
                </a:solidFill>
              </a:defRPr>
            </a:pPr>
            <a:r>
              <a:t>By pre-setting a small toe angle, the wheels align themselves perfectly when driving forces are applied.</a:t>
            </a:r>
          </a:p>
          <a:p>
            <a:pPr>
              <a:spcAft>
                <a:spcPts val="1000"/>
              </a:spcAft>
              <a:defRPr sz="1800">
                <a:solidFill>
                  <a:srgbClr val="333333"/>
                </a:solidFill>
              </a:defRPr>
            </a:pPr>
            <a:r>
              <a:t>Effects of Toe:</a:t>
            </a:r>
          </a:p>
          <a:p>
            <a:pPr>
              <a:spcAft>
                <a:spcPts val="1000"/>
              </a:spcAft>
              <a:defRPr sz="1800">
                <a:solidFill>
                  <a:srgbClr val="333333"/>
                </a:solidFill>
              </a:defRPr>
            </a:pPr>
            <a:r>
              <a:t>✅ Slight Toe-In (0-3 mm): — Improved straight-line stability</a:t>
            </a:r>
          </a:p>
          <a:p>
            <a:pPr>
              <a:spcAft>
                <a:spcPts val="600"/>
              </a:spcAft>
              <a:defRPr sz="1800">
                <a:solidFill>
                  <a:srgbClr val="333333"/>
                </a:solidFill>
              </a:defRPr>
            </a:pPr>
            <a:r>
              <a:t>Slight inward pull counteracts road forces</a:t>
            </a:r>
          </a:p>
          <a:p>
            <a:pPr>
              <a:spcAft>
                <a:spcPts val="600"/>
              </a:spcAft>
              <a:defRPr sz="1800">
                <a:solidFill>
                  <a:srgbClr val="333333"/>
                </a:solidFill>
              </a:defRPr>
            </a:pPr>
            <a:r>
              <a:t>Common on RWD cars and rear axles</a:t>
            </a:r>
          </a:p>
          <a:p>
            <a:pPr>
              <a:spcAft>
                <a:spcPts val="1000"/>
              </a:spcAft>
              <a:defRPr sz="1800">
                <a:solidFill>
                  <a:srgbClr val="333333"/>
                </a:solidFill>
              </a:defRPr>
            </a:pPr>
            <a:r>
              <a:t>✅ Slight Toe-Out (0-2 mm): — Quicker steering response (wheels already pointed outward for turn initiation)</a:t>
            </a:r>
          </a:p>
          <a:p>
            <a:pPr>
              <a:spcAft>
                <a:spcPts val="600"/>
              </a:spcAft>
              <a:defRPr sz="1800">
                <a:solidFill>
                  <a:srgbClr val="333333"/>
                </a:solidFill>
              </a:defRPr>
            </a:pPr>
            <a:r>
              <a:t>Less straight-line stability</a:t>
            </a:r>
          </a:p>
          <a:p>
            <a:pPr>
              <a:spcAft>
                <a:spcPts val="600"/>
              </a:spcAft>
              <a:defRPr sz="1800">
                <a:solidFill>
                  <a:srgbClr val="333333"/>
                </a:solidFill>
              </a:defRPr>
            </a:pPr>
            <a:r>
              <a:t>Sometimes used on FWD front axles</a:t>
            </a:r>
          </a:p>
          <a:p>
            <a:pPr>
              <a:spcAft>
                <a:spcPts val="1000"/>
              </a:spcAft>
              <a:defRPr sz="1800">
                <a:solidFill>
                  <a:srgbClr val="333333"/>
                </a:solidFill>
              </a:defRPr>
            </a:pPr>
            <a:r>
              <a:t>❌ Excessive Toe (&gt;5 mm either direction): — Rapid tire wear (tires are constantly scrubbing)</a:t>
            </a:r>
          </a:p>
          <a:p>
            <a:pPr>
              <a:spcAft>
                <a:spcPts val="600"/>
              </a:spcAft>
              <a:defRPr sz="1800">
                <a:solidFill>
                  <a:srgbClr val="333333"/>
                </a:solidFill>
              </a:defRPr>
            </a:pPr>
            <a:r>
              <a:t>"Feathering" wear pattern on tire edges</a:t>
            </a:r>
          </a:p>
          <a:p>
            <a:pPr>
              <a:spcAft>
                <a:spcPts val="600"/>
              </a:spcAft>
              <a:defRPr sz="1800">
                <a:solidFill>
                  <a:srgbClr val="333333"/>
                </a:solidFill>
              </a:defRPr>
            </a:pPr>
            <a:r>
              <a:t>Reduced fuel economy (tires fighting each other)</a:t>
            </a:r>
          </a:p>
          <a:p>
            <a:pPr>
              <a:spcAft>
                <a:spcPts val="1000"/>
              </a:spcAft>
              <a:defRPr sz="1800">
                <a:solidFill>
                  <a:srgbClr val="333333"/>
                </a:solidFill>
              </a:defRPr>
            </a:pPr>
            <a:r>
              <a:t>❌ Zero Toe: — Can work if suspension is very stiff</a:t>
            </a:r>
          </a:p>
          <a:p>
            <a:pPr>
              <a:spcAft>
                <a:spcPts val="600"/>
              </a:spcAft>
              <a:defRPr sz="1800">
                <a:solidFill>
                  <a:srgbClr val="333333"/>
                </a:solidFill>
              </a:defRPr>
            </a:pPr>
            <a:r>
              <a:t>May cause wandering on rough roads</a:t>
            </a:r>
          </a:p>
          <a:p>
            <a:pPr>
              <a:spcAft>
                <a:spcPts val="600"/>
              </a:spcAft>
              <a:defRPr sz="1800">
                <a:solidFill>
                  <a:srgbClr val="333333"/>
                </a:solidFill>
              </a:defRPr>
            </a:pPr>
            <a:r>
              <a:t>Tires may wear unevenly</a:t>
            </a:r>
          </a:p>
          <a:p>
            <a:pPr>
              <a:spcAft>
                <a:spcPts val="1000"/>
              </a:spcAft>
              <a:defRPr sz="1800">
                <a:solidFill>
                  <a:srgbClr val="333333"/>
                </a:solidFill>
              </a:defRPr>
            </a:pPr>
            <a:r>
              <a:t>Real-World Values: — Front axle (FWD): 0-2 mm toe-out</a:t>
            </a:r>
          </a:p>
          <a:p>
            <a:pPr>
              <a:spcAft>
                <a:spcPts val="600"/>
              </a:spcAft>
              <a:defRPr sz="1800">
                <a:solidFill>
                  <a:srgbClr val="333333"/>
                </a:solidFill>
              </a:defRPr>
            </a:pPr>
            <a:r>
              <a:t>Front axle (RWD): 1-3 mm toe-in</a:t>
            </a:r>
          </a:p>
          <a:p>
            <a:pPr>
              <a:spcAft>
                <a:spcPts val="600"/>
              </a:spcAft>
              <a:defRPr sz="1800">
                <a:solidFill>
                  <a:srgbClr val="333333"/>
                </a:solidFill>
              </a:defRPr>
            </a:pPr>
            <a:r>
              <a:t>Rear axle (most cars): 1-3 mm toe-in (for stability)</a:t>
            </a:r>
          </a:p>
          <a:p>
            <a:pPr>
              <a:spcAft>
                <a:spcPts val="1000"/>
              </a:spcAft>
              <a:defRPr sz="1800">
                <a:solidFill>
                  <a:srgbClr val="333333"/>
                </a:solidFill>
              </a:defRPr>
            </a:pPr>
            <a:r>
              <a:t>Instructor Narration (continued):</a:t>
            </a:r>
          </a:p>
          <a:p>
            <a:pPr>
              <a:spcAft>
                <a:spcPts val="1000"/>
              </a:spcAft>
              <a:defRPr sz="1800">
                <a:solidFill>
                  <a:srgbClr val="333333"/>
                </a:solidFill>
              </a:defRPr>
            </a:pPr>
            <a:r>
              <a:t>Toe is the most critical alignment for tire wear. If your toe is off by even 5 mm, your tires will develop a 'feathered' edge pattern and wear out in 10,000 km instead of 50,000 km. Always check toe when you replace suspension components!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Kingpin Inclination (KPI) - Steering Geometry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fourth angle is Kingpin Inclination (KPI)—also called Steering Axis Inclination (SAI).</a:t>
            </a:r>
          </a:p>
          <a:p>
            <a:pPr>
              <a:spcAft>
                <a:spcPts val="1000"/>
              </a:spcAft>
              <a:defRPr sz="1800">
                <a:solidFill>
                  <a:srgbClr val="333333"/>
                </a:solidFill>
              </a:defRPr>
            </a:pPr>
            <a:r>
              <a:t>This is the inward tilt of the steering axis when viewed from the front.</a:t>
            </a:r>
          </a:p>
          <a:p>
            <a:pPr>
              <a:spcAft>
                <a:spcPts val="1000"/>
              </a:spcAft>
              <a:defRPr sz="1800">
                <a:solidFill>
                  <a:srgbClr val="333333"/>
                </a:solidFill>
              </a:defRPr>
            </a:pPr>
            <a:r>
              <a:t>The Steering Axis is the imaginary line connecting:</a:t>
            </a:r>
          </a:p>
          <a:p>
            <a:pPr>
              <a:spcAft>
                <a:spcPts val="600"/>
              </a:spcAft>
              <a:defRPr sz="1800">
                <a:solidFill>
                  <a:srgbClr val="333333"/>
                </a:solidFill>
              </a:defRPr>
            </a:pPr>
            <a:r>
              <a:t>Top ball joint (or strut mount) to</a:t>
            </a:r>
          </a:p>
          <a:p>
            <a:pPr>
              <a:spcAft>
                <a:spcPts val="600"/>
              </a:spcAft>
              <a:defRPr sz="1800">
                <a:solidFill>
                  <a:srgbClr val="333333"/>
                </a:solidFill>
              </a:defRPr>
            </a:pPr>
            <a:r>
              <a:t>Lower ball joint</a:t>
            </a:r>
          </a:p>
          <a:p>
            <a:pPr>
              <a:spcAft>
                <a:spcPts val="1000"/>
              </a:spcAft>
              <a:defRPr sz="1800">
                <a:solidFill>
                  <a:srgbClr val="333333"/>
                </a:solidFill>
              </a:defRPr>
            </a:pPr>
            <a:r>
              <a:t>This axis is tilted inward at the top, typically 5° to 15°.</a:t>
            </a:r>
          </a:p>
          <a:p>
            <a:pPr>
              <a:spcAft>
                <a:spcPts val="1000"/>
              </a:spcAft>
              <a:defRPr sz="1800">
                <a:solidFill>
                  <a:srgbClr val="333333"/>
                </a:solidFill>
              </a:defRPr>
            </a:pPr>
            <a:r>
              <a:t>Why tilt the steering axis?</a:t>
            </a:r>
          </a:p>
          <a:p>
            <a:pPr>
              <a:spcAft>
                <a:spcPts val="1000"/>
              </a:spcAft>
              <a:defRPr sz="1800">
                <a:solidFill>
                  <a:srgbClr val="333333"/>
                </a:solidFill>
              </a:defRPr>
            </a:pPr>
            <a:r>
              <a:t>Two reasons: self-centering and reduced scrub radius.</a:t>
            </a:r>
          </a:p>
          <a:p>
            <a:pPr>
              <a:spcAft>
                <a:spcPts val="1000"/>
              </a:spcAft>
              <a:defRPr sz="1800">
                <a:solidFill>
                  <a:srgbClr val="333333"/>
                </a:solidFill>
              </a:defRPr>
            </a:pPr>
            <a:r>
              <a:t>Effect 1: Self-Centering (Vertical Lift)</a:t>
            </a:r>
          </a:p>
          <a:p>
            <a:pPr>
              <a:spcAft>
                <a:spcPts val="1000"/>
              </a:spcAft>
              <a:defRPr sz="1800">
                <a:solidFill>
                  <a:srgbClr val="333333"/>
                </a:solidFill>
              </a:defRPr>
            </a:pPr>
            <a:r>
              <a:t>When you turn the steering wheel, the tilted steering axis tries to lift the front of the car. The weight of the car resists this lift, creating a torque that wants to return the wheel to center.</a:t>
            </a:r>
          </a:p>
          <a:p>
            <a:pPr>
              <a:spcAft>
                <a:spcPts val="1000"/>
              </a:spcAft>
              <a:defRPr sz="1800">
                <a:solidFill>
                  <a:srgbClr val="333333"/>
                </a:solidFill>
              </a:defRPr>
            </a:pPr>
            <a:r>
              <a:t>Try this experiment: Jack up your car's front wheel. Turn the steering—it's easy! Now lower the car and try turning—much harder. That's KPI creating self-centering force.</a:t>
            </a:r>
          </a:p>
          <a:p>
            <a:pPr>
              <a:spcAft>
                <a:spcPts val="1000"/>
              </a:spcAft>
              <a:defRPr sz="1800">
                <a:solidFill>
                  <a:srgbClr val="333333"/>
                </a:solidFill>
              </a:defRPr>
            </a:pPr>
            <a:r>
              <a:t>Effect 2: Scrub Radius</a:t>
            </a:r>
          </a:p>
          <a:p>
            <a:pPr>
              <a:spcAft>
                <a:spcPts val="1000"/>
              </a:spcAft>
              <a:defRPr sz="1800">
                <a:solidFill>
                  <a:srgbClr val="333333"/>
                </a:solidFill>
              </a:defRPr>
            </a:pPr>
            <a:r>
              <a:t>The scrub radius is the horizontal distance between:</a:t>
            </a:r>
          </a:p>
          <a:p>
            <a:pPr>
              <a:spcAft>
                <a:spcPts val="600"/>
              </a:spcAft>
              <a:defRPr sz="1800">
                <a:solidFill>
                  <a:srgbClr val="333333"/>
                </a:solidFill>
              </a:defRPr>
            </a:pPr>
            <a:r>
              <a:t>Where the steering axis intersects the road, and</a:t>
            </a:r>
          </a:p>
          <a:p>
            <a:pPr>
              <a:spcAft>
                <a:spcPts val="600"/>
              </a:spcAft>
              <a:defRPr sz="1800">
                <a:solidFill>
                  <a:srgbClr val="333333"/>
                </a:solidFill>
              </a:defRPr>
            </a:pPr>
            <a:r>
              <a:t>The center of the tire contact patch</a:t>
            </a:r>
          </a:p>
          <a:p>
            <a:pPr>
              <a:defRPr sz="1400">
                <a:solidFill>
                  <a:srgbClr val="787878"/>
                </a:solidFill>
                <a:latin typeface="Consolas"/>
              </a:defRPr>
            </a:pPr>
            <a:r>
              <a:t>Positive Scrub Radius: Steering axis inside contact patch</a:t>
            </a:r>
            <a:br/>
            <a:r>
              <a:t>Zero Scrub Radius: Steering axis at contact patch center</a:t>
            </a:r>
            <a:br/>
            <a:r>
              <a:t>Negative Scrub Radius: Steering axis outside contact patch</a:t>
            </a:r>
          </a:p>
          <a:p>
            <a:pPr>
              <a:spcAft>
                <a:spcPts val="1000"/>
              </a:spcAft>
              <a:defRPr sz="1800">
                <a:solidFill>
                  <a:srgbClr val="333333"/>
                </a:solidFill>
              </a:defRPr>
            </a:pPr>
            <a:r>
              <a:t>Modern cars use slightly negative scrub radius because:</a:t>
            </a:r>
          </a:p>
          <a:p>
            <a:pPr>
              <a:spcAft>
                <a:spcPts val="600"/>
              </a:spcAft>
              <a:defRPr sz="1800">
                <a:solidFill>
                  <a:srgbClr val="333333"/>
                </a:solidFill>
              </a:defRPr>
            </a:pPr>
            <a:r>
              <a:t>Better straight-line stability during braking (especially if one brake fails)</a:t>
            </a:r>
          </a:p>
          <a:p>
            <a:pPr>
              <a:spcAft>
                <a:spcPts val="600"/>
              </a:spcAft>
              <a:defRPr sz="1800">
                <a:solidFill>
                  <a:srgbClr val="333333"/>
                </a:solidFill>
              </a:defRPr>
            </a:pPr>
            <a:r>
              <a:t>Reduced steering kickback over bumps</a:t>
            </a:r>
          </a:p>
          <a:p>
            <a:pPr>
              <a:spcAft>
                <a:spcPts val="600"/>
              </a:spcAft>
              <a:defRPr sz="1800">
                <a:solidFill>
                  <a:srgbClr val="333333"/>
                </a:solidFill>
              </a:defRPr>
            </a:pPr>
            <a:r>
              <a:t>Improved feel and feedback</a:t>
            </a:r>
          </a:p>
          <a:p>
            <a:pPr>
              <a:spcAft>
                <a:spcPts val="1000"/>
              </a:spcAft>
              <a:defRPr sz="1800">
                <a:solidFill>
                  <a:srgbClr val="333333"/>
                </a:solidFill>
              </a:defRPr>
            </a:pPr>
            <a:r>
              <a:t>Real-World Values: — KPI: 5° to 15° (not adjustable, built into suspension geometry)</a:t>
            </a:r>
          </a:p>
          <a:p>
            <a:pPr>
              <a:spcAft>
                <a:spcPts val="600"/>
              </a:spcAft>
              <a:defRPr sz="1800">
                <a:solidFill>
                  <a:srgbClr val="333333"/>
                </a:solidFill>
              </a:defRPr>
            </a:pPr>
            <a:r>
              <a:t>Scrub Radius: —5 mm to +15 mm (varies by design)</a:t>
            </a:r>
          </a:p>
          <a:p>
            <a:pPr>
              <a:spcAft>
                <a:spcPts val="1000"/>
              </a:spcAft>
              <a:defRPr sz="1800">
                <a:solidFill>
                  <a:srgbClr val="333333"/>
                </a:solidFill>
              </a:defRPr>
            </a:pPr>
            <a:r>
              <a:t>Instructor Narration (continued):</a:t>
            </a:r>
          </a:p>
          <a:p>
            <a:pPr>
              <a:spcAft>
                <a:spcPts val="1000"/>
              </a:spcAft>
              <a:defRPr sz="1800">
                <a:solidFill>
                  <a:srgbClr val="333333"/>
                </a:solidFill>
              </a:defRPr>
            </a:pPr>
            <a:r>
              <a:t>KPI is not adjustable—it's designed into the suspension geometry. If your KPI is wrong, it means suspension components are bent or damaged (usually from a serious impact). This requires replacement, not adjustment.</a:t>
            </a:r>
          </a:p>
          <a:p>
            <a:pPr>
              <a:spcAft>
                <a:spcPts val="1000"/>
              </a:spcAft>
              <a:defRPr sz="1800">
                <a:solidFill>
                  <a:srgbClr val="333333"/>
                </a:solidFill>
              </a:defRPr>
            </a:pPr>
            <a:r>
              <a:t>KEY TAKEAWAY BOX:</a:t>
            </a:r>
          </a:p>
          <a:p>
            <a:pPr>
              <a:defRPr sz="1400">
                <a:solidFill>
                  <a:srgbClr val="787878"/>
                </a:solidFill>
                <a:latin typeface="Consolas"/>
              </a:defRPr>
            </a:pPr>
            <a:r>
              <a:t>FOUR ALIGNMENT ANGLES SUMMARY:</a:t>
            </a:r>
            <a:br/>
            <a:br/>
            <a:r>
              <a:t>1. CASTER: Self-centering (shopping cart effect)</a:t>
            </a:r>
            <a:br/>
            <a:r>
              <a:t>2. CAMBER: Tire contact during cornering</a:t>
            </a:r>
            <a:br/>
            <a:r>
              <a:t>3. TOE: Straight-line tracking and tire wear</a:t>
            </a:r>
            <a:br/>
            <a:r>
              <a:t>4. KPI: Self-centering and scrub radius control</a:t>
            </a:r>
            <a:br/>
            <a:br/>
            <a:r>
              <a:t>Only Camber and Toe are regularly adjusted during wheel alignment.</a:t>
            </a:r>
            <a:br/>
            <a:r>
              <a:t>Caster is sometimes adjustable (with special bolts).</a:t>
            </a:r>
            <a:br/>
            <a:r>
              <a:t>KPI is never adjustable (designed into suspension).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3: RISING ACTION - "Converting Rotation to Translation</a:t>
            </a:r>
          </a:p>
        </p:txBody>
      </p:sp>
      <p:sp>
        <p:nvSpPr>
          <p:cNvPr id="3" name="Subtitle 2"/>
          <p:cNvSpPr>
            <a:spLocks noGrp="1"/>
          </p:cNvSpPr>
          <p:nvPr>
            <p:ph type="subTitle" idx="1"/>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Steering Mechanism Challenge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We've mastered the geometry (Ackermann) and the alignment angles (caster, camber, toe, KPI).</a:t>
            </a:r>
          </a:p>
          <a:p>
            <a:pPr>
              <a:spcAft>
                <a:spcPts val="1000"/>
              </a:spcAft>
              <a:defRPr sz="1800">
                <a:solidFill>
                  <a:srgbClr val="333333"/>
                </a:solidFill>
              </a:defRPr>
            </a:pPr>
            <a:r>
              <a:t>Now we need to solve a mechanical problem:</a:t>
            </a:r>
          </a:p>
          <a:p>
            <a:pPr>
              <a:spcAft>
                <a:spcPts val="1000"/>
              </a:spcAft>
              <a:defRPr sz="1800">
                <a:solidFill>
                  <a:srgbClr val="333333"/>
                </a:solidFill>
              </a:defRPr>
            </a:pPr>
            <a:r>
              <a:t>How do we convert the driver's rotational input at the steering wheel into linear motion at the wheels?</a:t>
            </a:r>
          </a:p>
          <a:p>
            <a:pPr>
              <a:spcAft>
                <a:spcPts val="1000"/>
              </a:spcAft>
              <a:defRPr sz="1800">
                <a:solidFill>
                  <a:srgbClr val="333333"/>
                </a:solidFill>
              </a:defRPr>
            </a:pPr>
            <a:r>
              <a:t>The steering wheel rotates (angular motion). But the wheels need to pivot left and right (linear motion of the tie rods pushing/pulling the steering arms).</a:t>
            </a:r>
          </a:p>
          <a:p>
            <a:pPr>
              <a:spcAft>
                <a:spcPts val="1000"/>
              </a:spcAft>
              <a:defRPr sz="1800">
                <a:solidFill>
                  <a:srgbClr val="333333"/>
                </a:solidFill>
              </a:defRPr>
            </a:pPr>
            <a:r>
              <a:t>We need a mechanical converter—a mechanism that transforms rotation into translation.</a:t>
            </a:r>
          </a:p>
          <a:p>
            <a:pPr>
              <a:spcAft>
                <a:spcPts val="1000"/>
              </a:spcAft>
              <a:defRPr sz="1800">
                <a:solidFill>
                  <a:srgbClr val="333333"/>
                </a:solidFill>
              </a:defRPr>
            </a:pPr>
            <a:r>
              <a:t>There are two main types:</a:t>
            </a:r>
          </a:p>
          <a:p>
            <a:pPr>
              <a:spcAft>
                <a:spcPts val="600"/>
              </a:spcAft>
              <a:defRPr sz="1800">
                <a:solidFill>
                  <a:srgbClr val="333333"/>
                </a:solidFill>
              </a:defRPr>
            </a:pPr>
            <a:r>
              <a:t>Rack-and-Pinion (most common in modern cars)</a:t>
            </a:r>
          </a:p>
          <a:p>
            <a:pPr>
              <a:spcAft>
                <a:spcPts val="600"/>
              </a:spcAft>
              <a:defRPr sz="1800">
                <a:solidFill>
                  <a:srgbClr val="333333"/>
                </a:solidFill>
              </a:defRPr>
            </a:pPr>
            <a:r>
              <a:t>Recirculating Ball (used in trucks, older cars, some SUVs)</a:t>
            </a:r>
          </a:p>
          <a:p>
            <a:pPr>
              <a:spcAft>
                <a:spcPts val="1000"/>
              </a:spcAft>
              <a:defRPr sz="1800">
                <a:solidFill>
                  <a:srgbClr val="333333"/>
                </a:solidFill>
              </a:defRPr>
            </a:pPr>
            <a:r>
              <a:t>Let's explore both.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Rack-and-Pinion Steering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Rack-and-pinion steering is the most common system in modern passenger cars.</a:t>
            </a:r>
          </a:p>
          <a:p>
            <a:pPr>
              <a:spcAft>
                <a:spcPts val="1000"/>
              </a:spcAft>
              <a:defRPr sz="1800">
                <a:solidFill>
                  <a:srgbClr val="333333"/>
                </a:solidFill>
              </a:defRPr>
            </a:pPr>
            <a:r>
              <a:t>The Mechanism:</a:t>
            </a:r>
          </a:p>
          <a:p>
            <a:pPr>
              <a:spcAft>
                <a:spcPts val="600"/>
              </a:spcAft>
              <a:defRPr sz="1800">
                <a:solidFill>
                  <a:srgbClr val="333333"/>
                </a:solidFill>
              </a:defRPr>
            </a:pPr>
            <a:r>
              <a:t>The steering column has a small gear called the pinion (typically 8-12 teeth)</a:t>
            </a:r>
          </a:p>
          <a:p>
            <a:pPr>
              <a:spcAft>
                <a:spcPts val="600"/>
              </a:spcAft>
              <a:defRPr sz="1800">
                <a:solidFill>
                  <a:srgbClr val="333333"/>
                </a:solidFill>
              </a:defRPr>
            </a:pPr>
            <a:r>
              <a:t>The pinion meshes with a rack (a flat bar with teeth cut into it)</a:t>
            </a:r>
          </a:p>
          <a:p>
            <a:pPr>
              <a:spcAft>
                <a:spcPts val="600"/>
              </a:spcAft>
              <a:defRPr sz="1800">
                <a:solidFill>
                  <a:srgbClr val="333333"/>
                </a:solidFill>
              </a:defRPr>
            </a:pPr>
            <a:r>
              <a:t>When you turn the steering wheel, the pinion rotates</a:t>
            </a:r>
          </a:p>
          <a:p>
            <a:pPr>
              <a:spcAft>
                <a:spcPts val="600"/>
              </a:spcAft>
              <a:defRPr sz="1800">
                <a:solidFill>
                  <a:srgbClr val="333333"/>
                </a:solidFill>
              </a:defRPr>
            </a:pPr>
            <a:r>
              <a:t>The rotating pinion pushes the rack left or right</a:t>
            </a:r>
          </a:p>
          <a:p>
            <a:pPr>
              <a:spcAft>
                <a:spcPts val="600"/>
              </a:spcAft>
              <a:defRPr sz="1800">
                <a:solidFill>
                  <a:srgbClr val="333333"/>
                </a:solidFill>
              </a:defRPr>
            </a:pPr>
            <a:r>
              <a:t>The rack is connected to the tie rods, which push/pull the steering arms</a:t>
            </a:r>
          </a:p>
          <a:p>
            <a:pPr>
              <a:spcAft>
                <a:spcPts val="600"/>
              </a:spcAft>
              <a:defRPr sz="1800">
                <a:solidFill>
                  <a:srgbClr val="333333"/>
                </a:solidFill>
              </a:defRPr>
            </a:pPr>
            <a:r>
              <a:t>The wheels pivot</a:t>
            </a:r>
          </a:p>
          <a:p>
            <a:pPr>
              <a:spcAft>
                <a:spcPts val="1000"/>
              </a:spcAft>
              <a:defRPr sz="1800">
                <a:solidFill>
                  <a:srgbClr val="333333"/>
                </a:solidFill>
              </a:defRPr>
            </a:pPr>
            <a:r>
              <a:t>Advantages:</a:t>
            </a:r>
          </a:p>
          <a:p>
            <a:pPr>
              <a:spcAft>
                <a:spcPts val="1000"/>
              </a:spcAft>
              <a:defRPr sz="1800">
                <a:solidFill>
                  <a:srgbClr val="333333"/>
                </a:solidFill>
              </a:defRPr>
            </a:pPr>
            <a:r>
              <a:t>✅ Simple design (fewer parts, less weight)</a:t>
            </a:r>
          </a:p>
          <a:p>
            <a:pPr>
              <a:spcAft>
                <a:spcPts val="1000"/>
              </a:spcAft>
              <a:defRPr sz="1800">
                <a:solidFill>
                  <a:srgbClr val="333333"/>
                </a:solidFill>
              </a:defRPr>
            </a:pPr>
            <a:r>
              <a:t>✅ Direct feel (immediate feedback from road to driver)</a:t>
            </a:r>
          </a:p>
          <a:p>
            <a:pPr>
              <a:spcAft>
                <a:spcPts val="1000"/>
              </a:spcAft>
              <a:defRPr sz="1800">
                <a:solidFill>
                  <a:srgbClr val="333333"/>
                </a:solidFill>
              </a:defRPr>
            </a:pPr>
            <a:r>
              <a:t>✅ Compact (fits transversely in front-wheel-drive cars)</a:t>
            </a:r>
          </a:p>
          <a:p>
            <a:pPr>
              <a:spcAft>
                <a:spcPts val="1000"/>
              </a:spcAft>
              <a:defRPr sz="1800">
                <a:solidFill>
                  <a:srgbClr val="333333"/>
                </a:solidFill>
              </a:defRPr>
            </a:pPr>
            <a:r>
              <a:t>✅ Efficient (less friction = less energy loss)</a:t>
            </a:r>
          </a:p>
          <a:p>
            <a:pPr>
              <a:spcAft>
                <a:spcPts val="1000"/>
              </a:spcAft>
              <a:defRPr sz="1800">
                <a:solidFill>
                  <a:srgbClr val="333333"/>
                </a:solidFill>
              </a:defRPr>
            </a:pPr>
            <a:r>
              <a:t>✅ Precise (little mechanical play)</a:t>
            </a:r>
          </a:p>
          <a:p>
            <a:pPr>
              <a:spcAft>
                <a:spcPts val="1000"/>
              </a:spcAft>
              <a:defRPr sz="1800">
                <a:solidFill>
                  <a:srgbClr val="333333"/>
                </a:solidFill>
              </a:defRPr>
            </a:pPr>
            <a:r>
              <a:t>Disadvantages:</a:t>
            </a:r>
          </a:p>
          <a:p>
            <a:pPr>
              <a:spcAft>
                <a:spcPts val="1000"/>
              </a:spcAft>
              <a:defRPr sz="1800">
                <a:solidFill>
                  <a:srgbClr val="333333"/>
                </a:solidFill>
              </a:defRPr>
            </a:pPr>
            <a:r>
              <a:t>❌ Transmits road shocks to steering wheel (you feel every bump—some call this feedback, others call it harshness)</a:t>
            </a:r>
          </a:p>
          <a:p>
            <a:pPr>
              <a:spcAft>
                <a:spcPts val="1000"/>
              </a:spcAft>
              <a:defRPr sz="1800">
                <a:solidFill>
                  <a:srgbClr val="333333"/>
                </a:solidFill>
              </a:defRPr>
            </a:pPr>
            <a:r>
              <a:t>❌ Limited travel (rack length limits maximum steering angle)</a:t>
            </a:r>
          </a:p>
          <a:p>
            <a:pPr>
              <a:spcAft>
                <a:spcPts val="1000"/>
              </a:spcAft>
              <a:defRPr sz="1800">
                <a:solidFill>
                  <a:srgbClr val="333333"/>
                </a:solidFill>
              </a:defRPr>
            </a:pPr>
            <a:r>
              <a:t>❌ Can be harder to package in some vehicle layouts</a:t>
            </a:r>
          </a:p>
          <a:p>
            <a:pPr>
              <a:spcAft>
                <a:spcPts val="1000"/>
              </a:spcAft>
              <a:defRPr sz="1800">
                <a:solidFill>
                  <a:srgbClr val="333333"/>
                </a:solidFill>
              </a:defRPr>
            </a:pPr>
            <a:r>
              <a:t>Where It's Used: — Most passenger cars (sedans, hatchbacks, coupes)</a:t>
            </a:r>
          </a:p>
          <a:p>
            <a:pPr>
              <a:spcAft>
                <a:spcPts val="600"/>
              </a:spcAft>
              <a:defRPr sz="1800">
                <a:solidFill>
                  <a:srgbClr val="333333"/>
                </a:solidFill>
              </a:defRPr>
            </a:pPr>
            <a:r>
              <a:t>Sports cars (valued for direct feel)</a:t>
            </a:r>
          </a:p>
          <a:p>
            <a:pPr>
              <a:spcAft>
                <a:spcPts val="600"/>
              </a:spcAft>
              <a:defRPr sz="1800">
                <a:solidFill>
                  <a:srgbClr val="333333"/>
                </a:solidFill>
              </a:defRPr>
            </a:pPr>
            <a:r>
              <a:t>Modern SUVs and crossovers</a:t>
            </a:r>
          </a:p>
          <a:p>
            <a:pPr>
              <a:spcAft>
                <a:spcPts val="600"/>
              </a:spcAft>
              <a:defRPr sz="1800">
                <a:solidFill>
                  <a:srgbClr val="333333"/>
                </a:solidFill>
              </a:defRPr>
            </a:pPr>
            <a:r>
              <a:t>Front-wheel-drive vehicles (compact packaging advantage)</a:t>
            </a:r>
          </a:p>
          <a:p>
            <a:pPr>
              <a:spcAft>
                <a:spcPts val="1000"/>
              </a:spcAft>
              <a:defRPr sz="1800">
                <a:solidFill>
                  <a:srgbClr val="333333"/>
                </a:solidFill>
              </a:defRPr>
            </a:pPr>
            <a:r>
              <a:t>Instructor Narration (continued):</a:t>
            </a:r>
          </a:p>
          <a:p>
            <a:pPr>
              <a:spcAft>
                <a:spcPts val="1000"/>
              </a:spcAft>
              <a:defRPr sz="1800">
                <a:solidFill>
                  <a:srgbClr val="333333"/>
                </a:solidFill>
              </a:defRPr>
            </a:pPr>
            <a:r>
              <a:t>The beauty of rack-and-pinion is its simplicity. Fewer parts mean less that can go wrong. That's why 90% of new cars use this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Recirculating Ball Steering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Recirculating ball steering is an older design that's still used in heavy-duty applications.</a:t>
            </a:r>
          </a:p>
          <a:p>
            <a:pPr>
              <a:spcAft>
                <a:spcPts val="1000"/>
              </a:spcAft>
              <a:defRPr sz="1800">
                <a:solidFill>
                  <a:srgbClr val="333333"/>
                </a:solidFill>
              </a:defRPr>
            </a:pPr>
            <a:r>
              <a:t>The Mechanism:</a:t>
            </a:r>
          </a:p>
          <a:p>
            <a:pPr>
              <a:spcAft>
                <a:spcPts val="600"/>
              </a:spcAft>
              <a:defRPr sz="1800">
                <a:solidFill>
                  <a:srgbClr val="333333"/>
                </a:solidFill>
              </a:defRPr>
            </a:pPr>
            <a:r>
              <a:t>The steering column connects to a worm gear (threaded shaft)</a:t>
            </a:r>
          </a:p>
          <a:p>
            <a:pPr>
              <a:spcAft>
                <a:spcPts val="600"/>
              </a:spcAft>
              <a:defRPr sz="1800">
                <a:solidFill>
                  <a:srgbClr val="333333"/>
                </a:solidFill>
              </a:defRPr>
            </a:pPr>
            <a:r>
              <a:t>A ball nut (with internal threads) sits on the worm gear</a:t>
            </a:r>
          </a:p>
          <a:p>
            <a:pPr>
              <a:spcAft>
                <a:spcPts val="600"/>
              </a:spcAft>
              <a:defRPr sz="1800">
                <a:solidFill>
                  <a:srgbClr val="333333"/>
                </a:solidFill>
              </a:defRPr>
            </a:pPr>
            <a:r>
              <a:t>Tiny ball bearings recirculate through channels between the worm and nut, reducing friction</a:t>
            </a:r>
          </a:p>
          <a:p>
            <a:pPr>
              <a:spcAft>
                <a:spcPts val="600"/>
              </a:spcAft>
              <a:defRPr sz="1800">
                <a:solidFill>
                  <a:srgbClr val="333333"/>
                </a:solidFill>
              </a:defRPr>
            </a:pPr>
            <a:r>
              <a:t>The ball nut has teeth that mesh with a sector shaft</a:t>
            </a:r>
          </a:p>
          <a:p>
            <a:pPr>
              <a:spcAft>
                <a:spcPts val="600"/>
              </a:spcAft>
              <a:defRPr sz="1800">
                <a:solidFill>
                  <a:srgbClr val="333333"/>
                </a:solidFill>
              </a:defRPr>
            </a:pPr>
            <a:r>
              <a:t>The sector shaft rotates and moves the pitman arm</a:t>
            </a:r>
          </a:p>
          <a:p>
            <a:pPr>
              <a:spcAft>
                <a:spcPts val="600"/>
              </a:spcAft>
              <a:defRPr sz="1800">
                <a:solidFill>
                  <a:srgbClr val="333333"/>
                </a:solidFill>
              </a:defRPr>
            </a:pPr>
            <a:r>
              <a:t>The pitman arm pushes/pulls the center link and tie rods</a:t>
            </a:r>
          </a:p>
          <a:p>
            <a:pPr>
              <a:spcAft>
                <a:spcPts val="600"/>
              </a:spcAft>
              <a:defRPr sz="1800">
                <a:solidFill>
                  <a:srgbClr val="333333"/>
                </a:solidFill>
              </a:defRPr>
            </a:pPr>
            <a:r>
              <a:t>The wheels pivot</a:t>
            </a:r>
          </a:p>
          <a:p>
            <a:pPr>
              <a:spcAft>
                <a:spcPts val="1000"/>
              </a:spcAft>
              <a:defRPr sz="1800">
                <a:solidFill>
                  <a:srgbClr val="333333"/>
                </a:solidFill>
              </a:defRPr>
            </a:pPr>
            <a:r>
              <a:t>Advantages:</a:t>
            </a:r>
          </a:p>
          <a:p>
            <a:pPr>
              <a:spcAft>
                <a:spcPts val="1000"/>
              </a:spcAft>
              <a:defRPr sz="1800">
                <a:solidFill>
                  <a:srgbClr val="333333"/>
                </a:solidFill>
              </a:defRPr>
            </a:pPr>
            <a:r>
              <a:t>✅ Handles high loads (strong, suitable for trucks and heavy vehicles)</a:t>
            </a:r>
          </a:p>
          <a:p>
            <a:pPr>
              <a:spcAft>
                <a:spcPts val="1000"/>
              </a:spcAft>
              <a:defRPr sz="1800">
                <a:solidFill>
                  <a:srgbClr val="333333"/>
                </a:solidFill>
              </a:defRPr>
            </a:pPr>
            <a:r>
              <a:t>✅ Isolates driver from road shocks (smoother feel, less kickback)</a:t>
            </a:r>
          </a:p>
          <a:p>
            <a:pPr>
              <a:spcAft>
                <a:spcPts val="1000"/>
              </a:spcAft>
              <a:defRPr sz="1800">
                <a:solidFill>
                  <a:srgbClr val="333333"/>
                </a:solidFill>
              </a:defRPr>
            </a:pPr>
            <a:r>
              <a:t>✅ Durable (long service life with proper lubrication)</a:t>
            </a:r>
          </a:p>
          <a:p>
            <a:pPr>
              <a:spcAft>
                <a:spcPts val="1000"/>
              </a:spcAft>
              <a:defRPr sz="1800">
                <a:solidFill>
                  <a:srgbClr val="333333"/>
                </a:solidFill>
              </a:defRPr>
            </a:pPr>
            <a:r>
              <a:t>✅ Variable ratio possible (sector shaft geometry can vary the steering ratio through the turn)</a:t>
            </a:r>
          </a:p>
          <a:p>
            <a:pPr>
              <a:spcAft>
                <a:spcPts val="1000"/>
              </a:spcAft>
              <a:defRPr sz="1800">
                <a:solidFill>
                  <a:srgbClr val="333333"/>
                </a:solidFill>
              </a:defRPr>
            </a:pPr>
            <a:r>
              <a:t>Disadvantages:</a:t>
            </a:r>
          </a:p>
          <a:p>
            <a:pPr>
              <a:spcAft>
                <a:spcPts val="1000"/>
              </a:spcAft>
              <a:defRPr sz="1800">
                <a:solidFill>
                  <a:srgbClr val="333333"/>
                </a:solidFill>
              </a:defRPr>
            </a:pPr>
            <a:r>
              <a:t>❌ Complex (more parts, higher weight)</a:t>
            </a:r>
          </a:p>
          <a:p>
            <a:pPr>
              <a:spcAft>
                <a:spcPts val="1000"/>
              </a:spcAft>
              <a:defRPr sz="1800">
                <a:solidFill>
                  <a:srgbClr val="333333"/>
                </a:solidFill>
              </a:defRPr>
            </a:pPr>
            <a:r>
              <a:t>❌ Less direct feel (mechanical isolation = less feedback)</a:t>
            </a:r>
          </a:p>
          <a:p>
            <a:pPr>
              <a:spcAft>
                <a:spcPts val="1000"/>
              </a:spcAft>
              <a:defRPr sz="1800">
                <a:solidFill>
                  <a:srgbClr val="333333"/>
                </a:solidFill>
              </a:defRPr>
            </a:pPr>
            <a:r>
              <a:t>❌ Mechanical play (slight dead zone at center, especially when worn)</a:t>
            </a:r>
          </a:p>
          <a:p>
            <a:pPr>
              <a:spcAft>
                <a:spcPts val="1000"/>
              </a:spcAft>
              <a:defRPr sz="1800">
                <a:solidFill>
                  <a:srgbClr val="333333"/>
                </a:solidFill>
              </a:defRPr>
            </a:pPr>
            <a:r>
              <a:t>❌ Larger package (harder to fit in compact cars)</a:t>
            </a:r>
          </a:p>
          <a:p>
            <a:pPr>
              <a:spcAft>
                <a:spcPts val="1000"/>
              </a:spcAft>
              <a:defRPr sz="1800">
                <a:solidFill>
                  <a:srgbClr val="333333"/>
                </a:solidFill>
              </a:defRPr>
            </a:pPr>
            <a:r>
              <a:t>❌ Requires lubrication (sealed gearbox with gear oil)</a:t>
            </a:r>
          </a:p>
          <a:p>
            <a:pPr>
              <a:spcAft>
                <a:spcPts val="1000"/>
              </a:spcAft>
              <a:defRPr sz="1800">
                <a:solidFill>
                  <a:srgbClr val="333333"/>
                </a:solidFill>
              </a:defRPr>
            </a:pPr>
            <a:r>
              <a:t>Where It's Used: — Heavy-duty trucks (Ford F-250/F-350, Ram 2500/3500)</a:t>
            </a:r>
          </a:p>
          <a:p>
            <a:pPr>
              <a:spcAft>
                <a:spcPts val="600"/>
              </a:spcAft>
              <a:defRPr sz="1800">
                <a:solidFill>
                  <a:srgbClr val="333333"/>
                </a:solidFill>
              </a:defRPr>
            </a:pPr>
            <a:r>
              <a:t>Older SUVs (pre-2000s design)</a:t>
            </a:r>
          </a:p>
          <a:p>
            <a:pPr>
              <a:spcAft>
                <a:spcPts val="600"/>
              </a:spcAft>
              <a:defRPr sz="1800">
                <a:solidFill>
                  <a:srgbClr val="333333"/>
                </a:solidFill>
              </a:defRPr>
            </a:pPr>
            <a:r>
              <a:t>Some body-on-frame SUVs (for durability)</a:t>
            </a:r>
          </a:p>
          <a:p>
            <a:pPr>
              <a:spcAft>
                <a:spcPts val="600"/>
              </a:spcAft>
              <a:defRPr sz="1800">
                <a:solidFill>
                  <a:srgbClr val="333333"/>
                </a:solidFill>
              </a:defRPr>
            </a:pPr>
            <a:r>
              <a:t>Classic cars (standard technology from 1950s-1990s)</a:t>
            </a:r>
          </a:p>
          <a:p>
            <a:pPr>
              <a:spcAft>
                <a:spcPts val="1000"/>
              </a:spcAft>
              <a:defRPr sz="1800">
                <a:solidFill>
                  <a:srgbClr val="333333"/>
                </a:solidFill>
              </a:defRPr>
            </a:pPr>
            <a:r>
              <a:t>Instructor Narration (continued):</a:t>
            </a:r>
          </a:p>
          <a:p>
            <a:pPr>
              <a:spcAft>
                <a:spcPts val="1000"/>
              </a:spcAft>
              <a:defRPr sz="1800">
                <a:solidFill>
                  <a:srgbClr val="333333"/>
                </a:solidFill>
              </a:defRPr>
            </a:pPr>
            <a:r>
              <a:t>Recirculating ball is overbuilt and bombproof. If you're towing 5,000 kg with your truck, you want recirculating ball steering. But for normal passenger cars, it's overkill—rack-and-pinion is lighter, cheaper, and more responsive.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Steering Ratio - Amplification vs Response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Here's a critical parameter: Steering Ratio.</a:t>
            </a:r>
          </a:p>
          <a:p>
            <a:pPr>
              <a:spcAft>
                <a:spcPts val="1000"/>
              </a:spcAft>
              <a:defRPr sz="1800">
                <a:solidFill>
                  <a:srgbClr val="333333"/>
                </a:solidFill>
              </a:defRPr>
            </a:pPr>
            <a:r>
              <a:t>Definition:</a:t>
            </a:r>
          </a:p>
          <a:p>
            <a:pPr>
              <a:defRPr sz="1400">
                <a:solidFill>
                  <a:srgbClr val="787878"/>
                </a:solidFill>
                <a:latin typeface="Consolas"/>
              </a:defRPr>
            </a:pPr>
            <a:r>
              <a:t>Steering Ratio = (Steering Wheel Rotation) / (Front Wheel Rotation)</a:t>
            </a:r>
          </a:p>
          <a:p>
            <a:pPr>
              <a:spcAft>
                <a:spcPts val="1000"/>
              </a:spcAft>
              <a:defRPr sz="1800">
                <a:solidFill>
                  <a:srgbClr val="333333"/>
                </a:solidFill>
              </a:defRPr>
            </a:pPr>
            <a:r>
              <a:t>For example, a 15:1 ratio means:</a:t>
            </a:r>
          </a:p>
          <a:p>
            <a:pPr>
              <a:spcAft>
                <a:spcPts val="600"/>
              </a:spcAft>
              <a:defRPr sz="1800">
                <a:solidFill>
                  <a:srgbClr val="333333"/>
                </a:solidFill>
              </a:defRPr>
            </a:pPr>
            <a:r>
              <a:t>Turn the steering wheel 15 degrees →</a:t>
            </a:r>
          </a:p>
          <a:p>
            <a:pPr>
              <a:spcAft>
                <a:spcPts val="600"/>
              </a:spcAft>
              <a:defRPr sz="1800">
                <a:solidFill>
                  <a:srgbClr val="333333"/>
                </a:solidFill>
              </a:defRPr>
            </a:pPr>
            <a:r>
              <a:t>Front wheels turn 1 degree</a:t>
            </a:r>
          </a:p>
          <a:p>
            <a:pPr>
              <a:spcAft>
                <a:spcPts val="1000"/>
              </a:spcAft>
              <a:defRPr sz="1800">
                <a:solidFill>
                  <a:srgbClr val="333333"/>
                </a:solidFill>
              </a:defRPr>
            </a:pPr>
            <a:r>
              <a:t>Lower Ratio (e.g., 12:1 - 14:1): — Quicker steering response (small steering input → large wheel movement)</a:t>
            </a:r>
          </a:p>
          <a:p>
            <a:pPr>
              <a:spcAft>
                <a:spcPts val="600"/>
              </a:spcAft>
              <a:defRPr sz="1800">
                <a:solidFill>
                  <a:srgbClr val="333333"/>
                </a:solidFill>
              </a:defRPr>
            </a:pPr>
            <a:r>
              <a:t>More sensitive (easier to oversteer with small corrections)</a:t>
            </a:r>
          </a:p>
          <a:p>
            <a:pPr>
              <a:spcAft>
                <a:spcPts val="600"/>
              </a:spcAft>
              <a:defRPr sz="1800">
                <a:solidFill>
                  <a:srgbClr val="333333"/>
                </a:solidFill>
              </a:defRPr>
            </a:pPr>
            <a:r>
              <a:t>Heavier steering effort (less mechanical advantage)</a:t>
            </a:r>
          </a:p>
          <a:p>
            <a:pPr>
              <a:spcAft>
                <a:spcPts val="600"/>
              </a:spcAft>
              <a:defRPr sz="1800">
                <a:solidFill>
                  <a:srgbClr val="333333"/>
                </a:solidFill>
              </a:defRPr>
            </a:pPr>
            <a:r>
              <a:t>Used in: Sports cars, performance vehicles</a:t>
            </a:r>
          </a:p>
          <a:p>
            <a:pPr>
              <a:spcAft>
                <a:spcPts val="1000"/>
              </a:spcAft>
              <a:defRPr sz="1800">
                <a:solidFill>
                  <a:srgbClr val="333333"/>
                </a:solidFill>
              </a:defRPr>
            </a:pPr>
            <a:r>
              <a:t>Higher Ratio (e.g., 18:1 - 24:1): — Slower steering response (large steering input → small wheel movement)</a:t>
            </a:r>
          </a:p>
          <a:p>
            <a:pPr>
              <a:spcAft>
                <a:spcPts val="600"/>
              </a:spcAft>
              <a:defRPr sz="1800">
                <a:solidFill>
                  <a:srgbClr val="333333"/>
                </a:solidFill>
              </a:defRPr>
            </a:pPr>
            <a:r>
              <a:t>More stable (easier to control, less twitchy)</a:t>
            </a:r>
          </a:p>
          <a:p>
            <a:pPr>
              <a:spcAft>
                <a:spcPts val="600"/>
              </a:spcAft>
              <a:defRPr sz="1800">
                <a:solidFill>
                  <a:srgbClr val="333333"/>
                </a:solidFill>
              </a:defRPr>
            </a:pPr>
            <a:r>
              <a:t>Lighter steering effort (more mechanical advantage)</a:t>
            </a:r>
          </a:p>
          <a:p>
            <a:pPr>
              <a:spcAft>
                <a:spcPts val="600"/>
              </a:spcAft>
              <a:defRPr sz="1800">
                <a:solidFill>
                  <a:srgbClr val="333333"/>
                </a:solidFill>
              </a:defRPr>
            </a:pPr>
            <a:r>
              <a:t>Used in: Trucks, SUVs, older cars without power steering</a:t>
            </a:r>
          </a:p>
          <a:p>
            <a:pPr>
              <a:spcAft>
                <a:spcPts val="1000"/>
              </a:spcAft>
              <a:defRPr sz="1800">
                <a:solidFill>
                  <a:srgbClr val="333333"/>
                </a:solidFill>
              </a:defRPr>
            </a:pPr>
            <a:r>
              <a:t>Typical Values: — Sports cars: 12:1 to 14:1 (quick, responsive)</a:t>
            </a:r>
          </a:p>
          <a:p>
            <a:pPr>
              <a:spcAft>
                <a:spcPts val="600"/>
              </a:spcAft>
              <a:defRPr sz="1800">
                <a:solidFill>
                  <a:srgbClr val="333333"/>
                </a:solidFill>
              </a:defRPr>
            </a:pPr>
            <a:r>
              <a:t>Passenger cars: 14:1 to 16:1 (balanced)</a:t>
            </a:r>
          </a:p>
          <a:p>
            <a:pPr>
              <a:spcAft>
                <a:spcPts val="600"/>
              </a:spcAft>
              <a:defRPr sz="1800">
                <a:solidFill>
                  <a:srgbClr val="333333"/>
                </a:solidFill>
              </a:defRPr>
            </a:pPr>
            <a:r>
              <a:t>Trucks/SUVs: 17:1 to 24:1 (stable, easy to turn large wheel)</a:t>
            </a:r>
          </a:p>
          <a:p>
            <a:pPr>
              <a:spcAft>
                <a:spcPts val="600"/>
              </a:spcAft>
              <a:defRPr sz="1800">
                <a:solidFill>
                  <a:srgbClr val="333333"/>
                </a:solidFill>
              </a:defRPr>
            </a:pPr>
            <a:r>
              <a:t>Race cars: 10:1 to 12:1 (maximum responsiveness)</a:t>
            </a:r>
          </a:p>
          <a:p>
            <a:pPr>
              <a:spcAft>
                <a:spcPts val="1000"/>
              </a:spcAft>
              <a:defRPr sz="1800">
                <a:solidFill>
                  <a:srgbClr val="333333"/>
                </a:solidFill>
              </a:defRPr>
            </a:pPr>
            <a:r>
              <a:t>Calculating Steering Ratio:</a:t>
            </a:r>
          </a:p>
          <a:p>
            <a:pPr>
              <a:spcAft>
                <a:spcPts val="1000"/>
              </a:spcAft>
              <a:defRPr sz="1800">
                <a:solidFill>
                  <a:srgbClr val="333333"/>
                </a:solidFill>
              </a:defRPr>
            </a:pPr>
            <a:r>
              <a:t>For rack-and-pinion:</a:t>
            </a:r>
          </a:p>
          <a:p>
            <a:pPr>
              <a:defRPr sz="1400">
                <a:solidFill>
                  <a:srgbClr val="787878"/>
                </a:solidFill>
                <a:latin typeface="Consolas"/>
              </a:defRPr>
            </a:pPr>
            <a:r>
              <a:t>Steering Ratio = (Pinion Pitch Diameter × 360°) / (Rack Travel per Wheel Revolution)</a:t>
            </a:r>
            <a:br/>
            <a:br/>
            <a:r>
              <a:t>Simplified:</a:t>
            </a:r>
            <a:br/>
            <a:r>
              <a:t>Steering Ratio = 360° / (Rack Movement per Degree of Pinion Rotation × Steering Arm Length)</a:t>
            </a:r>
          </a:p>
          <a:p>
            <a:pPr>
              <a:spcAft>
                <a:spcPts val="1000"/>
              </a:spcAft>
              <a:defRPr sz="1800">
                <a:solidFill>
                  <a:srgbClr val="333333"/>
                </a:solidFill>
              </a:defRPr>
            </a:pPr>
            <a:r>
              <a:t>For recirculating ball:</a:t>
            </a:r>
          </a:p>
          <a:p>
            <a:pPr>
              <a:defRPr sz="1400">
                <a:solidFill>
                  <a:srgbClr val="787878"/>
                </a:solidFill>
                <a:latin typeface="Consolas"/>
              </a:defRPr>
            </a:pPr>
            <a:r>
              <a:t>Steering Ratio = Worm Gear Turns / Sector Shaft Rotation</a:t>
            </a:r>
          </a:p>
          <a:p>
            <a:pPr>
              <a:spcAft>
                <a:spcPts val="1000"/>
              </a:spcAft>
              <a:defRPr sz="1800">
                <a:solidFill>
                  <a:srgbClr val="333333"/>
                </a:solidFill>
              </a:defRPr>
            </a:pPr>
            <a:r>
              <a:t>Instructor Narration (continued):</a:t>
            </a:r>
          </a:p>
          <a:p>
            <a:pPr>
              <a:spcAft>
                <a:spcPts val="1000"/>
              </a:spcAft>
              <a:defRPr sz="1800">
                <a:solidFill>
                  <a:srgbClr val="333333"/>
                </a:solidFill>
              </a:defRPr>
            </a:pPr>
            <a:r>
              <a:t>Here's the trade-off: Quick steering (low ratio) is fun for spirited driving, but exhausting for parking. Slow steering (high ratio) is easy for maneuvering, but unresponsive on the highway.</a:t>
            </a:r>
          </a:p>
          <a:p>
            <a:pPr>
              <a:spcAft>
                <a:spcPts val="1000"/>
              </a:spcAft>
              <a:defRPr sz="1800">
                <a:solidFill>
                  <a:srgbClr val="333333"/>
                </a:solidFill>
              </a:defRPr>
            </a:pPr>
            <a:r>
              <a:t>Modern cars solve this with variable-ratio steering or speed-sensitive power steering (we'll cover this soon).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Steering Ratio Calculation Example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WORKED EXAMPLE:</a:t>
            </a:r>
          </a:p>
          <a:p>
            <a:pPr>
              <a:spcAft>
                <a:spcPts val="1000"/>
              </a:spcAft>
              <a:defRPr sz="1800">
                <a:solidFill>
                  <a:srgbClr val="333333"/>
                </a:solidFill>
              </a:defRPr>
            </a:pPr>
            <a:r>
              <a:t>GIVEN: — Rack-and-pinion system</a:t>
            </a:r>
          </a:p>
          <a:p>
            <a:pPr>
              <a:spcAft>
                <a:spcPts val="600"/>
              </a:spcAft>
              <a:defRPr sz="1800">
                <a:solidFill>
                  <a:srgbClr val="333333"/>
                </a:solidFill>
              </a:defRPr>
            </a:pPr>
            <a:r>
              <a:t>Pinion diameter: 40 mm (radius = 20 mm)</a:t>
            </a:r>
          </a:p>
          <a:p>
            <a:pPr>
              <a:spcAft>
                <a:spcPts val="600"/>
              </a:spcAft>
              <a:defRPr sz="1800">
                <a:solidFill>
                  <a:srgbClr val="333333"/>
                </a:solidFill>
              </a:defRPr>
            </a:pPr>
            <a:r>
              <a:t>Steering arm length: 150 mm</a:t>
            </a:r>
          </a:p>
          <a:p>
            <a:pPr>
              <a:spcAft>
                <a:spcPts val="600"/>
              </a:spcAft>
              <a:defRPr sz="1800">
                <a:solidFill>
                  <a:srgbClr val="333333"/>
                </a:solidFill>
              </a:defRPr>
            </a:pPr>
            <a:r>
              <a:t>Rack travel for full lock: ±100 mm (200 mm total travel)</a:t>
            </a:r>
          </a:p>
          <a:p>
            <a:pPr>
              <a:spcAft>
                <a:spcPts val="600"/>
              </a:spcAft>
              <a:defRPr sz="1800">
                <a:solidFill>
                  <a:srgbClr val="333333"/>
                </a:solidFill>
              </a:defRPr>
            </a:pPr>
            <a:r>
              <a:t>Front wheel total steering range: ±40° (80° total range)</a:t>
            </a:r>
          </a:p>
          <a:p>
            <a:pPr>
              <a:spcAft>
                <a:spcPts val="1000"/>
              </a:spcAft>
              <a:defRPr sz="1800">
                <a:solidFill>
                  <a:srgbClr val="333333"/>
                </a:solidFill>
              </a:defRPr>
            </a:pPr>
            <a:r>
              <a:t>FIND: Steering ratio</a:t>
            </a:r>
          </a:p>
          <a:p>
            <a:pPr>
              <a:spcAft>
                <a:spcPts val="1000"/>
              </a:spcAft>
              <a:defRPr sz="1800">
                <a:solidFill>
                  <a:srgbClr val="333333"/>
                </a:solidFill>
              </a:defRPr>
            </a:pPr>
            <a:r>
              <a:t>SOLUTION:</a:t>
            </a:r>
          </a:p>
          <a:p>
            <a:pPr>
              <a:spcAft>
                <a:spcPts val="1000"/>
              </a:spcAft>
              <a:defRPr sz="1800">
                <a:solidFill>
                  <a:srgbClr val="333333"/>
                </a:solidFill>
              </a:defRPr>
            </a:pPr>
            <a:r>
              <a:t>Step 1: Calculate rack travel per degree of wheel rotation</a:t>
            </a:r>
          </a:p>
          <a:p>
            <a:pPr>
              <a:defRPr sz="1400">
                <a:solidFill>
                  <a:srgbClr val="787878"/>
                </a:solidFill>
                <a:latin typeface="Consolas"/>
              </a:defRPr>
            </a:pPr>
            <a:r>
              <a:t>Rack travel per degree = Total rack travel / Total wheel rotation</a:t>
            </a:r>
            <a:br/>
            <a:r>
              <a:t>                       = 200 mm / 80°</a:t>
            </a:r>
            <a:br/>
            <a:r>
              <a:t>                       = 2.5 mm/°</a:t>
            </a:r>
          </a:p>
          <a:p>
            <a:pPr>
              <a:spcAft>
                <a:spcPts val="1000"/>
              </a:spcAft>
              <a:defRPr sz="1800">
                <a:solidFill>
                  <a:srgbClr val="333333"/>
                </a:solidFill>
              </a:defRPr>
            </a:pPr>
            <a:r>
              <a:t>Step 2: Calculate pinion rotation needed for this rack travel</a:t>
            </a:r>
          </a:p>
          <a:p>
            <a:pPr>
              <a:spcAft>
                <a:spcPts val="1000"/>
              </a:spcAft>
              <a:defRPr sz="1800">
                <a:solidFill>
                  <a:srgbClr val="333333"/>
                </a:solidFill>
              </a:defRPr>
            </a:pPr>
            <a:r>
              <a:t>When the pinion rotates, the rack moves by:</a:t>
            </a:r>
          </a:p>
          <a:p>
            <a:pPr>
              <a:defRPr sz="1400">
                <a:solidFill>
                  <a:srgbClr val="787878"/>
                </a:solidFill>
                <a:latin typeface="Consolas"/>
              </a:defRPr>
            </a:pPr>
            <a:r>
              <a:t>Rack movement = Pinion rotation (in radians) × Pinion radius</a:t>
            </a:r>
            <a:br/>
            <a:br/>
            <a:r>
              <a:t>Rack movement per degree of pinion = (π/180) × 20 mm</a:t>
            </a:r>
            <a:br/>
            <a:r>
              <a:t>                                    = 0.349 mm/° of pinion rotation</a:t>
            </a:r>
          </a:p>
          <a:p>
            <a:pPr>
              <a:spcAft>
                <a:spcPts val="1000"/>
              </a:spcAft>
              <a:defRPr sz="1800">
                <a:solidFill>
                  <a:srgbClr val="333333"/>
                </a:solidFill>
              </a:defRPr>
            </a:pPr>
            <a:r>
              <a:t>Step 3: Calculate steering ratio</a:t>
            </a:r>
          </a:p>
          <a:p>
            <a:pPr>
              <a:defRPr sz="1400">
                <a:solidFill>
                  <a:srgbClr val="787878"/>
                </a:solidFill>
                <a:latin typeface="Consolas"/>
              </a:defRPr>
            </a:pPr>
            <a:r>
              <a:t>To move rack by 2.5 mm (to turn wheel by 1°):</a:t>
            </a:r>
            <a:br/>
            <a:r>
              <a:t>Pinion must rotate: 2.5 mm / 0.349 mm/° = 7.16°</a:t>
            </a:r>
            <a:br/>
            <a:br/>
            <a:r>
              <a:t>But this doesn't account for steering arm geometry. The actual ratio includes the lever arm effect:</a:t>
            </a:r>
            <a:br/>
            <a:br/>
            <a:r>
              <a:t>Steering Ratio ≈ 7.16 × 2 (typical mechanical advantage factor)</a:t>
            </a:r>
            <a:br/>
            <a:r>
              <a:t>               ≈ 14.3:1</a:t>
            </a:r>
          </a:p>
          <a:p>
            <a:pPr>
              <a:spcAft>
                <a:spcPts val="1000"/>
              </a:spcAft>
              <a:defRPr sz="1800">
                <a:solidFill>
                  <a:srgbClr val="333333"/>
                </a:solidFill>
              </a:defRPr>
            </a:pPr>
            <a:r>
              <a:t>RESULT:</a:t>
            </a:r>
          </a:p>
          <a:p>
            <a:pPr>
              <a:spcAft>
                <a:spcPts val="1000"/>
              </a:spcAft>
              <a:defRPr sz="1800">
                <a:solidFill>
                  <a:srgbClr val="333333"/>
                </a:solidFill>
              </a:defRPr>
            </a:pPr>
            <a:r>
              <a:t>This vehicle has a 14.3:1 steering ratio—typical for a modern passenger car. This means turning the steering wheel 14.3° will turn the front wheels 1°.</a:t>
            </a:r>
          </a:p>
          <a:p>
            <a:pPr>
              <a:spcAft>
                <a:spcPts val="1000"/>
              </a:spcAft>
              <a:defRPr sz="1800">
                <a:solidFill>
                  <a:srgbClr val="333333"/>
                </a:solidFill>
              </a:defRPr>
            </a:pPr>
            <a:r>
              <a:t>QUICK CHECK: — Lock-to-lock steering wheel rotation = 40° × 14.3 = 572° ≈ 1.6 turns</a:t>
            </a:r>
          </a:p>
          <a:p>
            <a:pPr>
              <a:spcAft>
                <a:spcPts val="600"/>
              </a:spcAft>
              <a:defRPr sz="1800">
                <a:solidFill>
                  <a:srgbClr val="333333"/>
                </a:solidFill>
              </a:defRPr>
            </a:pPr>
            <a:r>
              <a:t>This is typical for modern cars (1.5 to 2.5 turns lock-to-lock)</a:t>
            </a:r>
          </a:p>
          <a:p>
            <a:pPr>
              <a:spcAft>
                <a:spcPts val="1000"/>
              </a:spcAft>
              <a:defRPr sz="1800">
                <a:solidFill>
                  <a:srgbClr val="333333"/>
                </a:solidFill>
              </a:defRPr>
            </a:pPr>
            <a:r>
              <a:t>Instructor Narration:</a:t>
            </a:r>
          </a:p>
          <a:p>
            <a:pPr>
              <a:spcAft>
                <a:spcPts val="1000"/>
              </a:spcAft>
              <a:defRPr sz="1800">
                <a:solidFill>
                  <a:srgbClr val="333333"/>
                </a:solidFill>
              </a:defRPr>
            </a:pPr>
            <a:r>
              <a:t>Sports cars often have 2-2.5 turns lock-to-lock (quick steering). Older cars and trucks have 3-5 turns lock-to-lock (slow, easy steering). Modern cars are converging on 2.5-3 turns as the sweet spot with power steering assist.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4: CLIMAX - "The Power Assist Revolution</a:t>
            </a:r>
          </a:p>
        </p:txBody>
      </p:sp>
      <p:sp>
        <p:nvSpPr>
          <p:cNvPr id="3" name="Subtitle 2"/>
          <p:cNvSpPr>
            <a:spLocks noGrp="1"/>
          </p:cNvSpPr>
          <p:nvPr>
            <p:ph type="subTitle" idx="1"/>
          </p:nvPr>
        </p:nvSpPr>
        <p:spPr/>
        <p:txBody>
          <a:bodyP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Need for Power Steering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Imagine you're parking a 1950s car without power steering. The front wheels weigh 300 kg each, the tires are 200 mm wide, and you have an 18:1 steering ratio.</a:t>
            </a:r>
          </a:p>
          <a:p>
            <a:pPr>
              <a:spcAft>
                <a:spcPts val="1000"/>
              </a:spcAft>
              <a:defRPr sz="1800">
                <a:solidFill>
                  <a:srgbClr val="333333"/>
                </a:solidFill>
              </a:defRPr>
            </a:pPr>
            <a:r>
              <a:t>The steering effort required: 30-40 kg of force at the steering wheel rim. Your arms would be exhausted after parallel parking!</a:t>
            </a:r>
          </a:p>
          <a:p>
            <a:pPr>
              <a:spcAft>
                <a:spcPts val="1000"/>
              </a:spcAft>
              <a:defRPr sz="1800">
                <a:solidFill>
                  <a:srgbClr val="333333"/>
                </a:solidFill>
              </a:defRPr>
            </a:pPr>
            <a:r>
              <a:t>The Problem: — Heavier vehicles (especially front-wheel-drive with engine weight over front axle)</a:t>
            </a:r>
          </a:p>
          <a:p>
            <a:pPr>
              <a:spcAft>
                <a:spcPts val="600"/>
              </a:spcAft>
              <a:defRPr sz="1800">
                <a:solidFill>
                  <a:srgbClr val="333333"/>
                </a:solidFill>
              </a:defRPr>
            </a:pPr>
            <a:r>
              <a:t>Wider tires (more contact patch = more friction to overcome when turning stationary)</a:t>
            </a:r>
          </a:p>
          <a:p>
            <a:pPr>
              <a:spcAft>
                <a:spcPts val="600"/>
              </a:spcAft>
              <a:defRPr sz="1800">
                <a:solidFill>
                  <a:srgbClr val="333333"/>
                </a:solidFill>
              </a:defRPr>
            </a:pPr>
            <a:r>
              <a:t>Lower steering ratios desired (for quicker response)</a:t>
            </a:r>
          </a:p>
          <a:p>
            <a:pPr>
              <a:spcAft>
                <a:spcPts val="1000"/>
              </a:spcAft>
              <a:defRPr sz="1800">
                <a:solidFill>
                  <a:srgbClr val="333333"/>
                </a:solidFill>
              </a:defRPr>
            </a:pPr>
            <a:r>
              <a:t>All these factors increase steering effort.</a:t>
            </a:r>
          </a:p>
          <a:p>
            <a:pPr>
              <a:spcAft>
                <a:spcPts val="1000"/>
              </a:spcAft>
              <a:defRPr sz="1800">
                <a:solidFill>
                  <a:srgbClr val="333333"/>
                </a:solidFill>
              </a:defRPr>
            </a:pPr>
            <a:r>
              <a:t>The Solution: Add a power assist system that amplifies the driver's input.</a:t>
            </a:r>
          </a:p>
          <a:p>
            <a:pPr>
              <a:spcAft>
                <a:spcPts val="1000"/>
              </a:spcAft>
              <a:defRPr sz="1800">
                <a:solidFill>
                  <a:srgbClr val="333333"/>
                </a:solidFill>
              </a:defRPr>
            </a:pPr>
            <a:r>
              <a:t>Two types:</a:t>
            </a:r>
          </a:p>
          <a:p>
            <a:pPr>
              <a:spcAft>
                <a:spcPts val="600"/>
              </a:spcAft>
              <a:defRPr sz="1800">
                <a:solidFill>
                  <a:srgbClr val="333333"/>
                </a:solidFill>
              </a:defRPr>
            </a:pPr>
            <a:r>
              <a:t>Hydraulic Power Steering (HPS) — Traditional, used since 1950s</a:t>
            </a:r>
          </a:p>
          <a:p>
            <a:pPr>
              <a:spcAft>
                <a:spcPts val="600"/>
              </a:spcAft>
              <a:defRPr sz="1800">
                <a:solidFill>
                  <a:srgbClr val="333333"/>
                </a:solidFill>
              </a:defRPr>
            </a:pPr>
            <a:r>
              <a:t>Electric Power Assisted Steering (EPAS) — Modern, increasingly common</a:t>
            </a:r>
          </a:p>
          <a:p>
            <a:pPr>
              <a:spcAft>
                <a:spcPts val="1000"/>
              </a:spcAft>
              <a:defRPr sz="1800">
                <a:solidFill>
                  <a:srgbClr val="333333"/>
                </a:solidFill>
              </a:defRPr>
            </a:pPr>
            <a:r>
              <a:t>Let's explore both systems.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Hydraulic Power Steering (HPS)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Hydraulic Power Steering has been the standard for 70 years.</a:t>
            </a:r>
          </a:p>
          <a:p>
            <a:pPr>
              <a:spcAft>
                <a:spcPts val="1000"/>
              </a:spcAft>
              <a:defRPr sz="1800">
                <a:solidFill>
                  <a:srgbClr val="333333"/>
                </a:solidFill>
              </a:defRPr>
            </a:pPr>
            <a:r>
              <a:t>System Components:</a:t>
            </a:r>
          </a:p>
          <a:p>
            <a:pPr>
              <a:spcAft>
                <a:spcPts val="600"/>
              </a:spcAft>
              <a:defRPr sz="1800">
                <a:solidFill>
                  <a:srgbClr val="333333"/>
                </a:solidFill>
              </a:defRPr>
            </a:pPr>
            <a:r>
              <a:t>Hydraulic Pump (belt-driven by engine)</a:t>
            </a:r>
          </a:p>
          <a:p>
            <a:pPr>
              <a:spcAft>
                <a:spcPts val="600"/>
              </a:spcAft>
              <a:defRPr sz="1800">
                <a:solidFill>
                  <a:srgbClr val="333333"/>
                </a:solidFill>
              </a:defRPr>
            </a:pPr>
            <a:r>
              <a:t>Generates high-pressure hydraulic fluid (70-150 bar / 1000-2200 psi)</a:t>
            </a:r>
          </a:p>
          <a:p>
            <a:pPr>
              <a:spcAft>
                <a:spcPts val="600"/>
              </a:spcAft>
              <a:defRPr sz="1800">
                <a:solidFill>
                  <a:srgbClr val="333333"/>
                </a:solidFill>
              </a:defRPr>
            </a:pPr>
            <a:r>
              <a:t>Runs continuously whenever engine is running</a:t>
            </a:r>
          </a:p>
          <a:p>
            <a:pPr>
              <a:spcAft>
                <a:spcPts val="600"/>
              </a:spcAft>
              <a:defRPr sz="1800">
                <a:solidFill>
                  <a:srgbClr val="333333"/>
                </a:solidFill>
              </a:defRPr>
            </a:pPr>
            <a:r>
              <a:t>Typically a vane pump or gear pump</a:t>
            </a:r>
          </a:p>
          <a:p>
            <a:pPr>
              <a:spcAft>
                <a:spcPts val="600"/>
              </a:spcAft>
              <a:defRPr sz="1800">
                <a:solidFill>
                  <a:srgbClr val="333333"/>
                </a:solidFill>
              </a:defRPr>
            </a:pPr>
            <a:r>
              <a:t>Fluid Reservoir — Holds power steering fluid (special hydraulic oil)</a:t>
            </a:r>
          </a:p>
          <a:p>
            <a:pPr>
              <a:spcAft>
                <a:spcPts val="600"/>
              </a:spcAft>
              <a:defRPr sz="1800">
                <a:solidFill>
                  <a:srgbClr val="333333"/>
                </a:solidFill>
              </a:defRPr>
            </a:pPr>
            <a:r>
              <a:t>Usually integrated with pump</a:t>
            </a:r>
          </a:p>
          <a:p>
            <a:pPr>
              <a:spcAft>
                <a:spcPts val="600"/>
              </a:spcAft>
              <a:defRPr sz="1800">
                <a:solidFill>
                  <a:srgbClr val="333333"/>
                </a:solidFill>
              </a:defRPr>
            </a:pPr>
            <a:r>
              <a:t>Rotary Valve (inside steering gear housing)</a:t>
            </a:r>
          </a:p>
          <a:p>
            <a:pPr>
              <a:spcAft>
                <a:spcPts val="600"/>
              </a:spcAft>
              <a:defRPr sz="1800">
                <a:solidFill>
                  <a:srgbClr val="333333"/>
                </a:solidFill>
              </a:defRPr>
            </a:pPr>
            <a:r>
              <a:t>Senses steering torque applied by driver</a:t>
            </a:r>
          </a:p>
          <a:p>
            <a:pPr>
              <a:spcAft>
                <a:spcPts val="600"/>
              </a:spcAft>
              <a:defRPr sz="1800">
                <a:solidFill>
                  <a:srgbClr val="333333"/>
                </a:solidFill>
              </a:defRPr>
            </a:pPr>
            <a:r>
              <a:t>Directs high-pressure fluid to appropriate side of piston/rack</a:t>
            </a:r>
          </a:p>
          <a:p>
            <a:pPr>
              <a:spcAft>
                <a:spcPts val="600"/>
              </a:spcAft>
              <a:defRPr sz="1800">
                <a:solidFill>
                  <a:srgbClr val="333333"/>
                </a:solidFill>
              </a:defRPr>
            </a:pPr>
            <a:r>
              <a:t>Power Cylinder — Rack-and-pinion: fluid acts directly on rack</a:t>
            </a:r>
          </a:p>
          <a:p>
            <a:pPr>
              <a:spcAft>
                <a:spcPts val="600"/>
              </a:spcAft>
              <a:defRPr sz="1800">
                <a:solidFill>
                  <a:srgbClr val="333333"/>
                </a:solidFill>
              </a:defRPr>
            </a:pPr>
            <a:r>
              <a:t>Recirculating ball: fluid acts on ball nut or external cylinder</a:t>
            </a:r>
          </a:p>
          <a:p>
            <a:pPr>
              <a:spcAft>
                <a:spcPts val="600"/>
              </a:spcAft>
              <a:defRPr sz="1800">
                <a:solidFill>
                  <a:srgbClr val="333333"/>
                </a:solidFill>
              </a:defRPr>
            </a:pPr>
            <a:r>
              <a:t>Pressure/Return Lines — High-pressure hose from pump to gear</a:t>
            </a:r>
          </a:p>
          <a:p>
            <a:pPr>
              <a:spcAft>
                <a:spcPts val="600"/>
              </a:spcAft>
              <a:defRPr sz="1800">
                <a:solidFill>
                  <a:srgbClr val="333333"/>
                </a:solidFill>
              </a:defRPr>
            </a:pPr>
            <a:r>
              <a:t>Low-pressure hose back to reservoir</a:t>
            </a:r>
          </a:p>
          <a:p>
            <a:pPr>
              <a:spcAft>
                <a:spcPts val="1000"/>
              </a:spcAft>
              <a:defRPr sz="1800">
                <a:solidFill>
                  <a:srgbClr val="333333"/>
                </a:solidFill>
              </a:defRPr>
            </a:pPr>
            <a:r>
              <a:t>How It Works:</a:t>
            </a:r>
          </a:p>
          <a:p>
            <a:pPr>
              <a:spcAft>
                <a:spcPts val="1000"/>
              </a:spcAft>
              <a:defRPr sz="1800">
                <a:solidFill>
                  <a:srgbClr val="333333"/>
                </a:solidFill>
              </a:defRPr>
            </a:pPr>
            <a:r>
              <a:t>At Rest (Driving Straight): — Pump runs continuously, but fluid circulates back to reservoir</a:t>
            </a:r>
          </a:p>
          <a:p>
            <a:pPr>
              <a:spcAft>
                <a:spcPts val="600"/>
              </a:spcAft>
              <a:defRPr sz="1800">
                <a:solidFill>
                  <a:srgbClr val="333333"/>
                </a:solidFill>
              </a:defRPr>
            </a:pPr>
            <a:r>
              <a:t>No pressure buildup (fluid flows through open center of rotary valve)</a:t>
            </a:r>
          </a:p>
          <a:p>
            <a:pPr>
              <a:spcAft>
                <a:spcPts val="600"/>
              </a:spcAft>
              <a:defRPr sz="1800">
                <a:solidFill>
                  <a:srgbClr val="333333"/>
                </a:solidFill>
              </a:defRPr>
            </a:pPr>
            <a:r>
              <a:t>No steering assist (driver effort is minimal for small corrections)</a:t>
            </a:r>
          </a:p>
          <a:p>
            <a:pPr>
              <a:spcAft>
                <a:spcPts val="1000"/>
              </a:spcAft>
              <a:defRPr sz="1800">
                <a:solidFill>
                  <a:srgbClr val="333333"/>
                </a:solidFill>
              </a:defRPr>
            </a:pPr>
            <a:r>
              <a:t>During Turn:</a:t>
            </a:r>
          </a:p>
          <a:p>
            <a:pPr>
              <a:spcAft>
                <a:spcPts val="600"/>
              </a:spcAft>
              <a:defRPr sz="1800">
                <a:solidFill>
                  <a:srgbClr val="333333"/>
                </a:solidFill>
              </a:defRPr>
            </a:pPr>
            <a:r>
              <a:t>Driver applies torque to steering wheel</a:t>
            </a:r>
          </a:p>
          <a:p>
            <a:pPr>
              <a:spcAft>
                <a:spcPts val="600"/>
              </a:spcAft>
              <a:defRPr sz="1800">
                <a:solidFill>
                  <a:srgbClr val="333333"/>
                </a:solidFill>
              </a:defRPr>
            </a:pPr>
            <a:r>
              <a:t>Torsion bar inside rotary valve twists slightly</a:t>
            </a:r>
          </a:p>
          <a:p>
            <a:pPr>
              <a:spcAft>
                <a:spcPts val="600"/>
              </a:spcAft>
              <a:defRPr sz="1800">
                <a:solidFill>
                  <a:srgbClr val="333333"/>
                </a:solidFill>
              </a:defRPr>
            </a:pPr>
            <a:r>
              <a:t>Valve ports open, directing high-pressure fluid to one side of the power cylinder</a:t>
            </a:r>
          </a:p>
          <a:p>
            <a:pPr>
              <a:spcAft>
                <a:spcPts val="600"/>
              </a:spcAft>
              <a:defRPr sz="1800">
                <a:solidFill>
                  <a:srgbClr val="333333"/>
                </a:solidFill>
              </a:defRPr>
            </a:pPr>
            <a:r>
              <a:t>Hydraulic pressure pushes the rack (or ball nut), assisting the turn</a:t>
            </a:r>
          </a:p>
          <a:p>
            <a:pPr>
              <a:spcAft>
                <a:spcPts val="600"/>
              </a:spcAft>
              <a:defRPr sz="1800">
                <a:solidFill>
                  <a:srgbClr val="333333"/>
                </a:solidFill>
              </a:defRPr>
            </a:pPr>
            <a:r>
              <a:t>The harder you turn, the more the torsion bar twists, the more assist is provided</a:t>
            </a:r>
          </a:p>
          <a:p>
            <a:pPr>
              <a:spcAft>
                <a:spcPts val="600"/>
              </a:spcAft>
              <a:defRPr sz="1800">
                <a:solidFill>
                  <a:srgbClr val="333333"/>
                </a:solidFill>
              </a:defRPr>
            </a:pPr>
            <a:r>
              <a:t>When you stop turning, the valve centers and pressure drops</a:t>
            </a:r>
          </a:p>
          <a:p>
            <a:pPr>
              <a:spcAft>
                <a:spcPts val="1000"/>
              </a:spcAft>
              <a:defRPr sz="1800">
                <a:solidFill>
                  <a:srgbClr val="333333"/>
                </a:solidFill>
              </a:defRPr>
            </a:pPr>
            <a:r>
              <a:t>Instructor Narration (continued):</a:t>
            </a:r>
          </a:p>
          <a:p>
            <a:pPr>
              <a:spcAft>
                <a:spcPts val="1000"/>
              </a:spcAft>
              <a:defRPr sz="1800">
                <a:solidFill>
                  <a:srgbClr val="333333"/>
                </a:solidFill>
              </a:defRPr>
            </a:pPr>
            <a:r>
              <a:t>The genius of hydraulic power steering is that it's proportional. Light touch = light assist. Heavy effort = heavy assist. The torsion bar acts as a force sensor, and the rotary valve acts as the control element.</a:t>
            </a:r>
          </a:p>
          <a:p>
            <a:pPr>
              <a:spcAft>
                <a:spcPts val="1000"/>
              </a:spcAft>
              <a:defRPr sz="1800">
                <a:solidFill>
                  <a:srgbClr val="333333"/>
                </a:solidFill>
              </a:defRPr>
            </a:pPr>
            <a:r>
              <a:t>KEY ADVANTAGE:</a:t>
            </a:r>
          </a:p>
          <a:p>
            <a:pPr>
              <a:spcAft>
                <a:spcPts val="1000"/>
              </a:spcAft>
              <a:defRPr sz="1800">
                <a:solidFill>
                  <a:srgbClr val="333333"/>
                </a:solidFill>
              </a:defRPr>
            </a:pPr>
            <a:r>
              <a:t>✅ Strong, consistent assist (can handle very heavy vehicles)</a:t>
            </a:r>
          </a:p>
          <a:p>
            <a:pPr>
              <a:spcAft>
                <a:spcPts val="1000"/>
              </a:spcAft>
              <a:defRPr sz="1800">
                <a:solidFill>
                  <a:srgbClr val="333333"/>
                </a:solidFill>
              </a:defRPr>
            </a:pPr>
            <a:r>
              <a:t>✅ Proven, reliable technology (70+ years of refinement)</a:t>
            </a:r>
          </a:p>
          <a:p>
            <a:pPr>
              <a:spcAft>
                <a:spcPts val="1000"/>
              </a:spcAft>
              <a:defRPr sz="1800">
                <a:solidFill>
                  <a:srgbClr val="333333"/>
                </a:solidFill>
              </a:defRPr>
            </a:pPr>
            <a:r>
              <a:t>✅ Good road feel (hydraulic fluid transmits feedback)</a:t>
            </a:r>
          </a:p>
          <a:p>
            <a:pPr>
              <a:spcAft>
                <a:spcPts val="1000"/>
              </a:spcAft>
              <a:defRPr sz="1800">
                <a:solidFill>
                  <a:srgbClr val="333333"/>
                </a:solidFill>
              </a:defRPr>
            </a:pPr>
            <a:r>
              <a:t>DISADVANTAGES:</a:t>
            </a:r>
          </a:p>
          <a:p>
            <a:pPr>
              <a:spcAft>
                <a:spcPts val="1000"/>
              </a:spcAft>
              <a:defRPr sz="1800">
                <a:solidFill>
                  <a:srgbClr val="333333"/>
                </a:solidFill>
              </a:defRPr>
            </a:pPr>
            <a:r>
              <a:t>❌ Energy waste (pump runs continuously, even when not steering)</a:t>
            </a:r>
          </a:p>
          <a:p>
            <a:pPr>
              <a:spcAft>
                <a:spcPts val="1000"/>
              </a:spcAft>
              <a:defRPr sz="1800">
                <a:solidFill>
                  <a:srgbClr val="333333"/>
                </a:solidFill>
              </a:defRPr>
            </a:pPr>
            <a:r>
              <a:t>❌ Fuel economy penalty (parasitic loss of 2-4 hp)</a:t>
            </a:r>
          </a:p>
          <a:p>
            <a:pPr>
              <a:spcAft>
                <a:spcPts val="1000"/>
              </a:spcAft>
              <a:defRPr sz="1800">
                <a:solidFill>
                  <a:srgbClr val="333333"/>
                </a:solidFill>
              </a:defRPr>
            </a:pPr>
            <a:r>
              <a:t>❌ Maintenance (fluid changes, hose/seal leaks)</a:t>
            </a:r>
          </a:p>
          <a:p>
            <a:pPr>
              <a:spcAft>
                <a:spcPts val="1000"/>
              </a:spcAft>
              <a:defRPr sz="1800">
                <a:solidFill>
                  <a:srgbClr val="333333"/>
                </a:solidFill>
              </a:defRPr>
            </a:pPr>
            <a:r>
              <a:t>❌ Fixed assist (same assist at all speeds—too light at highway speeds)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Electric Power Assisted Steering (EPAS)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Electric Power Assisted Steering (EPAS) is the future—and increasingly, the present.</a:t>
            </a:r>
          </a:p>
          <a:p>
            <a:pPr>
              <a:spcAft>
                <a:spcPts val="1000"/>
              </a:spcAft>
              <a:defRPr sz="1800">
                <a:solidFill>
                  <a:srgbClr val="333333"/>
                </a:solidFill>
              </a:defRPr>
            </a:pPr>
            <a:r>
              <a:t>Instead of a hydraulic pump, we use an electric motor to provide steering assist.</a:t>
            </a:r>
          </a:p>
          <a:p>
            <a:pPr>
              <a:spcAft>
                <a:spcPts val="1000"/>
              </a:spcAft>
              <a:defRPr sz="1800">
                <a:solidFill>
                  <a:srgbClr val="333333"/>
                </a:solidFill>
              </a:defRPr>
            </a:pPr>
            <a:r>
              <a:t>System Components:</a:t>
            </a:r>
          </a:p>
          <a:p>
            <a:pPr>
              <a:spcAft>
                <a:spcPts val="600"/>
              </a:spcAft>
              <a:defRPr sz="1800">
                <a:solidFill>
                  <a:srgbClr val="333333"/>
                </a:solidFill>
              </a:defRPr>
            </a:pPr>
            <a:r>
              <a:t>Electric Motor (brushless DC motor, typically 400-1000W)</a:t>
            </a:r>
          </a:p>
          <a:p>
            <a:pPr>
              <a:spcAft>
                <a:spcPts val="600"/>
              </a:spcAft>
              <a:defRPr sz="1800">
                <a:solidFill>
                  <a:srgbClr val="333333"/>
                </a:solidFill>
              </a:defRPr>
            </a:pPr>
            <a:r>
              <a:t>Column-assist: motor on steering column</a:t>
            </a:r>
          </a:p>
          <a:p>
            <a:pPr>
              <a:spcAft>
                <a:spcPts val="600"/>
              </a:spcAft>
              <a:defRPr sz="1800">
                <a:solidFill>
                  <a:srgbClr val="333333"/>
                </a:solidFill>
              </a:defRPr>
            </a:pPr>
            <a:r>
              <a:t>Pinion-assist: motor on pinion gear</a:t>
            </a:r>
          </a:p>
          <a:p>
            <a:pPr>
              <a:spcAft>
                <a:spcPts val="600"/>
              </a:spcAft>
              <a:defRPr sz="1800">
                <a:solidFill>
                  <a:srgbClr val="333333"/>
                </a:solidFill>
              </a:defRPr>
            </a:pPr>
            <a:r>
              <a:t>Rack-assist: motor directly on rack (most common in modern cars)</a:t>
            </a:r>
          </a:p>
          <a:p>
            <a:pPr>
              <a:spcAft>
                <a:spcPts val="600"/>
              </a:spcAft>
              <a:defRPr sz="1800">
                <a:solidFill>
                  <a:srgbClr val="333333"/>
                </a:solidFill>
              </a:defRPr>
            </a:pPr>
            <a:r>
              <a:t>Torque Sensor (measures driver's steering effort)</a:t>
            </a:r>
          </a:p>
          <a:p>
            <a:pPr>
              <a:spcAft>
                <a:spcPts val="600"/>
              </a:spcAft>
              <a:defRPr sz="1800">
                <a:solidFill>
                  <a:srgbClr val="333333"/>
                </a:solidFill>
              </a:defRPr>
            </a:pPr>
            <a:r>
              <a:t>Typically uses strain gauges or magnetoresistive sensors</a:t>
            </a:r>
          </a:p>
          <a:p>
            <a:pPr>
              <a:spcAft>
                <a:spcPts val="600"/>
              </a:spcAft>
              <a:defRPr sz="1800">
                <a:solidFill>
                  <a:srgbClr val="333333"/>
                </a:solidFill>
              </a:defRPr>
            </a:pPr>
            <a:r>
              <a:t>Detects torsion bar twist angle (just like hydraulic system)</a:t>
            </a:r>
          </a:p>
          <a:p>
            <a:pPr>
              <a:spcAft>
                <a:spcPts val="600"/>
              </a:spcAft>
              <a:defRPr sz="1800">
                <a:solidFill>
                  <a:srgbClr val="333333"/>
                </a:solidFill>
              </a:defRPr>
            </a:pPr>
            <a:r>
              <a:t>ECU (Electronic Control Unit) — Calculates required assist based on:</a:t>
            </a:r>
          </a:p>
          <a:p>
            <a:pPr>
              <a:spcAft>
                <a:spcPts val="600"/>
              </a:spcAft>
              <a:defRPr sz="1800">
                <a:solidFill>
                  <a:srgbClr val="333333"/>
                </a:solidFill>
              </a:defRPr>
            </a:pPr>
            <a:r>
              <a:t>Driver torque input</a:t>
            </a:r>
          </a:p>
          <a:p>
            <a:pPr>
              <a:spcAft>
                <a:spcPts val="600"/>
              </a:spcAft>
              <a:defRPr sz="1800">
                <a:solidFill>
                  <a:srgbClr val="333333"/>
                </a:solidFill>
              </a:defRPr>
            </a:pPr>
            <a:r>
              <a:t>Vehicle speed</a:t>
            </a:r>
          </a:p>
          <a:p>
            <a:pPr>
              <a:spcAft>
                <a:spcPts val="600"/>
              </a:spcAft>
              <a:defRPr sz="1800">
                <a:solidFill>
                  <a:srgbClr val="333333"/>
                </a:solidFill>
              </a:defRPr>
            </a:pPr>
            <a:r>
              <a:t>Steering angle</a:t>
            </a:r>
          </a:p>
          <a:p>
            <a:pPr>
              <a:spcAft>
                <a:spcPts val="600"/>
              </a:spcAft>
              <a:defRPr sz="1800">
                <a:solidFill>
                  <a:srgbClr val="333333"/>
                </a:solidFill>
              </a:defRPr>
            </a:pPr>
            <a:r>
              <a:t>Steering angle rate (how fast you're turning)</a:t>
            </a:r>
          </a:p>
          <a:p>
            <a:pPr>
              <a:spcAft>
                <a:spcPts val="600"/>
              </a:spcAft>
              <a:defRPr sz="1800">
                <a:solidFill>
                  <a:srgbClr val="333333"/>
                </a:solidFill>
              </a:defRPr>
            </a:pPr>
            <a:r>
              <a:t>Vehicle yaw rate (from stability control system)</a:t>
            </a:r>
          </a:p>
          <a:p>
            <a:pPr>
              <a:spcAft>
                <a:spcPts val="600"/>
              </a:spcAft>
              <a:defRPr sz="1800">
                <a:solidFill>
                  <a:srgbClr val="333333"/>
                </a:solidFill>
              </a:defRPr>
            </a:pPr>
            <a:r>
              <a:t>Commands motor to provide exact assist needed</a:t>
            </a:r>
          </a:p>
          <a:p>
            <a:pPr>
              <a:spcAft>
                <a:spcPts val="600"/>
              </a:spcAft>
              <a:defRPr sz="1800">
                <a:solidFill>
                  <a:srgbClr val="333333"/>
                </a:solidFill>
              </a:defRPr>
            </a:pPr>
            <a:r>
              <a:t>Position Sensors — Steering angle sensor</a:t>
            </a:r>
          </a:p>
          <a:p>
            <a:pPr>
              <a:spcAft>
                <a:spcPts val="600"/>
              </a:spcAft>
              <a:defRPr sz="1800">
                <a:solidFill>
                  <a:srgbClr val="333333"/>
                </a:solidFill>
              </a:defRPr>
            </a:pPr>
            <a:r>
              <a:t>Motor position sensor (for control feedback)</a:t>
            </a:r>
          </a:p>
          <a:p>
            <a:pPr>
              <a:spcAft>
                <a:spcPts val="600"/>
              </a:spcAft>
              <a:defRPr sz="1800">
                <a:solidFill>
                  <a:srgbClr val="333333"/>
                </a:solidFill>
              </a:defRPr>
            </a:pPr>
            <a:r>
              <a:t>Power Supply — 12V electrical system (12V motor for small/medium cars)</a:t>
            </a:r>
          </a:p>
          <a:p>
            <a:pPr>
              <a:spcAft>
                <a:spcPts val="600"/>
              </a:spcAft>
              <a:defRPr sz="1800">
                <a:solidFill>
                  <a:srgbClr val="333333"/>
                </a:solidFill>
              </a:defRPr>
            </a:pPr>
            <a:r>
              <a:t>48V electrical system (for larger vehicles, better efficiency)</a:t>
            </a:r>
          </a:p>
          <a:p>
            <a:pPr>
              <a:spcAft>
                <a:spcPts val="1000"/>
              </a:spcAft>
              <a:defRPr sz="1800">
                <a:solidFill>
                  <a:srgbClr val="333333"/>
                </a:solidFill>
              </a:defRPr>
            </a:pPr>
            <a:r>
              <a:t>How It Works:</a:t>
            </a:r>
          </a:p>
          <a:p>
            <a:pPr>
              <a:spcAft>
                <a:spcPts val="600"/>
              </a:spcAft>
              <a:defRPr sz="1800">
                <a:solidFill>
                  <a:srgbClr val="333333"/>
                </a:solidFill>
              </a:defRPr>
            </a:pPr>
            <a:r>
              <a:t>Driver turns steering wheel</a:t>
            </a:r>
          </a:p>
          <a:p>
            <a:pPr>
              <a:spcAft>
                <a:spcPts val="600"/>
              </a:spcAft>
              <a:defRPr sz="1800">
                <a:solidFill>
                  <a:srgbClr val="333333"/>
                </a:solidFill>
              </a:defRPr>
            </a:pPr>
            <a:r>
              <a:t>Torque sensor measures applied force</a:t>
            </a:r>
          </a:p>
          <a:p>
            <a:pPr>
              <a:spcAft>
                <a:spcPts val="600"/>
              </a:spcAft>
              <a:defRPr sz="1800">
                <a:solidFill>
                  <a:srgbClr val="333333"/>
                </a:solidFill>
              </a:defRPr>
            </a:pPr>
            <a:r>
              <a:t>ECU reads:</a:t>
            </a:r>
          </a:p>
          <a:p>
            <a:pPr>
              <a:spcAft>
                <a:spcPts val="600"/>
              </a:spcAft>
              <a:defRPr sz="1800">
                <a:solidFill>
                  <a:srgbClr val="333333"/>
                </a:solidFill>
              </a:defRPr>
            </a:pPr>
            <a:r>
              <a:t>Torque input</a:t>
            </a:r>
          </a:p>
          <a:p>
            <a:pPr>
              <a:spcAft>
                <a:spcPts val="600"/>
              </a:spcAft>
              <a:defRPr sz="1800">
                <a:solidFill>
                  <a:srgbClr val="333333"/>
                </a:solidFill>
              </a:defRPr>
            </a:pPr>
            <a:r>
              <a:t>Vehicle speed (from CAN bus)</a:t>
            </a:r>
          </a:p>
          <a:p>
            <a:pPr>
              <a:spcAft>
                <a:spcPts val="600"/>
              </a:spcAft>
              <a:defRPr sz="1800">
                <a:solidFill>
                  <a:srgbClr val="333333"/>
                </a:solidFill>
              </a:defRPr>
            </a:pPr>
            <a:r>
              <a:t>Current steering angle</a:t>
            </a:r>
          </a:p>
          <a:p>
            <a:pPr>
              <a:spcAft>
                <a:spcPts val="600"/>
              </a:spcAft>
              <a:defRPr sz="1800">
                <a:solidFill>
                  <a:srgbClr val="333333"/>
                </a:solidFill>
              </a:defRPr>
            </a:pPr>
            <a:r>
              <a:t>ECU calculates required assist:</a:t>
            </a:r>
          </a:p>
          <a:p>
            <a:pPr>
              <a:spcAft>
                <a:spcPts val="600"/>
              </a:spcAft>
              <a:defRPr sz="1800">
                <a:solidFill>
                  <a:srgbClr val="333333"/>
                </a:solidFill>
              </a:defRPr>
            </a:pPr>
            <a:r>
              <a:t>Low speed (parking): Maximum assist — Medium speed (city): Moderate assist — High speed (highway): Minimum assist (for stability and feel)</a:t>
            </a:r>
          </a:p>
          <a:p>
            <a:pPr>
              <a:spcAft>
                <a:spcPts val="600"/>
              </a:spcAft>
              <a:defRPr sz="1800">
                <a:solidFill>
                  <a:srgbClr val="333333"/>
                </a:solidFill>
              </a:defRPr>
            </a:pPr>
            <a:r>
              <a:t>Motor applies calculated torque to column/pinion/rack</a:t>
            </a:r>
          </a:p>
          <a:p>
            <a:pPr>
              <a:spcAft>
                <a:spcPts val="600"/>
              </a:spcAft>
              <a:defRPr sz="1800">
                <a:solidFill>
                  <a:srgbClr val="333333"/>
                </a:solidFill>
              </a:defRPr>
            </a:pPr>
            <a:r>
              <a:t>Driver feels reduced effort</a:t>
            </a:r>
          </a:p>
          <a:p>
            <a:pPr>
              <a:spcAft>
                <a:spcPts val="1000"/>
              </a:spcAft>
              <a:defRPr sz="1800">
                <a:solidFill>
                  <a:srgbClr val="333333"/>
                </a:solidFill>
              </a:defRPr>
            </a:pPr>
            <a:r>
              <a:t>Instructor Narration (continued):</a:t>
            </a:r>
          </a:p>
          <a:p>
            <a:pPr>
              <a:spcAft>
                <a:spcPts val="1000"/>
              </a:spcAft>
              <a:defRPr sz="1800">
                <a:solidFill>
                  <a:srgbClr val="333333"/>
                </a:solidFill>
              </a:defRPr>
            </a:pPr>
            <a:r>
              <a:t>The magic of EPAS is speed-sensitive assist. At 5 km/h in a parking lot, you can turn the wheel with one finger. At 120 km/h on the highway, the steering is heavier and more stable. The ECU adjusts the assist in real-time.</a:t>
            </a:r>
          </a:p>
          <a:p>
            <a:pPr>
              <a:spcAft>
                <a:spcPts val="1000"/>
              </a:spcAft>
              <a:defRPr sz="1800">
                <a:solidFill>
                  <a:srgbClr val="333333"/>
                </a:solidFill>
              </a:defRPr>
            </a:pPr>
            <a:r>
              <a:t>KEY ADVANTAGES:</a:t>
            </a:r>
          </a:p>
          <a:p>
            <a:pPr>
              <a:spcAft>
                <a:spcPts val="1000"/>
              </a:spcAft>
              <a:defRPr sz="1800">
                <a:solidFill>
                  <a:srgbClr val="333333"/>
                </a:solidFill>
              </a:defRPr>
            </a:pPr>
            <a:r>
              <a:t>✅ Energy efficient (motor only runs when steering, saves 0.2-0.4 L/100km fuel)</a:t>
            </a:r>
          </a:p>
          <a:p>
            <a:pPr>
              <a:spcAft>
                <a:spcPts val="1000"/>
              </a:spcAft>
              <a:defRPr sz="1800">
                <a:solidFill>
                  <a:srgbClr val="333333"/>
                </a:solidFill>
              </a:defRPr>
            </a:pPr>
            <a:r>
              <a:t>✅ Speed-sensitive (variable assist based on driving conditions)</a:t>
            </a:r>
          </a:p>
          <a:p>
            <a:pPr>
              <a:spcAft>
                <a:spcPts val="1000"/>
              </a:spcAft>
              <a:defRPr sz="1800">
                <a:solidFill>
                  <a:srgbClr val="333333"/>
                </a:solidFill>
              </a:defRPr>
            </a:pPr>
            <a:r>
              <a:t>✅ No maintenance (no fluid, no hoses, no leaks)</a:t>
            </a:r>
          </a:p>
          <a:p>
            <a:pPr>
              <a:spcAft>
                <a:spcPts val="1000"/>
              </a:spcAft>
              <a:defRPr sz="1800">
                <a:solidFill>
                  <a:srgbClr val="333333"/>
                </a:solidFill>
              </a:defRPr>
            </a:pPr>
            <a:r>
              <a:t>✅ Flexible tuning (engineers can program any assist curve via software)</a:t>
            </a:r>
          </a:p>
          <a:p>
            <a:pPr>
              <a:spcAft>
                <a:spcPts val="1000"/>
              </a:spcAft>
              <a:defRPr sz="1800">
                <a:solidFill>
                  <a:srgbClr val="333333"/>
                </a:solidFill>
              </a:defRPr>
            </a:pPr>
            <a:r>
              <a:t>✅ Enables advanced features: — Lane keeping assist (ADAS)</a:t>
            </a:r>
          </a:p>
          <a:p>
            <a:pPr>
              <a:spcAft>
                <a:spcPts val="600"/>
              </a:spcAft>
              <a:defRPr sz="1800">
                <a:solidFill>
                  <a:srgbClr val="333333"/>
                </a:solidFill>
              </a:defRPr>
            </a:pPr>
            <a:r>
              <a:t>Self-parking</a:t>
            </a:r>
          </a:p>
          <a:p>
            <a:pPr>
              <a:spcAft>
                <a:spcPts val="600"/>
              </a:spcAft>
              <a:defRPr sz="1800">
                <a:solidFill>
                  <a:srgbClr val="333333"/>
                </a:solidFill>
              </a:defRPr>
            </a:pPr>
            <a:r>
              <a:t>Autonomous driving</a:t>
            </a:r>
          </a:p>
          <a:p>
            <a:pPr>
              <a:spcAft>
                <a:spcPts val="1000"/>
              </a:spcAft>
              <a:defRPr sz="1800">
                <a:solidFill>
                  <a:srgbClr val="333333"/>
                </a:solidFill>
              </a:defRPr>
            </a:pPr>
            <a:r>
              <a:t>DISADVANTAGES:</a:t>
            </a:r>
          </a:p>
          <a:p>
            <a:pPr>
              <a:spcAft>
                <a:spcPts val="1000"/>
              </a:spcAft>
              <a:defRPr sz="1800">
                <a:solidFill>
                  <a:srgbClr val="333333"/>
                </a:solidFill>
              </a:defRPr>
            </a:pPr>
            <a:r>
              <a:t>❌ Early systems had poor feel (1990s-2000s EPAS felt numb)</a:t>
            </a:r>
          </a:p>
          <a:p>
            <a:pPr>
              <a:spcAft>
                <a:spcPts val="1000"/>
              </a:spcAft>
              <a:defRPr sz="1800">
                <a:solidFill>
                  <a:srgbClr val="333333"/>
                </a:solidFill>
              </a:defRPr>
            </a:pPr>
            <a:r>
              <a:t>❌ Complex electronics (ECU failure = total steering loss in some designs)</a:t>
            </a:r>
          </a:p>
          <a:p>
            <a:pPr>
              <a:spcAft>
                <a:spcPts val="1000"/>
              </a:spcAft>
              <a:defRPr sz="1800">
                <a:solidFill>
                  <a:srgbClr val="333333"/>
                </a:solidFill>
              </a:defRPr>
            </a:pPr>
            <a:r>
              <a:t>❌ Limited assist for very heavy vehicles (electric motors have power limits)</a:t>
            </a:r>
          </a:p>
          <a:p>
            <a:pPr>
              <a:spcAft>
                <a:spcPts val="1000"/>
              </a:spcAft>
              <a:defRPr sz="1800">
                <a:solidFill>
                  <a:srgbClr val="333333"/>
                </a:solidFill>
              </a:defRPr>
            </a:pPr>
            <a:r>
              <a:t>Modern Status: — ~80% of new passenger cars use EPAS</a:t>
            </a:r>
          </a:p>
          <a:p>
            <a:pPr>
              <a:spcAft>
                <a:spcPts val="600"/>
              </a:spcAft>
              <a:defRPr sz="1800">
                <a:solidFill>
                  <a:srgbClr val="333333"/>
                </a:solidFill>
              </a:defRPr>
            </a:pPr>
            <a:r>
              <a:t>Hybrid and electric vehicles: 100% EPAS (no engine to drive hydraulic pump)</a:t>
            </a:r>
          </a:p>
          <a:p>
            <a:pPr>
              <a:spcAft>
                <a:spcPts val="600"/>
              </a:spcAft>
              <a:defRPr sz="1800">
                <a:solidFill>
                  <a:srgbClr val="333333"/>
                </a:solidFill>
              </a:defRPr>
            </a:pPr>
            <a:r>
              <a:t>Heavy trucks: Still mostly hydraulic (need very high assist forces)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EPAS Assist Curve - Speed-Sensitive Control</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 me show you how EPAS creates that speed-sensitive assist magic.</a:t>
            </a:r>
          </a:p>
          <a:p>
            <a:pPr>
              <a:spcAft>
                <a:spcPts val="1000"/>
              </a:spcAft>
              <a:defRPr sz="1800">
                <a:solidFill>
                  <a:srgbClr val="333333"/>
                </a:solidFill>
              </a:defRPr>
            </a:pPr>
            <a:r>
              <a:t>This graph shows a typical EPAS assist curve:</a:t>
            </a:r>
          </a:p>
          <a:p>
            <a:pPr>
              <a:spcAft>
                <a:spcPts val="1000"/>
              </a:spcAft>
              <a:defRPr sz="1800">
                <a:solidFill>
                  <a:srgbClr val="333333"/>
                </a:solidFill>
              </a:defRPr>
            </a:pPr>
            <a:r>
              <a:t>X-axis: Vehicle speed (0 to 150 km/h)</a:t>
            </a:r>
          </a:p>
          <a:p>
            <a:pPr>
              <a:spcAft>
                <a:spcPts val="1000"/>
              </a:spcAft>
              <a:defRPr sz="1800">
                <a:solidFill>
                  <a:srgbClr val="333333"/>
                </a:solidFill>
              </a:defRPr>
            </a:pPr>
            <a:r>
              <a:t>Y-axis: Assist torque multiplier (0% to 100%)</a:t>
            </a:r>
          </a:p>
          <a:p>
            <a:pPr>
              <a:spcAft>
                <a:spcPts val="1000"/>
              </a:spcAft>
              <a:defRPr sz="1800">
                <a:solidFill>
                  <a:srgbClr val="333333"/>
                </a:solidFill>
              </a:defRPr>
            </a:pPr>
            <a:r>
              <a:t>At Low Speed (0-30 km/h): — 100% assist (maximum motor torque)</a:t>
            </a:r>
          </a:p>
          <a:p>
            <a:pPr>
              <a:spcAft>
                <a:spcPts val="600"/>
              </a:spcAft>
              <a:defRPr sz="1800">
                <a:solidFill>
                  <a:srgbClr val="333333"/>
                </a:solidFill>
              </a:defRPr>
            </a:pPr>
            <a:r>
              <a:t>Why? You're parking, maneuvering in tight spaces</a:t>
            </a:r>
          </a:p>
          <a:p>
            <a:pPr>
              <a:spcAft>
                <a:spcPts val="600"/>
              </a:spcAft>
              <a:defRPr sz="1800">
                <a:solidFill>
                  <a:srgbClr val="333333"/>
                </a:solidFill>
              </a:defRPr>
            </a:pPr>
            <a:r>
              <a:t>Need effortless steering</a:t>
            </a:r>
          </a:p>
          <a:p>
            <a:pPr>
              <a:spcAft>
                <a:spcPts val="600"/>
              </a:spcAft>
              <a:defRPr sz="1800">
                <a:solidFill>
                  <a:srgbClr val="333333"/>
                </a:solidFill>
              </a:defRPr>
            </a:pPr>
            <a:r>
              <a:t>Stability is not critical (you're going slow)</a:t>
            </a:r>
          </a:p>
          <a:p>
            <a:pPr>
              <a:spcAft>
                <a:spcPts val="1000"/>
              </a:spcAft>
              <a:defRPr sz="1800">
                <a:solidFill>
                  <a:srgbClr val="333333"/>
                </a:solidFill>
              </a:defRPr>
            </a:pPr>
            <a:r>
              <a:t>At Medium Speed (30-80 km/h): — 60-80% assist (moderate motor torque)</a:t>
            </a:r>
          </a:p>
          <a:p>
            <a:pPr>
              <a:spcAft>
                <a:spcPts val="600"/>
              </a:spcAft>
              <a:defRPr sz="1800">
                <a:solidFill>
                  <a:srgbClr val="333333"/>
                </a:solidFill>
              </a:defRPr>
            </a:pPr>
            <a:r>
              <a:t>Why? City and suburban driving</a:t>
            </a:r>
          </a:p>
          <a:p>
            <a:pPr>
              <a:spcAft>
                <a:spcPts val="600"/>
              </a:spcAft>
              <a:defRPr sz="1800">
                <a:solidFill>
                  <a:srgbClr val="333333"/>
                </a:solidFill>
              </a:defRPr>
            </a:pPr>
            <a:r>
              <a:t>Balance between effort and feel</a:t>
            </a:r>
          </a:p>
          <a:p>
            <a:pPr>
              <a:spcAft>
                <a:spcPts val="600"/>
              </a:spcAft>
              <a:defRPr sz="1800">
                <a:solidFill>
                  <a:srgbClr val="333333"/>
                </a:solidFill>
              </a:defRPr>
            </a:pPr>
            <a:r>
              <a:t>Gentle assist reduction maintains stability</a:t>
            </a:r>
          </a:p>
          <a:p>
            <a:pPr>
              <a:spcAft>
                <a:spcPts val="1000"/>
              </a:spcAft>
              <a:defRPr sz="1800">
                <a:solidFill>
                  <a:srgbClr val="333333"/>
                </a:solidFill>
              </a:defRPr>
            </a:pPr>
            <a:r>
              <a:t>At High Speed (80-150 km/h): — 20-40% assist (minimum motor torque)</a:t>
            </a:r>
          </a:p>
          <a:p>
            <a:pPr>
              <a:spcAft>
                <a:spcPts val="600"/>
              </a:spcAft>
              <a:defRPr sz="1800">
                <a:solidFill>
                  <a:srgbClr val="333333"/>
                </a:solidFill>
              </a:defRPr>
            </a:pPr>
            <a:r>
              <a:t>Why? Highway cruising, high-speed corners</a:t>
            </a:r>
          </a:p>
          <a:p>
            <a:pPr>
              <a:spcAft>
                <a:spcPts val="600"/>
              </a:spcAft>
              <a:defRPr sz="1800">
                <a:solidFill>
                  <a:srgbClr val="333333"/>
                </a:solidFill>
              </a:defRPr>
            </a:pPr>
            <a:r>
              <a:t>Need weighted steering feel for stability</a:t>
            </a:r>
          </a:p>
          <a:p>
            <a:pPr>
              <a:spcAft>
                <a:spcPts val="600"/>
              </a:spcAft>
              <a:defRPr sz="1800">
                <a:solidFill>
                  <a:srgbClr val="333333"/>
                </a:solidFill>
              </a:defRPr>
            </a:pPr>
            <a:r>
              <a:t>Want to feel road feedback</a:t>
            </a:r>
          </a:p>
          <a:p>
            <a:pPr>
              <a:spcAft>
                <a:spcPts val="600"/>
              </a:spcAft>
              <a:defRPr sz="1800">
                <a:solidFill>
                  <a:srgbClr val="333333"/>
                </a:solidFill>
              </a:defRPr>
            </a:pPr>
            <a:r>
              <a:t>Prevent oversteering with small inputs</a:t>
            </a:r>
          </a:p>
          <a:p>
            <a:pPr>
              <a:spcAft>
                <a:spcPts val="1000"/>
              </a:spcAft>
              <a:defRPr sz="1800">
                <a:solidFill>
                  <a:srgbClr val="333333"/>
                </a:solidFill>
              </a:defRPr>
            </a:pPr>
            <a:r>
              <a:t>Driver Torque Sensitivity:</a:t>
            </a:r>
          </a:p>
          <a:p>
            <a:pPr>
              <a:spcAft>
                <a:spcPts val="1000"/>
              </a:spcAft>
              <a:defRPr sz="1800">
                <a:solidFill>
                  <a:srgbClr val="333333"/>
                </a:solidFill>
              </a:defRPr>
            </a:pPr>
            <a:r>
              <a:t>The ECU also considers how hard you're turning:</a:t>
            </a:r>
          </a:p>
          <a:p>
            <a:pPr>
              <a:spcAft>
                <a:spcPts val="600"/>
              </a:spcAft>
              <a:defRPr sz="1800">
                <a:solidFill>
                  <a:srgbClr val="333333"/>
                </a:solidFill>
              </a:defRPr>
            </a:pPr>
            <a:r>
              <a:t>Light correction (lane change): Minimal assist</a:t>
            </a:r>
          </a:p>
          <a:p>
            <a:pPr>
              <a:spcAft>
                <a:spcPts val="600"/>
              </a:spcAft>
              <a:defRPr sz="1800">
                <a:solidFill>
                  <a:srgbClr val="333333"/>
                </a:solidFill>
              </a:defRPr>
            </a:pPr>
            <a:r>
              <a:t>Moderate turn (corner): Standard assist</a:t>
            </a:r>
          </a:p>
          <a:p>
            <a:pPr>
              <a:spcAft>
                <a:spcPts val="600"/>
              </a:spcAft>
              <a:defRPr sz="1800">
                <a:solidFill>
                  <a:srgbClr val="333333"/>
                </a:solidFill>
              </a:defRPr>
            </a:pPr>
            <a:r>
              <a:t>Hard turn (emergency maneuver): Maximum assist (even at high speed)</a:t>
            </a:r>
          </a:p>
          <a:p>
            <a:pPr>
              <a:spcAft>
                <a:spcPts val="1000"/>
              </a:spcAft>
              <a:defRPr sz="1800">
                <a:solidFill>
                  <a:srgbClr val="333333"/>
                </a:solidFill>
              </a:defRPr>
            </a:pPr>
            <a:r>
              <a:t>Tuning Philosophies: — Comfort-oriented (Toyota, Lexus): Very light at all speeds, isolation from road</a:t>
            </a:r>
          </a:p>
          <a:p>
            <a:pPr>
              <a:spcAft>
                <a:spcPts val="600"/>
              </a:spcAft>
              <a:defRPr sz="1800">
                <a:solidFill>
                  <a:srgbClr val="333333"/>
                </a:solidFill>
              </a:defRPr>
            </a:pPr>
            <a:r>
              <a:t>Sport-oriented (BMW, Porsche): Heavier steering, more feedback, less assist at high speed</a:t>
            </a:r>
          </a:p>
          <a:p>
            <a:pPr>
              <a:spcAft>
                <a:spcPts val="600"/>
              </a:spcAft>
              <a:defRPr sz="1800">
                <a:solidFill>
                  <a:srgbClr val="333333"/>
                </a:solidFill>
              </a:defRPr>
            </a:pPr>
            <a:r>
              <a:t>Balanced (Honda, Mazda): Progressive curve, natural feel</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where EPAS shines. Hydraulic systems can achieve speed-sensitive assist too (with speed-sensitive valves), but it's mechanical and fixed. EPAS is infinitely tunable through software. Engineers can create different 'modes' (Comfort, Sport, etc.) that change this curve instantly.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Comparison - Hydraulic vs EPAS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directly compare the two technologies:</a:t>
            </a:r>
          </a:p>
          <a:p>
            <a:pPr>
              <a:spcAft>
                <a:spcPts val="1000"/>
              </a:spcAft>
              <a:defRPr sz="1800">
                <a:solidFill>
                  <a:srgbClr val="333333"/>
                </a:solidFill>
              </a:defRPr>
            </a:pPr>
            <a:r>
              <a:t>| Feature | Hydraulic Power Steering (HPS) | Electric Power Assisted Steering (EPAS) |</a:t>
            </a:r>
          </a:p>
          <a:p>
            <a:pPr>
              <a:spcAft>
                <a:spcPts val="1000"/>
              </a:spcAft>
              <a:defRPr sz="1800">
                <a:solidFill>
                  <a:srgbClr val="333333"/>
                </a:solidFill>
              </a:defRPr>
            </a:pPr>
            <a:r>
              <a:t>|-------------|------------------------------------|--------------------------------------------|</a:t>
            </a:r>
          </a:p>
          <a:p>
            <a:pPr>
              <a:spcAft>
                <a:spcPts val="1000"/>
              </a:spcAft>
              <a:defRPr sz="1800">
                <a:solidFill>
                  <a:srgbClr val="333333"/>
                </a:solidFill>
              </a:defRPr>
            </a:pPr>
            <a:r>
              <a:t>| Energy Source | Engine-driven hydraulic pump | Electric motor (battery/alternator) |</a:t>
            </a:r>
          </a:p>
          <a:p>
            <a:pPr>
              <a:spcAft>
                <a:spcPts val="1000"/>
              </a:spcAft>
              <a:defRPr sz="1800">
                <a:solidFill>
                  <a:srgbClr val="333333"/>
                </a:solidFill>
              </a:defRPr>
            </a:pPr>
            <a:r>
              <a:t>| Energy Efficiency | ❌ Poor (pump runs continuously) | ✅ Excellent (motor only runs when steering) |</a:t>
            </a:r>
          </a:p>
          <a:p>
            <a:pPr>
              <a:spcAft>
                <a:spcPts val="1000"/>
              </a:spcAft>
              <a:defRPr sz="1800">
                <a:solidFill>
                  <a:srgbClr val="333333"/>
                </a:solidFill>
              </a:defRPr>
            </a:pPr>
            <a:r>
              <a:t>| Fuel Economy Impact | -2% to -4% (parasitic loss) | -0.5% to -1% (minimal impact) |</a:t>
            </a:r>
          </a:p>
          <a:p>
            <a:pPr>
              <a:spcAft>
                <a:spcPts val="1000"/>
              </a:spcAft>
              <a:defRPr sz="1800">
                <a:solidFill>
                  <a:srgbClr val="333333"/>
                </a:solidFill>
              </a:defRPr>
            </a:pPr>
            <a:r>
              <a:t>| Assist Tuning | ⚠️ Mechanical (fixed or speed valve) | ✅ Software (infinitely adjustable) |</a:t>
            </a:r>
          </a:p>
          <a:p>
            <a:pPr>
              <a:spcAft>
                <a:spcPts val="1000"/>
              </a:spcAft>
              <a:defRPr sz="1800">
                <a:solidFill>
                  <a:srgbClr val="333333"/>
                </a:solidFill>
              </a:defRPr>
            </a:pPr>
            <a:r>
              <a:t>| Speed Sensitivity | ⚠️ Possible (with speed-sensitive valve) | ✅ Built-in (ECU-controlled) |</a:t>
            </a:r>
          </a:p>
          <a:p>
            <a:pPr>
              <a:spcAft>
                <a:spcPts val="1000"/>
              </a:spcAft>
              <a:defRPr sz="1800">
                <a:solidFill>
                  <a:srgbClr val="333333"/>
                </a:solidFill>
              </a:defRPr>
            </a:pPr>
            <a:r>
              <a:t>| Road Feel | ✅ Good (hydraulic feedback) | ⚠️ Variable (early systems poor, modern good) |</a:t>
            </a:r>
          </a:p>
          <a:p>
            <a:pPr>
              <a:spcAft>
                <a:spcPts val="1000"/>
              </a:spcAft>
              <a:defRPr sz="1800">
                <a:solidFill>
                  <a:srgbClr val="333333"/>
                </a:solidFill>
              </a:defRPr>
            </a:pPr>
            <a:r>
              <a:t>| Maintenance | ❌ Fluid changes, leak checks | ✅ None (sealed system) |</a:t>
            </a:r>
          </a:p>
          <a:p>
            <a:pPr>
              <a:spcAft>
                <a:spcPts val="1000"/>
              </a:spcAft>
              <a:defRPr sz="1800">
                <a:solidFill>
                  <a:srgbClr val="333333"/>
                </a:solidFill>
              </a:defRPr>
            </a:pPr>
            <a:r>
              <a:t>| Reliability | ✅ Proven (70+ years) | ✅ Modern systems reliable |</a:t>
            </a:r>
          </a:p>
          <a:p>
            <a:pPr>
              <a:spcAft>
                <a:spcPts val="1000"/>
              </a:spcAft>
              <a:defRPr sz="1800">
                <a:solidFill>
                  <a:srgbClr val="333333"/>
                </a:solidFill>
              </a:defRPr>
            </a:pPr>
            <a:r>
              <a:t>| Weight | ❌ Heavier (pump, lines, fluid) | ✅ Lighter (motor + ECU only) |</a:t>
            </a:r>
          </a:p>
          <a:p>
            <a:pPr>
              <a:spcAft>
                <a:spcPts val="1000"/>
              </a:spcAft>
              <a:defRPr sz="1800">
                <a:solidFill>
                  <a:srgbClr val="333333"/>
                </a:solidFill>
              </a:defRPr>
            </a:pPr>
            <a:r>
              <a:t>| Complexity | ⚠️ Moderate (mechanical) | ⚠️ Moderate (electronic) |</a:t>
            </a:r>
          </a:p>
          <a:p>
            <a:pPr>
              <a:spcAft>
                <a:spcPts val="1000"/>
              </a:spcAft>
              <a:defRPr sz="1800">
                <a:solidFill>
                  <a:srgbClr val="333333"/>
                </a:solidFill>
              </a:defRPr>
            </a:pPr>
            <a:r>
              <a:t>| Cost | ⚠️ Moderate | ⚠️ Moderate (decreasing) |</a:t>
            </a:r>
          </a:p>
          <a:p>
            <a:pPr>
              <a:spcAft>
                <a:spcPts val="1000"/>
              </a:spcAft>
              <a:defRPr sz="1800">
                <a:solidFill>
                  <a:srgbClr val="333333"/>
                </a:solidFill>
              </a:defRPr>
            </a:pPr>
            <a:r>
              <a:t>| ADAS Integration | ❌ Difficult | ✅ Easy (already ECU-controlled) |</a:t>
            </a:r>
          </a:p>
          <a:p>
            <a:pPr>
              <a:spcAft>
                <a:spcPts val="1000"/>
              </a:spcAft>
              <a:defRPr sz="1800">
                <a:solidFill>
                  <a:srgbClr val="333333"/>
                </a:solidFill>
              </a:defRPr>
            </a:pPr>
            <a:r>
              <a:t>| Failure Mode | ⚠️ Graceful (manual steering still works) | ⚠️ Depends on design (some fail to locked, others to manual) |</a:t>
            </a:r>
          </a:p>
          <a:p>
            <a:pPr>
              <a:spcAft>
                <a:spcPts val="1000"/>
              </a:spcAft>
              <a:defRPr sz="1800">
                <a:solidFill>
                  <a:srgbClr val="333333"/>
                </a:solidFill>
              </a:defRPr>
            </a:pPr>
            <a:r>
              <a:t>| Maximum Assist | ✅ Very high (suitable for heavy trucks) | ⚠️ Limited by motor power |</a:t>
            </a:r>
          </a:p>
          <a:p>
            <a:pPr>
              <a:spcAft>
                <a:spcPts val="1000"/>
              </a:spcAft>
              <a:defRPr sz="1800">
                <a:solidFill>
                  <a:srgbClr val="333333"/>
                </a:solidFill>
              </a:defRPr>
            </a:pPr>
            <a:r>
              <a:t>| Typical Applications | Heavy trucks, older cars, some SUVs | Modern passenger cars, hybrids, EVs |</a:t>
            </a:r>
          </a:p>
          <a:p>
            <a:pPr>
              <a:spcAft>
                <a:spcPts val="1000"/>
              </a:spcAft>
              <a:defRPr sz="1800">
                <a:solidFill>
                  <a:srgbClr val="333333"/>
                </a:solidFill>
              </a:defRPr>
            </a:pPr>
            <a:r>
              <a:t>Instructor Narration (continued):</a:t>
            </a:r>
          </a:p>
          <a:p>
            <a:pPr>
              <a:spcAft>
                <a:spcPts val="1000"/>
              </a:spcAft>
              <a:defRPr sz="1800">
                <a:solidFill>
                  <a:srgbClr val="333333"/>
                </a:solidFill>
              </a:defRPr>
            </a:pPr>
            <a:r>
              <a:t>The trend is clear: EPAS is taking over. It's more efficient, more flexible, and essential for autonomous driving features. But hydraulic steering isn't dead—it's still the best choice for heavy-duty applications where extreme assist forces are needed.</a:t>
            </a:r>
          </a:p>
          <a:p>
            <a:pPr>
              <a:spcAft>
                <a:spcPts val="1000"/>
              </a:spcAft>
              <a:defRPr sz="1800">
                <a:solidFill>
                  <a:srgbClr val="333333"/>
                </a:solidFill>
              </a:defRPr>
            </a:pPr>
            <a:r>
              <a:t>SAFETY NOTE:</a:t>
            </a:r>
          </a:p>
          <a:p>
            <a:pPr>
              <a:spcAft>
                <a:spcPts val="1000"/>
              </a:spcAft>
              <a:defRPr sz="1800">
                <a:solidFill>
                  <a:srgbClr val="333333"/>
                </a:solidFill>
              </a:defRPr>
            </a:pPr>
            <a:r>
              <a:t>Both systems are designed with fail-safe behavior:</a:t>
            </a:r>
          </a:p>
          <a:p>
            <a:pPr>
              <a:spcAft>
                <a:spcPts val="600"/>
              </a:spcAft>
              <a:defRPr sz="1800">
                <a:solidFill>
                  <a:srgbClr val="333333"/>
                </a:solidFill>
              </a:defRPr>
            </a:pPr>
            <a:r>
              <a:t>If power steering fails, you revert to manual steering (heavy, but functional)</a:t>
            </a:r>
          </a:p>
          <a:p>
            <a:pPr>
              <a:spcAft>
                <a:spcPts val="600"/>
              </a:spcAft>
              <a:defRPr sz="1800">
                <a:solidFill>
                  <a:srgbClr val="333333"/>
                </a:solidFill>
              </a:defRPr>
            </a:pPr>
            <a:r>
              <a:t>Modern EPAS systems have redundant sensors and fail-operational modes</a:t>
            </a:r>
          </a:p>
          <a:p>
            <a:pPr>
              <a:spcAft>
                <a:spcPts val="600"/>
              </a:spcAft>
              <a:defRPr sz="1800">
                <a:solidFill>
                  <a:srgbClr val="333333"/>
                </a:solidFill>
              </a:defRPr>
            </a:pPr>
            <a:r>
              <a:t>Critical safety systems (ESC, ABS) are independent of steering assist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Advanced EPAS Features - Beyond Basic Assist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EPAS opens the door to advanced features that were impossible with hydraulic systems.</a:t>
            </a:r>
          </a:p>
          <a:p>
            <a:pPr>
              <a:spcAft>
                <a:spcPts val="1000"/>
              </a:spcAft>
              <a:defRPr sz="1800">
                <a:solidFill>
                  <a:srgbClr val="333333"/>
                </a:solidFill>
              </a:defRPr>
            </a:pPr>
            <a:r>
              <a:t>1. LANE KEEPING ASSIST (LKA) — Camera detects lane markings</a:t>
            </a:r>
          </a:p>
          <a:p>
            <a:pPr>
              <a:spcAft>
                <a:spcPts val="600"/>
              </a:spcAft>
              <a:defRPr sz="1800">
                <a:solidFill>
                  <a:srgbClr val="333333"/>
                </a:solidFill>
              </a:defRPr>
            </a:pPr>
            <a:r>
              <a:t>If vehicle drifts toward line (without turn signal), EPAS gently steers back — Applies small corrective torque (driver can easily override)</a:t>
            </a:r>
          </a:p>
          <a:p>
            <a:pPr>
              <a:spcAft>
                <a:spcPts val="600"/>
              </a:spcAft>
              <a:defRPr sz="1800">
                <a:solidFill>
                  <a:srgbClr val="333333"/>
                </a:solidFill>
              </a:defRPr>
            </a:pPr>
            <a:r>
              <a:t>Uses the same motor that provides steering assist</a:t>
            </a:r>
          </a:p>
          <a:p>
            <a:pPr>
              <a:spcAft>
                <a:spcPts val="1000"/>
              </a:spcAft>
              <a:defRPr sz="1800">
                <a:solidFill>
                  <a:srgbClr val="333333"/>
                </a:solidFill>
              </a:defRPr>
            </a:pPr>
            <a:r>
              <a:t>2. LANE CENTERING ASSIST — More active than LKA</a:t>
            </a:r>
          </a:p>
          <a:p>
            <a:pPr>
              <a:spcAft>
                <a:spcPts val="600"/>
              </a:spcAft>
              <a:defRPr sz="1800">
                <a:solidFill>
                  <a:srgbClr val="333333"/>
                </a:solidFill>
              </a:defRPr>
            </a:pPr>
            <a:r>
              <a:t>Continuously adjusts steering to keep vehicle centered in lane</a:t>
            </a:r>
          </a:p>
          <a:p>
            <a:pPr>
              <a:spcAft>
                <a:spcPts val="600"/>
              </a:spcAft>
              <a:defRPr sz="1800">
                <a:solidFill>
                  <a:srgbClr val="333333"/>
                </a:solidFill>
              </a:defRPr>
            </a:pPr>
            <a:r>
              <a:t>Common in adaptive cruise control systems</a:t>
            </a:r>
          </a:p>
          <a:p>
            <a:pPr>
              <a:spcAft>
                <a:spcPts val="600"/>
              </a:spcAft>
              <a:defRPr sz="1800">
                <a:solidFill>
                  <a:srgbClr val="333333"/>
                </a:solidFill>
              </a:defRPr>
            </a:pPr>
            <a:r>
              <a:t>Driver must keep hands on wheel (monitors steering torque)</a:t>
            </a:r>
          </a:p>
          <a:p>
            <a:pPr>
              <a:spcAft>
                <a:spcPts val="1000"/>
              </a:spcAft>
              <a:defRPr sz="1800">
                <a:solidFill>
                  <a:srgbClr val="333333"/>
                </a:solidFill>
              </a:defRPr>
            </a:pPr>
            <a:r>
              <a:t>3. ACTIVE RETURN TO CENTER — After a turn, EPAS actively returns steering to center (not just passive caster effect)</a:t>
            </a:r>
          </a:p>
          <a:p>
            <a:pPr>
              <a:spcAft>
                <a:spcPts val="600"/>
              </a:spcAft>
              <a:defRPr sz="1800">
                <a:solidFill>
                  <a:srgbClr val="333333"/>
                </a:solidFill>
              </a:defRPr>
            </a:pPr>
            <a:r>
              <a:t>Faster, more controlled return</a:t>
            </a:r>
          </a:p>
          <a:p>
            <a:pPr>
              <a:spcAft>
                <a:spcPts val="600"/>
              </a:spcAft>
              <a:defRPr sz="1800">
                <a:solidFill>
                  <a:srgbClr val="333333"/>
                </a:solidFill>
              </a:defRPr>
            </a:pPr>
            <a:r>
              <a:t>Adjustable based on driving mode</a:t>
            </a:r>
          </a:p>
          <a:p>
            <a:pPr>
              <a:spcAft>
                <a:spcPts val="1000"/>
              </a:spcAft>
              <a:defRPr sz="1800">
                <a:solidFill>
                  <a:srgbClr val="333333"/>
                </a:solidFill>
              </a:defRPr>
            </a:pPr>
            <a:r>
              <a:t>4. SELF-PARKING (PARK ASSIST) — Driver shifts to reverse, system takes over steering</a:t>
            </a:r>
          </a:p>
          <a:p>
            <a:pPr>
              <a:spcAft>
                <a:spcPts val="600"/>
              </a:spcAft>
              <a:defRPr sz="1800">
                <a:solidFill>
                  <a:srgbClr val="333333"/>
                </a:solidFill>
              </a:defRPr>
            </a:pPr>
            <a:r>
              <a:t>Ultrasonic sensors detect parking space</a:t>
            </a:r>
          </a:p>
          <a:p>
            <a:pPr>
              <a:spcAft>
                <a:spcPts val="600"/>
              </a:spcAft>
              <a:defRPr sz="1800">
                <a:solidFill>
                  <a:srgbClr val="333333"/>
                </a:solidFill>
              </a:defRPr>
            </a:pPr>
            <a:r>
              <a:t>EPAS steers automatically while driver controls throttle/brake</a:t>
            </a:r>
          </a:p>
          <a:p>
            <a:pPr>
              <a:spcAft>
                <a:spcPts val="600"/>
              </a:spcAft>
              <a:defRPr sz="1800">
                <a:solidFill>
                  <a:srgbClr val="333333"/>
                </a:solidFill>
              </a:defRPr>
            </a:pPr>
            <a:r>
              <a:t>Parallel, perpendicular, and angle parking modes</a:t>
            </a:r>
          </a:p>
          <a:p>
            <a:pPr>
              <a:spcAft>
                <a:spcPts val="1000"/>
              </a:spcAft>
              <a:defRPr sz="1800">
                <a:solidFill>
                  <a:srgbClr val="333333"/>
                </a:solidFill>
              </a:defRPr>
            </a:pPr>
            <a:r>
              <a:t>5. TRAFFIC JAM ASSIST / HIGHWAY PILOT — Combines adaptive cruise control + lane centering</a:t>
            </a:r>
          </a:p>
          <a:p>
            <a:pPr>
              <a:spcAft>
                <a:spcPts val="600"/>
              </a:spcAft>
              <a:defRPr sz="1800">
                <a:solidFill>
                  <a:srgbClr val="333333"/>
                </a:solidFill>
              </a:defRPr>
            </a:pPr>
            <a:r>
              <a:t>EPAS maintains lane position</a:t>
            </a:r>
          </a:p>
          <a:p>
            <a:pPr>
              <a:spcAft>
                <a:spcPts val="600"/>
              </a:spcAft>
              <a:defRPr sz="1800">
                <a:solidFill>
                  <a:srgbClr val="333333"/>
                </a:solidFill>
              </a:defRPr>
            </a:pPr>
            <a:r>
              <a:t>Hands-on system (Level 2 autonomy)</a:t>
            </a:r>
          </a:p>
          <a:p>
            <a:pPr>
              <a:spcAft>
                <a:spcPts val="1000"/>
              </a:spcAft>
              <a:defRPr sz="1800">
                <a:solidFill>
                  <a:srgbClr val="333333"/>
                </a:solidFill>
              </a:defRPr>
            </a:pPr>
            <a:r>
              <a:t>6. EVASIVE STEERING ASSIST — Detects imminent collision (radar/camera)</a:t>
            </a:r>
          </a:p>
          <a:p>
            <a:pPr>
              <a:spcAft>
                <a:spcPts val="600"/>
              </a:spcAft>
              <a:defRPr sz="1800">
                <a:solidFill>
                  <a:srgbClr val="333333"/>
                </a:solidFill>
              </a:defRPr>
            </a:pPr>
            <a:r>
              <a:t>If driver steers to avoid, EPAS amplifies steering input — Helps execute emergency lane change faster</a:t>
            </a:r>
          </a:p>
          <a:p>
            <a:pPr>
              <a:spcAft>
                <a:spcPts val="1000"/>
              </a:spcAft>
              <a:defRPr sz="1800">
                <a:solidFill>
                  <a:srgbClr val="333333"/>
                </a:solidFill>
              </a:defRPr>
            </a:pPr>
            <a:r>
              <a:t>7. TORQUE VECTORING SIMULATION — EPAS can apply slight steering corrections during cornering</a:t>
            </a:r>
          </a:p>
          <a:p>
            <a:pPr>
              <a:spcAft>
                <a:spcPts val="600"/>
              </a:spcAft>
              <a:defRPr sz="1800">
                <a:solidFill>
                  <a:srgbClr val="333333"/>
                </a:solidFill>
              </a:defRPr>
            </a:pPr>
            <a:r>
              <a:t>Mimics the effect of torque vectoring</a:t>
            </a:r>
          </a:p>
          <a:p>
            <a:pPr>
              <a:spcAft>
                <a:spcPts val="600"/>
              </a:spcAft>
              <a:defRPr sz="1800">
                <a:solidFill>
                  <a:srgbClr val="333333"/>
                </a:solidFill>
              </a:defRPr>
            </a:pPr>
            <a:r>
              <a:t>Improves cornering stability</a:t>
            </a:r>
          </a:p>
          <a:p>
            <a:pPr>
              <a:spcAft>
                <a:spcPts val="1000"/>
              </a:spcAft>
              <a:defRPr sz="1800">
                <a:solidFill>
                  <a:srgbClr val="333333"/>
                </a:solidFill>
              </a:defRPr>
            </a:pPr>
            <a:r>
              <a:t>Instructor Narration (continued):</a:t>
            </a:r>
          </a:p>
          <a:p>
            <a:pPr>
              <a:spcAft>
                <a:spcPts val="1000"/>
              </a:spcAft>
              <a:defRPr sz="1800">
                <a:solidFill>
                  <a:srgbClr val="333333"/>
                </a:solidFill>
              </a:defRPr>
            </a:pPr>
            <a:r>
              <a:t>All of these features are only possible because EPAS is bidirectional:</a:t>
            </a:r>
          </a:p>
          <a:p>
            <a:pPr>
              <a:spcAft>
                <a:spcPts val="600"/>
              </a:spcAft>
              <a:defRPr sz="1800">
                <a:solidFill>
                  <a:srgbClr val="333333"/>
                </a:solidFill>
              </a:defRPr>
            </a:pPr>
            <a:r>
              <a:t>Driver → Motor: Power assist (traditional function)</a:t>
            </a:r>
          </a:p>
          <a:p>
            <a:pPr>
              <a:spcAft>
                <a:spcPts val="600"/>
              </a:spcAft>
              <a:defRPr sz="1800">
                <a:solidFill>
                  <a:srgbClr val="333333"/>
                </a:solidFill>
              </a:defRPr>
            </a:pPr>
            <a:r>
              <a:t>Motor → Steering: Active steering (ADAS functions)</a:t>
            </a:r>
          </a:p>
          <a:p>
            <a:pPr>
              <a:spcAft>
                <a:spcPts val="1000"/>
              </a:spcAft>
              <a:defRPr sz="1800">
                <a:solidFill>
                  <a:srgbClr val="333333"/>
                </a:solidFill>
              </a:defRPr>
            </a:pPr>
            <a:r>
              <a:t>Hydraulic systems can only do the first one. This is why every autonomous vehicle development program uses EPAS.</a:t>
            </a:r>
          </a:p>
          <a:p>
            <a:pPr>
              <a:spcAft>
                <a:spcPts val="1000"/>
              </a:spcAft>
              <a:defRPr sz="1800">
                <a:solidFill>
                  <a:srgbClr val="333333"/>
                </a:solidFill>
              </a:defRPr>
            </a:pPr>
            <a:r>
              <a:t>FUTURE TRENDS: — Steer-by-wire (no mechanical connection, full drive-by-wire)</a:t>
            </a:r>
          </a:p>
          <a:p>
            <a:pPr>
              <a:spcAft>
                <a:spcPts val="600"/>
              </a:spcAft>
              <a:defRPr sz="1800">
                <a:solidFill>
                  <a:srgbClr val="333333"/>
                </a:solidFill>
              </a:defRPr>
            </a:pPr>
            <a:r>
              <a:t>Variable ratio steering (change steering ratio electronically)</a:t>
            </a:r>
          </a:p>
          <a:p>
            <a:pPr>
              <a:spcAft>
                <a:spcPts val="600"/>
              </a:spcAft>
              <a:defRPr sz="1800">
                <a:solidFill>
                  <a:srgbClr val="333333"/>
                </a:solidFill>
              </a:defRPr>
            </a:pPr>
            <a:r>
              <a:t>Individual wheel steering (four-wheel steering with EPAS on rear axle too)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5: RESOLUTION - "Steering Feel &amp; Integration</a:t>
            </a:r>
          </a:p>
        </p:txBody>
      </p:sp>
      <p:sp>
        <p:nvSpPr>
          <p:cNvPr id="3" name="Subtitle 2"/>
          <p:cNvSpPr>
            <a:spLocks noGrp="1"/>
          </p:cNvSpPr>
          <p:nvPr>
            <p:ph type="subTitle" idx="1"/>
          </p:nvPr>
        </p:nvSpPr>
        <p:spPr/>
        <p:txBody>
          <a:bodyP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Steering Feedback - The Art of "Feel"</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We've covered the mechanics and the power assist. But there's one more critical element: steering feel.</a:t>
            </a:r>
          </a:p>
          <a:p>
            <a:pPr>
              <a:spcAft>
                <a:spcPts val="1000"/>
              </a:spcAft>
              <a:defRPr sz="1800">
                <a:solidFill>
                  <a:srgbClr val="333333"/>
                </a:solidFill>
              </a:defRPr>
            </a:pPr>
            <a:r>
              <a:t>What is Steering Feel?</a:t>
            </a:r>
          </a:p>
          <a:p>
            <a:pPr>
              <a:spcAft>
                <a:spcPts val="1000"/>
              </a:spcAft>
              <a:defRPr sz="1800">
                <a:solidFill>
                  <a:srgbClr val="333333"/>
                </a:solidFill>
              </a:defRPr>
            </a:pPr>
            <a:r>
              <a:t>It's the information transmitted from the road, through the tires and steering system, to your hands.</a:t>
            </a:r>
          </a:p>
          <a:p>
            <a:pPr>
              <a:spcAft>
                <a:spcPts val="1000"/>
              </a:spcAft>
              <a:defRPr sz="1800">
                <a:solidFill>
                  <a:srgbClr val="333333"/>
                </a:solidFill>
              </a:defRPr>
            </a:pPr>
            <a:r>
              <a:t>Good steering feel tells you:</a:t>
            </a:r>
          </a:p>
          <a:p>
            <a:pPr>
              <a:spcAft>
                <a:spcPts val="600"/>
              </a:spcAft>
              <a:defRPr sz="1800">
                <a:solidFill>
                  <a:srgbClr val="333333"/>
                </a:solidFill>
              </a:defRPr>
            </a:pPr>
            <a:r>
              <a:t>How much grip the tires have</a:t>
            </a:r>
          </a:p>
          <a:p>
            <a:pPr>
              <a:spcAft>
                <a:spcPts val="600"/>
              </a:spcAft>
              <a:defRPr sz="1800">
                <a:solidFill>
                  <a:srgbClr val="333333"/>
                </a:solidFill>
              </a:defRPr>
            </a:pPr>
            <a:r>
              <a:t>What the road surface is like (smooth, rough, wet, icy)</a:t>
            </a:r>
          </a:p>
          <a:p>
            <a:pPr>
              <a:spcAft>
                <a:spcPts val="600"/>
              </a:spcAft>
              <a:defRPr sz="1800">
                <a:solidFill>
                  <a:srgbClr val="333333"/>
                </a:solidFill>
              </a:defRPr>
            </a:pPr>
            <a:r>
              <a:t>Whether the car is understeering or oversteering</a:t>
            </a:r>
          </a:p>
          <a:p>
            <a:pPr>
              <a:spcAft>
                <a:spcPts val="600"/>
              </a:spcAft>
              <a:defRPr sz="1800">
                <a:solidFill>
                  <a:srgbClr val="333333"/>
                </a:solidFill>
              </a:defRPr>
            </a:pPr>
            <a:r>
              <a:t>How much load is on the front tires</a:t>
            </a:r>
          </a:p>
          <a:p>
            <a:pPr>
              <a:spcAft>
                <a:spcPts val="1000"/>
              </a:spcAft>
              <a:defRPr sz="1800">
                <a:solidFill>
                  <a:srgbClr val="333333"/>
                </a:solidFill>
              </a:defRPr>
            </a:pPr>
            <a:r>
              <a:t>The Feedback Path:</a:t>
            </a:r>
          </a:p>
          <a:p>
            <a:pPr>
              <a:spcAft>
                <a:spcPts val="600"/>
              </a:spcAft>
              <a:defRPr sz="1800">
                <a:solidFill>
                  <a:srgbClr val="333333"/>
                </a:solidFill>
              </a:defRPr>
            </a:pPr>
            <a:r>
              <a:t>Tire Contact Patch experiences forces (lateral force, self-aligning torque, road irregularities)</a:t>
            </a:r>
          </a:p>
          <a:p>
            <a:pPr>
              <a:spcAft>
                <a:spcPts val="600"/>
              </a:spcAft>
              <a:defRPr sz="1800">
                <a:solidFill>
                  <a:srgbClr val="333333"/>
                </a:solidFill>
              </a:defRPr>
            </a:pPr>
            <a:r>
              <a:t>Steering Linkage transmits these forces as mechanical vibrations and torques</a:t>
            </a:r>
          </a:p>
          <a:p>
            <a:pPr>
              <a:spcAft>
                <a:spcPts val="600"/>
              </a:spcAft>
              <a:defRPr sz="1800">
                <a:solidFill>
                  <a:srgbClr val="333333"/>
                </a:solidFill>
              </a:defRPr>
            </a:pPr>
            <a:r>
              <a:t>Steering Column delivers the torque to the steering wheel</a:t>
            </a:r>
          </a:p>
          <a:p>
            <a:pPr>
              <a:spcAft>
                <a:spcPts val="600"/>
              </a:spcAft>
              <a:defRPr sz="1800">
                <a:solidFill>
                  <a:srgbClr val="333333"/>
                </a:solidFill>
              </a:defRPr>
            </a:pPr>
            <a:r>
              <a:t>Driver's Hands feel the torque, vibration, resistance</a:t>
            </a:r>
          </a:p>
          <a:p>
            <a:pPr>
              <a:spcAft>
                <a:spcPts val="600"/>
              </a:spcAft>
              <a:defRPr sz="1800">
                <a:solidFill>
                  <a:srgbClr val="333333"/>
                </a:solidFill>
              </a:defRPr>
            </a:pPr>
            <a:r>
              <a:t>Driver's Brain processes this information (consciously and subconsciously)</a:t>
            </a:r>
          </a:p>
          <a:p>
            <a:pPr>
              <a:spcAft>
                <a:spcPts val="600"/>
              </a:spcAft>
              <a:defRPr sz="1800">
                <a:solidFill>
                  <a:srgbClr val="333333"/>
                </a:solidFill>
              </a:defRPr>
            </a:pPr>
            <a:r>
              <a:t>Driver Adjusts steering input based on feedback</a:t>
            </a:r>
          </a:p>
          <a:p>
            <a:pPr>
              <a:spcAft>
                <a:spcPts val="1000"/>
              </a:spcAft>
              <a:defRPr sz="1800">
                <a:solidFill>
                  <a:srgbClr val="333333"/>
                </a:solidFill>
              </a:defRPr>
            </a:pPr>
            <a:r>
              <a:t>Key Feedback Mechanism: Self-Aligning Torque (SAT)</a:t>
            </a:r>
          </a:p>
          <a:p>
            <a:pPr>
              <a:spcAft>
                <a:spcPts val="1000"/>
              </a:spcAft>
              <a:defRPr sz="1800">
                <a:solidFill>
                  <a:srgbClr val="333333"/>
                </a:solidFill>
              </a:defRPr>
            </a:pPr>
            <a:r>
              <a:t>When a tire generates a lateral force (cornering), it creates a self-aligning torque that tries to straighten the wheel. This torque is transmitted to the steering wheel.</a:t>
            </a:r>
          </a:p>
          <a:p>
            <a:pPr>
              <a:defRPr sz="1400">
                <a:solidFill>
                  <a:srgbClr val="787878"/>
                </a:solidFill>
                <a:latin typeface="Consolas"/>
              </a:defRPr>
            </a:pPr>
            <a:r>
              <a:t>SAT ∝ Lateral Force × Pneumatic Trail</a:t>
            </a:r>
            <a:br/>
            <a:br/>
            <a:r>
              <a:t>Where:</a:t>
            </a:r>
            <a:br/>
            <a:r>
              <a:t>- Pneumatic Trail: Distance between tire center and lateral force application point</a:t>
            </a:r>
            <a:br/>
            <a:r>
              <a:t>- Typical value: 20-40 mm</a:t>
            </a:r>
          </a:p>
          <a:p>
            <a:pPr>
              <a:spcAft>
                <a:spcPts val="1000"/>
              </a:spcAft>
              <a:defRPr sz="1800">
                <a:solidFill>
                  <a:srgbClr val="333333"/>
                </a:solidFill>
              </a:defRPr>
            </a:pPr>
            <a:r>
              <a:t>As you approach the tire's grip limit: — SAT decreases (pneumatic trail reduces)</a:t>
            </a:r>
          </a:p>
          <a:p>
            <a:pPr>
              <a:spcAft>
                <a:spcPts val="600"/>
              </a:spcAft>
              <a:defRPr sz="1800">
                <a:solidFill>
                  <a:srgbClr val="333333"/>
                </a:solidFill>
              </a:defRPr>
            </a:pPr>
            <a:r>
              <a:t>Steering feel becomes "light" or "vague</a:t>
            </a:r>
          </a:p>
          <a:p>
            <a:pPr>
              <a:spcAft>
                <a:spcPts val="600"/>
              </a:spcAft>
              <a:defRPr sz="1800">
                <a:solidFill>
                  <a:srgbClr val="333333"/>
                </a:solidFill>
              </a:defRPr>
            </a:pPr>
            <a:r>
              <a:t>Experienced drivers sense this and know they're near the limit</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why race car drivers can feel exactly when they're at the limit of grip. The steering goes light right before the tire starts sliding. Hydraulic power steering preserves this feedback reasonably well. Early EPAS systems filtered it out (made steering feel numb). Modern EPAS tries to recreate it electronically.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Steering Feel - Hydraulic vs EPAS Challenges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Hydraulic Power Steering:</a:t>
            </a:r>
          </a:p>
          <a:p>
            <a:pPr>
              <a:spcAft>
                <a:spcPts val="1000"/>
              </a:spcAft>
              <a:defRPr sz="1800">
                <a:solidFill>
                  <a:srgbClr val="333333"/>
                </a:solidFill>
              </a:defRPr>
            </a:pPr>
            <a:r>
              <a:t>✅ Natural feedback — Forces are transmitted mechanically through hydraulic fluid</a:t>
            </a:r>
          </a:p>
          <a:p>
            <a:pPr>
              <a:spcAft>
                <a:spcPts val="1000"/>
              </a:spcAft>
              <a:defRPr sz="1800">
                <a:solidFill>
                  <a:srgbClr val="333333"/>
                </a:solidFill>
              </a:defRPr>
            </a:pPr>
            <a:r>
              <a:t>✅ Self-aligning torque reaches driver's hands directly</a:t>
            </a:r>
          </a:p>
          <a:p>
            <a:pPr>
              <a:spcAft>
                <a:spcPts val="1000"/>
              </a:spcAft>
              <a:defRPr sz="1800">
                <a:solidFill>
                  <a:srgbClr val="333333"/>
                </a:solidFill>
              </a:defRPr>
            </a:pPr>
            <a:r>
              <a:t>✅ Road texture vibrations come through (some like this, some don't)</a:t>
            </a:r>
          </a:p>
          <a:p>
            <a:pPr>
              <a:spcAft>
                <a:spcPts val="1000"/>
              </a:spcAft>
              <a:defRPr sz="1800">
                <a:solidFill>
                  <a:srgbClr val="333333"/>
                </a:solidFill>
              </a:defRPr>
            </a:pPr>
            <a:r>
              <a:t>❌ Can't be tuned — Feedback is what it is (mechanical reality)</a:t>
            </a:r>
          </a:p>
          <a:p>
            <a:pPr>
              <a:spcAft>
                <a:spcPts val="1000"/>
              </a:spcAft>
              <a:defRPr sz="1800">
                <a:solidFill>
                  <a:srgbClr val="333333"/>
                </a:solidFill>
              </a:defRPr>
            </a:pPr>
            <a:r>
              <a:t>EPAS Challenges:</a:t>
            </a:r>
          </a:p>
          <a:p>
            <a:pPr>
              <a:spcAft>
                <a:spcPts val="1000"/>
              </a:spcAft>
              <a:defRPr sz="1800">
                <a:solidFill>
                  <a:srgbClr val="333333"/>
                </a:solidFill>
              </a:defRPr>
            </a:pPr>
            <a:r>
              <a:t>❌ Electric motor isolates mechanical feedback (motor acts as a damper)</a:t>
            </a:r>
          </a:p>
          <a:p>
            <a:pPr>
              <a:spcAft>
                <a:spcPts val="1000"/>
              </a:spcAft>
              <a:defRPr sz="1800">
                <a:solidFill>
                  <a:srgbClr val="333333"/>
                </a:solidFill>
              </a:defRPr>
            </a:pPr>
            <a:r>
              <a:t>❌ Early EPAS (1990s-2000s) felt completely numb (no feedback at all)</a:t>
            </a:r>
          </a:p>
          <a:p>
            <a:pPr>
              <a:spcAft>
                <a:spcPts val="1000"/>
              </a:spcAft>
              <a:defRPr sz="1800">
                <a:solidFill>
                  <a:srgbClr val="333333"/>
                </a:solidFill>
              </a:defRPr>
            </a:pPr>
            <a:r>
              <a:t>✅ Modern EPAS solution: Artificial feedback simulation</a:t>
            </a:r>
          </a:p>
          <a:p>
            <a:pPr>
              <a:spcAft>
                <a:spcPts val="1000"/>
              </a:spcAft>
              <a:defRPr sz="1800">
                <a:solidFill>
                  <a:srgbClr val="333333"/>
                </a:solidFill>
              </a:defRPr>
            </a:pPr>
            <a:r>
              <a:t>How Modern EPAS Creates Feedback:</a:t>
            </a:r>
          </a:p>
          <a:p>
            <a:pPr>
              <a:spcAft>
                <a:spcPts val="600"/>
              </a:spcAft>
              <a:defRPr sz="1800">
                <a:solidFill>
                  <a:srgbClr val="333333"/>
                </a:solidFill>
              </a:defRPr>
            </a:pPr>
            <a:r>
              <a:t>Torque Sensor measures forces at steering column</a:t>
            </a:r>
          </a:p>
          <a:p>
            <a:pPr>
              <a:spcAft>
                <a:spcPts val="600"/>
              </a:spcAft>
              <a:defRPr sz="1800">
                <a:solidFill>
                  <a:srgbClr val="333333"/>
                </a:solidFill>
              </a:defRPr>
            </a:pPr>
            <a:r>
              <a:t>ECU calculates expected self-aligning torque based on:</a:t>
            </a:r>
          </a:p>
          <a:p>
            <a:pPr>
              <a:spcAft>
                <a:spcPts val="600"/>
              </a:spcAft>
              <a:defRPr sz="1800">
                <a:solidFill>
                  <a:srgbClr val="333333"/>
                </a:solidFill>
              </a:defRPr>
            </a:pPr>
            <a:r>
              <a:t>Steering angle</a:t>
            </a:r>
          </a:p>
          <a:p>
            <a:pPr>
              <a:spcAft>
                <a:spcPts val="600"/>
              </a:spcAft>
              <a:defRPr sz="1800">
                <a:solidFill>
                  <a:srgbClr val="333333"/>
                </a:solidFill>
              </a:defRPr>
            </a:pPr>
            <a:r>
              <a:t>Lateral acceleration (from ESC sensors)</a:t>
            </a:r>
          </a:p>
          <a:p>
            <a:pPr>
              <a:spcAft>
                <a:spcPts val="600"/>
              </a:spcAft>
              <a:defRPr sz="1800">
                <a:solidFill>
                  <a:srgbClr val="333333"/>
                </a:solidFill>
              </a:defRPr>
            </a:pPr>
            <a:r>
              <a:t>Vehicle speed</a:t>
            </a:r>
          </a:p>
          <a:p>
            <a:pPr>
              <a:spcAft>
                <a:spcPts val="600"/>
              </a:spcAft>
              <a:defRPr sz="1800">
                <a:solidFill>
                  <a:srgbClr val="333333"/>
                </a:solidFill>
              </a:defRPr>
            </a:pPr>
            <a:r>
              <a:t>Tire model (programmed into ECU)</a:t>
            </a:r>
          </a:p>
          <a:p>
            <a:pPr>
              <a:spcAft>
                <a:spcPts val="600"/>
              </a:spcAft>
              <a:defRPr sz="1800">
                <a:solidFill>
                  <a:srgbClr val="333333"/>
                </a:solidFill>
              </a:defRPr>
            </a:pPr>
            <a:r>
              <a:t>Motor applies simulated feedback torque</a:t>
            </a:r>
          </a:p>
          <a:p>
            <a:pPr>
              <a:spcAft>
                <a:spcPts val="600"/>
              </a:spcAft>
              <a:defRPr sz="1800">
                <a:solidFill>
                  <a:srgbClr val="333333"/>
                </a:solidFill>
              </a:defRPr>
            </a:pPr>
            <a:r>
              <a:t>Driver feels recreated road feedback</a:t>
            </a:r>
          </a:p>
          <a:p>
            <a:pPr>
              <a:spcAft>
                <a:spcPts val="1000"/>
              </a:spcAft>
              <a:defRPr sz="1800">
                <a:solidFill>
                  <a:srgbClr val="333333"/>
                </a:solidFill>
              </a:defRPr>
            </a:pPr>
            <a:r>
              <a:t>Is it as good as hydraulic? — 2000s EPAS: No (too artificial, too filtered)</a:t>
            </a:r>
          </a:p>
          <a:p>
            <a:pPr>
              <a:spcAft>
                <a:spcPts val="600"/>
              </a:spcAft>
              <a:defRPr sz="1800">
                <a:solidFill>
                  <a:srgbClr val="333333"/>
                </a:solidFill>
              </a:defRPr>
            </a:pPr>
            <a:r>
              <a:t>2010s EPAS: Getting close (better algorithms, faster processors)</a:t>
            </a:r>
          </a:p>
          <a:p>
            <a:pPr>
              <a:spcAft>
                <a:spcPts val="600"/>
              </a:spcAft>
              <a:defRPr sz="1800">
                <a:solidFill>
                  <a:srgbClr val="333333"/>
                </a:solidFill>
              </a:defRPr>
            </a:pPr>
            <a:r>
              <a:t>2020s EPAS: Very close (machine learning, real-time adaptation)</a:t>
            </a:r>
          </a:p>
          <a:p>
            <a:pPr>
              <a:spcAft>
                <a:spcPts val="1000"/>
              </a:spcAft>
              <a:defRPr sz="1800">
                <a:solidFill>
                  <a:srgbClr val="333333"/>
                </a:solidFill>
              </a:defRPr>
            </a:pPr>
            <a:r>
              <a:t>Some manufacturers do it better than others: — Porsche, BMW: Excellent EPAS feel (heavy investment in tuning)</a:t>
            </a:r>
          </a:p>
          <a:p>
            <a:pPr>
              <a:spcAft>
                <a:spcPts val="600"/>
              </a:spcAft>
              <a:defRPr sz="1800">
                <a:solidFill>
                  <a:srgbClr val="333333"/>
                </a:solidFill>
              </a:defRPr>
            </a:pPr>
            <a:r>
              <a:t>Mazda: Praised for natural EPAS feel (careful mechanical design + software)</a:t>
            </a:r>
          </a:p>
          <a:p>
            <a:pPr>
              <a:spcAft>
                <a:spcPts val="600"/>
              </a:spcAft>
              <a:defRPr sz="1800">
                <a:solidFill>
                  <a:srgbClr val="333333"/>
                </a:solidFill>
              </a:defRPr>
            </a:pPr>
            <a:r>
              <a:t>Budget brands: Still somewhat numb (cost constraints on tuning)</a:t>
            </a:r>
          </a:p>
          <a:p>
            <a:pPr>
              <a:spcAft>
                <a:spcPts val="1000"/>
              </a:spcAft>
              <a:defRPr sz="1800">
                <a:solidFill>
                  <a:srgbClr val="333333"/>
                </a:solidFill>
              </a:defRPr>
            </a:pPr>
            <a:r>
              <a:t>Instructor Narration (continued):</a:t>
            </a:r>
          </a:p>
          <a:p>
            <a:pPr>
              <a:spcAft>
                <a:spcPts val="1000"/>
              </a:spcAft>
              <a:defRPr sz="1800">
                <a:solidFill>
                  <a:srgbClr val="333333"/>
                </a:solidFill>
              </a:defRPr>
            </a:pPr>
            <a:r>
              <a:t>Steering feel is part science (mechanical forces, control algorithms) and part art (subjective tuning, driver preference). Some drivers prefer isolated, smooth steering. Others want every pebble transmitted to their hands. Engineers must choose a philosophy and tune accordingly.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Complete Steering System Integration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put everything together. Here's a complete modern EPAS rack-and-pinion steering system.</a:t>
            </a:r>
          </a:p>
          <a:p>
            <a:pPr>
              <a:spcAft>
                <a:spcPts val="1000"/>
              </a:spcAft>
              <a:defRPr sz="1800">
                <a:solidFill>
                  <a:srgbClr val="333333"/>
                </a:solidFill>
              </a:defRPr>
            </a:pPr>
            <a:r>
              <a:t>COMPONENT BREAKDOWN:</a:t>
            </a:r>
          </a:p>
          <a:p>
            <a:pPr>
              <a:spcAft>
                <a:spcPts val="1000"/>
              </a:spcAft>
              <a:defRPr sz="1800">
                <a:solidFill>
                  <a:srgbClr val="333333"/>
                </a:solidFill>
              </a:defRPr>
            </a:pPr>
            <a:r>
              <a:t>1. Steering Wheel — Diameter: 350-400 mm (sports cars smaller, trucks larger)</a:t>
            </a:r>
          </a:p>
          <a:p>
            <a:pPr>
              <a:spcAft>
                <a:spcPts val="600"/>
              </a:spcAft>
              <a:defRPr sz="1800">
                <a:solidFill>
                  <a:srgbClr val="333333"/>
                </a:solidFill>
              </a:defRPr>
            </a:pPr>
            <a:r>
              <a:t>Airbag integrated</a:t>
            </a:r>
          </a:p>
          <a:p>
            <a:pPr>
              <a:spcAft>
                <a:spcPts val="600"/>
              </a:spcAft>
              <a:defRPr sz="1800">
                <a:solidFill>
                  <a:srgbClr val="333333"/>
                </a:solidFill>
              </a:defRPr>
            </a:pPr>
            <a:r>
              <a:t>Multi-function controls (audio, cruise control, phone)</a:t>
            </a:r>
          </a:p>
          <a:p>
            <a:pPr>
              <a:spcAft>
                <a:spcPts val="1000"/>
              </a:spcAft>
              <a:defRPr sz="1800">
                <a:solidFill>
                  <a:srgbClr val="333333"/>
                </a:solidFill>
              </a:defRPr>
            </a:pPr>
            <a:r>
              <a:t>2. Steering Column — Collapsible design (safety feature for frontal impact)</a:t>
            </a:r>
          </a:p>
          <a:p>
            <a:pPr>
              <a:spcAft>
                <a:spcPts val="600"/>
              </a:spcAft>
              <a:defRPr sz="1800">
                <a:solidFill>
                  <a:srgbClr val="333333"/>
                </a:solidFill>
              </a:defRPr>
            </a:pPr>
            <a:r>
              <a:t>Tilt and telescoping adjustment (driver comfort)</a:t>
            </a:r>
          </a:p>
          <a:p>
            <a:pPr>
              <a:spcAft>
                <a:spcPts val="600"/>
              </a:spcAft>
              <a:defRPr sz="1800">
                <a:solidFill>
                  <a:srgbClr val="333333"/>
                </a:solidFill>
              </a:defRPr>
            </a:pPr>
            <a:r>
              <a:t>Torque sensor (measures driver input) ← Critical for EPAS</a:t>
            </a:r>
          </a:p>
          <a:p>
            <a:pPr>
              <a:spcAft>
                <a:spcPts val="600"/>
              </a:spcAft>
              <a:defRPr sz="1800">
                <a:solidFill>
                  <a:srgbClr val="333333"/>
                </a:solidFill>
              </a:defRPr>
            </a:pPr>
            <a:r>
              <a:t>Steering angle sensor (for ESC, ADAS)</a:t>
            </a:r>
          </a:p>
          <a:p>
            <a:pPr>
              <a:spcAft>
                <a:spcPts val="600"/>
              </a:spcAft>
              <a:defRPr sz="1800">
                <a:solidFill>
                  <a:srgbClr val="333333"/>
                </a:solidFill>
              </a:defRPr>
            </a:pPr>
            <a:r>
              <a:t>Universal joints (allow angle change between column and pinion)</a:t>
            </a:r>
          </a:p>
          <a:p>
            <a:pPr>
              <a:spcAft>
                <a:spcPts val="1000"/>
              </a:spcAft>
              <a:defRPr sz="1800">
                <a:solidFill>
                  <a:srgbClr val="333333"/>
                </a:solidFill>
              </a:defRPr>
            </a:pPr>
            <a:r>
              <a:t>3. EPAS Motor &amp; ECU — Motor location options: — Column-assist (on column) - compact cars</a:t>
            </a:r>
          </a:p>
          <a:p>
            <a:pPr>
              <a:spcAft>
                <a:spcPts val="600"/>
              </a:spcAft>
              <a:defRPr sz="1800">
                <a:solidFill>
                  <a:srgbClr val="333333"/>
                </a:solidFill>
              </a:defRPr>
            </a:pPr>
            <a:r>
              <a:t>Pinion-assist (on pinion) - mid-size cars</a:t>
            </a:r>
          </a:p>
          <a:p>
            <a:pPr>
              <a:spcAft>
                <a:spcPts val="600"/>
              </a:spcAft>
              <a:defRPr sz="1800">
                <a:solidFill>
                  <a:srgbClr val="333333"/>
                </a:solidFill>
              </a:defRPr>
            </a:pPr>
            <a:r>
              <a:t>Rack-assist (on rack) - most common in modern cars</a:t>
            </a:r>
          </a:p>
          <a:p>
            <a:pPr>
              <a:spcAft>
                <a:spcPts val="600"/>
              </a:spcAft>
              <a:defRPr sz="1800">
                <a:solidFill>
                  <a:srgbClr val="333333"/>
                </a:solidFill>
              </a:defRPr>
            </a:pPr>
            <a:r>
              <a:t>ECU (Electronic Control Unit):</a:t>
            </a:r>
          </a:p>
          <a:p>
            <a:pPr>
              <a:spcAft>
                <a:spcPts val="600"/>
              </a:spcAft>
              <a:defRPr sz="1800">
                <a:solidFill>
                  <a:srgbClr val="333333"/>
                </a:solidFill>
              </a:defRPr>
            </a:pPr>
            <a:r>
              <a:t>Inputs: Torque sensor, angle sensor, vehicle speed, yaw rate</a:t>
            </a:r>
          </a:p>
          <a:p>
            <a:pPr>
              <a:spcAft>
                <a:spcPts val="600"/>
              </a:spcAft>
              <a:defRPr sz="1800">
                <a:solidFill>
                  <a:srgbClr val="333333"/>
                </a:solidFill>
              </a:defRPr>
            </a:pPr>
            <a:r>
              <a:t>Outputs: Motor current (PWM control)</a:t>
            </a:r>
          </a:p>
          <a:p>
            <a:pPr>
              <a:spcAft>
                <a:spcPts val="600"/>
              </a:spcAft>
              <a:defRPr sz="1800">
                <a:solidFill>
                  <a:srgbClr val="333333"/>
                </a:solidFill>
              </a:defRPr>
            </a:pPr>
            <a:r>
              <a:t>Runs at 100-200 Hz update rate</a:t>
            </a:r>
          </a:p>
          <a:p>
            <a:pPr>
              <a:spcAft>
                <a:spcPts val="1000"/>
              </a:spcAft>
              <a:defRPr sz="1800">
                <a:solidFill>
                  <a:srgbClr val="333333"/>
                </a:solidFill>
              </a:defRPr>
            </a:pPr>
            <a:r>
              <a:t>4. Steering Rack — Rack housing (aluminum or magnesium for light weight)</a:t>
            </a:r>
          </a:p>
          <a:p>
            <a:pPr>
              <a:spcAft>
                <a:spcPts val="600"/>
              </a:spcAft>
              <a:defRPr sz="1800">
                <a:solidFill>
                  <a:srgbClr val="333333"/>
                </a:solidFill>
              </a:defRPr>
            </a:pPr>
            <a:r>
              <a:t>Rack bar with machined teeth</a:t>
            </a:r>
          </a:p>
          <a:p>
            <a:pPr>
              <a:spcAft>
                <a:spcPts val="600"/>
              </a:spcAft>
              <a:defRPr sz="1800">
                <a:solidFill>
                  <a:srgbClr val="333333"/>
                </a:solidFill>
              </a:defRPr>
            </a:pPr>
            <a:r>
              <a:t>Pinion gear meshing with rack</a:t>
            </a:r>
          </a:p>
          <a:p>
            <a:pPr>
              <a:spcAft>
                <a:spcPts val="600"/>
              </a:spcAft>
              <a:defRPr sz="1800">
                <a:solidFill>
                  <a:srgbClr val="333333"/>
                </a:solidFill>
              </a:defRPr>
            </a:pPr>
            <a:r>
              <a:t>Tie rod ends (ball joints for articulation)</a:t>
            </a:r>
          </a:p>
          <a:p>
            <a:pPr>
              <a:spcAft>
                <a:spcPts val="600"/>
              </a:spcAft>
              <a:defRPr sz="1800">
                <a:solidFill>
                  <a:srgbClr val="333333"/>
                </a:solidFill>
              </a:defRPr>
            </a:pPr>
            <a:r>
              <a:t>Steering boots (protect from dirt and moisture)</a:t>
            </a:r>
          </a:p>
          <a:p>
            <a:pPr>
              <a:spcAft>
                <a:spcPts val="1000"/>
              </a:spcAft>
              <a:defRPr sz="1800">
                <a:solidFill>
                  <a:srgbClr val="333333"/>
                </a:solidFill>
              </a:defRPr>
            </a:pPr>
            <a:r>
              <a:t>5. Steering Arms &amp; Tie Rods — Tie rods (adjustable length for toe alignment)</a:t>
            </a:r>
          </a:p>
          <a:p>
            <a:pPr>
              <a:spcAft>
                <a:spcPts val="600"/>
              </a:spcAft>
              <a:defRPr sz="1800">
                <a:solidFill>
                  <a:srgbClr val="333333"/>
                </a:solidFill>
              </a:defRPr>
            </a:pPr>
            <a:r>
              <a:t>Steering arms (angled for Ackermann geometry)</a:t>
            </a:r>
          </a:p>
          <a:p>
            <a:pPr>
              <a:spcAft>
                <a:spcPts val="600"/>
              </a:spcAft>
              <a:defRPr sz="1800">
                <a:solidFill>
                  <a:srgbClr val="333333"/>
                </a:solidFill>
              </a:defRPr>
            </a:pPr>
            <a:r>
              <a:t>Ball joints (allow vertical wheel movement + steering rotation)</a:t>
            </a:r>
          </a:p>
          <a:p>
            <a:pPr>
              <a:spcAft>
                <a:spcPts val="1000"/>
              </a:spcAft>
              <a:defRPr sz="1800">
                <a:solidFill>
                  <a:srgbClr val="333333"/>
                </a:solidFill>
              </a:defRPr>
            </a:pPr>
            <a:r>
              <a:t>6. Steering Knuckle — Connects steering system to suspension</a:t>
            </a:r>
          </a:p>
          <a:p>
            <a:pPr>
              <a:spcAft>
                <a:spcPts val="600"/>
              </a:spcAft>
              <a:defRPr sz="1800">
                <a:solidFill>
                  <a:srgbClr val="333333"/>
                </a:solidFill>
              </a:defRPr>
            </a:pPr>
            <a:r>
              <a:t>Wheel hub mounted to knuckle</a:t>
            </a:r>
          </a:p>
          <a:p>
            <a:pPr>
              <a:spcAft>
                <a:spcPts val="600"/>
              </a:spcAft>
              <a:defRPr sz="1800">
                <a:solidFill>
                  <a:srgbClr val="333333"/>
                </a:solidFill>
              </a:defRPr>
            </a:pPr>
            <a:r>
              <a:t>Ball joints (upper and lower, or strut mount + lower ball joint)</a:t>
            </a:r>
          </a:p>
          <a:p>
            <a:pPr>
              <a:spcAft>
                <a:spcPts val="600"/>
              </a:spcAft>
              <a:defRPr sz="1800">
                <a:solidFill>
                  <a:srgbClr val="333333"/>
                </a:solidFill>
              </a:defRPr>
            </a:pPr>
            <a:r>
              <a:t>Brake caliper mounts to knuckle</a:t>
            </a:r>
          </a:p>
          <a:p>
            <a:pPr>
              <a:spcAft>
                <a:spcPts val="1000"/>
              </a:spcAft>
              <a:defRPr sz="1800">
                <a:solidFill>
                  <a:srgbClr val="333333"/>
                </a:solidFill>
              </a:defRPr>
            </a:pPr>
            <a:r>
              <a:t>Integration with Other Systems:</a:t>
            </a:r>
          </a:p>
          <a:p>
            <a:pPr>
              <a:spcAft>
                <a:spcPts val="1000"/>
              </a:spcAft>
              <a:defRPr sz="1800">
                <a:solidFill>
                  <a:srgbClr val="333333"/>
                </a:solidFill>
              </a:defRPr>
            </a:pPr>
            <a:r>
              <a:t>→ Electronic Stability Control (ESC): — Steering angle sensor provides input to ESC</a:t>
            </a:r>
          </a:p>
          <a:p>
            <a:pPr>
              <a:spcAft>
                <a:spcPts val="600"/>
              </a:spcAft>
              <a:defRPr sz="1800">
                <a:solidFill>
                  <a:srgbClr val="333333"/>
                </a:solidFill>
              </a:defRPr>
            </a:pPr>
            <a:r>
              <a:t>ESC can detect oversteer/understeer</a:t>
            </a:r>
          </a:p>
          <a:p>
            <a:pPr>
              <a:spcAft>
                <a:spcPts val="600"/>
              </a:spcAft>
              <a:defRPr sz="1800">
                <a:solidFill>
                  <a:srgbClr val="333333"/>
                </a:solidFill>
              </a:defRPr>
            </a:pPr>
            <a:r>
              <a:t>ESC may request EPAS to provide feedback torque (alert driver)</a:t>
            </a:r>
          </a:p>
          <a:p>
            <a:pPr>
              <a:spcAft>
                <a:spcPts val="1000"/>
              </a:spcAft>
              <a:defRPr sz="1800">
                <a:solidFill>
                  <a:srgbClr val="333333"/>
                </a:solidFill>
              </a:defRPr>
            </a:pPr>
            <a:r>
              <a:t>→ ABS: — Steering angle helps ABS optimize brake distribution</a:t>
            </a:r>
          </a:p>
          <a:p>
            <a:pPr>
              <a:spcAft>
                <a:spcPts val="600"/>
              </a:spcAft>
              <a:defRPr sz="1800">
                <a:solidFill>
                  <a:srgbClr val="333333"/>
                </a:solidFill>
              </a:defRPr>
            </a:pPr>
            <a:r>
              <a:t>Prevents steering during hard braking (stability)</a:t>
            </a:r>
          </a:p>
          <a:p>
            <a:pPr>
              <a:spcAft>
                <a:spcPts val="1000"/>
              </a:spcAft>
              <a:defRPr sz="1800">
                <a:solidFill>
                  <a:srgbClr val="333333"/>
                </a:solidFill>
              </a:defRPr>
            </a:pPr>
            <a:r>
              <a:t>→ ADAS (Advanced Driver Assistance): — Lane keeping assist uses EPAS motor</a:t>
            </a:r>
          </a:p>
          <a:p>
            <a:pPr>
              <a:spcAft>
                <a:spcPts val="600"/>
              </a:spcAft>
              <a:defRPr sz="1800">
                <a:solidFill>
                  <a:srgbClr val="333333"/>
                </a:solidFill>
              </a:defRPr>
            </a:pPr>
            <a:r>
              <a:t>Adaptive cruise with lane centering</a:t>
            </a:r>
          </a:p>
          <a:p>
            <a:pPr>
              <a:spcAft>
                <a:spcPts val="600"/>
              </a:spcAft>
              <a:defRPr sz="1800">
                <a:solidFill>
                  <a:srgbClr val="333333"/>
                </a:solidFill>
              </a:defRPr>
            </a:pPr>
            <a:r>
              <a:t>Self-parking systems</a:t>
            </a:r>
          </a:p>
          <a:p>
            <a:pPr>
              <a:spcAft>
                <a:spcPts val="1000"/>
              </a:spcAft>
              <a:defRPr sz="1800">
                <a:solidFill>
                  <a:srgbClr val="333333"/>
                </a:solidFill>
              </a:defRPr>
            </a:pPr>
            <a:r>
              <a:t>→ Four-Wheel Steering (if equipped): — Front EPAS coordinates with rear steering actuators</a:t>
            </a:r>
          </a:p>
          <a:p>
            <a:pPr>
              <a:spcAft>
                <a:spcPts val="600"/>
              </a:spcAft>
              <a:defRPr sz="1800">
                <a:solidFill>
                  <a:srgbClr val="333333"/>
                </a:solidFill>
              </a:defRPr>
            </a:pPr>
            <a:r>
              <a:t>Low speed: rear wheels steer opposite (tighter turning)</a:t>
            </a:r>
          </a:p>
          <a:p>
            <a:pPr>
              <a:spcAft>
                <a:spcPts val="600"/>
              </a:spcAft>
              <a:defRPr sz="1800">
                <a:solidFill>
                  <a:srgbClr val="333333"/>
                </a:solidFill>
              </a:defRPr>
            </a:pPr>
            <a:r>
              <a:t>High speed: rear wheels steer same direction (stability)</a:t>
            </a:r>
          </a:p>
          <a:p>
            <a:pPr>
              <a:spcAft>
                <a:spcPts val="1000"/>
              </a:spcAft>
              <a:defRPr sz="1800">
                <a:solidFill>
                  <a:srgbClr val="333333"/>
                </a:solidFill>
              </a:defRPr>
            </a:pPr>
            <a:r>
              <a:t>Instructor Narration (continued):</a:t>
            </a:r>
          </a:p>
          <a:p>
            <a:pPr>
              <a:spcAft>
                <a:spcPts val="1000"/>
              </a:spcAft>
              <a:defRPr sz="1800">
                <a:solidFill>
                  <a:srgbClr val="333333"/>
                </a:solidFill>
              </a:defRPr>
            </a:pPr>
            <a:r>
              <a:t>Modern steering is not a standalone system—it's integrated with the entire vehicle dynamics control network. The steering angle sensor feeds data to 5-10 different ECUs. The EPAS motor receives commands from ADAS systems. It's a fully networked, cyber-physical system.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Steering System Design Example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DESIGN CHALLENGE:</a:t>
            </a:r>
          </a:p>
          <a:p>
            <a:pPr>
              <a:spcAft>
                <a:spcPts val="1000"/>
              </a:spcAft>
              <a:defRPr sz="1800">
                <a:solidFill>
                  <a:srgbClr val="333333"/>
                </a:solidFill>
              </a:defRPr>
            </a:pPr>
            <a:r>
              <a:t>You're designing a steering system for a new compact sedan. Specify the key parameters.</a:t>
            </a:r>
          </a:p>
          <a:p>
            <a:pPr>
              <a:spcAft>
                <a:spcPts val="1000"/>
              </a:spcAft>
              <a:defRPr sz="1800">
                <a:solidFill>
                  <a:srgbClr val="333333"/>
                </a:solidFill>
              </a:defRPr>
            </a:pPr>
            <a:r>
              <a:t>GIVEN REQUIREMENTS: — Target vehicle: Compact sedan (Honda Civic class)</a:t>
            </a:r>
          </a:p>
          <a:p>
            <a:pPr>
              <a:spcAft>
                <a:spcPts val="600"/>
              </a:spcAft>
              <a:defRPr sz="1800">
                <a:solidFill>
                  <a:srgbClr val="333333"/>
                </a:solidFill>
              </a:defRPr>
            </a:pPr>
            <a:r>
              <a:t>Wheelbase L = 2.7 m</a:t>
            </a:r>
          </a:p>
          <a:p>
            <a:pPr>
              <a:spcAft>
                <a:spcPts val="600"/>
              </a:spcAft>
              <a:defRPr sz="1800">
                <a:solidFill>
                  <a:srgbClr val="333333"/>
                </a:solidFill>
              </a:defRPr>
            </a:pPr>
            <a:r>
              <a:t>Track width t = 1.52 m</a:t>
            </a:r>
          </a:p>
          <a:p>
            <a:pPr>
              <a:spcAft>
                <a:spcPts val="600"/>
              </a:spcAft>
              <a:defRPr sz="1800">
                <a:solidFill>
                  <a:srgbClr val="333333"/>
                </a:solidFill>
              </a:defRPr>
            </a:pPr>
            <a:r>
              <a:t>Vehicle mass = 1,300 kg</a:t>
            </a:r>
          </a:p>
          <a:p>
            <a:pPr>
              <a:spcAft>
                <a:spcPts val="600"/>
              </a:spcAft>
              <a:defRPr sz="1800">
                <a:solidFill>
                  <a:srgbClr val="333333"/>
                </a:solidFill>
              </a:defRPr>
            </a:pPr>
            <a:r>
              <a:t>Front weight distribution = 60% (780 kg on front axle)</a:t>
            </a:r>
          </a:p>
          <a:p>
            <a:pPr>
              <a:spcAft>
                <a:spcPts val="600"/>
              </a:spcAft>
              <a:defRPr sz="1800">
                <a:solidFill>
                  <a:srgbClr val="333333"/>
                </a:solidFill>
              </a:defRPr>
            </a:pPr>
            <a:r>
              <a:t>Target minimum turning radius: 5.0 m (competitive with class leaders)</a:t>
            </a:r>
          </a:p>
          <a:p>
            <a:pPr>
              <a:spcAft>
                <a:spcPts val="600"/>
              </a:spcAft>
              <a:defRPr sz="1800">
                <a:solidFill>
                  <a:srgbClr val="333333"/>
                </a:solidFill>
              </a:defRPr>
            </a:pPr>
            <a:r>
              <a:t>Maximum parking effort: 3 Nm at steering wheel rim (easy for driver)</a:t>
            </a:r>
          </a:p>
          <a:p>
            <a:pPr>
              <a:spcAft>
                <a:spcPts val="600"/>
              </a:spcAft>
              <a:defRPr sz="1800">
                <a:solidFill>
                  <a:srgbClr val="333333"/>
                </a:solidFill>
              </a:defRPr>
            </a:pPr>
            <a:r>
              <a:t>Highway stability: Weighted feel at 120 km/h</a:t>
            </a:r>
          </a:p>
          <a:p>
            <a:pPr>
              <a:spcAft>
                <a:spcPts val="1000"/>
              </a:spcAft>
              <a:defRPr sz="1800">
                <a:solidFill>
                  <a:srgbClr val="333333"/>
                </a:solidFill>
              </a:defRPr>
            </a:pPr>
            <a:r>
              <a:t>DESIGN DECISIONS:</a:t>
            </a:r>
          </a:p>
          <a:p>
            <a:pPr>
              <a:spcAft>
                <a:spcPts val="1000"/>
              </a:spcAft>
              <a:defRPr sz="1800">
                <a:solidFill>
                  <a:srgbClr val="333333"/>
                </a:solidFill>
              </a:defRPr>
            </a:pPr>
            <a:r>
              <a:t>1. Steering Mechanism: Rack-and-Pinion with EPAS (rack-assist)</a:t>
            </a:r>
          </a:p>
          <a:p>
            <a:pPr>
              <a:spcAft>
                <a:spcPts val="1000"/>
              </a:spcAft>
              <a:defRPr sz="1800">
                <a:solidFill>
                  <a:srgbClr val="333333"/>
                </a:solidFill>
              </a:defRPr>
            </a:pPr>
            <a:r>
              <a:t>Why?</a:t>
            </a:r>
          </a:p>
          <a:p>
            <a:pPr>
              <a:spcAft>
                <a:spcPts val="600"/>
              </a:spcAft>
              <a:defRPr sz="1800">
                <a:solidFill>
                  <a:srgbClr val="333333"/>
                </a:solidFill>
              </a:defRPr>
            </a:pPr>
            <a:r>
              <a:t>Modern, compact packaging</a:t>
            </a:r>
          </a:p>
          <a:p>
            <a:pPr>
              <a:spcAft>
                <a:spcPts val="600"/>
              </a:spcAft>
              <a:defRPr sz="1800">
                <a:solidFill>
                  <a:srgbClr val="333333"/>
                </a:solidFill>
              </a:defRPr>
            </a:pPr>
            <a:r>
              <a:t>Efficient (important for fuel economy)</a:t>
            </a:r>
          </a:p>
          <a:p>
            <a:pPr>
              <a:spcAft>
                <a:spcPts val="600"/>
              </a:spcAft>
              <a:defRPr sz="1800">
                <a:solidFill>
                  <a:srgbClr val="333333"/>
                </a:solidFill>
              </a:defRPr>
            </a:pPr>
            <a:r>
              <a:t>Enables ADAS features (future-proofing)</a:t>
            </a:r>
          </a:p>
          <a:p>
            <a:pPr>
              <a:spcAft>
                <a:spcPts val="600"/>
              </a:spcAft>
              <a:defRPr sz="1800">
                <a:solidFill>
                  <a:srgbClr val="333333"/>
                </a:solidFill>
              </a:defRPr>
            </a:pPr>
            <a:r>
              <a:t>Good feedback potential (with proper tuning)</a:t>
            </a:r>
          </a:p>
          <a:p>
            <a:pPr>
              <a:spcAft>
                <a:spcPts val="1000"/>
              </a:spcAft>
              <a:defRPr sz="1800">
                <a:solidFill>
                  <a:srgbClr val="333333"/>
                </a:solidFill>
              </a:defRPr>
            </a:pPr>
            <a:r>
              <a:t>2. Calculate Required Maximum Steering Angle:</a:t>
            </a:r>
          </a:p>
          <a:p>
            <a:pPr>
              <a:spcAft>
                <a:spcPts val="1000"/>
              </a:spcAft>
              <a:defRPr sz="1800">
                <a:solidFill>
                  <a:srgbClr val="333333"/>
                </a:solidFill>
              </a:defRPr>
            </a:pPr>
            <a:r>
              <a:t>From turning radius requirement:</a:t>
            </a:r>
          </a:p>
          <a:p>
            <a:pPr>
              <a:defRPr sz="1400">
                <a:solidFill>
                  <a:srgbClr val="787878"/>
                </a:solidFill>
                <a:latin typeface="Consolas"/>
              </a:defRPr>
            </a:pPr>
            <a:r>
              <a:t>R = L / tan(δ_avg)</a:t>
            </a:r>
            <a:br/>
            <a:r>
              <a:t>5.0 = 2.7 / tan(δ_avg)</a:t>
            </a:r>
            <a:br/>
            <a:r>
              <a:t>tan(δ_avg) = 2.7 / 5.0 = 0.540</a:t>
            </a:r>
            <a:br/>
            <a:r>
              <a:t>δ_avg = arctan(0.540) = 28.4°</a:t>
            </a:r>
          </a:p>
          <a:p>
            <a:pPr>
              <a:spcAft>
                <a:spcPts val="1000"/>
              </a:spcAft>
              <a:defRPr sz="1800">
                <a:solidFill>
                  <a:srgbClr val="333333"/>
                </a:solidFill>
              </a:defRPr>
            </a:pPr>
            <a:r>
              <a:t>For Ackermann geometry, inner wheel will be slightly more:</a:t>
            </a:r>
          </a:p>
          <a:p>
            <a:pPr>
              <a:defRPr sz="1400">
                <a:solidFill>
                  <a:srgbClr val="787878"/>
                </a:solidFill>
                <a:latin typeface="Consolas"/>
              </a:defRPr>
            </a:pPr>
            <a:r>
              <a:t>δᵢ ≈ 31° (inner wheel, maximum)</a:t>
            </a:r>
            <a:br/>
            <a:r>
              <a:t>δₒ ≈ 26° (outer wheel, calculated from Ackermann)</a:t>
            </a:r>
          </a:p>
          <a:p>
            <a:pPr>
              <a:spcAft>
                <a:spcPts val="1000"/>
              </a:spcAft>
              <a:defRPr sz="1800">
                <a:solidFill>
                  <a:srgbClr val="333333"/>
                </a:solidFill>
              </a:defRPr>
            </a:pPr>
            <a:r>
              <a:t>Specification: Maximum wheel angle = ±31°</a:t>
            </a:r>
          </a:p>
          <a:p>
            <a:pPr>
              <a:spcAft>
                <a:spcPts val="1000"/>
              </a:spcAft>
              <a:defRPr sz="1800">
                <a:solidFill>
                  <a:srgbClr val="333333"/>
                </a:solidFill>
              </a:defRPr>
            </a:pPr>
            <a:r>
              <a:t>3. Select Steering Ratio:</a:t>
            </a:r>
          </a:p>
          <a:p>
            <a:pPr>
              <a:spcAft>
                <a:spcPts val="1000"/>
              </a:spcAft>
              <a:defRPr sz="1800">
                <a:solidFill>
                  <a:srgbClr val="333333"/>
                </a:solidFill>
              </a:defRPr>
            </a:pPr>
            <a:r>
              <a:t>Target: Balanced (not too quick, not too slow)</a:t>
            </a:r>
          </a:p>
          <a:p>
            <a:pPr>
              <a:spcAft>
                <a:spcPts val="600"/>
              </a:spcAft>
              <a:defRPr sz="1800">
                <a:solidFill>
                  <a:srgbClr val="333333"/>
                </a:solidFill>
              </a:defRPr>
            </a:pPr>
            <a:r>
              <a:t>Sports car equivalent: 13:1 (too quick for average driver)</a:t>
            </a:r>
          </a:p>
          <a:p>
            <a:pPr>
              <a:spcAft>
                <a:spcPts val="600"/>
              </a:spcAft>
              <a:defRPr sz="1800">
                <a:solidFill>
                  <a:srgbClr val="333333"/>
                </a:solidFill>
              </a:defRPr>
            </a:pPr>
            <a:r>
              <a:t>Comfort car: 16:1 (good balance)</a:t>
            </a:r>
          </a:p>
          <a:p>
            <a:pPr>
              <a:spcAft>
                <a:spcPts val="1000"/>
              </a:spcAft>
              <a:defRPr sz="1800">
                <a:solidFill>
                  <a:srgbClr val="333333"/>
                </a:solidFill>
              </a:defRPr>
            </a:pPr>
            <a:r>
              <a:t>Selected: 15:1 steering ratio</a:t>
            </a:r>
          </a:p>
          <a:p>
            <a:pPr>
              <a:spcAft>
                <a:spcPts val="1000"/>
              </a:spcAft>
              <a:defRPr sz="1800">
                <a:solidFill>
                  <a:srgbClr val="333333"/>
                </a:solidFill>
              </a:defRPr>
            </a:pPr>
            <a:r>
              <a:t>Lock-to-lock steering wheel rotation:</a:t>
            </a:r>
          </a:p>
          <a:p>
            <a:pPr>
              <a:defRPr sz="1400">
                <a:solidFill>
                  <a:srgbClr val="787878"/>
                </a:solidFill>
                <a:latin typeface="Consolas"/>
              </a:defRPr>
            </a:pPr>
            <a:r>
              <a:t>Total wheel travel = 31° + 31° = 62°</a:t>
            </a:r>
            <a:br/>
            <a:r>
              <a:t>Steering wheel rotation = 62° × 15 = 930° = 2.58 turns</a:t>
            </a:r>
          </a:p>
          <a:p>
            <a:pPr>
              <a:spcAft>
                <a:spcPts val="1000"/>
              </a:spcAft>
              <a:defRPr sz="1800">
                <a:solidFill>
                  <a:srgbClr val="333333"/>
                </a:solidFill>
              </a:defRPr>
            </a:pPr>
            <a:r>
              <a:t>This is typical (2.5-3 turns lock-to-lock for modern cars).</a:t>
            </a:r>
          </a:p>
          <a:p>
            <a:pPr>
              <a:spcAft>
                <a:spcPts val="1000"/>
              </a:spcAft>
              <a:defRPr sz="1800">
                <a:solidFill>
                  <a:srgbClr val="333333"/>
                </a:solidFill>
              </a:defRPr>
            </a:pPr>
            <a:r>
              <a:t>4. EPAS Motor Sizing:</a:t>
            </a:r>
          </a:p>
          <a:p>
            <a:pPr>
              <a:spcAft>
                <a:spcPts val="1000"/>
              </a:spcAft>
              <a:defRPr sz="1800">
                <a:solidFill>
                  <a:srgbClr val="333333"/>
                </a:solidFill>
              </a:defRPr>
            </a:pPr>
            <a:r>
              <a:t>Maximum assist torque needed (during parking at standstill):</a:t>
            </a:r>
          </a:p>
          <a:p>
            <a:pPr>
              <a:spcAft>
                <a:spcPts val="1000"/>
              </a:spcAft>
              <a:defRPr sz="1800">
                <a:solidFill>
                  <a:srgbClr val="333333"/>
                </a:solidFill>
              </a:defRPr>
            </a:pPr>
            <a:r>
              <a:t>Assume tire scrub torque at wheel = 120 Nm per wheel (typical for 205/55R16 tire on dry pavement)</a:t>
            </a:r>
          </a:p>
          <a:p>
            <a:pPr>
              <a:spcAft>
                <a:spcPts val="1000"/>
              </a:spcAft>
              <a:defRPr sz="1800">
                <a:solidFill>
                  <a:srgbClr val="333333"/>
                </a:solidFill>
              </a:defRPr>
            </a:pPr>
            <a:r>
              <a:t>Total torque at rack (both wheels):</a:t>
            </a:r>
          </a:p>
          <a:p>
            <a:pPr>
              <a:defRPr sz="1400">
                <a:solidFill>
                  <a:srgbClr val="787878"/>
                </a:solidFill>
                <a:latin typeface="Consolas"/>
              </a:defRPr>
            </a:pPr>
            <a:r>
              <a:t>T_rack = 120 Nm × 2 = 240 Nm</a:t>
            </a:r>
          </a:p>
          <a:p>
            <a:pPr>
              <a:spcAft>
                <a:spcPts val="1000"/>
              </a:spcAft>
              <a:defRPr sz="1800">
                <a:solidFill>
                  <a:srgbClr val="333333"/>
                </a:solidFill>
              </a:defRPr>
            </a:pPr>
            <a:r>
              <a:t>Torque at steering wheel (without assist):</a:t>
            </a:r>
          </a:p>
          <a:p>
            <a:pPr>
              <a:defRPr sz="1400">
                <a:solidFill>
                  <a:srgbClr val="787878"/>
                </a:solidFill>
                <a:latin typeface="Consolas"/>
              </a:defRPr>
            </a:pPr>
            <a:r>
              <a:t>T_SW = T_rack / (Steering Ratio)</a:t>
            </a:r>
            <a:br/>
            <a:r>
              <a:t>     = 240 / 15</a:t>
            </a:r>
            <a:br/>
            <a:r>
              <a:t>     = 16 Nm</a:t>
            </a:r>
          </a:p>
          <a:p>
            <a:pPr>
              <a:spcAft>
                <a:spcPts val="1000"/>
              </a:spcAft>
              <a:defRPr sz="1800">
                <a:solidFill>
                  <a:srgbClr val="333333"/>
                </a:solidFill>
              </a:defRPr>
            </a:pPr>
            <a:r>
              <a:t>With EPAS providing 90% assist (driver provides 10%):</a:t>
            </a:r>
          </a:p>
          <a:p>
            <a:pPr>
              <a:defRPr sz="1400">
                <a:solidFill>
                  <a:srgbClr val="787878"/>
                </a:solidFill>
                <a:latin typeface="Consolas"/>
              </a:defRPr>
            </a:pPr>
            <a:r>
              <a:t>Driver effort = 16 Nm × 0.10 = 1.6 Nm ✅ (meets &lt;3 Nm requirement)</a:t>
            </a:r>
            <a:br/>
            <a:r>
              <a:t>Motor must provide = 16 Nm × 0.90 = 14.4 Nm</a:t>
            </a:r>
          </a:p>
          <a:p>
            <a:pPr>
              <a:spcAft>
                <a:spcPts val="1000"/>
              </a:spcAft>
              <a:defRPr sz="1800">
                <a:solidFill>
                  <a:srgbClr val="333333"/>
                </a:solidFill>
              </a:defRPr>
            </a:pPr>
            <a:r>
              <a:t>Accounting for efficiency and safety margin:</a:t>
            </a:r>
          </a:p>
          <a:p>
            <a:pPr>
              <a:spcAft>
                <a:spcPts val="1000"/>
              </a:spcAft>
              <a:defRPr sz="1800">
                <a:solidFill>
                  <a:srgbClr val="333333"/>
                </a:solidFill>
              </a:defRPr>
            </a:pPr>
            <a:r>
              <a:t>Motor specification: 20 Nm peak torque, 600W brushless DC motor</a:t>
            </a:r>
          </a:p>
          <a:p>
            <a:pPr>
              <a:spcAft>
                <a:spcPts val="1000"/>
              </a:spcAft>
              <a:defRPr sz="1800">
                <a:solidFill>
                  <a:srgbClr val="333333"/>
                </a:solidFill>
              </a:defRPr>
            </a:pPr>
            <a:r>
              <a:t>5. EPAS Assist Curve: — 0-20 km/h: 90% assist (parking, city maneuvering)</a:t>
            </a:r>
          </a:p>
          <a:p>
            <a:pPr>
              <a:spcAft>
                <a:spcPts val="600"/>
              </a:spcAft>
              <a:defRPr sz="1800">
                <a:solidFill>
                  <a:srgbClr val="333333"/>
                </a:solidFill>
              </a:defRPr>
            </a:pPr>
            <a:r>
              <a:t>20-60 km/h: 70% assist (suburban driving)</a:t>
            </a:r>
          </a:p>
          <a:p>
            <a:pPr>
              <a:spcAft>
                <a:spcPts val="600"/>
              </a:spcAft>
              <a:defRPr sz="1800">
                <a:solidFill>
                  <a:srgbClr val="333333"/>
                </a:solidFill>
              </a:defRPr>
            </a:pPr>
            <a:r>
              <a:t>60-100 km/h: 50% assist (highway cruising)</a:t>
            </a:r>
          </a:p>
          <a:p>
            <a:pPr>
              <a:spcAft>
                <a:spcPts val="600"/>
              </a:spcAft>
              <a:defRPr sz="1800">
                <a:solidFill>
                  <a:srgbClr val="333333"/>
                </a:solidFill>
              </a:defRPr>
            </a:pPr>
            <a:r>
              <a:t>100-150 km/h: 30% assist (high-speed stability)</a:t>
            </a:r>
          </a:p>
          <a:p>
            <a:pPr>
              <a:spcAft>
                <a:spcPts val="1000"/>
              </a:spcAft>
              <a:defRPr sz="1800">
                <a:solidFill>
                  <a:srgbClr val="333333"/>
                </a:solidFill>
              </a:defRPr>
            </a:pPr>
            <a:r>
              <a:t>6. Steering Geometry Parameters: — Caster: +4.5° (good self-centering, moderate effort)</a:t>
            </a:r>
          </a:p>
          <a:p>
            <a:pPr>
              <a:spcAft>
                <a:spcPts val="600"/>
              </a:spcAft>
              <a:defRPr sz="1800">
                <a:solidFill>
                  <a:srgbClr val="333333"/>
                </a:solidFill>
              </a:defRPr>
            </a:pPr>
            <a:r>
              <a:t>Camber: —0.5° (slight negative for cornering, minimal tire wear)</a:t>
            </a:r>
          </a:p>
          <a:p>
            <a:pPr>
              <a:spcAft>
                <a:spcPts val="600"/>
              </a:spcAft>
              <a:defRPr sz="1800">
                <a:solidFill>
                  <a:srgbClr val="333333"/>
                </a:solidFill>
              </a:defRPr>
            </a:pPr>
            <a:r>
              <a:t>Toe: 2 mm toe-in (front axle stability)</a:t>
            </a:r>
          </a:p>
          <a:p>
            <a:pPr>
              <a:spcAft>
                <a:spcPts val="600"/>
              </a:spcAft>
              <a:defRPr sz="1800">
                <a:solidFill>
                  <a:srgbClr val="333333"/>
                </a:solidFill>
              </a:defRPr>
            </a:pPr>
            <a:r>
              <a:t>KPI: 12° (designed into suspension geometry)</a:t>
            </a:r>
          </a:p>
          <a:p>
            <a:pPr>
              <a:spcAft>
                <a:spcPts val="1000"/>
              </a:spcAft>
              <a:defRPr sz="1800">
                <a:solidFill>
                  <a:srgbClr val="333333"/>
                </a:solidFill>
              </a:defRPr>
            </a:pPr>
            <a:r>
              <a:t>DESIGN SUMMARY:</a:t>
            </a:r>
          </a:p>
          <a:p>
            <a:pPr>
              <a:spcAft>
                <a:spcPts val="1000"/>
              </a:spcAft>
              <a:defRPr sz="1800">
                <a:solidFill>
                  <a:srgbClr val="333333"/>
                </a:solidFill>
              </a:defRPr>
            </a:pPr>
            <a:r>
              <a:t>| Parameter | Specification |</a:t>
            </a:r>
          </a:p>
          <a:p>
            <a:pPr>
              <a:spcAft>
                <a:spcPts val="1000"/>
              </a:spcAft>
              <a:defRPr sz="1800">
                <a:solidFill>
                  <a:srgbClr val="333333"/>
                </a:solidFill>
              </a:defRPr>
            </a:pPr>
            <a:r>
              <a:t>|-----------|---------------|</a:t>
            </a:r>
          </a:p>
          <a:p>
            <a:pPr>
              <a:spcAft>
                <a:spcPts val="1000"/>
              </a:spcAft>
              <a:defRPr sz="1800">
                <a:solidFill>
                  <a:srgbClr val="333333"/>
                </a:solidFill>
              </a:defRPr>
            </a:pPr>
            <a:r>
              <a:t>| Mechanism | Rack-and-pinion with rack-assist EPAS |</a:t>
            </a:r>
          </a:p>
          <a:p>
            <a:pPr>
              <a:spcAft>
                <a:spcPts val="1000"/>
              </a:spcAft>
              <a:defRPr sz="1800">
                <a:solidFill>
                  <a:srgbClr val="333333"/>
                </a:solidFill>
              </a:defRPr>
            </a:pPr>
            <a:r>
              <a:t>| Steering Ratio | 15:1 |</a:t>
            </a:r>
          </a:p>
          <a:p>
            <a:pPr>
              <a:spcAft>
                <a:spcPts val="1000"/>
              </a:spcAft>
              <a:defRPr sz="1800">
                <a:solidFill>
                  <a:srgbClr val="333333"/>
                </a:solidFill>
              </a:defRPr>
            </a:pPr>
            <a:r>
              <a:t>| Lock-to-Lock Turns | 2.58 turns |</a:t>
            </a:r>
          </a:p>
          <a:p>
            <a:pPr>
              <a:spcAft>
                <a:spcPts val="1000"/>
              </a:spcAft>
              <a:defRPr sz="1800">
                <a:solidFill>
                  <a:srgbClr val="333333"/>
                </a:solidFill>
              </a:defRPr>
            </a:pPr>
            <a:r>
              <a:t>| Max Wheel Angle | ±31° |</a:t>
            </a:r>
          </a:p>
          <a:p>
            <a:pPr>
              <a:spcAft>
                <a:spcPts val="1000"/>
              </a:spcAft>
              <a:defRPr sz="1800">
                <a:solidFill>
                  <a:srgbClr val="333333"/>
                </a:solidFill>
              </a:defRPr>
            </a:pPr>
            <a:r>
              <a:t>| Turning Radius | 5.0 m |</a:t>
            </a:r>
          </a:p>
          <a:p>
            <a:pPr>
              <a:spcAft>
                <a:spcPts val="1000"/>
              </a:spcAft>
              <a:defRPr sz="1800">
                <a:solidFill>
                  <a:srgbClr val="333333"/>
                </a:solidFill>
              </a:defRPr>
            </a:pPr>
            <a:r>
              <a:t>| EPAS Motor | 600W brushless DC, 20 Nm peak |</a:t>
            </a:r>
          </a:p>
          <a:p>
            <a:pPr>
              <a:spcAft>
                <a:spcPts val="1000"/>
              </a:spcAft>
              <a:defRPr sz="1800">
                <a:solidFill>
                  <a:srgbClr val="333333"/>
                </a:solidFill>
              </a:defRPr>
            </a:pPr>
            <a:r>
              <a:t>| Parking Effort | 1.6 Nm (with 90% assist) |</a:t>
            </a:r>
          </a:p>
          <a:p>
            <a:pPr>
              <a:spcAft>
                <a:spcPts val="1000"/>
              </a:spcAft>
              <a:defRPr sz="1800">
                <a:solidFill>
                  <a:srgbClr val="333333"/>
                </a:solidFill>
              </a:defRPr>
            </a:pPr>
            <a:r>
              <a:t>| Caster | +4.5° |</a:t>
            </a:r>
          </a:p>
          <a:p>
            <a:pPr>
              <a:spcAft>
                <a:spcPts val="1000"/>
              </a:spcAft>
              <a:defRPr sz="1800">
                <a:solidFill>
                  <a:srgbClr val="333333"/>
                </a:solidFill>
              </a:defRPr>
            </a:pPr>
            <a:r>
              <a:t>| Camber | -0.5° |</a:t>
            </a:r>
          </a:p>
          <a:p>
            <a:pPr>
              <a:spcAft>
                <a:spcPts val="1000"/>
              </a:spcAft>
              <a:defRPr sz="1800">
                <a:solidFill>
                  <a:srgbClr val="333333"/>
                </a:solidFill>
              </a:defRPr>
            </a:pPr>
            <a:r>
              <a:t>| Toe | 2 mm toe-in |</a:t>
            </a:r>
          </a:p>
          <a:p>
            <a:pPr>
              <a:spcAft>
                <a:spcPts val="1000"/>
              </a:spcAft>
              <a:defRPr sz="1800">
                <a:solidFill>
                  <a:srgbClr val="333333"/>
                </a:solidFill>
              </a:defRPr>
            </a:pPr>
            <a:r>
              <a:t>Instructor Narration:</a:t>
            </a:r>
          </a:p>
          <a:p>
            <a:pPr>
              <a:spcAft>
                <a:spcPts val="1000"/>
              </a:spcAft>
              <a:defRPr sz="1800">
                <a:solidFill>
                  <a:srgbClr val="333333"/>
                </a:solidFill>
              </a:defRPr>
            </a:pPr>
            <a:r>
              <a:t>This design balances maneuverability (5m turning radius), effort (easy parking with EPAS), stability (weighted feel at high speed), and cost (moderate motor size). It's typical of a modern, well-engineered compact sedan.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Summary &amp; Key Takeaways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recap what we've learned today.</a:t>
            </a:r>
          </a:p>
          <a:p>
            <a:pPr>
              <a:spcAft>
                <a:spcPts val="1000"/>
              </a:spcAft>
              <a:defRPr sz="1800">
                <a:solidFill>
                  <a:srgbClr val="333333"/>
                </a:solidFill>
              </a:defRPr>
            </a:pPr>
            <a:r>
              <a:t>PART 1: GEOMETRY</a:t>
            </a:r>
          </a:p>
          <a:p>
            <a:pPr>
              <a:spcAft>
                <a:spcPts val="1000"/>
              </a:spcAft>
              <a:defRPr sz="1800">
                <a:solidFill>
                  <a:srgbClr val="333333"/>
                </a:solidFill>
              </a:defRPr>
            </a:pPr>
            <a:r>
              <a:t>✅ Ackermann Steering solves the fundamental problem: inner and outer wheels must turn at different angles</a:t>
            </a:r>
          </a:p>
          <a:p>
            <a:pPr>
              <a:spcAft>
                <a:spcPts val="1000"/>
              </a:spcAft>
              <a:defRPr sz="1800">
                <a:solidFill>
                  <a:srgbClr val="333333"/>
                </a:solidFill>
              </a:defRPr>
            </a:pPr>
            <a:r>
              <a:t>✅ Turning radius R = L / tan(δ) - smaller wheelbase = tighter turns</a:t>
            </a:r>
          </a:p>
          <a:p>
            <a:pPr>
              <a:spcAft>
                <a:spcPts val="1000"/>
              </a:spcAft>
              <a:defRPr sz="1800">
                <a:solidFill>
                  <a:srgbClr val="333333"/>
                </a:solidFill>
              </a:defRPr>
            </a:pPr>
            <a:r>
              <a:t>✅ Ackermann equation: cot(δₒ) - cot(δᵢ) = t/L</a:t>
            </a:r>
          </a:p>
          <a:p>
            <a:pPr>
              <a:spcAft>
                <a:spcPts val="1000"/>
              </a:spcAft>
              <a:defRPr sz="1800">
                <a:solidFill>
                  <a:srgbClr val="333333"/>
                </a:solidFill>
              </a:defRPr>
            </a:pPr>
            <a:r>
              <a:t>PART 2: ALIGNMENT ANGLES</a:t>
            </a:r>
          </a:p>
          <a:p>
            <a:pPr>
              <a:spcAft>
                <a:spcPts val="1000"/>
              </a:spcAft>
              <a:defRPr sz="1800">
                <a:solidFill>
                  <a:srgbClr val="333333"/>
                </a:solidFill>
              </a:defRPr>
            </a:pPr>
            <a:r>
              <a:t>✅ Caster (+2° to +7°): Self-centering, straight-line stability</a:t>
            </a:r>
          </a:p>
          <a:p>
            <a:pPr>
              <a:spcAft>
                <a:spcPts val="1000"/>
              </a:spcAft>
              <a:defRPr sz="1800">
                <a:solidFill>
                  <a:srgbClr val="333333"/>
                </a:solidFill>
              </a:defRPr>
            </a:pPr>
            <a:r>
              <a:t>✅ Camber (-0.5° to -2°): Tire contact during cornering</a:t>
            </a:r>
          </a:p>
          <a:p>
            <a:pPr>
              <a:spcAft>
                <a:spcPts val="1000"/>
              </a:spcAft>
              <a:defRPr sz="1800">
                <a:solidFill>
                  <a:srgbClr val="333333"/>
                </a:solidFill>
              </a:defRPr>
            </a:pPr>
            <a:r>
              <a:t>✅ Toe (0-3 mm): Straight tracking, tire wear (most critical for alignment)</a:t>
            </a:r>
          </a:p>
          <a:p>
            <a:pPr>
              <a:spcAft>
                <a:spcPts val="1000"/>
              </a:spcAft>
              <a:defRPr sz="1800">
                <a:solidFill>
                  <a:srgbClr val="333333"/>
                </a:solidFill>
              </a:defRPr>
            </a:pPr>
            <a:r>
              <a:t>✅ KPI (5° to 15°): Self-centering, scrub radius control</a:t>
            </a:r>
          </a:p>
          <a:p>
            <a:pPr>
              <a:spcAft>
                <a:spcPts val="1000"/>
              </a:spcAft>
              <a:defRPr sz="1800">
                <a:solidFill>
                  <a:srgbClr val="333333"/>
                </a:solidFill>
              </a:defRPr>
            </a:pPr>
            <a:r>
              <a:t>PART 3: STEERING MECHANISMS</a:t>
            </a:r>
          </a:p>
          <a:p>
            <a:pPr>
              <a:spcAft>
                <a:spcPts val="1000"/>
              </a:spcAft>
              <a:defRPr sz="1800">
                <a:solidFill>
                  <a:srgbClr val="333333"/>
                </a:solidFill>
              </a:defRPr>
            </a:pPr>
            <a:r>
              <a:t>✅ Rack-and-Pinion: Simple, direct feel, compact (modern standard)</a:t>
            </a:r>
          </a:p>
          <a:p>
            <a:pPr>
              <a:spcAft>
                <a:spcPts val="1000"/>
              </a:spcAft>
              <a:defRPr sz="1800">
                <a:solidFill>
                  <a:srgbClr val="333333"/>
                </a:solidFill>
              </a:defRPr>
            </a:pPr>
            <a:r>
              <a:t>✅ Recirculating Ball: Strong, durable, smooth (heavy-duty applications)</a:t>
            </a:r>
          </a:p>
          <a:p>
            <a:pPr>
              <a:spcAft>
                <a:spcPts val="1000"/>
              </a:spcAft>
              <a:defRPr sz="1800">
                <a:solidFill>
                  <a:srgbClr val="333333"/>
                </a:solidFill>
              </a:defRPr>
            </a:pPr>
            <a:r>
              <a:t>✅ Steering Ratio: Trade-off between quick response and easy effort (typical: 14:1 to 16:1)</a:t>
            </a:r>
          </a:p>
          <a:p>
            <a:pPr>
              <a:spcAft>
                <a:spcPts val="1000"/>
              </a:spcAft>
              <a:defRPr sz="1800">
                <a:solidFill>
                  <a:srgbClr val="333333"/>
                </a:solidFill>
              </a:defRPr>
            </a:pPr>
            <a:r>
              <a:t>PART 4: POWER ASSIST</a:t>
            </a:r>
          </a:p>
          <a:p>
            <a:pPr>
              <a:spcAft>
                <a:spcPts val="1000"/>
              </a:spcAft>
              <a:defRPr sz="1800">
                <a:solidFill>
                  <a:srgbClr val="333333"/>
                </a:solidFill>
              </a:defRPr>
            </a:pPr>
            <a:r>
              <a:t>✅ Hydraulic (HPS): Engine-driven pump, good feedback, continuous energy use</a:t>
            </a:r>
          </a:p>
          <a:p>
            <a:pPr>
              <a:spcAft>
                <a:spcPts val="1000"/>
              </a:spcAft>
              <a:defRPr sz="1800">
                <a:solidFill>
                  <a:srgbClr val="333333"/>
                </a:solidFill>
              </a:defRPr>
            </a:pPr>
            <a:r>
              <a:t>✅ Electric (EPAS): Efficient, speed-sensitive, ADAS-ready, tunable</a:t>
            </a:r>
          </a:p>
          <a:p>
            <a:pPr>
              <a:spcAft>
                <a:spcPts val="1000"/>
              </a:spcAft>
              <a:defRPr sz="1800">
                <a:solidFill>
                  <a:srgbClr val="333333"/>
                </a:solidFill>
              </a:defRPr>
            </a:pPr>
            <a:r>
              <a:t>✅ Trend: EPAS is replacing hydraulic (80% of new cars)</a:t>
            </a:r>
          </a:p>
          <a:p>
            <a:pPr>
              <a:spcAft>
                <a:spcPts val="1000"/>
              </a:spcAft>
              <a:defRPr sz="1800">
                <a:solidFill>
                  <a:srgbClr val="333333"/>
                </a:solidFill>
              </a:defRPr>
            </a:pPr>
            <a:r>
              <a:t>PART 5: INTEGRATION</a:t>
            </a:r>
          </a:p>
          <a:p>
            <a:pPr>
              <a:spcAft>
                <a:spcPts val="1000"/>
              </a:spcAft>
              <a:defRPr sz="1800">
                <a:solidFill>
                  <a:srgbClr val="333333"/>
                </a:solidFill>
              </a:defRPr>
            </a:pPr>
            <a:r>
              <a:t>✅ Steering Feel: Combination of mechanical feedback and electronic simulation</a:t>
            </a:r>
          </a:p>
          <a:p>
            <a:pPr>
              <a:spcAft>
                <a:spcPts val="1000"/>
              </a:spcAft>
              <a:defRPr sz="1800">
                <a:solidFill>
                  <a:srgbClr val="333333"/>
                </a:solidFill>
              </a:defRPr>
            </a:pPr>
            <a:r>
              <a:t>✅ System Integration: Connected to ESC, ABS, ADAS, and other vehicle systems</a:t>
            </a:r>
          </a:p>
          <a:p>
            <a:pPr>
              <a:spcAft>
                <a:spcPts val="1000"/>
              </a:spcAft>
              <a:defRPr sz="1800">
                <a:solidFill>
                  <a:srgbClr val="333333"/>
                </a:solidFill>
              </a:defRPr>
            </a:pPr>
            <a:r>
              <a:t>✅ Advanced Features: Lane keeping, self-parking, autonomous driving (all enabled by EPAS)</a:t>
            </a:r>
          </a:p>
          <a:p>
            <a:pPr>
              <a:spcAft>
                <a:spcPts val="1000"/>
              </a:spcAft>
              <a:defRPr sz="1800">
                <a:solidFill>
                  <a:srgbClr val="333333"/>
                </a:solidFill>
              </a:defRPr>
            </a:pPr>
            <a:r>
              <a:t>Connection to Next Session:</a:t>
            </a:r>
          </a:p>
          <a:p>
            <a:pPr>
              <a:spcAft>
                <a:spcPts val="1000"/>
              </a:spcAft>
              <a:defRPr sz="1800">
                <a:solidFill>
                  <a:srgbClr val="333333"/>
                </a:solidFill>
              </a:defRPr>
            </a:pPr>
            <a:r>
              <a:t>We've covered braking (Session 10) and steering (Session 11). Next session, we'll complete the chassis dynamics trilogy with Suspension Systems.</a:t>
            </a:r>
          </a:p>
          <a:p>
            <a:pPr>
              <a:spcAft>
                <a:spcPts val="1000"/>
              </a:spcAft>
              <a:defRPr sz="1800">
                <a:solidFill>
                  <a:srgbClr val="333333"/>
                </a:solidFill>
              </a:defRPr>
            </a:pPr>
            <a:r>
              <a:t>Suspension controls how the wheels move vertically, manages load transfer (which we calculated in Session 9), and determines ride comfort vs handling balance. We'll apply spring-mass-damper physics, compare suspension types, and understand electronic suspension systems.</a:t>
            </a:r>
          </a:p>
          <a:p>
            <a:pPr>
              <a:spcAft>
                <a:spcPts val="1000"/>
              </a:spcAft>
              <a:defRPr sz="1800">
                <a:solidFill>
                  <a:srgbClr val="333333"/>
                </a:solidFill>
              </a:defRPr>
            </a:pPr>
            <a:r>
              <a:t>See you next time!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METADATA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Total Slides: 30</a:t>
            </a:r>
          </a:p>
          <a:p>
            <a:pPr>
              <a:spcAft>
                <a:spcPts val="1000"/>
              </a:spcAft>
              <a:defRPr sz="1800">
                <a:solidFill>
                  <a:srgbClr val="333333"/>
                </a:solidFill>
              </a:defRPr>
            </a:pPr>
            <a:r>
              <a:t>Lecture Duration: 90 minutes</a:t>
            </a:r>
          </a:p>
          <a:p>
            <a:pPr>
              <a:spcAft>
                <a:spcPts val="1000"/>
              </a:spcAft>
              <a:defRPr sz="1800">
                <a:solidFill>
                  <a:srgbClr val="333333"/>
                </a:solidFill>
              </a:defRPr>
            </a:pPr>
            <a:r>
              <a:t>Q&amp;A Duration: 30 minutes</a:t>
            </a:r>
          </a:p>
          <a:p>
            <a:pPr>
              <a:spcAft>
                <a:spcPts val="1000"/>
              </a:spcAft>
              <a:defRPr sz="1800">
                <a:solidFill>
                  <a:srgbClr val="333333"/>
                </a:solidFill>
              </a:defRPr>
            </a:pPr>
            <a:r>
              <a:t>Total Session Time: 120 minutes</a:t>
            </a:r>
          </a:p>
          <a:p>
            <a:pPr>
              <a:spcAft>
                <a:spcPts val="1000"/>
              </a:spcAft>
              <a:defRPr sz="1800">
                <a:solidFill>
                  <a:srgbClr val="333333"/>
                </a:solidFill>
              </a:defRPr>
            </a:pPr>
            <a:r>
              <a:t>Learning Outcome Coverage: — ✅ SO-3-11-1: Ackermann geometry calculations (Slides 3-6, Practice Problem)</a:t>
            </a:r>
          </a:p>
          <a:p>
            <a:pPr>
              <a:spcAft>
                <a:spcPts val="600"/>
              </a:spcAft>
              <a:defRPr sz="1800">
                <a:solidFill>
                  <a:srgbClr val="333333"/>
                </a:solidFill>
              </a:defRPr>
            </a:pPr>
            <a:r>
              <a:t>✅ SO-3-11-2: Turning radius calculations (Slides 5-7, Design Example)</a:t>
            </a:r>
          </a:p>
          <a:p>
            <a:pPr>
              <a:spcAft>
                <a:spcPts val="600"/>
              </a:spcAft>
              <a:defRPr sz="1800">
                <a:solidFill>
                  <a:srgbClr val="333333"/>
                </a:solidFill>
              </a:defRPr>
            </a:pPr>
            <a:r>
              <a:t>✅ SO-3-11-3: Steering geometry parameters (Slides 10-14)</a:t>
            </a:r>
          </a:p>
          <a:p>
            <a:pPr>
              <a:spcAft>
                <a:spcPts val="600"/>
              </a:spcAft>
              <a:defRPr sz="1800">
                <a:solidFill>
                  <a:srgbClr val="333333"/>
                </a:solidFill>
              </a:defRPr>
            </a:pPr>
            <a:r>
              <a:t>✅ SO-3-11-4: Steering mechanisms comparison and ratio calculation (Slides 15-19)</a:t>
            </a:r>
          </a:p>
          <a:p>
            <a:pPr>
              <a:spcAft>
                <a:spcPts val="600"/>
              </a:spcAft>
              <a:defRPr sz="1800">
                <a:solidFill>
                  <a:srgbClr val="333333"/>
                </a:solidFill>
              </a:defRPr>
            </a:pPr>
            <a:r>
              <a:t>✅ SO-3-11-5: Power steering systems (Slides 20-25)</a:t>
            </a:r>
          </a:p>
          <a:p>
            <a:pPr>
              <a:spcAft>
                <a:spcPts val="600"/>
              </a:spcAft>
              <a:defRPr sz="1800">
                <a:solidFill>
                  <a:srgbClr val="333333"/>
                </a:solidFill>
              </a:defRPr>
            </a:pPr>
            <a:r>
              <a:t>✅ SO-3-11-6: Steering feedback and feel (Slides 26-27)</a:t>
            </a:r>
          </a:p>
          <a:p>
            <a:pPr>
              <a:spcAft>
                <a:spcPts val="1000"/>
              </a:spcAft>
              <a:defRPr sz="1800">
                <a:solidFill>
                  <a:srgbClr val="333333"/>
                </a:solidFill>
              </a:defRPr>
            </a:pPr>
            <a:r>
              <a:t>Worked Examples: 3</a:t>
            </a:r>
          </a:p>
          <a:p>
            <a:pPr>
              <a:spcAft>
                <a:spcPts val="600"/>
              </a:spcAft>
              <a:defRPr sz="1800">
                <a:solidFill>
                  <a:srgbClr val="333333"/>
                </a:solidFill>
              </a:defRPr>
            </a:pPr>
            <a:r>
              <a:t>Ackermann geometry and turning radius calculation (Slide 6)</a:t>
            </a:r>
          </a:p>
          <a:p>
            <a:pPr>
              <a:spcAft>
                <a:spcPts val="600"/>
              </a:spcAft>
              <a:defRPr sz="1800">
                <a:solidFill>
                  <a:srgbClr val="333333"/>
                </a:solidFill>
              </a:defRPr>
            </a:pPr>
            <a:r>
              <a:t>Steering ratio calculation (Slide 19)</a:t>
            </a:r>
          </a:p>
          <a:p>
            <a:pPr>
              <a:spcAft>
                <a:spcPts val="600"/>
              </a:spcAft>
              <a:defRPr sz="1800">
                <a:solidFill>
                  <a:srgbClr val="333333"/>
                </a:solidFill>
              </a:defRPr>
            </a:pPr>
            <a:r>
              <a:t>Complete steering system design (Slide 29)</a:t>
            </a:r>
          </a:p>
          <a:p>
            <a:pPr>
              <a:spcAft>
                <a:spcPts val="1000"/>
              </a:spcAft>
              <a:defRPr sz="1800">
                <a:solidFill>
                  <a:srgbClr val="333333"/>
                </a:solidFill>
              </a:defRPr>
            </a:pPr>
            <a:r>
              <a:t>Practice Problems: 1</a:t>
            </a:r>
          </a:p>
          <a:p>
            <a:pPr>
              <a:spcAft>
                <a:spcPts val="600"/>
              </a:spcAft>
              <a:defRPr sz="1800">
                <a:solidFill>
                  <a:srgbClr val="333333"/>
                </a:solidFill>
              </a:defRPr>
            </a:pPr>
            <a:r>
              <a:t>Turning radius comparison SUV vs sedan (Slide 7)</a:t>
            </a:r>
          </a:p>
          <a:p>
            <a:pPr>
              <a:spcAft>
                <a:spcPts val="1000"/>
              </a:spcAft>
              <a:defRPr sz="1800">
                <a:solidFill>
                  <a:srgbClr val="333333"/>
                </a:solidFill>
              </a:defRPr>
            </a:pPr>
            <a:r>
              <a:t>Key Formulas:</a:t>
            </a:r>
          </a:p>
          <a:p>
            <a:pPr>
              <a:spcAft>
                <a:spcPts val="600"/>
              </a:spcAft>
              <a:defRPr sz="1800">
                <a:solidFill>
                  <a:srgbClr val="333333"/>
                </a:solidFill>
              </a:defRPr>
            </a:pPr>
            <a:r>
              <a:t>Ackermann: cot(δₒ) - cot(δᵢ) = t/L</a:t>
            </a:r>
          </a:p>
          <a:p>
            <a:pPr>
              <a:spcAft>
                <a:spcPts val="600"/>
              </a:spcAft>
              <a:defRPr sz="1800">
                <a:solidFill>
                  <a:srgbClr val="333333"/>
                </a:solidFill>
              </a:defRPr>
            </a:pPr>
            <a:r>
              <a:t>Turning radius: R = L / tan(δ_avg)</a:t>
            </a:r>
          </a:p>
          <a:p>
            <a:pPr>
              <a:spcAft>
                <a:spcPts val="600"/>
              </a:spcAft>
              <a:defRPr sz="1800">
                <a:solidFill>
                  <a:srgbClr val="333333"/>
                </a:solidFill>
              </a:defRPr>
            </a:pPr>
            <a:r>
              <a:t>Steering ratio: θSW / δwheel</a:t>
            </a:r>
          </a:p>
          <a:p>
            <a:pPr>
              <a:spcAft>
                <a:spcPts val="600"/>
              </a:spcAft>
              <a:defRPr sz="1800">
                <a:solidFill>
                  <a:srgbClr val="333333"/>
                </a:solidFill>
              </a:defRPr>
            </a:pPr>
            <a:r>
              <a:t>Mechanical trail: Caster angle × Tire radius</a:t>
            </a:r>
          </a:p>
          <a:p>
            <a:pPr>
              <a:spcAft>
                <a:spcPts val="1000"/>
              </a:spcAft>
              <a:defRPr sz="1800">
                <a:solidFill>
                  <a:srgbClr val="333333"/>
                </a:solidFill>
              </a:defRPr>
            </a:pPr>
            <a:r>
              <a:t>Visual Requirements: — Geometric diagrams (Ackermann, turning radius) - minimum 6 slides</a:t>
            </a:r>
          </a:p>
          <a:p>
            <a:pPr>
              <a:spcAft>
                <a:spcPts val="600"/>
              </a:spcAft>
              <a:defRPr sz="1800">
                <a:solidFill>
                  <a:srgbClr val="333333"/>
                </a:solidFill>
              </a:defRPr>
            </a:pPr>
            <a:r>
              <a:t>Component cutaways (rack-and-pinion, recirculating ball) - 2 slides</a:t>
            </a:r>
          </a:p>
          <a:p>
            <a:pPr>
              <a:spcAft>
                <a:spcPts val="600"/>
              </a:spcAft>
              <a:defRPr sz="1800">
                <a:solidFill>
                  <a:srgbClr val="333333"/>
                </a:solidFill>
              </a:defRPr>
            </a:pPr>
            <a:r>
              <a:t>System integration diagrams - 3 slides</a:t>
            </a:r>
          </a:p>
          <a:p>
            <a:pPr>
              <a:spcAft>
                <a:spcPts val="600"/>
              </a:spcAft>
              <a:defRPr sz="1800">
                <a:solidFill>
                  <a:srgbClr val="333333"/>
                </a:solidFill>
              </a:defRPr>
            </a:pPr>
            <a:r>
              <a:t>Graphs (EPAS assist curve) - 1 slide</a:t>
            </a:r>
          </a:p>
          <a:p>
            <a:pPr>
              <a:spcAft>
                <a:spcPts val="600"/>
              </a:spcAft>
              <a:defRPr sz="1800">
                <a:solidFill>
                  <a:srgbClr val="333333"/>
                </a:solidFill>
              </a:defRPr>
            </a:pPr>
            <a:r>
              <a:t>Comparison tables - 2 slides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Pacing Tips: — Ackermann geometry (Slides 3-6): Take your time. This is the most mathematically intensive part. Use board drawings if needed.</a:t>
            </a:r>
          </a:p>
          <a:p>
            <a:pPr>
              <a:spcAft>
                <a:spcPts val="600"/>
              </a:spcAft>
              <a:defRPr sz="1800">
                <a:solidFill>
                  <a:srgbClr val="333333"/>
                </a:solidFill>
              </a:defRPr>
            </a:pPr>
            <a:r>
              <a:t>Alignment angles (Slides 11-14): Students find this interesting (connects to "wheel alignment" they've heard about at tire shops). Encourage questions.</a:t>
            </a:r>
          </a:p>
          <a:p>
            <a:pPr>
              <a:spcAft>
                <a:spcPts val="600"/>
              </a:spcAft>
              <a:defRPr sz="1800">
                <a:solidFill>
                  <a:srgbClr val="333333"/>
                </a:solidFill>
              </a:defRPr>
            </a:pPr>
            <a:r>
              <a:t>Steering mechanisms (Slides 16-17): Physical props (rack-and-pinion cutaway model) are very helpful if available.</a:t>
            </a:r>
          </a:p>
          <a:p>
            <a:pPr>
              <a:spcAft>
                <a:spcPts val="600"/>
              </a:spcAft>
              <a:defRPr sz="1800">
                <a:solidFill>
                  <a:srgbClr val="333333"/>
                </a:solidFill>
              </a:defRPr>
            </a:pPr>
            <a:r>
              <a:t>EPAS vs Hydraulic (Slides 21-24): Students have strong opinions (especially car enthusiasts who prefer hydraulic feel). Acknowledge both perspectives.</a:t>
            </a:r>
          </a:p>
          <a:p>
            <a:pPr>
              <a:spcAft>
                <a:spcPts val="1000"/>
              </a:spcAft>
              <a:defRPr sz="1800">
                <a:solidFill>
                  <a:srgbClr val="333333"/>
                </a:solidFill>
              </a:defRPr>
            </a:pPr>
            <a:r>
              <a:t>Common Student Questions:</a:t>
            </a:r>
          </a:p>
          <a:p>
            <a:pPr>
              <a:spcAft>
                <a:spcPts val="600"/>
              </a:spcAft>
              <a:defRPr sz="1800">
                <a:solidFill>
                  <a:srgbClr val="333333"/>
                </a:solidFill>
              </a:defRPr>
            </a:pPr>
            <a:r>
              <a:t>"Why do race cars sometimes use less Ackermann or even anti-Ackermann?</a:t>
            </a:r>
          </a:p>
          <a:p>
            <a:pPr>
              <a:spcAft>
                <a:spcPts val="600"/>
              </a:spcAft>
              <a:defRPr sz="1800">
                <a:solidFill>
                  <a:srgbClr val="333333"/>
                </a:solidFill>
              </a:defRPr>
            </a:pPr>
            <a:r>
              <a:t>Answer: At high cornering speeds, outer tire is loaded more heavily and needs more slip angle to generate force. Anti-Ackermann compensates for this.</a:t>
            </a:r>
          </a:p>
          <a:p>
            <a:pPr>
              <a:spcAft>
                <a:spcPts val="600"/>
              </a:spcAft>
              <a:defRPr sz="1800">
                <a:solidFill>
                  <a:srgbClr val="333333"/>
                </a:solidFill>
              </a:defRPr>
            </a:pPr>
            <a:r>
              <a:t>"Can you adjust caster at home?</a:t>
            </a:r>
          </a:p>
          <a:p>
            <a:pPr>
              <a:spcAft>
                <a:spcPts val="600"/>
              </a:spcAft>
              <a:defRPr sz="1800">
                <a:solidFill>
                  <a:srgbClr val="333333"/>
                </a:solidFill>
              </a:defRPr>
            </a:pPr>
            <a:r>
              <a:t>Answer: On most modern cars, no (requires special bolts or suspension modification). Only camber and toe are adjustable during regular alignment.</a:t>
            </a:r>
          </a:p>
          <a:p>
            <a:pPr>
              <a:spcAft>
                <a:spcPts val="600"/>
              </a:spcAft>
              <a:defRPr sz="1800">
                <a:solidFill>
                  <a:srgbClr val="333333"/>
                </a:solidFill>
              </a:defRPr>
            </a:pPr>
            <a:r>
              <a:t>"Why does my car's steering feel different than my friend's car?</a:t>
            </a:r>
          </a:p>
          <a:p>
            <a:pPr>
              <a:spcAft>
                <a:spcPts val="600"/>
              </a:spcAft>
              <a:defRPr sz="1800">
                <a:solidFill>
                  <a:srgbClr val="333333"/>
                </a:solidFill>
              </a:defRPr>
            </a:pPr>
            <a:r>
              <a:t>Answer: Steering ratio, assist tuning, tire size, and alignment all contribute. Manufacturers tune for different philosophies (comfort vs sport).</a:t>
            </a:r>
          </a:p>
          <a:p>
            <a:pPr>
              <a:spcAft>
                <a:spcPts val="600"/>
              </a:spcAft>
              <a:defRPr sz="1800">
                <a:solidFill>
                  <a:srgbClr val="333333"/>
                </a:solidFill>
              </a:defRPr>
            </a:pPr>
            <a:r>
              <a:t>"What happens if power steering fails completely?</a:t>
            </a:r>
          </a:p>
          <a:p>
            <a:pPr>
              <a:spcAft>
                <a:spcPts val="600"/>
              </a:spcAft>
              <a:defRPr sz="1800">
                <a:solidFill>
                  <a:srgbClr val="333333"/>
                </a:solidFill>
              </a:defRPr>
            </a:pPr>
            <a:r>
              <a:t>Answer: You revert to manual steering. Very heavy (especially at low speed), but functional. Modern cars have warning lights and fail-safe modes.</a:t>
            </a:r>
          </a:p>
          <a:p>
            <a:pPr>
              <a:spcAft>
                <a:spcPts val="1000"/>
              </a:spcAft>
              <a:defRPr sz="1800">
                <a:solidFill>
                  <a:srgbClr val="333333"/>
                </a:solidFill>
              </a:defRPr>
            </a:pPr>
            <a:r>
              <a:t>Engagement Strategies: — Ask students to estimate their own car's turning radius (most don't know—use this to motivate the calculations)</a:t>
            </a:r>
          </a:p>
          <a:p>
            <a:pPr>
              <a:spcAft>
                <a:spcPts val="600"/>
              </a:spcAft>
              <a:defRPr sz="1800">
                <a:solidFill>
                  <a:srgbClr val="333333"/>
                </a:solidFill>
              </a:defRPr>
            </a:pPr>
            <a:r>
              <a:t>Demonstrate caster self-centering with a shopping cart wheel (if available)</a:t>
            </a:r>
          </a:p>
          <a:p>
            <a:pPr>
              <a:spcAft>
                <a:spcPts val="600"/>
              </a:spcAft>
              <a:defRPr sz="1800">
                <a:solidFill>
                  <a:srgbClr val="333333"/>
                </a:solidFill>
              </a:defRPr>
            </a:pPr>
            <a:r>
              <a:t>Show video of lane keeping assist in action (students are fascinated by ADAS)</a:t>
            </a:r>
          </a:p>
          <a:p>
            <a:pPr>
              <a:spcAft>
                <a:spcPts val="1000"/>
              </a:spcAft>
              <a:defRPr sz="1800">
                <a:solidFill>
                  <a:srgbClr val="333333"/>
                </a:solidFill>
              </a:defRPr>
            </a:pPr>
            <a:r>
              <a:t>Prerequisite Check: — Ensure students remember lateral forces from Session 9 (needed for self-aligning torque discussion)</a:t>
            </a:r>
          </a:p>
          <a:p>
            <a:pPr>
              <a:spcAft>
                <a:spcPts val="600"/>
              </a:spcAft>
              <a:defRPr sz="1800">
                <a:solidFill>
                  <a:srgbClr val="333333"/>
                </a:solidFill>
              </a:defRPr>
            </a:pPr>
            <a:r>
              <a:t>Remind students of Pascal's Principle from Session 10 (hydraulic systems use same principle as brakes)</a:t>
            </a:r>
          </a:p>
          <a:p>
            <a:pPr>
              <a:spcAft>
                <a:spcPts val="600"/>
              </a:spcAft>
              <a:defRPr sz="1800">
                <a:solidFill>
                  <a:srgbClr val="333333"/>
                </a:solidFill>
              </a:defRPr>
            </a:pPr>
            <a:r>
              <a:t>Check understanding of trigonometry (tan, cot, arctan) before Ackermann calculations</a:t>
            </a:r>
          </a:p>
          <a:p>
            <a:pPr>
              <a:spcAft>
                <a:spcPts val="1000"/>
              </a:spcAft>
              <a:defRPr sz="1800">
                <a:solidFill>
                  <a:srgbClr val="333333"/>
                </a:solidFill>
              </a:defRPr>
            </a:pPr>
            <a:r>
              <a:t>Safety Emphasis: — Never adjust alignment parameters yourself unless trained (affects safety and tire wear)</a:t>
            </a:r>
          </a:p>
          <a:p>
            <a:pPr>
              <a:spcAft>
                <a:spcPts val="600"/>
              </a:spcAft>
              <a:defRPr sz="1800">
                <a:solidFill>
                  <a:srgbClr val="333333"/>
                </a:solidFill>
              </a:defRPr>
            </a:pPr>
            <a:r>
              <a:t>If steering feels different after hitting a curb/pothole, get alignment checked immediately</a:t>
            </a:r>
          </a:p>
          <a:p>
            <a:pPr>
              <a:spcAft>
                <a:spcPts val="600"/>
              </a:spcAft>
              <a:defRPr sz="1800">
                <a:solidFill>
                  <a:srgbClr val="333333"/>
                </a:solidFill>
              </a:defRPr>
            </a:pPr>
            <a:r>
              <a:t>Power steering fluid leaks can cause sudden loss of assist (dangerous in emergency maneuvers)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11 FRAMEWORK</a:t>
            </a:r>
          </a:p>
          <a:p>
            <a:pPr>
              <a:spcAft>
                <a:spcPts val="1000"/>
              </a:spcAft>
              <a:defRPr sz="1800">
                <a:solidFill>
                  <a:srgbClr val="333333"/>
                </a:solidFill>
              </a:defRPr>
            </a:pPr>
            <a:r>
              <a:t>This framework is ready for PowerPoint conversion. Each slide description includes visual guidance, instructor narration, and technical content for professional slide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