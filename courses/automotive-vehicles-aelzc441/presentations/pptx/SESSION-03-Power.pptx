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3: From Forces to Power Requirements'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From Forces to Power Requirements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3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3. Today is special. Today, everything we've learned comes together, and you'll understand exactly how engineers size powertrains.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Story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tell you where we've been: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We calculated the forces resisting vehicle motion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Rolling resistance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Aerodynamic drag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Gradient resistance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can now tell me exactly how much force any vehicle needs in any scenario.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We learned how tires generate force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 = μN (the friction equation)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circle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understand the maximum force tires can provide.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we left a critical question unanswered...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Design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real engineering challenge. You're designing a new SUV: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Mass: 2,000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 target: 180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0-100 km/h target: 8 seconds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climb 15% grade at 60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Question: How much power does the engine need?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Today, I'm going to show you how to calculate the exact answer. No guessing, no rules of thumb - just physics and math.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Understanding Torque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First, let's be clear about what torque is. You know force (F, in Newtons). Torque (τ, tau) is force applied at a distance from rotation point.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= Force × Distance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 more specifically for wheels: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 = F × 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 = torque (N⋅m)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 = force at tire contact patch (N)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 = wheel radius (m)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why this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Wheel as a Lever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of the wheel as a lever. The axle applies torque at the center. This creates force at the circumference (where tire touches road).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diagram]: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at axle (τ)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Radius (r)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at contact patch (F)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Relationship: F = τ/r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 rearranged: τ = F × 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Bigger wheel (larger r) needs more torque for same force. That's why off-road trucks with huge tires need more torque.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Example - Calculating Required Wheel Torque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 to our Honda Civic from Session 1. Remember: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100 km/h on flat road: F_total = 465 N (rolling + drag)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r = 0.32 m (typical for 16" wheel + tire)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Required torque at ONE wheel (4-wheel drive):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 = F × r = (465/4) × 0.32 = 37.2 N⋅m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rear-wheel drive (power to 2 wheels):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 = (465/2) × 0.32 = 74.4 N⋅m per rear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wheel torque needed to maintain 100 km/h.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Practice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turn. Calculate wheel torque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mass: 1,500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Climbing 5% grade at constant 80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4-wheel drive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0.35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Assume: Frolling = 180 N, Fdrag = 200 N, F_gradient = 736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[Pause for calculation]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F_total = 180 + 200 + 736 = 1,116 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 per wheel = (1,116/4) × 0.35 = 97.7 N⋅m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Good. Now let's connect this to engine torque.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Transmission Multiplies Torque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key: Engine doesn't directly drive wheels. Transmission sits in between and multiplies torque.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Simple relationship: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τwheel = τengine × G_total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G_total = gear ratio × final drive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If G_total = 10: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torque = 200 N⋅m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torque = 200 × 10 = 2,000 N⋅m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We'll cover transmissions in detail in Sessions 7-8. For now, know that we can multiply engine torque through gearing.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Implication: Smaller engines can move heavy vehicles if transmission ratios are right.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Torque to Power Conversion (Slides 11-16, ~20 minutes)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is Power?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tells us force capability at a wheel. But torque doesn't include speed. That's where power comes in.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= How fast you can do 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rotational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τ × 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 = power (Watts)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 = torque (N⋅m)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ω (omega) = angular velocity (rad/s)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Or, if you have RPM instead: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(τ × N) / 9,549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N = rotational speed in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why this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Understanding the Power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Look at this graph. If engine maintains 200 N⋅m of torque: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1,000 RPM: P = (200 × 1,000) / 9,549 = 20.9 kW — At 3,000 RPM: P = (200 × 3,000) / 9,549 = 62.8 kW — At 5,000 RPM: P = (200 × 5,000) / 9,549 = 104.7 kW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Same torque, different power!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RPM = high power (sports cars)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torque at low RPM = good for acceleration (diesel engines, electric motors)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and torque are related but different.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Converting Linear to Rotational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need to connect linear motion (vehicle speed) to rotational motion (wheel speed).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Linear velocity to angular velocity: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 = v / 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 = linear velocity (m/s)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 = wheel radius (m)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ω = angular velocity (rad/s)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100 km/h (27.8 m/s) with 0.32 m radius wheel: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 = 27.8 / 0.32 = 86.9 rad/s = 830 RPM (at the wheel)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transmission ratio is 5:1, engine spins at 4,150 RPM.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Power Requirement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calculate power needed for our Honda Civic at 100 km/h: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F_total = 465 N (from Session 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 = 27.8 m/s (100 km/h)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1 - Direct: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F × 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465 × 27.8 = 12,927 W = 12.9 kW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Method 2 - Through torque: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τ_wheel = 465 × 0.32 = 148.8 N⋅m (for RWD)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ω_wheel = 27.8 / 0.32 = 86.9 rad/s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τ × ω = 148.8 × 86.9 = 12,933 W ≈ 12.9 kW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 methods give the same answer (as they must!).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power just to maintain 100 km/h. To accelerate, we need more.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Accounting for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Real-world complication: Not all engine power reaches the wheels.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Drivetrain losses: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friction: ~5-15%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friction: ~2-5%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losses: ~15-20% for manual, ~20-25% for automatic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Efficiency factor (η):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Pengine = Pwheel / η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our Civic (manual transmission, η = 0.85):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P_engine = 12.9 kW / 0.85 = 15.2 kW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 we need ~15 kW of engine power just to cruise at 100 km/h on flat road.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Cars Have Much More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we only need 15 kW to cruise, why do cars have 80-150 kW engines?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Because we also need power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Acceleration (much higher forces)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Hill climbing (gradient resistance)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Passing maneuvers (quick acceleration at highway speeds)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Air conditioning (can use 2-5 kW)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Reserve (don't want to run engine at 100% continuously)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acceleration calculations.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Performance Calculations (Slides 17-24, ~20 minutes)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Acceleration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During acceleration, we need force for: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Overcoming resistance (rolling + drag)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Accelerating the mass (F = ma)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force needed: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Ftotal = Fresistance + ma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 = vehicle mass (kg)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 = desired acceleration (m/s²)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Higher acceleration = more force = more torque = more power.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Example - 0-100 km/h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calculate 0-100 km/h time for Honda Civic (simplified):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Assumptions: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Mass: 1,300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Available power: 80 kW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Ignore changing resistance (simplification)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Assume average force during acceleration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Convert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v_final = 100 km/h = 27.8 m/s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Calculate average power during acceleration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Assuming average speed = 50 km/h = 13.9 m/s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Favailable = P / vavg = 80,000 / 13.9 = 5,755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Account for resistance (estimate)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Fresistanceavg = 250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F_net = 5,755 - 250 = 5,505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Calculate acceleration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= F/m = 5,505 / 1,300 = 4.23 m/s²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Calculate time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 = v / a = 27.8 / 4.23 = 6.6 seconds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Real-world: ~8-9 seconds (our simplifications were optimistic). But this shows the method!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Maximum Gradeability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Another performance metric: Gradeability — steepest hill the vehicle can climb.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the limit: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Favailable = Frolling + F_gradient (ignore drag at low speed)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maximum grade: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Fgradient = Favailable - F_rolling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mg sin(θmax) = (P/v) - Crr × mg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(Civic at 60 km/h = 16.7 m/s):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F_available = 80,000 / 16.7 = 4,790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F_rolling = 0.012 × 12,753 = 153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F_gradient = 4,790 - 153 = 4,637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sin(θ_max) = 4,637 / 12,753 = 0.364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θ_max = 21.3 degrees = 39% grade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steep! Real-world lower due to other factors, but shows potential.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Maximum Speed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speed occurs when all available power is consumed by resistance: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Pavailable = Ftotal × v_max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 Ftotal = Frolling + F_drag (ignore gradient on flat road)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Problem: F_drag depends on v² which we're solving for!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Iterative or algebraic solving.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our Civic with 80 kW power (simplified):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iterative approach or use quadratic solution]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v_max ≈ 185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(Real Honda Civic: ~195 km/h - our assumptions were conservative)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Power-to-Weight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useful metric: Power-to-Weight Ratio (kW/kg or hp/ton)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Honda Civic: 80 kW / 1,300 kg = 0.062 kW/kg = 62 W/kg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Comparison: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Economy car: 40-60 W/kg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Sports car: 100-150 W/kg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Supercar: 200-300 W/kg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Formula 1: 800+ W/kg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Higher ratio = better acceleration, higher top speed.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estimate: For every 10 W/kg increase, 0-100 km/h improves by ~0.5-1 second.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Electric vs IC Engine Power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Quick note on electric motors vs IC engines: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IC Engine: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peaks at specific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use gears to match torque to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Electric Motor: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torque from 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Constant power across wide speed range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EVs accelerate so well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 ultimately limited by: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Tire friction (Session 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Available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We'll revisit in Session 8.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Practice Problem - Design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challenge: Delivery van specification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Mass (loaded): 2,500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top speed: 120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0-100 km/h: &lt;15 seconds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climb 12% grade at 40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Task: Calculate minimum power requirement.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Consider: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Resistance forces at top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Acceleration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Hill climbing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Take the maximum of these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[Work through together or assign as homework]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Force → Torque → Power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complete chain we've built over three sessions: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FORCES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Ftotal = Frolling + Fdrag + Fgradient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FRICTION LIMIT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F_max = μ × N (tire limit)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 (Today): TORQUE &amp;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 = F × r (force to torque)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τ × ω = F × v (power requirement)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From this, we can calculate: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engine power for any performance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acceleration, top speed, gradeability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ratios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now have the complete physics of vehicle motion and performance.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Summary of Key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reference card: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Force to Torque: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 = F × 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to Power: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 = τ × ω (rad/s)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 = (τ × N) / 9,549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 = F × v (linear)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 Metrics: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Acceleration: a = (P/v - F_resistance) /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speed: Solve P = Ftotal × vmax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Gradeability: sin(θmax) = (P/v - Frolling) / mg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Power-to-Weight: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P/m (kW/kg or W/kg)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equations solve most vehicle performance questions.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Foundation Module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Congratulations. You've completed the foundation module.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You learned to calculate resistance forces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You learned tire force generation limits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You learned power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total resistance for any driving scenario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 maximum forces tires can provide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Specify power requirements for any vehicle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physics foundation for everything else in automotive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Starting next session, we'll explore how vehicles actually generate and deliver this power. But you already understand why they need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Comprehensive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Major Assignment (combines all three sessions):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Choose a real vehicle (provide specifications). Calculate: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resistance at 60, 100, and 140 km/h on flat road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friction force available (all tires, dry road)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required to maintain each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Predicted 0-100 km/h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gradeability at 60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Theoretical top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Compare your calculations to published specifications. Discuss differences.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Due: Beginning of Session 5 (you have one session break).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shows you can apply everything we've learned.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Q&amp;A and 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questions. Also, preview of what's coming: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2 (Sessions 4-8): Powertrain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engines generate torque?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we keep them cool and lubricated?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transmissions multiply torque?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3 (Sessions 9-12): Chassis Dynamics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dynamics in detail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Braking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and suspension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for today, let's discuss what we covered. What questions do you have?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Include: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Equation-heavy slides: Use large, clear fonts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 slides: Step-by-step reveal with build animations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Graphs: Power vs speed, torque vs speed (reference for comparisons)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3 (Missing link) - Sets up the session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14 (Power calculation) - Core method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(Complete chain) - Integration of all three sessions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27 (Equation summary) - Students will photograph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Build the complete chain step-by-step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 slides: Reveal answers after pause for student work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Animate different vehicle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Actual vehicle specs: Use real examples (Honda Civic, Ford F-150,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Power-to-weight ratios across vehicle classes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graphs: Show how power affects performance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Critical Success Factor: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focus: Constantly reference Sessions 1 &amp; 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Practical emphasis: Every equation applied immediately to real examples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Building confidence: "You can now calculate what engineers calculate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Transition moment: End of foundation, beginning of systems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Unit conversions: km/h ↔ m/s, kW ↔ W - practice extensively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vs Power: Emphasize they're related but different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Simplified vs real calculations: Acknowledge approximations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17-24 (Performance): This is the meat - don't rush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condense Slide 22 (EV vs IC) if time is tight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Ensure time for Slide 25 (integration) - it's the payoff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9, 23: Student calculation opportunities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Discuss real vehicles they know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29: Can start assignment discussion in class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must leave feeling they've achieved mastery. This is the end of foundation - they should feel confident about their ability to apply physics and math to automotive problems.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Convert force to torque (τ = F × 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power from torque and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Determine power requirements for any scenario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0-100 km/h time, top speed, gradeability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Understand complete force → torque → power chain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that vehicle performance is quantifiable — not magic, not guesswork, but physics and mathematics they can apply.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Emotional outcome: Students should feel empowered and confident entering the next module. The hardest conceptual work is done.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Framework - Foundation Module Complete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Template for remaining sessions + Example (Session 4: IC Engines)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