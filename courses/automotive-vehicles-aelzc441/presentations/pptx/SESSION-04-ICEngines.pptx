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4: Introduction to IC Engines (Simplified)'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Introduction to IC Engines (Simplified)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4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4. Today we transition from understanding what power a vehicle needs to understanding how we generate that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Previous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connect the dots from the past three sessions: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We calculated the forces a vehicle must overcome – rolling resistance, drag, gradient forces.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We learned about tires and friction – the interface that delivers force to the road.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3: We calculated power requirements – we know exactly how much power a vehicle needs to accelerate, climb hills, reach top speed.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question: Where does that power come from?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Fundamental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 about this for a moment. You pull up to a petrol station and pump liquid fuel into your tank. Minutes later, your wheels are spinning at 1000 RPM, delivering torque to the road.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does chemical energy in liquid fuel become rotational mechanical energy at the wheels?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answer is the Internal Combustion Engine – and today, I want to show you how it works, not as a thermodynamics problem, but as a mechanical torque-generating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why understanding engines matters for automotive electronics engineers: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 engines are controlled entirely by electronics (ECU, sensors, actuators)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can't design engine control systems without understanding what you're controlling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Performance, fuel efficiency, emissions – all depend on engine operation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here's the good news: You don't need to be a thermodynamics expert. You need to understand the mechanical operation and what the electronics must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give you a concrete example. This is the engine from a Honda Civic: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Engine: 1.5L 4-cylinder petrol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Power: 127 PS @ 6600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Torque: 145 Nm @ 4600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Questions: — What do these numbers actually mean?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does maximum torque occur at 4600 RPM but maximum power at 6600 RPM?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this engine deliver the 30-40 kW we calculated you need for highway cruising?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the end of today, these specifications will make complete sense to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an Internal Combustion Engine?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its most basic level, an IC engine is a device that: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Takes in fuel and air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Burns them inside a cylinder (that's why 'internal' combustion)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Converts the expanding gas pressure into mechanical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 rotational torque at a 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 of it as an energy converter: Chemical energy (fuel) → Thermal energy (combustion) → Mechanical energy (rotation).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 focus on step 3 and 4 – the mechanics. Thermodynamics comes much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Core Principle – Pressure Pushing Piston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fundamental principle: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fuel-air mixture burns inside a sealed cylinder, it creates high pressure gas. This pressure pushes a piston downward. The piston is connected to a crankshaft via a connecting rod.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animation]: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pushes piston DOWN (linear motion)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pushes connecting rod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Connecting rod rotates crankshaft (rotational motion)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Linear motion → Rotational motion – that's the magic.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From Piston to Wheels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connect this back to what you already know from Session 3: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3: You learned F = τ/r and P = τω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engine creates torque (τ) at the crankshaft. This torque flows through: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(changes torque/speed ratio)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And ultimately creates the force at the tire contact patch that overcomes resistance and accelerates the vehicle.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focus: How does the engine create that torque?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Engine as 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think of the engine as a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Inputs: — Fuel (petrol or diesel)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Spark (for petrol engines) or Compression (for diesel)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Outputs: — Mechanical Torque (what we want!)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Heat (needs cooling – Session 5 next week)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Exhaust gases (emissions control – Session 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Control: ECU controls fuel, air, spark timing (Sessions 13-15)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Everything is interconnected.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Major Engine Components (Slides 12-16, ~15 minutes)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Main Players – Components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 IC engine has many parts, but today we focus on the essential mechanical components. Let me introduce them: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Cylinder – The chamber where combustion happens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– Moves up and down inside the cylinder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Connecting Rod – Links piston to crankshaft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Crankshaft – Converts linear to rotational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Valves – Control air/fuel intake and exhaust exit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Camshaft – Opens and closes valves at right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examine each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Cylinder and Piston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Cylinder: — A precisely machined tube (typically cast iron or aluminum)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Sealed at the top by the cylinder head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Houses the piston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Piston: — Fits snugly inside cylinder with piston rings for sealing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Moves up and down (reciprocating motion)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Connected to connecting rod via piston pin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point: The space above the piston is the combustion chamber – where the magic happens.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Connecting Rod and Crankshaft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where linear motion becomes rotation: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Connecting Rod (Con-Rod): — Small end connects to piston (piston pin)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Big end connects to crankshaft (crankpin)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Transmits force from piston to crankshaft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Crankshaft: — Converts reciprocating motion to rotational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Like your bicycle pedal crank – your leg goes up/down, crank rotates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Has offset 'throws' (crankpins) where con-rods attach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animation]: As piston moves down, con-rod pushes crankpin in circular path → shaft rotates.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Valves and Camshaft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Valves control what goes in and out of the cylinder: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Intake Valve: — Opens to let air-fuel mixture into cylinder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Closes during compression and combustion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Exhaust Valve: — Opens to let burnt gases exit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Closed during intake, compression, and power stroke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Camshaft: — Driven by crankshaft (via timing belt or chain)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Has lobes that push on valve 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Opens/closes valves at precisely the right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Timing is critical – if valves open at wrong time, engine won't work!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Putting It All Together – Engine Block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how everything 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Block – Main structure, houses cylinders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Cylinder Head – Bolted on top, contains valves and combustion chamber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Crankcase – Bottom part of block, houses crankshaft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Pan (Sump) – Underneath, stores engine oil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cars typically have 3, 4, or 6 cylinders all in one engine block. Each cylinder operates independently but all connected to the same crankshaft.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The 4-Stroke Cycle (Mechanical Perspective) (Slides 17-21, ~15 minutes)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4 Strokes?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a key concept: It takes 4 strokes of the piston (2 complete crankshaft rotations) to complete one power cycle.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 Strokes: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Intake – Pull in air-fuel mixture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Compression – Compress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– Burn it, extract energy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Exhaust – Push out burnt gases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Then repeat. Only 1 out of every 4 strokes produces power!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each stroke in detail.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Stroke 1 –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Intake Stroke: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happens: — Piston moves DOWN (from top to bottom of cylinder)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Intake valve OPEN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Exhaust valve CLOSED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Air-fuel mixture is sucked into cylinder (like a syringe pulling fluid)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Cylinder is now filled with fresh air-fuel mixture, ready to compress.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Crankshaft rotation: 0° to 180°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Stroke 2 –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Compression Stroke: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happens: — Piston moves 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valves CLOSED (cylinder sealed)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Air-fuel mixture is compressed into small space (combustion chamber)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and temperature increase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compress? Higher compression → more efficient combustion → more power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top: Spark plug fires (petrol engine) or fuel injected (diesel)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Crankshaft rotation: 180° to 360° (one full rotation complete)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Stroke 3 – Power (Combustion)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Stroke – This is where the action is!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happens: — Spark ignites compressed air-fuel mixture (or diesel self-ignites)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Rapid combustion creates HIGH PRESSURE (up to 60-100 bar!)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pushes piston DOWN with great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pushes con-rod → rotates crankshaft → TORQUE is generated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only stroke that produces power. The other 3 are preparation.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Crankshaft rotation: 360° to 540°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Stroke 4 – Exhaust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Exhaust Stroke: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happens: — Piston moves 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Intake valve CLOSED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Exhaust valve OPEN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Burnt gases are pushed out through exhaust valve into exhaust manifold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Cylinder is cleared of exhaust, ready for next intake stroke.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Crankshaft rotation: 540° to 720° (two full rotations complete)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Then the cycle repeats – intake, compression, power, exhaust, intake...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Engine Terminology &amp; Calculations (Slides 22-24, ~10 minutes)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Engine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teach you the language engineers use to describe engines: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Bore (B): Diameter of the cylinder (mm)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Stroke (S): Distance piston travels from top to bottom (mm)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TDC (Top Dead Center): Piston's highest position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BDC (Bottom Dead Center): Piston's lowest position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Displacement: Volume swept by piston in one stroke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define the engine's size and geometry.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Calculating Engine Capacity (Displacement)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how to calculate engine displacement (capacity):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one cylinder: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V_cylinder = (π/4) × B² × 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 = Bore (mm)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 = Stroke (mm)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V_cylinder = Volume in mm³ (convert to cc or liters)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entire engine: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Vengine = Vcylinder × Number of cylinders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Honda Civic 1.5L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Bore = 73 mm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Stroke = 89.5 mm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Cylinders = 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V_cylinder = (π/4) × 73² × 89.5 = 374,500 mm³ = 374.5 cc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V_engine = 374.5 × 4 = 1,498 cc ≈ 1.5 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Engine Torque vs Power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we arrive at the heart of engine performance. Let me show you how to read these curves: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[Point to torque curve]: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Curve (Nm vs RPM): — Shows how much twisting force the engine produces at each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torque: 145 Nm @ 4600 RPM — At low RPM: Lower torque (engine struggles)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very high RPM: Torque drops (breathing limitations)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[Point to power curve]: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Curve (PS vs RPM): — Remember: P = τ × ω (Session 3!)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= Torque × Angular velocity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power: 127 PS @ 6600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Notice: Peak power occurs at HIGHER RPM than peak torque. Why?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Peak Power ≠ Peak Torque RPM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confuses many people, so let me explain clearly: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Remember: Power = Torque × RPM (essentially)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4600 RPM (peak torque):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= 145 Nm (maximum)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RPM = 4600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= 145 × 4600 = ~100 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6600 RPM (peak power):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= 130 Nm (slightly lower)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RPM = 6600 (much higher!)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= 130 × 6600 = 127 PS (maximum!)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Even though torque drops at high RPM, the engine is spinning so much faster that power increases.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vehicle performance: — Peak torque → Best for acceleration from low speeds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power → Best for top speed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summarize what you've learned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Engine Function: IC engine converts fuel energy into rotational torque via combustion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Key Components: Cylinder, piston, con-rod, crankshaft, valves, camshaft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4-Stroke Cycle: Intake → Compression → Power → Exhaust (only power stroke generates torque)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Engine Specifications: Displacement = (π/4) × B² × S × n_cylinders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Performance Curves: Torque curve shows force, power curve shows torque ×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Engine Types: Classified by fuel (petrol/diesel), cylinders (3/4/6), configuration (inline/V/flat)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 now understand engine specifications and interpret performance curves!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 learned how engines generate torque through combustion. But we glossed over something critical: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Combustion generates enormous heat – temperatures reach 2000°C inside cylinders!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Moving parts create friction – piston, crankshaft, camshaft all rubbing at high speed.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Session (Session 5): Engine Support Systems – Cooling &amp; Lubrication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You'll learn: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cooling is critical (what happens if engine overheats?)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cooling systems work (radiator, thermostat, water pump)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lubrication is essential (engine oil functions)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oil circulates through the engine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We're building a complete picture of the powertrain, piece by piece.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Visual Elements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(Due before Session 5):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1: An engine has bore = 86 mm, stroke = 94 mm, 4 cylinders. Calculate: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Displacement of one cylinder (in cc)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Total engine capacity (in liters)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2: An engine produces 180 Nm torque at 3000 RPM. Calculate power output in kW and PS.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3: Study the torque and power curves of any one engine (find online or in textbook). Identify: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torque value and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power value and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Explain why peak power occurs at higher RPM than peak torque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 for Q&amp;A: — What are the trade-offs between small displacement high-RPM engines vs large displacement low-RPM engines?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do diesel engines have higher compression ratios than petrol engines?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the 4-stroke cycle relate to the need for a flywheel?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Consistency: Use same professional engineering template as Sessions 1-3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Professionalism: Clean mechanical diagrams, cutaway views, labeled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— Blue for intake stroke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compression/combustion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Gray for exhaust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mechanical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Font sizes: Component labels and formulas in large, readable fonts (18-24pt)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9: Core principle (pressure pushing piston) – Foundation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14: Connecting rod and crankshaft animation – How linear becomes rotational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18-21: 4-stroke cycle animations – Heart of understanding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Torque and power curves – Industry standard way to describe engines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28: Summary – Students will photograph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9, 14: Smooth animation of piston motion and crankshaft rotation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18-21: Build animation for 4-stroke cycle (step through each stroke)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Animated pointer tracing along curves as you explain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Keep mechanical animations smooth – helps visualize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Cutaway diagrams: Real engine cutaways showing internal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Animated GIFs: 4-stroke cycle animation (use existing high-quality animations if available)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photos: Real parts (piston, crankshaft, camshaft) if possible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Graphs: Actual torque/power curves from real engines (Honda, Toyota,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tables: Engine classifications (inline vs V vs flat)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Safety/Ethics Notes: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on Session 3: Explicitly connect engine power output to power requirements calculated earlier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Mechanical focus only: NO thermodynamics yet – treat combustion as "pressure source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Visualize motion: Use animations heavily – students must "see" how parts move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examples: Use familiar engines (Honda Civic, Toyota Corolla) throughout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Prepare for Session 5: Set up the need for cooling and lubrication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4 strokes? Why not generate power every stroke?"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physical requirements – need to: 1) bring in fresh mixture, 2) compress it, 3) extract energy, 4) clear exhaust. Can't skip steps. Mention 2-stroke engines briefly (power every 2 strokes but less efficient, used in small engines).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"How does crankshaft keep rotating during non-power strokes?"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Introduce flywheel concept – heavy rotating disc stores kinetic energy from power stroke, carries engine through other 3 strokes. Also, in multi-cylinder engines, other cylinders fire at different times.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"Why peak power at higher RPM than peak torque?"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Use the mathematical relationship P = τ × ω explicitly. Show that even if torque decreases, if RPM increases proportionally more, power increases. Use numerical examples.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"What's the difference between petrol and diesel engines mechanically?"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Today focus on similarities. Briefly mention: diesel has no spark plug (compression ignition), higher compression ratio, more robust construction. Details in Session 6.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Slide 16 (engine block assembly) – not critical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 compression ratio explanation into terminology slide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time on engine classification (Slide 6 outcome)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Move detailed compression ratio calculations to assignment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Defer engine classification details to Session 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flywheel discussion to Q&amp;A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cover): — Slides 8-10 (engine fundamentals)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13-15 (key components)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17-21 (4-stroke cycle – absolutely critical)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 (displacement calculation)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25-26 (torque/power curves)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3: Pause and ask "Has anyone thought about this before? How does fuel become wheel rotation?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14: Work through the crank-slider mechanism together on board – draw it, show geometry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21: After showing 4 strokes, ask "In a 4-cylinder engine, how are firing intervals arranged?" (Answer: 180° apart, so one cylinder always powering)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23: Have students calculate displacement with you in real-time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26: Ask "If you want quick acceleration, what RPM range should you use?" (Answer: Near peak torque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Q&amp;A: Be ready for questions about: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Turbochargers (briefly mention: forces more air in, increases power; details later)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 motors vs IC engines (mention: instant torque, covered in Session 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efficiency (typical IC engine ~30-35% efficient; rest is heat)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emissions: Mention that combustion produces pollutants (CO, NOx, HC) – why emission controls matter (Session 6 preview)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efficiency: More efficient engines = less fuel consumption = lower environmental impact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Standards: Reference BS4, BS6 emission standards (India-specific)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IC engine as device converting fuel energy to rotational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and explain functions of major engine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4-stroke cycle from mechanical perspective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Calculate engine displacement and understand compression ratio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Interpret torque and power curves and relate to vehicle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Classify engines by fuel type, cylinder count, and 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 Students understand engines as torque generators that deliver the power calculated in Session 3, and feel confident they can understand how engines work without needing deep thermodynamics knowledge.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ADDITIONAL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Balance Simplification with Accuracy: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session is the pivotal transition from "vehicle needs power" to "engine supplies power." Make this connection explicit and clear.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Throughout the session, mention heat generation and friction occasionally. At the end, create anticipation: "Now we know how engines work, but there's a problem – all this combustion and motion creates heat and friction. Next time, we solve that problem.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 specific engine examples throughout: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Honda Civic 1.5L (inline-4 petrol)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Toyota Fortuner 2.8L (inline-4 diesel)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Maruti Suzuki Alto 0.8L (inline-3 petrol)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BMW 3.0L (inline-6 petrol)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relate better to engines they've heard of or seen.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 simplify by avoiding thermodynamics, but don't oversimplify mechanics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Valve timing, overlap, and advanced topics briefly mentioned but not detailed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Focus: Mechanical operation that electronics will control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4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