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p>
        </p:txBody>
      </p:sp>
      <p:sp>
        <p:nvSpPr>
          <p:cNvPr id="3" name="Content Placeholder 2"/>
          <p:cNvSpPr>
            <a:spLocks noGrp="1"/>
          </p:cNvSpPr>
          <p:nvPr>
            <p:ph idx="1"/>
          </p:nvPr>
        </p:nvSpPr>
        <p:spPr/>
        <p:txBody>
          <a:bodyPr/>
          <a:lstStyle/>
          <a:p>
            <a:pPr>
              <a:spcAft>
                <a:spcPts val="1000"/>
              </a:spcAft>
              <a:defRPr sz="1800">
                <a:solidFill>
                  <a:srgbClr val="333333"/>
                </a:solidFill>
              </a:defRPr>
            </a:pPr>
            <a:r>
              <a:t>---</a:t>
            </a:r>
          </a:p>
          <a:p>
            <a:pPr>
              <a:spcAft>
                <a:spcPts val="1000"/>
              </a:spcAft>
              <a:defRPr sz="1800">
                <a:solidFill>
                  <a:srgbClr val="333333"/>
                </a:solidFill>
              </a:defRPr>
            </a:pPr>
            <a:r>
              <a:t>marp: true</a:t>
            </a:r>
          </a:p>
          <a:p>
            <a:pPr>
              <a:spcAft>
                <a:spcPts val="1000"/>
              </a:spcAft>
              <a:defRPr sz="1800">
                <a:solidFill>
                  <a:srgbClr val="333333"/>
                </a:solidFill>
              </a:defRPr>
            </a:pPr>
            <a:r>
              <a:t>theme: engineering</a:t>
            </a:r>
          </a:p>
          <a:p>
            <a:pPr>
              <a:spcAft>
                <a:spcPts val="1000"/>
              </a:spcAft>
              <a:defRPr sz="1800">
                <a:solidFill>
                  <a:srgbClr val="333333"/>
                </a:solidFill>
              </a:defRPr>
            </a:pPr>
            <a:r>
              <a:t>paginate: true</a:t>
            </a:r>
          </a:p>
          <a:p>
            <a:pPr>
              <a:spcAft>
                <a:spcPts val="1000"/>
              </a:spcAft>
              <a:defRPr sz="1800">
                <a:solidFill>
                  <a:srgbClr val="333333"/>
                </a:solidFill>
              </a:defRPr>
            </a:pPr>
            <a:r>
              <a:t>math: katex</a:t>
            </a:r>
          </a:p>
          <a:p>
            <a:pPr>
              <a:spcAft>
                <a:spcPts val="1000"/>
              </a:spcAft>
              <a:defRPr sz="1800">
                <a:solidFill>
                  <a:srgbClr val="333333"/>
                </a:solidFill>
              </a:defRPr>
            </a:pPr>
            <a:r>
              <a:t>header: 'Session 12: Suspension Systems'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4472C4"/>
        </a:solidFill>
        <a:effectLst/>
      </p:bgPr>
    </p:bg>
    <p:spTree>
      <p:nvGrpSpPr>
        <p:cNvPr id="1" name=""/>
        <p:cNvGrpSpPr/>
        <p:nvPr/>
      </p:nvGrpSpPr>
      <p:grpSpPr/>
      <p:sp>
        <p:nvSpPr>
          <p:cNvPr id="2" name="Title 1"/>
          <p:cNvSpPr>
            <a:spLocks noGrp="1"/>
          </p:cNvSpPr>
          <p:nvPr>
            <p:ph type="ctrTitle"/>
          </p:nvPr>
        </p:nvSpPr>
        <p:spPr/>
        <p:txBody>
          <a:bodyPr/>
          <a:lstStyle/>
          <a:p>
            <a:pPr>
              <a:defRPr sz="4400" b="1">
                <a:solidFill>
                  <a:srgbClr val="FFFFFF"/>
                </a:solidFill>
              </a:defRPr>
            </a:pPr>
            <a:r>
              <a:t>Suspension Systems</a:t>
            </a:r>
          </a:p>
        </p:txBody>
      </p:sp>
      <p:sp>
        <p:nvSpPr>
          <p:cNvPr id="3" name="Subtitle 2"/>
          <p:cNvSpPr>
            <a:spLocks noGrp="1"/>
          </p:cNvSpPr>
          <p:nvPr>
            <p:ph type="subTitle" idx="1"/>
          </p:nvPr>
        </p:nvSpPr>
        <p:spPr/>
        <p:txBody>
          <a:bodyPr/>
          <a:lstStyle/>
          <a:p>
            <a:pPr>
              <a:defRPr sz="2000">
                <a:solidFill>
                  <a:srgbClr val="FFFFFF"/>
                </a:solidFill>
              </a:defRPr>
            </a:pPr>
            <a:r>
              <a:t>Session 12 | Automotive Vehicles (AEL ZC441)</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Title Slide</a:t>
            </a:r>
          </a:p>
        </p:txBody>
      </p:sp>
      <p:sp>
        <p:nvSpPr>
          <p:cNvPr id="3" name="Content Placeholder 2"/>
          <p:cNvSpPr>
            <a:spLocks noGrp="1"/>
          </p:cNvSpPr>
          <p:nvPr>
            <p:ph idx="1"/>
          </p:nvPr>
        </p:nvSpPr>
        <p:spPr/>
        <p:txBody>
          <a:bodyPr/>
          <a:lstStyle/>
          <a:p>
            <a:pPr>
              <a:spcAft>
                <a:spcPts val="1000"/>
              </a:spcAft>
              <a:defRPr sz="1800">
                <a:solidFill>
                  <a:srgbClr val="333333"/>
                </a:solidFill>
              </a:defRPr>
            </a:pPr>
            <a:r>
              <a:t>Instructor Narration:</a:t>
            </a:r>
          </a:p>
          <a:p>
            <a:pPr>
              <a:spcAft>
                <a:spcPts val="1000"/>
              </a:spcAft>
              <a:defRPr sz="1800">
                <a:solidFill>
                  <a:srgbClr val="333333"/>
                </a:solidFill>
              </a:defRPr>
            </a:pPr>
            <a:r>
              <a:t>Welcome to Session 12: Suspension Systems. Today, we'll complete our Module 3 journey through chassis dynamics. We've studied how vehicles move (Session 9), how they stop (Session 10), and how they steer (Session 11). Now we'll learn how they absorb the road—and why this is one of the hardest engineering challenges in automotive design.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What Does Suspension Actually Do?</a:t>
            </a:r>
          </a:p>
        </p:txBody>
      </p:sp>
      <p:sp>
        <p:nvSpPr>
          <p:cNvPr id="3" name="Content Placeholder 2"/>
          <p:cNvSpPr>
            <a:spLocks noGrp="1"/>
          </p:cNvSpPr>
          <p:nvPr>
            <p:ph idx="1"/>
          </p:nvPr>
        </p:nvSpPr>
        <p:spPr/>
        <p:txBody>
          <a:bodyPr/>
          <a:lstStyle/>
          <a:p>
            <a:pPr>
              <a:spcAft>
                <a:spcPts val="1000"/>
              </a:spcAft>
              <a:defRPr sz="1800">
                <a:solidFill>
                  <a:srgbClr val="333333"/>
                </a:solidFill>
              </a:defRPr>
            </a:pPr>
            <a:r>
              <a:t>Instructor Narration:</a:t>
            </a:r>
          </a:p>
          <a:p>
            <a:pPr>
              <a:spcAft>
                <a:spcPts val="1000"/>
              </a:spcAft>
              <a:defRPr sz="1800">
                <a:solidFill>
                  <a:srgbClr val="333333"/>
                </a:solidFill>
              </a:defRPr>
            </a:pPr>
            <a:r>
              <a:t>Imagine driving over a 10 cm bump at 50 km/h without suspension.</a:t>
            </a:r>
          </a:p>
          <a:p>
            <a:pPr>
              <a:spcAft>
                <a:spcPts val="1000"/>
              </a:spcAft>
              <a:defRPr sz="1800">
                <a:solidFill>
                  <a:srgbClr val="333333"/>
                </a:solidFill>
              </a:defRPr>
            </a:pPr>
            <a:r>
              <a:t>Your tires hit the bump and deflect upward at ~14 m/s. The entire 1,300 kg mass of the vehicle tries to follow—instantly. The deceleration would be enormous (hundreds of m/s²). You'd be thrown out of your seat, the chassis would experience massive stress, and components would break.</a:t>
            </a:r>
          </a:p>
          <a:p>
            <a:pPr>
              <a:spcAft>
                <a:spcPts val="1000"/>
              </a:spcAft>
              <a:defRPr sz="1800">
                <a:solidFill>
                  <a:srgbClr val="333333"/>
                </a:solidFill>
              </a:defRPr>
            </a:pPr>
            <a:r>
              <a:t>The suspension's job:</a:t>
            </a:r>
          </a:p>
          <a:p>
            <a:pPr>
              <a:spcAft>
                <a:spcPts val="1000"/>
              </a:spcAft>
              <a:defRPr sz="1800">
                <a:solidFill>
                  <a:srgbClr val="333333"/>
                </a:solidFill>
              </a:defRPr>
            </a:pPr>
            <a:r>
              <a:t>Decouple the wheel motion (fast, violent) from the body motion (slow, controlled).</a:t>
            </a:r>
          </a:p>
          <a:p>
            <a:pPr>
              <a:spcAft>
                <a:spcPts val="1000"/>
              </a:spcAft>
              <a:defRPr sz="1800">
                <a:solidFill>
                  <a:srgbClr val="333333"/>
                </a:solidFill>
              </a:defRPr>
            </a:pPr>
            <a:r>
              <a:t>How it works:</a:t>
            </a:r>
          </a:p>
          <a:p>
            <a:pPr>
              <a:spcAft>
                <a:spcPts val="1000"/>
              </a:spcAft>
              <a:defRPr sz="1800">
                <a:solidFill>
                  <a:srgbClr val="333333"/>
                </a:solidFill>
              </a:defRPr>
            </a:pPr>
            <a:r>
              <a:t>The spring supports the vehicle weight and stores energy when compressed. The damper (shock absorber) dissipates that energy as heat, preventing endless bouncing.</a:t>
            </a:r>
          </a:p>
          <a:p>
            <a:pPr>
              <a:spcAft>
                <a:spcPts val="1000"/>
              </a:spcAft>
              <a:defRPr sz="1800">
                <a:solidFill>
                  <a:srgbClr val="333333"/>
                </a:solidFill>
              </a:defRPr>
            </a:pPr>
            <a:r>
              <a:t>Together, they create a spring-mass-damper system—one of the most fundamental systems in mechanical engineering.</a:t>
            </a:r>
          </a:p>
          <a:p>
            <a:pPr>
              <a:spcAft>
                <a:spcPts val="1000"/>
              </a:spcAft>
              <a:defRPr sz="1800">
                <a:solidFill>
                  <a:srgbClr val="333333"/>
                </a:solidFill>
              </a:defRPr>
            </a:pPr>
            <a:r>
              <a:t>Three Primary Functions:</a:t>
            </a:r>
          </a:p>
          <a:p>
            <a:pPr>
              <a:spcAft>
                <a:spcPts val="1000"/>
              </a:spcAft>
              <a:defRPr sz="1800">
                <a:solidFill>
                  <a:srgbClr val="333333"/>
                </a:solidFill>
              </a:defRPr>
            </a:pPr>
            <a:r>
              <a:t>1. RIDE COMFORT (Isolation) — Minimize vertical acceleration felt by passengers</a:t>
            </a:r>
          </a:p>
          <a:p>
            <a:pPr>
              <a:spcAft>
                <a:spcPts val="600"/>
              </a:spcAft>
              <a:defRPr sz="1800">
                <a:solidFill>
                  <a:srgbClr val="333333"/>
                </a:solidFill>
              </a:defRPr>
            </a:pPr>
            <a:r>
              <a:t>Filter out small bumps and road texture</a:t>
            </a:r>
          </a:p>
          <a:p>
            <a:pPr>
              <a:spcAft>
                <a:spcPts val="600"/>
              </a:spcAft>
              <a:defRPr sz="1800">
                <a:solidFill>
                  <a:srgbClr val="333333"/>
                </a:solidFill>
              </a:defRPr>
            </a:pPr>
            <a:r>
              <a:t>Allow body to "float" over rough roads</a:t>
            </a:r>
          </a:p>
          <a:p>
            <a:pPr>
              <a:spcAft>
                <a:spcPts val="1000"/>
              </a:spcAft>
              <a:defRPr sz="1800">
                <a:solidFill>
                  <a:srgbClr val="333333"/>
                </a:solidFill>
              </a:defRPr>
            </a:pPr>
            <a:r>
              <a:t>2. ROAD HOLDING (Tire Contact) — Keep tires in contact with road surface at all times</a:t>
            </a:r>
          </a:p>
          <a:p>
            <a:pPr>
              <a:spcAft>
                <a:spcPts val="600"/>
              </a:spcAft>
              <a:defRPr sz="1800">
                <a:solidFill>
                  <a:srgbClr val="333333"/>
                </a:solidFill>
              </a:defRPr>
            </a:pPr>
            <a:r>
              <a:t>Maintain consistent normal force for maximum grip</a:t>
            </a:r>
          </a:p>
          <a:p>
            <a:pPr>
              <a:spcAft>
                <a:spcPts val="600"/>
              </a:spcAft>
              <a:defRPr sz="1800">
                <a:solidFill>
                  <a:srgbClr val="333333"/>
                </a:solidFill>
              </a:defRPr>
            </a:pPr>
            <a:r>
              <a:t>Prevent wheel hop and bounce</a:t>
            </a:r>
          </a:p>
          <a:p>
            <a:pPr>
              <a:spcAft>
                <a:spcPts val="1000"/>
              </a:spcAft>
              <a:defRPr sz="1800">
                <a:solidFill>
                  <a:srgbClr val="333333"/>
                </a:solidFill>
              </a:defRPr>
            </a:pPr>
            <a:r>
              <a:t>3. HANDLING (Body Control) — Control body roll during cornering</a:t>
            </a:r>
          </a:p>
          <a:p>
            <a:pPr>
              <a:spcAft>
                <a:spcPts val="600"/>
              </a:spcAft>
              <a:defRPr sz="1800">
                <a:solidFill>
                  <a:srgbClr val="333333"/>
                </a:solidFill>
              </a:defRPr>
            </a:pPr>
            <a:r>
              <a:t>Manage pitch during braking/acceleration</a:t>
            </a:r>
          </a:p>
          <a:p>
            <a:pPr>
              <a:spcAft>
                <a:spcPts val="600"/>
              </a:spcAft>
              <a:defRPr sz="1800">
                <a:solidFill>
                  <a:srgbClr val="333333"/>
                </a:solidFill>
              </a:defRPr>
            </a:pPr>
            <a:r>
              <a:t>Maintain predictable vehicle attitude</a:t>
            </a:r>
          </a:p>
          <a:p>
            <a:pPr>
              <a:spcAft>
                <a:spcPts val="1000"/>
              </a:spcAft>
              <a:defRPr sz="1800">
                <a:solidFill>
                  <a:srgbClr val="333333"/>
                </a:solidFill>
              </a:defRPr>
            </a:pPr>
            <a:r>
              <a:t>The Problem:</a:t>
            </a:r>
          </a:p>
          <a:p>
            <a:pPr>
              <a:spcAft>
                <a:spcPts val="1000"/>
              </a:spcAft>
              <a:defRPr sz="1800">
                <a:solidFill>
                  <a:srgbClr val="333333"/>
                </a:solidFill>
              </a:defRPr>
            </a:pPr>
            <a:r>
              <a:t>These three goals are mutually exclusive. We'll explore why shortly.</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The Spring-Mass-Damper System</a:t>
            </a:r>
          </a:p>
        </p:txBody>
      </p:sp>
      <p:sp>
        <p:nvSpPr>
          <p:cNvPr id="3" name="Content Placeholder 2"/>
          <p:cNvSpPr>
            <a:spLocks noGrp="1"/>
          </p:cNvSpPr>
          <p:nvPr>
            <p:ph idx="1"/>
          </p:nvPr>
        </p:nvSpPr>
        <p:spPr/>
        <p:txBody>
          <a:bodyPr/>
          <a:lstStyle/>
          <a:p>
            <a:pPr>
              <a:spcAft>
                <a:spcPts val="600"/>
              </a:spcAft>
              <a:defRPr sz="1800">
                <a:solidFill>
                  <a:srgbClr val="333333"/>
                </a:solidFill>
              </a:defRPr>
            </a:pPr>
            <a:r>
              <a:t>Mass (m) representing vehicle body</a:t>
            </a:r>
          </a:p>
          <a:p>
            <a:pPr>
              <a:spcAft>
                <a:spcPts val="600"/>
              </a:spcAft>
              <a:defRPr sz="1800">
                <a:solidFill>
                  <a:srgbClr val="333333"/>
                </a:solidFill>
              </a:defRPr>
            </a:pPr>
            <a:r>
              <a:t>Spring (k) with spring constant</a:t>
            </a:r>
          </a:p>
          <a:p>
            <a:pPr>
              <a:spcAft>
                <a:spcPts val="600"/>
              </a:spcAft>
              <a:defRPr sz="1800">
                <a:solidFill>
                  <a:srgbClr val="333333"/>
                </a:solidFill>
              </a:defRPr>
            </a:pPr>
            <a:r>
              <a:t>Damper (c) with damping coefficient</a:t>
            </a:r>
          </a:p>
          <a:p>
            <a:pPr>
              <a:spcAft>
                <a:spcPts val="600"/>
              </a:spcAft>
              <a:defRPr sz="1800">
                <a:solidFill>
                  <a:srgbClr val="333333"/>
                </a:solidFill>
              </a:defRPr>
            </a:pPr>
            <a:r>
              <a:t>Vertical displacement coordinates (zbody, zwheel, z_road)</a:t>
            </a:r>
          </a:p>
          <a:p>
            <a:pPr>
              <a:spcAft>
                <a:spcPts val="1000"/>
              </a:spcAft>
              <a:defRPr sz="1800">
                <a:solidFill>
                  <a:srgbClr val="333333"/>
                </a:solidFill>
              </a:defRPr>
            </a:pPr>
            <a:r>
              <a:t>Instructor Narration:</a:t>
            </a:r>
          </a:p>
          <a:p>
            <a:pPr>
              <a:spcAft>
                <a:spcPts val="1000"/>
              </a:spcAft>
              <a:defRPr sz="1800">
                <a:solidFill>
                  <a:srgbClr val="333333"/>
                </a:solidFill>
              </a:defRPr>
            </a:pPr>
            <a:r>
              <a:t>Let's model a quarter-car suspension—one corner of the vehicle.</a:t>
            </a:r>
          </a:p>
          <a:p>
            <a:pPr>
              <a:spcAft>
                <a:spcPts val="1000"/>
              </a:spcAft>
              <a:defRPr sz="1800">
                <a:solidFill>
                  <a:srgbClr val="333333"/>
                </a:solidFill>
              </a:defRPr>
            </a:pPr>
            <a:r>
              <a:t>Components:</a:t>
            </a:r>
          </a:p>
          <a:p>
            <a:pPr>
              <a:spcAft>
                <a:spcPts val="1000"/>
              </a:spcAft>
              <a:defRPr sz="1800">
                <a:solidFill>
                  <a:srgbClr val="333333"/>
                </a:solidFill>
              </a:defRPr>
            </a:pPr>
            <a:r>
              <a:t>1. SPRUNG MASS (m_s) — The portion of vehicle mass supported by the suspension — Includes: body, chassis, engine, passengers, cargo</a:t>
            </a:r>
          </a:p>
          <a:p>
            <a:pPr>
              <a:spcAft>
                <a:spcPts val="600"/>
              </a:spcAft>
              <a:defRPr sz="1800">
                <a:solidFill>
                  <a:srgbClr val="333333"/>
                </a:solidFill>
              </a:defRPr>
            </a:pPr>
            <a:r>
              <a:t>Typical value: 250-400 kg per corner (1,000-1,600 kg total)</a:t>
            </a:r>
          </a:p>
          <a:p>
            <a:pPr>
              <a:spcAft>
                <a:spcPts val="1000"/>
              </a:spcAft>
              <a:defRPr sz="1800">
                <a:solidFill>
                  <a:srgbClr val="333333"/>
                </a:solidFill>
              </a:defRPr>
            </a:pPr>
            <a:r>
              <a:t>2. UNSPRUNG MASS (m_u) — The portion of vehicle mass not supported by the spring — Includes: wheel, tire, brake, hub, control arms</a:t>
            </a:r>
          </a:p>
          <a:p>
            <a:pPr>
              <a:spcAft>
                <a:spcPts val="600"/>
              </a:spcAft>
              <a:defRPr sz="1800">
                <a:solidFill>
                  <a:srgbClr val="333333"/>
                </a:solidFill>
              </a:defRPr>
            </a:pPr>
            <a:r>
              <a:t>Typical value: 20-50 kg per corner (80-200 kg total)</a:t>
            </a:r>
          </a:p>
          <a:p>
            <a:pPr>
              <a:spcAft>
                <a:spcPts val="1000"/>
              </a:spcAft>
              <a:defRPr sz="1800">
                <a:solidFill>
                  <a:srgbClr val="333333"/>
                </a:solidFill>
              </a:defRPr>
            </a:pPr>
            <a:r>
              <a:t>3. SPRING (k) — Provides restoring force: F_spring = k × x</a:t>
            </a:r>
          </a:p>
          <a:p>
            <a:pPr>
              <a:spcAft>
                <a:spcPts val="600"/>
              </a:spcAft>
              <a:defRPr sz="1800">
                <a:solidFill>
                  <a:srgbClr val="333333"/>
                </a:solidFill>
              </a:defRPr>
            </a:pPr>
            <a:r>
              <a:t>Spring constant k (N/m): stiffness</a:t>
            </a:r>
          </a:p>
          <a:p>
            <a:pPr>
              <a:spcAft>
                <a:spcPts val="600"/>
              </a:spcAft>
              <a:defRPr sz="1800">
                <a:solidFill>
                  <a:srgbClr val="333333"/>
                </a:solidFill>
              </a:defRPr>
            </a:pPr>
            <a:r>
              <a:t>Typical value: 15,000-35,000 N/m per corner</a:t>
            </a:r>
          </a:p>
          <a:p>
            <a:pPr>
              <a:spcAft>
                <a:spcPts val="1000"/>
              </a:spcAft>
              <a:defRPr sz="1800">
                <a:solidFill>
                  <a:srgbClr val="333333"/>
                </a:solidFill>
              </a:defRPr>
            </a:pPr>
            <a:r>
              <a:t>4. DAMPER (c) — Provides velocity-dependent resistance: F_damper = c × v</a:t>
            </a:r>
          </a:p>
          <a:p>
            <a:pPr>
              <a:spcAft>
                <a:spcPts val="600"/>
              </a:spcAft>
              <a:defRPr sz="1800">
                <a:solidFill>
                  <a:srgbClr val="333333"/>
                </a:solidFill>
              </a:defRPr>
            </a:pPr>
            <a:r>
              <a:t>Damping coefficient c (N·s/m)</a:t>
            </a:r>
          </a:p>
          <a:p>
            <a:pPr>
              <a:spcAft>
                <a:spcPts val="600"/>
              </a:spcAft>
              <a:defRPr sz="1800">
                <a:solidFill>
                  <a:srgbClr val="333333"/>
                </a:solidFill>
              </a:defRPr>
            </a:pPr>
            <a:r>
              <a:t>Typical value: 1,000-3,000 N·s/m per corner</a:t>
            </a:r>
          </a:p>
          <a:p>
            <a:pPr>
              <a:spcAft>
                <a:spcPts val="1000"/>
              </a:spcAft>
              <a:defRPr sz="1800">
                <a:solidFill>
                  <a:srgbClr val="333333"/>
                </a:solidFill>
              </a:defRPr>
            </a:pPr>
            <a:r>
              <a:t>The Equation of Motion:</a:t>
            </a:r>
          </a:p>
          <a:p>
            <a:pPr>
              <a:spcAft>
                <a:spcPts val="1000"/>
              </a:spcAft>
              <a:defRPr sz="1800">
                <a:solidFill>
                  <a:srgbClr val="333333"/>
                </a:solidFill>
              </a:defRPr>
            </a:pPr>
            <a:r>
              <a:t>For the sprung mass (simplified quarter-car, single degree of freedom):</a:t>
            </a:r>
          </a:p>
          <a:p>
            <a:pPr>
              <a:defRPr sz="1400">
                <a:solidFill>
                  <a:srgbClr val="787878"/>
                </a:solidFill>
                <a:latin typeface="Consolas"/>
              </a:defRPr>
            </a:pPr>
            <a:r>
              <a:t>m_s × z̈ + c × ż + k × z = F_input</a:t>
            </a:r>
            <a:br/>
            <a:br/>
            <a:r>
              <a:t>Where:</a:t>
            </a:r>
            <a:br/>
            <a:r>
              <a:t>z = Vertical displacement of sprung mass (m)</a:t>
            </a:r>
            <a:br/>
            <a:r>
              <a:t>ż = Vertical velocity (m/s)</a:t>
            </a:r>
            <a:br/>
            <a:r>
              <a:t>z̈ = Vertical acceleration (m/s²)</a:t>
            </a:r>
            <a:br/>
            <a:r>
              <a:t>F_input = Force from road disturbance (N)</a:t>
            </a:r>
          </a:p>
          <a:p>
            <a:pPr>
              <a:spcAft>
                <a:spcPts val="1000"/>
              </a:spcAft>
              <a:defRPr sz="1800">
                <a:solidFill>
                  <a:srgbClr val="333333"/>
                </a:solidFill>
              </a:defRPr>
            </a:pPr>
            <a:r>
              <a:t>This is a second-order differential equation—the same math governs:</a:t>
            </a:r>
          </a:p>
          <a:p>
            <a:pPr>
              <a:spcAft>
                <a:spcPts val="600"/>
              </a:spcAft>
              <a:defRPr sz="1800">
                <a:solidFill>
                  <a:srgbClr val="333333"/>
                </a:solidFill>
              </a:defRPr>
            </a:pPr>
            <a:r>
              <a:t>Building earthquake response</a:t>
            </a:r>
          </a:p>
          <a:p>
            <a:pPr>
              <a:spcAft>
                <a:spcPts val="600"/>
              </a:spcAft>
              <a:defRPr sz="1800">
                <a:solidFill>
                  <a:srgbClr val="333333"/>
                </a:solidFill>
              </a:defRPr>
            </a:pPr>
            <a:r>
              <a:t>Electrical RLC circuits</a:t>
            </a:r>
          </a:p>
          <a:p>
            <a:pPr>
              <a:spcAft>
                <a:spcPts val="600"/>
              </a:spcAft>
              <a:defRPr sz="1800">
                <a:solidFill>
                  <a:srgbClr val="333333"/>
                </a:solidFill>
              </a:defRPr>
            </a:pPr>
            <a:r>
              <a:t>Mechanical vibrations</a:t>
            </a:r>
          </a:p>
          <a:p>
            <a:pPr>
              <a:spcAft>
                <a:spcPts val="1000"/>
              </a:spcAft>
              <a:defRPr sz="1800">
                <a:solidFill>
                  <a:srgbClr val="333333"/>
                </a:solidFill>
              </a:defRPr>
            </a:pPr>
            <a:r>
              <a:t>Instructor Narration (continued):</a:t>
            </a:r>
          </a:p>
          <a:p>
            <a:pPr>
              <a:spcAft>
                <a:spcPts val="1000"/>
              </a:spcAft>
              <a:defRPr sz="1800">
                <a:solidFill>
                  <a:srgbClr val="333333"/>
                </a:solidFill>
              </a:defRPr>
            </a:pPr>
            <a:r>
              <a:t>This equation might look intimidating, but it tells a simple story: the mass resists acceleration (m_s × z̈), the damper resists velocity (c × ż), and the spring resists displacement (k × z). These three forces must balance the input force from the road.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Natural Frequency - The Suspension's DNA</a:t>
            </a:r>
          </a:p>
        </p:txBody>
      </p:sp>
      <p:sp>
        <p:nvSpPr>
          <p:cNvPr id="3" name="Content Placeholder 2"/>
          <p:cNvSpPr>
            <a:spLocks noGrp="1"/>
          </p:cNvSpPr>
          <p:nvPr>
            <p:ph idx="1"/>
          </p:nvPr>
        </p:nvSpPr>
        <p:spPr/>
        <p:txBody>
          <a:bodyPr/>
          <a:lstStyle/>
          <a:p>
            <a:pPr>
              <a:spcAft>
                <a:spcPts val="1000"/>
              </a:spcAft>
              <a:defRPr sz="1800">
                <a:solidFill>
                  <a:srgbClr val="333333"/>
                </a:solidFill>
              </a:defRPr>
            </a:pPr>
            <a:r>
              <a:t>Instructor Narration:</a:t>
            </a:r>
          </a:p>
          <a:p>
            <a:pPr>
              <a:spcAft>
                <a:spcPts val="1000"/>
              </a:spcAft>
              <a:defRPr sz="1800">
                <a:solidFill>
                  <a:srgbClr val="333333"/>
                </a:solidFill>
              </a:defRPr>
            </a:pPr>
            <a:r>
              <a:t>Every spring-mass system has a natural frequency—the frequency at which it wants to oscillate.</a:t>
            </a:r>
          </a:p>
          <a:p>
            <a:pPr>
              <a:spcAft>
                <a:spcPts val="1000"/>
              </a:spcAft>
              <a:defRPr sz="1800">
                <a:solidFill>
                  <a:srgbClr val="333333"/>
                </a:solidFill>
              </a:defRPr>
            </a:pPr>
            <a:r>
              <a:t>Natural Frequency (f_n):</a:t>
            </a:r>
          </a:p>
          <a:p>
            <a:pPr>
              <a:defRPr sz="1400">
                <a:solidFill>
                  <a:srgbClr val="787878"/>
                </a:solidFill>
                <a:latin typeface="Consolas"/>
              </a:defRPr>
            </a:pPr>
            <a:r>
              <a:t>f_n = (1 / 2π) × √(k / m_s)  [Hz]</a:t>
            </a:r>
            <a:br/>
            <a:br/>
            <a:r>
              <a:t>ω_n = √(k / m_s)  [rad/s]  (angular natural frequency)</a:t>
            </a:r>
            <a:br/>
            <a:br/>
            <a:r>
              <a:t>Where:</a:t>
            </a:r>
            <a:br/>
            <a:r>
              <a:t>k = Spring stiffness (N/m)</a:t>
            </a:r>
            <a:br/>
            <a:r>
              <a:t>m_s = Sprung mass (kg)</a:t>
            </a:r>
          </a:p>
          <a:p>
            <a:pPr>
              <a:spcAft>
                <a:spcPts val="1000"/>
              </a:spcAft>
              <a:defRPr sz="1800">
                <a:solidFill>
                  <a:srgbClr val="333333"/>
                </a:solidFill>
              </a:defRPr>
            </a:pPr>
            <a:r>
              <a:t>What does this mean?</a:t>
            </a:r>
          </a:p>
          <a:p>
            <a:pPr>
              <a:spcAft>
                <a:spcPts val="1000"/>
              </a:spcAft>
              <a:defRPr sz="1800">
                <a:solidFill>
                  <a:srgbClr val="333333"/>
                </a:solidFill>
              </a:defRPr>
            </a:pPr>
            <a:r>
              <a:t>If you push down on a car's bumper and release, it will bounce up and down at its natural frequency.</a:t>
            </a:r>
          </a:p>
          <a:p>
            <a:pPr>
              <a:spcAft>
                <a:spcPts val="1000"/>
              </a:spcAft>
              <a:defRPr sz="1800">
                <a:solidFill>
                  <a:srgbClr val="333333"/>
                </a:solidFill>
              </a:defRPr>
            </a:pPr>
            <a:r>
              <a:t>Typical Values for Cars:</a:t>
            </a:r>
          </a:p>
          <a:p>
            <a:pPr>
              <a:spcAft>
                <a:spcPts val="1000"/>
              </a:spcAft>
              <a:defRPr sz="1800">
                <a:solidFill>
                  <a:srgbClr val="333333"/>
                </a:solidFill>
              </a:defRPr>
            </a:pPr>
            <a:r>
              <a:t>| Vehicle Type | Natural Frequency fn | Period Tn |</a:t>
            </a:r>
          </a:p>
          <a:p>
            <a:pPr>
              <a:spcAft>
                <a:spcPts val="1000"/>
              </a:spcAft>
              <a:defRPr sz="1800">
                <a:solidFill>
                  <a:srgbClr val="333333"/>
                </a:solidFill>
              </a:defRPr>
            </a:pPr>
            <a:r>
              <a:t>|--------------|----------------------|-----------|</a:t>
            </a:r>
          </a:p>
          <a:p>
            <a:pPr>
              <a:spcAft>
                <a:spcPts val="1000"/>
              </a:spcAft>
              <a:defRPr sz="1800">
                <a:solidFill>
                  <a:srgbClr val="333333"/>
                </a:solidFill>
              </a:defRPr>
            </a:pPr>
            <a:r>
              <a:t>| Luxury sedan | 1.0 - 1.2 Hz | 0.83 - 1.0 s |</a:t>
            </a:r>
          </a:p>
          <a:p>
            <a:pPr>
              <a:spcAft>
                <a:spcPts val="1000"/>
              </a:spcAft>
              <a:defRPr sz="1800">
                <a:solidFill>
                  <a:srgbClr val="333333"/>
                </a:solidFill>
              </a:defRPr>
            </a:pPr>
            <a:r>
              <a:t>| Family car | 1.2 - 1.5 Hz | 0.67 - 0.83 s |</a:t>
            </a:r>
          </a:p>
          <a:p>
            <a:pPr>
              <a:spcAft>
                <a:spcPts val="1000"/>
              </a:spcAft>
              <a:defRPr sz="1800">
                <a:solidFill>
                  <a:srgbClr val="333333"/>
                </a:solidFill>
              </a:defRPr>
            </a:pPr>
            <a:r>
              <a:t>| Sports car | 1.5 - 2.0 Hz | 0.5 - 0.67 s |</a:t>
            </a:r>
          </a:p>
          <a:p>
            <a:pPr>
              <a:spcAft>
                <a:spcPts val="1000"/>
              </a:spcAft>
              <a:defRPr sz="1800">
                <a:solidFill>
                  <a:srgbClr val="333333"/>
                </a:solidFill>
              </a:defRPr>
            </a:pPr>
            <a:r>
              <a:t>| Race car | 2.0 - 3.0 Hz | 0.33 - 0.5 s |</a:t>
            </a:r>
          </a:p>
          <a:p>
            <a:pPr>
              <a:spcAft>
                <a:spcPts val="1000"/>
              </a:spcAft>
              <a:defRPr sz="1800">
                <a:solidFill>
                  <a:srgbClr val="333333"/>
                </a:solidFill>
              </a:defRPr>
            </a:pPr>
            <a:r>
              <a:t>| Heavy truck | 0.8 - 1.0 Hz | 1.0 - 1.25 s |</a:t>
            </a:r>
          </a:p>
          <a:p>
            <a:pPr>
              <a:spcAft>
                <a:spcPts val="1000"/>
              </a:spcAft>
              <a:defRPr sz="1800">
                <a:solidFill>
                  <a:srgbClr val="333333"/>
                </a:solidFill>
              </a:defRPr>
            </a:pPr>
            <a:r>
              <a:t>Why does this matter?</a:t>
            </a:r>
          </a:p>
          <a:p>
            <a:pPr>
              <a:spcAft>
                <a:spcPts val="1000"/>
              </a:spcAft>
              <a:defRPr sz="1800">
                <a:solidFill>
                  <a:srgbClr val="333333"/>
                </a:solidFill>
              </a:defRPr>
            </a:pPr>
            <a:r>
              <a:t>Lower frequency (soft suspension): — More comfortable (body moves slowly, low acceleration)</a:t>
            </a:r>
          </a:p>
          <a:p>
            <a:pPr>
              <a:spcAft>
                <a:spcPts val="600"/>
              </a:spcAft>
              <a:defRPr sz="1800">
                <a:solidFill>
                  <a:srgbClr val="333333"/>
                </a:solidFill>
              </a:defRPr>
            </a:pPr>
            <a:r>
              <a:t>Poor handling (body wallows and rolls excessively)</a:t>
            </a:r>
          </a:p>
          <a:p>
            <a:pPr>
              <a:spcAft>
                <a:spcPts val="600"/>
              </a:spcAft>
              <a:defRPr sz="1800">
                <a:solidFill>
                  <a:srgbClr val="333333"/>
                </a:solidFill>
              </a:defRPr>
            </a:pPr>
            <a:r>
              <a:t>Good for luxury cars</a:t>
            </a:r>
          </a:p>
          <a:p>
            <a:pPr>
              <a:spcAft>
                <a:spcPts val="1000"/>
              </a:spcAft>
              <a:defRPr sz="1800">
                <a:solidFill>
                  <a:srgbClr val="333333"/>
                </a:solidFill>
              </a:defRPr>
            </a:pPr>
            <a:r>
              <a:t>Higher frequency (stiff suspension): — Harsher ride (body moves quickly, high acceleration)</a:t>
            </a:r>
          </a:p>
          <a:p>
            <a:pPr>
              <a:spcAft>
                <a:spcPts val="600"/>
              </a:spcAft>
              <a:defRPr sz="1800">
                <a:solidFill>
                  <a:srgbClr val="333333"/>
                </a:solidFill>
              </a:defRPr>
            </a:pPr>
            <a:r>
              <a:t>Better handling (body stays flat)</a:t>
            </a:r>
          </a:p>
          <a:p>
            <a:pPr>
              <a:spcAft>
                <a:spcPts val="600"/>
              </a:spcAft>
              <a:defRPr sz="1800">
                <a:solidFill>
                  <a:srgbClr val="333333"/>
                </a:solidFill>
              </a:defRPr>
            </a:pPr>
            <a:r>
              <a:t>Good for sports cars</a:t>
            </a:r>
          </a:p>
          <a:p>
            <a:pPr>
              <a:spcAft>
                <a:spcPts val="1000"/>
              </a:spcAft>
              <a:defRPr sz="1800">
                <a:solidFill>
                  <a:srgbClr val="333333"/>
                </a:solidFill>
              </a:defRPr>
            </a:pPr>
            <a:r>
              <a:t>Human Comfort Range: — Below 1.0 Hz: Very comfortable (luxury)</a:t>
            </a:r>
          </a:p>
          <a:p>
            <a:pPr>
              <a:spcAft>
                <a:spcPts val="600"/>
              </a:spcAft>
              <a:defRPr sz="1800">
                <a:solidFill>
                  <a:srgbClr val="333333"/>
                </a:solidFill>
              </a:defRPr>
            </a:pPr>
            <a:r>
              <a:t>1.0-1.5 Hz: Comfortable (most passenger cars)</a:t>
            </a:r>
          </a:p>
          <a:p>
            <a:pPr>
              <a:spcAft>
                <a:spcPts val="600"/>
              </a:spcAft>
              <a:defRPr sz="1800">
                <a:solidFill>
                  <a:srgbClr val="333333"/>
                </a:solidFill>
              </a:defRPr>
            </a:pPr>
            <a:r>
              <a:t>1.5-2.0 Hz: Firm but acceptable (sport sedans)</a:t>
            </a:r>
          </a:p>
          <a:p>
            <a:pPr>
              <a:spcAft>
                <a:spcPts val="600"/>
              </a:spcAft>
              <a:defRPr sz="1800">
                <a:solidFill>
                  <a:srgbClr val="333333"/>
                </a:solidFill>
              </a:defRPr>
            </a:pPr>
            <a:r>
              <a:t>Above 2.0 Hz: Harsh (sports cars, race cars)</a:t>
            </a:r>
          </a:p>
          <a:p>
            <a:pPr>
              <a:spcAft>
                <a:spcPts val="1000"/>
              </a:spcAft>
              <a:defRPr sz="1800">
                <a:solidFill>
                  <a:srgbClr val="333333"/>
                </a:solidFill>
              </a:defRPr>
            </a:pPr>
            <a:r>
              <a:t>Instructor Narration (continued):</a:t>
            </a:r>
          </a:p>
          <a:p>
            <a:pPr>
              <a:spcAft>
                <a:spcPts val="1000"/>
              </a:spcAft>
              <a:defRPr sz="1800">
                <a:solidFill>
                  <a:srgbClr val="333333"/>
                </a:solidFill>
              </a:defRPr>
            </a:pPr>
            <a:r>
              <a:t>The natural frequency is the suspension's DNA. It defines the fundamental character of the ride. You can tune damping and other parameters, but you can't escape the natural frequency without changing the spring stiffness or mass.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Damping Ratio - Controlling the Oscillation</a:t>
            </a:r>
          </a:p>
        </p:txBody>
      </p:sp>
      <p:sp>
        <p:nvSpPr>
          <p:cNvPr id="3" name="Content Placeholder 2"/>
          <p:cNvSpPr>
            <a:spLocks noGrp="1"/>
          </p:cNvSpPr>
          <p:nvPr>
            <p:ph idx="1"/>
          </p:nvPr>
        </p:nvSpPr>
        <p:spPr/>
        <p:txBody>
          <a:bodyPr/>
          <a:lstStyle/>
          <a:p>
            <a:pPr>
              <a:spcAft>
                <a:spcPts val="1000"/>
              </a:spcAft>
              <a:defRPr sz="1800">
                <a:solidFill>
                  <a:srgbClr val="333333"/>
                </a:solidFill>
              </a:defRPr>
            </a:pPr>
            <a:r>
              <a:t>Instructor Narration:</a:t>
            </a:r>
          </a:p>
          <a:p>
            <a:pPr>
              <a:spcAft>
                <a:spcPts val="1000"/>
              </a:spcAft>
              <a:defRPr sz="1800">
                <a:solidFill>
                  <a:srgbClr val="333333"/>
                </a:solidFill>
              </a:defRPr>
            </a:pPr>
            <a:r>
              <a:t>The spring stores energy. Without a damper, the car would bounce forever (like a bungee cord).</a:t>
            </a:r>
          </a:p>
          <a:p>
            <a:pPr>
              <a:spcAft>
                <a:spcPts val="1000"/>
              </a:spcAft>
              <a:defRPr sz="1800">
                <a:solidFill>
                  <a:srgbClr val="333333"/>
                </a:solidFill>
              </a:defRPr>
            </a:pPr>
            <a:r>
              <a:t>The damper dissipates energy as heat, controlling how quickly the oscillation dies out.</a:t>
            </a:r>
          </a:p>
          <a:p>
            <a:pPr>
              <a:spcAft>
                <a:spcPts val="1000"/>
              </a:spcAft>
              <a:defRPr sz="1800">
                <a:solidFill>
                  <a:srgbClr val="333333"/>
                </a:solidFill>
              </a:defRPr>
            </a:pPr>
            <a:r>
              <a:t>Damping Ratio (ζ):</a:t>
            </a:r>
          </a:p>
          <a:p>
            <a:pPr>
              <a:defRPr sz="1400">
                <a:solidFill>
                  <a:srgbClr val="787878"/>
                </a:solidFill>
                <a:latin typeface="Consolas"/>
              </a:defRPr>
            </a:pPr>
            <a:r>
              <a:t>ζ = c / (2 × √(k × m_s))</a:t>
            </a:r>
            <a:br/>
            <a:br/>
            <a:r>
              <a:t>Where:</a:t>
            </a:r>
            <a:br/>
            <a:r>
              <a:t>c = Damping coefficient (N·s/m)</a:t>
            </a:r>
            <a:br/>
            <a:r>
              <a:t>k = Spring stiffness (N/m)</a:t>
            </a:r>
            <a:br/>
            <a:r>
              <a:t>m_s = Sprung mass (kg)</a:t>
            </a:r>
          </a:p>
          <a:p>
            <a:pPr>
              <a:spcAft>
                <a:spcPts val="1000"/>
              </a:spcAft>
              <a:defRPr sz="1800">
                <a:solidFill>
                  <a:srgbClr val="333333"/>
                </a:solidFill>
              </a:defRPr>
            </a:pPr>
            <a:r>
              <a:t>Three Damping Regimes:</a:t>
            </a:r>
          </a:p>
          <a:p>
            <a:pPr>
              <a:spcAft>
                <a:spcPts val="1000"/>
              </a:spcAft>
              <a:defRPr sz="1800">
                <a:solidFill>
                  <a:srgbClr val="333333"/>
                </a:solidFill>
              </a:defRPr>
            </a:pPr>
            <a:r>
              <a:t>1. UNDERDAMPED (ζ &lt; 1) — System oscillates but amplitude decreases over time</a:t>
            </a:r>
          </a:p>
          <a:p>
            <a:pPr>
              <a:spcAft>
                <a:spcPts val="600"/>
              </a:spcAft>
              <a:defRPr sz="1800">
                <a:solidFill>
                  <a:srgbClr val="333333"/>
                </a:solidFill>
              </a:defRPr>
            </a:pPr>
            <a:r>
              <a:t>Typical for vehicle suspensions: ζ = 0.2 to 0.4</a:t>
            </a:r>
          </a:p>
          <a:p>
            <a:pPr>
              <a:spcAft>
                <a:spcPts val="600"/>
              </a:spcAft>
              <a:defRPr sz="1800">
                <a:solidFill>
                  <a:srgbClr val="333333"/>
                </a:solidFill>
              </a:defRPr>
            </a:pPr>
            <a:r>
              <a:t>Allows some oscillation (important for comfort)</a:t>
            </a:r>
          </a:p>
          <a:p>
            <a:pPr>
              <a:spcAft>
                <a:spcPts val="600"/>
              </a:spcAft>
              <a:defRPr sz="1800">
                <a:solidFill>
                  <a:srgbClr val="333333"/>
                </a:solidFill>
              </a:defRPr>
            </a:pPr>
            <a:r>
              <a:t>Example: ζ = 0.3 means ~3-4 bounces before settling</a:t>
            </a:r>
          </a:p>
          <a:p>
            <a:pPr>
              <a:spcAft>
                <a:spcPts val="1000"/>
              </a:spcAft>
              <a:defRPr sz="1800">
                <a:solidFill>
                  <a:srgbClr val="333333"/>
                </a:solidFill>
              </a:defRPr>
            </a:pPr>
            <a:r>
              <a:t>2. CRITICALLY DAMPED (ζ = 1) — System returns to equilibrium without oscillating</a:t>
            </a:r>
          </a:p>
          <a:p>
            <a:pPr>
              <a:spcAft>
                <a:spcPts val="600"/>
              </a:spcAft>
              <a:defRPr sz="1800">
                <a:solidFill>
                  <a:srgbClr val="333333"/>
                </a:solidFill>
              </a:defRPr>
            </a:pPr>
            <a:r>
              <a:t>Fastest possible return with no overshoot</a:t>
            </a:r>
          </a:p>
          <a:p>
            <a:pPr>
              <a:spcAft>
                <a:spcPts val="600"/>
              </a:spcAft>
              <a:defRPr sz="1800">
                <a:solidFill>
                  <a:srgbClr val="333333"/>
                </a:solidFill>
              </a:defRPr>
            </a:pPr>
            <a:r>
              <a:t>Theoretical ideal, but rarely used in practice</a:t>
            </a:r>
          </a:p>
          <a:p>
            <a:pPr>
              <a:spcAft>
                <a:spcPts val="600"/>
              </a:spcAft>
              <a:defRPr sz="1800">
                <a:solidFill>
                  <a:srgbClr val="333333"/>
                </a:solidFill>
              </a:defRPr>
            </a:pPr>
            <a:r>
              <a:t>Too harsh for comfort</a:t>
            </a:r>
          </a:p>
          <a:p>
            <a:pPr>
              <a:spcAft>
                <a:spcPts val="1000"/>
              </a:spcAft>
              <a:defRPr sz="1800">
                <a:solidFill>
                  <a:srgbClr val="333333"/>
                </a:solidFill>
              </a:defRPr>
            </a:pPr>
            <a:r>
              <a:t>3. OVERDAMPED (ζ &gt; 1) — System returns very slowly without oscillating</a:t>
            </a:r>
          </a:p>
          <a:p>
            <a:pPr>
              <a:spcAft>
                <a:spcPts val="600"/>
              </a:spcAft>
              <a:defRPr sz="1800">
                <a:solidFill>
                  <a:srgbClr val="333333"/>
                </a:solidFill>
              </a:defRPr>
            </a:pPr>
            <a:r>
              <a:t>Sluggish response (body wallows)</a:t>
            </a:r>
          </a:p>
          <a:p>
            <a:pPr>
              <a:spcAft>
                <a:spcPts val="600"/>
              </a:spcAft>
              <a:defRPr sz="1800">
                <a:solidFill>
                  <a:srgbClr val="333333"/>
                </a:solidFill>
              </a:defRPr>
            </a:pPr>
            <a:r>
              <a:t>Poor handling feel</a:t>
            </a:r>
          </a:p>
          <a:p>
            <a:pPr>
              <a:spcAft>
                <a:spcPts val="600"/>
              </a:spcAft>
              <a:defRPr sz="1800">
                <a:solidFill>
                  <a:srgbClr val="333333"/>
                </a:solidFill>
              </a:defRPr>
            </a:pPr>
            <a:r>
              <a:t>Never used in passenger vehicles</a:t>
            </a:r>
          </a:p>
          <a:p>
            <a:pPr>
              <a:spcAft>
                <a:spcPts val="1000"/>
              </a:spcAft>
              <a:defRPr sz="1800">
                <a:solidFill>
                  <a:srgbClr val="333333"/>
                </a:solidFill>
              </a:defRPr>
            </a:pPr>
            <a:r>
              <a:t>Why Underdamped?</a:t>
            </a:r>
          </a:p>
          <a:p>
            <a:pPr>
              <a:spcAft>
                <a:spcPts val="1000"/>
              </a:spcAft>
              <a:defRPr sz="1800">
                <a:solidFill>
                  <a:srgbClr val="333333"/>
                </a:solidFill>
              </a:defRPr>
            </a:pPr>
            <a:r>
              <a:t>Passenger cars use ζ = 0.2 to 0.4 (underdamped) because:</a:t>
            </a:r>
          </a:p>
          <a:p>
            <a:pPr>
              <a:spcAft>
                <a:spcPts val="1000"/>
              </a:spcAft>
              <a:defRPr sz="1800">
                <a:solidFill>
                  <a:srgbClr val="333333"/>
                </a:solidFill>
              </a:defRPr>
            </a:pPr>
            <a:r>
              <a:t>✅ Allows body to move over large bumps (comfort)</a:t>
            </a:r>
          </a:p>
          <a:p>
            <a:pPr>
              <a:spcAft>
                <a:spcPts val="1000"/>
              </a:spcAft>
              <a:defRPr sz="1800">
                <a:solidFill>
                  <a:srgbClr val="333333"/>
                </a:solidFill>
              </a:defRPr>
            </a:pPr>
            <a:r>
              <a:t>✅ Provides some compliance (not too harsh)</a:t>
            </a:r>
          </a:p>
          <a:p>
            <a:pPr>
              <a:spcAft>
                <a:spcPts val="1000"/>
              </a:spcAft>
              <a:defRPr sz="1800">
                <a:solidFill>
                  <a:srgbClr val="333333"/>
                </a:solidFill>
              </a:defRPr>
            </a:pPr>
            <a:r>
              <a:t>✅ Still returns to equilibrium quickly enough (2-3 bounces, then settled)</a:t>
            </a:r>
          </a:p>
          <a:p>
            <a:pPr>
              <a:spcAft>
                <a:spcPts val="1000"/>
              </a:spcAft>
              <a:defRPr sz="1800">
                <a:solidFill>
                  <a:srgbClr val="333333"/>
                </a:solidFill>
              </a:defRPr>
            </a:pPr>
            <a:r>
              <a:t>Critical Damping coefficient c_crit:</a:t>
            </a:r>
          </a:p>
          <a:p>
            <a:pPr>
              <a:defRPr sz="1400">
                <a:solidFill>
                  <a:srgbClr val="787878"/>
                </a:solidFill>
                <a:latin typeface="Consolas"/>
              </a:defRPr>
            </a:pPr>
            <a:r>
              <a:t>c_crit = 2 × √(k × m_s)</a:t>
            </a:r>
            <a:br/>
            <a:br/>
            <a:r>
              <a:t>Actual damping:</a:t>
            </a:r>
            <a:br/>
            <a:r>
              <a:t>c = ζ × c_crit</a:t>
            </a:r>
          </a:p>
          <a:p>
            <a:pPr>
              <a:spcAft>
                <a:spcPts val="1000"/>
              </a:spcAft>
              <a:defRPr sz="1800">
                <a:solidFill>
                  <a:srgbClr val="333333"/>
                </a:solidFill>
              </a:defRPr>
            </a:pPr>
            <a:r>
              <a:t>Instructor Narration (continued):</a:t>
            </a:r>
          </a:p>
          <a:p>
            <a:pPr>
              <a:spcAft>
                <a:spcPts val="1000"/>
              </a:spcAft>
              <a:defRPr sz="1800">
                <a:solidFill>
                  <a:srgbClr val="333333"/>
                </a:solidFill>
              </a:defRPr>
            </a:pPr>
            <a:r>
              <a:t>Here's the key insight: comfort requires some oscillation (soft damping, ζ ~ 0.3). Handling requires tight control (stiff damping, ζ ~ 0.7). No fixed damper value can satisfy both. This is why modern cars use adaptive dampers that change ζ based on driving conditions—we'll cover this later.</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Worked Example - Suspension Natural Frequency</a:t>
            </a:r>
          </a:p>
        </p:txBody>
      </p:sp>
      <p:sp>
        <p:nvSpPr>
          <p:cNvPr id="3" name="Content Placeholder 2"/>
          <p:cNvSpPr>
            <a:spLocks noGrp="1"/>
          </p:cNvSpPr>
          <p:nvPr>
            <p:ph idx="1"/>
          </p:nvPr>
        </p:nvSpPr>
        <p:spPr/>
        <p:txBody>
          <a:bodyPr/>
          <a:lstStyle/>
          <a:p>
            <a:pPr>
              <a:spcAft>
                <a:spcPts val="1000"/>
              </a:spcAft>
              <a:defRPr sz="1800">
                <a:solidFill>
                  <a:srgbClr val="333333"/>
                </a:solidFill>
              </a:defRPr>
            </a:pPr>
            <a:r>
              <a:t>GIVEN:</a:t>
            </a:r>
          </a:p>
          <a:p>
            <a:pPr>
              <a:spcAft>
                <a:spcPts val="1000"/>
              </a:spcAft>
              <a:defRPr sz="1800">
                <a:solidFill>
                  <a:srgbClr val="333333"/>
                </a:solidFill>
              </a:defRPr>
            </a:pPr>
            <a:r>
              <a:t>Honda Civic front suspension (one corner):</a:t>
            </a:r>
          </a:p>
          <a:p>
            <a:pPr>
              <a:spcAft>
                <a:spcPts val="600"/>
              </a:spcAft>
              <a:defRPr sz="1800">
                <a:solidFill>
                  <a:srgbClr val="333333"/>
                </a:solidFill>
              </a:defRPr>
            </a:pPr>
            <a:r>
              <a:t>Sprung mass m_s = 325 kg (¼ of total vehicle mass, front-biased)</a:t>
            </a:r>
          </a:p>
          <a:p>
            <a:pPr>
              <a:spcAft>
                <a:spcPts val="600"/>
              </a:spcAft>
              <a:defRPr sz="1800">
                <a:solidFill>
                  <a:srgbClr val="333333"/>
                </a:solidFill>
              </a:defRPr>
            </a:pPr>
            <a:r>
              <a:t>Spring stiffness k = 25,000 N/m</a:t>
            </a:r>
          </a:p>
          <a:p>
            <a:pPr>
              <a:spcAft>
                <a:spcPts val="600"/>
              </a:spcAft>
              <a:defRPr sz="1800">
                <a:solidFill>
                  <a:srgbClr val="333333"/>
                </a:solidFill>
              </a:defRPr>
            </a:pPr>
            <a:r>
              <a:t>Damping coefficient c = 2,500 N·s/m</a:t>
            </a:r>
          </a:p>
          <a:p>
            <a:pPr>
              <a:spcAft>
                <a:spcPts val="1000"/>
              </a:spcAft>
              <a:defRPr sz="1800">
                <a:solidFill>
                  <a:srgbClr val="333333"/>
                </a:solidFill>
              </a:defRPr>
            </a:pPr>
            <a:r>
              <a:t>FIND:</a:t>
            </a:r>
          </a:p>
          <a:p>
            <a:pPr>
              <a:spcAft>
                <a:spcPts val="1000"/>
              </a:spcAft>
              <a:defRPr sz="1800">
                <a:solidFill>
                  <a:srgbClr val="333333"/>
                </a:solidFill>
              </a:defRPr>
            </a:pPr>
            <a:r>
              <a:t>(a) Natural frequency f_n</a:t>
            </a:r>
          </a:p>
          <a:p>
            <a:pPr>
              <a:spcAft>
                <a:spcPts val="1000"/>
              </a:spcAft>
              <a:defRPr sz="1800">
                <a:solidFill>
                  <a:srgbClr val="333333"/>
                </a:solidFill>
              </a:defRPr>
            </a:pPr>
            <a:r>
              <a:t>(b) Damping ratio ζ</a:t>
            </a:r>
          </a:p>
          <a:p>
            <a:pPr>
              <a:spcAft>
                <a:spcPts val="1000"/>
              </a:spcAft>
              <a:defRPr sz="1800">
                <a:solidFill>
                  <a:srgbClr val="333333"/>
                </a:solidFill>
              </a:defRPr>
            </a:pPr>
            <a:r>
              <a:t>(c) Classify the suspension character</a:t>
            </a:r>
          </a:p>
          <a:p>
            <a:pPr>
              <a:spcAft>
                <a:spcPts val="1000"/>
              </a:spcAft>
              <a:defRPr sz="1800">
                <a:solidFill>
                  <a:srgbClr val="333333"/>
                </a:solidFill>
              </a:defRPr>
            </a:pPr>
            <a:r>
              <a:t>SOLUTION:</a:t>
            </a:r>
          </a:p>
          <a:p>
            <a:pPr>
              <a:spcAft>
                <a:spcPts val="1000"/>
              </a:spcAft>
              <a:defRPr sz="1800">
                <a:solidFill>
                  <a:srgbClr val="333333"/>
                </a:solidFill>
              </a:defRPr>
            </a:pPr>
            <a:r>
              <a:t>Step 1: Calculate natural frequency</a:t>
            </a:r>
          </a:p>
          <a:p>
            <a:pPr>
              <a:defRPr sz="1400">
                <a:solidFill>
                  <a:srgbClr val="787878"/>
                </a:solidFill>
                <a:latin typeface="Consolas"/>
              </a:defRPr>
            </a:pPr>
            <a:r>
              <a:t>ω_n = √(k / m_s)</a:t>
            </a:r>
            <a:br/>
            <a:r>
              <a:t>    = √(25,000 / 325)</a:t>
            </a:r>
            <a:br/>
            <a:r>
              <a:t>    = √76.923</a:t>
            </a:r>
            <a:br/>
            <a:r>
              <a:t>    = 8.77 rad/s</a:t>
            </a:r>
            <a:br/>
            <a:br/>
            <a:r>
              <a:t>f_n = ω_n / (2π)</a:t>
            </a:r>
            <a:br/>
            <a:r>
              <a:t>    = 8.77 / 6.283</a:t>
            </a:r>
            <a:br/>
            <a:r>
              <a:t>    = 1.40 Hz</a:t>
            </a:r>
          </a:p>
          <a:p>
            <a:pPr>
              <a:spcAft>
                <a:spcPts val="1000"/>
              </a:spcAft>
              <a:defRPr sz="1800">
                <a:solidFill>
                  <a:srgbClr val="333333"/>
                </a:solidFill>
              </a:defRPr>
            </a:pPr>
            <a:r>
              <a:t>Step 2: Calculate critical damping coefficient</a:t>
            </a:r>
          </a:p>
          <a:p>
            <a:pPr>
              <a:defRPr sz="1400">
                <a:solidFill>
                  <a:srgbClr val="787878"/>
                </a:solidFill>
                <a:latin typeface="Consolas"/>
              </a:defRPr>
            </a:pPr>
            <a:r>
              <a:t>c_crit = 2 × √(k × m_s)</a:t>
            </a:r>
            <a:br/>
            <a:r>
              <a:t>       = 2 × √(25,000 × 325)</a:t>
            </a:r>
            <a:br/>
            <a:r>
              <a:t>       = 2 × √8,125,000</a:t>
            </a:r>
            <a:br/>
            <a:r>
              <a:t>       = 2 × 2,850</a:t>
            </a:r>
            <a:br/>
            <a:r>
              <a:t>       = 5,700 N·s/m</a:t>
            </a:r>
          </a:p>
          <a:p>
            <a:pPr>
              <a:spcAft>
                <a:spcPts val="1000"/>
              </a:spcAft>
              <a:defRPr sz="1800">
                <a:solidFill>
                  <a:srgbClr val="333333"/>
                </a:solidFill>
              </a:defRPr>
            </a:pPr>
            <a:r>
              <a:t>Step 3: Calculate damping ratio</a:t>
            </a:r>
          </a:p>
          <a:p>
            <a:pPr>
              <a:defRPr sz="1400">
                <a:solidFill>
                  <a:srgbClr val="787878"/>
                </a:solidFill>
                <a:latin typeface="Consolas"/>
              </a:defRPr>
            </a:pPr>
            <a:r>
              <a:t>ζ = c / c_crit</a:t>
            </a:r>
            <a:br/>
            <a:r>
              <a:t>  = 2,500 / 5,700</a:t>
            </a:r>
            <a:br/>
            <a:r>
              <a:t>  = 0.439</a:t>
            </a:r>
          </a:p>
          <a:p>
            <a:pPr>
              <a:spcAft>
                <a:spcPts val="1000"/>
              </a:spcAft>
              <a:defRPr sz="1800">
                <a:solidFill>
                  <a:srgbClr val="333333"/>
                </a:solidFill>
              </a:defRPr>
            </a:pPr>
            <a:r>
              <a:t>RESULTS: — Natural frequency: 1.40 Hz (period T = 0.71 seconds)</a:t>
            </a:r>
          </a:p>
          <a:p>
            <a:pPr>
              <a:spcAft>
                <a:spcPts val="600"/>
              </a:spcAft>
              <a:defRPr sz="1800">
                <a:solidFill>
                  <a:srgbClr val="333333"/>
                </a:solidFill>
              </a:defRPr>
            </a:pPr>
            <a:r>
              <a:t>Damping ratio: 0.439 (underdamped)</a:t>
            </a:r>
          </a:p>
          <a:p>
            <a:pPr>
              <a:spcAft>
                <a:spcPts val="600"/>
              </a:spcAft>
              <a:defRPr sz="1800">
                <a:solidFill>
                  <a:srgbClr val="333333"/>
                </a:solidFill>
              </a:defRPr>
            </a:pPr>
            <a:r>
              <a:t>Classification: Typical comfort-oriented family car suspension</a:t>
            </a:r>
          </a:p>
          <a:p>
            <a:pPr>
              <a:spcAft>
                <a:spcPts val="1000"/>
              </a:spcAft>
              <a:defRPr sz="1800">
                <a:solidFill>
                  <a:srgbClr val="333333"/>
                </a:solidFill>
              </a:defRPr>
            </a:pPr>
            <a:r>
              <a:t>Interpretation:</a:t>
            </a:r>
          </a:p>
          <a:p>
            <a:pPr>
              <a:spcAft>
                <a:spcPts val="1000"/>
              </a:spcAft>
              <a:defRPr sz="1800">
                <a:solidFill>
                  <a:srgbClr val="333333"/>
                </a:solidFill>
              </a:defRPr>
            </a:pPr>
            <a:r>
              <a:t>✅ f_n = 1.40 Hz: Comfortable for passengers (in the 1.2-1.5 Hz range)</a:t>
            </a:r>
          </a:p>
          <a:p>
            <a:pPr>
              <a:spcAft>
                <a:spcPts val="1000"/>
              </a:spcAft>
              <a:defRPr sz="1800">
                <a:solidFill>
                  <a:srgbClr val="333333"/>
                </a:solidFill>
              </a:defRPr>
            </a:pPr>
            <a:r>
              <a:t>✅ ζ = 0.439: Underdamped but well-controlled (will bounce ~2-3 times after large bump, then settle)</a:t>
            </a:r>
          </a:p>
          <a:p>
            <a:pPr>
              <a:spcAft>
                <a:spcPts val="1000"/>
              </a:spcAft>
              <a:defRPr sz="1800">
                <a:solidFill>
                  <a:srgbClr val="333333"/>
                </a:solidFill>
              </a:defRPr>
            </a:pPr>
            <a:r>
              <a:t>✅ Character: Balanced between comfort and handling—not too soft (wallowing), not too firm (harsh)</a:t>
            </a:r>
          </a:p>
          <a:p>
            <a:pPr>
              <a:spcAft>
                <a:spcPts val="1000"/>
              </a:spcAft>
              <a:defRPr sz="1800">
                <a:solidFill>
                  <a:srgbClr val="333333"/>
                </a:solidFill>
              </a:defRPr>
            </a:pPr>
            <a:r>
              <a:t>What if this were a sports car? — Increase spring stiffness: k = 35,000 N/m</a:t>
            </a:r>
          </a:p>
          <a:p>
            <a:pPr>
              <a:spcAft>
                <a:spcPts val="600"/>
              </a:spcAft>
              <a:defRPr sz="1800">
                <a:solidFill>
                  <a:srgbClr val="333333"/>
                </a:solidFill>
              </a:defRPr>
            </a:pPr>
            <a:r>
              <a:t>New f_n = √(35,000/325) / (2π) = 1.65 Hz (firmer, sportier)</a:t>
            </a:r>
          </a:p>
          <a:p>
            <a:pPr>
              <a:spcAft>
                <a:spcPts val="600"/>
              </a:spcAft>
              <a:defRPr sz="1800">
                <a:solidFill>
                  <a:srgbClr val="333333"/>
                </a:solidFill>
              </a:defRPr>
            </a:pPr>
            <a:r>
              <a:t>Same damping → new ζ = 0.375 (slightly less damped, more responsive)</a:t>
            </a:r>
          </a:p>
          <a:p>
            <a:pPr>
              <a:spcAft>
                <a:spcPts val="1000"/>
              </a:spcAft>
              <a:defRPr sz="1800">
                <a:solidFill>
                  <a:srgbClr val="333333"/>
                </a:solidFill>
              </a:defRPr>
            </a:pPr>
            <a:r>
              <a:t>Instructor Narration:</a:t>
            </a:r>
          </a:p>
          <a:p>
            <a:pPr>
              <a:spcAft>
                <a:spcPts val="1000"/>
              </a:spcAft>
              <a:defRPr sz="1800">
                <a:solidFill>
                  <a:srgbClr val="333333"/>
                </a:solidFill>
              </a:defRPr>
            </a:pPr>
            <a:r>
              <a:t>Notice how a modest 40% increase in spring stiffness (25k → 35k N/m) changes the natural frequency from 1.40 Hz to 1.65 Hz. That's the difference between a comfort sedan and a sport sedan. Small changes in springs = big changes in character.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Frequency Response - How Suspension Reacts to Different Bumps</a:t>
            </a:r>
          </a:p>
        </p:txBody>
      </p:sp>
      <p:sp>
        <p:nvSpPr>
          <p:cNvPr id="3" name="Content Placeholder 2"/>
          <p:cNvSpPr>
            <a:spLocks noGrp="1"/>
          </p:cNvSpPr>
          <p:nvPr>
            <p:ph idx="1"/>
          </p:nvPr>
        </p:nvSpPr>
        <p:spPr/>
        <p:txBody>
          <a:bodyPr/>
          <a:lstStyle/>
          <a:p>
            <a:pPr>
              <a:spcAft>
                <a:spcPts val="1000"/>
              </a:spcAft>
              <a:defRPr sz="1800">
                <a:solidFill>
                  <a:srgbClr val="333333"/>
                </a:solidFill>
              </a:defRPr>
            </a:pPr>
            <a:r>
              <a:t>Instructor Narration:</a:t>
            </a:r>
          </a:p>
          <a:p>
            <a:pPr>
              <a:spcAft>
                <a:spcPts val="1000"/>
              </a:spcAft>
              <a:defRPr sz="1800">
                <a:solidFill>
                  <a:srgbClr val="333333"/>
                </a:solidFill>
              </a:defRPr>
            </a:pPr>
            <a:r>
              <a:t>Real roads have bumps of different sizes and frequencies:</a:t>
            </a:r>
          </a:p>
          <a:p>
            <a:pPr>
              <a:spcAft>
                <a:spcPts val="600"/>
              </a:spcAft>
              <a:defRPr sz="1800">
                <a:solidFill>
                  <a:srgbClr val="333333"/>
                </a:solidFill>
              </a:defRPr>
            </a:pPr>
            <a:r>
              <a:t>Small, rapid bumps (high frequency): Road texture, expansion joints</a:t>
            </a:r>
          </a:p>
          <a:p>
            <a:pPr>
              <a:spcAft>
                <a:spcPts val="600"/>
              </a:spcAft>
              <a:defRPr sz="1800">
                <a:solidFill>
                  <a:srgbClr val="333333"/>
                </a:solidFill>
              </a:defRPr>
            </a:pPr>
            <a:r>
              <a:t>Medium bumps (around natural frequency): Potholes, speed bumps</a:t>
            </a:r>
          </a:p>
          <a:p>
            <a:pPr>
              <a:spcAft>
                <a:spcPts val="600"/>
              </a:spcAft>
              <a:defRPr sz="1800">
                <a:solidFill>
                  <a:srgbClr val="333333"/>
                </a:solidFill>
              </a:defRPr>
            </a:pPr>
            <a:r>
              <a:t>Large, slow undulations (low frequency): Highway dips, railway crossings</a:t>
            </a:r>
          </a:p>
          <a:p>
            <a:pPr>
              <a:spcAft>
                <a:spcPts val="1000"/>
              </a:spcAft>
              <a:defRPr sz="1800">
                <a:solidFill>
                  <a:srgbClr val="333333"/>
                </a:solidFill>
              </a:defRPr>
            </a:pPr>
            <a:r>
              <a:t>How does the suspension respond?</a:t>
            </a:r>
          </a:p>
          <a:p>
            <a:pPr>
              <a:spcAft>
                <a:spcPts val="1000"/>
              </a:spcAft>
              <a:defRPr sz="1800">
                <a:solidFill>
                  <a:srgbClr val="333333"/>
                </a:solidFill>
              </a:defRPr>
            </a:pPr>
            <a:r>
              <a:t>Transmissibility (TR):</a:t>
            </a:r>
          </a:p>
          <a:p>
            <a:pPr>
              <a:defRPr sz="1400">
                <a:solidFill>
                  <a:srgbClr val="787878"/>
                </a:solidFill>
                <a:latin typeface="Consolas"/>
              </a:defRPr>
            </a:pPr>
            <a:r>
              <a:t>TR = (Body Acceleration) / (Road Acceleration)</a:t>
            </a:r>
            <a:br/>
            <a:br/>
            <a:r>
              <a:t>TR depends on:</a:t>
            </a:r>
            <a:br/>
            <a:r>
              <a:t>- Excitation frequency (f_input)</a:t>
            </a:r>
            <a:br/>
            <a:r>
              <a:t>- Natural frequency (f_n)</a:t>
            </a:r>
            <a:br/>
            <a:r>
              <a:t>- Damping ratio (ζ)</a:t>
            </a:r>
          </a:p>
          <a:p>
            <a:pPr>
              <a:spcAft>
                <a:spcPts val="1000"/>
              </a:spcAft>
              <a:defRPr sz="1800">
                <a:solidFill>
                  <a:srgbClr val="333333"/>
                </a:solidFill>
              </a:defRPr>
            </a:pPr>
            <a:r>
              <a:t>Three Frequency Regions:</a:t>
            </a:r>
          </a:p>
          <a:p>
            <a:pPr>
              <a:spcAft>
                <a:spcPts val="1000"/>
              </a:spcAft>
              <a:defRPr sz="1800">
                <a:solidFill>
                  <a:srgbClr val="333333"/>
                </a:solidFill>
              </a:defRPr>
            </a:pPr>
            <a:r>
              <a:t>REGION 1: LOW FREQUENCY (finput &lt; 0.7 × fn) — Body follows road (TR ≈ 1)</a:t>
            </a:r>
          </a:p>
          <a:p>
            <a:pPr>
              <a:spcAft>
                <a:spcPts val="600"/>
              </a:spcAft>
              <a:defRPr sz="1800">
                <a:solidFill>
                  <a:srgbClr val="333333"/>
                </a:solidFill>
              </a:defRPr>
            </a:pPr>
            <a:r>
              <a:t>Example: Slow hill climb, gentle dip</a:t>
            </a:r>
          </a:p>
          <a:p>
            <a:pPr>
              <a:spcAft>
                <a:spcPts val="600"/>
              </a:spcAft>
              <a:defRPr sz="1800">
                <a:solidFill>
                  <a:srgbClr val="333333"/>
                </a:solidFill>
              </a:defRPr>
            </a:pPr>
            <a:r>
              <a:t>Suspension doesn't need to do much (low relative velocity)</a:t>
            </a:r>
          </a:p>
          <a:p>
            <a:pPr>
              <a:spcAft>
                <a:spcPts val="1000"/>
              </a:spcAft>
              <a:defRPr sz="1800">
                <a:solidFill>
                  <a:srgbClr val="333333"/>
                </a:solidFill>
              </a:defRPr>
            </a:pPr>
            <a:r>
              <a:t>REGION 2: RESONANCE (finput ≈ fn) — AMPLIFICATION (TR &gt; 1, can reach 2-5× for low damping!)</a:t>
            </a:r>
          </a:p>
          <a:p>
            <a:pPr>
              <a:spcAft>
                <a:spcPts val="600"/>
              </a:spcAft>
              <a:defRPr sz="1800">
                <a:solidFill>
                  <a:srgbClr val="333333"/>
                </a:solidFill>
              </a:defRPr>
            </a:pPr>
            <a:r>
              <a:t>Example: Hitting bumps at exactly the wrong speed</a:t>
            </a:r>
          </a:p>
          <a:p>
            <a:pPr>
              <a:spcAft>
                <a:spcPts val="600"/>
              </a:spcAft>
              <a:defRPr sz="1800">
                <a:solidFill>
                  <a:srgbClr val="333333"/>
                </a:solidFill>
              </a:defRPr>
            </a:pPr>
            <a:r>
              <a:t>This is why hitting speed bumps at certain speeds feels terrible</a:t>
            </a:r>
          </a:p>
          <a:p>
            <a:pPr>
              <a:spcAft>
                <a:spcPts val="600"/>
              </a:spcAft>
              <a:defRPr sz="1800">
                <a:solidFill>
                  <a:srgbClr val="333333"/>
                </a:solidFill>
              </a:defRPr>
            </a:pPr>
            <a:r>
              <a:t>Damping is critical here to limit amplification</a:t>
            </a:r>
          </a:p>
          <a:p>
            <a:pPr>
              <a:spcAft>
                <a:spcPts val="600"/>
              </a:spcAft>
              <a:defRPr sz="1800">
                <a:solidFill>
                  <a:srgbClr val="333333"/>
                </a:solidFill>
              </a:defRPr>
            </a:pPr>
            <a:r>
              <a:t>With ζ = 0.3: TR_max ≈ 1.67 (67% amplification)</a:t>
            </a:r>
          </a:p>
          <a:p>
            <a:pPr>
              <a:spcAft>
                <a:spcPts val="600"/>
              </a:spcAft>
              <a:defRPr sz="1800">
                <a:solidFill>
                  <a:srgbClr val="333333"/>
                </a:solidFill>
              </a:defRPr>
            </a:pPr>
            <a:r>
              <a:t>With ζ = 0.7: TR_max ≈ 1.15 (15% amplification)</a:t>
            </a:r>
          </a:p>
          <a:p>
            <a:pPr>
              <a:spcAft>
                <a:spcPts val="1000"/>
              </a:spcAft>
              <a:defRPr sz="1800">
                <a:solidFill>
                  <a:srgbClr val="333333"/>
                </a:solidFill>
              </a:defRPr>
            </a:pPr>
            <a:r>
              <a:t>REGION 3: HIGH FREQUENCY (finput &gt; 1.4 × fn) — Isolation (TR &lt; 1, decreases with frequency)</a:t>
            </a:r>
          </a:p>
          <a:p>
            <a:pPr>
              <a:spcAft>
                <a:spcPts val="600"/>
              </a:spcAft>
              <a:defRPr sz="1800">
                <a:solidFill>
                  <a:srgbClr val="333333"/>
                </a:solidFill>
              </a:defRPr>
            </a:pPr>
            <a:r>
              <a:t>Example: Small, rapid road texture</a:t>
            </a:r>
          </a:p>
          <a:p>
            <a:pPr>
              <a:spcAft>
                <a:spcPts val="600"/>
              </a:spcAft>
              <a:defRPr sz="1800">
                <a:solidFill>
                  <a:srgbClr val="333333"/>
                </a:solidFill>
              </a:defRPr>
            </a:pPr>
            <a:r>
              <a:t>Body is isolated from high-frequency vibrations</a:t>
            </a:r>
          </a:p>
          <a:p>
            <a:pPr>
              <a:spcAft>
                <a:spcPts val="600"/>
              </a:spcAft>
              <a:defRPr sz="1800">
                <a:solidFill>
                  <a:srgbClr val="333333"/>
                </a:solidFill>
              </a:defRPr>
            </a:pPr>
            <a:r>
              <a:t>Spring-mass system acts as a low-pass filter</a:t>
            </a:r>
          </a:p>
          <a:p>
            <a:pPr>
              <a:spcAft>
                <a:spcPts val="1000"/>
              </a:spcAft>
              <a:defRPr sz="1800">
                <a:solidFill>
                  <a:srgbClr val="333333"/>
                </a:solidFill>
              </a:defRPr>
            </a:pPr>
            <a:r>
              <a:t>Design Implication:</a:t>
            </a:r>
          </a:p>
          <a:p>
            <a:pPr>
              <a:spcAft>
                <a:spcPts val="1000"/>
              </a:spcAft>
              <a:defRPr sz="1800">
                <a:solidFill>
                  <a:srgbClr val="333333"/>
                </a:solidFill>
              </a:defRPr>
            </a:pPr>
            <a:r>
              <a:t>Comfort-oriented suspension: — Lower f_n (soft spring) → better high-frequency isolation</a:t>
            </a:r>
          </a:p>
          <a:p>
            <a:pPr>
              <a:spcAft>
                <a:spcPts val="600"/>
              </a:spcAft>
              <a:defRPr sz="1800">
                <a:solidFill>
                  <a:srgbClr val="333333"/>
                </a:solidFill>
              </a:defRPr>
            </a:pPr>
            <a:r>
              <a:t>Lower ζ (soft damper) → more comfort BUT higher resonance peak</a:t>
            </a:r>
          </a:p>
          <a:p>
            <a:pPr>
              <a:spcAft>
                <a:spcPts val="600"/>
              </a:spcAft>
              <a:defRPr sz="1800">
                <a:solidFill>
                  <a:srgbClr val="333333"/>
                </a:solidFill>
              </a:defRPr>
            </a:pPr>
            <a:r>
              <a:t>Trade-off: Comfortable except near resonance</a:t>
            </a:r>
          </a:p>
          <a:p>
            <a:pPr>
              <a:spcAft>
                <a:spcPts val="1000"/>
              </a:spcAft>
              <a:defRPr sz="1800">
                <a:solidFill>
                  <a:srgbClr val="333333"/>
                </a:solidFill>
              </a:defRPr>
            </a:pPr>
            <a:r>
              <a:t>Sport-oriented suspension: — Higher f_n (stiff spring) → less isolation, but more control</a:t>
            </a:r>
          </a:p>
          <a:p>
            <a:pPr>
              <a:spcAft>
                <a:spcPts val="600"/>
              </a:spcAft>
              <a:defRPr sz="1800">
                <a:solidFill>
                  <a:srgbClr val="333333"/>
                </a:solidFill>
              </a:defRPr>
            </a:pPr>
            <a:r>
              <a:t>Higher ζ (stiff damper) → lower resonance peak, tighter control</a:t>
            </a:r>
          </a:p>
          <a:p>
            <a:pPr>
              <a:spcAft>
                <a:spcPts val="600"/>
              </a:spcAft>
              <a:defRPr sz="1800">
                <a:solidFill>
                  <a:srgbClr val="333333"/>
                </a:solidFill>
              </a:defRPr>
            </a:pPr>
            <a:r>
              <a:t>Trade-off: Harsher ride, but body stays flat</a:t>
            </a:r>
          </a:p>
          <a:p>
            <a:pPr>
              <a:spcAft>
                <a:spcPts val="1000"/>
              </a:spcAft>
              <a:defRPr sz="1800">
                <a:solidFill>
                  <a:srgbClr val="333333"/>
                </a:solidFill>
              </a:defRPr>
            </a:pPr>
            <a:r>
              <a:t>Instructor Narration (continued):</a:t>
            </a:r>
          </a:p>
          <a:p>
            <a:pPr>
              <a:spcAft>
                <a:spcPts val="1000"/>
              </a:spcAft>
              <a:defRPr sz="1800">
                <a:solidFill>
                  <a:srgbClr val="333333"/>
                </a:solidFill>
              </a:defRPr>
            </a:pPr>
            <a:r>
              <a:t>This is why speed bumps are designed for 10-20 km/h. At higher speeds, you hit the suspension's resonance frequency, and the bump is amplified. Ever notice how hitting a bump at 40 km/h is worse than at 60 km/h? That's frequency response at work!</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Unsprung Mass - The Hidden Enemy</a:t>
            </a:r>
          </a:p>
        </p:txBody>
      </p:sp>
      <p:sp>
        <p:nvSpPr>
          <p:cNvPr id="3" name="Content Placeholder 2"/>
          <p:cNvSpPr>
            <a:spLocks noGrp="1"/>
          </p:cNvSpPr>
          <p:nvPr>
            <p:ph idx="1"/>
          </p:nvPr>
        </p:nvSpPr>
        <p:spPr/>
        <p:txBody>
          <a:bodyPr/>
          <a:lstStyle/>
          <a:p>
            <a:pPr>
              <a:spcAft>
                <a:spcPts val="1000"/>
              </a:spcAft>
              <a:defRPr sz="1800">
                <a:solidFill>
                  <a:srgbClr val="333333"/>
                </a:solidFill>
              </a:defRPr>
            </a:pPr>
            <a:r>
              <a:t>Instructor Narration:</a:t>
            </a:r>
          </a:p>
          <a:p>
            <a:pPr>
              <a:spcAft>
                <a:spcPts val="1000"/>
              </a:spcAft>
              <a:defRPr sz="1800">
                <a:solidFill>
                  <a:srgbClr val="333333"/>
                </a:solidFill>
              </a:defRPr>
            </a:pPr>
            <a:r>
              <a:t>We've been focusing on sprung mass (the body). But there's another critical parameter: unsprung mass.</a:t>
            </a:r>
          </a:p>
          <a:p>
            <a:pPr>
              <a:spcAft>
                <a:spcPts val="1000"/>
              </a:spcAft>
              <a:defRPr sz="1800">
                <a:solidFill>
                  <a:srgbClr val="333333"/>
                </a:solidFill>
              </a:defRPr>
            </a:pPr>
            <a:r>
              <a:t>Unsprung Mass (m_u):</a:t>
            </a:r>
          </a:p>
          <a:p>
            <a:pPr>
              <a:spcAft>
                <a:spcPts val="1000"/>
              </a:spcAft>
              <a:defRPr sz="1800">
                <a:solidFill>
                  <a:srgbClr val="333333"/>
                </a:solidFill>
              </a:defRPr>
            </a:pPr>
            <a:r>
              <a:t>Everything that moves with the wheel but is not supported by the suspension:</a:t>
            </a:r>
          </a:p>
          <a:p>
            <a:pPr>
              <a:spcAft>
                <a:spcPts val="600"/>
              </a:spcAft>
              <a:defRPr sz="1800">
                <a:solidFill>
                  <a:srgbClr val="333333"/>
                </a:solidFill>
              </a:defRPr>
            </a:pPr>
            <a:r>
              <a:t>Wheel and tire</a:t>
            </a:r>
          </a:p>
          <a:p>
            <a:pPr>
              <a:spcAft>
                <a:spcPts val="600"/>
              </a:spcAft>
              <a:defRPr sz="1800">
                <a:solidFill>
                  <a:srgbClr val="333333"/>
                </a:solidFill>
              </a:defRPr>
            </a:pPr>
            <a:r>
              <a:t>Brake disc/drum and caliper</a:t>
            </a:r>
          </a:p>
          <a:p>
            <a:pPr>
              <a:spcAft>
                <a:spcPts val="600"/>
              </a:spcAft>
              <a:defRPr sz="1800">
                <a:solidFill>
                  <a:srgbClr val="333333"/>
                </a:solidFill>
              </a:defRPr>
            </a:pPr>
            <a:r>
              <a:t>Hub and bearing</a:t>
            </a:r>
          </a:p>
          <a:p>
            <a:pPr>
              <a:spcAft>
                <a:spcPts val="600"/>
              </a:spcAft>
              <a:defRPr sz="1800">
                <a:solidFill>
                  <a:srgbClr val="333333"/>
                </a:solidFill>
              </a:defRPr>
            </a:pPr>
            <a:r>
              <a:t>Lower control arm (partially)</a:t>
            </a:r>
          </a:p>
          <a:p>
            <a:pPr>
              <a:spcAft>
                <a:spcPts val="600"/>
              </a:spcAft>
              <a:defRPr sz="1800">
                <a:solidFill>
                  <a:srgbClr val="333333"/>
                </a:solidFill>
              </a:defRPr>
            </a:pPr>
            <a:r>
              <a:t>Portion of spring and damper</a:t>
            </a:r>
          </a:p>
          <a:p>
            <a:pPr>
              <a:spcAft>
                <a:spcPts val="1000"/>
              </a:spcAft>
              <a:defRPr sz="1800">
                <a:solidFill>
                  <a:srgbClr val="333333"/>
                </a:solidFill>
              </a:defRPr>
            </a:pPr>
            <a:r>
              <a:t>Typical values: — Economy car (steel wheel, small brakes): 35-40 kg per corner</a:t>
            </a:r>
          </a:p>
          <a:p>
            <a:pPr>
              <a:spcAft>
                <a:spcPts val="600"/>
              </a:spcAft>
              <a:defRPr sz="1800">
                <a:solidFill>
                  <a:srgbClr val="333333"/>
                </a:solidFill>
              </a:defRPr>
            </a:pPr>
            <a:r>
              <a:t>Sports car (aluminum wheel, large brakes): 25-35 kg per corner</a:t>
            </a:r>
          </a:p>
          <a:p>
            <a:pPr>
              <a:spcAft>
                <a:spcPts val="600"/>
              </a:spcAft>
              <a:defRPr sz="1800">
                <a:solidFill>
                  <a:srgbClr val="333333"/>
                </a:solidFill>
              </a:defRPr>
            </a:pPr>
            <a:r>
              <a:t>Heavy truck: 50-100 kg per corner</a:t>
            </a:r>
          </a:p>
          <a:p>
            <a:pPr>
              <a:spcAft>
                <a:spcPts val="1000"/>
              </a:spcAft>
              <a:defRPr sz="1800">
                <a:solidFill>
                  <a:srgbClr val="333333"/>
                </a:solidFill>
              </a:defRPr>
            </a:pPr>
            <a:r>
              <a:t>Why does unsprung mass matter?</a:t>
            </a:r>
          </a:p>
          <a:p>
            <a:pPr>
              <a:spcAft>
                <a:spcPts val="1000"/>
              </a:spcAft>
              <a:defRPr sz="1800">
                <a:solidFill>
                  <a:srgbClr val="333333"/>
                </a:solidFill>
              </a:defRPr>
            </a:pPr>
            <a:r>
              <a:t>Problem 1: Tire Contact Force Variation</a:t>
            </a:r>
          </a:p>
          <a:p>
            <a:pPr>
              <a:spcAft>
                <a:spcPts val="1000"/>
              </a:spcAft>
              <a:defRPr sz="1800">
                <a:solidFill>
                  <a:srgbClr val="333333"/>
                </a:solidFill>
              </a:defRPr>
            </a:pPr>
            <a:r>
              <a:t>When the wheel hits a bump, the unsprung mass must accelerate vertically:</a:t>
            </a:r>
          </a:p>
          <a:p>
            <a:pPr>
              <a:defRPr sz="1400">
                <a:solidFill>
                  <a:srgbClr val="787878"/>
                </a:solidFill>
                <a:latin typeface="Consolas"/>
              </a:defRPr>
            </a:pPr>
            <a:r>
              <a:t>F_required = m_u × a_vertical</a:t>
            </a:r>
          </a:p>
          <a:p>
            <a:pPr>
              <a:spcAft>
                <a:spcPts val="1000"/>
              </a:spcAft>
              <a:defRPr sz="1800">
                <a:solidFill>
                  <a:srgbClr val="333333"/>
                </a:solidFill>
              </a:defRPr>
            </a:pPr>
            <a:r>
              <a:t>Larger m_u → larger force variation → tire bounces off road → loss of grip</a:t>
            </a:r>
          </a:p>
          <a:p>
            <a:pPr>
              <a:spcAft>
                <a:spcPts val="1000"/>
              </a:spcAft>
              <a:defRPr sz="1800">
                <a:solidFill>
                  <a:srgbClr val="333333"/>
                </a:solidFill>
              </a:defRPr>
            </a:pPr>
            <a:r>
              <a:t>Problem 2: Ride Quality</a:t>
            </a:r>
          </a:p>
          <a:p>
            <a:pPr>
              <a:spcAft>
                <a:spcPts val="1000"/>
              </a:spcAft>
              <a:defRPr sz="1800">
                <a:solidFill>
                  <a:srgbClr val="333333"/>
                </a:solidFill>
              </a:defRPr>
            </a:pPr>
            <a:r>
              <a:t>High unsprung mass transmits more force to the sprung mass, degrading isolation.</a:t>
            </a:r>
          </a:p>
          <a:p>
            <a:pPr>
              <a:spcAft>
                <a:spcPts val="1000"/>
              </a:spcAft>
              <a:defRPr sz="1800">
                <a:solidFill>
                  <a:srgbClr val="333333"/>
                </a:solidFill>
              </a:defRPr>
            </a:pPr>
            <a:r>
              <a:t>Problem 3: Higher Natural Frequency (Wheel Hop)</a:t>
            </a:r>
          </a:p>
          <a:p>
            <a:pPr>
              <a:spcAft>
                <a:spcPts val="1000"/>
              </a:spcAft>
              <a:defRPr sz="1800">
                <a:solidFill>
                  <a:srgbClr val="333333"/>
                </a:solidFill>
              </a:defRPr>
            </a:pPr>
            <a:r>
              <a:t>The tire acts as a spring (tire stiffness k_t ≈ 200,000 N/m). The wheel has its own natural frequency:</a:t>
            </a:r>
          </a:p>
          <a:p>
            <a:pPr>
              <a:defRPr sz="1400">
                <a:solidFill>
                  <a:srgbClr val="787878"/>
                </a:solidFill>
                <a:latin typeface="Consolas"/>
              </a:defRPr>
            </a:pPr>
            <a:r>
              <a:t>f_wheel = (1 / 2π) × √(k_tire / m_u)</a:t>
            </a:r>
          </a:p>
          <a:p>
            <a:pPr>
              <a:spcAft>
                <a:spcPts val="1000"/>
              </a:spcAft>
              <a:defRPr sz="1800">
                <a:solidFill>
                  <a:srgbClr val="333333"/>
                </a:solidFill>
              </a:defRPr>
            </a:pPr>
            <a:r>
              <a:t>Typical: 10-15 Hz (much higher than body's 1-2 Hz)</a:t>
            </a:r>
          </a:p>
          <a:p>
            <a:pPr>
              <a:spcAft>
                <a:spcPts val="1000"/>
              </a:spcAft>
              <a:defRPr sz="1800">
                <a:solidFill>
                  <a:srgbClr val="333333"/>
                </a:solidFill>
              </a:defRPr>
            </a:pPr>
            <a:r>
              <a:t>High m_u → lower wheel frequency → wheel hop at lower speeds</a:t>
            </a:r>
          </a:p>
          <a:p>
            <a:pPr>
              <a:spcAft>
                <a:spcPts val="1000"/>
              </a:spcAft>
              <a:defRPr sz="1800">
                <a:solidFill>
                  <a:srgbClr val="333333"/>
                </a:solidFill>
              </a:defRPr>
            </a:pPr>
            <a:r>
              <a:t>Design Goal: Minimize Unsprung Mass</a:t>
            </a:r>
          </a:p>
          <a:p>
            <a:pPr>
              <a:spcAft>
                <a:spcPts val="1000"/>
              </a:spcAft>
              <a:defRPr sz="1800">
                <a:solidFill>
                  <a:srgbClr val="333333"/>
                </a:solidFill>
              </a:defRPr>
            </a:pPr>
            <a:r>
              <a:t>Strategies:</a:t>
            </a:r>
          </a:p>
          <a:p>
            <a:pPr>
              <a:spcAft>
                <a:spcPts val="1000"/>
              </a:spcAft>
              <a:defRPr sz="1800">
                <a:solidFill>
                  <a:srgbClr val="333333"/>
                </a:solidFill>
              </a:defRPr>
            </a:pPr>
            <a:r>
              <a:t>✅ Aluminum wheels instead of steel (save 2-5 kg per wheel)</a:t>
            </a:r>
          </a:p>
          <a:p>
            <a:pPr>
              <a:spcAft>
                <a:spcPts val="1000"/>
              </a:spcAft>
              <a:defRPr sz="1800">
                <a:solidFill>
                  <a:srgbClr val="333333"/>
                </a:solidFill>
              </a:defRPr>
            </a:pPr>
            <a:r>
              <a:t>✅ Aluminum control arms instead of steel (save 1-3 kg per corner)</a:t>
            </a:r>
          </a:p>
          <a:p>
            <a:pPr>
              <a:spcAft>
                <a:spcPts val="1000"/>
              </a:spcAft>
              <a:defRPr sz="1800">
                <a:solidFill>
                  <a:srgbClr val="333333"/>
                </a:solidFill>
              </a:defRPr>
            </a:pPr>
            <a:r>
              <a:t>✅ Carbon-ceramic brakes instead of cast iron (save 5-10 kg per corner—exotic!)</a:t>
            </a:r>
          </a:p>
          <a:p>
            <a:pPr>
              <a:spcAft>
                <a:spcPts val="1000"/>
              </a:spcAft>
              <a:defRPr sz="1800">
                <a:solidFill>
                  <a:srgbClr val="333333"/>
                </a:solidFill>
              </a:defRPr>
            </a:pPr>
            <a:r>
              <a:t>✅ Inboard brakes/suspension (move components to chassis—rare, complex)</a:t>
            </a:r>
          </a:p>
          <a:p>
            <a:pPr>
              <a:spcAft>
                <a:spcPts val="1000"/>
              </a:spcAft>
              <a:defRPr sz="1800">
                <a:solidFill>
                  <a:srgbClr val="333333"/>
                </a:solidFill>
              </a:defRPr>
            </a:pPr>
            <a:r>
              <a:t>Real-World Impact: — Reducing unsprung mass by 1 kg ≈ reducing sprung mass by 10 kg (for ride/handling)</a:t>
            </a:r>
          </a:p>
          <a:p>
            <a:pPr>
              <a:spcAft>
                <a:spcPts val="600"/>
              </a:spcAft>
              <a:defRPr sz="1800">
                <a:solidFill>
                  <a:srgbClr val="333333"/>
                </a:solidFill>
              </a:defRPr>
            </a:pPr>
            <a:r>
              <a:t>Sports cars obsess over unsprung mass (why forged wheels cost $5,000+)</a:t>
            </a:r>
          </a:p>
          <a:p>
            <a:pPr>
              <a:spcAft>
                <a:spcPts val="600"/>
              </a:spcAft>
              <a:defRPr sz="1800">
                <a:solidFill>
                  <a:srgbClr val="333333"/>
                </a:solidFill>
              </a:defRPr>
            </a:pPr>
            <a:r>
              <a:t>Rally cars use lightweight wheels even if they dent easily (performance priority)</a:t>
            </a:r>
          </a:p>
          <a:p>
            <a:pPr>
              <a:spcAft>
                <a:spcPts val="1000"/>
              </a:spcAft>
              <a:defRPr sz="1800">
                <a:solidFill>
                  <a:srgbClr val="333333"/>
                </a:solidFill>
              </a:defRPr>
            </a:pPr>
            <a:r>
              <a:t>Instructor Narration (continued):</a:t>
            </a:r>
          </a:p>
          <a:p>
            <a:pPr>
              <a:spcAft>
                <a:spcPts val="1000"/>
              </a:spcAft>
              <a:defRPr sz="1800">
                <a:solidFill>
                  <a:srgbClr val="333333"/>
                </a:solidFill>
              </a:defRPr>
            </a:pPr>
            <a:r>
              <a:t>Think of unsprung mass as the suspension's enemy. Every kilogram of wheel weight requires 10 times more effort to control than a kilogram of body weight. This is why lightweight wheels make such a dramatic difference—you're not just reducing rotational inertia for acceleration, you're fundamentally improving suspension performance.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Practice Problem - Suspension Tuning</a:t>
            </a:r>
          </a:p>
        </p:txBody>
      </p:sp>
      <p:sp>
        <p:nvSpPr>
          <p:cNvPr id="3" name="Content Placeholder 2"/>
          <p:cNvSpPr>
            <a:spLocks noGrp="1"/>
          </p:cNvSpPr>
          <p:nvPr>
            <p:ph idx="1"/>
          </p:nvPr>
        </p:nvSpPr>
        <p:spPr/>
        <p:txBody>
          <a:bodyPr/>
          <a:lstStyle/>
          <a:p>
            <a:pPr>
              <a:spcAft>
                <a:spcPts val="1000"/>
              </a:spcAft>
              <a:defRPr sz="1800">
                <a:solidFill>
                  <a:srgbClr val="333333"/>
                </a:solidFill>
              </a:defRPr>
            </a:pPr>
            <a:r>
              <a:t>PRACTICE PROBLEM:</a:t>
            </a:r>
          </a:p>
          <a:p>
            <a:pPr>
              <a:spcAft>
                <a:spcPts val="1000"/>
              </a:spcAft>
              <a:defRPr sz="1800">
                <a:solidFill>
                  <a:srgbClr val="333333"/>
                </a:solidFill>
              </a:defRPr>
            </a:pPr>
            <a:r>
              <a:t>A sports car manufacturer wants to improve handling without sacrificing too much comfort.</a:t>
            </a:r>
          </a:p>
          <a:p>
            <a:pPr>
              <a:spcAft>
                <a:spcPts val="1000"/>
              </a:spcAft>
              <a:defRPr sz="1800">
                <a:solidFill>
                  <a:srgbClr val="333333"/>
                </a:solidFill>
              </a:defRPr>
            </a:pPr>
            <a:r>
              <a:t>Current Setup (Front Suspension): — Sprung mass m_s = 300 kg</a:t>
            </a:r>
          </a:p>
          <a:p>
            <a:pPr>
              <a:spcAft>
                <a:spcPts val="600"/>
              </a:spcAft>
              <a:defRPr sz="1800">
                <a:solidFill>
                  <a:srgbClr val="333333"/>
                </a:solidFill>
              </a:defRPr>
            </a:pPr>
            <a:r>
              <a:t>Spring stiffness k = 28,000 N/m</a:t>
            </a:r>
          </a:p>
          <a:p>
            <a:pPr>
              <a:spcAft>
                <a:spcPts val="600"/>
              </a:spcAft>
              <a:defRPr sz="1800">
                <a:solidFill>
                  <a:srgbClr val="333333"/>
                </a:solidFill>
              </a:defRPr>
            </a:pPr>
            <a:r>
              <a:t>Damping coefficient c = 2,400 N·s/m</a:t>
            </a:r>
          </a:p>
          <a:p>
            <a:pPr>
              <a:spcAft>
                <a:spcPts val="600"/>
              </a:spcAft>
              <a:defRPr sz="1800">
                <a:solidFill>
                  <a:srgbClr val="333333"/>
                </a:solidFill>
              </a:defRPr>
            </a:pPr>
            <a:r>
              <a:t>Natural frequency f_n = 1.54 Hz</a:t>
            </a:r>
          </a:p>
          <a:p>
            <a:pPr>
              <a:spcAft>
                <a:spcPts val="600"/>
              </a:spcAft>
              <a:defRPr sz="1800">
                <a:solidFill>
                  <a:srgbClr val="333333"/>
                </a:solidFill>
              </a:defRPr>
            </a:pPr>
            <a:r>
              <a:t>Damping ratio ζ = 0.413</a:t>
            </a:r>
          </a:p>
          <a:p>
            <a:pPr>
              <a:spcAft>
                <a:spcPts val="1000"/>
              </a:spcAft>
              <a:defRPr sz="1800">
                <a:solidFill>
                  <a:srgbClr val="333333"/>
                </a:solidFill>
              </a:defRPr>
            </a:pPr>
            <a:r>
              <a:t>Proposed Upgrade: — Install stiffer springs: k_new = 35,000 N/m</a:t>
            </a:r>
          </a:p>
          <a:p>
            <a:pPr>
              <a:spcAft>
                <a:spcPts val="600"/>
              </a:spcAft>
              <a:defRPr sz="1800">
                <a:solidFill>
                  <a:srgbClr val="333333"/>
                </a:solidFill>
              </a:defRPr>
            </a:pPr>
            <a:r>
              <a:t>Install adjustable dampers: c_new = 3,000 N·s/m</a:t>
            </a:r>
          </a:p>
          <a:p>
            <a:pPr>
              <a:spcAft>
                <a:spcPts val="600"/>
              </a:spcAft>
              <a:defRPr sz="1800">
                <a:solidFill>
                  <a:srgbClr val="333333"/>
                </a:solidFill>
              </a:defRPr>
            </a:pPr>
            <a:r>
              <a:t>Reduce unsprung mass with lightweight wheels: m_u drops from 45 kg to 30 kg (not affecting calculation directly, but mentioned for context)</a:t>
            </a:r>
          </a:p>
          <a:p>
            <a:pPr>
              <a:spcAft>
                <a:spcPts val="1000"/>
              </a:spcAft>
              <a:defRPr sz="1800">
                <a:solidFill>
                  <a:srgbClr val="333333"/>
                </a:solidFill>
              </a:defRPr>
            </a:pPr>
            <a:r>
              <a:t>Calculate:</a:t>
            </a:r>
          </a:p>
          <a:p>
            <a:pPr>
              <a:spcAft>
                <a:spcPts val="1000"/>
              </a:spcAft>
              <a:defRPr sz="1800">
                <a:solidFill>
                  <a:srgbClr val="333333"/>
                </a:solidFill>
              </a:defRPr>
            </a:pPr>
            <a:r>
              <a:t>(a) New natural frequency f_n,new</a:t>
            </a:r>
          </a:p>
          <a:p>
            <a:pPr>
              <a:spcAft>
                <a:spcPts val="1000"/>
              </a:spcAft>
              <a:defRPr sz="1800">
                <a:solidFill>
                  <a:srgbClr val="333333"/>
                </a:solidFill>
              </a:defRPr>
            </a:pPr>
            <a:r>
              <a:t>(b) New damping ratio ζ_new</a:t>
            </a:r>
          </a:p>
          <a:p>
            <a:pPr>
              <a:spcAft>
                <a:spcPts val="1000"/>
              </a:spcAft>
              <a:defRPr sz="1800">
                <a:solidFill>
                  <a:srgbClr val="333333"/>
                </a:solidFill>
              </a:defRPr>
            </a:pPr>
            <a:r>
              <a:t>(c) Percent increase in natural frequency</a:t>
            </a:r>
          </a:p>
          <a:p>
            <a:pPr>
              <a:spcAft>
                <a:spcPts val="1000"/>
              </a:spcAft>
              <a:defRPr sz="1800">
                <a:solidFill>
                  <a:srgbClr val="333333"/>
                </a:solidFill>
              </a:defRPr>
            </a:pPr>
            <a:r>
              <a:t>(d) Classify the new suspension character</a:t>
            </a:r>
          </a:p>
          <a:p>
            <a:pPr>
              <a:spcAft>
                <a:spcPts val="1000"/>
              </a:spcAft>
              <a:defRPr sz="1800">
                <a:solidFill>
                  <a:srgbClr val="333333"/>
                </a:solidFill>
              </a:defRPr>
            </a:pPr>
            <a:r>
              <a:t>SOLUTION (for instructor reference):</a:t>
            </a:r>
          </a:p>
          <a:p>
            <a:pPr>
              <a:spcAft>
                <a:spcPts val="1000"/>
              </a:spcAft>
              <a:defRPr sz="1800">
                <a:solidFill>
                  <a:srgbClr val="333333"/>
                </a:solidFill>
              </a:defRPr>
            </a:pPr>
            <a:r>
              <a:t>(a) New natural frequency:</a:t>
            </a:r>
          </a:p>
          <a:p>
            <a:pPr>
              <a:defRPr sz="1400">
                <a:solidFill>
                  <a:srgbClr val="787878"/>
                </a:solidFill>
                <a:latin typeface="Consolas"/>
              </a:defRPr>
            </a:pPr>
            <a:r>
              <a:t>ω_n,new = √(k_new / m_s)</a:t>
            </a:r>
            <a:br/>
            <a:r>
              <a:t>        = √(35,000 / 300)</a:t>
            </a:r>
            <a:br/>
            <a:r>
              <a:t>        = √116.67</a:t>
            </a:r>
            <a:br/>
            <a:r>
              <a:t>        = 10.80 rad/s</a:t>
            </a:r>
            <a:br/>
            <a:br/>
            <a:r>
              <a:t>f_n,new = 10.80 / (2π)</a:t>
            </a:r>
            <a:br/>
            <a:r>
              <a:t>        = 1.72 Hz</a:t>
            </a:r>
          </a:p>
          <a:p>
            <a:pPr>
              <a:spcAft>
                <a:spcPts val="1000"/>
              </a:spcAft>
              <a:defRPr sz="1800">
                <a:solidFill>
                  <a:srgbClr val="333333"/>
                </a:solidFill>
              </a:defRPr>
            </a:pPr>
            <a:r>
              <a:t>(b) New critical damping and damping ratio:</a:t>
            </a:r>
          </a:p>
          <a:p>
            <a:pPr>
              <a:defRPr sz="1400">
                <a:solidFill>
                  <a:srgbClr val="787878"/>
                </a:solidFill>
                <a:latin typeface="Consolas"/>
              </a:defRPr>
            </a:pPr>
            <a:r>
              <a:t>c_crit,new = 2 × √(k_new × m_s)</a:t>
            </a:r>
            <a:br/>
            <a:r>
              <a:t>           = 2 × √(35,000 × 300)</a:t>
            </a:r>
            <a:br/>
            <a:r>
              <a:t>           = 2 × √10,500,000</a:t>
            </a:r>
            <a:br/>
            <a:r>
              <a:t>           = 2 × 3,240</a:t>
            </a:r>
            <a:br/>
            <a:r>
              <a:t>           = 6,480 N·s/m</a:t>
            </a:r>
            <a:br/>
            <a:br/>
            <a:r>
              <a:t>ζ_new = c_new / c_crit,new</a:t>
            </a:r>
            <a:br/>
            <a:r>
              <a:t>      = 3,000 / 6,480</a:t>
            </a:r>
            <a:br/>
            <a:r>
              <a:t>      = 0.463</a:t>
            </a:r>
          </a:p>
          <a:p>
            <a:pPr>
              <a:spcAft>
                <a:spcPts val="1000"/>
              </a:spcAft>
              <a:defRPr sz="1800">
                <a:solidFill>
                  <a:srgbClr val="333333"/>
                </a:solidFill>
              </a:defRPr>
            </a:pPr>
            <a:r>
              <a:t>(c) Percent increase in natural frequency:</a:t>
            </a:r>
          </a:p>
          <a:p>
            <a:pPr>
              <a:defRPr sz="1400">
                <a:solidFill>
                  <a:srgbClr val="787878"/>
                </a:solidFill>
                <a:latin typeface="Consolas"/>
              </a:defRPr>
            </a:pPr>
            <a:r>
              <a:t>Δf% = (f_n,new - f_n) / f_n × 100%</a:t>
            </a:r>
            <a:br/>
            <a:r>
              <a:t>    = (1.72 - 1.54) / 1.54 × 100%</a:t>
            </a:r>
            <a:br/>
            <a:r>
              <a:t>    = 11.7% increase</a:t>
            </a:r>
          </a:p>
          <a:p>
            <a:pPr>
              <a:spcAft>
                <a:spcPts val="1000"/>
              </a:spcAft>
              <a:defRPr sz="1800">
                <a:solidFill>
                  <a:srgbClr val="333333"/>
                </a:solidFill>
              </a:defRPr>
            </a:pPr>
            <a:r>
              <a:t>(d) Classification: — Old: f_n = 1.54 Hz, ζ = 0.413 → Sport sedan</a:t>
            </a:r>
          </a:p>
          <a:p>
            <a:pPr>
              <a:spcAft>
                <a:spcPts val="600"/>
              </a:spcAft>
              <a:defRPr sz="1800">
                <a:solidFill>
                  <a:srgbClr val="333333"/>
                </a:solidFill>
              </a:defRPr>
            </a:pPr>
            <a:r>
              <a:t>New: f_n = 1.72 Hz, ζ = 0.463 → Sports car (firmer, but still street-friendly)</a:t>
            </a:r>
          </a:p>
          <a:p>
            <a:pPr>
              <a:spcAft>
                <a:spcPts val="1000"/>
              </a:spcAft>
              <a:defRPr sz="1800">
                <a:solidFill>
                  <a:srgbClr val="333333"/>
                </a:solidFill>
              </a:defRPr>
            </a:pPr>
            <a:r>
              <a:t>Trade-offs:</a:t>
            </a:r>
          </a:p>
          <a:p>
            <a:pPr>
              <a:spcAft>
                <a:spcPts val="1000"/>
              </a:spcAft>
              <a:defRPr sz="1800">
                <a:solidFill>
                  <a:srgbClr val="333333"/>
                </a:solidFill>
              </a:defRPr>
            </a:pPr>
            <a:r>
              <a:t>✅ Better handling (higher f_n = less body roll, faster response)</a:t>
            </a:r>
          </a:p>
          <a:p>
            <a:pPr>
              <a:spcAft>
                <a:spcPts val="1000"/>
              </a:spcAft>
              <a:defRPr sz="1800">
                <a:solidFill>
                  <a:srgbClr val="333333"/>
                </a:solidFill>
              </a:defRPr>
            </a:pPr>
            <a:r>
              <a:t>✅ Slightly better damping control (ζ increased from 0.41 to 0.46)</a:t>
            </a:r>
          </a:p>
          <a:p>
            <a:pPr>
              <a:spcAft>
                <a:spcPts val="1000"/>
              </a:spcAft>
              <a:defRPr sz="1800">
                <a:solidFill>
                  <a:srgbClr val="333333"/>
                </a:solidFill>
              </a:defRPr>
            </a:pPr>
            <a:r>
              <a:t>❌ Harsher ride (11.7% increase in natural frequency = noticeably firmer)</a:t>
            </a:r>
          </a:p>
          <a:p>
            <a:pPr>
              <a:spcAft>
                <a:spcPts val="1000"/>
              </a:spcAft>
              <a:defRPr sz="1800">
                <a:solidFill>
                  <a:srgbClr val="333333"/>
                </a:solidFill>
              </a:defRPr>
            </a:pPr>
            <a:r>
              <a:t>✅ Reduced unsprung mass helps mitigate harshness (better tire contact)</a:t>
            </a:r>
          </a:p>
          <a:p>
            <a:pPr>
              <a:spcAft>
                <a:spcPts val="1000"/>
              </a:spcAft>
              <a:defRPr sz="1800">
                <a:solidFill>
                  <a:srgbClr val="333333"/>
                </a:solidFill>
              </a:defRPr>
            </a:pPr>
            <a:r>
              <a:t>Conclusion: This upgrade shifts the car from "balanced sport sedan" to "serious sports car" territory. Suitable for enthusiast drivers, but daily commuters may find it too firm.</a:t>
            </a:r>
          </a:p>
          <a:p>
            <a:pPr>
              <a:spcAft>
                <a:spcPts val="1000"/>
              </a:spcAft>
              <a:defRPr sz="1800">
                <a:solidFill>
                  <a:srgbClr val="333333"/>
                </a:solidFill>
              </a:defRPr>
            </a:pPr>
            <a:r>
              <a:t>Instructor Narration:</a:t>
            </a:r>
          </a:p>
          <a:p>
            <a:pPr>
              <a:spcAft>
                <a:spcPts val="1000"/>
              </a:spcAft>
              <a:defRPr sz="1800">
                <a:solidFill>
                  <a:srgbClr val="333333"/>
                </a:solidFill>
              </a:defRPr>
            </a:pPr>
            <a:r>
              <a:t>This is the classic sports car tuning approach: stiffer springs, stiffer dampers, lighter wheels. Notice the damping ratio actually increased slightly—this is intentional. With stiffer springs, you need stiffer damping to maintain control. The magic is in the balance.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4472C4"/>
        </a:solidFill>
        <a:effectLst/>
      </p:bgPr>
    </p:bg>
    <p:spTree>
      <p:nvGrpSpPr>
        <p:cNvPr id="1" name=""/>
        <p:cNvGrpSpPr/>
        <p:nvPr/>
      </p:nvGrpSpPr>
      <p:grpSpPr/>
      <p:sp>
        <p:nvSpPr>
          <p:cNvPr id="2" name="Title 1"/>
          <p:cNvSpPr>
            <a:spLocks noGrp="1"/>
          </p:cNvSpPr>
          <p:nvPr>
            <p:ph type="ctrTitle"/>
          </p:nvPr>
        </p:nvSpPr>
        <p:spPr/>
        <p:txBody>
          <a:bodyPr/>
          <a:lstStyle/>
          <a:p>
            <a:pPr>
              <a:defRPr sz="4400" b="1">
                <a:solidFill>
                  <a:srgbClr val="FFFFFF"/>
                </a:solidFill>
              </a:defRPr>
            </a:pPr>
            <a:r>
              <a:t>PART 2: TRIGGER - "The Impossible Triangle</a:t>
            </a:r>
          </a:p>
        </p:txBody>
      </p:sp>
      <p:sp>
        <p:nvSpPr>
          <p:cNvPr id="3" name="Subtitle 2"/>
          <p:cNvSpPr>
            <a:spLocks noGrp="1"/>
          </p:cNvSpPr>
          <p:nvPr>
            <p:ph type="subTitle" idx="1"/>
          </p:nvPr>
        </p:nvSpPr>
        <p:spPr/>
        <p:txBody>
          <a:bodyPr/>
          <a:lstStyle/>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The Suspension Design Trilemma</a:t>
            </a:r>
          </a:p>
        </p:txBody>
      </p:sp>
      <p:sp>
        <p:nvSpPr>
          <p:cNvPr id="3" name="Content Placeholder 2"/>
          <p:cNvSpPr>
            <a:spLocks noGrp="1"/>
          </p:cNvSpPr>
          <p:nvPr>
            <p:ph idx="1"/>
          </p:nvPr>
        </p:nvSpPr>
        <p:spPr/>
        <p:txBody>
          <a:bodyPr/>
          <a:lstStyle/>
          <a:p>
            <a:pPr>
              <a:spcAft>
                <a:spcPts val="1000"/>
              </a:spcAft>
              <a:defRPr sz="1800">
                <a:solidFill>
                  <a:srgbClr val="333333"/>
                </a:solidFill>
              </a:defRPr>
            </a:pPr>
            <a:r>
              <a:t>Instructor Narration:</a:t>
            </a:r>
          </a:p>
          <a:p>
            <a:pPr>
              <a:spcAft>
                <a:spcPts val="1000"/>
              </a:spcAft>
              <a:defRPr sz="1800">
                <a:solidFill>
                  <a:srgbClr val="333333"/>
                </a:solidFill>
              </a:defRPr>
            </a:pPr>
            <a:r>
              <a:t>We've learned the physics. Now let's face the fundamental design problem.</a:t>
            </a:r>
          </a:p>
          <a:p>
            <a:pPr>
              <a:spcAft>
                <a:spcPts val="1000"/>
              </a:spcAft>
              <a:defRPr sz="1800">
                <a:solidFill>
                  <a:srgbClr val="333333"/>
                </a:solidFill>
              </a:defRPr>
            </a:pPr>
            <a:r>
              <a:t>Every suspension system must balance three goals:</a:t>
            </a:r>
          </a:p>
          <a:p>
            <a:pPr>
              <a:spcAft>
                <a:spcPts val="1000"/>
              </a:spcAft>
              <a:defRPr sz="1800">
                <a:solidFill>
                  <a:srgbClr val="333333"/>
                </a:solidFill>
              </a:defRPr>
            </a:pPr>
            <a:r>
              <a:t>1. RIDE COMFORT — Minimize vertical acceleration of passengers</a:t>
            </a:r>
          </a:p>
          <a:p>
            <a:pPr>
              <a:spcAft>
                <a:spcPts val="600"/>
              </a:spcAft>
              <a:defRPr sz="1800">
                <a:solidFill>
                  <a:srgbClr val="333333"/>
                </a:solidFill>
              </a:defRPr>
            </a:pPr>
            <a:r>
              <a:t>Isolate body from road irregularities</a:t>
            </a:r>
          </a:p>
          <a:p>
            <a:pPr>
              <a:spcAft>
                <a:spcPts val="600"/>
              </a:spcAft>
              <a:defRPr sz="1800">
                <a:solidFill>
                  <a:srgbClr val="333333"/>
                </a:solidFill>
              </a:defRPr>
            </a:pPr>
            <a:r>
              <a:t>Smooth, supple feel</a:t>
            </a:r>
          </a:p>
          <a:p>
            <a:pPr>
              <a:spcAft>
                <a:spcPts val="1000"/>
              </a:spcAft>
              <a:defRPr sz="1800">
                <a:solidFill>
                  <a:srgbClr val="333333"/>
                </a:solidFill>
              </a:defRPr>
            </a:pPr>
            <a:r>
              <a:t>2. ROAD HOLDING — Maintain tire contact with road surface</a:t>
            </a:r>
          </a:p>
          <a:p>
            <a:pPr>
              <a:spcAft>
                <a:spcPts val="600"/>
              </a:spcAft>
              <a:defRPr sz="1800">
                <a:solidFill>
                  <a:srgbClr val="333333"/>
                </a:solidFill>
              </a:defRPr>
            </a:pPr>
            <a:r>
              <a:t>Consistent normal force for maximum grip</a:t>
            </a:r>
          </a:p>
          <a:p>
            <a:pPr>
              <a:spcAft>
                <a:spcPts val="600"/>
              </a:spcAft>
              <a:defRPr sz="1800">
                <a:solidFill>
                  <a:srgbClr val="333333"/>
                </a:solidFill>
              </a:defRPr>
            </a:pPr>
            <a:r>
              <a:t>Minimize tire load variation</a:t>
            </a:r>
          </a:p>
          <a:p>
            <a:pPr>
              <a:spcAft>
                <a:spcPts val="1000"/>
              </a:spcAft>
              <a:defRPr sz="1800">
                <a:solidFill>
                  <a:srgbClr val="333333"/>
                </a:solidFill>
              </a:defRPr>
            </a:pPr>
            <a:r>
              <a:t>3. HANDLING — Control body roll, pitch, and dive</a:t>
            </a:r>
          </a:p>
          <a:p>
            <a:pPr>
              <a:spcAft>
                <a:spcPts val="600"/>
              </a:spcAft>
              <a:defRPr sz="1800">
                <a:solidFill>
                  <a:srgbClr val="333333"/>
                </a:solidFill>
              </a:defRPr>
            </a:pPr>
            <a:r>
              <a:t>Predictable, responsive feel</a:t>
            </a:r>
          </a:p>
          <a:p>
            <a:pPr>
              <a:spcAft>
                <a:spcPts val="600"/>
              </a:spcAft>
              <a:defRPr sz="1800">
                <a:solidFill>
                  <a:srgbClr val="333333"/>
                </a:solidFill>
              </a:defRPr>
            </a:pPr>
            <a:r>
              <a:t>Maintain tire alignment during cornering</a:t>
            </a:r>
          </a:p>
          <a:p>
            <a:pPr>
              <a:spcAft>
                <a:spcPts val="1000"/>
              </a:spcAft>
              <a:defRPr sz="1800">
                <a:solidFill>
                  <a:srgbClr val="333333"/>
                </a:solidFill>
              </a:defRPr>
            </a:pPr>
            <a:r>
              <a:t>The Problem:</a:t>
            </a:r>
          </a:p>
          <a:p>
            <a:pPr>
              <a:spcAft>
                <a:spcPts val="1000"/>
              </a:spcAft>
              <a:defRPr sz="1800">
                <a:solidFill>
                  <a:srgbClr val="333333"/>
                </a:solidFill>
              </a:defRPr>
            </a:pPr>
            <a:r>
              <a:t>These goals are mutually exclusive.</a:t>
            </a:r>
          </a:p>
          <a:p>
            <a:pPr>
              <a:spcAft>
                <a:spcPts val="1000"/>
              </a:spcAft>
              <a:defRPr sz="1800">
                <a:solidFill>
                  <a:srgbClr val="333333"/>
                </a:solidFill>
              </a:defRPr>
            </a:pPr>
            <a:r>
              <a:t>Soft suspension (comfort priority):</a:t>
            </a:r>
          </a:p>
          <a:p>
            <a:pPr>
              <a:spcAft>
                <a:spcPts val="1000"/>
              </a:spcAft>
              <a:defRPr sz="1800">
                <a:solidFill>
                  <a:srgbClr val="333333"/>
                </a:solidFill>
              </a:defRPr>
            </a:pPr>
            <a:r>
              <a:t>✅ Excellent ride comfort (low body acceleration)</a:t>
            </a:r>
          </a:p>
          <a:p>
            <a:pPr>
              <a:spcAft>
                <a:spcPts val="1000"/>
              </a:spcAft>
              <a:defRPr sz="1800">
                <a:solidFill>
                  <a:srgbClr val="333333"/>
                </a:solidFill>
              </a:defRPr>
            </a:pPr>
            <a:r>
              <a:t>❌ Poor handling (excessive roll, pitch)</a:t>
            </a:r>
          </a:p>
          <a:p>
            <a:pPr>
              <a:spcAft>
                <a:spcPts val="1000"/>
              </a:spcAft>
              <a:defRPr sz="1800">
                <a:solidFill>
                  <a:srgbClr val="333333"/>
                </a:solidFill>
              </a:defRPr>
            </a:pPr>
            <a:r>
              <a:t>❌ Poor road holding (wheel bounces after bumps)</a:t>
            </a:r>
          </a:p>
          <a:p>
            <a:pPr>
              <a:spcAft>
                <a:spcPts val="1000"/>
              </a:spcAft>
              <a:defRPr sz="1800">
                <a:solidFill>
                  <a:srgbClr val="333333"/>
                </a:solidFill>
              </a:defRPr>
            </a:pPr>
            <a:r>
              <a:t>Stiff suspension (handling priority):</a:t>
            </a:r>
          </a:p>
          <a:p>
            <a:pPr>
              <a:spcAft>
                <a:spcPts val="1000"/>
              </a:spcAft>
              <a:defRPr sz="1800">
                <a:solidFill>
                  <a:srgbClr val="333333"/>
                </a:solidFill>
              </a:defRPr>
            </a:pPr>
            <a:r>
              <a:t>✅ Excellent handling (flat cornering, tight control)</a:t>
            </a:r>
          </a:p>
          <a:p>
            <a:pPr>
              <a:spcAft>
                <a:spcPts val="1000"/>
              </a:spcAft>
              <a:defRPr sz="1800">
                <a:solidFill>
                  <a:srgbClr val="333333"/>
                </a:solidFill>
              </a:defRPr>
            </a:pPr>
            <a:r>
              <a:t>❌ Harsh ride (high body acceleration)</a:t>
            </a:r>
          </a:p>
          <a:p>
            <a:pPr>
              <a:spcAft>
                <a:spcPts val="1000"/>
              </a:spcAft>
              <a:defRPr sz="1800">
                <a:solidFill>
                  <a:srgbClr val="333333"/>
                </a:solidFill>
              </a:defRPr>
            </a:pPr>
            <a:r>
              <a:t>✅ Better road holding (less wheel motion) BUT worse over large bumps</a:t>
            </a:r>
          </a:p>
          <a:p>
            <a:pPr>
              <a:spcAft>
                <a:spcPts val="1000"/>
              </a:spcAft>
              <a:defRPr sz="1800">
                <a:solidFill>
                  <a:srgbClr val="333333"/>
                </a:solidFill>
              </a:defRPr>
            </a:pPr>
            <a:r>
              <a:t>Perfectly balanced (compromise):</a:t>
            </a:r>
          </a:p>
          <a:p>
            <a:pPr>
              <a:spcAft>
                <a:spcPts val="1000"/>
              </a:spcAft>
              <a:defRPr sz="1800">
                <a:solidFill>
                  <a:srgbClr val="333333"/>
                </a:solidFill>
              </a:defRPr>
            </a:pPr>
            <a:r>
              <a:t>⚠️ Acceptable comfort</a:t>
            </a:r>
          </a:p>
          <a:p>
            <a:pPr>
              <a:spcAft>
                <a:spcPts val="1000"/>
              </a:spcAft>
              <a:defRPr sz="1800">
                <a:solidFill>
                  <a:srgbClr val="333333"/>
                </a:solidFill>
              </a:defRPr>
            </a:pPr>
            <a:r>
              <a:t>⚠️ Acceptable handling</a:t>
            </a:r>
          </a:p>
          <a:p>
            <a:pPr>
              <a:spcAft>
                <a:spcPts val="1000"/>
              </a:spcAft>
              <a:defRPr sz="1800">
                <a:solidFill>
                  <a:srgbClr val="333333"/>
                </a:solidFill>
              </a:defRPr>
            </a:pPr>
            <a:r>
              <a:t>⚠️ Acceptable road holding</a:t>
            </a:r>
          </a:p>
          <a:p>
            <a:pPr>
              <a:spcAft>
                <a:spcPts val="1000"/>
              </a:spcAft>
              <a:defRPr sz="1800">
                <a:solidFill>
                  <a:srgbClr val="333333"/>
                </a:solidFill>
              </a:defRPr>
            </a:pPr>
            <a:r>
              <a:t>➡️ Nothing excellent</a:t>
            </a:r>
          </a:p>
          <a:p>
            <a:pPr>
              <a:spcAft>
                <a:spcPts val="1000"/>
              </a:spcAft>
              <a:defRPr sz="1800">
                <a:solidFill>
                  <a:srgbClr val="333333"/>
                </a:solidFill>
              </a:defRPr>
            </a:pPr>
            <a:r>
              <a:t>Instructor Narration (continued):</a:t>
            </a:r>
          </a:p>
          <a:p>
            <a:pPr>
              <a:spcAft>
                <a:spcPts val="1000"/>
              </a:spcAft>
              <a:defRPr sz="1800">
                <a:solidFill>
                  <a:srgbClr val="333333"/>
                </a:solidFill>
              </a:defRPr>
            </a:pPr>
            <a:r>
              <a:t>This is the suspension engineer's dilemma. You can optimize for any two of these three goals, but you cannot have all three simultaneously—with conventional passive suspension.</a:t>
            </a:r>
          </a:p>
          <a:p>
            <a:pPr>
              <a:spcAft>
                <a:spcPts val="1000"/>
              </a:spcAft>
              <a:defRPr sz="1800">
                <a:solidFill>
                  <a:srgbClr val="333333"/>
                </a:solidFill>
              </a:defRPr>
            </a:pPr>
            <a:r>
              <a:t>This is why luxury cars feel floaty (comfort priority), sports cars feel harsh (handling priority), and most family cars feel... mediocre (compromise).</a:t>
            </a:r>
          </a:p>
          <a:p>
            <a:pPr>
              <a:spcAft>
                <a:spcPts val="1000"/>
              </a:spcAft>
              <a:defRPr sz="1800">
                <a:solidFill>
                  <a:srgbClr val="333333"/>
                </a:solidFill>
              </a:defRPr>
            </a:pPr>
            <a:r>
              <a:t>But before we explore solutions, let's understand why these conflicts exist at a deeper level.</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Conflict 1 - Comfort vs Handling</a:t>
            </a:r>
          </a:p>
        </p:txBody>
      </p:sp>
      <p:sp>
        <p:nvSpPr>
          <p:cNvPr id="3" name="Content Placeholder 2"/>
          <p:cNvSpPr>
            <a:spLocks noGrp="1"/>
          </p:cNvSpPr>
          <p:nvPr>
            <p:ph idx="1"/>
          </p:nvPr>
        </p:nvSpPr>
        <p:spPr/>
        <p:txBody>
          <a:bodyPr/>
          <a:lstStyle/>
          <a:p>
            <a:pPr>
              <a:spcAft>
                <a:spcPts val="1000"/>
              </a:spcAft>
              <a:defRPr sz="1800">
                <a:solidFill>
                  <a:srgbClr val="333333"/>
                </a:solidFill>
              </a:defRPr>
            </a:pPr>
            <a:r>
              <a:t>Instructor Narration:</a:t>
            </a:r>
          </a:p>
          <a:p>
            <a:pPr>
              <a:spcAft>
                <a:spcPts val="1000"/>
              </a:spcAft>
              <a:defRPr sz="1800">
                <a:solidFill>
                  <a:srgbClr val="333333"/>
                </a:solidFill>
              </a:defRPr>
            </a:pPr>
            <a:r>
              <a:t>THE CONFLICT:</a:t>
            </a:r>
          </a:p>
          <a:p>
            <a:pPr>
              <a:spcAft>
                <a:spcPts val="1000"/>
              </a:spcAft>
              <a:defRPr sz="1800">
                <a:solidFill>
                  <a:srgbClr val="333333"/>
                </a:solidFill>
              </a:defRPr>
            </a:pPr>
            <a:r>
              <a:t>Comfort requires SOFT springs (low k, low f_n): — Body moves slowly → low acceleration → comfortable</a:t>
            </a:r>
          </a:p>
          <a:p>
            <a:pPr>
              <a:spcAft>
                <a:spcPts val="600"/>
              </a:spcAft>
              <a:defRPr sz="1800">
                <a:solidFill>
                  <a:srgbClr val="333333"/>
                </a:solidFill>
              </a:defRPr>
            </a:pPr>
            <a:r>
              <a:t>Absorbs bumps with large suspension travel</a:t>
            </a:r>
          </a:p>
          <a:p>
            <a:pPr>
              <a:spcAft>
                <a:spcPts val="600"/>
              </a:spcAft>
              <a:defRPr sz="1800">
                <a:solidFill>
                  <a:srgbClr val="333333"/>
                </a:solidFill>
              </a:defRPr>
            </a:pPr>
            <a:r>
              <a:t>Natural frequency ~1.0-1.2 Hz</a:t>
            </a:r>
          </a:p>
          <a:p>
            <a:pPr>
              <a:spcAft>
                <a:spcPts val="1000"/>
              </a:spcAft>
              <a:defRPr sz="1800">
                <a:solidFill>
                  <a:srgbClr val="333333"/>
                </a:solidFill>
              </a:defRPr>
            </a:pPr>
            <a:r>
              <a:t>Handling requires STIFF springs (high k, high f_n): — Body stays flat during cornering → maintains tire alignment</a:t>
            </a:r>
          </a:p>
          <a:p>
            <a:pPr>
              <a:spcAft>
                <a:spcPts val="600"/>
              </a:spcAft>
              <a:defRPr sz="1800">
                <a:solidFill>
                  <a:srgbClr val="333333"/>
                </a:solidFill>
              </a:defRPr>
            </a:pPr>
            <a:r>
              <a:t>Minimal roll → predictable handling</a:t>
            </a:r>
          </a:p>
          <a:p>
            <a:pPr>
              <a:spcAft>
                <a:spcPts val="600"/>
              </a:spcAft>
              <a:defRPr sz="1800">
                <a:solidFill>
                  <a:srgbClr val="333333"/>
                </a:solidFill>
              </a:defRPr>
            </a:pPr>
            <a:r>
              <a:t>Natural frequency ~1.6-2.0 Hz</a:t>
            </a:r>
          </a:p>
          <a:p>
            <a:pPr>
              <a:spcAft>
                <a:spcPts val="1000"/>
              </a:spcAft>
              <a:defRPr sz="1800">
                <a:solidFill>
                  <a:srgbClr val="333333"/>
                </a:solidFill>
              </a:defRPr>
            </a:pPr>
            <a:r>
              <a:t>Why can't we have both?</a:t>
            </a:r>
          </a:p>
          <a:p>
            <a:pPr>
              <a:spcAft>
                <a:spcPts val="1000"/>
              </a:spcAft>
              <a:defRPr sz="1800">
                <a:solidFill>
                  <a:srgbClr val="333333"/>
                </a:solidFill>
              </a:defRPr>
            </a:pPr>
            <a:r>
              <a:t>Remember from Session 9: During cornering, we calculated lateral load transfer:</a:t>
            </a:r>
          </a:p>
          <a:p>
            <a:pPr>
              <a:defRPr sz="1400">
                <a:solidFill>
                  <a:srgbClr val="787878"/>
                </a:solidFill>
                <a:latin typeface="Consolas"/>
              </a:defRPr>
            </a:pPr>
            <a:r>
              <a:t>ΔW_lat = (m × a_lat × h) / t</a:t>
            </a:r>
          </a:p>
          <a:p>
            <a:pPr>
              <a:spcAft>
                <a:spcPts val="1000"/>
              </a:spcAft>
              <a:defRPr sz="1800">
                <a:solidFill>
                  <a:srgbClr val="333333"/>
                </a:solidFill>
              </a:defRPr>
            </a:pPr>
            <a:r>
              <a:t>The rate at which this load transfers depends on suspension stiffness:</a:t>
            </a:r>
          </a:p>
          <a:p>
            <a:pPr>
              <a:spcAft>
                <a:spcPts val="600"/>
              </a:spcAft>
              <a:defRPr sz="1800">
                <a:solidFill>
                  <a:srgbClr val="333333"/>
                </a:solidFill>
              </a:defRPr>
            </a:pPr>
            <a:r>
              <a:t>Soft suspension: Load transfers slowly, body rolls significantly before stabilizing</a:t>
            </a:r>
          </a:p>
          <a:p>
            <a:pPr>
              <a:spcAft>
                <a:spcPts val="600"/>
              </a:spcAft>
              <a:defRPr sz="1800">
                <a:solidFill>
                  <a:srgbClr val="333333"/>
                </a:solidFill>
              </a:defRPr>
            </a:pPr>
            <a:r>
              <a:t>Stiff suspension: Load transfers quickly, body stays relatively flat</a:t>
            </a:r>
          </a:p>
          <a:p>
            <a:pPr>
              <a:spcAft>
                <a:spcPts val="1000"/>
              </a:spcAft>
              <a:defRPr sz="1800">
                <a:solidFill>
                  <a:srgbClr val="333333"/>
                </a:solidFill>
              </a:defRPr>
            </a:pPr>
            <a:r>
              <a:t>Body Roll Angle (φ):</a:t>
            </a:r>
          </a:p>
          <a:p>
            <a:pPr>
              <a:spcAft>
                <a:spcPts val="1000"/>
              </a:spcAft>
              <a:defRPr sz="1800">
                <a:solidFill>
                  <a:srgbClr val="333333"/>
                </a:solidFill>
              </a:defRPr>
            </a:pPr>
            <a:r>
              <a:t>Approximate roll angle during cornering:</a:t>
            </a:r>
          </a:p>
          <a:p>
            <a:pPr>
              <a:defRPr sz="1400">
                <a:solidFill>
                  <a:srgbClr val="787878"/>
                </a:solidFill>
                <a:latin typeface="Consolas"/>
              </a:defRPr>
            </a:pPr>
            <a:r>
              <a:t>φ ≈ (m × a_lat × h) / (k_total × t²)</a:t>
            </a:r>
            <a:br/>
            <a:br/>
            <a:r>
              <a:t>Where:</a:t>
            </a:r>
            <a:br/>
            <a:r>
              <a:t>m = Vehicle mass</a:t>
            </a:r>
            <a:br/>
            <a:r>
              <a:t>a_lat = Lateral acceleration (from Session 9: a_lat = v²/R)</a:t>
            </a:r>
            <a:br/>
            <a:r>
              <a:t>h = Center of gravity height</a:t>
            </a:r>
            <a:br/>
            <a:r>
              <a:t>k_total = Total roll stiffness (springs + anti-roll bars)</a:t>
            </a:r>
            <a:br/>
            <a:r>
              <a:t>t = Track width</a:t>
            </a:r>
          </a:p>
          <a:p>
            <a:pPr>
              <a:spcAft>
                <a:spcPts val="1000"/>
              </a:spcAft>
              <a:defRPr sz="1800">
                <a:solidFill>
                  <a:srgbClr val="333333"/>
                </a:solidFill>
              </a:defRPr>
            </a:pPr>
            <a:r>
              <a:t>Example: — Luxury sedan (soft, k_total = 50,000 Nm/rad): φ ≈ 6° roll at 0.5g cornering</a:t>
            </a:r>
          </a:p>
          <a:p>
            <a:pPr>
              <a:spcAft>
                <a:spcPts val="600"/>
              </a:spcAft>
              <a:defRPr sz="1800">
                <a:solidFill>
                  <a:srgbClr val="333333"/>
                </a:solidFill>
              </a:defRPr>
            </a:pPr>
            <a:r>
              <a:t>Sports car (stiff, k_total = 120,000 Nm/rad): φ ≈ 2.5° roll at 0.5g cornering</a:t>
            </a:r>
          </a:p>
          <a:p>
            <a:pPr>
              <a:spcAft>
                <a:spcPts val="1000"/>
              </a:spcAft>
              <a:defRPr sz="1800">
                <a:solidFill>
                  <a:srgbClr val="333333"/>
                </a:solidFill>
              </a:defRPr>
            </a:pPr>
            <a:r>
              <a:t>The Compromise:</a:t>
            </a:r>
          </a:p>
          <a:p>
            <a:pPr>
              <a:spcAft>
                <a:spcPts val="1000"/>
              </a:spcAft>
              <a:defRPr sz="1800">
                <a:solidFill>
                  <a:srgbClr val="333333"/>
                </a:solidFill>
              </a:defRPr>
            </a:pPr>
            <a:r>
              <a:t>Most passenger cars target 3-4° roll at moderate cornering (0.5g). This requires medium-stiff springs—not comfortable, not sporty, just... acceptable.</a:t>
            </a:r>
          </a:p>
          <a:p>
            <a:pPr>
              <a:spcAft>
                <a:spcPts val="1000"/>
              </a:spcAft>
              <a:defRPr sz="1800">
                <a:solidFill>
                  <a:srgbClr val="333333"/>
                </a:solidFill>
              </a:defRPr>
            </a:pPr>
            <a:r>
              <a:t>Instructor Narration (continued):</a:t>
            </a:r>
          </a:p>
          <a:p>
            <a:pPr>
              <a:spcAft>
                <a:spcPts val="1000"/>
              </a:spcAft>
              <a:defRPr sz="1800">
                <a:solidFill>
                  <a:srgbClr val="333333"/>
                </a:solidFill>
              </a:defRPr>
            </a:pPr>
            <a:r>
              <a:t>You can feel this trade-off instantly. Rent a Rolls-Royce and a Porsche 911. Drive over the same bumpy road, then around the same corner. The Rolls floats like a cloud over bumps but leans heavily in corners. The Porsche crashes over every bump but stays glued flat through corners. Physics doesn't allow both behaviors from the same spring.</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Conflict 2 - Comfort vs Road Holding</a:t>
            </a:r>
          </a:p>
        </p:txBody>
      </p:sp>
      <p:sp>
        <p:nvSpPr>
          <p:cNvPr id="3" name="Content Placeholder 2"/>
          <p:cNvSpPr>
            <a:spLocks noGrp="1"/>
          </p:cNvSpPr>
          <p:nvPr>
            <p:ph idx="1"/>
          </p:nvPr>
        </p:nvSpPr>
        <p:spPr/>
        <p:txBody>
          <a:bodyPr/>
          <a:lstStyle/>
          <a:p>
            <a:pPr>
              <a:spcAft>
                <a:spcPts val="1000"/>
              </a:spcAft>
              <a:defRPr sz="1800">
                <a:solidFill>
                  <a:srgbClr val="333333"/>
                </a:solidFill>
              </a:defRPr>
            </a:pPr>
            <a:r>
              <a:t>Instructor Narration:</a:t>
            </a:r>
          </a:p>
          <a:p>
            <a:pPr>
              <a:spcAft>
                <a:spcPts val="1000"/>
              </a:spcAft>
              <a:defRPr sz="1800">
                <a:solidFill>
                  <a:srgbClr val="333333"/>
                </a:solidFill>
              </a:defRPr>
            </a:pPr>
            <a:r>
              <a:t>THE CONFLICT:</a:t>
            </a:r>
          </a:p>
          <a:p>
            <a:pPr>
              <a:spcAft>
                <a:spcPts val="1000"/>
              </a:spcAft>
              <a:defRPr sz="1800">
                <a:solidFill>
                  <a:srgbClr val="333333"/>
                </a:solidFill>
              </a:defRPr>
            </a:pPr>
            <a:r>
              <a:t>Comfort requires SOFT damping (low c, low ζ): — Allows body to move freely over bumps</a:t>
            </a:r>
          </a:p>
          <a:p>
            <a:pPr>
              <a:spcAft>
                <a:spcPts val="600"/>
              </a:spcAft>
              <a:defRPr sz="1800">
                <a:solidFill>
                  <a:srgbClr val="333333"/>
                </a:solidFill>
              </a:defRPr>
            </a:pPr>
            <a:r>
              <a:t>Minimal resistance → smooth, flowing motion</a:t>
            </a:r>
          </a:p>
          <a:p>
            <a:pPr>
              <a:spcAft>
                <a:spcPts val="600"/>
              </a:spcAft>
              <a:defRPr sz="1800">
                <a:solidFill>
                  <a:srgbClr val="333333"/>
                </a:solidFill>
              </a:defRPr>
            </a:pPr>
            <a:r>
              <a:t>Damping ratio ~0.2-0.3</a:t>
            </a:r>
          </a:p>
          <a:p>
            <a:pPr>
              <a:spcAft>
                <a:spcPts val="1000"/>
              </a:spcAft>
              <a:defRPr sz="1800">
                <a:solidFill>
                  <a:srgbClr val="333333"/>
                </a:solidFill>
              </a:defRPr>
            </a:pPr>
            <a:r>
              <a:t>Road Holding requires OPTIMAL damping (moderate c, ζ ~0.5-0.7): — Controls wheel motion after bumps</a:t>
            </a:r>
          </a:p>
          <a:p>
            <a:pPr>
              <a:spcAft>
                <a:spcPts val="600"/>
              </a:spcAft>
              <a:defRPr sz="1800">
                <a:solidFill>
                  <a:srgbClr val="333333"/>
                </a:solidFill>
              </a:defRPr>
            </a:pPr>
            <a:r>
              <a:t>Prevents tire from bouncing off road</a:t>
            </a:r>
          </a:p>
          <a:p>
            <a:pPr>
              <a:spcAft>
                <a:spcPts val="600"/>
              </a:spcAft>
              <a:defRPr sz="1800">
                <a:solidFill>
                  <a:srgbClr val="333333"/>
                </a:solidFill>
              </a:defRPr>
            </a:pPr>
            <a:r>
              <a:t>Returns wheel to road quickly</a:t>
            </a:r>
          </a:p>
          <a:p>
            <a:pPr>
              <a:spcAft>
                <a:spcPts val="1000"/>
              </a:spcAft>
              <a:defRPr sz="1800">
                <a:solidFill>
                  <a:srgbClr val="333333"/>
                </a:solidFill>
              </a:defRPr>
            </a:pPr>
            <a:r>
              <a:t>The Physics:</a:t>
            </a:r>
          </a:p>
          <a:p>
            <a:pPr>
              <a:spcAft>
                <a:spcPts val="1000"/>
              </a:spcAft>
              <a:defRPr sz="1800">
                <a:solidFill>
                  <a:srgbClr val="333333"/>
                </a:solidFill>
              </a:defRPr>
            </a:pPr>
            <a:r>
              <a:t>When a tire hits a bump, it compresses the spring, storing energy. This energy must be dissipated to prevent oscillation.</a:t>
            </a:r>
          </a:p>
          <a:p>
            <a:pPr>
              <a:spcAft>
                <a:spcPts val="1000"/>
              </a:spcAft>
              <a:defRPr sz="1800">
                <a:solidFill>
                  <a:srgbClr val="333333"/>
                </a:solidFill>
              </a:defRPr>
            </a:pPr>
            <a:r>
              <a:t>With soft damping (ζ = 0.2): — Wheel oscillates 4-5 times before settling</a:t>
            </a:r>
          </a:p>
          <a:p>
            <a:pPr>
              <a:spcAft>
                <a:spcPts val="600"/>
              </a:spcAft>
              <a:defRPr sz="1800">
                <a:solidFill>
                  <a:srgbClr val="333333"/>
                </a:solidFill>
              </a:defRPr>
            </a:pPr>
            <a:r>
              <a:t>During oscillation, tire contact force varies: F_normal = 1000N → 500N → 1500N → 800N → ...</a:t>
            </a:r>
          </a:p>
          <a:p>
            <a:pPr>
              <a:spcAft>
                <a:spcPts val="600"/>
              </a:spcAft>
              <a:defRPr sz="1800">
                <a:solidFill>
                  <a:srgbClr val="333333"/>
                </a:solidFill>
              </a:defRPr>
            </a:pPr>
            <a:r>
              <a:t>Grip varies because Ffriction = μ × Fnormal (Session 2!)</a:t>
            </a:r>
          </a:p>
          <a:p>
            <a:pPr>
              <a:spcAft>
                <a:spcPts val="600"/>
              </a:spcAft>
              <a:defRPr sz="1800">
                <a:solidFill>
                  <a:srgbClr val="333333"/>
                </a:solidFill>
              </a:defRPr>
            </a:pPr>
            <a:r>
              <a:t>Result: Poor road holding (inconsistent grip)</a:t>
            </a:r>
          </a:p>
          <a:p>
            <a:pPr>
              <a:spcAft>
                <a:spcPts val="1000"/>
              </a:spcAft>
              <a:defRPr sz="1800">
                <a:solidFill>
                  <a:srgbClr val="333333"/>
                </a:solidFill>
              </a:defRPr>
            </a:pPr>
            <a:r>
              <a:t>With optimal damping (ζ = 0.6): — Wheel oscillates 1-2 times before settling</a:t>
            </a:r>
          </a:p>
          <a:p>
            <a:pPr>
              <a:spcAft>
                <a:spcPts val="600"/>
              </a:spcAft>
              <a:defRPr sz="1800">
                <a:solidFill>
                  <a:srgbClr val="333333"/>
                </a:solidFill>
              </a:defRPr>
            </a:pPr>
            <a:r>
              <a:t>Tire contact force stabilizes quickly</a:t>
            </a:r>
          </a:p>
          <a:p>
            <a:pPr>
              <a:spcAft>
                <a:spcPts val="600"/>
              </a:spcAft>
              <a:defRPr sz="1800">
                <a:solidFill>
                  <a:srgbClr val="333333"/>
                </a:solidFill>
              </a:defRPr>
            </a:pPr>
            <a:r>
              <a:t>Grip is consistent — Result: Good road holding</a:t>
            </a:r>
          </a:p>
          <a:p>
            <a:pPr>
              <a:spcAft>
                <a:spcPts val="600"/>
              </a:spcAft>
              <a:defRPr sz="1800">
                <a:solidFill>
                  <a:srgbClr val="333333"/>
                </a:solidFill>
              </a:defRPr>
            </a:pPr>
            <a:r>
              <a:t>BUT: Higher damping force → harsher ride (more force transmitted to body)</a:t>
            </a:r>
          </a:p>
          <a:p>
            <a:pPr>
              <a:spcAft>
                <a:spcPts val="1000"/>
              </a:spcAft>
              <a:defRPr sz="1800">
                <a:solidFill>
                  <a:srgbClr val="333333"/>
                </a:solidFill>
              </a:defRPr>
            </a:pPr>
            <a:r>
              <a:t>Tire Load Variation:</a:t>
            </a:r>
          </a:p>
          <a:p>
            <a:pPr>
              <a:spcAft>
                <a:spcPts val="1000"/>
              </a:spcAft>
              <a:defRPr sz="1800">
                <a:solidFill>
                  <a:srgbClr val="333333"/>
                </a:solidFill>
              </a:defRPr>
            </a:pPr>
            <a:r>
              <a:t>After hitting a bump, the tire normal force varies:</a:t>
            </a:r>
          </a:p>
          <a:p>
            <a:pPr>
              <a:defRPr sz="1400">
                <a:solidFill>
                  <a:srgbClr val="787878"/>
                </a:solidFill>
                <a:latin typeface="Consolas"/>
              </a:defRPr>
            </a:pPr>
            <a:r>
              <a:t>F_normal(t) = F_static + ΔF × e^(-ζω_n t) × cos(ω_d t)</a:t>
            </a:r>
            <a:br/>
            <a:br/>
            <a:r>
              <a:t>Where:</a:t>
            </a:r>
            <a:br/>
            <a:r>
              <a:t>ω_d = ω_n √(1 - ζ²)  (damped natural frequency)</a:t>
            </a:r>
          </a:p>
          <a:p>
            <a:pPr>
              <a:spcAft>
                <a:spcPts val="1000"/>
              </a:spcAft>
              <a:defRPr sz="1800">
                <a:solidFill>
                  <a:srgbClr val="333333"/>
                </a:solidFill>
              </a:defRPr>
            </a:pPr>
            <a:r>
              <a:t>Higher ζ → faster exponential decay → quicker return to F_static → better road holding</a:t>
            </a:r>
          </a:p>
          <a:p>
            <a:pPr>
              <a:spcAft>
                <a:spcPts val="1000"/>
              </a:spcAft>
              <a:defRPr sz="1800">
                <a:solidFill>
                  <a:srgbClr val="333333"/>
                </a:solidFill>
              </a:defRPr>
            </a:pPr>
            <a:r>
              <a:t>Higher ζ → more force transmitted to body → worse comfort</a:t>
            </a:r>
          </a:p>
          <a:p>
            <a:pPr>
              <a:spcAft>
                <a:spcPts val="1000"/>
              </a:spcAft>
              <a:defRPr sz="1800">
                <a:solidFill>
                  <a:srgbClr val="333333"/>
                </a:solidFill>
              </a:defRPr>
            </a:pPr>
            <a:r>
              <a:t>Instructor Narration (continued):</a:t>
            </a:r>
          </a:p>
          <a:p>
            <a:pPr>
              <a:spcAft>
                <a:spcPts val="1000"/>
              </a:spcAft>
              <a:defRPr sz="1800">
                <a:solidFill>
                  <a:srgbClr val="333333"/>
                </a:solidFill>
              </a:defRPr>
            </a:pPr>
            <a:r>
              <a:t>Racing tires need consistent load to work properly. Race cars use stiff damping (ζ ~0.7-0.9) to minimize load variation. But passengers would hate it—every bump feels like hitting a curb. Comfort cars use soft damping (ζ ~0.3) for smoothness, accepting that tire load varies more (doesn't matter much at gentle street speeds).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Traditional Solutions - Picking Your Poison</a:t>
            </a:r>
          </a:p>
        </p:txBody>
      </p:sp>
      <p:sp>
        <p:nvSpPr>
          <p:cNvPr id="3" name="Content Placeholder 2"/>
          <p:cNvSpPr>
            <a:spLocks noGrp="1"/>
          </p:cNvSpPr>
          <p:nvPr>
            <p:ph idx="1"/>
          </p:nvPr>
        </p:nvSpPr>
        <p:spPr/>
        <p:txBody>
          <a:bodyPr/>
          <a:lstStyle/>
          <a:p>
            <a:pPr>
              <a:spcAft>
                <a:spcPts val="1000"/>
              </a:spcAft>
              <a:defRPr sz="1800">
                <a:solidFill>
                  <a:srgbClr val="333333"/>
                </a:solidFill>
              </a:defRPr>
            </a:pPr>
            <a:r>
              <a:t>Instructor Narration:</a:t>
            </a:r>
          </a:p>
          <a:p>
            <a:pPr>
              <a:spcAft>
                <a:spcPts val="1000"/>
              </a:spcAft>
              <a:defRPr sz="1800">
                <a:solidFill>
                  <a:srgbClr val="333333"/>
                </a:solidFill>
              </a:defRPr>
            </a:pPr>
            <a:r>
              <a:t>For decades, suspension engineers had to choose which goal to prioritize:</a:t>
            </a:r>
          </a:p>
          <a:p>
            <a:pPr>
              <a:spcAft>
                <a:spcPts val="1000"/>
              </a:spcAft>
              <a:defRPr sz="1800">
                <a:solidFill>
                  <a:srgbClr val="333333"/>
                </a:solidFill>
              </a:defRPr>
            </a:pPr>
            <a:r>
              <a:t>| Philosophy | Springs | Dampers | f_n | ζ | Character | Examples |</a:t>
            </a:r>
          </a:p>
          <a:p>
            <a:pPr>
              <a:spcAft>
                <a:spcPts val="1000"/>
              </a:spcAft>
              <a:defRPr sz="1800">
                <a:solidFill>
                  <a:srgbClr val="333333"/>
                </a:solidFill>
              </a:defRPr>
            </a:pPr>
            <a:r>
              <a:t>|----------------|-------------|-------------|---------|-------|---------------|--------------|</a:t>
            </a:r>
          </a:p>
          <a:p>
            <a:pPr>
              <a:spcAft>
                <a:spcPts val="1000"/>
              </a:spcAft>
              <a:defRPr sz="1800">
                <a:solidFill>
                  <a:srgbClr val="333333"/>
                </a:solidFill>
              </a:defRPr>
            </a:pPr>
            <a:r>
              <a:t>| Luxury/Comfort | Soft | Soft | 0.9-1.1 Hz | 0.2-0.3 | Smooth, floaty, wallows in corners | Rolls-Royce, Mercedes S-Class (Comfort mode) |</a:t>
            </a:r>
          </a:p>
          <a:p>
            <a:pPr>
              <a:spcAft>
                <a:spcPts val="1000"/>
              </a:spcAft>
              <a:defRPr sz="1800">
                <a:solidFill>
                  <a:srgbClr val="333333"/>
                </a:solidFill>
              </a:defRPr>
            </a:pPr>
            <a:r>
              <a:t>| Balanced | Medium | Medium | 1.2-1.5 Hz | 0.3-0.4 | Acceptable ride, acceptable handling | Honda Accord, Toyota Camry, most family sedans |</a:t>
            </a:r>
          </a:p>
          <a:p>
            <a:pPr>
              <a:spcAft>
                <a:spcPts val="1000"/>
              </a:spcAft>
              <a:defRPr sz="1800">
                <a:solidFill>
                  <a:srgbClr val="333333"/>
                </a:solidFill>
              </a:defRPr>
            </a:pPr>
            <a:r>
              <a:t>| Sport | Stiff | Stiff | 1.5-1.8 Hz | 0.4-0.5 | Firm ride, flat cornering, connected | BMW M340i, Mazda MX-5, VW GTI |</a:t>
            </a:r>
          </a:p>
          <a:p>
            <a:pPr>
              <a:spcAft>
                <a:spcPts val="1000"/>
              </a:spcAft>
              <a:defRPr sz="1800">
                <a:solidFill>
                  <a:srgbClr val="333333"/>
                </a:solidFill>
              </a:defRPr>
            </a:pPr>
            <a:r>
              <a:t>| Track/Race | Very Stiff | Very Stiff | 2.0-3.0 Hz | 0.6-0.8 | Harsh, brutal, maximum control | Porsche GT3, Track-focused cars, F1 |</a:t>
            </a:r>
          </a:p>
          <a:p>
            <a:pPr>
              <a:spcAft>
                <a:spcPts val="1000"/>
              </a:spcAft>
              <a:defRPr sz="1800">
                <a:solidFill>
                  <a:srgbClr val="333333"/>
                </a:solidFill>
              </a:defRPr>
            </a:pPr>
            <a:r>
              <a:t>The Compromise Approach (Most Cars):</a:t>
            </a:r>
          </a:p>
          <a:p>
            <a:pPr>
              <a:spcAft>
                <a:spcPts val="1000"/>
              </a:spcAft>
              <a:defRPr sz="1800">
                <a:solidFill>
                  <a:srgbClr val="333333"/>
                </a:solidFill>
              </a:defRPr>
            </a:pPr>
            <a:r>
              <a:t>Target f_n = 1.3-1.5 Hz, ζ = 0.35-0.40</a:t>
            </a:r>
          </a:p>
          <a:p>
            <a:pPr>
              <a:spcAft>
                <a:spcPts val="600"/>
              </a:spcAft>
              <a:defRPr sz="1800">
                <a:solidFill>
                  <a:srgbClr val="333333"/>
                </a:solidFill>
              </a:defRPr>
            </a:pPr>
            <a:r>
              <a:t>Result: Acceptable in all areas, excellent in none</a:t>
            </a:r>
          </a:p>
          <a:p>
            <a:pPr>
              <a:spcAft>
                <a:spcPts val="600"/>
              </a:spcAft>
              <a:defRPr sz="1800">
                <a:solidFill>
                  <a:srgbClr val="333333"/>
                </a:solidFill>
              </a:defRPr>
            </a:pPr>
            <a:r>
              <a:t>Philosophy: "Good enough for most buyers</a:t>
            </a:r>
          </a:p>
          <a:p>
            <a:pPr>
              <a:spcAft>
                <a:spcPts val="600"/>
              </a:spcAft>
              <a:defRPr sz="1800">
                <a:solidFill>
                  <a:srgbClr val="333333"/>
                </a:solidFill>
              </a:defRPr>
            </a:pPr>
            <a:r>
              <a:t>Economics: Simple, cheap, proven</a:t>
            </a:r>
          </a:p>
          <a:p>
            <a:pPr>
              <a:spcAft>
                <a:spcPts val="1000"/>
              </a:spcAft>
              <a:defRPr sz="1800">
                <a:solidFill>
                  <a:srgbClr val="333333"/>
                </a:solidFill>
              </a:defRPr>
            </a:pPr>
            <a:r>
              <a:t>The Luxury Approach:</a:t>
            </a:r>
          </a:p>
          <a:p>
            <a:pPr>
              <a:spcAft>
                <a:spcPts val="1000"/>
              </a:spcAft>
              <a:defRPr sz="1800">
                <a:solidFill>
                  <a:srgbClr val="333333"/>
                </a:solidFill>
              </a:defRPr>
            </a:pPr>
            <a:r>
              <a:t>Target f_n = 1.0 Hz, ζ = 0.25, but add isolation features:</a:t>
            </a:r>
          </a:p>
          <a:p>
            <a:pPr>
              <a:spcAft>
                <a:spcPts val="600"/>
              </a:spcAft>
              <a:defRPr sz="1800">
                <a:solidFill>
                  <a:srgbClr val="333333"/>
                </a:solidFill>
              </a:defRPr>
            </a:pPr>
            <a:r>
              <a:t>Hydraulic mounts (reduce transmission of vibration)</a:t>
            </a:r>
          </a:p>
          <a:p>
            <a:pPr>
              <a:spcAft>
                <a:spcPts val="600"/>
              </a:spcAft>
              <a:defRPr sz="1800">
                <a:solidFill>
                  <a:srgbClr val="333333"/>
                </a:solidFill>
              </a:defRPr>
            </a:pPr>
            <a:r>
              <a:t>Sound deadening (hide the harshness you can't remove)</a:t>
            </a:r>
          </a:p>
          <a:p>
            <a:pPr>
              <a:spcAft>
                <a:spcPts val="600"/>
              </a:spcAft>
              <a:defRPr sz="1800">
                <a:solidFill>
                  <a:srgbClr val="333333"/>
                </a:solidFill>
              </a:defRPr>
            </a:pPr>
            <a:r>
              <a:t>Air suspension (variable spring rate—coming later!)</a:t>
            </a:r>
          </a:p>
          <a:p>
            <a:pPr>
              <a:spcAft>
                <a:spcPts val="600"/>
              </a:spcAft>
              <a:defRPr sz="1800">
                <a:solidFill>
                  <a:srgbClr val="333333"/>
                </a:solidFill>
              </a:defRPr>
            </a:pPr>
            <a:r>
              <a:t>Philosophy: "Comfort at any cost</a:t>
            </a:r>
          </a:p>
          <a:p>
            <a:pPr>
              <a:spcAft>
                <a:spcPts val="1000"/>
              </a:spcAft>
              <a:defRPr sz="1800">
                <a:solidFill>
                  <a:srgbClr val="333333"/>
                </a:solidFill>
              </a:defRPr>
            </a:pPr>
            <a:r>
              <a:t>The Sports Car Approach:</a:t>
            </a:r>
          </a:p>
          <a:p>
            <a:pPr>
              <a:spcAft>
                <a:spcPts val="1000"/>
              </a:spcAft>
              <a:defRPr sz="1800">
                <a:solidFill>
                  <a:srgbClr val="333333"/>
                </a:solidFill>
              </a:defRPr>
            </a:pPr>
            <a:r>
              <a:t>Target f_n = 1.6 Hz, ζ = 0.45, accept harsh ride</a:t>
            </a:r>
          </a:p>
          <a:p>
            <a:pPr>
              <a:spcAft>
                <a:spcPts val="600"/>
              </a:spcAft>
              <a:defRPr sz="1800">
                <a:solidFill>
                  <a:srgbClr val="333333"/>
                </a:solidFill>
              </a:defRPr>
            </a:pPr>
            <a:r>
              <a:t>Market to enthusiasts who value handling over comfort</a:t>
            </a:r>
          </a:p>
          <a:p>
            <a:pPr>
              <a:spcAft>
                <a:spcPts val="600"/>
              </a:spcAft>
              <a:defRPr sz="1800">
                <a:solidFill>
                  <a:srgbClr val="333333"/>
                </a:solidFill>
              </a:defRPr>
            </a:pPr>
            <a:r>
              <a:t>Sell adaptive dampers as option (best of both worlds—coming later!)</a:t>
            </a:r>
          </a:p>
          <a:p>
            <a:pPr>
              <a:spcAft>
                <a:spcPts val="600"/>
              </a:spcAft>
              <a:defRPr sz="1800">
                <a:solidFill>
                  <a:srgbClr val="333333"/>
                </a:solidFill>
              </a:defRPr>
            </a:pPr>
            <a:r>
              <a:t>Philosophy: "Performance first, comfort optional</a:t>
            </a:r>
          </a:p>
          <a:p>
            <a:pPr>
              <a:spcAft>
                <a:spcPts val="1000"/>
              </a:spcAft>
              <a:defRPr sz="1800">
                <a:solidFill>
                  <a:srgbClr val="333333"/>
                </a:solidFill>
              </a:defRPr>
            </a:pPr>
            <a:r>
              <a:t>Instructor Narration (continued):</a:t>
            </a:r>
          </a:p>
          <a:p>
            <a:pPr>
              <a:spcAft>
                <a:spcPts val="1000"/>
              </a:spcAft>
              <a:defRPr sz="1800">
                <a:solidFill>
                  <a:srgbClr val="333333"/>
                </a:solidFill>
              </a:defRPr>
            </a:pPr>
            <a:r>
              <a:t>For 100 years, this was the state of the art: pick your priority, accept the compromise. But in the 1980s-1990s, electronics changed everything. What if the suspension could adapt in real-time? Soft over bumps, stiff in corners? That's what we'll explore after we understand the mechanical designs.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4472C4"/>
        </a:solidFill>
        <a:effectLst/>
      </p:bgPr>
    </p:bg>
    <p:spTree>
      <p:nvGrpSpPr>
        <p:cNvPr id="1" name=""/>
        <p:cNvGrpSpPr/>
        <p:nvPr/>
      </p:nvGrpSpPr>
      <p:grpSpPr/>
      <p:sp>
        <p:nvSpPr>
          <p:cNvPr id="2" name="Title 1"/>
          <p:cNvSpPr>
            <a:spLocks noGrp="1"/>
          </p:cNvSpPr>
          <p:nvPr>
            <p:ph type="ctrTitle"/>
          </p:nvPr>
        </p:nvSpPr>
        <p:spPr/>
        <p:txBody>
          <a:bodyPr/>
          <a:lstStyle/>
          <a:p>
            <a:pPr>
              <a:defRPr sz="4400" b="1">
                <a:solidFill>
                  <a:srgbClr val="FFFFFF"/>
                </a:solidFill>
              </a:defRPr>
            </a:pPr>
            <a:r>
              <a:t>PART 3: RISING ACTION - "Suspension Architectures</a:t>
            </a:r>
          </a:p>
        </p:txBody>
      </p:sp>
      <p:sp>
        <p:nvSpPr>
          <p:cNvPr id="3" name="Subtitle 2"/>
          <p:cNvSpPr>
            <a:spLocks noGrp="1"/>
          </p:cNvSpPr>
          <p:nvPr>
            <p:ph type="subTitle" idx="1"/>
          </p:nvPr>
        </p:nvSpPr>
        <p:spPr/>
        <p:txBody>
          <a:bodyPr/>
          <a:lstStyle/>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Suspension Types - Independent vs Dependent</a:t>
            </a:r>
          </a:p>
        </p:txBody>
      </p:sp>
      <p:sp>
        <p:nvSpPr>
          <p:cNvPr id="3" name="Content Placeholder 2"/>
          <p:cNvSpPr>
            <a:spLocks noGrp="1"/>
          </p:cNvSpPr>
          <p:nvPr>
            <p:ph idx="1"/>
          </p:nvPr>
        </p:nvSpPr>
        <p:spPr/>
        <p:txBody>
          <a:bodyPr/>
          <a:lstStyle/>
          <a:p>
            <a:pPr>
              <a:spcAft>
                <a:spcPts val="1000"/>
              </a:spcAft>
              <a:defRPr sz="1800">
                <a:solidFill>
                  <a:srgbClr val="333333"/>
                </a:solidFill>
              </a:defRPr>
            </a:pPr>
            <a:r>
              <a:t>Instructor Narration:</a:t>
            </a:r>
          </a:p>
          <a:p>
            <a:pPr>
              <a:spcAft>
                <a:spcPts val="1000"/>
              </a:spcAft>
              <a:defRPr sz="1800">
                <a:solidFill>
                  <a:srgbClr val="333333"/>
                </a:solidFill>
              </a:defRPr>
            </a:pPr>
            <a:r>
              <a:t>Before we dive into specific designs, let's understand the fundamental division:</a:t>
            </a:r>
          </a:p>
          <a:p>
            <a:pPr>
              <a:spcAft>
                <a:spcPts val="1000"/>
              </a:spcAft>
              <a:defRPr sz="1800">
                <a:solidFill>
                  <a:srgbClr val="333333"/>
                </a:solidFill>
              </a:defRPr>
            </a:pPr>
            <a:r>
              <a:t>INDEPENDENT SUSPENSION: — Left and right wheels move independently — One wheel hitting a bump doesn't affect the other wheel</a:t>
            </a:r>
          </a:p>
          <a:p>
            <a:pPr>
              <a:spcAft>
                <a:spcPts val="600"/>
              </a:spcAft>
              <a:defRPr sz="1800">
                <a:solidFill>
                  <a:srgbClr val="333333"/>
                </a:solidFill>
              </a:defRPr>
            </a:pPr>
            <a:r>
              <a:t>Better ride comfort (disturbances are isolated to one corner)</a:t>
            </a:r>
          </a:p>
          <a:p>
            <a:pPr>
              <a:spcAft>
                <a:spcPts val="600"/>
              </a:spcAft>
              <a:defRPr sz="1800">
                <a:solidFill>
                  <a:srgbClr val="333333"/>
                </a:solidFill>
              </a:defRPr>
            </a:pPr>
            <a:r>
              <a:t>Better road holding (each tire maintains contact independently)</a:t>
            </a:r>
          </a:p>
          <a:p>
            <a:pPr>
              <a:spcAft>
                <a:spcPts val="600"/>
              </a:spcAft>
              <a:defRPr sz="1800">
                <a:solidFill>
                  <a:srgbClr val="333333"/>
                </a:solidFill>
              </a:defRPr>
            </a:pPr>
            <a:r>
              <a:t>More complex (more parts, more cost)</a:t>
            </a:r>
          </a:p>
          <a:p>
            <a:pPr>
              <a:spcAft>
                <a:spcPts val="600"/>
              </a:spcAft>
              <a:defRPr sz="1800">
                <a:solidFill>
                  <a:srgbClr val="333333"/>
                </a:solidFill>
              </a:defRPr>
            </a:pPr>
            <a:r>
              <a:t>Used in: Most modern passenger cars, sports cars</a:t>
            </a:r>
          </a:p>
          <a:p>
            <a:pPr>
              <a:spcAft>
                <a:spcPts val="1000"/>
              </a:spcAft>
              <a:defRPr sz="1800">
                <a:solidFill>
                  <a:srgbClr val="333333"/>
                </a:solidFill>
              </a:defRPr>
            </a:pPr>
            <a:r>
              <a:t>DEPENDENT SUSPENSION (Solid Axle): — Left and right wheels are mechanically linked by a rigid axle</a:t>
            </a:r>
          </a:p>
          <a:p>
            <a:pPr>
              <a:spcAft>
                <a:spcPts val="600"/>
              </a:spcAft>
              <a:defRPr sz="1800">
                <a:solidFill>
                  <a:srgbClr val="333333"/>
                </a:solidFill>
              </a:defRPr>
            </a:pPr>
            <a:r>
              <a:t>One wheel hitting a bump affects the opposite wheel (tilts the whole axle)</a:t>
            </a:r>
          </a:p>
          <a:p>
            <a:pPr>
              <a:spcAft>
                <a:spcPts val="600"/>
              </a:spcAft>
              <a:defRPr sz="1800">
                <a:solidFill>
                  <a:srgbClr val="333333"/>
                </a:solidFill>
              </a:defRPr>
            </a:pPr>
            <a:r>
              <a:t>Simpler, more durable (fewer parts, easier to package)</a:t>
            </a:r>
          </a:p>
          <a:p>
            <a:pPr>
              <a:spcAft>
                <a:spcPts val="600"/>
              </a:spcAft>
              <a:defRPr sz="1800">
                <a:solidFill>
                  <a:srgbClr val="333333"/>
                </a:solidFill>
              </a:defRPr>
            </a:pPr>
            <a:r>
              <a:t>Can maintain consistent camber (both wheels tilt together in corners)</a:t>
            </a:r>
          </a:p>
          <a:p>
            <a:pPr>
              <a:spcAft>
                <a:spcPts val="600"/>
              </a:spcAft>
              <a:defRPr sz="1800">
                <a:solidFill>
                  <a:srgbClr val="333333"/>
                </a:solidFill>
              </a:defRPr>
            </a:pPr>
            <a:r>
              <a:t>Poorer ride comfort (disturbances transmitted across axle)</a:t>
            </a:r>
          </a:p>
          <a:p>
            <a:pPr>
              <a:spcAft>
                <a:spcPts val="600"/>
              </a:spcAft>
              <a:defRPr sz="1800">
                <a:solidFill>
                  <a:srgbClr val="333333"/>
                </a:solidFill>
              </a:defRPr>
            </a:pPr>
            <a:r>
              <a:t>Used in: Heavy-duty trucks, older cars, some SUVs (especially rear axles)</a:t>
            </a:r>
          </a:p>
          <a:p>
            <a:pPr>
              <a:spcAft>
                <a:spcPts val="1000"/>
              </a:spcAft>
              <a:defRPr sz="1800">
                <a:solidFill>
                  <a:srgbClr val="333333"/>
                </a:solidFill>
              </a:defRPr>
            </a:pPr>
            <a:r>
              <a:t>Why Independent Suspension Won:</a:t>
            </a:r>
          </a:p>
          <a:p>
            <a:pPr>
              <a:spcAft>
                <a:spcPts val="1000"/>
              </a:spcAft>
              <a:defRPr sz="1800">
                <a:solidFill>
                  <a:srgbClr val="333333"/>
                </a:solidFill>
              </a:defRPr>
            </a:pPr>
            <a:r>
              <a:t>For passenger cars, the advantages are overwhelming:</a:t>
            </a:r>
          </a:p>
          <a:p>
            <a:pPr>
              <a:spcAft>
                <a:spcPts val="1000"/>
              </a:spcAft>
              <a:defRPr sz="1800">
                <a:solidFill>
                  <a:srgbClr val="333333"/>
                </a:solidFill>
              </a:defRPr>
            </a:pPr>
            <a:r>
              <a:t>✅ Much better ride comfort (passengers feel bumps only under their wheels)</a:t>
            </a:r>
          </a:p>
          <a:p>
            <a:pPr>
              <a:spcAft>
                <a:spcPts val="1000"/>
              </a:spcAft>
              <a:defRPr sz="1800">
                <a:solidFill>
                  <a:srgbClr val="333333"/>
                </a:solidFill>
              </a:defRPr>
            </a:pPr>
            <a:r>
              <a:t>✅ Better handling (tire contact maintained independently)</a:t>
            </a:r>
          </a:p>
          <a:p>
            <a:pPr>
              <a:spcAft>
                <a:spcPts val="1000"/>
              </a:spcAft>
              <a:defRPr sz="1800">
                <a:solidFill>
                  <a:srgbClr val="333333"/>
                </a:solidFill>
              </a:defRPr>
            </a:pPr>
            <a:r>
              <a:t>✅ Lower unsprung mass (axle doesn't move with wheel)</a:t>
            </a:r>
          </a:p>
          <a:p>
            <a:pPr>
              <a:spcAft>
                <a:spcPts val="1000"/>
              </a:spcAft>
              <a:defRPr sz="1800">
                <a:solidFill>
                  <a:srgbClr val="333333"/>
                </a:solidFill>
              </a:defRPr>
            </a:pPr>
            <a:r>
              <a:t>✅ Better packaging (more cabin space)</a:t>
            </a:r>
          </a:p>
          <a:p>
            <a:pPr>
              <a:spcAft>
                <a:spcPts val="1000"/>
              </a:spcAft>
              <a:defRPr sz="1800">
                <a:solidFill>
                  <a:srgbClr val="333333"/>
                </a:solidFill>
              </a:defRPr>
            </a:pPr>
            <a:r>
              <a:t>Why Solid Axles Still Exist:</a:t>
            </a:r>
          </a:p>
          <a:p>
            <a:pPr>
              <a:spcAft>
                <a:spcPts val="1000"/>
              </a:spcAft>
              <a:defRPr sz="1800">
                <a:solidFill>
                  <a:srgbClr val="333333"/>
                </a:solidFill>
              </a:defRPr>
            </a:pPr>
            <a:r>
              <a:t>For heavy-duty applications:</a:t>
            </a:r>
          </a:p>
          <a:p>
            <a:pPr>
              <a:spcAft>
                <a:spcPts val="1000"/>
              </a:spcAft>
              <a:defRPr sz="1800">
                <a:solidFill>
                  <a:srgbClr val="333333"/>
                </a:solidFill>
              </a:defRPr>
            </a:pPr>
            <a:r>
              <a:t>✅ Extreme durability (can handle huge loads, off-road abuse)</a:t>
            </a:r>
          </a:p>
          <a:p>
            <a:pPr>
              <a:spcAft>
                <a:spcPts val="1000"/>
              </a:spcAft>
              <a:defRPr sz="1800">
                <a:solidFill>
                  <a:srgbClr val="333333"/>
                </a:solidFill>
              </a:defRPr>
            </a:pPr>
            <a:r>
              <a:t>✅ Simplicity (easier to maintain, repair in field)</a:t>
            </a:r>
          </a:p>
          <a:p>
            <a:pPr>
              <a:spcAft>
                <a:spcPts val="1000"/>
              </a:spcAft>
              <a:defRPr sz="1800">
                <a:solidFill>
                  <a:srgbClr val="333333"/>
                </a:solidFill>
              </a:defRPr>
            </a:pPr>
            <a:r>
              <a:t>✅ Consistent camber (both wheels maintain vertical orientation on uneven terrain)</a:t>
            </a:r>
          </a:p>
          <a:p>
            <a:pPr>
              <a:spcAft>
                <a:spcPts val="1000"/>
              </a:spcAft>
              <a:defRPr sz="1800">
                <a:solidFill>
                  <a:srgbClr val="333333"/>
                </a:solidFill>
              </a:defRPr>
            </a:pPr>
            <a:r>
              <a:t>✅ Cost (cheaper for very heavy vehicles where complexity would be expensive)</a:t>
            </a:r>
          </a:p>
          <a:p>
            <a:pPr>
              <a:spcAft>
                <a:spcPts val="1000"/>
              </a:spcAft>
              <a:defRPr sz="1800">
                <a:solidFill>
                  <a:srgbClr val="333333"/>
                </a:solidFill>
              </a:defRPr>
            </a:pPr>
            <a:r>
              <a:t>Instructor Narration (continued):</a:t>
            </a:r>
          </a:p>
          <a:p>
            <a:pPr>
              <a:spcAft>
                <a:spcPts val="1000"/>
              </a:spcAft>
              <a:defRPr sz="1800">
                <a:solidFill>
                  <a:srgbClr val="333333"/>
                </a:solidFill>
              </a:defRPr>
            </a:pPr>
            <a:r>
              <a:t>Today, we'll focus on independent suspension designs—these are what you'll find in 90%+ of modern passenger vehicles. Solid axles are still important (especially for trucks), but the principles are simpler.</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McPherson Strut - The Compact Champion</a:t>
            </a:r>
          </a:p>
        </p:txBody>
      </p:sp>
      <p:sp>
        <p:nvSpPr>
          <p:cNvPr id="3" name="Content Placeholder 2"/>
          <p:cNvSpPr>
            <a:spLocks noGrp="1"/>
          </p:cNvSpPr>
          <p:nvPr>
            <p:ph idx="1"/>
          </p:nvPr>
        </p:nvSpPr>
        <p:spPr/>
        <p:txBody>
          <a:bodyPr/>
          <a:lstStyle/>
          <a:p>
            <a:pPr>
              <a:spcAft>
                <a:spcPts val="1000"/>
              </a:spcAft>
              <a:defRPr sz="1800">
                <a:solidFill>
                  <a:srgbClr val="333333"/>
                </a:solidFill>
              </a:defRPr>
            </a:pPr>
            <a:r>
              <a:t>Instructor Narration:</a:t>
            </a:r>
          </a:p>
          <a:p>
            <a:pPr>
              <a:spcAft>
                <a:spcPts val="1000"/>
              </a:spcAft>
              <a:defRPr sz="1800">
                <a:solidFill>
                  <a:srgbClr val="333333"/>
                </a:solidFill>
              </a:defRPr>
            </a:pPr>
            <a:r>
              <a:t>The McPherson strut is the most common front suspension in the world. Why? It's cheap, compact, and good enough.</a:t>
            </a:r>
          </a:p>
          <a:p>
            <a:pPr>
              <a:spcAft>
                <a:spcPts val="1000"/>
              </a:spcAft>
              <a:defRPr sz="1800">
                <a:solidFill>
                  <a:srgbClr val="333333"/>
                </a:solidFill>
              </a:defRPr>
            </a:pPr>
            <a:r>
              <a:t>Design:</a:t>
            </a:r>
          </a:p>
          <a:p>
            <a:pPr>
              <a:spcAft>
                <a:spcPts val="1000"/>
              </a:spcAft>
              <a:defRPr sz="1800">
                <a:solidFill>
                  <a:srgbClr val="333333"/>
                </a:solidFill>
              </a:defRPr>
            </a:pPr>
            <a:r>
              <a:t>Components:</a:t>
            </a:r>
          </a:p>
          <a:p>
            <a:pPr>
              <a:spcAft>
                <a:spcPts val="600"/>
              </a:spcAft>
              <a:defRPr sz="1800">
                <a:solidFill>
                  <a:srgbClr val="333333"/>
                </a:solidFill>
              </a:defRPr>
            </a:pPr>
            <a:r>
              <a:t>Strut (spring and damper integrated into single unit)</a:t>
            </a:r>
          </a:p>
          <a:p>
            <a:pPr>
              <a:spcAft>
                <a:spcPts val="600"/>
              </a:spcAft>
              <a:defRPr sz="1800">
                <a:solidFill>
                  <a:srgbClr val="333333"/>
                </a:solidFill>
              </a:defRPr>
            </a:pPr>
            <a:r>
              <a:t>Strut mounts to body at top (with bearing for steering rotation)</a:t>
            </a:r>
          </a:p>
          <a:p>
            <a:pPr>
              <a:spcAft>
                <a:spcPts val="600"/>
              </a:spcAft>
              <a:defRPr sz="1800">
                <a:solidFill>
                  <a:srgbClr val="333333"/>
                </a:solidFill>
              </a:defRPr>
            </a:pPr>
            <a:r>
              <a:t>Strut mounts to knuckle at bottom</a:t>
            </a:r>
          </a:p>
          <a:p>
            <a:pPr>
              <a:spcAft>
                <a:spcPts val="600"/>
              </a:spcAft>
              <a:defRPr sz="1800">
                <a:solidFill>
                  <a:srgbClr val="333333"/>
                </a:solidFill>
              </a:defRPr>
            </a:pPr>
            <a:r>
              <a:t>Spring wrapped around damper (coaxial)</a:t>
            </a:r>
          </a:p>
          <a:p>
            <a:pPr>
              <a:spcAft>
                <a:spcPts val="600"/>
              </a:spcAft>
              <a:defRPr sz="1800">
                <a:solidFill>
                  <a:srgbClr val="333333"/>
                </a:solidFill>
              </a:defRPr>
            </a:pPr>
            <a:r>
              <a:t>Lower Control Arm — Single triangular arm</a:t>
            </a:r>
          </a:p>
          <a:p>
            <a:pPr>
              <a:spcAft>
                <a:spcPts val="600"/>
              </a:spcAft>
              <a:defRPr sz="1800">
                <a:solidFill>
                  <a:srgbClr val="333333"/>
                </a:solidFill>
              </a:defRPr>
            </a:pPr>
            <a:r>
              <a:t>Mounts to chassis with rubber bushings (allow slight movement)</a:t>
            </a:r>
          </a:p>
          <a:p>
            <a:pPr>
              <a:spcAft>
                <a:spcPts val="600"/>
              </a:spcAft>
              <a:defRPr sz="1800">
                <a:solidFill>
                  <a:srgbClr val="333333"/>
                </a:solidFill>
              </a:defRPr>
            </a:pPr>
            <a:r>
              <a:t>Connects to knuckle via ball joint</a:t>
            </a:r>
          </a:p>
          <a:p>
            <a:pPr>
              <a:spcAft>
                <a:spcPts val="600"/>
              </a:spcAft>
              <a:defRPr sz="1800">
                <a:solidFill>
                  <a:srgbClr val="333333"/>
                </a:solidFill>
              </a:defRPr>
            </a:pPr>
            <a:r>
              <a:t>Tie Rod (for steering)</a:t>
            </a:r>
          </a:p>
          <a:p>
            <a:pPr>
              <a:spcAft>
                <a:spcPts val="600"/>
              </a:spcAft>
              <a:defRPr sz="1800">
                <a:solidFill>
                  <a:srgbClr val="333333"/>
                </a:solidFill>
              </a:defRPr>
            </a:pPr>
            <a:r>
              <a:t>Connects steering rack to knuckle</a:t>
            </a:r>
          </a:p>
          <a:p>
            <a:pPr>
              <a:spcAft>
                <a:spcPts val="600"/>
              </a:spcAft>
              <a:defRPr sz="1800">
                <a:solidFill>
                  <a:srgbClr val="333333"/>
                </a:solidFill>
              </a:defRPr>
            </a:pPr>
            <a:r>
              <a:t>Anti-Roll Bar (optional but common)</a:t>
            </a:r>
          </a:p>
          <a:p>
            <a:pPr>
              <a:spcAft>
                <a:spcPts val="600"/>
              </a:spcAft>
              <a:defRPr sz="1800">
                <a:solidFill>
                  <a:srgbClr val="333333"/>
                </a:solidFill>
              </a:defRPr>
            </a:pPr>
            <a:r>
              <a:t>Connects left and right sides</a:t>
            </a:r>
          </a:p>
          <a:p>
            <a:pPr>
              <a:spcAft>
                <a:spcPts val="1000"/>
              </a:spcAft>
              <a:defRPr sz="1800">
                <a:solidFill>
                  <a:srgbClr val="333333"/>
                </a:solidFill>
              </a:defRPr>
            </a:pPr>
            <a:r>
              <a:t>How It Works: — The strut acts as the upper suspension link (replaces upper control arm)</a:t>
            </a:r>
          </a:p>
          <a:p>
            <a:pPr>
              <a:spcAft>
                <a:spcPts val="600"/>
              </a:spcAft>
              <a:defRPr sz="1800">
                <a:solidFill>
                  <a:srgbClr val="333333"/>
                </a:solidFill>
              </a:defRPr>
            </a:pPr>
            <a:r>
              <a:t>Wheel moves up/down by rotating on lower control arm pivot</a:t>
            </a:r>
          </a:p>
          <a:p>
            <a:pPr>
              <a:spcAft>
                <a:spcPts val="600"/>
              </a:spcAft>
              <a:defRPr sz="1800">
                <a:solidFill>
                  <a:srgbClr val="333333"/>
                </a:solidFill>
              </a:defRPr>
            </a:pPr>
            <a:r>
              <a:t>Strut compresses/extends to absorb bump</a:t>
            </a:r>
          </a:p>
          <a:p>
            <a:pPr>
              <a:spcAft>
                <a:spcPts val="600"/>
              </a:spcAft>
              <a:defRPr sz="1800">
                <a:solidFill>
                  <a:srgbClr val="333333"/>
                </a:solidFill>
              </a:defRPr>
            </a:pPr>
            <a:r>
              <a:t>Strut must rotate for steering (top mount has bearing)</a:t>
            </a:r>
          </a:p>
          <a:p>
            <a:pPr>
              <a:spcAft>
                <a:spcPts val="1000"/>
              </a:spcAft>
              <a:defRPr sz="1800">
                <a:solidFill>
                  <a:srgbClr val="333333"/>
                </a:solidFill>
              </a:defRPr>
            </a:pPr>
            <a:r>
              <a:t>Advantages:</a:t>
            </a:r>
          </a:p>
          <a:p>
            <a:pPr>
              <a:spcAft>
                <a:spcPts val="1000"/>
              </a:spcAft>
              <a:defRPr sz="1800">
                <a:solidFill>
                  <a:srgbClr val="333333"/>
                </a:solidFill>
              </a:defRPr>
            </a:pPr>
            <a:r>
              <a:t>✅ Compact (no upper control arm—saves space for engine, especially FWD cars)</a:t>
            </a:r>
          </a:p>
          <a:p>
            <a:pPr>
              <a:spcAft>
                <a:spcPts val="1000"/>
              </a:spcAft>
              <a:defRPr sz="1800">
                <a:solidFill>
                  <a:srgbClr val="333333"/>
                </a:solidFill>
              </a:defRPr>
            </a:pPr>
            <a:r>
              <a:t>✅ Lightweight (fewer parts)</a:t>
            </a:r>
          </a:p>
          <a:p>
            <a:pPr>
              <a:spcAft>
                <a:spcPts val="1000"/>
              </a:spcAft>
              <a:defRPr sz="1800">
                <a:solidFill>
                  <a:srgbClr val="333333"/>
                </a:solidFill>
              </a:defRPr>
            </a:pPr>
            <a:r>
              <a:t>✅ Cost-effective (simple to manufacture)</a:t>
            </a:r>
          </a:p>
          <a:p>
            <a:pPr>
              <a:spcAft>
                <a:spcPts val="1000"/>
              </a:spcAft>
              <a:defRPr sz="1800">
                <a:solidFill>
                  <a:srgbClr val="333333"/>
                </a:solidFill>
              </a:defRPr>
            </a:pPr>
            <a:r>
              <a:t>✅ Adequate performance (good enough for most driving)</a:t>
            </a:r>
          </a:p>
          <a:p>
            <a:pPr>
              <a:spcAft>
                <a:spcPts val="1000"/>
              </a:spcAft>
              <a:defRPr sz="1800">
                <a:solidFill>
                  <a:srgbClr val="333333"/>
                </a:solidFill>
              </a:defRPr>
            </a:pPr>
            <a:r>
              <a:t>Disadvantages:</a:t>
            </a:r>
          </a:p>
          <a:p>
            <a:pPr>
              <a:spcAft>
                <a:spcPts val="1000"/>
              </a:spcAft>
              <a:defRPr sz="1800">
                <a:solidFill>
                  <a:srgbClr val="333333"/>
                </a:solidFill>
              </a:defRPr>
            </a:pPr>
            <a:r>
              <a:t>❌ Limited camber control (camber changes significantly with suspension travel)</a:t>
            </a:r>
          </a:p>
          <a:p>
            <a:pPr>
              <a:spcAft>
                <a:spcPts val="1000"/>
              </a:spcAft>
              <a:defRPr sz="1800">
                <a:solidFill>
                  <a:srgbClr val="333333"/>
                </a:solidFill>
              </a:defRPr>
            </a:pPr>
            <a:r>
              <a:t>❌ Strut loads (side loads on damper can cause friction, reduced damper life)</a:t>
            </a:r>
          </a:p>
          <a:p>
            <a:pPr>
              <a:spcAft>
                <a:spcPts val="1000"/>
              </a:spcAft>
              <a:defRPr sz="1800">
                <a:solidFill>
                  <a:srgbClr val="333333"/>
                </a:solidFill>
              </a:defRPr>
            </a:pPr>
            <a:r>
              <a:t>❌ Compromised geometry (steering axis and spring axis are the same—less tuning freedom)</a:t>
            </a:r>
          </a:p>
          <a:p>
            <a:pPr>
              <a:spcAft>
                <a:spcPts val="1000"/>
              </a:spcAft>
              <a:defRPr sz="1800">
                <a:solidFill>
                  <a:srgbClr val="333333"/>
                </a:solidFill>
              </a:defRPr>
            </a:pPr>
            <a:r>
              <a:t>❌ Ride harshness (strut transmits lateral forces directly to body)</a:t>
            </a:r>
          </a:p>
          <a:p>
            <a:pPr>
              <a:spcAft>
                <a:spcPts val="1000"/>
              </a:spcAft>
              <a:defRPr sz="1800">
                <a:solidFill>
                  <a:srgbClr val="333333"/>
                </a:solidFill>
              </a:defRPr>
            </a:pPr>
            <a:r>
              <a:t>Where It's Used: — Front suspension: Most FWD cars (Civic, Corolla, Golf, etc.)</a:t>
            </a:r>
          </a:p>
          <a:p>
            <a:pPr>
              <a:spcAft>
                <a:spcPts val="600"/>
              </a:spcAft>
              <a:defRPr sz="1800">
                <a:solidFill>
                  <a:srgbClr val="333333"/>
                </a:solidFill>
              </a:defRPr>
            </a:pPr>
            <a:r>
              <a:t>Rear suspension: Some compact cars</a:t>
            </a:r>
          </a:p>
          <a:p>
            <a:pPr>
              <a:spcAft>
                <a:spcPts val="600"/>
              </a:spcAft>
              <a:defRPr sz="1800">
                <a:solidFill>
                  <a:srgbClr val="333333"/>
                </a:solidFill>
              </a:defRPr>
            </a:pPr>
            <a:r>
              <a:t>NOT used in: Sports cars prioritizing ultimate handling (prefer double wishbone)</a:t>
            </a:r>
          </a:p>
          <a:p>
            <a:pPr>
              <a:spcAft>
                <a:spcPts val="1000"/>
              </a:spcAft>
              <a:defRPr sz="1800">
                <a:solidFill>
                  <a:srgbClr val="333333"/>
                </a:solidFill>
              </a:defRPr>
            </a:pPr>
            <a:r>
              <a:t>Geometry Note:</a:t>
            </a:r>
          </a:p>
          <a:p>
            <a:pPr>
              <a:spcAft>
                <a:spcPts val="1000"/>
              </a:spcAft>
              <a:defRPr sz="1800">
                <a:solidFill>
                  <a:srgbClr val="333333"/>
                </a:solidFill>
              </a:defRPr>
            </a:pPr>
            <a:r>
              <a:t>The strut defines the steering axis (kingpin inclination we learned in Session 11). This means suspension geometry and steering geometry are coupled—less design freedom than double wishbone.</a:t>
            </a:r>
          </a:p>
          <a:p>
            <a:pPr>
              <a:spcAft>
                <a:spcPts val="1000"/>
              </a:spcAft>
              <a:defRPr sz="1800">
                <a:solidFill>
                  <a:srgbClr val="333333"/>
                </a:solidFill>
              </a:defRPr>
            </a:pPr>
            <a:r>
              <a:t>Instructor Narration (continued):</a:t>
            </a:r>
          </a:p>
          <a:p>
            <a:pPr>
              <a:spcAft>
                <a:spcPts val="1000"/>
              </a:spcAft>
              <a:defRPr sz="1800">
                <a:solidFill>
                  <a:srgbClr val="333333"/>
                </a:solidFill>
              </a:defRPr>
            </a:pPr>
            <a:r>
              <a:t>The McPherson strut is the 'good enough' solution. It's not the best handling suspension (camber changes too much), it's not the smoothest riding (side loads cause friction), but it's cheap and compact. For a $25,000 family sedan with limited under-hood space, it's perfect. For a $100,000 sports car, engineers use double wishbone instead.</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Double Wishbone - The Performance Gold Standard</a:t>
            </a:r>
          </a:p>
        </p:txBody>
      </p:sp>
      <p:sp>
        <p:nvSpPr>
          <p:cNvPr id="3" name="Content Placeholder 2"/>
          <p:cNvSpPr>
            <a:spLocks noGrp="1"/>
          </p:cNvSpPr>
          <p:nvPr>
            <p:ph idx="1"/>
          </p:nvPr>
        </p:nvSpPr>
        <p:spPr/>
        <p:txBody>
          <a:bodyPr/>
          <a:lstStyle/>
          <a:p>
            <a:pPr>
              <a:spcAft>
                <a:spcPts val="1000"/>
              </a:spcAft>
              <a:defRPr sz="1800">
                <a:solidFill>
                  <a:srgbClr val="333333"/>
                </a:solidFill>
              </a:defRPr>
            </a:pPr>
            <a:r>
              <a:t>Instructor Narration:</a:t>
            </a:r>
          </a:p>
          <a:p>
            <a:pPr>
              <a:spcAft>
                <a:spcPts val="1000"/>
              </a:spcAft>
              <a:defRPr sz="1800">
                <a:solidFill>
                  <a:srgbClr val="333333"/>
                </a:solidFill>
              </a:defRPr>
            </a:pPr>
            <a:r>
              <a:t>The double wishbone (also called double A-arm) is the gold standard for performance. It's more complex and expensive, but offers superior control.</a:t>
            </a:r>
          </a:p>
          <a:p>
            <a:pPr>
              <a:spcAft>
                <a:spcPts val="1000"/>
              </a:spcAft>
              <a:defRPr sz="1800">
                <a:solidFill>
                  <a:srgbClr val="333333"/>
                </a:solidFill>
              </a:defRPr>
            </a:pPr>
            <a:r>
              <a:t>Design:</a:t>
            </a:r>
          </a:p>
          <a:p>
            <a:pPr>
              <a:spcAft>
                <a:spcPts val="1000"/>
              </a:spcAft>
              <a:defRPr sz="1800">
                <a:solidFill>
                  <a:srgbClr val="333333"/>
                </a:solidFill>
              </a:defRPr>
            </a:pPr>
            <a:r>
              <a:t>Components:</a:t>
            </a:r>
          </a:p>
          <a:p>
            <a:pPr>
              <a:spcAft>
                <a:spcPts val="600"/>
              </a:spcAft>
              <a:defRPr sz="1800">
                <a:solidFill>
                  <a:srgbClr val="333333"/>
                </a:solidFill>
              </a:defRPr>
            </a:pPr>
            <a:r>
              <a:t>Upper Control Arm (wishbone/A-arm)</a:t>
            </a:r>
          </a:p>
          <a:p>
            <a:pPr>
              <a:spcAft>
                <a:spcPts val="600"/>
              </a:spcAft>
              <a:defRPr sz="1800">
                <a:solidFill>
                  <a:srgbClr val="333333"/>
                </a:solidFill>
              </a:defRPr>
            </a:pPr>
            <a:r>
              <a:t>Two mounting points to chassis (front and rear pivots)</a:t>
            </a:r>
          </a:p>
          <a:p>
            <a:pPr>
              <a:spcAft>
                <a:spcPts val="600"/>
              </a:spcAft>
              <a:defRPr sz="1800">
                <a:solidFill>
                  <a:srgbClr val="333333"/>
                </a:solidFill>
              </a:defRPr>
            </a:pPr>
            <a:r>
              <a:t>One ball joint connecting to top of knuckle</a:t>
            </a:r>
          </a:p>
          <a:p>
            <a:pPr>
              <a:spcAft>
                <a:spcPts val="600"/>
              </a:spcAft>
              <a:defRPr sz="1800">
                <a:solidFill>
                  <a:srgbClr val="333333"/>
                </a:solidFill>
              </a:defRPr>
            </a:pPr>
            <a:r>
              <a:t>Typically shorter than lower arm</a:t>
            </a:r>
          </a:p>
          <a:p>
            <a:pPr>
              <a:spcAft>
                <a:spcPts val="600"/>
              </a:spcAft>
              <a:defRPr sz="1800">
                <a:solidFill>
                  <a:srgbClr val="333333"/>
                </a:solidFill>
              </a:defRPr>
            </a:pPr>
            <a:r>
              <a:t>Lower Control Arm (wishbone/A-arm)</a:t>
            </a:r>
          </a:p>
          <a:p>
            <a:pPr>
              <a:spcAft>
                <a:spcPts val="600"/>
              </a:spcAft>
              <a:defRPr sz="1800">
                <a:solidFill>
                  <a:srgbClr val="333333"/>
                </a:solidFill>
              </a:defRPr>
            </a:pPr>
            <a:r>
              <a:t>Two mounting points to chassis (front and rear pivots)</a:t>
            </a:r>
          </a:p>
          <a:p>
            <a:pPr>
              <a:spcAft>
                <a:spcPts val="600"/>
              </a:spcAft>
              <a:defRPr sz="1800">
                <a:solidFill>
                  <a:srgbClr val="333333"/>
                </a:solidFill>
              </a:defRPr>
            </a:pPr>
            <a:r>
              <a:t>One ball joint connecting to bottom of knuckle</a:t>
            </a:r>
          </a:p>
          <a:p>
            <a:pPr>
              <a:spcAft>
                <a:spcPts val="600"/>
              </a:spcAft>
              <a:defRPr sz="1800">
                <a:solidFill>
                  <a:srgbClr val="333333"/>
                </a:solidFill>
              </a:defRPr>
            </a:pPr>
            <a:r>
              <a:t>Typically longer than upper arm</a:t>
            </a:r>
          </a:p>
          <a:p>
            <a:pPr>
              <a:spcAft>
                <a:spcPts val="600"/>
              </a:spcAft>
              <a:defRPr sz="1800">
                <a:solidFill>
                  <a:srgbClr val="333333"/>
                </a:solidFill>
              </a:defRPr>
            </a:pPr>
            <a:r>
              <a:t>Spring and Damper — Usually separate (damper inside spring = "coilover")</a:t>
            </a:r>
          </a:p>
          <a:p>
            <a:pPr>
              <a:spcAft>
                <a:spcPts val="600"/>
              </a:spcAft>
              <a:defRPr sz="1800">
                <a:solidFill>
                  <a:srgbClr val="333333"/>
                </a:solidFill>
              </a:defRPr>
            </a:pPr>
            <a:r>
              <a:t>Mounts between lower arm and chassis</a:t>
            </a:r>
          </a:p>
          <a:p>
            <a:pPr>
              <a:spcAft>
                <a:spcPts val="600"/>
              </a:spcAft>
              <a:defRPr sz="1800">
                <a:solidFill>
                  <a:srgbClr val="333333"/>
                </a:solidFill>
              </a:defRPr>
            </a:pPr>
            <a:r>
              <a:t>Can be positioned inboard (towards center) or outboard</a:t>
            </a:r>
          </a:p>
          <a:p>
            <a:pPr>
              <a:spcAft>
                <a:spcPts val="600"/>
              </a:spcAft>
              <a:defRPr sz="1800">
                <a:solidFill>
                  <a:srgbClr val="333333"/>
                </a:solidFill>
              </a:defRPr>
            </a:pPr>
            <a:r>
              <a:t>Tie Rod (for steering)</a:t>
            </a:r>
          </a:p>
          <a:p>
            <a:pPr>
              <a:spcAft>
                <a:spcPts val="600"/>
              </a:spcAft>
              <a:defRPr sz="1800">
                <a:solidFill>
                  <a:srgbClr val="333333"/>
                </a:solidFill>
              </a:defRPr>
            </a:pPr>
            <a:r>
              <a:t>Anti-Roll Bar (optional)</a:t>
            </a:r>
          </a:p>
          <a:p>
            <a:pPr>
              <a:spcAft>
                <a:spcPts val="1000"/>
              </a:spcAft>
              <a:defRPr sz="1800">
                <a:solidFill>
                  <a:srgbClr val="333333"/>
                </a:solidFill>
              </a:defRPr>
            </a:pPr>
            <a:r>
              <a:t>How It Works: — Wheel moves up/down in an arc defined by the upper and lower arm pivot points</a:t>
            </a:r>
          </a:p>
          <a:p>
            <a:pPr>
              <a:spcAft>
                <a:spcPts val="600"/>
              </a:spcAft>
              <a:defRPr sz="1800">
                <a:solidFill>
                  <a:srgbClr val="333333"/>
                </a:solidFill>
              </a:defRPr>
            </a:pPr>
            <a:r>
              <a:t>By adjusting arm lengths and pivot positions, engineers can control:</a:t>
            </a:r>
          </a:p>
          <a:p>
            <a:pPr>
              <a:spcAft>
                <a:spcPts val="600"/>
              </a:spcAft>
              <a:defRPr sz="1800">
                <a:solidFill>
                  <a:srgbClr val="333333"/>
                </a:solidFill>
              </a:defRPr>
            </a:pPr>
            <a:r>
              <a:t>Camber change with suspension travel (critical for tire contact)</a:t>
            </a:r>
          </a:p>
          <a:p>
            <a:pPr>
              <a:spcAft>
                <a:spcPts val="600"/>
              </a:spcAft>
              <a:defRPr sz="1800">
                <a:solidFill>
                  <a:srgbClr val="333333"/>
                </a:solidFill>
              </a:defRPr>
            </a:pPr>
            <a:r>
              <a:t>Caster change (affects self-centering)</a:t>
            </a:r>
          </a:p>
          <a:p>
            <a:pPr>
              <a:spcAft>
                <a:spcPts val="600"/>
              </a:spcAft>
              <a:defRPr sz="1800">
                <a:solidFill>
                  <a:srgbClr val="333333"/>
                </a:solidFill>
              </a:defRPr>
            </a:pPr>
            <a:r>
              <a:t>Roll center height (affects body roll and load transfer)</a:t>
            </a:r>
          </a:p>
          <a:p>
            <a:pPr>
              <a:spcAft>
                <a:spcPts val="600"/>
              </a:spcAft>
              <a:defRPr sz="1800">
                <a:solidFill>
                  <a:srgbClr val="333333"/>
                </a:solidFill>
              </a:defRPr>
            </a:pPr>
            <a:r>
              <a:t>Scrub radius (Session 11 steering parameter)</a:t>
            </a:r>
          </a:p>
          <a:p>
            <a:pPr>
              <a:spcAft>
                <a:spcPts val="1000"/>
              </a:spcAft>
              <a:defRPr sz="1800">
                <a:solidFill>
                  <a:srgbClr val="333333"/>
                </a:solidFill>
              </a:defRPr>
            </a:pPr>
            <a:r>
              <a:t>Advantages:</a:t>
            </a:r>
          </a:p>
          <a:p>
            <a:pPr>
              <a:spcAft>
                <a:spcPts val="1000"/>
              </a:spcAft>
              <a:defRPr sz="1800">
                <a:solidFill>
                  <a:srgbClr val="333333"/>
                </a:solidFill>
              </a:defRPr>
            </a:pPr>
            <a:r>
              <a:t>✅ Precise geometry control (independent upper and lower arms allow perfect tuning)</a:t>
            </a:r>
          </a:p>
          <a:p>
            <a:pPr>
              <a:spcAft>
                <a:spcPts val="1000"/>
              </a:spcAft>
              <a:defRPr sz="1800">
                <a:solidFill>
                  <a:srgbClr val="333333"/>
                </a:solidFill>
              </a:defRPr>
            </a:pPr>
            <a:r>
              <a:t>✅ Minimal camber change (tires stay perpendicular to road through suspension travel)</a:t>
            </a:r>
          </a:p>
          <a:p>
            <a:pPr>
              <a:spcAft>
                <a:spcPts val="1000"/>
              </a:spcAft>
              <a:defRPr sz="1800">
                <a:solidFill>
                  <a:srgbClr val="333333"/>
                </a:solidFill>
              </a:defRPr>
            </a:pPr>
            <a:r>
              <a:t>✅ Low friction (no side loads on damper like McPherson)</a:t>
            </a:r>
          </a:p>
          <a:p>
            <a:pPr>
              <a:spcAft>
                <a:spcPts val="1000"/>
              </a:spcAft>
              <a:defRPr sz="1800">
                <a:solidFill>
                  <a:srgbClr val="333333"/>
                </a:solidFill>
              </a:defRPr>
            </a:pPr>
            <a:r>
              <a:t>✅ Tunability (can optimize for handling or comfort by changing arm lengths/positions)</a:t>
            </a:r>
          </a:p>
          <a:p>
            <a:pPr>
              <a:spcAft>
                <a:spcPts val="1000"/>
              </a:spcAft>
              <a:defRPr sz="1800">
                <a:solidFill>
                  <a:srgbClr val="333333"/>
                </a:solidFill>
              </a:defRPr>
            </a:pPr>
            <a:r>
              <a:t>✅ Decoupled steering and suspension axes (more design freedom)</a:t>
            </a:r>
          </a:p>
          <a:p>
            <a:pPr>
              <a:spcAft>
                <a:spcPts val="1000"/>
              </a:spcAft>
              <a:defRPr sz="1800">
                <a:solidFill>
                  <a:srgbClr val="333333"/>
                </a:solidFill>
              </a:defRPr>
            </a:pPr>
            <a:r>
              <a:t>Disadvantages:</a:t>
            </a:r>
          </a:p>
          <a:p>
            <a:pPr>
              <a:spcAft>
                <a:spcPts val="1000"/>
              </a:spcAft>
              <a:defRPr sz="1800">
                <a:solidFill>
                  <a:srgbClr val="333333"/>
                </a:solidFill>
              </a:defRPr>
            </a:pPr>
            <a:r>
              <a:t>❌ Complex (more parts = higher cost)</a:t>
            </a:r>
          </a:p>
          <a:p>
            <a:pPr>
              <a:spcAft>
                <a:spcPts val="1000"/>
              </a:spcAft>
              <a:defRPr sz="1800">
                <a:solidFill>
                  <a:srgbClr val="333333"/>
                </a:solidFill>
              </a:defRPr>
            </a:pPr>
            <a:r>
              <a:t>❌ Heavier (more metal = more unsprung mass, though still acceptable)</a:t>
            </a:r>
          </a:p>
          <a:p>
            <a:pPr>
              <a:spcAft>
                <a:spcPts val="1000"/>
              </a:spcAft>
              <a:defRPr sz="1800">
                <a:solidFill>
                  <a:srgbClr val="333333"/>
                </a:solidFill>
              </a:defRPr>
            </a:pPr>
            <a:r>
              <a:t>❌ Requires more space (upper arm needs packaging room)</a:t>
            </a:r>
          </a:p>
          <a:p>
            <a:pPr>
              <a:spcAft>
                <a:spcPts val="1000"/>
              </a:spcAft>
              <a:defRPr sz="1800">
                <a:solidFill>
                  <a:srgbClr val="333333"/>
                </a:solidFill>
              </a:defRPr>
            </a:pPr>
            <a:r>
              <a:t>❌ Higher maintenance (more bushings and ball joints to wear out)</a:t>
            </a:r>
          </a:p>
          <a:p>
            <a:pPr>
              <a:spcAft>
                <a:spcPts val="1000"/>
              </a:spcAft>
              <a:defRPr sz="1800">
                <a:solidFill>
                  <a:srgbClr val="333333"/>
                </a:solidFill>
              </a:defRPr>
            </a:pPr>
            <a:r>
              <a:t>Where It's Used: — Sports cars: Porsche 911, Mazda MX-5, Lotus Elise, most dedicated performance cars</a:t>
            </a:r>
          </a:p>
          <a:p>
            <a:pPr>
              <a:spcAft>
                <a:spcPts val="600"/>
              </a:spcAft>
              <a:defRPr sz="1800">
                <a:solidFill>
                  <a:srgbClr val="333333"/>
                </a:solidFill>
              </a:defRPr>
            </a:pPr>
            <a:r>
              <a:t>Luxury cars: Mercedes S-Class, BMW 7-Series (for smooth + precise ride)</a:t>
            </a:r>
          </a:p>
          <a:p>
            <a:pPr>
              <a:spcAft>
                <a:spcPts val="600"/>
              </a:spcAft>
              <a:defRPr sz="1800">
                <a:solidFill>
                  <a:srgbClr val="333333"/>
                </a:solidFill>
              </a:defRPr>
            </a:pPr>
            <a:r>
              <a:t>High-end sedans: Lexus GS, Audi A6/A8</a:t>
            </a:r>
          </a:p>
          <a:p>
            <a:pPr>
              <a:spcAft>
                <a:spcPts val="600"/>
              </a:spcAft>
              <a:defRPr sz="1800">
                <a:solidFill>
                  <a:srgbClr val="333333"/>
                </a:solidFill>
              </a:defRPr>
            </a:pPr>
            <a:r>
              <a:t>Race cars: Formula 1, IndyCar, NASCAR (when rules allow)</a:t>
            </a:r>
          </a:p>
          <a:p>
            <a:pPr>
              <a:spcAft>
                <a:spcPts val="1000"/>
              </a:spcAft>
              <a:defRPr sz="1800">
                <a:solidFill>
                  <a:srgbClr val="333333"/>
                </a:solidFill>
              </a:defRPr>
            </a:pPr>
            <a:r>
              <a:t>Geometry Tuning:</a:t>
            </a:r>
          </a:p>
          <a:p>
            <a:pPr>
              <a:spcAft>
                <a:spcPts val="1000"/>
              </a:spcAft>
              <a:defRPr sz="1800">
                <a:solidFill>
                  <a:srgbClr val="333333"/>
                </a:solidFill>
              </a:defRPr>
            </a:pPr>
            <a:r>
              <a:t>The magic of double wishbone is Short-Long Arm (SLA) geometry:</a:t>
            </a:r>
          </a:p>
          <a:p>
            <a:pPr>
              <a:spcAft>
                <a:spcPts val="600"/>
              </a:spcAft>
              <a:defRPr sz="1800">
                <a:solidFill>
                  <a:srgbClr val="333333"/>
                </a:solidFill>
              </a:defRPr>
            </a:pPr>
            <a:r>
              <a:t>Upper arm shorter than lower arm</a:t>
            </a:r>
          </a:p>
          <a:p>
            <a:pPr>
              <a:spcAft>
                <a:spcPts val="600"/>
              </a:spcAft>
              <a:defRPr sz="1800">
                <a:solidFill>
                  <a:srgbClr val="333333"/>
                </a:solidFill>
              </a:defRPr>
            </a:pPr>
            <a:r>
              <a:t>As suspension compresses (body roll in corner), camber goes negative (wheel tilts inward)</a:t>
            </a:r>
          </a:p>
          <a:p>
            <a:pPr>
              <a:spcAft>
                <a:spcPts val="600"/>
              </a:spcAft>
              <a:defRPr sz="1800">
                <a:solidFill>
                  <a:srgbClr val="333333"/>
                </a:solidFill>
              </a:defRPr>
            </a:pPr>
            <a:r>
              <a:t>This compensates for body roll, keeping tire flat on road!</a:t>
            </a:r>
          </a:p>
          <a:p>
            <a:pPr>
              <a:spcAft>
                <a:spcPts val="600"/>
              </a:spcAft>
              <a:defRPr sz="1800">
                <a:solidFill>
                  <a:srgbClr val="333333"/>
                </a:solidFill>
              </a:defRPr>
            </a:pPr>
            <a:r>
              <a:t>Result: Maximum contact patch during cornering = maximum grip</a:t>
            </a:r>
          </a:p>
          <a:p>
            <a:pPr>
              <a:spcAft>
                <a:spcPts val="1000"/>
              </a:spcAft>
              <a:defRPr sz="1800">
                <a:solidFill>
                  <a:srgbClr val="333333"/>
                </a:solidFill>
              </a:defRPr>
            </a:pPr>
            <a:r>
              <a:t>Instructor Narration (continued):</a:t>
            </a:r>
          </a:p>
          <a:p>
            <a:pPr>
              <a:spcAft>
                <a:spcPts val="1000"/>
              </a:spcAft>
              <a:defRPr sz="1800">
                <a:solidFill>
                  <a:srgbClr val="333333"/>
                </a:solidFill>
              </a:defRPr>
            </a:pPr>
            <a:r>
              <a:t>If you could only have one suspension design for a sports car, this is it. Double wishbone allows engineers to achieve near-zero camber change through suspension travel. When you corner hard and the body rolls 3°, the suspension geometry compensates and the tire stays flat on the road. This is why supercars use double wishbone—it's physics perfection.</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Multi-Link - The Luxury Solution</a:t>
            </a:r>
          </a:p>
        </p:txBody>
      </p:sp>
      <p:sp>
        <p:nvSpPr>
          <p:cNvPr id="3" name="Content Placeholder 2"/>
          <p:cNvSpPr>
            <a:spLocks noGrp="1"/>
          </p:cNvSpPr>
          <p:nvPr>
            <p:ph idx="1"/>
          </p:nvPr>
        </p:nvSpPr>
        <p:spPr/>
        <p:txBody>
          <a:bodyPr/>
          <a:lstStyle/>
          <a:p>
            <a:pPr>
              <a:spcAft>
                <a:spcPts val="1000"/>
              </a:spcAft>
              <a:defRPr sz="1800">
                <a:solidFill>
                  <a:srgbClr val="333333"/>
                </a:solidFill>
              </a:defRPr>
            </a:pPr>
            <a:r>
              <a:t>Instructor Narration:</a:t>
            </a:r>
          </a:p>
          <a:p>
            <a:pPr>
              <a:spcAft>
                <a:spcPts val="1000"/>
              </a:spcAft>
              <a:defRPr sz="1800">
                <a:solidFill>
                  <a:srgbClr val="333333"/>
                </a:solidFill>
              </a:defRPr>
            </a:pPr>
            <a:r>
              <a:t>Multi-link suspension is the ultimate evolution—extreme tunability at extreme cost.</a:t>
            </a:r>
          </a:p>
          <a:p>
            <a:pPr>
              <a:spcAft>
                <a:spcPts val="1000"/>
              </a:spcAft>
              <a:defRPr sz="1800">
                <a:solidFill>
                  <a:srgbClr val="333333"/>
                </a:solidFill>
              </a:defRPr>
            </a:pPr>
            <a:r>
              <a:t>Design:</a:t>
            </a:r>
          </a:p>
          <a:p>
            <a:pPr>
              <a:spcAft>
                <a:spcPts val="1000"/>
              </a:spcAft>
              <a:defRPr sz="1800">
                <a:solidFill>
                  <a:srgbClr val="333333"/>
                </a:solidFill>
              </a:defRPr>
            </a:pPr>
            <a:r>
              <a:t>Components:</a:t>
            </a:r>
          </a:p>
          <a:p>
            <a:pPr>
              <a:spcAft>
                <a:spcPts val="1000"/>
              </a:spcAft>
              <a:defRPr sz="1800">
                <a:solidFill>
                  <a:srgbClr val="333333"/>
                </a:solidFill>
              </a:defRPr>
            </a:pPr>
            <a:r>
              <a:t>Instead of two control arms (upper + lower), use 4-5 separate links:</a:t>
            </a:r>
          </a:p>
          <a:p>
            <a:pPr>
              <a:spcAft>
                <a:spcPts val="1000"/>
              </a:spcAft>
              <a:defRPr sz="1800">
                <a:solidFill>
                  <a:srgbClr val="333333"/>
                </a:solidFill>
              </a:defRPr>
            </a:pPr>
            <a:r>
              <a:t>Typical 5-link setup:</a:t>
            </a:r>
          </a:p>
          <a:p>
            <a:pPr>
              <a:spcAft>
                <a:spcPts val="600"/>
              </a:spcAft>
              <a:defRPr sz="1800">
                <a:solidFill>
                  <a:srgbClr val="333333"/>
                </a:solidFill>
              </a:defRPr>
            </a:pPr>
            <a:r>
              <a:t>Upper front link</a:t>
            </a:r>
          </a:p>
          <a:p>
            <a:pPr>
              <a:spcAft>
                <a:spcPts val="600"/>
              </a:spcAft>
              <a:defRPr sz="1800">
                <a:solidFill>
                  <a:srgbClr val="333333"/>
                </a:solidFill>
              </a:defRPr>
            </a:pPr>
            <a:r>
              <a:t>Upper rear link</a:t>
            </a:r>
          </a:p>
          <a:p>
            <a:pPr>
              <a:spcAft>
                <a:spcPts val="600"/>
              </a:spcAft>
              <a:defRPr sz="1800">
                <a:solidFill>
                  <a:srgbClr val="333333"/>
                </a:solidFill>
              </a:defRPr>
            </a:pPr>
            <a:r>
              <a:t>Lower front link</a:t>
            </a:r>
          </a:p>
          <a:p>
            <a:pPr>
              <a:spcAft>
                <a:spcPts val="600"/>
              </a:spcAft>
              <a:defRPr sz="1800">
                <a:solidFill>
                  <a:srgbClr val="333333"/>
                </a:solidFill>
              </a:defRPr>
            </a:pPr>
            <a:r>
              <a:t>Lower rear link</a:t>
            </a:r>
          </a:p>
          <a:p>
            <a:pPr>
              <a:spcAft>
                <a:spcPts val="600"/>
              </a:spcAft>
              <a:defRPr sz="1800">
                <a:solidFill>
                  <a:srgbClr val="333333"/>
                </a:solidFill>
              </a:defRPr>
            </a:pPr>
            <a:r>
              <a:t>Trailing link or toe control link</a:t>
            </a:r>
          </a:p>
          <a:p>
            <a:pPr>
              <a:spcAft>
                <a:spcPts val="1000"/>
              </a:spcAft>
              <a:defRPr sz="1800">
                <a:solidFill>
                  <a:srgbClr val="333333"/>
                </a:solidFill>
              </a:defRPr>
            </a:pPr>
            <a:r>
              <a:t>Each link can be individually positioned and oriented.</a:t>
            </a:r>
          </a:p>
          <a:p>
            <a:pPr>
              <a:spcAft>
                <a:spcPts val="1000"/>
              </a:spcAft>
              <a:defRPr sz="1800">
                <a:solidFill>
                  <a:srgbClr val="333333"/>
                </a:solidFill>
              </a:defRPr>
            </a:pPr>
            <a:r>
              <a:t>Plus:</a:t>
            </a:r>
          </a:p>
          <a:p>
            <a:pPr>
              <a:spcAft>
                <a:spcPts val="600"/>
              </a:spcAft>
              <a:defRPr sz="1800">
                <a:solidFill>
                  <a:srgbClr val="333333"/>
                </a:solidFill>
              </a:defRPr>
            </a:pPr>
            <a:r>
              <a:t>Spring/damper assembly</a:t>
            </a:r>
          </a:p>
          <a:p>
            <a:pPr>
              <a:spcAft>
                <a:spcPts val="600"/>
              </a:spcAft>
              <a:defRPr sz="1800">
                <a:solidFill>
                  <a:srgbClr val="333333"/>
                </a:solidFill>
              </a:defRPr>
            </a:pPr>
            <a:r>
              <a:t>Tie rod (front suspension)</a:t>
            </a:r>
          </a:p>
          <a:p>
            <a:pPr>
              <a:spcAft>
                <a:spcPts val="600"/>
              </a:spcAft>
              <a:defRPr sz="1800">
                <a:solidFill>
                  <a:srgbClr val="333333"/>
                </a:solidFill>
              </a:defRPr>
            </a:pPr>
            <a:r>
              <a:t>Anti-roll bar</a:t>
            </a:r>
          </a:p>
          <a:p>
            <a:pPr>
              <a:spcAft>
                <a:spcPts val="1000"/>
              </a:spcAft>
              <a:defRPr sz="1800">
                <a:solidFill>
                  <a:srgbClr val="333333"/>
                </a:solidFill>
              </a:defRPr>
            </a:pPr>
            <a:r>
              <a:t>How It Works: — Each link controls a specific aspect of wheel motion</a:t>
            </a:r>
          </a:p>
          <a:p>
            <a:pPr>
              <a:spcAft>
                <a:spcPts val="600"/>
              </a:spcAft>
              <a:defRPr sz="1800">
                <a:solidFill>
                  <a:srgbClr val="333333"/>
                </a:solidFill>
              </a:defRPr>
            </a:pPr>
            <a:r>
              <a:t>Example:</a:t>
            </a:r>
          </a:p>
          <a:p>
            <a:pPr>
              <a:spcAft>
                <a:spcPts val="600"/>
              </a:spcAft>
              <a:defRPr sz="1800">
                <a:solidFill>
                  <a:srgbClr val="333333"/>
                </a:solidFill>
              </a:defRPr>
            </a:pPr>
            <a:r>
              <a:t>Upper links control camber</a:t>
            </a:r>
          </a:p>
          <a:p>
            <a:pPr>
              <a:spcAft>
                <a:spcPts val="600"/>
              </a:spcAft>
              <a:defRPr sz="1800">
                <a:solidFill>
                  <a:srgbClr val="333333"/>
                </a:solidFill>
              </a:defRPr>
            </a:pPr>
            <a:r>
              <a:t>Lower links control ride height and vertical motion</a:t>
            </a:r>
          </a:p>
          <a:p>
            <a:pPr>
              <a:spcAft>
                <a:spcPts val="600"/>
              </a:spcAft>
              <a:defRPr sz="1800">
                <a:solidFill>
                  <a:srgbClr val="333333"/>
                </a:solidFill>
              </a:defRPr>
            </a:pPr>
            <a:r>
              <a:t>Toe link controls wheel alignment during braking/acceleration</a:t>
            </a:r>
          </a:p>
          <a:p>
            <a:pPr>
              <a:spcAft>
                <a:spcPts val="600"/>
              </a:spcAft>
              <a:defRPr sz="1800">
                <a:solidFill>
                  <a:srgbClr val="333333"/>
                </a:solidFill>
              </a:defRPr>
            </a:pPr>
            <a:r>
              <a:t>Trailing link controls longitudinal forces</a:t>
            </a:r>
          </a:p>
          <a:p>
            <a:pPr>
              <a:spcAft>
                <a:spcPts val="1000"/>
              </a:spcAft>
              <a:defRPr sz="1800">
                <a:solidFill>
                  <a:srgbClr val="333333"/>
                </a:solidFill>
              </a:defRPr>
            </a:pPr>
            <a:r>
              <a:t>Advantages:</a:t>
            </a:r>
          </a:p>
          <a:p>
            <a:pPr>
              <a:spcAft>
                <a:spcPts val="1000"/>
              </a:spcAft>
              <a:defRPr sz="1800">
                <a:solidFill>
                  <a:srgbClr val="333333"/>
                </a:solidFill>
              </a:defRPr>
            </a:pPr>
            <a:r>
              <a:t>✅ Maximum tuning freedom (each link can be optimized independently)</a:t>
            </a:r>
          </a:p>
          <a:p>
            <a:pPr>
              <a:spcAft>
                <a:spcPts val="1000"/>
              </a:spcAft>
              <a:defRPr sz="1800">
                <a:solidFill>
                  <a:srgbClr val="333333"/>
                </a:solidFill>
              </a:defRPr>
            </a:pPr>
            <a:r>
              <a:t>✅ Excellent camber/toe control (even better than double wishbone)</a:t>
            </a:r>
          </a:p>
          <a:p>
            <a:pPr>
              <a:spcAft>
                <a:spcPts val="1000"/>
              </a:spcAft>
              <a:defRPr sz="1800">
                <a:solidFill>
                  <a:srgbClr val="333333"/>
                </a:solidFill>
              </a:defRPr>
            </a:pPr>
            <a:r>
              <a:t>✅ Decoupled parameters (can tune roll stiffness without affecting ride, etc.)</a:t>
            </a:r>
          </a:p>
          <a:p>
            <a:pPr>
              <a:spcAft>
                <a:spcPts val="1000"/>
              </a:spcAft>
              <a:defRPr sz="1800">
                <a:solidFill>
                  <a:srgbClr val="333333"/>
                </a:solidFill>
              </a:defRPr>
            </a:pPr>
            <a:r>
              <a:t>✅ Packaging flexibility (can route links around exhaust, fuel tank, etc.)</a:t>
            </a:r>
          </a:p>
          <a:p>
            <a:pPr>
              <a:spcAft>
                <a:spcPts val="1000"/>
              </a:spcAft>
              <a:defRPr sz="1800">
                <a:solidFill>
                  <a:srgbClr val="333333"/>
                </a:solidFill>
              </a:defRPr>
            </a:pPr>
            <a:r>
              <a:t>✅ Can achieve near-zero bump steer (tie rod position optimized independently)</a:t>
            </a:r>
          </a:p>
          <a:p>
            <a:pPr>
              <a:spcAft>
                <a:spcPts val="1000"/>
              </a:spcAft>
              <a:defRPr sz="1800">
                <a:solidFill>
                  <a:srgbClr val="333333"/>
                </a:solidFill>
              </a:defRPr>
            </a:pPr>
            <a:r>
              <a:t>Disadvantages:</a:t>
            </a:r>
          </a:p>
          <a:p>
            <a:pPr>
              <a:spcAft>
                <a:spcPts val="1000"/>
              </a:spcAft>
              <a:defRPr sz="1800">
                <a:solidFill>
                  <a:srgbClr val="333333"/>
                </a:solidFill>
              </a:defRPr>
            </a:pPr>
            <a:r>
              <a:t>❌ Very expensive (many parts, complex assembly)</a:t>
            </a:r>
          </a:p>
          <a:p>
            <a:pPr>
              <a:spcAft>
                <a:spcPts val="1000"/>
              </a:spcAft>
              <a:defRPr sz="1800">
                <a:solidFill>
                  <a:srgbClr val="333333"/>
                </a:solidFill>
              </a:defRPr>
            </a:pPr>
            <a:r>
              <a:t>❌ Heavy (many links = more metal)</a:t>
            </a:r>
          </a:p>
          <a:p>
            <a:pPr>
              <a:spcAft>
                <a:spcPts val="1000"/>
              </a:spcAft>
              <a:defRPr sz="1800">
                <a:solidFill>
                  <a:srgbClr val="333333"/>
                </a:solidFill>
              </a:defRPr>
            </a:pPr>
            <a:r>
              <a:t>❌ Complex (many bushings and ball joints = more maintenance)</a:t>
            </a:r>
          </a:p>
          <a:p>
            <a:pPr>
              <a:spcAft>
                <a:spcPts val="1000"/>
              </a:spcAft>
              <a:defRPr sz="1800">
                <a:solidFill>
                  <a:srgbClr val="333333"/>
                </a:solidFill>
              </a:defRPr>
            </a:pPr>
            <a:r>
              <a:t>❌ Requires expert tuning (easy to get wrong, creating unpredictable handling)</a:t>
            </a:r>
          </a:p>
          <a:p>
            <a:pPr>
              <a:spcAft>
                <a:spcPts val="1000"/>
              </a:spcAft>
              <a:defRPr sz="1800">
                <a:solidFill>
                  <a:srgbClr val="333333"/>
                </a:solidFill>
              </a:defRPr>
            </a:pPr>
            <a:r>
              <a:t>Where It's Used: — Luxury rear suspension: Mercedes E/S-Class, BMW 5/7-Series, Audi A6/A8</a:t>
            </a:r>
          </a:p>
          <a:p>
            <a:pPr>
              <a:spcAft>
                <a:spcPts val="600"/>
              </a:spcAft>
              <a:defRPr sz="1800">
                <a:solidFill>
                  <a:srgbClr val="333333"/>
                </a:solidFill>
              </a:defRPr>
            </a:pPr>
            <a:r>
              <a:t>High-end sports cars: Porsche 911 (rear), Nissan GT-R</a:t>
            </a:r>
          </a:p>
          <a:p>
            <a:pPr>
              <a:spcAft>
                <a:spcPts val="600"/>
              </a:spcAft>
              <a:defRPr sz="1800">
                <a:solidFill>
                  <a:srgbClr val="333333"/>
                </a:solidFill>
              </a:defRPr>
            </a:pPr>
            <a:r>
              <a:t>Some modern sports sedans: Genesis G80/G90</a:t>
            </a:r>
          </a:p>
          <a:p>
            <a:pPr>
              <a:spcAft>
                <a:spcPts val="600"/>
              </a:spcAft>
              <a:defRPr sz="1800">
                <a:solidFill>
                  <a:srgbClr val="333333"/>
                </a:solidFill>
              </a:defRPr>
            </a:pPr>
            <a:r>
              <a:t>NOT used in: Budget cars (cost prohibitive)</a:t>
            </a:r>
          </a:p>
          <a:p>
            <a:pPr>
              <a:spcAft>
                <a:spcPts val="1000"/>
              </a:spcAft>
              <a:defRPr sz="1800">
                <a:solidFill>
                  <a:srgbClr val="333333"/>
                </a:solidFill>
              </a:defRPr>
            </a:pPr>
            <a:r>
              <a:t>Philosophy:</a:t>
            </a:r>
          </a:p>
          <a:p>
            <a:pPr>
              <a:spcAft>
                <a:spcPts val="1000"/>
              </a:spcAft>
              <a:defRPr sz="1800">
                <a:solidFill>
                  <a:srgbClr val="333333"/>
                </a:solidFill>
              </a:defRPr>
            </a:pPr>
            <a:r>
              <a:t>Multi-link is used when:</a:t>
            </a:r>
          </a:p>
          <a:p>
            <a:pPr>
              <a:spcAft>
                <a:spcPts val="600"/>
              </a:spcAft>
              <a:defRPr sz="1800">
                <a:solidFill>
                  <a:srgbClr val="333333"/>
                </a:solidFill>
              </a:defRPr>
            </a:pPr>
            <a:r>
              <a:t>Budget is not a constraint — Ultimate refinement is required (luxury cars)</a:t>
            </a:r>
          </a:p>
          <a:p>
            <a:pPr>
              <a:spcAft>
                <a:spcPts val="600"/>
              </a:spcAft>
              <a:defRPr sz="1800">
                <a:solidFill>
                  <a:srgbClr val="333333"/>
                </a:solidFill>
              </a:defRPr>
            </a:pPr>
            <a:r>
              <a:t>Packaging is challenging (rear-drive cars with complex drivetrain layout)</a:t>
            </a:r>
          </a:p>
          <a:p>
            <a:pPr>
              <a:spcAft>
                <a:spcPts val="600"/>
              </a:spcAft>
              <a:defRPr sz="1800">
                <a:solidFill>
                  <a:srgbClr val="333333"/>
                </a:solidFill>
              </a:defRPr>
            </a:pPr>
            <a:r>
              <a:t>Performance AND comfort are both critical (can be tuned for both)</a:t>
            </a:r>
          </a:p>
          <a:p>
            <a:pPr>
              <a:spcAft>
                <a:spcPts val="1000"/>
              </a:spcAft>
              <a:defRPr sz="1800">
                <a:solidFill>
                  <a:srgbClr val="333333"/>
                </a:solidFill>
              </a:defRPr>
            </a:pPr>
            <a:r>
              <a:t>Instructor Narration (continued):</a:t>
            </a:r>
          </a:p>
          <a:p>
            <a:pPr>
              <a:spcAft>
                <a:spcPts val="1000"/>
              </a:spcAft>
              <a:defRPr sz="1800">
                <a:solidFill>
                  <a:srgbClr val="333333"/>
                </a:solidFill>
              </a:defRPr>
            </a:pPr>
            <a:r>
              <a:t>Multi-link is what you get when engineers say, 'Cost is no object, make it perfect.' Each link can be tuned to isolate a specific behavior. Want to eliminate camber change? Adjust upper link positions. Want to prevent toe change under braking? Add a dedicated toe link. The possibilities are endless—but so is the cost. That's why it's reserved for $50,000+ vehicles.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Solid Axle (Dependent) - The Durable Workhorse</a:t>
            </a:r>
          </a:p>
        </p:txBody>
      </p:sp>
      <p:sp>
        <p:nvSpPr>
          <p:cNvPr id="3" name="Content Placeholder 2"/>
          <p:cNvSpPr>
            <a:spLocks noGrp="1"/>
          </p:cNvSpPr>
          <p:nvPr>
            <p:ph idx="1"/>
          </p:nvPr>
        </p:nvSpPr>
        <p:spPr/>
        <p:txBody>
          <a:bodyPr/>
          <a:lstStyle/>
          <a:p>
            <a:pPr>
              <a:spcAft>
                <a:spcPts val="1000"/>
              </a:spcAft>
              <a:defRPr sz="1800">
                <a:solidFill>
                  <a:srgbClr val="333333"/>
                </a:solidFill>
              </a:defRPr>
            </a:pPr>
            <a:r>
              <a:t>Instructor Narration:</a:t>
            </a:r>
          </a:p>
          <a:p>
            <a:pPr>
              <a:spcAft>
                <a:spcPts val="1000"/>
              </a:spcAft>
              <a:defRPr sz="1800">
                <a:solidFill>
                  <a:srgbClr val="333333"/>
                </a:solidFill>
              </a:defRPr>
            </a:pPr>
            <a:r>
              <a:t>While we've been discussing independent suspensions, I need to mention solid axle (dependent suspension) because you'll still see it—especially in trucks.</a:t>
            </a:r>
          </a:p>
          <a:p>
            <a:pPr>
              <a:spcAft>
                <a:spcPts val="1000"/>
              </a:spcAft>
              <a:defRPr sz="1800">
                <a:solidFill>
                  <a:srgbClr val="333333"/>
                </a:solidFill>
              </a:defRPr>
            </a:pPr>
            <a:r>
              <a:t>Design:</a:t>
            </a:r>
          </a:p>
          <a:p>
            <a:pPr>
              <a:spcAft>
                <a:spcPts val="1000"/>
              </a:spcAft>
              <a:defRPr sz="1800">
                <a:solidFill>
                  <a:srgbClr val="333333"/>
                </a:solidFill>
              </a:defRPr>
            </a:pPr>
            <a:r>
              <a:t>Components:</a:t>
            </a:r>
          </a:p>
          <a:p>
            <a:pPr>
              <a:spcAft>
                <a:spcPts val="600"/>
              </a:spcAft>
              <a:defRPr sz="1800">
                <a:solidFill>
                  <a:srgbClr val="333333"/>
                </a:solidFill>
              </a:defRPr>
            </a:pPr>
            <a:r>
              <a:t>Rigid Axle Beam (steel tube or casting)</a:t>
            </a:r>
          </a:p>
          <a:p>
            <a:pPr>
              <a:spcAft>
                <a:spcPts val="600"/>
              </a:spcAft>
              <a:defRPr sz="1800">
                <a:solidFill>
                  <a:srgbClr val="333333"/>
                </a:solidFill>
              </a:defRPr>
            </a:pPr>
            <a:r>
              <a:t>Connects left and right wheels mechanically</a:t>
            </a:r>
          </a:p>
          <a:p>
            <a:pPr>
              <a:spcAft>
                <a:spcPts val="600"/>
              </a:spcAft>
              <a:defRPr sz="1800">
                <a:solidFill>
                  <a:srgbClr val="333333"/>
                </a:solidFill>
              </a:defRPr>
            </a:pPr>
            <a:r>
              <a:t>Houses differential (for driven axles)</a:t>
            </a:r>
          </a:p>
          <a:p>
            <a:pPr>
              <a:spcAft>
                <a:spcPts val="600"/>
              </a:spcAft>
              <a:defRPr sz="1800">
                <a:solidFill>
                  <a:srgbClr val="333333"/>
                </a:solidFill>
              </a:defRPr>
            </a:pPr>
            <a:r>
              <a:t>Axle rotates slightly as suspension moves</a:t>
            </a:r>
          </a:p>
          <a:p>
            <a:pPr>
              <a:spcAft>
                <a:spcPts val="600"/>
              </a:spcAft>
              <a:defRPr sz="1800">
                <a:solidFill>
                  <a:srgbClr val="333333"/>
                </a:solidFill>
              </a:defRPr>
            </a:pPr>
            <a:r>
              <a:t>Springs (leaf springs or coil springs)</a:t>
            </a:r>
          </a:p>
          <a:p>
            <a:pPr>
              <a:spcAft>
                <a:spcPts val="600"/>
              </a:spcAft>
              <a:defRPr sz="1800">
                <a:solidFill>
                  <a:srgbClr val="333333"/>
                </a:solidFill>
              </a:defRPr>
            </a:pPr>
            <a:r>
              <a:t>Leaf springs: Mount directly to axle, provide both spring and locating function</a:t>
            </a:r>
          </a:p>
          <a:p>
            <a:pPr>
              <a:spcAft>
                <a:spcPts val="600"/>
              </a:spcAft>
              <a:defRPr sz="1800">
                <a:solidFill>
                  <a:srgbClr val="333333"/>
                </a:solidFill>
              </a:defRPr>
            </a:pPr>
            <a:r>
              <a:t>Coil springs: Require separate trailing arms/link bars for location</a:t>
            </a:r>
          </a:p>
          <a:p>
            <a:pPr>
              <a:spcAft>
                <a:spcPts val="600"/>
              </a:spcAft>
              <a:defRPr sz="1800">
                <a:solidFill>
                  <a:srgbClr val="333333"/>
                </a:solidFill>
              </a:defRPr>
            </a:pPr>
            <a:r>
              <a:t>Locating Links (if coil springs used)</a:t>
            </a:r>
          </a:p>
          <a:p>
            <a:pPr>
              <a:spcAft>
                <a:spcPts val="600"/>
              </a:spcAft>
              <a:defRPr sz="1800">
                <a:solidFill>
                  <a:srgbClr val="333333"/>
                </a:solidFill>
              </a:defRPr>
            </a:pPr>
            <a:r>
              <a:t>Upper and lower trailing arms</a:t>
            </a:r>
          </a:p>
          <a:p>
            <a:pPr>
              <a:spcAft>
                <a:spcPts val="600"/>
              </a:spcAft>
              <a:defRPr sz="1800">
                <a:solidFill>
                  <a:srgbClr val="333333"/>
                </a:solidFill>
              </a:defRPr>
            </a:pPr>
            <a:r>
              <a:t>Panhard rod (lateral location)</a:t>
            </a:r>
          </a:p>
          <a:p>
            <a:pPr>
              <a:spcAft>
                <a:spcPts val="600"/>
              </a:spcAft>
              <a:defRPr sz="1800">
                <a:solidFill>
                  <a:srgbClr val="333333"/>
                </a:solidFill>
              </a:defRPr>
            </a:pPr>
            <a:r>
              <a:t>Prevents axle from moving sideways or fore-aft</a:t>
            </a:r>
          </a:p>
          <a:p>
            <a:pPr>
              <a:spcAft>
                <a:spcPts val="600"/>
              </a:spcAft>
              <a:defRPr sz="1800">
                <a:solidFill>
                  <a:srgbClr val="333333"/>
                </a:solidFill>
              </a:defRPr>
            </a:pPr>
            <a:r>
              <a:t>Dampers (shock absorbers)</a:t>
            </a:r>
          </a:p>
          <a:p>
            <a:pPr>
              <a:spcAft>
                <a:spcPts val="600"/>
              </a:spcAft>
              <a:defRPr sz="1800">
                <a:solidFill>
                  <a:srgbClr val="333333"/>
                </a:solidFill>
              </a:defRPr>
            </a:pPr>
            <a:r>
              <a:t>Mounted separately from springs (usually)</a:t>
            </a:r>
          </a:p>
          <a:p>
            <a:pPr>
              <a:spcAft>
                <a:spcPts val="1000"/>
              </a:spcAft>
              <a:defRPr sz="1800">
                <a:solidFill>
                  <a:srgbClr val="333333"/>
                </a:solidFill>
              </a:defRPr>
            </a:pPr>
            <a:r>
              <a:t>How It Works: — Both wheels move together (connected by rigid axle)</a:t>
            </a:r>
          </a:p>
          <a:p>
            <a:pPr>
              <a:spcAft>
                <a:spcPts val="600"/>
              </a:spcAft>
              <a:defRPr sz="1800">
                <a:solidFill>
                  <a:srgbClr val="333333"/>
                </a:solidFill>
              </a:defRPr>
            </a:pPr>
            <a:r>
              <a:t>When left wheel hits bump, right wheel also moves (tilts the axle)</a:t>
            </a:r>
          </a:p>
          <a:p>
            <a:pPr>
              <a:spcAft>
                <a:spcPts val="600"/>
              </a:spcAft>
              <a:defRPr sz="1800">
                <a:solidFill>
                  <a:srgbClr val="333333"/>
                </a:solidFill>
              </a:defRPr>
            </a:pPr>
            <a:r>
              <a:t>Spring and damper absorb the motion</a:t>
            </a:r>
          </a:p>
          <a:p>
            <a:pPr>
              <a:spcAft>
                <a:spcPts val="600"/>
              </a:spcAft>
              <a:defRPr sz="1800">
                <a:solidFill>
                  <a:srgbClr val="333333"/>
                </a:solidFill>
              </a:defRPr>
            </a:pPr>
            <a:r>
              <a:t>Axle maintains consistent geometry (both wheels stay parallel)</a:t>
            </a:r>
          </a:p>
          <a:p>
            <a:pPr>
              <a:spcAft>
                <a:spcPts val="1000"/>
              </a:spcAft>
              <a:defRPr sz="1800">
                <a:solidFill>
                  <a:srgbClr val="333333"/>
                </a:solidFill>
              </a:defRPr>
            </a:pPr>
            <a:r>
              <a:t>Advantages:</a:t>
            </a:r>
          </a:p>
          <a:p>
            <a:pPr>
              <a:spcAft>
                <a:spcPts val="1000"/>
              </a:spcAft>
              <a:defRPr sz="1800">
                <a:solidFill>
                  <a:srgbClr val="333333"/>
                </a:solidFill>
              </a:defRPr>
            </a:pPr>
            <a:r>
              <a:t>✅ Extreme durability (simple, robust, handles massive loads)</a:t>
            </a:r>
          </a:p>
          <a:p>
            <a:pPr>
              <a:spcAft>
                <a:spcPts val="1000"/>
              </a:spcAft>
              <a:defRPr sz="1800">
                <a:solidFill>
                  <a:srgbClr val="333333"/>
                </a:solidFill>
              </a:defRPr>
            </a:pPr>
            <a:r>
              <a:t>✅ Consistent camber (wheels always perpendicular to axle, even on uneven terrain)</a:t>
            </a:r>
          </a:p>
          <a:p>
            <a:pPr>
              <a:spcAft>
                <a:spcPts val="1000"/>
              </a:spcAft>
              <a:defRPr sz="1800">
                <a:solidFill>
                  <a:srgbClr val="333333"/>
                </a:solidFill>
              </a:defRPr>
            </a:pPr>
            <a:r>
              <a:t>✅ Simple (fewer parts, easier to maintain/repair)</a:t>
            </a:r>
          </a:p>
          <a:p>
            <a:pPr>
              <a:spcAft>
                <a:spcPts val="1000"/>
              </a:spcAft>
              <a:defRPr sz="1800">
                <a:solidFill>
                  <a:srgbClr val="333333"/>
                </a:solidFill>
              </a:defRPr>
            </a:pPr>
            <a:r>
              <a:t>✅ Cost-effective for heavy-duty applications</a:t>
            </a:r>
          </a:p>
          <a:p>
            <a:pPr>
              <a:spcAft>
                <a:spcPts val="1000"/>
              </a:spcAft>
              <a:defRPr sz="1800">
                <a:solidFill>
                  <a:srgbClr val="333333"/>
                </a:solidFill>
              </a:defRPr>
            </a:pPr>
            <a:r>
              <a:t>✅ High load capacity (can support 2,000+ kg per axle)</a:t>
            </a:r>
          </a:p>
          <a:p>
            <a:pPr>
              <a:spcAft>
                <a:spcPts val="1000"/>
              </a:spcAft>
              <a:defRPr sz="1800">
                <a:solidFill>
                  <a:srgbClr val="333333"/>
                </a:solidFill>
              </a:defRPr>
            </a:pPr>
            <a:r>
              <a:t>Disadvantages:</a:t>
            </a:r>
          </a:p>
          <a:p>
            <a:pPr>
              <a:spcAft>
                <a:spcPts val="1000"/>
              </a:spcAft>
              <a:defRPr sz="1800">
                <a:solidFill>
                  <a:srgbClr val="333333"/>
                </a:solidFill>
              </a:defRPr>
            </a:pPr>
            <a:r>
              <a:t>❌ Poor ride comfort (bump on one wheel disturbs entire axle)</a:t>
            </a:r>
          </a:p>
          <a:p>
            <a:pPr>
              <a:spcAft>
                <a:spcPts val="1000"/>
              </a:spcAft>
              <a:defRPr sz="1800">
                <a:solidFill>
                  <a:srgbClr val="333333"/>
                </a:solidFill>
              </a:defRPr>
            </a:pPr>
            <a:r>
              <a:t>❌ High unsprung mass (entire axle bounces with wheels)</a:t>
            </a:r>
          </a:p>
          <a:p>
            <a:pPr>
              <a:spcAft>
                <a:spcPts val="1000"/>
              </a:spcAft>
              <a:defRPr sz="1800">
                <a:solidFill>
                  <a:srgbClr val="333333"/>
                </a:solidFill>
              </a:defRPr>
            </a:pPr>
            <a:r>
              <a:t>❌ Limited handling (axle can 'hop' or 'tramp' under hard acceleration/braking)</a:t>
            </a:r>
          </a:p>
          <a:p>
            <a:pPr>
              <a:spcAft>
                <a:spcPts val="1000"/>
              </a:spcAft>
              <a:defRPr sz="1800">
                <a:solidFill>
                  <a:srgbClr val="333333"/>
                </a:solidFill>
              </a:defRPr>
            </a:pPr>
            <a:r>
              <a:t>❌ Packaging (axle intrudes into cargo area or cabin space)</a:t>
            </a:r>
          </a:p>
          <a:p>
            <a:pPr>
              <a:spcAft>
                <a:spcPts val="1000"/>
              </a:spcAft>
              <a:defRPr sz="1800">
                <a:solidFill>
                  <a:srgbClr val="333333"/>
                </a:solidFill>
              </a:defRPr>
            </a:pPr>
            <a:r>
              <a:t>Where It's Still Used:</a:t>
            </a:r>
          </a:p>
          <a:p>
            <a:pPr>
              <a:spcAft>
                <a:spcPts val="1000"/>
              </a:spcAft>
              <a:defRPr sz="1800">
                <a:solidFill>
                  <a:srgbClr val="333333"/>
                </a:solidFill>
              </a:defRPr>
            </a:pPr>
            <a:r>
              <a:t>Rear Axle (Non-Independent Rear Suspension - NIRS): — Heavy-duty pickup trucks: Ford F-150/F-250, Chevrolet Silverado, Ram 1500/2500</a:t>
            </a:r>
          </a:p>
          <a:p>
            <a:pPr>
              <a:spcAft>
                <a:spcPts val="600"/>
              </a:spcAft>
              <a:defRPr sz="1800">
                <a:solidFill>
                  <a:srgbClr val="333333"/>
                </a:solidFill>
              </a:defRPr>
            </a:pPr>
            <a:r>
              <a:t>Body-on-frame SUVs: Jeep Wrangler, Toyota 4Runner, Land Cruiser</a:t>
            </a:r>
          </a:p>
          <a:p>
            <a:pPr>
              <a:spcAft>
                <a:spcPts val="600"/>
              </a:spcAft>
              <a:defRPr sz="1800">
                <a:solidFill>
                  <a:srgbClr val="333333"/>
                </a:solidFill>
              </a:defRPr>
            </a:pPr>
            <a:r>
              <a:t>Some budget sedans (rare now): Entry-level cars in developing markets</a:t>
            </a:r>
          </a:p>
          <a:p>
            <a:pPr>
              <a:spcAft>
                <a:spcPts val="1000"/>
              </a:spcAft>
              <a:defRPr sz="1800">
                <a:solidFill>
                  <a:srgbClr val="333333"/>
                </a:solidFill>
              </a:defRPr>
            </a:pPr>
            <a:r>
              <a:t>Front Axle (Rare in Passenger Vehicles): — Heavy-duty trucks (commercial vehicles)</a:t>
            </a:r>
          </a:p>
          <a:p>
            <a:pPr>
              <a:spcAft>
                <a:spcPts val="600"/>
              </a:spcAft>
              <a:defRPr sz="1800">
                <a:solidFill>
                  <a:srgbClr val="333333"/>
                </a:solidFill>
              </a:defRPr>
            </a:pPr>
            <a:r>
              <a:t>Off-road vehicles (solid front axle for durability)</a:t>
            </a:r>
          </a:p>
          <a:p>
            <a:pPr>
              <a:spcAft>
                <a:spcPts val="600"/>
              </a:spcAft>
              <a:defRPr sz="1800">
                <a:solidFill>
                  <a:srgbClr val="333333"/>
                </a:solidFill>
              </a:defRPr>
            </a:pPr>
            <a:r>
              <a:t>Older vehicles (pre-1980s cars often used solid front axle)</a:t>
            </a:r>
          </a:p>
          <a:p>
            <a:pPr>
              <a:spcAft>
                <a:spcPts val="1000"/>
              </a:spcAft>
              <a:defRPr sz="1800">
                <a:solidFill>
                  <a:srgbClr val="333333"/>
                </a:solidFill>
              </a:defRPr>
            </a:pPr>
            <a:r>
              <a:t>Why Trucks Still Use It:</a:t>
            </a:r>
          </a:p>
          <a:p>
            <a:pPr>
              <a:spcAft>
                <a:spcPts val="1000"/>
              </a:spcAft>
              <a:defRPr sz="1800">
                <a:solidFill>
                  <a:srgbClr val="333333"/>
                </a:solidFill>
              </a:defRPr>
            </a:pPr>
            <a:r>
              <a:t>If you're hauling 1,000 kg in the bed + towing 3,000 kg trailer, you need strength more than refinement. Solid axle with leaf springs can handle this load all day, every day, for 300,000 km.</a:t>
            </a:r>
          </a:p>
          <a:p>
            <a:pPr>
              <a:spcAft>
                <a:spcPts val="1000"/>
              </a:spcAft>
              <a:defRPr sz="1800">
                <a:solidFill>
                  <a:srgbClr val="333333"/>
                </a:solidFill>
              </a:defRPr>
            </a:pPr>
            <a:r>
              <a:t>Instructor Narration (continued):</a:t>
            </a:r>
          </a:p>
          <a:p>
            <a:pPr>
              <a:spcAft>
                <a:spcPts val="1000"/>
              </a:spcAft>
              <a:defRPr sz="1800">
                <a:solidFill>
                  <a:srgbClr val="333333"/>
                </a:solidFill>
              </a:defRPr>
            </a:pPr>
            <a:r>
              <a:t>Solid axle is 'old technology' for passenger cars but absolutely the right choice for heavy trucks. If you're a construction worker hauling tools and materials daily, you don't want complex multi-link suspension with 12 bushings that wear out. You want a solid steel beam that can take abuse and keep working. Engineering is about choosing the right tool for the job.</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Spring Types - Storing Energy</a:t>
            </a:r>
          </a:p>
        </p:txBody>
      </p:sp>
      <p:sp>
        <p:nvSpPr>
          <p:cNvPr id="3" name="Content Placeholder 2"/>
          <p:cNvSpPr>
            <a:spLocks noGrp="1"/>
          </p:cNvSpPr>
          <p:nvPr>
            <p:ph idx="1"/>
          </p:nvPr>
        </p:nvSpPr>
        <p:spPr/>
        <p:txBody>
          <a:bodyPr/>
          <a:lstStyle/>
          <a:p>
            <a:pPr>
              <a:spcAft>
                <a:spcPts val="1000"/>
              </a:spcAft>
              <a:defRPr sz="1800">
                <a:solidFill>
                  <a:srgbClr val="333333"/>
                </a:solidFill>
              </a:defRPr>
            </a:pPr>
            <a:r>
              <a:t>Instructor Narration:</a:t>
            </a:r>
          </a:p>
          <a:p>
            <a:pPr>
              <a:spcAft>
                <a:spcPts val="1000"/>
              </a:spcAft>
              <a:defRPr sz="1800">
                <a:solidFill>
                  <a:srgbClr val="333333"/>
                </a:solidFill>
              </a:defRPr>
            </a:pPr>
            <a:r>
              <a:t>Now that we've covered suspension architecture, let's look at the components: springs and dampers.</a:t>
            </a:r>
          </a:p>
          <a:p>
            <a:pPr>
              <a:spcAft>
                <a:spcPts val="1000"/>
              </a:spcAft>
              <a:defRPr sz="1800">
                <a:solidFill>
                  <a:srgbClr val="333333"/>
                </a:solidFill>
              </a:defRPr>
            </a:pPr>
            <a:r>
              <a:t>A spring's job is to store and release energy while supporting the vehicle weight.</a:t>
            </a:r>
          </a:p>
          <a:p>
            <a:pPr>
              <a:spcAft>
                <a:spcPts val="1000"/>
              </a:spcAft>
              <a:defRPr sz="1800">
                <a:solidFill>
                  <a:srgbClr val="333333"/>
                </a:solidFill>
              </a:defRPr>
            </a:pPr>
            <a:r>
              <a:t>Spring Force:</a:t>
            </a:r>
          </a:p>
          <a:p>
            <a:pPr>
              <a:defRPr sz="1400">
                <a:solidFill>
                  <a:srgbClr val="787878"/>
                </a:solidFill>
                <a:latin typeface="Consolas"/>
              </a:defRPr>
            </a:pPr>
            <a:r>
              <a:t>F_spring = k × x</a:t>
            </a:r>
            <a:br/>
            <a:br/>
            <a:r>
              <a:t>Where:</a:t>
            </a:r>
            <a:br/>
            <a:r>
              <a:t>k = Spring stiffness (N/m)</a:t>
            </a:r>
            <a:br/>
            <a:r>
              <a:t>x = Deflection from neutral position (m)</a:t>
            </a:r>
          </a:p>
          <a:p>
            <a:pPr>
              <a:spcAft>
                <a:spcPts val="1000"/>
              </a:spcAft>
              <a:defRPr sz="1800">
                <a:solidFill>
                  <a:srgbClr val="333333"/>
                </a:solidFill>
              </a:defRPr>
            </a:pPr>
            <a:r>
              <a:t>All spring types follow this same principle but use different geometries.</a:t>
            </a:r>
          </a:p>
          <a:p>
            <a:pPr>
              <a:spcAft>
                <a:spcPts val="1000"/>
              </a:spcAft>
              <a:defRPr sz="1800">
                <a:solidFill>
                  <a:srgbClr val="333333"/>
                </a:solidFill>
              </a:defRPr>
            </a:pPr>
            <a:r>
              <a:t>1. COIL SPRING (Most Common)</a:t>
            </a:r>
          </a:p>
          <a:p>
            <a:pPr>
              <a:spcAft>
                <a:spcPts val="1000"/>
              </a:spcAft>
              <a:defRPr sz="1800">
                <a:solidFill>
                  <a:srgbClr val="333333"/>
                </a:solidFill>
              </a:defRPr>
            </a:pPr>
            <a:r>
              <a:t>Design: — Helical coil of spring steel</a:t>
            </a:r>
          </a:p>
          <a:p>
            <a:pPr>
              <a:spcAft>
                <a:spcPts val="600"/>
              </a:spcAft>
              <a:defRPr sz="1800">
                <a:solidFill>
                  <a:srgbClr val="333333"/>
                </a:solidFill>
              </a:defRPr>
            </a:pPr>
            <a:r>
              <a:t>Diameter: 100-150 mm</a:t>
            </a:r>
          </a:p>
          <a:p>
            <a:pPr>
              <a:spcAft>
                <a:spcPts val="600"/>
              </a:spcAft>
              <a:defRPr sz="1800">
                <a:solidFill>
                  <a:srgbClr val="333333"/>
                </a:solidFill>
              </a:defRPr>
            </a:pPr>
            <a:r>
              <a:t>Wire diameter: 10-15 mm</a:t>
            </a:r>
          </a:p>
          <a:p>
            <a:pPr>
              <a:spcAft>
                <a:spcPts val="600"/>
              </a:spcAft>
              <a:defRPr sz="1800">
                <a:solidFill>
                  <a:srgbClr val="333333"/>
                </a:solidFill>
              </a:defRPr>
            </a:pPr>
            <a:r>
              <a:t>Free length: 300-400 mm (compresses to ~200 mm under load)</a:t>
            </a:r>
          </a:p>
          <a:p>
            <a:pPr>
              <a:spcAft>
                <a:spcPts val="1000"/>
              </a:spcAft>
              <a:defRPr sz="1800">
                <a:solidFill>
                  <a:srgbClr val="333333"/>
                </a:solidFill>
              </a:defRPr>
            </a:pPr>
            <a:r>
              <a:t>Advantages:</a:t>
            </a:r>
          </a:p>
          <a:p>
            <a:pPr>
              <a:spcAft>
                <a:spcPts val="1000"/>
              </a:spcAft>
              <a:defRPr sz="1800">
                <a:solidFill>
                  <a:srgbClr val="333333"/>
                </a:solidFill>
              </a:defRPr>
            </a:pPr>
            <a:r>
              <a:t>✅ Compact</a:t>
            </a:r>
          </a:p>
          <a:p>
            <a:pPr>
              <a:spcAft>
                <a:spcPts val="1000"/>
              </a:spcAft>
              <a:defRPr sz="1800">
                <a:solidFill>
                  <a:srgbClr val="333333"/>
                </a:solidFill>
              </a:defRPr>
            </a:pPr>
            <a:r>
              <a:t>✅ Predictable linear spring rate</a:t>
            </a:r>
          </a:p>
          <a:p>
            <a:pPr>
              <a:spcAft>
                <a:spcPts val="1000"/>
              </a:spcAft>
              <a:defRPr sz="1800">
                <a:solidFill>
                  <a:srgbClr val="333333"/>
                </a:solidFill>
              </a:defRPr>
            </a:pPr>
            <a:r>
              <a:t>✅ Easy to manufacture and replace</a:t>
            </a:r>
          </a:p>
          <a:p>
            <a:pPr>
              <a:spcAft>
                <a:spcPts val="1000"/>
              </a:spcAft>
              <a:defRPr sz="1800">
                <a:solidFill>
                  <a:srgbClr val="333333"/>
                </a:solidFill>
              </a:defRPr>
            </a:pPr>
            <a:r>
              <a:t>✅ Lightweight</a:t>
            </a:r>
          </a:p>
          <a:p>
            <a:pPr>
              <a:spcAft>
                <a:spcPts val="1000"/>
              </a:spcAft>
              <a:defRPr sz="1800">
                <a:solidFill>
                  <a:srgbClr val="333333"/>
                </a:solidFill>
              </a:defRPr>
            </a:pPr>
            <a:r>
              <a:t>Disadvantages:</a:t>
            </a:r>
          </a:p>
          <a:p>
            <a:pPr>
              <a:spcAft>
                <a:spcPts val="1000"/>
              </a:spcAft>
              <a:defRPr sz="1800">
                <a:solidFill>
                  <a:srgbClr val="333333"/>
                </a:solidFill>
              </a:defRPr>
            </a:pPr>
            <a:r>
              <a:t>❌ Requires separate mounting (doesn't locate the axle)</a:t>
            </a:r>
          </a:p>
          <a:p>
            <a:pPr>
              <a:spcAft>
                <a:spcPts val="1000"/>
              </a:spcAft>
              <a:defRPr sz="1800">
                <a:solidFill>
                  <a:srgbClr val="333333"/>
                </a:solidFill>
              </a:defRPr>
            </a:pPr>
            <a:r>
              <a:t>❌ Can resonate at certain frequencies (creating noise)</a:t>
            </a:r>
          </a:p>
          <a:p>
            <a:pPr>
              <a:spcAft>
                <a:spcPts val="1000"/>
              </a:spcAft>
              <a:defRPr sz="1800">
                <a:solidFill>
                  <a:srgbClr val="333333"/>
                </a:solidFill>
              </a:defRPr>
            </a:pPr>
            <a:r>
              <a:t>Spring Rate Calculation:</a:t>
            </a:r>
          </a:p>
          <a:p>
            <a:pPr>
              <a:defRPr sz="1400">
                <a:solidFill>
                  <a:srgbClr val="787878"/>
                </a:solidFill>
                <a:latin typeface="Consolas"/>
              </a:defRPr>
            </a:pPr>
            <a:r>
              <a:t>k = (G × d⁴) / (8 × D³ × N_a)</a:t>
            </a:r>
            <a:br/>
            <a:br/>
            <a:r>
              <a:t>Where:</a:t>
            </a:r>
            <a:br/>
            <a:r>
              <a:t>G = Shear modulus of spring steel (79,000 MPa)</a:t>
            </a:r>
            <a:br/>
            <a:r>
              <a:t>d = Wire diameter (m)</a:t>
            </a:r>
            <a:br/>
            <a:r>
              <a:t>D = Coil diameter (m)</a:t>
            </a:r>
            <a:br/>
            <a:r>
              <a:t>N_a = Number of active coils</a:t>
            </a:r>
          </a:p>
          <a:p>
            <a:pPr>
              <a:spcAft>
                <a:spcPts val="1000"/>
              </a:spcAft>
              <a:defRPr sz="1800">
                <a:solidFill>
                  <a:srgbClr val="333333"/>
                </a:solidFill>
              </a:defRPr>
            </a:pPr>
            <a:r>
              <a:t>Used In: Nearly all passenger cars (front and rear), sports cars</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p>
        </p:txBody>
      </p:sp>
      <p:sp>
        <p:nvSpPr>
          <p:cNvPr id="3" name="Content Placeholder 2"/>
          <p:cNvSpPr>
            <a:spLocks noGrp="1"/>
          </p:cNvSpPr>
          <p:nvPr>
            <p:ph idx="1"/>
          </p:nvPr>
        </p:nvSpPr>
        <p:spPr/>
        <p:txBody>
          <a:bodyPr/>
          <a:lstStyle/>
          <a:p>
            <a:pPr>
              <a:spcAft>
                <a:spcPts val="1000"/>
              </a:spcAft>
              <a:defRPr sz="1800">
                <a:solidFill>
                  <a:srgbClr val="333333"/>
                </a:solidFill>
              </a:defRPr>
            </a:pPr>
            <a:r>
              <a:t>2. LEAF SPRING (Traditional Truck Spring)</a:t>
            </a:r>
          </a:p>
          <a:p>
            <a:pPr>
              <a:spcAft>
                <a:spcPts val="1000"/>
              </a:spcAft>
              <a:defRPr sz="1800">
                <a:solidFill>
                  <a:srgbClr val="333333"/>
                </a:solidFill>
              </a:defRPr>
            </a:pPr>
            <a:r>
              <a:t>Design: — Multiple layers of flat steel strips (leaves) stacked and clamped</a:t>
            </a:r>
          </a:p>
          <a:p>
            <a:pPr>
              <a:spcAft>
                <a:spcPts val="600"/>
              </a:spcAft>
              <a:defRPr sz="1800">
                <a:solidFill>
                  <a:srgbClr val="333333"/>
                </a:solidFill>
              </a:defRPr>
            </a:pPr>
            <a:r>
              <a:t>Longer leaves on bottom, progressively shorter on top</a:t>
            </a:r>
          </a:p>
          <a:p>
            <a:pPr>
              <a:spcAft>
                <a:spcPts val="600"/>
              </a:spcAft>
              <a:defRPr sz="1800">
                <a:solidFill>
                  <a:srgbClr val="333333"/>
                </a:solidFill>
              </a:defRPr>
            </a:pPr>
            <a:r>
              <a:t>Ends mount to chassis, center mounts to axle</a:t>
            </a:r>
          </a:p>
          <a:p>
            <a:pPr>
              <a:spcAft>
                <a:spcPts val="1000"/>
              </a:spcAft>
              <a:defRPr sz="1800">
                <a:solidFill>
                  <a:srgbClr val="333333"/>
                </a:solidFill>
              </a:defRPr>
            </a:pPr>
            <a:r>
              <a:t>Advantages:</a:t>
            </a:r>
          </a:p>
          <a:p>
            <a:pPr>
              <a:spcAft>
                <a:spcPts val="1000"/>
              </a:spcAft>
              <a:defRPr sz="1800">
                <a:solidFill>
                  <a:srgbClr val="333333"/>
                </a:solidFill>
              </a:defRPr>
            </a:pPr>
            <a:r>
              <a:t>✅ Dual function: Acts as spring AND locating link (no need for separate trailing arms)</a:t>
            </a:r>
          </a:p>
          <a:p>
            <a:pPr>
              <a:spcAft>
                <a:spcPts val="1000"/>
              </a:spcAft>
              <a:defRPr sz="1800">
                <a:solidFill>
                  <a:srgbClr val="333333"/>
                </a:solidFill>
              </a:defRPr>
            </a:pPr>
            <a:r>
              <a:t>✅ Progressive rate: Spring rate increases with compression (stiffer under heavy load)</a:t>
            </a:r>
          </a:p>
          <a:p>
            <a:pPr>
              <a:spcAft>
                <a:spcPts val="1000"/>
              </a:spcAft>
              <a:defRPr sz="1800">
                <a:solidFill>
                  <a:srgbClr val="333333"/>
                </a:solidFill>
              </a:defRPr>
            </a:pPr>
            <a:r>
              <a:t>✅ Durable: Simple, robust, proven for 100+ years</a:t>
            </a:r>
          </a:p>
          <a:p>
            <a:pPr>
              <a:spcAft>
                <a:spcPts val="1000"/>
              </a:spcAft>
              <a:defRPr sz="1800">
                <a:solidFill>
                  <a:srgbClr val="333333"/>
                </a:solidFill>
              </a:defRPr>
            </a:pPr>
            <a:r>
              <a:t>✅ High load capacity: Can support heavy truck loads</a:t>
            </a:r>
          </a:p>
          <a:p>
            <a:pPr>
              <a:spcAft>
                <a:spcPts val="1000"/>
              </a:spcAft>
              <a:defRPr sz="1800">
                <a:solidFill>
                  <a:srgbClr val="333333"/>
                </a:solidFill>
              </a:defRPr>
            </a:pPr>
            <a:r>
              <a:t>Disadvantages:</a:t>
            </a:r>
          </a:p>
          <a:p>
            <a:pPr>
              <a:spcAft>
                <a:spcPts val="1000"/>
              </a:spcAft>
              <a:defRPr sz="1800">
                <a:solidFill>
                  <a:srgbClr val="333333"/>
                </a:solidFill>
              </a:defRPr>
            </a:pPr>
            <a:r>
              <a:t>❌ Heavy: Much heavier than coil spring</a:t>
            </a:r>
          </a:p>
          <a:p>
            <a:pPr>
              <a:spcAft>
                <a:spcPts val="1000"/>
              </a:spcAft>
              <a:defRPr sz="1800">
                <a:solidFill>
                  <a:srgbClr val="333333"/>
                </a:solidFill>
              </a:defRPr>
            </a:pPr>
            <a:r>
              <a:t>❌ Friction: Leaves slide against each other (creates hysteresis, affects ride quality)</a:t>
            </a:r>
          </a:p>
          <a:p>
            <a:pPr>
              <a:spcAft>
                <a:spcPts val="1000"/>
              </a:spcAft>
              <a:defRPr sz="1800">
                <a:solidFill>
                  <a:srgbClr val="333333"/>
                </a:solidFill>
              </a:defRPr>
            </a:pPr>
            <a:r>
              <a:t>❌ Harsh ride: Not as compliant as coil springs</a:t>
            </a:r>
          </a:p>
          <a:p>
            <a:pPr>
              <a:spcAft>
                <a:spcPts val="1000"/>
              </a:spcAft>
              <a:defRPr sz="1800">
                <a:solidFill>
                  <a:srgbClr val="333333"/>
                </a:solidFill>
              </a:defRPr>
            </a:pPr>
            <a:r>
              <a:t>❌ Maintenance: Requires lubrication between leaves</a:t>
            </a:r>
          </a:p>
          <a:p>
            <a:pPr>
              <a:spcAft>
                <a:spcPts val="1000"/>
              </a:spcAft>
              <a:defRPr sz="1800">
                <a:solidFill>
                  <a:srgbClr val="333333"/>
                </a:solidFill>
              </a:defRPr>
            </a:pPr>
            <a:r>
              <a:t>Used In: Pickup truck rear axles (Ford F-150, older designs), heavy-duty trucks, trailers</a:t>
            </a:r>
          </a:p>
          <a:p>
            <a:pPr>
              <a:spcAft>
                <a:spcPts val="1000"/>
              </a:spcAft>
              <a:defRPr sz="1800">
                <a:solidFill>
                  <a:srgbClr val="333333"/>
                </a:solidFill>
              </a:defRPr>
            </a:pPr>
            <a:r>
              <a:t>Spring Rate:</a:t>
            </a:r>
          </a:p>
          <a:p>
            <a:pPr>
              <a:defRPr sz="1400">
                <a:solidFill>
                  <a:srgbClr val="787878"/>
                </a:solidFill>
                <a:latin typeface="Consolas"/>
              </a:defRPr>
            </a:pPr>
            <a:r>
              <a:t>k ≈ (E × b × t³ × n) / (12 × L³)</a:t>
            </a:r>
            <a:br/>
            <a:br/>
            <a:r>
              <a:t>Where:</a:t>
            </a:r>
            <a:br/>
            <a:r>
              <a:t>E = Young's modulus (200,000 MPa for steel)</a:t>
            </a:r>
            <a:br/>
            <a:r>
              <a:t>b = Leaf width (m)</a:t>
            </a:r>
            <a:br/>
            <a:r>
              <a:t>t = Leaf thickness (m)</a:t>
            </a:r>
            <a:br/>
            <a:r>
              <a:t>n = Number of leaves</a:t>
            </a:r>
            <a:br/>
            <a:r>
              <a:t>L = Half-length of main leaf (m)</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p>
        </p:txBody>
      </p:sp>
      <p:sp>
        <p:nvSpPr>
          <p:cNvPr id="3" name="Content Placeholder 2"/>
          <p:cNvSpPr>
            <a:spLocks noGrp="1"/>
          </p:cNvSpPr>
          <p:nvPr>
            <p:ph idx="1"/>
          </p:nvPr>
        </p:nvSpPr>
        <p:spPr/>
        <p:txBody>
          <a:bodyPr/>
          <a:lstStyle/>
          <a:p>
            <a:pPr>
              <a:spcAft>
                <a:spcPts val="1000"/>
              </a:spcAft>
              <a:defRPr sz="1800">
                <a:solidFill>
                  <a:srgbClr val="333333"/>
                </a:solidFill>
              </a:defRPr>
            </a:pPr>
            <a:r>
              <a:t>3. TORSION BAR (Space-Saving Solution)</a:t>
            </a:r>
          </a:p>
          <a:p>
            <a:pPr>
              <a:spcAft>
                <a:spcPts val="1000"/>
              </a:spcAft>
              <a:defRPr sz="1800">
                <a:solidFill>
                  <a:srgbClr val="333333"/>
                </a:solidFill>
              </a:defRPr>
            </a:pPr>
            <a:r>
              <a:t>Design: — Long steel bar (round or square cross-section)</a:t>
            </a:r>
          </a:p>
          <a:p>
            <a:pPr>
              <a:spcAft>
                <a:spcPts val="600"/>
              </a:spcAft>
              <a:defRPr sz="1800">
                <a:solidFill>
                  <a:srgbClr val="333333"/>
                </a:solidFill>
              </a:defRPr>
            </a:pPr>
            <a:r>
              <a:t>One end fixed to chassis</a:t>
            </a:r>
          </a:p>
          <a:p>
            <a:pPr>
              <a:spcAft>
                <a:spcPts val="600"/>
              </a:spcAft>
              <a:defRPr sz="1800">
                <a:solidFill>
                  <a:srgbClr val="333333"/>
                </a:solidFill>
              </a:defRPr>
            </a:pPr>
            <a:r>
              <a:t>Other end connected to control arm</a:t>
            </a:r>
          </a:p>
          <a:p>
            <a:pPr>
              <a:spcAft>
                <a:spcPts val="600"/>
              </a:spcAft>
              <a:defRPr sz="1800">
                <a:solidFill>
                  <a:srgbClr val="333333"/>
                </a:solidFill>
              </a:defRPr>
            </a:pPr>
            <a:r>
              <a:t>As wheel moves up, bar twists</a:t>
            </a:r>
          </a:p>
          <a:p>
            <a:pPr>
              <a:spcAft>
                <a:spcPts val="1000"/>
              </a:spcAft>
              <a:defRPr sz="1800">
                <a:solidFill>
                  <a:srgbClr val="333333"/>
                </a:solidFill>
              </a:defRPr>
            </a:pPr>
            <a:r>
              <a:t>Advantages:</a:t>
            </a:r>
          </a:p>
          <a:p>
            <a:pPr>
              <a:spcAft>
                <a:spcPts val="1000"/>
              </a:spcAft>
              <a:defRPr sz="1800">
                <a:solidFill>
                  <a:srgbClr val="333333"/>
                </a:solidFill>
              </a:defRPr>
            </a:pPr>
            <a:r>
              <a:t>✅ Excellent packaging: Bar runs longitudinally along frame (saves space)</a:t>
            </a:r>
          </a:p>
          <a:p>
            <a:pPr>
              <a:spcAft>
                <a:spcPts val="1000"/>
              </a:spcAft>
              <a:defRPr sz="1800">
                <a:solidFill>
                  <a:srgbClr val="333333"/>
                </a:solidFill>
              </a:defRPr>
            </a:pPr>
            <a:r>
              <a:t>✅ Adjustable ride height: Rotate bar at mounting to change preload</a:t>
            </a:r>
          </a:p>
          <a:p>
            <a:pPr>
              <a:spcAft>
                <a:spcPts val="1000"/>
              </a:spcAft>
              <a:defRPr sz="1800">
                <a:solidFill>
                  <a:srgbClr val="333333"/>
                </a:solidFill>
              </a:defRPr>
            </a:pPr>
            <a:r>
              <a:t>✅ Durable: No wear parts (solid bar)</a:t>
            </a:r>
          </a:p>
          <a:p>
            <a:pPr>
              <a:spcAft>
                <a:spcPts val="1000"/>
              </a:spcAft>
              <a:defRPr sz="1800">
                <a:solidFill>
                  <a:srgbClr val="333333"/>
                </a:solidFill>
              </a:defRPr>
            </a:pPr>
            <a:r>
              <a:t>✅ Progressive rate possible: Can taper bar diameter</a:t>
            </a:r>
          </a:p>
          <a:p>
            <a:pPr>
              <a:spcAft>
                <a:spcPts val="1000"/>
              </a:spcAft>
              <a:defRPr sz="1800">
                <a:solidFill>
                  <a:srgbClr val="333333"/>
                </a:solidFill>
              </a:defRPr>
            </a:pPr>
            <a:r>
              <a:t>Disadvantages:</a:t>
            </a:r>
          </a:p>
          <a:p>
            <a:pPr>
              <a:spcAft>
                <a:spcPts val="1000"/>
              </a:spcAft>
              <a:defRPr sz="1800">
                <a:solidFill>
                  <a:srgbClr val="333333"/>
                </a:solidFill>
              </a:defRPr>
            </a:pPr>
            <a:r>
              <a:t>❌ Limited tuning: Spring rate fixed by bar geometry</a:t>
            </a:r>
          </a:p>
          <a:p>
            <a:pPr>
              <a:spcAft>
                <a:spcPts val="1000"/>
              </a:spcAft>
              <a:defRPr sz="1800">
                <a:solidFill>
                  <a:srgbClr val="333333"/>
                </a:solidFill>
              </a:defRPr>
            </a:pPr>
            <a:r>
              <a:t>❌ Packaging constraints: Requires long straight path for bar</a:t>
            </a:r>
          </a:p>
          <a:p>
            <a:pPr>
              <a:spcAft>
                <a:spcPts val="1000"/>
              </a:spcAft>
              <a:defRPr sz="1800">
                <a:solidFill>
                  <a:srgbClr val="333333"/>
                </a:solidFill>
              </a:defRPr>
            </a:pPr>
            <a:r>
              <a:t>❌ Less common: Fewer replacement options</a:t>
            </a:r>
          </a:p>
          <a:p>
            <a:pPr>
              <a:spcAft>
                <a:spcPts val="1000"/>
              </a:spcAft>
              <a:defRPr sz="1800">
                <a:solidFill>
                  <a:srgbClr val="333333"/>
                </a:solidFill>
              </a:defRPr>
            </a:pPr>
            <a:r>
              <a:t>Spring Rate:</a:t>
            </a:r>
          </a:p>
          <a:p>
            <a:pPr>
              <a:defRPr sz="1400">
                <a:solidFill>
                  <a:srgbClr val="787878"/>
                </a:solidFill>
                <a:latin typeface="Consolas"/>
              </a:defRPr>
            </a:pPr>
            <a:r>
              <a:t>k = (G × J) / L</a:t>
            </a:r>
            <a:br/>
            <a:br/>
            <a:r>
              <a:t>Where:</a:t>
            </a:r>
            <a:br/>
            <a:r>
              <a:t>G = Shear modulus (79,000 MPa)</a:t>
            </a:r>
            <a:br/>
            <a:r>
              <a:t>J = Polar moment of inertia (depends on cross-section)</a:t>
            </a:r>
            <a:br/>
            <a:r>
              <a:t>L = Bar length (m)</a:t>
            </a:r>
            <a:br/>
            <a:br/>
            <a:r>
              <a:t>For round bar: J = π × r⁴ / 2</a:t>
            </a:r>
          </a:p>
          <a:p>
            <a:pPr>
              <a:spcAft>
                <a:spcPts val="1000"/>
              </a:spcAft>
              <a:defRPr sz="1800">
                <a:solidFill>
                  <a:srgbClr val="333333"/>
                </a:solidFill>
              </a:defRPr>
            </a:pPr>
            <a:r>
              <a:t>Used In: — Older trucks (Dodge Ram, Ford Ranger)</a:t>
            </a:r>
          </a:p>
          <a:p>
            <a:pPr>
              <a:spcAft>
                <a:spcPts val="600"/>
              </a:spcAft>
              <a:defRPr sz="1800">
                <a:solidFill>
                  <a:srgbClr val="333333"/>
                </a:solidFill>
              </a:defRPr>
            </a:pPr>
            <a:r>
              <a:t>Some SUVs (Toyota FJ Cruiser)</a:t>
            </a:r>
          </a:p>
          <a:p>
            <a:pPr>
              <a:spcAft>
                <a:spcPts val="600"/>
              </a:spcAft>
              <a:defRPr sz="1800">
                <a:solidFill>
                  <a:srgbClr val="333333"/>
                </a:solidFill>
              </a:defRPr>
            </a:pPr>
            <a:r>
              <a:t>Off-road vehicles (allows long wheel travel)</a:t>
            </a:r>
          </a:p>
          <a:p>
            <a:pPr>
              <a:spcAft>
                <a:spcPts val="600"/>
              </a:spcAft>
              <a:defRPr sz="1800">
                <a:solidFill>
                  <a:srgbClr val="333333"/>
                </a:solidFill>
              </a:defRPr>
            </a:pPr>
            <a:r>
              <a:t>Heavy military vehicles (Humvee)</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p>
        </p:txBody>
      </p:sp>
      <p:sp>
        <p:nvSpPr>
          <p:cNvPr id="3" name="Content Placeholder 2"/>
          <p:cNvSpPr>
            <a:spLocks noGrp="1"/>
          </p:cNvSpPr>
          <p:nvPr>
            <p:ph idx="1"/>
          </p:nvPr>
        </p:nvSpPr>
        <p:spPr/>
        <p:txBody>
          <a:bodyPr/>
          <a:lstStyle/>
          <a:p>
            <a:pPr>
              <a:spcAft>
                <a:spcPts val="1000"/>
              </a:spcAft>
              <a:defRPr sz="1800">
                <a:solidFill>
                  <a:srgbClr val="333333"/>
                </a:solidFill>
              </a:defRPr>
            </a:pPr>
            <a:r>
              <a:t>4. AIR SPRING (Pneumatic Suspension)</a:t>
            </a:r>
          </a:p>
          <a:p>
            <a:pPr>
              <a:spcAft>
                <a:spcPts val="1000"/>
              </a:spcAft>
              <a:defRPr sz="1800">
                <a:solidFill>
                  <a:srgbClr val="333333"/>
                </a:solidFill>
              </a:defRPr>
            </a:pPr>
            <a:r>
              <a:t>Design: — Rubber bellows (air bag) inflated with compressed air</a:t>
            </a:r>
          </a:p>
          <a:p>
            <a:pPr>
              <a:spcAft>
                <a:spcPts val="600"/>
              </a:spcAft>
              <a:defRPr sz="1800">
                <a:solidFill>
                  <a:srgbClr val="333333"/>
                </a:solidFill>
              </a:defRPr>
            </a:pPr>
            <a:r>
              <a:t>Air compressor and valve system control pressure</a:t>
            </a:r>
          </a:p>
          <a:p>
            <a:pPr>
              <a:spcAft>
                <a:spcPts val="600"/>
              </a:spcAft>
              <a:defRPr sz="1800">
                <a:solidFill>
                  <a:srgbClr val="333333"/>
                </a:solidFill>
              </a:defRPr>
            </a:pPr>
            <a:r>
              <a:t>Can adjust pressure → change spring rate and ride height</a:t>
            </a:r>
          </a:p>
          <a:p>
            <a:pPr>
              <a:spcAft>
                <a:spcPts val="1000"/>
              </a:spcAft>
              <a:defRPr sz="1800">
                <a:solidFill>
                  <a:srgbClr val="333333"/>
                </a:solidFill>
              </a:defRPr>
            </a:pPr>
            <a:r>
              <a:t>Advantages:</a:t>
            </a:r>
          </a:p>
          <a:p>
            <a:pPr>
              <a:spcAft>
                <a:spcPts val="1000"/>
              </a:spcAft>
              <a:defRPr sz="1800">
                <a:solidFill>
                  <a:srgbClr val="333333"/>
                </a:solidFill>
              </a:defRPr>
            </a:pPr>
            <a:r>
              <a:t>✅ Variable spring rate: Change pressure based on load</a:t>
            </a:r>
          </a:p>
          <a:p>
            <a:pPr>
              <a:spcAft>
                <a:spcPts val="1000"/>
              </a:spcAft>
              <a:defRPr sz="1800">
                <a:solidFill>
                  <a:srgbClr val="333333"/>
                </a:solidFill>
              </a:defRPr>
            </a:pPr>
            <a:r>
              <a:t>✅ Variable ride height: Raise for off-road, lower for aerodynamics</a:t>
            </a:r>
          </a:p>
          <a:p>
            <a:pPr>
              <a:spcAft>
                <a:spcPts val="1000"/>
              </a:spcAft>
              <a:defRPr sz="1800">
                <a:solidFill>
                  <a:srgbClr val="333333"/>
                </a:solidFill>
              </a:defRPr>
            </a:pPr>
            <a:r>
              <a:t>✅ Self-leveling: Maintains constant ride height regardless of load</a:t>
            </a:r>
          </a:p>
          <a:p>
            <a:pPr>
              <a:spcAft>
                <a:spcPts val="1000"/>
              </a:spcAft>
              <a:defRPr sz="1800">
                <a:solidFill>
                  <a:srgbClr val="333333"/>
                </a:solidFill>
              </a:defRPr>
            </a:pPr>
            <a:r>
              <a:t>✅ Excellent ride quality: Can be very soft (low pressure) when needed</a:t>
            </a:r>
          </a:p>
          <a:p>
            <a:pPr>
              <a:spcAft>
                <a:spcPts val="1000"/>
              </a:spcAft>
              <a:defRPr sz="1800">
                <a:solidFill>
                  <a:srgbClr val="333333"/>
                </a:solidFill>
              </a:defRPr>
            </a:pPr>
            <a:r>
              <a:t>Disadvantages:</a:t>
            </a:r>
          </a:p>
          <a:p>
            <a:pPr>
              <a:spcAft>
                <a:spcPts val="1000"/>
              </a:spcAft>
              <a:defRPr sz="1800">
                <a:solidFill>
                  <a:srgbClr val="333333"/>
                </a:solidFill>
              </a:defRPr>
            </a:pPr>
            <a:r>
              <a:t>❌ Expensive: Requires compressor, air lines, valves, control system</a:t>
            </a:r>
          </a:p>
          <a:p>
            <a:pPr>
              <a:spcAft>
                <a:spcPts val="1000"/>
              </a:spcAft>
              <a:defRPr sz="1800">
                <a:solidFill>
                  <a:srgbClr val="333333"/>
                </a:solidFill>
              </a:defRPr>
            </a:pPr>
            <a:r>
              <a:t>❌ Complex: More parts = more failure points</a:t>
            </a:r>
          </a:p>
          <a:p>
            <a:pPr>
              <a:spcAft>
                <a:spcPts val="1000"/>
              </a:spcAft>
              <a:defRPr sz="1800">
                <a:solidFill>
                  <a:srgbClr val="333333"/>
                </a:solidFill>
              </a:defRPr>
            </a:pPr>
            <a:r>
              <a:t>❌ Maintenance: Air leaks, compressor failures</a:t>
            </a:r>
          </a:p>
          <a:p>
            <a:pPr>
              <a:spcAft>
                <a:spcPts val="1000"/>
              </a:spcAft>
              <a:defRPr sz="1800">
                <a:solidFill>
                  <a:srgbClr val="333333"/>
                </a:solidFill>
              </a:defRPr>
            </a:pPr>
            <a:r>
              <a:t>❌ Requires power: Compressor draws electrical power</a:t>
            </a:r>
          </a:p>
          <a:p>
            <a:pPr>
              <a:spcAft>
                <a:spcPts val="1000"/>
              </a:spcAft>
              <a:defRPr sz="1800">
                <a:solidFill>
                  <a:srgbClr val="333333"/>
                </a:solidFill>
              </a:defRPr>
            </a:pPr>
            <a:r>
              <a:t>Spring Rate:</a:t>
            </a:r>
          </a:p>
          <a:p>
            <a:pPr>
              <a:defRPr sz="1400">
                <a:solidFill>
                  <a:srgbClr val="787878"/>
                </a:solidFill>
                <a:latin typeface="Consolas"/>
              </a:defRPr>
            </a:pPr>
            <a:r>
              <a:t>k = (n × P × A²) / V</a:t>
            </a:r>
            <a:br/>
            <a:br/>
            <a:r>
              <a:t>Where:</a:t>
            </a:r>
            <a:br/>
            <a:r>
              <a:t>n = Polytropic index (≈1.4 for air)</a:t>
            </a:r>
            <a:br/>
            <a:r>
              <a:t>P = Absolute air pressure (Pa)</a:t>
            </a:r>
            <a:br/>
            <a:r>
              <a:t>A = Effective piston area (m²)</a:t>
            </a:r>
            <a:br/>
            <a:r>
              <a:t>V = Volume of air spring (m³)</a:t>
            </a:r>
            <a:br/>
            <a:br/>
            <a:r>
              <a:t>Note: Spring rate INCREASES with pressure!</a:t>
            </a:r>
          </a:p>
          <a:p>
            <a:pPr>
              <a:spcAft>
                <a:spcPts val="1000"/>
              </a:spcAft>
              <a:defRPr sz="1800">
                <a:solidFill>
                  <a:srgbClr val="333333"/>
                </a:solidFill>
              </a:defRPr>
            </a:pPr>
            <a:r>
              <a:t>Used In: — Luxury sedans (Mercedes S-Class, Audi A8, Range Rover)</a:t>
            </a:r>
          </a:p>
          <a:p>
            <a:pPr>
              <a:spcAft>
                <a:spcPts val="600"/>
              </a:spcAft>
              <a:defRPr sz="1800">
                <a:solidFill>
                  <a:srgbClr val="333333"/>
                </a:solidFill>
              </a:defRPr>
            </a:pPr>
            <a:r>
              <a:t>Trucks with towing packages (auto-leveling when loaded)</a:t>
            </a:r>
          </a:p>
          <a:p>
            <a:pPr>
              <a:spcAft>
                <a:spcPts val="600"/>
              </a:spcAft>
              <a:defRPr sz="1800">
                <a:solidFill>
                  <a:srgbClr val="333333"/>
                </a:solidFill>
              </a:defRPr>
            </a:pPr>
            <a:r>
              <a:t>Buses and semi-trucks (excellent load-carrying and ride)</a:t>
            </a:r>
          </a:p>
          <a:p>
            <a:pPr>
              <a:spcAft>
                <a:spcPts val="600"/>
              </a:spcAft>
              <a:defRPr sz="1800">
                <a:solidFill>
                  <a:srgbClr val="333333"/>
                </a:solidFill>
              </a:defRPr>
            </a:pPr>
            <a:r>
              <a:t>Some sports cars (Porsche Cayenne, Audi R8 - variable ride height)</a:t>
            </a:r>
          </a:p>
          <a:p>
            <a:pPr>
              <a:spcAft>
                <a:spcPts val="1000"/>
              </a:spcAft>
              <a:defRPr sz="1800">
                <a:solidFill>
                  <a:srgbClr val="333333"/>
                </a:solidFill>
              </a:defRPr>
            </a:pPr>
            <a:r>
              <a:t>Instructor Narration (continued):</a:t>
            </a:r>
          </a:p>
          <a:p>
            <a:pPr>
              <a:spcAft>
                <a:spcPts val="1000"/>
              </a:spcAft>
              <a:defRPr sz="1800">
                <a:solidFill>
                  <a:srgbClr val="333333"/>
                </a:solidFill>
              </a:defRPr>
            </a:pPr>
            <a:r>
              <a:t>Air springs are fascinating because they're electrically controlled. A sensor detects load (passengers, cargo), and the system automatically inflates the springs to maintain ride height. This is why a fully-loaded Mercedes S-Class doesn't sag in the rear—the air springs compensate. We'll discuss the control systems later.</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Dampers (Shock Absorbers) - Dissipating Energy</a:t>
            </a:r>
          </a:p>
        </p:txBody>
      </p:sp>
      <p:sp>
        <p:nvSpPr>
          <p:cNvPr id="3" name="Content Placeholder 2"/>
          <p:cNvSpPr>
            <a:spLocks noGrp="1"/>
          </p:cNvSpPr>
          <p:nvPr>
            <p:ph idx="1"/>
          </p:nvPr>
        </p:nvSpPr>
        <p:spPr/>
        <p:txBody>
          <a:bodyPr/>
          <a:lstStyle/>
          <a:p>
            <a:pPr>
              <a:spcAft>
                <a:spcPts val="1000"/>
              </a:spcAft>
              <a:defRPr sz="1800">
                <a:solidFill>
                  <a:srgbClr val="333333"/>
                </a:solidFill>
              </a:defRPr>
            </a:pPr>
            <a:r>
              <a:t>Instructor Narration:</a:t>
            </a:r>
          </a:p>
          <a:p>
            <a:pPr>
              <a:spcAft>
                <a:spcPts val="1000"/>
              </a:spcAft>
              <a:defRPr sz="1800">
                <a:solidFill>
                  <a:srgbClr val="333333"/>
                </a:solidFill>
              </a:defRPr>
            </a:pPr>
            <a:r>
              <a:t>Springs store and release energy—but without a damper, that energy would cause endless oscillation.</a:t>
            </a:r>
          </a:p>
          <a:p>
            <a:pPr>
              <a:spcAft>
                <a:spcPts val="1000"/>
              </a:spcAft>
              <a:defRPr sz="1800">
                <a:solidFill>
                  <a:srgbClr val="333333"/>
                </a:solidFill>
              </a:defRPr>
            </a:pPr>
            <a:r>
              <a:t>The damper's job: Convert kinetic energy into heat (via fluid friction).</a:t>
            </a:r>
          </a:p>
          <a:p>
            <a:pPr>
              <a:spcAft>
                <a:spcPts val="1000"/>
              </a:spcAft>
              <a:defRPr sz="1800">
                <a:solidFill>
                  <a:srgbClr val="333333"/>
                </a:solidFill>
              </a:defRPr>
            </a:pPr>
            <a:r>
              <a:t>Damper Force:</a:t>
            </a:r>
          </a:p>
          <a:p>
            <a:pPr>
              <a:defRPr sz="1400">
                <a:solidFill>
                  <a:srgbClr val="787878"/>
                </a:solidFill>
                <a:latin typeface="Consolas"/>
              </a:defRPr>
            </a:pPr>
            <a:r>
              <a:t>F_damper = c × v</a:t>
            </a:r>
            <a:br/>
            <a:br/>
            <a:r>
              <a:t>Where:</a:t>
            </a:r>
            <a:br/>
            <a:r>
              <a:t>c = Damping coefficient (N·s/m)</a:t>
            </a:r>
            <a:br/>
            <a:r>
              <a:t>v = Piston velocity (m/s)</a:t>
            </a:r>
            <a:br/>
            <a:br/>
            <a:r>
              <a:t>Note: Force is proportional to VELOCITY, not displacement!</a:t>
            </a:r>
          </a:p>
          <a:p>
            <a:pPr>
              <a:spcAft>
                <a:spcPts val="1000"/>
              </a:spcAft>
              <a:defRPr sz="1800">
                <a:solidFill>
                  <a:srgbClr val="333333"/>
                </a:solidFill>
              </a:defRPr>
            </a:pPr>
            <a:r>
              <a:t>Two Main Types: —--</a:t>
            </a:r>
          </a:p>
          <a:p>
            <a:pPr>
              <a:spcAft>
                <a:spcPts val="1000"/>
              </a:spcAft>
              <a:defRPr sz="1800">
                <a:solidFill>
                  <a:srgbClr val="333333"/>
                </a:solidFill>
              </a:defRPr>
            </a:pPr>
            <a:r>
              <a:t>1. TWIN-TUBE DAMPER (Most Common)</a:t>
            </a:r>
          </a:p>
          <a:p>
            <a:pPr>
              <a:spcAft>
                <a:spcPts val="1000"/>
              </a:spcAft>
              <a:defRPr sz="1800">
                <a:solidFill>
                  <a:srgbClr val="333333"/>
                </a:solidFill>
              </a:defRPr>
            </a:pPr>
            <a:r>
              <a:t>Design: — Inner tube (pressure tube): Contains piston and piston rod</a:t>
            </a:r>
          </a:p>
          <a:p>
            <a:pPr>
              <a:spcAft>
                <a:spcPts val="600"/>
              </a:spcAft>
              <a:defRPr sz="1800">
                <a:solidFill>
                  <a:srgbClr val="333333"/>
                </a:solidFill>
              </a:defRPr>
            </a:pPr>
            <a:r>
              <a:t>Outer tube (reserve tube): Contains extra oil and gas (nitrogen)</a:t>
            </a:r>
          </a:p>
          <a:p>
            <a:pPr>
              <a:spcAft>
                <a:spcPts val="600"/>
              </a:spcAft>
              <a:defRPr sz="1800">
                <a:solidFill>
                  <a:srgbClr val="333333"/>
                </a:solidFill>
              </a:defRPr>
            </a:pPr>
            <a:r>
              <a:t>Piston: Has small orifices (holes) and valves</a:t>
            </a:r>
          </a:p>
          <a:p>
            <a:pPr>
              <a:spcAft>
                <a:spcPts val="600"/>
              </a:spcAft>
              <a:defRPr sz="1800">
                <a:solidFill>
                  <a:srgbClr val="333333"/>
                </a:solidFill>
              </a:defRPr>
            </a:pPr>
            <a:r>
              <a:t>Base valve: At bottom, controls oil flow between tubes</a:t>
            </a:r>
          </a:p>
          <a:p>
            <a:pPr>
              <a:spcAft>
                <a:spcPts val="1000"/>
              </a:spcAft>
              <a:defRPr sz="1800">
                <a:solidFill>
                  <a:srgbClr val="333333"/>
                </a:solidFill>
              </a:defRPr>
            </a:pPr>
            <a:r>
              <a:t>How It Works:</a:t>
            </a:r>
          </a:p>
          <a:p>
            <a:pPr>
              <a:spcAft>
                <a:spcPts val="1000"/>
              </a:spcAft>
              <a:defRPr sz="1800">
                <a:solidFill>
                  <a:srgbClr val="333333"/>
                </a:solidFill>
              </a:defRPr>
            </a:pPr>
            <a:r>
              <a:t>Compression Stroke (wheel hits bump, damper compresses):</a:t>
            </a:r>
          </a:p>
          <a:p>
            <a:pPr>
              <a:spcAft>
                <a:spcPts val="600"/>
              </a:spcAft>
              <a:defRPr sz="1800">
                <a:solidFill>
                  <a:srgbClr val="333333"/>
                </a:solidFill>
              </a:defRPr>
            </a:pPr>
            <a:r>
              <a:t>Piston moves down in pressure tube</a:t>
            </a:r>
          </a:p>
          <a:p>
            <a:pPr>
              <a:spcAft>
                <a:spcPts val="600"/>
              </a:spcAft>
              <a:defRPr sz="1800">
                <a:solidFill>
                  <a:srgbClr val="333333"/>
                </a:solidFill>
              </a:defRPr>
            </a:pPr>
            <a:r>
              <a:t>Oil flows through piston orifices (creates resistance = damping force)</a:t>
            </a:r>
          </a:p>
          <a:p>
            <a:pPr>
              <a:spcAft>
                <a:spcPts val="600"/>
              </a:spcAft>
              <a:defRPr sz="1800">
                <a:solidFill>
                  <a:srgbClr val="333333"/>
                </a:solidFill>
              </a:defRPr>
            </a:pPr>
            <a:r>
              <a:t>Some oil flows to reserve tube via base valve (makes room for rod volume)</a:t>
            </a:r>
          </a:p>
          <a:p>
            <a:pPr>
              <a:spcAft>
                <a:spcPts val="600"/>
              </a:spcAft>
              <a:defRPr sz="1800">
                <a:solidFill>
                  <a:srgbClr val="333333"/>
                </a:solidFill>
              </a:defRPr>
            </a:pPr>
            <a:r>
              <a:t>Kinetic energy → Heat (oil temperature rises slightly)</a:t>
            </a:r>
          </a:p>
          <a:p>
            <a:pPr>
              <a:spcAft>
                <a:spcPts val="1000"/>
              </a:spcAft>
              <a:defRPr sz="1800">
                <a:solidFill>
                  <a:srgbClr val="333333"/>
                </a:solidFill>
              </a:defRPr>
            </a:pPr>
            <a:r>
              <a:t>Rebound Stroke (spring pushes damper back out):</a:t>
            </a:r>
          </a:p>
          <a:p>
            <a:pPr>
              <a:spcAft>
                <a:spcPts val="600"/>
              </a:spcAft>
              <a:defRPr sz="1800">
                <a:solidFill>
                  <a:srgbClr val="333333"/>
                </a:solidFill>
              </a:defRPr>
            </a:pPr>
            <a:r>
              <a:t>Piston moves up in pressure tube</a:t>
            </a:r>
          </a:p>
          <a:p>
            <a:pPr>
              <a:spcAft>
                <a:spcPts val="600"/>
              </a:spcAft>
              <a:defRPr sz="1800">
                <a:solidFill>
                  <a:srgbClr val="333333"/>
                </a:solidFill>
              </a:defRPr>
            </a:pPr>
            <a:r>
              <a:t>Oil flows through piston orifices (different valving than compression)</a:t>
            </a:r>
          </a:p>
          <a:p>
            <a:pPr>
              <a:spcAft>
                <a:spcPts val="600"/>
              </a:spcAft>
              <a:defRPr sz="1800">
                <a:solidFill>
                  <a:srgbClr val="333333"/>
                </a:solidFill>
              </a:defRPr>
            </a:pPr>
            <a:r>
              <a:t>Oil flows back from reserve tube via base valve</a:t>
            </a:r>
          </a:p>
          <a:p>
            <a:pPr>
              <a:spcAft>
                <a:spcPts val="600"/>
              </a:spcAft>
              <a:defRPr sz="1800">
                <a:solidFill>
                  <a:srgbClr val="333333"/>
                </a:solidFill>
              </a:defRPr>
            </a:pPr>
            <a:r>
              <a:t>Rebound valving is typically stiffer than compression (controls spring energy release)</a:t>
            </a:r>
          </a:p>
          <a:p>
            <a:pPr>
              <a:spcAft>
                <a:spcPts val="1000"/>
              </a:spcAft>
              <a:defRPr sz="1800">
                <a:solidFill>
                  <a:srgbClr val="333333"/>
                </a:solidFill>
              </a:defRPr>
            </a:pPr>
            <a:r>
              <a:t>Advantages:</a:t>
            </a:r>
          </a:p>
          <a:p>
            <a:pPr>
              <a:spcAft>
                <a:spcPts val="1000"/>
              </a:spcAft>
              <a:defRPr sz="1800">
                <a:solidFill>
                  <a:srgbClr val="333333"/>
                </a:solidFill>
              </a:defRPr>
            </a:pPr>
            <a:r>
              <a:t>✅ Cost-effective (simpler manufacturing)</a:t>
            </a:r>
          </a:p>
          <a:p>
            <a:pPr>
              <a:spcAft>
                <a:spcPts val="1000"/>
              </a:spcAft>
              <a:defRPr sz="1800">
                <a:solidFill>
                  <a:srgbClr val="333333"/>
                </a:solidFill>
              </a:defRPr>
            </a:pPr>
            <a:r>
              <a:t>✅ Compact (smaller diameter than monotube)</a:t>
            </a:r>
          </a:p>
          <a:p>
            <a:pPr>
              <a:spcAft>
                <a:spcPts val="1000"/>
              </a:spcAft>
              <a:defRPr sz="1800">
                <a:solidFill>
                  <a:srgbClr val="333333"/>
                </a:solidFill>
              </a:defRPr>
            </a:pPr>
            <a:r>
              <a:t>✅ Cooler operation (reserve tube dissipates heat)</a:t>
            </a:r>
          </a:p>
          <a:p>
            <a:pPr>
              <a:spcAft>
                <a:spcPts val="1000"/>
              </a:spcAft>
              <a:defRPr sz="1800">
                <a:solidFill>
                  <a:srgbClr val="333333"/>
                </a:solidFill>
              </a:defRPr>
            </a:pPr>
            <a:r>
              <a:t>✅ Can mount upside-down (oil in both tubes)</a:t>
            </a:r>
          </a:p>
          <a:p>
            <a:pPr>
              <a:spcAft>
                <a:spcPts val="1000"/>
              </a:spcAft>
              <a:defRPr sz="1800">
                <a:solidFill>
                  <a:srgbClr val="333333"/>
                </a:solidFill>
              </a:defRPr>
            </a:pPr>
            <a:r>
              <a:t>Disadvantages:</a:t>
            </a:r>
          </a:p>
          <a:p>
            <a:pPr>
              <a:spcAft>
                <a:spcPts val="1000"/>
              </a:spcAft>
              <a:defRPr sz="1800">
                <a:solidFill>
                  <a:srgbClr val="333333"/>
                </a:solidFill>
              </a:defRPr>
            </a:pPr>
            <a:r>
              <a:t>❌ Oil aeration (oil mixes with gas during hard use → inconsistent damping)</a:t>
            </a:r>
          </a:p>
          <a:p>
            <a:pPr>
              <a:spcAft>
                <a:spcPts val="1000"/>
              </a:spcAft>
              <a:defRPr sz="1800">
                <a:solidFill>
                  <a:srgbClr val="333333"/>
                </a:solidFill>
              </a:defRPr>
            </a:pPr>
            <a:r>
              <a:t>❌ Potential foaming (reduced performance after sustained use)</a:t>
            </a:r>
          </a:p>
          <a:p>
            <a:pPr>
              <a:spcAft>
                <a:spcPts val="1000"/>
              </a:spcAft>
              <a:defRPr sz="1800">
                <a:solidFill>
                  <a:srgbClr val="333333"/>
                </a:solidFill>
              </a:defRPr>
            </a:pPr>
            <a:r>
              <a:t>❌ Less precise control (base valve adds complexity to tuning)</a:t>
            </a:r>
          </a:p>
          <a:p>
            <a:pPr>
              <a:spcAft>
                <a:spcPts val="1000"/>
              </a:spcAft>
              <a:defRPr sz="1800">
                <a:solidFill>
                  <a:srgbClr val="333333"/>
                </a:solidFill>
              </a:defRPr>
            </a:pPr>
            <a:r>
              <a:t>Used In: Most economy and mid-range passenger cars</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p>
        </p:txBody>
      </p:sp>
      <p:sp>
        <p:nvSpPr>
          <p:cNvPr id="3" name="Content Placeholder 2"/>
          <p:cNvSpPr>
            <a:spLocks noGrp="1"/>
          </p:cNvSpPr>
          <p:nvPr>
            <p:ph idx="1"/>
          </p:nvPr>
        </p:nvSpPr>
        <p:spPr/>
        <p:txBody>
          <a:bodyPr/>
          <a:lstStyle/>
          <a:p>
            <a:pPr>
              <a:spcAft>
                <a:spcPts val="1000"/>
              </a:spcAft>
              <a:defRPr sz="1800">
                <a:solidFill>
                  <a:srgbClr val="333333"/>
                </a:solidFill>
              </a:defRPr>
            </a:pPr>
            <a:r>
              <a:t>2. MONOTUBE DAMPER (Performance/Heavy-Duty)</a:t>
            </a:r>
          </a:p>
          <a:p>
            <a:pPr>
              <a:spcAft>
                <a:spcPts val="1000"/>
              </a:spcAft>
              <a:defRPr sz="1800">
                <a:solidFill>
                  <a:srgbClr val="333333"/>
                </a:solidFill>
              </a:defRPr>
            </a:pPr>
            <a:r>
              <a:t>Design: — Single tube containing:</a:t>
            </a:r>
          </a:p>
          <a:p>
            <a:pPr>
              <a:spcAft>
                <a:spcPts val="600"/>
              </a:spcAft>
              <a:defRPr sz="1800">
                <a:solidFill>
                  <a:srgbClr val="333333"/>
                </a:solidFill>
              </a:defRPr>
            </a:pPr>
            <a:r>
              <a:t>Piston with valves</a:t>
            </a:r>
          </a:p>
          <a:p>
            <a:pPr>
              <a:spcAft>
                <a:spcPts val="600"/>
              </a:spcAft>
              <a:defRPr sz="1800">
                <a:solidFill>
                  <a:srgbClr val="333333"/>
                </a:solidFill>
              </a:defRPr>
            </a:pPr>
            <a:r>
              <a:t>Oil (damping fluid)</a:t>
            </a:r>
          </a:p>
          <a:p>
            <a:pPr>
              <a:spcAft>
                <a:spcPts val="600"/>
              </a:spcAft>
              <a:defRPr sz="1800">
                <a:solidFill>
                  <a:srgbClr val="333333"/>
                </a:solidFill>
              </a:defRPr>
            </a:pPr>
            <a:r>
              <a:t>Floating piston separator</a:t>
            </a:r>
          </a:p>
          <a:p>
            <a:pPr>
              <a:spcAft>
                <a:spcPts val="600"/>
              </a:spcAft>
              <a:defRPr sz="1800">
                <a:solidFill>
                  <a:srgbClr val="333333"/>
                </a:solidFill>
              </a:defRPr>
            </a:pPr>
            <a:r>
              <a:t>High-pressure nitrogen gas (20-30 bar)</a:t>
            </a:r>
          </a:p>
          <a:p>
            <a:pPr>
              <a:spcAft>
                <a:spcPts val="1000"/>
              </a:spcAft>
              <a:defRPr sz="1800">
                <a:solidFill>
                  <a:srgbClr val="333333"/>
                </a:solidFill>
              </a:defRPr>
            </a:pPr>
            <a:r>
              <a:t>How It Works:</a:t>
            </a:r>
          </a:p>
          <a:p>
            <a:pPr>
              <a:spcAft>
                <a:spcPts val="1000"/>
              </a:spcAft>
              <a:defRPr sz="1800">
                <a:solidFill>
                  <a:srgbClr val="333333"/>
                </a:solidFill>
              </a:defRPr>
            </a:pPr>
            <a:r>
              <a:t>Compression Stroke:</a:t>
            </a:r>
          </a:p>
          <a:p>
            <a:pPr>
              <a:spcAft>
                <a:spcPts val="600"/>
              </a:spcAft>
              <a:defRPr sz="1800">
                <a:solidFill>
                  <a:srgbClr val="333333"/>
                </a:solidFill>
              </a:defRPr>
            </a:pPr>
            <a:r>
              <a:t>Piston moves down</a:t>
            </a:r>
          </a:p>
          <a:p>
            <a:pPr>
              <a:spcAft>
                <a:spcPts val="600"/>
              </a:spcAft>
              <a:defRPr sz="1800">
                <a:solidFill>
                  <a:srgbClr val="333333"/>
                </a:solidFill>
              </a:defRPr>
            </a:pPr>
            <a:r>
              <a:t>Oil flows through piston valves (creates damping force)</a:t>
            </a:r>
          </a:p>
          <a:p>
            <a:pPr>
              <a:spcAft>
                <a:spcPts val="600"/>
              </a:spcAft>
              <a:defRPr sz="1800">
                <a:solidFill>
                  <a:srgbClr val="333333"/>
                </a:solidFill>
              </a:defRPr>
            </a:pPr>
            <a:r>
              <a:t>Oil displaces the floating piston</a:t>
            </a:r>
          </a:p>
          <a:p>
            <a:pPr>
              <a:spcAft>
                <a:spcPts val="600"/>
              </a:spcAft>
              <a:defRPr sz="1800">
                <a:solidFill>
                  <a:srgbClr val="333333"/>
                </a:solidFill>
              </a:defRPr>
            </a:pPr>
            <a:r>
              <a:t>Gas chamber compresses slightly (absorbs rod volume)</a:t>
            </a:r>
          </a:p>
          <a:p>
            <a:pPr>
              <a:spcAft>
                <a:spcPts val="1000"/>
              </a:spcAft>
              <a:defRPr sz="1800">
                <a:solidFill>
                  <a:srgbClr val="333333"/>
                </a:solidFill>
              </a:defRPr>
            </a:pPr>
            <a:r>
              <a:t>Rebound Stroke:</a:t>
            </a:r>
          </a:p>
          <a:p>
            <a:pPr>
              <a:spcAft>
                <a:spcPts val="600"/>
              </a:spcAft>
              <a:defRPr sz="1800">
                <a:solidFill>
                  <a:srgbClr val="333333"/>
                </a:solidFill>
              </a:defRPr>
            </a:pPr>
            <a:r>
              <a:t>Piston moves up</a:t>
            </a:r>
          </a:p>
          <a:p>
            <a:pPr>
              <a:spcAft>
                <a:spcPts val="600"/>
              </a:spcAft>
              <a:defRPr sz="1800">
                <a:solidFill>
                  <a:srgbClr val="333333"/>
                </a:solidFill>
              </a:defRPr>
            </a:pPr>
            <a:r>
              <a:t>Oil flows through piston valves (different orifices)</a:t>
            </a:r>
          </a:p>
          <a:p>
            <a:pPr>
              <a:spcAft>
                <a:spcPts val="600"/>
              </a:spcAft>
              <a:defRPr sz="1800">
                <a:solidFill>
                  <a:srgbClr val="333333"/>
                </a:solidFill>
              </a:defRPr>
            </a:pPr>
            <a:r>
              <a:t>Floating piston returns</a:t>
            </a:r>
          </a:p>
          <a:p>
            <a:pPr>
              <a:spcAft>
                <a:spcPts val="600"/>
              </a:spcAft>
              <a:defRPr sz="1800">
                <a:solidFill>
                  <a:srgbClr val="333333"/>
                </a:solidFill>
              </a:defRPr>
            </a:pPr>
            <a:r>
              <a:t>Gas chamber expands</a:t>
            </a:r>
          </a:p>
          <a:p>
            <a:pPr>
              <a:spcAft>
                <a:spcPts val="1000"/>
              </a:spcAft>
              <a:defRPr sz="1800">
                <a:solidFill>
                  <a:srgbClr val="333333"/>
                </a:solidFill>
              </a:defRPr>
            </a:pPr>
            <a:r>
              <a:t>Advantages:</a:t>
            </a:r>
          </a:p>
          <a:p>
            <a:pPr>
              <a:spcAft>
                <a:spcPts val="1000"/>
              </a:spcAft>
              <a:defRPr sz="1800">
                <a:solidFill>
                  <a:srgbClr val="333333"/>
                </a:solidFill>
              </a:defRPr>
            </a:pPr>
            <a:r>
              <a:t>✅ No oil aeration (oil and gas separated by floating piston)</a:t>
            </a:r>
          </a:p>
          <a:p>
            <a:pPr>
              <a:spcAft>
                <a:spcPts val="1000"/>
              </a:spcAft>
              <a:defRPr sz="1800">
                <a:solidFill>
                  <a:srgbClr val="333333"/>
                </a:solidFill>
              </a:defRPr>
            </a:pPr>
            <a:r>
              <a:t>✅ Consistent performance (no foaming, even under hard use)</a:t>
            </a:r>
          </a:p>
          <a:p>
            <a:pPr>
              <a:spcAft>
                <a:spcPts val="1000"/>
              </a:spcAft>
              <a:defRPr sz="1800">
                <a:solidFill>
                  <a:srgbClr val="333333"/>
                </a:solidFill>
              </a:defRPr>
            </a:pPr>
            <a:r>
              <a:t>✅ Better heat dissipation (larger tube surface area)</a:t>
            </a:r>
          </a:p>
          <a:p>
            <a:pPr>
              <a:spcAft>
                <a:spcPts val="1000"/>
              </a:spcAft>
              <a:defRPr sz="1800">
                <a:solidFill>
                  <a:srgbClr val="333333"/>
                </a:solidFill>
              </a:defRPr>
            </a:pPr>
            <a:r>
              <a:t>✅ More precise tuning (simpler flow path)</a:t>
            </a:r>
          </a:p>
          <a:p>
            <a:pPr>
              <a:spcAft>
                <a:spcPts val="1000"/>
              </a:spcAft>
              <a:defRPr sz="1800">
                <a:solidFill>
                  <a:srgbClr val="333333"/>
                </a:solidFill>
              </a:defRPr>
            </a:pPr>
            <a:r>
              <a:t>✅ Can handle high forces (used in trucks and performance cars)</a:t>
            </a:r>
          </a:p>
          <a:p>
            <a:pPr>
              <a:spcAft>
                <a:spcPts val="1000"/>
              </a:spcAft>
              <a:defRPr sz="1800">
                <a:solidFill>
                  <a:srgbClr val="333333"/>
                </a:solidFill>
              </a:defRPr>
            </a:pPr>
            <a:r>
              <a:t>Disadvantages:</a:t>
            </a:r>
          </a:p>
          <a:p>
            <a:pPr>
              <a:spcAft>
                <a:spcPts val="1000"/>
              </a:spcAft>
              <a:defRPr sz="1800">
                <a:solidFill>
                  <a:srgbClr val="333333"/>
                </a:solidFill>
              </a:defRPr>
            </a:pPr>
            <a:r>
              <a:t>❌ More expensive (precision manufacturing required)</a:t>
            </a:r>
          </a:p>
          <a:p>
            <a:pPr>
              <a:spcAft>
                <a:spcPts val="1000"/>
              </a:spcAft>
              <a:defRPr sz="1800">
                <a:solidFill>
                  <a:srgbClr val="333333"/>
                </a:solidFill>
              </a:defRPr>
            </a:pPr>
            <a:r>
              <a:t>❌ Larger diameter (harder to package)</a:t>
            </a:r>
          </a:p>
          <a:p>
            <a:pPr>
              <a:spcAft>
                <a:spcPts val="1000"/>
              </a:spcAft>
              <a:defRPr sz="1800">
                <a:solidFill>
                  <a:srgbClr val="333333"/>
                </a:solidFill>
              </a:defRPr>
            </a:pPr>
            <a:r>
              <a:t>❌ Must be mounted correctly (gas chamber must be at bottom, or top with inverted design)</a:t>
            </a:r>
          </a:p>
          <a:p>
            <a:pPr>
              <a:spcAft>
                <a:spcPts val="1000"/>
              </a:spcAft>
              <a:defRPr sz="1800">
                <a:solidFill>
                  <a:srgbClr val="333333"/>
                </a:solidFill>
              </a:defRPr>
            </a:pPr>
            <a:r>
              <a:t>❌ Vulnerable to damage (single tube—if dented, damper fails)</a:t>
            </a:r>
          </a:p>
          <a:p>
            <a:pPr>
              <a:spcAft>
                <a:spcPts val="1000"/>
              </a:spcAft>
              <a:defRPr sz="1800">
                <a:solidFill>
                  <a:srgbClr val="333333"/>
                </a:solidFill>
              </a:defRPr>
            </a:pPr>
            <a:r>
              <a:t>Used In: Sports cars, performance sedans, heavy-duty trucks, off-road vehicles</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p>
        </p:txBody>
      </p:sp>
      <p:sp>
        <p:nvSpPr>
          <p:cNvPr id="3" name="Content Placeholder 2"/>
          <p:cNvSpPr>
            <a:spLocks noGrp="1"/>
          </p:cNvSpPr>
          <p:nvPr>
            <p:ph idx="1"/>
          </p:nvPr>
        </p:nvSpPr>
        <p:spPr/>
        <p:txBody>
          <a:bodyPr/>
          <a:lstStyle/>
          <a:p>
            <a:pPr>
              <a:spcAft>
                <a:spcPts val="1000"/>
              </a:spcAft>
              <a:defRPr sz="1800">
                <a:solidFill>
                  <a:srgbClr val="333333"/>
                </a:solidFill>
              </a:defRPr>
            </a:pPr>
            <a:r>
              <a:t>Damping Valving - The Secret:</a:t>
            </a:r>
          </a:p>
          <a:p>
            <a:pPr>
              <a:spcAft>
                <a:spcPts val="1000"/>
              </a:spcAft>
              <a:defRPr sz="1800">
                <a:solidFill>
                  <a:srgbClr val="333333"/>
                </a:solidFill>
              </a:defRPr>
            </a:pPr>
            <a:r>
              <a:t>The piston has different valves for compression vs rebound:</a:t>
            </a:r>
          </a:p>
          <a:p>
            <a:pPr>
              <a:spcAft>
                <a:spcPts val="1000"/>
              </a:spcAft>
              <a:defRPr sz="1800">
                <a:solidFill>
                  <a:srgbClr val="333333"/>
                </a:solidFill>
              </a:defRPr>
            </a:pPr>
            <a:r>
              <a:t>Compression Valving: — Relatively soft (allows wheel to absorb bumps without harsh impact)</a:t>
            </a:r>
          </a:p>
          <a:p>
            <a:pPr>
              <a:spcAft>
                <a:spcPts val="600"/>
              </a:spcAft>
              <a:defRPr sz="1800">
                <a:solidFill>
                  <a:srgbClr val="333333"/>
                </a:solidFill>
              </a:defRPr>
            </a:pPr>
            <a:r>
              <a:t>Target: 20-30% of critical damping during bump</a:t>
            </a:r>
          </a:p>
          <a:p>
            <a:pPr>
              <a:spcAft>
                <a:spcPts val="1000"/>
              </a:spcAft>
              <a:defRPr sz="1800">
                <a:solidFill>
                  <a:srgbClr val="333333"/>
                </a:solidFill>
              </a:defRPr>
            </a:pPr>
            <a:r>
              <a:t>Rebound Valving: — Relatively stiff (controls spring energy release, prevents wallowing)</a:t>
            </a:r>
          </a:p>
          <a:p>
            <a:pPr>
              <a:spcAft>
                <a:spcPts val="600"/>
              </a:spcAft>
              <a:defRPr sz="1800">
                <a:solidFill>
                  <a:srgbClr val="333333"/>
                </a:solidFill>
              </a:defRPr>
            </a:pPr>
            <a:r>
              <a:t>Target: 60-80% of critical damping during rebound</a:t>
            </a:r>
          </a:p>
          <a:p>
            <a:pPr>
              <a:spcAft>
                <a:spcPts val="600"/>
              </a:spcAft>
              <a:defRPr sz="1800">
                <a:solidFill>
                  <a:srgbClr val="333333"/>
                </a:solidFill>
              </a:defRPr>
            </a:pPr>
            <a:r>
              <a:t>Asymmetric damping: Typical ratio is 70% rebound / 30% compression</a:t>
            </a:r>
          </a:p>
          <a:p>
            <a:pPr>
              <a:spcAft>
                <a:spcPts val="1000"/>
              </a:spcAft>
              <a:defRPr sz="1800">
                <a:solidFill>
                  <a:srgbClr val="333333"/>
                </a:solidFill>
              </a:defRPr>
            </a:pPr>
            <a:r>
              <a:t>Why Asymmetric?</a:t>
            </a:r>
          </a:p>
          <a:p>
            <a:pPr>
              <a:spcAft>
                <a:spcPts val="1000"/>
              </a:spcAft>
              <a:defRPr sz="1800">
                <a:solidFill>
                  <a:srgbClr val="333333"/>
                </a:solidFill>
              </a:defRPr>
            </a:pPr>
            <a:r>
              <a:t>Soft compression: Allows wheel to move up over bump (comfort, tire contact)</a:t>
            </a:r>
          </a:p>
          <a:p>
            <a:pPr>
              <a:spcAft>
                <a:spcPts val="1000"/>
              </a:spcAft>
              <a:defRPr sz="1800">
                <a:solidFill>
                  <a:srgbClr val="333333"/>
                </a:solidFill>
              </a:defRPr>
            </a:pPr>
            <a:r>
              <a:t>Stiff rebound: Prevents body from bouncing after bump (control, handling)</a:t>
            </a:r>
          </a:p>
          <a:p>
            <a:pPr>
              <a:spcAft>
                <a:spcPts val="1000"/>
              </a:spcAft>
              <a:defRPr sz="1800">
                <a:solidFill>
                  <a:srgbClr val="333333"/>
                </a:solidFill>
              </a:defRPr>
            </a:pPr>
            <a:r>
              <a:t>Adjustable Dampers:</a:t>
            </a:r>
          </a:p>
          <a:p>
            <a:pPr>
              <a:spcAft>
                <a:spcPts val="1000"/>
              </a:spcAft>
              <a:defRPr sz="1800">
                <a:solidFill>
                  <a:srgbClr val="333333"/>
                </a:solidFill>
              </a:defRPr>
            </a:pPr>
            <a:r>
              <a:t>Performance cars often have externally adjustable dampers:</a:t>
            </a:r>
          </a:p>
          <a:p>
            <a:pPr>
              <a:spcAft>
                <a:spcPts val="600"/>
              </a:spcAft>
              <a:defRPr sz="1800">
                <a:solidFill>
                  <a:srgbClr val="333333"/>
                </a:solidFill>
              </a:defRPr>
            </a:pPr>
            <a:r>
              <a:t>Single-adjustment: Changes both compression and rebound together</a:t>
            </a:r>
          </a:p>
          <a:p>
            <a:pPr>
              <a:spcAft>
                <a:spcPts val="600"/>
              </a:spcAft>
              <a:defRPr sz="1800">
                <a:solidFill>
                  <a:srgbClr val="333333"/>
                </a:solidFill>
              </a:defRPr>
            </a:pPr>
            <a:r>
              <a:t>Dual-adjustment: Independent compression and rebound adjustments</a:t>
            </a:r>
          </a:p>
          <a:p>
            <a:pPr>
              <a:spcAft>
                <a:spcPts val="600"/>
              </a:spcAft>
              <a:defRPr sz="1800">
                <a:solidFill>
                  <a:srgbClr val="333333"/>
                </a:solidFill>
              </a:defRPr>
            </a:pPr>
            <a:r>
              <a:t>Electronic (later slide): ECU-controlled valves for adaptive damping</a:t>
            </a:r>
          </a:p>
          <a:p>
            <a:pPr>
              <a:spcAft>
                <a:spcPts val="1000"/>
              </a:spcAft>
              <a:defRPr sz="1800">
                <a:solidFill>
                  <a:srgbClr val="333333"/>
                </a:solidFill>
              </a:defRPr>
            </a:pPr>
            <a:r>
              <a:t>Instructor Narration (continued):</a:t>
            </a:r>
          </a:p>
          <a:p>
            <a:pPr>
              <a:spcAft>
                <a:spcPts val="1000"/>
              </a:spcAft>
              <a:defRPr sz="1800">
                <a:solidFill>
                  <a:srgbClr val="333333"/>
                </a:solidFill>
              </a:defRPr>
            </a:pPr>
            <a:r>
              <a:t>When you see aftermarket suspension, you'll hear 'coilovers' (coil-over damper—spring wrapped around monotube damper with threaded body for ride height adjustment) and claims about 'rebound damping adjustment.' Now you know what that means—they're allowing you to tune the rebound valving stiffness to control how quickly the suspension returns after compression. More rebound damping = tighter control but harsher feel.</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Suspension Travel and Packaging</a:t>
            </a:r>
          </a:p>
        </p:txBody>
      </p:sp>
      <p:sp>
        <p:nvSpPr>
          <p:cNvPr id="3" name="Content Placeholder 2"/>
          <p:cNvSpPr>
            <a:spLocks noGrp="1"/>
          </p:cNvSpPr>
          <p:nvPr>
            <p:ph idx="1"/>
          </p:nvPr>
        </p:nvSpPr>
        <p:spPr/>
        <p:txBody>
          <a:bodyPr/>
          <a:lstStyle/>
          <a:p>
            <a:pPr>
              <a:spcAft>
                <a:spcPts val="1000"/>
              </a:spcAft>
              <a:defRPr sz="1800">
                <a:solidFill>
                  <a:srgbClr val="333333"/>
                </a:solidFill>
              </a:defRPr>
            </a:pPr>
            <a:r>
              <a:t>Instructor Narration:</a:t>
            </a:r>
          </a:p>
          <a:p>
            <a:pPr>
              <a:spcAft>
                <a:spcPts val="1000"/>
              </a:spcAft>
              <a:defRPr sz="1800">
                <a:solidFill>
                  <a:srgbClr val="333333"/>
                </a:solidFill>
              </a:defRPr>
            </a:pPr>
            <a:r>
              <a:t>One last mechanical topic before we get to electronics: suspension travel.</a:t>
            </a:r>
          </a:p>
          <a:p>
            <a:pPr>
              <a:spcAft>
                <a:spcPts val="1000"/>
              </a:spcAft>
              <a:defRPr sz="1800">
                <a:solidFill>
                  <a:srgbClr val="333333"/>
                </a:solidFill>
              </a:defRPr>
            </a:pPr>
            <a:r>
              <a:t>Suspension Travel:</a:t>
            </a:r>
          </a:p>
          <a:p>
            <a:pPr>
              <a:spcAft>
                <a:spcPts val="1000"/>
              </a:spcAft>
              <a:defRPr sz="1800">
                <a:solidFill>
                  <a:srgbClr val="333333"/>
                </a:solidFill>
              </a:defRPr>
            </a:pPr>
            <a:r>
              <a:t>Total vertical wheel movement from full droop (maximum extension) to full bump (maximum compression).</a:t>
            </a:r>
          </a:p>
          <a:p>
            <a:pPr>
              <a:spcAft>
                <a:spcPts val="1000"/>
              </a:spcAft>
              <a:defRPr sz="1800">
                <a:solidFill>
                  <a:srgbClr val="333333"/>
                </a:solidFill>
              </a:defRPr>
            </a:pPr>
            <a:r>
              <a:t>Typical Values:</a:t>
            </a:r>
          </a:p>
          <a:p>
            <a:pPr>
              <a:spcAft>
                <a:spcPts val="1000"/>
              </a:spcAft>
              <a:defRPr sz="1800">
                <a:solidFill>
                  <a:srgbClr val="333333"/>
                </a:solidFill>
              </a:defRPr>
            </a:pPr>
            <a:r>
              <a:t>| Vehicle Type | Total Travel | Bump Travel | Droop Travel |</a:t>
            </a:r>
          </a:p>
          <a:p>
            <a:pPr>
              <a:spcAft>
                <a:spcPts val="1000"/>
              </a:spcAft>
              <a:defRPr sz="1800">
                <a:solidFill>
                  <a:srgbClr val="333333"/>
                </a:solidFill>
              </a:defRPr>
            </a:pPr>
            <a:r>
              <a:t>|--------------|--------------|-------------|--------------|</a:t>
            </a:r>
          </a:p>
          <a:p>
            <a:pPr>
              <a:spcAft>
                <a:spcPts val="1000"/>
              </a:spcAft>
              <a:defRPr sz="1800">
                <a:solidFill>
                  <a:srgbClr val="333333"/>
                </a:solidFill>
              </a:defRPr>
            </a:pPr>
            <a:r>
              <a:t>| Sports car | 100-150 mm | 50-80 mm | 50-70 mm |</a:t>
            </a:r>
          </a:p>
          <a:p>
            <a:pPr>
              <a:spcAft>
                <a:spcPts val="1000"/>
              </a:spcAft>
              <a:defRPr sz="1800">
                <a:solidFill>
                  <a:srgbClr val="333333"/>
                </a:solidFill>
              </a:defRPr>
            </a:pPr>
            <a:r>
              <a:t>| Family sedan | 150-200 mm | 80-100 mm | 70-100 mm |</a:t>
            </a:r>
          </a:p>
          <a:p>
            <a:pPr>
              <a:spcAft>
                <a:spcPts val="1000"/>
              </a:spcAft>
              <a:defRPr sz="1800">
                <a:solidFill>
                  <a:srgbClr val="333333"/>
                </a:solidFill>
              </a:defRPr>
            </a:pPr>
            <a:r>
              <a:t>| SUV/Truck | 200-300 mm | 100-150 mm | 100-150 mm |</a:t>
            </a:r>
          </a:p>
          <a:p>
            <a:pPr>
              <a:spcAft>
                <a:spcPts val="1000"/>
              </a:spcAft>
              <a:defRPr sz="1800">
                <a:solidFill>
                  <a:srgbClr val="333333"/>
                </a:solidFill>
              </a:defRPr>
            </a:pPr>
            <a:r>
              <a:t>| Off-road truck | 300-500 mm | 150-250 mm | 150-250 mm |</a:t>
            </a:r>
          </a:p>
          <a:p>
            <a:pPr>
              <a:spcAft>
                <a:spcPts val="1000"/>
              </a:spcAft>
              <a:defRPr sz="1800">
                <a:solidFill>
                  <a:srgbClr val="333333"/>
                </a:solidFill>
              </a:defRPr>
            </a:pPr>
            <a:r>
              <a:t>| F1 race car | 50-80 mm | 30-50 mm | 20-30 mm |</a:t>
            </a:r>
          </a:p>
          <a:p>
            <a:pPr>
              <a:spcAft>
                <a:spcPts val="1000"/>
              </a:spcAft>
              <a:defRPr sz="1800">
                <a:solidFill>
                  <a:srgbClr val="333333"/>
                </a:solidFill>
              </a:defRPr>
            </a:pPr>
            <a:r>
              <a:t>Trade-offs:</a:t>
            </a:r>
          </a:p>
          <a:p>
            <a:pPr>
              <a:spcAft>
                <a:spcPts val="1000"/>
              </a:spcAft>
              <a:defRPr sz="1800">
                <a:solidFill>
                  <a:srgbClr val="333333"/>
                </a:solidFill>
              </a:defRPr>
            </a:pPr>
            <a:r>
              <a:t>Short Travel (Sports Car):</a:t>
            </a:r>
          </a:p>
          <a:p>
            <a:pPr>
              <a:spcAft>
                <a:spcPts val="1000"/>
              </a:spcAft>
              <a:defRPr sz="1800">
                <a:solidFill>
                  <a:srgbClr val="333333"/>
                </a:solidFill>
              </a:defRPr>
            </a:pPr>
            <a:r>
              <a:t>✅ Tighter body control (less body motion)</a:t>
            </a:r>
          </a:p>
          <a:p>
            <a:pPr>
              <a:spcAft>
                <a:spcPts val="1000"/>
              </a:spcAft>
              <a:defRPr sz="1800">
                <a:solidFill>
                  <a:srgbClr val="333333"/>
                </a:solidFill>
              </a:defRPr>
            </a:pPr>
            <a:r>
              <a:t>✅ Lower ride height possible (better aerodynamics)</a:t>
            </a:r>
          </a:p>
          <a:p>
            <a:pPr>
              <a:spcAft>
                <a:spcPts val="1000"/>
              </a:spcAft>
              <a:defRPr sz="1800">
                <a:solidFill>
                  <a:srgbClr val="333333"/>
                </a:solidFill>
              </a:defRPr>
            </a:pPr>
            <a:r>
              <a:t>✅ Smaller, lighter components</a:t>
            </a:r>
          </a:p>
          <a:p>
            <a:pPr>
              <a:spcAft>
                <a:spcPts val="1000"/>
              </a:spcAft>
              <a:defRPr sz="1800">
                <a:solidFill>
                  <a:srgbClr val="333333"/>
                </a:solidFill>
              </a:defRPr>
            </a:pPr>
            <a:r>
              <a:t>❌ Harsher ride (suspension bottoms easily on large bumps)</a:t>
            </a:r>
          </a:p>
          <a:p>
            <a:pPr>
              <a:spcAft>
                <a:spcPts val="1000"/>
              </a:spcAft>
              <a:defRPr sz="1800">
                <a:solidFill>
                  <a:srgbClr val="333333"/>
                </a:solidFill>
              </a:defRPr>
            </a:pPr>
            <a:r>
              <a:t>❌ Must use very stiff springs (to prevent bottoming)</a:t>
            </a:r>
          </a:p>
          <a:p>
            <a:pPr>
              <a:spcAft>
                <a:spcPts val="1000"/>
              </a:spcAft>
              <a:defRPr sz="1800">
                <a:solidFill>
                  <a:srgbClr val="333333"/>
                </a:solidFill>
              </a:defRPr>
            </a:pPr>
            <a:r>
              <a:t>Long Travel (Off-Road Truck):</a:t>
            </a:r>
          </a:p>
          <a:p>
            <a:pPr>
              <a:spcAft>
                <a:spcPts val="1000"/>
              </a:spcAft>
              <a:defRPr sz="1800">
                <a:solidFill>
                  <a:srgbClr val="333333"/>
                </a:solidFill>
              </a:defRPr>
            </a:pPr>
            <a:r>
              <a:t>✅ Absorbs large obstacles (rocks, deep ruts)</a:t>
            </a:r>
          </a:p>
          <a:p>
            <a:pPr>
              <a:spcAft>
                <a:spcPts val="1000"/>
              </a:spcAft>
              <a:defRPr sz="1800">
                <a:solidFill>
                  <a:srgbClr val="333333"/>
                </a:solidFill>
              </a:defRPr>
            </a:pPr>
            <a:r>
              <a:t>✅ Maintains tire contact over uneven terrain</a:t>
            </a:r>
          </a:p>
          <a:p>
            <a:pPr>
              <a:spcAft>
                <a:spcPts val="1000"/>
              </a:spcAft>
              <a:defRPr sz="1800">
                <a:solidFill>
                  <a:srgbClr val="333333"/>
                </a:solidFill>
              </a:defRPr>
            </a:pPr>
            <a:r>
              <a:t>✅ Comfortable over rough terrain</a:t>
            </a:r>
          </a:p>
          <a:p>
            <a:pPr>
              <a:spcAft>
                <a:spcPts val="1000"/>
              </a:spcAft>
              <a:defRPr sz="1800">
                <a:solidFill>
                  <a:srgbClr val="333333"/>
                </a:solidFill>
              </a:defRPr>
            </a:pPr>
            <a:r>
              <a:t>❌ Taller ride height (worse aerodynamics, higher center of gravity)</a:t>
            </a:r>
          </a:p>
          <a:p>
            <a:pPr>
              <a:spcAft>
                <a:spcPts val="1000"/>
              </a:spcAft>
              <a:defRPr sz="1800">
                <a:solidFill>
                  <a:srgbClr val="333333"/>
                </a:solidFill>
              </a:defRPr>
            </a:pPr>
            <a:r>
              <a:t>❌ Heavier components (longer control arms, dampers)</a:t>
            </a:r>
          </a:p>
          <a:p>
            <a:pPr>
              <a:spcAft>
                <a:spcPts val="1000"/>
              </a:spcAft>
              <a:defRPr sz="1800">
                <a:solidFill>
                  <a:srgbClr val="333333"/>
                </a:solidFill>
              </a:defRPr>
            </a:pPr>
            <a:r>
              <a:t>Packaging Challenges:</a:t>
            </a:r>
          </a:p>
          <a:p>
            <a:pPr>
              <a:spcAft>
                <a:spcPts val="1000"/>
              </a:spcAft>
              <a:defRPr sz="1800">
                <a:solidFill>
                  <a:srgbClr val="333333"/>
                </a:solidFill>
              </a:defRPr>
            </a:pPr>
            <a:r>
              <a:t>Bump Stops: — Rubber or polyurethane cushion at end of bump travel</a:t>
            </a:r>
          </a:p>
          <a:p>
            <a:pPr>
              <a:spcAft>
                <a:spcPts val="600"/>
              </a:spcAft>
              <a:defRPr sz="1800">
                <a:solidFill>
                  <a:srgbClr val="333333"/>
                </a:solidFill>
              </a:defRPr>
            </a:pPr>
            <a:r>
              <a:t>Prevents metal-to-metal contact (damage prevention)</a:t>
            </a:r>
          </a:p>
          <a:p>
            <a:pPr>
              <a:spcAft>
                <a:spcPts val="600"/>
              </a:spcAft>
              <a:defRPr sz="1800">
                <a:solidFill>
                  <a:srgbClr val="333333"/>
                </a:solidFill>
              </a:defRPr>
            </a:pPr>
            <a:r>
              <a:t>Progressive rate: Gets stiffer as compressed (gradual limit, not sudden slam)</a:t>
            </a:r>
          </a:p>
          <a:p>
            <a:pPr>
              <a:spcAft>
                <a:spcPts val="600"/>
              </a:spcAft>
              <a:defRPr sz="1800">
                <a:solidFill>
                  <a:srgbClr val="333333"/>
                </a:solidFill>
              </a:defRPr>
            </a:pPr>
            <a:r>
              <a:t>Critical for ride quality on rough roads</a:t>
            </a:r>
          </a:p>
          <a:p>
            <a:pPr>
              <a:spcAft>
                <a:spcPts val="1000"/>
              </a:spcAft>
              <a:defRPr sz="1800">
                <a:solidFill>
                  <a:srgbClr val="333333"/>
                </a:solidFill>
              </a:defRPr>
            </a:pPr>
            <a:r>
              <a:t>Droop Limiters: — Strap or cable limiting maximum extension</a:t>
            </a:r>
          </a:p>
          <a:p>
            <a:pPr>
              <a:spcAft>
                <a:spcPts val="600"/>
              </a:spcAft>
              <a:defRPr sz="1800">
                <a:solidFill>
                  <a:srgbClr val="333333"/>
                </a:solidFill>
              </a:defRPr>
            </a:pPr>
            <a:r>
              <a:t>Prevents CV joint/driveshaft damage at full droop</a:t>
            </a:r>
          </a:p>
          <a:p>
            <a:pPr>
              <a:spcAft>
                <a:spcPts val="600"/>
              </a:spcAft>
              <a:defRPr sz="1800">
                <a:solidFill>
                  <a:srgbClr val="333333"/>
                </a:solidFill>
              </a:defRPr>
            </a:pPr>
            <a:r>
              <a:t>Prevents spring from becoming loose (losing contact with seats)</a:t>
            </a:r>
          </a:p>
          <a:p>
            <a:pPr>
              <a:spcAft>
                <a:spcPts val="1000"/>
              </a:spcAft>
              <a:defRPr sz="1800">
                <a:solidFill>
                  <a:srgbClr val="333333"/>
                </a:solidFill>
              </a:defRPr>
            </a:pPr>
            <a:r>
              <a:t>Instructor Narration (continued):</a:t>
            </a:r>
          </a:p>
          <a:p>
            <a:pPr>
              <a:spcAft>
                <a:spcPts val="1000"/>
              </a:spcAft>
              <a:defRPr sz="1800">
                <a:solidFill>
                  <a:srgbClr val="333333"/>
                </a:solidFill>
              </a:defRPr>
            </a:pPr>
            <a:r>
              <a:t>When you see a sports car 'slam' over a speed bump, it's hitting the bump stops—the suspension ran out of travel and the rubber bump stop is taking the impact. That's why lowered cars ride so harshly—you're reducing bump travel, forcing the suspension to hit the bump stops more frequently. The suspension isn't 'broken,' you just removed its ability to absorb large bumps.</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4472C4"/>
        </a:solidFill>
        <a:effectLst/>
      </p:bgPr>
    </p:bg>
    <p:spTree>
      <p:nvGrpSpPr>
        <p:cNvPr id="1" name=""/>
        <p:cNvGrpSpPr/>
        <p:nvPr/>
      </p:nvGrpSpPr>
      <p:grpSpPr/>
      <p:sp>
        <p:nvSpPr>
          <p:cNvPr id="2" name="Title 1"/>
          <p:cNvSpPr>
            <a:spLocks noGrp="1"/>
          </p:cNvSpPr>
          <p:nvPr>
            <p:ph type="ctrTitle"/>
          </p:nvPr>
        </p:nvSpPr>
        <p:spPr/>
        <p:txBody>
          <a:bodyPr/>
          <a:lstStyle/>
          <a:p>
            <a:pPr>
              <a:defRPr sz="4400" b="1">
                <a:solidFill>
                  <a:srgbClr val="FFFFFF"/>
                </a:solidFill>
              </a:defRPr>
            </a:pPr>
            <a:r>
              <a:t>PART 4: CLIMAX - "Controlling Body Roll</a:t>
            </a:r>
          </a:p>
        </p:txBody>
      </p:sp>
      <p:sp>
        <p:nvSpPr>
          <p:cNvPr id="3" name="Subtitle 2"/>
          <p:cNvSpPr>
            <a:spLocks noGrp="1"/>
          </p:cNvSpPr>
          <p:nvPr>
            <p:ph type="subTitle" idx="1"/>
          </p:nvPr>
        </p:nvSpPr>
        <p:spPr/>
        <p:txBody>
          <a:bodyPr/>
          <a:lstStyle/>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The Body Roll Problem</a:t>
            </a:r>
          </a:p>
        </p:txBody>
      </p:sp>
      <p:sp>
        <p:nvSpPr>
          <p:cNvPr id="3" name="Content Placeholder 2"/>
          <p:cNvSpPr>
            <a:spLocks noGrp="1"/>
          </p:cNvSpPr>
          <p:nvPr>
            <p:ph idx="1"/>
          </p:nvPr>
        </p:nvSpPr>
        <p:spPr/>
        <p:txBody>
          <a:bodyPr/>
          <a:lstStyle/>
          <a:p>
            <a:pPr>
              <a:spcAft>
                <a:spcPts val="1000"/>
              </a:spcAft>
              <a:defRPr sz="1800">
                <a:solidFill>
                  <a:srgbClr val="333333"/>
                </a:solidFill>
              </a:defRPr>
            </a:pPr>
            <a:r>
              <a:t>Instructor Narration:</a:t>
            </a:r>
          </a:p>
          <a:p>
            <a:pPr>
              <a:spcAft>
                <a:spcPts val="1000"/>
              </a:spcAft>
              <a:defRPr sz="1800">
                <a:solidFill>
                  <a:srgbClr val="333333"/>
                </a:solidFill>
              </a:defRPr>
            </a:pPr>
            <a:r>
              <a:t>We've covered springs and dampers for vertical motion. But there's another critical motion: ROLL (body rotation around longitudinal axis during cornering).</a:t>
            </a:r>
          </a:p>
          <a:p>
            <a:pPr>
              <a:spcAft>
                <a:spcPts val="1000"/>
              </a:spcAft>
              <a:defRPr sz="1800">
                <a:solidFill>
                  <a:srgbClr val="333333"/>
                </a:solidFill>
              </a:defRPr>
            </a:pPr>
            <a:r>
              <a:t>The Problem:</a:t>
            </a:r>
          </a:p>
          <a:p>
            <a:pPr>
              <a:spcAft>
                <a:spcPts val="1000"/>
              </a:spcAft>
              <a:defRPr sz="1800">
                <a:solidFill>
                  <a:srgbClr val="333333"/>
                </a:solidFill>
              </a:defRPr>
            </a:pPr>
            <a:r>
              <a:t>From Session 9, we calculated lateral load transfer:</a:t>
            </a:r>
          </a:p>
          <a:p>
            <a:pPr>
              <a:defRPr sz="1400">
                <a:solidFill>
                  <a:srgbClr val="787878"/>
                </a:solidFill>
                <a:latin typeface="Consolas"/>
              </a:defRPr>
            </a:pPr>
            <a:r>
              <a:t>ΔW_lat = (m × a_lat × h) / t</a:t>
            </a:r>
          </a:p>
          <a:p>
            <a:pPr>
              <a:spcAft>
                <a:spcPts val="1000"/>
              </a:spcAft>
              <a:defRPr sz="1800">
                <a:solidFill>
                  <a:srgbClr val="333333"/>
                </a:solidFill>
              </a:defRPr>
            </a:pPr>
            <a:r>
              <a:t>This load transfer creates body roll. The outside suspension compresses, inside suspension extends, and the body tilts.</a:t>
            </a:r>
          </a:p>
          <a:p>
            <a:pPr>
              <a:spcAft>
                <a:spcPts val="1000"/>
              </a:spcAft>
              <a:defRPr sz="1800">
                <a:solidFill>
                  <a:srgbClr val="333333"/>
                </a:solidFill>
              </a:defRPr>
            </a:pPr>
            <a:r>
              <a:t>Body Roll Angle (φ):</a:t>
            </a:r>
          </a:p>
          <a:p>
            <a:pPr>
              <a:spcAft>
                <a:spcPts val="1000"/>
              </a:spcAft>
              <a:defRPr sz="1800">
                <a:solidFill>
                  <a:srgbClr val="333333"/>
                </a:solidFill>
              </a:defRPr>
            </a:pPr>
            <a:r>
              <a:t>Simplified:</a:t>
            </a:r>
          </a:p>
          <a:p>
            <a:pPr>
              <a:defRPr sz="1400">
                <a:solidFill>
                  <a:srgbClr val="787878"/>
                </a:solidFill>
                <a:latin typeface="Consolas"/>
              </a:defRPr>
            </a:pPr>
            <a:r>
              <a:t>φ ≈ (m × a_lat × h) / (K_roll × t)</a:t>
            </a:r>
            <a:br/>
            <a:br/>
            <a:r>
              <a:t>Where:</a:t>
            </a:r>
            <a:br/>
            <a:r>
              <a:t>K_roll = Total roll stiffness (Nm/rad)</a:t>
            </a:r>
          </a:p>
          <a:p>
            <a:pPr>
              <a:spcAft>
                <a:spcPts val="1000"/>
              </a:spcAft>
              <a:defRPr sz="1800">
                <a:solidFill>
                  <a:srgbClr val="333333"/>
                </a:solidFill>
              </a:defRPr>
            </a:pPr>
            <a:r>
              <a:t>Springs alone provide roll stiffness:</a:t>
            </a:r>
          </a:p>
          <a:p>
            <a:pPr>
              <a:defRPr sz="1400">
                <a:solidFill>
                  <a:srgbClr val="787878"/>
                </a:solidFill>
                <a:latin typeface="Consolas"/>
              </a:defRPr>
            </a:pPr>
            <a:r>
              <a:t>K_roll,springs = (k_left + k_right) × (t/2)²</a:t>
            </a:r>
            <a:br/>
            <a:br/>
            <a:r>
              <a:t>For typical car:</a:t>
            </a:r>
            <a:br/>
            <a:r>
              <a:t>k = 25,000 N/m per side</a:t>
            </a:r>
            <a:br/>
            <a:r>
              <a:t>t = 1.5 m</a:t>
            </a:r>
            <a:br/>
            <a:r>
              <a:t>K_roll,springs = (25,000 + 25,000) × (1.5/2)²</a:t>
            </a:r>
            <a:br/>
            <a:r>
              <a:t>               = 50,000 × 0.5625</a:t>
            </a:r>
            <a:br/>
            <a:r>
              <a:t>               = 28,125 Nm/rad</a:t>
            </a:r>
          </a:p>
          <a:p>
            <a:pPr>
              <a:spcAft>
                <a:spcPts val="1000"/>
              </a:spcAft>
              <a:defRPr sz="1800">
                <a:solidFill>
                  <a:srgbClr val="333333"/>
                </a:solidFill>
              </a:defRPr>
            </a:pPr>
            <a:r>
              <a:t>Problem with Spring-Only Roll Stiffness:</a:t>
            </a:r>
          </a:p>
          <a:p>
            <a:pPr>
              <a:spcAft>
                <a:spcPts val="1000"/>
              </a:spcAft>
              <a:defRPr sz="1800">
                <a:solidFill>
                  <a:srgbClr val="333333"/>
                </a:solidFill>
              </a:defRPr>
            </a:pPr>
            <a:r>
              <a:t>Example: 0.5g corner (moderate spirited driving)</a:t>
            </a:r>
          </a:p>
          <a:p>
            <a:pPr>
              <a:spcAft>
                <a:spcPts val="600"/>
              </a:spcAft>
              <a:defRPr sz="1800">
                <a:solidFill>
                  <a:srgbClr val="333333"/>
                </a:solidFill>
              </a:defRPr>
            </a:pPr>
            <a:r>
              <a:t>m = 1,300 kg, h = 0.55 m, t = 1.5 m</a:t>
            </a:r>
          </a:p>
          <a:p>
            <a:pPr>
              <a:spcAft>
                <a:spcPts val="600"/>
              </a:spcAft>
              <a:defRPr sz="1800">
                <a:solidFill>
                  <a:srgbClr val="333333"/>
                </a:solidFill>
              </a:defRPr>
            </a:pPr>
            <a:r>
              <a:t>a_lat = 0.5 × 9.81 = 4.905 m/s²</a:t>
            </a:r>
          </a:p>
          <a:p>
            <a:pPr>
              <a:defRPr sz="1400">
                <a:solidFill>
                  <a:srgbClr val="787878"/>
                </a:solidFill>
                <a:latin typeface="Consolas"/>
              </a:defRPr>
            </a:pPr>
            <a:r>
              <a:t>φ = (1,300 × 4.905 × 0.55) / (28,125 × 1.5)</a:t>
            </a:r>
            <a:br/>
            <a:r>
              <a:t>  = 3,504 / 42,188</a:t>
            </a:r>
            <a:br/>
            <a:r>
              <a:t>  = 0.083 rad</a:t>
            </a:r>
            <a:br/>
            <a:r>
              <a:t>  = 4.8°</a:t>
            </a:r>
          </a:p>
          <a:p>
            <a:pPr>
              <a:spcAft>
                <a:spcPts val="1000"/>
              </a:spcAft>
              <a:defRPr sz="1800">
                <a:solidFill>
                  <a:srgbClr val="333333"/>
                </a:solidFill>
              </a:defRPr>
            </a:pPr>
            <a:r>
              <a:t>4.8° of body roll might seem small, but: — Passengers feel tilted (uncomfortable)</a:t>
            </a:r>
          </a:p>
          <a:p>
            <a:pPr>
              <a:spcAft>
                <a:spcPts val="600"/>
              </a:spcAft>
              <a:defRPr sz="1800">
                <a:solidFill>
                  <a:srgbClr val="333333"/>
                </a:solidFill>
              </a:defRPr>
            </a:pPr>
            <a:r>
              <a:t>Tire camber changes significantly (reduced contact patch)</a:t>
            </a:r>
          </a:p>
          <a:p>
            <a:pPr>
              <a:spcAft>
                <a:spcPts val="600"/>
              </a:spcAft>
              <a:defRPr sz="1800">
                <a:solidFill>
                  <a:srgbClr val="333333"/>
                </a:solidFill>
              </a:defRPr>
            </a:pPr>
            <a:r>
              <a:t>Outside suspension compresses significantly (approaching bump stop)</a:t>
            </a:r>
          </a:p>
          <a:p>
            <a:pPr>
              <a:spcAft>
                <a:spcPts val="600"/>
              </a:spcAft>
              <a:defRPr sz="1800">
                <a:solidFill>
                  <a:srgbClr val="333333"/>
                </a:solidFill>
              </a:defRPr>
            </a:pPr>
            <a:r>
              <a:t>Inside suspension extends (reduced load, reduced grip)</a:t>
            </a:r>
          </a:p>
          <a:p>
            <a:pPr>
              <a:spcAft>
                <a:spcPts val="1000"/>
              </a:spcAft>
              <a:defRPr sz="1800">
                <a:solidFill>
                  <a:srgbClr val="333333"/>
                </a:solidFill>
              </a:defRPr>
            </a:pPr>
            <a:r>
              <a:t>What if we just make springs stiffer?</a:t>
            </a:r>
          </a:p>
          <a:p>
            <a:pPr>
              <a:spcAft>
                <a:spcPts val="1000"/>
              </a:spcAft>
              <a:defRPr sz="1800">
                <a:solidFill>
                  <a:srgbClr val="333333"/>
                </a:solidFill>
              </a:defRPr>
            </a:pPr>
            <a:r>
              <a:t>Double spring stiffness: k = 50,000 N/m</a:t>
            </a:r>
          </a:p>
          <a:p>
            <a:pPr>
              <a:spcAft>
                <a:spcPts val="600"/>
              </a:spcAft>
              <a:defRPr sz="1800">
                <a:solidFill>
                  <a:srgbClr val="333333"/>
                </a:solidFill>
              </a:defRPr>
            </a:pPr>
            <a:r>
              <a:t>K_roll,new = 56,250 Nm/rad</a:t>
            </a:r>
          </a:p>
          <a:p>
            <a:pPr>
              <a:spcAft>
                <a:spcPts val="600"/>
              </a:spcAft>
              <a:defRPr sz="1800">
                <a:solidFill>
                  <a:srgbClr val="333333"/>
                </a:solidFill>
              </a:defRPr>
            </a:pPr>
            <a:r>
              <a:t>φ_new = 2.4° (half the roll) ✅</a:t>
            </a:r>
          </a:p>
          <a:p>
            <a:pPr>
              <a:spcAft>
                <a:spcPts val="1000"/>
              </a:spcAft>
              <a:defRPr sz="1800">
                <a:solidFill>
                  <a:srgbClr val="333333"/>
                </a:solidFill>
              </a:defRPr>
            </a:pPr>
            <a:r>
              <a:t>BUT:</a:t>
            </a:r>
          </a:p>
          <a:p>
            <a:pPr>
              <a:spcAft>
                <a:spcPts val="600"/>
              </a:spcAft>
              <a:defRPr sz="1800">
                <a:solidFill>
                  <a:srgbClr val="333333"/>
                </a:solidFill>
              </a:defRPr>
            </a:pPr>
            <a:r>
              <a:t>Natural frequency: f_n = √(50,000/325) / 2π = 1.98 Hz ❌ (too harsh!)</a:t>
            </a:r>
          </a:p>
          <a:p>
            <a:pPr>
              <a:spcAft>
                <a:spcPts val="600"/>
              </a:spcAft>
              <a:defRPr sz="1800">
                <a:solidFill>
                  <a:srgbClr val="333333"/>
                </a:solidFill>
              </a:defRPr>
            </a:pPr>
            <a:r>
              <a:t>Ride quality destroyed</a:t>
            </a:r>
          </a:p>
          <a:p>
            <a:pPr>
              <a:spcAft>
                <a:spcPts val="1000"/>
              </a:spcAft>
              <a:defRPr sz="1800">
                <a:solidFill>
                  <a:srgbClr val="333333"/>
                </a:solidFill>
              </a:defRPr>
            </a:pPr>
            <a:r>
              <a:t>The Dilemma:</a:t>
            </a:r>
          </a:p>
          <a:p>
            <a:pPr>
              <a:spcAft>
                <a:spcPts val="1000"/>
              </a:spcAft>
              <a:defRPr sz="1800">
                <a:solidFill>
                  <a:srgbClr val="333333"/>
                </a:solidFill>
              </a:defRPr>
            </a:pPr>
            <a:r>
              <a:t>We need soft springs (for ride comfort) but high roll stiffness (for handling).</a:t>
            </a:r>
          </a:p>
          <a:p>
            <a:pPr>
              <a:spcAft>
                <a:spcPts val="1000"/>
              </a:spcAft>
              <a:defRPr sz="1800">
                <a:solidFill>
                  <a:srgbClr val="333333"/>
                </a:solidFill>
              </a:defRPr>
            </a:pPr>
            <a:r>
              <a:t>How do we increase roll stiffness without stiffening the springs?</a:t>
            </a:r>
          </a:p>
          <a:p>
            <a:pPr>
              <a:spcAft>
                <a:spcPts val="1000"/>
              </a:spcAft>
              <a:defRPr sz="1800">
                <a:solidFill>
                  <a:srgbClr val="333333"/>
                </a:solidFill>
              </a:defRPr>
            </a:pPr>
            <a:r>
              <a:t>Answer: Anti-Roll Bar</a:t>
            </a:r>
          </a:p>
          <a:p>
            <a:pPr>
              <a:spcAft>
                <a:spcPts val="1000"/>
              </a:spcAft>
              <a:defRPr sz="1800">
                <a:solidFill>
                  <a:srgbClr val="333333"/>
                </a:solidFill>
              </a:defRPr>
            </a:pPr>
            <a:r>
              <a:t>Instructor Narration (continued):</a:t>
            </a:r>
          </a:p>
          <a:p>
            <a:pPr>
              <a:spcAft>
                <a:spcPts val="1000"/>
              </a:spcAft>
              <a:defRPr sz="1800">
                <a:solidFill>
                  <a:srgbClr val="333333"/>
                </a:solidFill>
              </a:defRPr>
            </a:pPr>
            <a:r>
              <a:t>This is the genius of the anti-roll bar. It adds roll stiffness without changing vertical ride quality. It's a mechanical way to decouple two conflicting requirements.</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Anti-Roll Bar (Stabilizer Bar) - The Clever Solution</a:t>
            </a:r>
          </a:p>
        </p:txBody>
      </p:sp>
      <p:sp>
        <p:nvSpPr>
          <p:cNvPr id="3" name="Content Placeholder 2"/>
          <p:cNvSpPr>
            <a:spLocks noGrp="1"/>
          </p:cNvSpPr>
          <p:nvPr>
            <p:ph idx="1"/>
          </p:nvPr>
        </p:nvSpPr>
        <p:spPr/>
        <p:txBody>
          <a:bodyPr/>
          <a:lstStyle/>
          <a:p>
            <a:pPr>
              <a:spcAft>
                <a:spcPts val="1000"/>
              </a:spcAft>
              <a:defRPr sz="1800">
                <a:solidFill>
                  <a:srgbClr val="333333"/>
                </a:solidFill>
              </a:defRPr>
            </a:pPr>
            <a:r>
              <a:t>Instructor Narration:</a:t>
            </a:r>
          </a:p>
          <a:p>
            <a:pPr>
              <a:spcAft>
                <a:spcPts val="1000"/>
              </a:spcAft>
              <a:defRPr sz="1800">
                <a:solidFill>
                  <a:srgbClr val="333333"/>
                </a:solidFill>
              </a:defRPr>
            </a:pPr>
            <a:r>
              <a:t>The anti-roll bar (also called stabilizer bar or sway bar) is a brilliant mechanical solution.</a:t>
            </a:r>
          </a:p>
          <a:p>
            <a:pPr>
              <a:spcAft>
                <a:spcPts val="1000"/>
              </a:spcAft>
              <a:defRPr sz="1800">
                <a:solidFill>
                  <a:srgbClr val="333333"/>
                </a:solidFill>
              </a:defRPr>
            </a:pPr>
            <a:r>
              <a:t>Design:</a:t>
            </a:r>
          </a:p>
          <a:p>
            <a:pPr>
              <a:spcAft>
                <a:spcPts val="1000"/>
              </a:spcAft>
              <a:defRPr sz="1800">
                <a:solidFill>
                  <a:srgbClr val="333333"/>
                </a:solidFill>
              </a:defRPr>
            </a:pPr>
            <a:r>
              <a:t>Components:</a:t>
            </a:r>
          </a:p>
          <a:p>
            <a:pPr>
              <a:spcAft>
                <a:spcPts val="600"/>
              </a:spcAft>
              <a:defRPr sz="1800">
                <a:solidFill>
                  <a:srgbClr val="333333"/>
                </a:solidFill>
              </a:defRPr>
            </a:pPr>
            <a:r>
              <a:t>Torsion bar (U-shaped or straight bar, steel, diameter 20-30 mm)</a:t>
            </a:r>
          </a:p>
          <a:p>
            <a:pPr>
              <a:spcAft>
                <a:spcPts val="600"/>
              </a:spcAft>
              <a:defRPr sz="1800">
                <a:solidFill>
                  <a:srgbClr val="333333"/>
                </a:solidFill>
              </a:defRPr>
            </a:pPr>
            <a:r>
              <a:t>Center section mounts to chassis with rubber bushings (allows rotation)</a:t>
            </a:r>
          </a:p>
          <a:p>
            <a:pPr>
              <a:spcAft>
                <a:spcPts val="600"/>
              </a:spcAft>
              <a:defRPr sz="1800">
                <a:solidFill>
                  <a:srgbClr val="333333"/>
                </a:solidFill>
              </a:defRPr>
            </a:pPr>
            <a:r>
              <a:t>Ends connect to left and right suspension (via drop links)</a:t>
            </a:r>
          </a:p>
          <a:p>
            <a:pPr>
              <a:spcAft>
                <a:spcPts val="600"/>
              </a:spcAft>
              <a:defRPr sz="1800">
                <a:solidFill>
                  <a:srgbClr val="333333"/>
                </a:solidFill>
              </a:defRPr>
            </a:pPr>
            <a:r>
              <a:t>Drop links (short links with ball joints)</a:t>
            </a:r>
          </a:p>
          <a:p>
            <a:pPr>
              <a:spcAft>
                <a:spcPts val="600"/>
              </a:spcAft>
              <a:defRPr sz="1800">
                <a:solidFill>
                  <a:srgbClr val="333333"/>
                </a:solidFill>
              </a:defRPr>
            </a:pPr>
            <a:r>
              <a:t>Connect bar ends to lower control arms or struts</a:t>
            </a:r>
          </a:p>
          <a:p>
            <a:pPr>
              <a:spcAft>
                <a:spcPts val="1000"/>
              </a:spcAft>
              <a:defRPr sz="1800">
                <a:solidFill>
                  <a:srgbClr val="333333"/>
                </a:solidFill>
              </a:defRPr>
            </a:pPr>
            <a:r>
              <a:t>How It Works:</a:t>
            </a:r>
          </a:p>
          <a:p>
            <a:pPr>
              <a:spcAft>
                <a:spcPts val="1000"/>
              </a:spcAft>
              <a:defRPr sz="1800">
                <a:solidFill>
                  <a:srgbClr val="333333"/>
                </a:solidFill>
              </a:defRPr>
            </a:pPr>
            <a:r>
              <a:t>Scenario 1: Both wheels hit same bump (vertical motion together) — Left wheel: Up 50 mm → pulls left end of bar UP</a:t>
            </a:r>
          </a:p>
          <a:p>
            <a:pPr>
              <a:spcAft>
                <a:spcPts val="600"/>
              </a:spcAft>
              <a:defRPr sz="1800">
                <a:solidFill>
                  <a:srgbClr val="333333"/>
                </a:solidFill>
              </a:defRPr>
            </a:pPr>
            <a:r>
              <a:t>Right wheel: Up 50 mm → pulls right end of bar UP</a:t>
            </a:r>
          </a:p>
          <a:p>
            <a:pPr>
              <a:spcAft>
                <a:spcPts val="600"/>
              </a:spcAft>
              <a:defRPr sz="1800">
                <a:solidFill>
                  <a:srgbClr val="333333"/>
                </a:solidFill>
              </a:defRPr>
            </a:pPr>
            <a:r>
              <a:t>Bar rotates in bushings (no twist in the bar itself)</a:t>
            </a:r>
          </a:p>
          <a:p>
            <a:pPr>
              <a:spcAft>
                <a:spcPts val="600"/>
              </a:spcAft>
              <a:defRPr sz="1800">
                <a:solidFill>
                  <a:srgbClr val="333333"/>
                </a:solidFill>
              </a:defRPr>
            </a:pPr>
            <a:r>
              <a:t>Bar provides NO resistance (free to rotate)</a:t>
            </a:r>
          </a:p>
          <a:p>
            <a:pPr>
              <a:spcAft>
                <a:spcPts val="600"/>
              </a:spcAft>
              <a:defRPr sz="1800">
                <a:solidFill>
                  <a:srgbClr val="333333"/>
                </a:solidFill>
              </a:defRPr>
            </a:pPr>
            <a:r>
              <a:t>Springs and dampers handle the bump normally</a:t>
            </a:r>
          </a:p>
          <a:p>
            <a:pPr>
              <a:spcAft>
                <a:spcPts val="600"/>
              </a:spcAft>
              <a:defRPr sz="1800">
                <a:solidFill>
                  <a:srgbClr val="333333"/>
                </a:solidFill>
              </a:defRPr>
            </a:pPr>
            <a:r>
              <a:t>Vertical ride quality unchanged ✅</a:t>
            </a:r>
          </a:p>
          <a:p>
            <a:pPr>
              <a:spcAft>
                <a:spcPts val="1000"/>
              </a:spcAft>
              <a:defRPr sz="1800">
                <a:solidFill>
                  <a:srgbClr val="333333"/>
                </a:solidFill>
              </a:defRPr>
            </a:pPr>
            <a:r>
              <a:t>Scenario 2: Body roll (left wheel compresses, right wheel extends) — Left wheel: Up 30 mm → pulls left end of bar UP</a:t>
            </a:r>
          </a:p>
          <a:p>
            <a:pPr>
              <a:spcAft>
                <a:spcPts val="600"/>
              </a:spcAft>
              <a:defRPr sz="1800">
                <a:solidFill>
                  <a:srgbClr val="333333"/>
                </a:solidFill>
              </a:defRPr>
            </a:pPr>
            <a:r>
              <a:t>Right wheel: Down 30 mm → pulls right end of bar DOWN</a:t>
            </a:r>
          </a:p>
          <a:p>
            <a:pPr>
              <a:spcAft>
                <a:spcPts val="600"/>
              </a:spcAft>
              <a:defRPr sz="1800">
                <a:solidFill>
                  <a:srgbClr val="333333"/>
                </a:solidFill>
              </a:defRPr>
            </a:pPr>
            <a:r>
              <a:t>Bar must twist (left end up, right end down)</a:t>
            </a:r>
          </a:p>
          <a:p>
            <a:pPr>
              <a:spcAft>
                <a:spcPts val="600"/>
              </a:spcAft>
              <a:defRPr sz="1800">
                <a:solidFill>
                  <a:srgbClr val="333333"/>
                </a:solidFill>
              </a:defRPr>
            </a:pPr>
            <a:r>
              <a:t>Bar resists twist (torsion spring)</a:t>
            </a:r>
          </a:p>
          <a:p>
            <a:pPr>
              <a:spcAft>
                <a:spcPts val="600"/>
              </a:spcAft>
              <a:defRPr sz="1800">
                <a:solidFill>
                  <a:srgbClr val="333333"/>
                </a:solidFill>
              </a:defRPr>
            </a:pPr>
            <a:r>
              <a:t>Provides additional roll stiffness — Roll reduced ✅</a:t>
            </a:r>
          </a:p>
          <a:p>
            <a:pPr>
              <a:spcAft>
                <a:spcPts val="1000"/>
              </a:spcAft>
              <a:defRPr sz="1800">
                <a:solidFill>
                  <a:srgbClr val="333333"/>
                </a:solidFill>
              </a:defRPr>
            </a:pPr>
            <a:r>
              <a:t>The Magic:</a:t>
            </a:r>
          </a:p>
          <a:p>
            <a:pPr>
              <a:spcAft>
                <a:spcPts val="1000"/>
              </a:spcAft>
              <a:defRPr sz="1800">
                <a:solidFill>
                  <a:srgbClr val="333333"/>
                </a:solidFill>
              </a:defRPr>
            </a:pPr>
            <a:r>
              <a:t>The bar can distinguish between:</a:t>
            </a:r>
          </a:p>
          <a:p>
            <a:pPr>
              <a:spcAft>
                <a:spcPts val="600"/>
              </a:spcAft>
              <a:defRPr sz="1800">
                <a:solidFill>
                  <a:srgbClr val="333333"/>
                </a:solidFill>
              </a:defRPr>
            </a:pPr>
            <a:r>
              <a:t>Parallel wheel motion (both up/down together) → No resistance</a:t>
            </a:r>
          </a:p>
          <a:p>
            <a:pPr>
              <a:spcAft>
                <a:spcPts val="600"/>
              </a:spcAft>
              <a:defRPr sz="1800">
                <a:solidFill>
                  <a:srgbClr val="333333"/>
                </a:solidFill>
              </a:defRPr>
            </a:pPr>
            <a:r>
              <a:t>Opposite wheel motion (roll) → Strong resistance</a:t>
            </a:r>
          </a:p>
          <a:p>
            <a:pPr>
              <a:spcAft>
                <a:spcPts val="1000"/>
              </a:spcAft>
              <a:defRPr sz="1800">
                <a:solidFill>
                  <a:srgbClr val="333333"/>
                </a:solidFill>
              </a:defRPr>
            </a:pPr>
            <a:r>
              <a:t>Roll Stiffness Contribution:</a:t>
            </a:r>
          </a:p>
          <a:p>
            <a:pPr>
              <a:spcAft>
                <a:spcPts val="1000"/>
              </a:spcAft>
              <a:defRPr sz="1800">
                <a:solidFill>
                  <a:srgbClr val="333333"/>
                </a:solidFill>
              </a:defRPr>
            </a:pPr>
            <a:r>
              <a:t>Anti-roll bar adds roll stiffness:</a:t>
            </a:r>
          </a:p>
          <a:p>
            <a:pPr>
              <a:defRPr sz="1400">
                <a:solidFill>
                  <a:srgbClr val="787878"/>
                </a:solidFill>
                <a:latin typeface="Consolas"/>
              </a:defRPr>
            </a:pPr>
            <a:r>
              <a:t>K_roll,ARB = (G × π × r⁴) / (2 × L × l²)</a:t>
            </a:r>
            <a:br/>
            <a:br/>
            <a:r>
              <a:t>Where:</a:t>
            </a:r>
            <a:br/>
            <a:r>
              <a:t>G = Shear modulus (79,000 MPa for steel)</a:t>
            </a:r>
            <a:br/>
            <a:r>
              <a:t>r = Bar radius (m)</a:t>
            </a:r>
            <a:br/>
            <a:r>
              <a:t>L = Length of straight section being twisted (m)</a:t>
            </a:r>
            <a:br/>
            <a:r>
              <a:t>l = Drop link length (effective lever arm, m)</a:t>
            </a:r>
          </a:p>
          <a:p>
            <a:pPr>
              <a:spcAft>
                <a:spcPts val="1000"/>
              </a:spcAft>
              <a:defRPr sz="1800">
                <a:solidFill>
                  <a:srgbClr val="333333"/>
                </a:solidFill>
              </a:defRPr>
            </a:pPr>
            <a:r>
              <a:t>Example: — Bar diameter: 25 mm (r = 0.0125 m)</a:t>
            </a:r>
          </a:p>
          <a:p>
            <a:pPr>
              <a:spcAft>
                <a:spcPts val="600"/>
              </a:spcAft>
              <a:defRPr sz="1800">
                <a:solidFill>
                  <a:srgbClr val="333333"/>
                </a:solidFill>
              </a:defRPr>
            </a:pPr>
            <a:r>
              <a:t>Twist length: 1.0 m</a:t>
            </a:r>
          </a:p>
          <a:p>
            <a:pPr>
              <a:spcAft>
                <a:spcPts val="600"/>
              </a:spcAft>
              <a:defRPr sz="1800">
                <a:solidFill>
                  <a:srgbClr val="333333"/>
                </a:solidFill>
              </a:defRPr>
            </a:pPr>
            <a:r>
              <a:t>Drop link length: 0.15 m</a:t>
            </a:r>
          </a:p>
          <a:p>
            <a:pPr>
              <a:defRPr sz="1400">
                <a:solidFill>
                  <a:srgbClr val="787878"/>
                </a:solidFill>
                <a:latin typeface="Consolas"/>
              </a:defRPr>
            </a:pPr>
            <a:r>
              <a:t>K_roll,ARB = (79,000 × 10⁶ × π × 0.0125⁴) / (2 × 1.0 × 0.15²)</a:t>
            </a:r>
            <a:br/>
            <a:r>
              <a:t>           = (79,000 × 10⁶ × 3.068 × 10⁻⁸) / (0.045)</a:t>
            </a:r>
            <a:br/>
            <a:r>
              <a:t>           = 2,423 / 0.045</a:t>
            </a:r>
            <a:br/>
            <a:r>
              <a:t>           = 53,844 Nm/rad</a:t>
            </a:r>
          </a:p>
          <a:p>
            <a:pPr>
              <a:spcAft>
                <a:spcPts val="1000"/>
              </a:spcAft>
              <a:defRPr sz="1800">
                <a:solidFill>
                  <a:srgbClr val="333333"/>
                </a:solidFill>
              </a:defRPr>
            </a:pPr>
            <a:r>
              <a:t>Total Roll Stiffness:</a:t>
            </a:r>
          </a:p>
          <a:p>
            <a:pPr>
              <a:defRPr sz="1400">
                <a:solidFill>
                  <a:srgbClr val="787878"/>
                </a:solidFill>
                <a:latin typeface="Consolas"/>
              </a:defRPr>
            </a:pPr>
            <a:r>
              <a:t>K_roll,total = K_roll,springs + K_roll,ARB</a:t>
            </a:r>
            <a:br/>
            <a:r>
              <a:t>             = 28,125 + 53,844</a:t>
            </a:r>
            <a:br/>
            <a:r>
              <a:t>             = 81,969 Nm/rad</a:t>
            </a:r>
          </a:p>
          <a:p>
            <a:pPr>
              <a:spcAft>
                <a:spcPts val="1000"/>
              </a:spcAft>
              <a:defRPr sz="1800">
                <a:solidFill>
                  <a:srgbClr val="333333"/>
                </a:solidFill>
              </a:defRPr>
            </a:pPr>
            <a:r>
              <a:t>New body roll angle:</a:t>
            </a:r>
          </a:p>
          <a:p>
            <a:pPr>
              <a:defRPr sz="1400">
                <a:solidFill>
                  <a:srgbClr val="787878"/>
                </a:solidFill>
                <a:latin typeface="Consolas"/>
              </a:defRPr>
            </a:pPr>
            <a:r>
              <a:t>φ_new = 3,504 / (81,969 × 1.5)</a:t>
            </a:r>
            <a:br/>
            <a:r>
              <a:t>      = 3,504 / 122,954</a:t>
            </a:r>
            <a:br/>
            <a:r>
              <a:t>      = 0.0285 rad</a:t>
            </a:r>
            <a:br/>
            <a:r>
              <a:t>      = 1.63°</a:t>
            </a:r>
          </a:p>
          <a:p>
            <a:pPr>
              <a:spcAft>
                <a:spcPts val="1000"/>
              </a:spcAft>
              <a:defRPr sz="1800">
                <a:solidFill>
                  <a:srgbClr val="333333"/>
                </a:solidFill>
              </a:defRPr>
            </a:pPr>
            <a:r>
              <a:t>Result: — Before ARB: 4.8° roll, soft ride (f_n = 1.4 Hz)</a:t>
            </a:r>
          </a:p>
          <a:p>
            <a:pPr>
              <a:spcAft>
                <a:spcPts val="600"/>
              </a:spcAft>
              <a:defRPr sz="1800">
                <a:solidFill>
                  <a:srgbClr val="333333"/>
                </a:solidFill>
              </a:defRPr>
            </a:pPr>
            <a:r>
              <a:t>After ARB: 1.63° roll, same soft ride (f_n still 1.4 Hz)</a:t>
            </a:r>
          </a:p>
          <a:p>
            <a:pPr>
              <a:spcAft>
                <a:spcPts val="1000"/>
              </a:spcAft>
              <a:defRPr sz="1800">
                <a:solidFill>
                  <a:srgbClr val="333333"/>
                </a:solidFill>
              </a:defRPr>
            </a:pPr>
            <a:r>
              <a:t>We reduced roll by 66% without touching the springs!</a:t>
            </a:r>
          </a:p>
          <a:p>
            <a:pPr>
              <a:spcAft>
                <a:spcPts val="1000"/>
              </a:spcAft>
              <a:defRPr sz="1800">
                <a:solidFill>
                  <a:srgbClr val="333333"/>
                </a:solidFill>
              </a:defRPr>
            </a:pPr>
            <a:r>
              <a:t>Instructor Narration (continued):</a:t>
            </a:r>
          </a:p>
          <a:p>
            <a:pPr>
              <a:spcAft>
                <a:spcPts val="1000"/>
              </a:spcAft>
              <a:defRPr sz="1800">
                <a:solidFill>
                  <a:srgbClr val="333333"/>
                </a:solidFill>
              </a:defRPr>
            </a:pPr>
            <a:r>
              <a:t>This is why every performance car has thick anti-roll bars. You can have comfortable springs (soft ride) AND flat cornering (stiff roll resistance). The bar only activates during roll, not during normal bumps. It's the closest thing to 'free lunch' in suspension engineering.</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Front vs Rear ARB - Tuning Understeer/Oversteer</a:t>
            </a:r>
          </a:p>
        </p:txBody>
      </p:sp>
      <p:sp>
        <p:nvSpPr>
          <p:cNvPr id="3" name="Content Placeholder 2"/>
          <p:cNvSpPr>
            <a:spLocks noGrp="1"/>
          </p:cNvSpPr>
          <p:nvPr>
            <p:ph idx="1"/>
          </p:nvPr>
        </p:nvSpPr>
        <p:spPr/>
        <p:txBody>
          <a:bodyPr/>
          <a:lstStyle/>
          <a:p>
            <a:pPr>
              <a:spcAft>
                <a:spcPts val="1000"/>
              </a:spcAft>
              <a:defRPr sz="1800">
                <a:solidFill>
                  <a:srgbClr val="333333"/>
                </a:solidFill>
              </a:defRPr>
            </a:pPr>
            <a:r>
              <a:t>Instructor Narration:</a:t>
            </a:r>
          </a:p>
          <a:p>
            <a:pPr>
              <a:spcAft>
                <a:spcPts val="1000"/>
              </a:spcAft>
              <a:defRPr sz="1800">
                <a:solidFill>
                  <a:srgbClr val="333333"/>
                </a:solidFill>
              </a:defRPr>
            </a:pPr>
            <a:r>
              <a:t>Here's where anti-roll bars become a handling tuning tool.</a:t>
            </a:r>
          </a:p>
          <a:p>
            <a:pPr>
              <a:spcAft>
                <a:spcPts val="1000"/>
              </a:spcAft>
              <a:defRPr sz="1800">
                <a:solidFill>
                  <a:srgbClr val="333333"/>
                </a:solidFill>
              </a:defRPr>
            </a:pPr>
            <a:r>
              <a:t>Roll Stiffness Distribution:</a:t>
            </a:r>
          </a:p>
          <a:p>
            <a:pPr>
              <a:spcAft>
                <a:spcPts val="1000"/>
              </a:spcAft>
              <a:defRPr sz="1800">
                <a:solidFill>
                  <a:srgbClr val="333333"/>
                </a:solidFill>
              </a:defRPr>
            </a:pPr>
            <a:r>
              <a:t>If we add different-sized ARBs front and rear, we change how load transfers between axles.</a:t>
            </a:r>
          </a:p>
          <a:p>
            <a:pPr>
              <a:spcAft>
                <a:spcPts val="1000"/>
              </a:spcAft>
              <a:defRPr sz="1800">
                <a:solidFill>
                  <a:srgbClr val="333333"/>
                </a:solidFill>
              </a:defRPr>
            </a:pPr>
            <a:r>
              <a:t>Key Principle:</a:t>
            </a:r>
          </a:p>
          <a:p>
            <a:pPr>
              <a:spcAft>
                <a:spcPts val="1000"/>
              </a:spcAft>
              <a:defRPr sz="1800">
                <a:solidFill>
                  <a:srgbClr val="333333"/>
                </a:solidFill>
              </a:defRPr>
            </a:pPr>
            <a:r>
              <a:t>The axle with higher roll stiffness will transfer MORE load during cornering.</a:t>
            </a:r>
          </a:p>
          <a:p>
            <a:pPr>
              <a:spcAft>
                <a:spcPts val="1000"/>
              </a:spcAft>
              <a:defRPr sz="1800">
                <a:solidFill>
                  <a:srgbClr val="333333"/>
                </a:solidFill>
              </a:defRPr>
            </a:pPr>
            <a:r>
              <a:t>Scenario 1: Stiffer Front ARB — Front roll stiffness: 60% of total</a:t>
            </a:r>
          </a:p>
          <a:p>
            <a:pPr>
              <a:spcAft>
                <a:spcPts val="600"/>
              </a:spcAft>
              <a:defRPr sz="1800">
                <a:solidFill>
                  <a:srgbClr val="333333"/>
                </a:solidFill>
              </a:defRPr>
            </a:pPr>
            <a:r>
              <a:t>Rear roll stiffness: 40% of total</a:t>
            </a:r>
          </a:p>
          <a:p>
            <a:pPr>
              <a:spcAft>
                <a:spcPts val="1000"/>
              </a:spcAft>
              <a:defRPr sz="1800">
                <a:solidFill>
                  <a:srgbClr val="333333"/>
                </a:solidFill>
              </a:defRPr>
            </a:pPr>
            <a:r>
              <a:t>During cornering:</a:t>
            </a:r>
          </a:p>
          <a:p>
            <a:pPr>
              <a:spcAft>
                <a:spcPts val="600"/>
              </a:spcAft>
              <a:defRPr sz="1800">
                <a:solidFill>
                  <a:srgbClr val="333333"/>
                </a:solidFill>
              </a:defRPr>
            </a:pPr>
            <a:r>
              <a:t>Front axle transfers MORE load (left to right)</a:t>
            </a:r>
          </a:p>
          <a:p>
            <a:pPr>
              <a:spcAft>
                <a:spcPts val="600"/>
              </a:spcAft>
              <a:defRPr sz="1800">
                <a:solidFill>
                  <a:srgbClr val="333333"/>
                </a:solidFill>
              </a:defRPr>
            </a:pPr>
            <a:r>
              <a:t>Front outside tire loaded heavily, inside tire unloaded significantly</a:t>
            </a:r>
          </a:p>
          <a:p>
            <a:pPr>
              <a:spcAft>
                <a:spcPts val="600"/>
              </a:spcAft>
              <a:defRPr sz="1800">
                <a:solidFill>
                  <a:srgbClr val="333333"/>
                </a:solidFill>
              </a:defRPr>
            </a:pPr>
            <a:r>
              <a:t>Front tires lose grip first (outside tire saturated, inside tire barely working)</a:t>
            </a:r>
          </a:p>
          <a:p>
            <a:pPr>
              <a:spcAft>
                <a:spcPts val="600"/>
              </a:spcAft>
              <a:defRPr sz="1800">
                <a:solidFill>
                  <a:srgbClr val="333333"/>
                </a:solidFill>
              </a:defRPr>
            </a:pPr>
            <a:r>
              <a:t>Result: UNDERSTEER (front slides before rear)</a:t>
            </a:r>
          </a:p>
          <a:p>
            <a:pPr>
              <a:spcAft>
                <a:spcPts val="1000"/>
              </a:spcAft>
              <a:defRPr sz="1800">
                <a:solidFill>
                  <a:srgbClr val="333333"/>
                </a:solidFill>
              </a:defRPr>
            </a:pPr>
            <a:r>
              <a:t>Scenario 2: Stiffer Rear ARB — Front roll stiffness: 40% of total</a:t>
            </a:r>
          </a:p>
          <a:p>
            <a:pPr>
              <a:spcAft>
                <a:spcPts val="600"/>
              </a:spcAft>
              <a:defRPr sz="1800">
                <a:solidFill>
                  <a:srgbClr val="333333"/>
                </a:solidFill>
              </a:defRPr>
            </a:pPr>
            <a:r>
              <a:t>Rear roll stiffness: 60% of total</a:t>
            </a:r>
          </a:p>
          <a:p>
            <a:pPr>
              <a:spcAft>
                <a:spcPts val="1000"/>
              </a:spcAft>
              <a:defRPr sz="1800">
                <a:solidFill>
                  <a:srgbClr val="333333"/>
                </a:solidFill>
              </a:defRPr>
            </a:pPr>
            <a:r>
              <a:t>During cornering:</a:t>
            </a:r>
          </a:p>
          <a:p>
            <a:pPr>
              <a:spcAft>
                <a:spcPts val="600"/>
              </a:spcAft>
              <a:defRPr sz="1800">
                <a:solidFill>
                  <a:srgbClr val="333333"/>
                </a:solidFill>
              </a:defRPr>
            </a:pPr>
            <a:r>
              <a:t>Rear axle transfers MORE load (left to right)</a:t>
            </a:r>
          </a:p>
          <a:p>
            <a:pPr>
              <a:spcAft>
                <a:spcPts val="600"/>
              </a:spcAft>
              <a:defRPr sz="1800">
                <a:solidFill>
                  <a:srgbClr val="333333"/>
                </a:solidFill>
              </a:defRPr>
            </a:pPr>
            <a:r>
              <a:t>Rear outside tire loaded heavily, inside tire unloaded significantly</a:t>
            </a:r>
          </a:p>
          <a:p>
            <a:pPr>
              <a:spcAft>
                <a:spcPts val="600"/>
              </a:spcAft>
              <a:defRPr sz="1800">
                <a:solidFill>
                  <a:srgbClr val="333333"/>
                </a:solidFill>
              </a:defRPr>
            </a:pPr>
            <a:r>
              <a:t>Rear tires lose grip first — Result: OVERSTEER (rear slides before front)</a:t>
            </a:r>
          </a:p>
          <a:p>
            <a:pPr>
              <a:spcAft>
                <a:spcPts val="1000"/>
              </a:spcAft>
              <a:defRPr sz="1800">
                <a:solidFill>
                  <a:srgbClr val="333333"/>
                </a:solidFill>
              </a:defRPr>
            </a:pPr>
            <a:r>
              <a:t>Roll Stiffness Distribution Targets:</a:t>
            </a:r>
          </a:p>
          <a:p>
            <a:pPr>
              <a:spcAft>
                <a:spcPts val="1000"/>
              </a:spcAft>
              <a:defRPr sz="1800">
                <a:solidFill>
                  <a:srgbClr val="333333"/>
                </a:solidFill>
              </a:defRPr>
            </a:pPr>
            <a:r>
              <a:t>| Vehicle Type | Front % | Rear % | Handling Character |</a:t>
            </a:r>
          </a:p>
          <a:p>
            <a:pPr>
              <a:spcAft>
                <a:spcPts val="1000"/>
              </a:spcAft>
              <a:defRPr sz="1800">
                <a:solidFill>
                  <a:srgbClr val="333333"/>
                </a:solidFill>
              </a:defRPr>
            </a:pPr>
            <a:r>
              <a:t>|--------------|---------|--------|--------------------|</a:t>
            </a:r>
          </a:p>
          <a:p>
            <a:pPr>
              <a:spcAft>
                <a:spcPts val="1000"/>
              </a:spcAft>
              <a:defRPr sz="1800">
                <a:solidFill>
                  <a:srgbClr val="333333"/>
                </a:solidFill>
              </a:defRPr>
            </a:pPr>
            <a:r>
              <a:t>| FWD economy car | 55% | 45% | Mild understeer (safe, predictable) |</a:t>
            </a:r>
          </a:p>
          <a:p>
            <a:pPr>
              <a:spcAft>
                <a:spcPts val="1000"/>
              </a:spcAft>
              <a:defRPr sz="1800">
                <a:solidFill>
                  <a:srgbClr val="333333"/>
                </a:solidFill>
              </a:defRPr>
            </a:pPr>
            <a:r>
              <a:t>| FWD hot hatch | 50% | 50% | Neutral (fun, adjustable) |</a:t>
            </a:r>
          </a:p>
          <a:p>
            <a:pPr>
              <a:spcAft>
                <a:spcPts val="1000"/>
              </a:spcAft>
              <a:defRPr sz="1800">
                <a:solidFill>
                  <a:srgbClr val="333333"/>
                </a:solidFill>
              </a:defRPr>
            </a:pPr>
            <a:r>
              <a:t>| RWD sports car | 45% | 55% | Mild oversteer (tail-happy, exciting) |</a:t>
            </a:r>
          </a:p>
          <a:p>
            <a:pPr>
              <a:spcAft>
                <a:spcPts val="1000"/>
              </a:spcAft>
              <a:defRPr sz="1800">
                <a:solidFill>
                  <a:srgbClr val="333333"/>
                </a:solidFill>
              </a:defRPr>
            </a:pPr>
            <a:r>
              <a:t>| Race car | 40-50% | 50-60% | Adjustable (depends on track, driver preference) |</a:t>
            </a:r>
          </a:p>
          <a:p>
            <a:pPr>
              <a:spcAft>
                <a:spcPts val="1000"/>
              </a:spcAft>
              <a:defRPr sz="1800">
                <a:solidFill>
                  <a:srgbClr val="333333"/>
                </a:solidFill>
              </a:defRPr>
            </a:pPr>
            <a:r>
              <a:t>Tuning Example:</a:t>
            </a:r>
          </a:p>
          <a:p>
            <a:pPr>
              <a:spcAft>
                <a:spcPts val="1000"/>
              </a:spcAft>
              <a:defRPr sz="1800">
                <a:solidFill>
                  <a:srgbClr val="333333"/>
                </a:solidFill>
              </a:defRPr>
            </a:pPr>
            <a:r>
              <a:t>Stock Honda Civic (FWD): — Front ARB: 24 mm diameter → K_front = 45,000 Nm/rad</a:t>
            </a:r>
          </a:p>
          <a:p>
            <a:pPr>
              <a:spcAft>
                <a:spcPts val="600"/>
              </a:spcAft>
              <a:defRPr sz="1800">
                <a:solidFill>
                  <a:srgbClr val="333333"/>
                </a:solidFill>
              </a:defRPr>
            </a:pPr>
            <a:r>
              <a:t>Rear ARB: None → K_rear = 15,000 Nm/rad (springs only)</a:t>
            </a:r>
          </a:p>
          <a:p>
            <a:pPr>
              <a:spcAft>
                <a:spcPts val="600"/>
              </a:spcAft>
              <a:defRPr sz="1800">
                <a:solidFill>
                  <a:srgbClr val="333333"/>
                </a:solidFill>
              </a:defRPr>
            </a:pPr>
            <a:r>
              <a:t>Distribution: 75% front / 25% rear</a:t>
            </a:r>
          </a:p>
          <a:p>
            <a:pPr>
              <a:spcAft>
                <a:spcPts val="600"/>
              </a:spcAft>
              <a:defRPr sz="1800">
                <a:solidFill>
                  <a:srgbClr val="333333"/>
                </a:solidFill>
              </a:defRPr>
            </a:pPr>
            <a:r>
              <a:t>Handling: Strong understeer (safe, boring)</a:t>
            </a:r>
          </a:p>
          <a:p>
            <a:pPr>
              <a:spcAft>
                <a:spcPts val="1000"/>
              </a:spcAft>
              <a:defRPr sz="1800">
                <a:solidFill>
                  <a:srgbClr val="333333"/>
                </a:solidFill>
              </a:defRPr>
            </a:pPr>
            <a:r>
              <a:t>Modified for Track: — Front ARB: 24 mm (keep stock)</a:t>
            </a:r>
          </a:p>
          <a:p>
            <a:pPr>
              <a:spcAft>
                <a:spcPts val="600"/>
              </a:spcAft>
              <a:defRPr sz="1800">
                <a:solidFill>
                  <a:srgbClr val="333333"/>
                </a:solidFill>
              </a:defRPr>
            </a:pPr>
            <a:r>
              <a:t>Rear ARB: Add 22 mm bar → K_rear = 45,000 Nm/rad</a:t>
            </a:r>
          </a:p>
          <a:p>
            <a:pPr>
              <a:spcAft>
                <a:spcPts val="600"/>
              </a:spcAft>
              <a:defRPr sz="1800">
                <a:solidFill>
                  <a:srgbClr val="333333"/>
                </a:solidFill>
              </a:defRPr>
            </a:pPr>
            <a:r>
              <a:t>Distribution: 50% front / 50% rear</a:t>
            </a:r>
          </a:p>
          <a:p>
            <a:pPr>
              <a:spcAft>
                <a:spcPts val="600"/>
              </a:spcAft>
              <a:defRPr sz="1800">
                <a:solidFill>
                  <a:srgbClr val="333333"/>
                </a:solidFill>
              </a:defRPr>
            </a:pPr>
            <a:r>
              <a:t>Handling: Neutral (more adjustable, more fun)</a:t>
            </a:r>
          </a:p>
          <a:p>
            <a:pPr>
              <a:spcAft>
                <a:spcPts val="1000"/>
              </a:spcAft>
              <a:defRPr sz="1800">
                <a:solidFill>
                  <a:srgbClr val="333333"/>
                </a:solidFill>
              </a:defRPr>
            </a:pPr>
            <a:r>
              <a:t>Physics Explanation:</a:t>
            </a:r>
          </a:p>
          <a:p>
            <a:pPr>
              <a:spcAft>
                <a:spcPts val="1000"/>
              </a:spcAft>
              <a:defRPr sz="1800">
                <a:solidFill>
                  <a:srgbClr val="333333"/>
                </a:solidFill>
              </a:defRPr>
            </a:pPr>
            <a:r>
              <a:t>Remember from Session 2: F_grip = μ × N (friction force depends on normal load)</a:t>
            </a:r>
          </a:p>
          <a:p>
            <a:pPr>
              <a:spcAft>
                <a:spcPts val="1000"/>
              </a:spcAft>
              <a:defRPr sz="1800">
                <a:solidFill>
                  <a:srgbClr val="333333"/>
                </a:solidFill>
              </a:defRPr>
            </a:pPr>
            <a:r>
              <a:t>When you transfer load from inside to outside tire:</a:t>
            </a:r>
          </a:p>
          <a:p>
            <a:pPr>
              <a:spcAft>
                <a:spcPts val="600"/>
              </a:spcAft>
              <a:defRPr sz="1800">
                <a:solidFill>
                  <a:srgbClr val="333333"/>
                </a:solidFill>
              </a:defRPr>
            </a:pPr>
            <a:r>
              <a:t>Outside tire gains load: +500 N → but grip gain is less than linear (tire saturation)</a:t>
            </a:r>
          </a:p>
          <a:p>
            <a:pPr>
              <a:spcAft>
                <a:spcPts val="600"/>
              </a:spcAft>
              <a:defRPr sz="1800">
                <a:solidFill>
                  <a:srgbClr val="333333"/>
                </a:solidFill>
              </a:defRPr>
            </a:pPr>
            <a:r>
              <a:t>Inside tire loses load: -500 N → grip loss is linear — Net effect: Total axle grip decreases</a:t>
            </a:r>
          </a:p>
          <a:p>
            <a:pPr>
              <a:spcAft>
                <a:spcPts val="1000"/>
              </a:spcAft>
              <a:defRPr sz="1800">
                <a:solidFill>
                  <a:srgbClr val="333333"/>
                </a:solidFill>
              </a:defRPr>
            </a:pPr>
            <a:r>
              <a:t>The axle with MORE load transfer has LESS total grip → that axle slides first.</a:t>
            </a:r>
          </a:p>
          <a:p>
            <a:pPr>
              <a:spcAft>
                <a:spcPts val="1000"/>
              </a:spcAft>
              <a:defRPr sz="1800">
                <a:solidFill>
                  <a:srgbClr val="333333"/>
                </a:solidFill>
              </a:defRPr>
            </a:pPr>
            <a:r>
              <a:t>Instructor Narration (continued):</a:t>
            </a:r>
          </a:p>
          <a:p>
            <a:pPr>
              <a:spcAft>
                <a:spcPts val="1000"/>
              </a:spcAft>
              <a:defRPr sz="1800">
                <a:solidFill>
                  <a:srgbClr val="333333"/>
                </a:solidFill>
              </a:defRPr>
            </a:pPr>
            <a:r>
              <a:t>This is why adjustable ARBs are popular in motorsports. Before a race, drivers test different bar settings to tune understeer/oversteer balance. Stiffer front bar → more understeer (safer, slower corner entry). Stiffer rear bar → more oversteer (trickier, faster corner exit for skilled drivers). It's all about load transfer distribution.</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Disconnecting ARB - Off-Road Applications</a:t>
            </a:r>
          </a:p>
        </p:txBody>
      </p:sp>
      <p:sp>
        <p:nvSpPr>
          <p:cNvPr id="3" name="Content Placeholder 2"/>
          <p:cNvSpPr>
            <a:spLocks noGrp="1"/>
          </p:cNvSpPr>
          <p:nvPr>
            <p:ph idx="1"/>
          </p:nvPr>
        </p:nvSpPr>
        <p:spPr/>
        <p:txBody>
          <a:bodyPr/>
          <a:lstStyle/>
          <a:p>
            <a:pPr>
              <a:spcAft>
                <a:spcPts val="1000"/>
              </a:spcAft>
              <a:defRPr sz="1800">
                <a:solidFill>
                  <a:srgbClr val="333333"/>
                </a:solidFill>
              </a:defRPr>
            </a:pPr>
            <a:r>
              <a:t>Instructor Narration:</a:t>
            </a:r>
          </a:p>
          <a:p>
            <a:pPr>
              <a:spcAft>
                <a:spcPts val="1000"/>
              </a:spcAft>
              <a:defRPr sz="1800">
                <a:solidFill>
                  <a:srgbClr val="333333"/>
                </a:solidFill>
              </a:defRPr>
            </a:pPr>
            <a:r>
              <a:t>For off-road vehicles, anti-roll bars create a problem.</a:t>
            </a:r>
          </a:p>
          <a:p>
            <a:pPr>
              <a:spcAft>
                <a:spcPts val="1000"/>
              </a:spcAft>
              <a:defRPr sz="1800">
                <a:solidFill>
                  <a:srgbClr val="333333"/>
                </a:solidFill>
              </a:defRPr>
            </a:pPr>
            <a:r>
              <a:t>The Issue:</a:t>
            </a:r>
          </a:p>
          <a:p>
            <a:pPr>
              <a:spcAft>
                <a:spcPts val="1000"/>
              </a:spcAft>
              <a:defRPr sz="1800">
                <a:solidFill>
                  <a:srgbClr val="333333"/>
                </a:solidFill>
              </a:defRPr>
            </a:pPr>
            <a:r>
              <a:t>When one wheel climbs over a large rock:</a:t>
            </a:r>
          </a:p>
          <a:p>
            <a:pPr>
              <a:spcAft>
                <a:spcPts val="600"/>
              </a:spcAft>
              <a:defRPr sz="1800">
                <a:solidFill>
                  <a:srgbClr val="333333"/>
                </a:solidFill>
              </a:defRPr>
            </a:pPr>
            <a:r>
              <a:t>That wheel needs to travel UP significantly (maybe 300 mm)</a:t>
            </a:r>
          </a:p>
          <a:p>
            <a:pPr>
              <a:spcAft>
                <a:spcPts val="600"/>
              </a:spcAft>
              <a:defRPr sz="1800">
                <a:solidFill>
                  <a:srgbClr val="333333"/>
                </a:solidFill>
              </a:defRPr>
            </a:pPr>
            <a:r>
              <a:t>The opposite wheel is on flat ground</a:t>
            </a:r>
          </a:p>
          <a:p>
            <a:pPr>
              <a:spcAft>
                <a:spcPts val="600"/>
              </a:spcAft>
              <a:defRPr sz="1800">
                <a:solidFill>
                  <a:srgbClr val="333333"/>
                </a:solidFill>
              </a:defRPr>
            </a:pPr>
            <a:r>
              <a:t>This is extreme roll motion — ARB strongly resists this motion</a:t>
            </a:r>
          </a:p>
          <a:p>
            <a:pPr>
              <a:spcAft>
                <a:spcPts val="600"/>
              </a:spcAft>
              <a:defRPr sz="1800">
                <a:solidFill>
                  <a:srgbClr val="333333"/>
                </a:solidFill>
              </a:defRPr>
            </a:pPr>
            <a:r>
              <a:t>Result: The climbing wheel can't move up enough → lifts the opposite wheel off the ground</a:t>
            </a:r>
          </a:p>
          <a:p>
            <a:pPr>
              <a:spcAft>
                <a:spcPts val="1000"/>
              </a:spcAft>
              <a:defRPr sz="1800">
                <a:solidFill>
                  <a:srgbClr val="333333"/>
                </a:solidFill>
              </a:defRPr>
            </a:pPr>
            <a:r>
              <a:t>Loss of traction: One wheel in the air = no grip = stuck vehicle.</a:t>
            </a:r>
          </a:p>
          <a:p>
            <a:pPr>
              <a:spcAft>
                <a:spcPts val="1000"/>
              </a:spcAft>
              <a:defRPr sz="1800">
                <a:solidFill>
                  <a:srgbClr val="333333"/>
                </a:solidFill>
              </a:defRPr>
            </a:pPr>
            <a:r>
              <a:t>Solution: Disconnectable ARB</a:t>
            </a:r>
          </a:p>
          <a:p>
            <a:pPr>
              <a:spcAft>
                <a:spcPts val="1000"/>
              </a:spcAft>
              <a:defRPr sz="1800">
                <a:solidFill>
                  <a:srgbClr val="333333"/>
                </a:solidFill>
              </a:defRPr>
            </a:pPr>
            <a:r>
              <a:t>Some off-road vehicles (Jeep Wrangler Rubicon, Land Rover Defender) have electrically disconnectable ARBs:</a:t>
            </a:r>
          </a:p>
          <a:p>
            <a:pPr>
              <a:spcAft>
                <a:spcPts val="1000"/>
              </a:spcAft>
              <a:defRPr sz="1800">
                <a:solidFill>
                  <a:srgbClr val="333333"/>
                </a:solidFill>
              </a:defRPr>
            </a:pPr>
            <a:r>
              <a:t>On-Road Mode: — ARB connected (normal operation)</a:t>
            </a:r>
          </a:p>
          <a:p>
            <a:pPr>
              <a:spcAft>
                <a:spcPts val="600"/>
              </a:spcAft>
              <a:defRPr sz="1800">
                <a:solidFill>
                  <a:srgbClr val="333333"/>
                </a:solidFill>
              </a:defRPr>
            </a:pPr>
            <a:r>
              <a:t>Good handling, minimal body roll</a:t>
            </a:r>
          </a:p>
          <a:p>
            <a:pPr>
              <a:spcAft>
                <a:spcPts val="600"/>
              </a:spcAft>
              <a:defRPr sz="1800">
                <a:solidFill>
                  <a:srgbClr val="333333"/>
                </a:solidFill>
              </a:defRPr>
            </a:pPr>
            <a:r>
              <a:t>Comfortable ride</a:t>
            </a:r>
          </a:p>
          <a:p>
            <a:pPr>
              <a:spcAft>
                <a:spcPts val="1000"/>
              </a:spcAft>
              <a:defRPr sz="1800">
                <a:solidFill>
                  <a:srgbClr val="333333"/>
                </a:solidFill>
              </a:defRPr>
            </a:pPr>
            <a:r>
              <a:t>Off-Road Mode: — ARB disconnected (end links uncoupled)</a:t>
            </a:r>
          </a:p>
          <a:p>
            <a:pPr>
              <a:spcAft>
                <a:spcPts val="600"/>
              </a:spcAft>
              <a:defRPr sz="1800">
                <a:solidFill>
                  <a:srgbClr val="333333"/>
                </a:solidFill>
              </a:defRPr>
            </a:pPr>
            <a:r>
              <a:t>Each wheel moves independently (maximum articulation)</a:t>
            </a:r>
          </a:p>
          <a:p>
            <a:pPr>
              <a:spcAft>
                <a:spcPts val="600"/>
              </a:spcAft>
              <a:defRPr sz="1800">
                <a:solidFill>
                  <a:srgbClr val="333333"/>
                </a:solidFill>
              </a:defRPr>
            </a:pPr>
            <a:r>
              <a:t>Can climb over obstacles without lifting opposite wheel</a:t>
            </a:r>
          </a:p>
          <a:p>
            <a:pPr>
              <a:spcAft>
                <a:spcPts val="600"/>
              </a:spcAft>
              <a:defRPr sz="1800">
                <a:solidFill>
                  <a:srgbClr val="333333"/>
                </a:solidFill>
              </a:defRPr>
            </a:pPr>
            <a:r>
              <a:t>Body roll is huge (doesn't matter at 5 km/h crawling over rocks)</a:t>
            </a:r>
          </a:p>
          <a:p>
            <a:pPr>
              <a:spcAft>
                <a:spcPts val="1000"/>
              </a:spcAft>
              <a:defRPr sz="1800">
                <a:solidFill>
                  <a:srgbClr val="333333"/>
                </a:solidFill>
              </a:defRPr>
            </a:pPr>
            <a:r>
              <a:t>Mechanism: — Electric actuator or mechanical latch</a:t>
            </a:r>
          </a:p>
          <a:p>
            <a:pPr>
              <a:spcAft>
                <a:spcPts val="600"/>
              </a:spcAft>
              <a:defRPr sz="1800">
                <a:solidFill>
                  <a:srgbClr val="333333"/>
                </a:solidFill>
              </a:defRPr>
            </a:pPr>
            <a:r>
              <a:t>Disconnects drop link from bar at one end</a:t>
            </a:r>
          </a:p>
          <a:p>
            <a:pPr>
              <a:spcAft>
                <a:spcPts val="600"/>
              </a:spcAft>
              <a:defRPr sz="1800">
                <a:solidFill>
                  <a:srgbClr val="333333"/>
                </a:solidFill>
              </a:defRPr>
            </a:pPr>
            <a:r>
              <a:t>Bar is free to rotate, provides no resistance</a:t>
            </a:r>
          </a:p>
          <a:p>
            <a:pPr>
              <a:spcAft>
                <a:spcPts val="1000"/>
              </a:spcAft>
              <a:defRPr sz="1800">
                <a:solidFill>
                  <a:srgbClr val="333333"/>
                </a:solidFill>
              </a:defRPr>
            </a:pPr>
            <a:r>
              <a:t>Instructor Narration (continued):</a:t>
            </a:r>
          </a:p>
          <a:p>
            <a:pPr>
              <a:spcAft>
                <a:spcPts val="1000"/>
              </a:spcAft>
              <a:defRPr sz="1800">
                <a:solidFill>
                  <a:srgbClr val="333333"/>
                </a:solidFill>
              </a:defRPr>
            </a:pPr>
            <a:r>
              <a:t>This is a perfect example of engineering trade-offs. On-road: need ARB for handling. Off-road: need NO ARB for articulation. Solution: make it switchable. The driver pushes a button based on terrain. Modern electronics allow us to have our cake and eat it too—but it adds cost and complexity.</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Summary - Mechanical Suspension Complete</a:t>
            </a:r>
          </a:p>
        </p:txBody>
      </p:sp>
      <p:sp>
        <p:nvSpPr>
          <p:cNvPr id="3" name="Content Placeholder 2"/>
          <p:cNvSpPr>
            <a:spLocks noGrp="1"/>
          </p:cNvSpPr>
          <p:nvPr>
            <p:ph idx="1"/>
          </p:nvPr>
        </p:nvSpPr>
        <p:spPr/>
        <p:txBody>
          <a:bodyPr/>
          <a:lstStyle/>
          <a:p>
            <a:pPr>
              <a:spcAft>
                <a:spcPts val="1000"/>
              </a:spcAft>
              <a:defRPr sz="1800">
                <a:solidFill>
                  <a:srgbClr val="333333"/>
                </a:solidFill>
              </a:defRPr>
            </a:pPr>
            <a:r>
              <a:t>Instructor Narration:</a:t>
            </a:r>
          </a:p>
          <a:p>
            <a:pPr>
              <a:spcAft>
                <a:spcPts val="1000"/>
              </a:spcAft>
              <a:defRPr sz="1800">
                <a:solidFill>
                  <a:srgbClr val="333333"/>
                </a:solidFill>
              </a:defRPr>
            </a:pPr>
            <a:r>
              <a:t>Let's recap the mechanical suspension system we've built:</a:t>
            </a:r>
          </a:p>
          <a:p>
            <a:pPr>
              <a:spcAft>
                <a:spcPts val="1000"/>
              </a:spcAft>
              <a:defRPr sz="1800">
                <a:solidFill>
                  <a:srgbClr val="333333"/>
                </a:solidFill>
              </a:defRPr>
            </a:pPr>
            <a:r>
              <a:t>1. SPRINGS (Vertical Support + Energy Storage) — Support vehicle weight</a:t>
            </a:r>
          </a:p>
          <a:p>
            <a:pPr>
              <a:spcAft>
                <a:spcPts val="600"/>
              </a:spcAft>
              <a:defRPr sz="1800">
                <a:solidFill>
                  <a:srgbClr val="333333"/>
                </a:solidFill>
              </a:defRPr>
            </a:pPr>
            <a:r>
              <a:t>Store energy during bump compression</a:t>
            </a:r>
          </a:p>
          <a:p>
            <a:pPr>
              <a:spcAft>
                <a:spcPts val="600"/>
              </a:spcAft>
              <a:defRPr sz="1800">
                <a:solidFill>
                  <a:srgbClr val="333333"/>
                </a:solidFill>
              </a:defRPr>
            </a:pPr>
            <a:r>
              <a:t>Types: Coil (common), leaf (trucks), torsion bar (packaging), air (luxury/adjustable)</a:t>
            </a:r>
          </a:p>
          <a:p>
            <a:pPr>
              <a:spcAft>
                <a:spcPts val="600"/>
              </a:spcAft>
              <a:defRPr sz="1800">
                <a:solidFill>
                  <a:srgbClr val="333333"/>
                </a:solidFill>
              </a:defRPr>
            </a:pPr>
            <a:r>
              <a:t>Tuning: Spring rate k determines natural frequency f_n</a:t>
            </a:r>
          </a:p>
          <a:p>
            <a:pPr>
              <a:spcAft>
                <a:spcPts val="1000"/>
              </a:spcAft>
              <a:defRPr sz="1800">
                <a:solidFill>
                  <a:srgbClr val="333333"/>
                </a:solidFill>
              </a:defRPr>
            </a:pPr>
            <a:r>
              <a:t>2. DAMPERS (Energy Dissipation + Control) — Convert kinetic energy to heat</a:t>
            </a:r>
          </a:p>
          <a:p>
            <a:pPr>
              <a:spcAft>
                <a:spcPts val="600"/>
              </a:spcAft>
              <a:defRPr sz="1800">
                <a:solidFill>
                  <a:srgbClr val="333333"/>
                </a:solidFill>
              </a:defRPr>
            </a:pPr>
            <a:r>
              <a:t>Control oscillation (prevent bouncing)</a:t>
            </a:r>
          </a:p>
          <a:p>
            <a:pPr>
              <a:spcAft>
                <a:spcPts val="600"/>
              </a:spcAft>
              <a:defRPr sz="1800">
                <a:solidFill>
                  <a:srgbClr val="333333"/>
                </a:solidFill>
              </a:defRPr>
            </a:pPr>
            <a:r>
              <a:t>Types: Twin-tube (common), monotube (performance)</a:t>
            </a:r>
          </a:p>
          <a:p>
            <a:pPr>
              <a:spcAft>
                <a:spcPts val="600"/>
              </a:spcAft>
              <a:defRPr sz="1800">
                <a:solidFill>
                  <a:srgbClr val="333333"/>
                </a:solidFill>
              </a:defRPr>
            </a:pPr>
            <a:r>
              <a:t>Tuning: Damping coefficient c determines damping ratio ζ</a:t>
            </a:r>
          </a:p>
          <a:p>
            <a:pPr>
              <a:spcAft>
                <a:spcPts val="600"/>
              </a:spcAft>
              <a:defRPr sz="1800">
                <a:solidFill>
                  <a:srgbClr val="333333"/>
                </a:solidFill>
              </a:defRPr>
            </a:pPr>
            <a:r>
              <a:t>Asymmetric valving: Soft compression, stiff rebound</a:t>
            </a:r>
          </a:p>
          <a:p>
            <a:pPr>
              <a:spcAft>
                <a:spcPts val="1000"/>
              </a:spcAft>
              <a:defRPr sz="1800">
                <a:solidFill>
                  <a:srgbClr val="333333"/>
                </a:solidFill>
              </a:defRPr>
            </a:pPr>
            <a:r>
              <a:t>3. ANTI-ROLL BARS (Roll Stiffness + Handling Tuning) — Add roll stiffness without affecting vertical ride</a:t>
            </a:r>
          </a:p>
          <a:p>
            <a:pPr>
              <a:spcAft>
                <a:spcPts val="600"/>
              </a:spcAft>
              <a:defRPr sz="1800">
                <a:solidFill>
                  <a:srgbClr val="333333"/>
                </a:solidFill>
              </a:defRPr>
            </a:pPr>
            <a:r>
              <a:t>Allow soft springs (comfort) + flat cornering (handling)</a:t>
            </a:r>
          </a:p>
          <a:p>
            <a:pPr>
              <a:spcAft>
                <a:spcPts val="600"/>
              </a:spcAft>
              <a:defRPr sz="1800">
                <a:solidFill>
                  <a:srgbClr val="333333"/>
                </a:solidFill>
              </a:defRPr>
            </a:pPr>
            <a:r>
              <a:t>Tuning: Bar diameter and distribution control understeer/oversteer</a:t>
            </a:r>
          </a:p>
          <a:p>
            <a:pPr>
              <a:spcAft>
                <a:spcPts val="1000"/>
              </a:spcAft>
              <a:defRPr sz="1800">
                <a:solidFill>
                  <a:srgbClr val="333333"/>
                </a:solidFill>
              </a:defRPr>
            </a:pPr>
            <a:r>
              <a:t>4. SUSPENSION GEOMETRY (Kinematic Control) — McPherson strut (compact, cheap, good enough)</a:t>
            </a:r>
          </a:p>
          <a:p>
            <a:pPr>
              <a:spcAft>
                <a:spcPts val="600"/>
              </a:spcAft>
              <a:defRPr sz="1800">
                <a:solidFill>
                  <a:srgbClr val="333333"/>
                </a:solidFill>
              </a:defRPr>
            </a:pPr>
            <a:r>
              <a:t>Double wishbone (best handling, expensive)</a:t>
            </a:r>
          </a:p>
          <a:p>
            <a:pPr>
              <a:spcAft>
                <a:spcPts val="600"/>
              </a:spcAft>
              <a:defRPr sz="1800">
                <a:solidFill>
                  <a:srgbClr val="333333"/>
                </a:solidFill>
              </a:defRPr>
            </a:pPr>
            <a:r>
              <a:t>Multi-link (ultimate tunability, very expensive)</a:t>
            </a:r>
          </a:p>
          <a:p>
            <a:pPr>
              <a:spcAft>
                <a:spcPts val="600"/>
              </a:spcAft>
              <a:defRPr sz="1800">
                <a:solidFill>
                  <a:srgbClr val="333333"/>
                </a:solidFill>
              </a:defRPr>
            </a:pPr>
            <a:r>
              <a:t>Solid axle (durable, simple, trucks only)</a:t>
            </a:r>
          </a:p>
          <a:p>
            <a:pPr>
              <a:spcAft>
                <a:spcPts val="1000"/>
              </a:spcAft>
              <a:defRPr sz="1800">
                <a:solidFill>
                  <a:srgbClr val="333333"/>
                </a:solidFill>
              </a:defRPr>
            </a:pPr>
            <a:r>
              <a:t>The Trade-Off Triangle:</a:t>
            </a:r>
          </a:p>
          <a:p>
            <a:pPr>
              <a:spcAft>
                <a:spcPts val="1000"/>
              </a:spcAft>
              <a:defRPr sz="1800">
                <a:solidFill>
                  <a:srgbClr val="333333"/>
                </a:solidFill>
              </a:defRPr>
            </a:pPr>
            <a:r>
              <a:t>✅ Comfort: Soft springs (low f_n), soft dampers (low ζ)</a:t>
            </a:r>
          </a:p>
          <a:p>
            <a:pPr>
              <a:spcAft>
                <a:spcPts val="1000"/>
              </a:spcAft>
              <a:defRPr sz="1800">
                <a:solidFill>
                  <a:srgbClr val="333333"/>
                </a:solidFill>
              </a:defRPr>
            </a:pPr>
            <a:r>
              <a:t>✅ Handling: ARB provides roll stiffness, geometry controls tire alignment</a:t>
            </a:r>
          </a:p>
          <a:p>
            <a:pPr>
              <a:spcAft>
                <a:spcPts val="1000"/>
              </a:spcAft>
              <a:defRPr sz="1800">
                <a:solidFill>
                  <a:srgbClr val="333333"/>
                </a:solidFill>
              </a:defRPr>
            </a:pPr>
            <a:r>
              <a:t>❌ Still compromised: Can't have ultimate comfort AND ultimate handling with passive suspension</a:t>
            </a:r>
          </a:p>
          <a:p>
            <a:pPr>
              <a:spcAft>
                <a:spcPts val="1000"/>
              </a:spcAft>
              <a:defRPr sz="1800">
                <a:solidFill>
                  <a:srgbClr val="333333"/>
                </a:solidFill>
              </a:defRPr>
            </a:pPr>
            <a:r>
              <a:t>The Next Step:</a:t>
            </a:r>
          </a:p>
          <a:p>
            <a:pPr>
              <a:spcAft>
                <a:spcPts val="1000"/>
              </a:spcAft>
              <a:defRPr sz="1800">
                <a:solidFill>
                  <a:srgbClr val="333333"/>
                </a:solidFill>
              </a:defRPr>
            </a:pPr>
            <a:r>
              <a:t>For 100 years, this was the state of the art. Mechanical components, fixed tuning, pick your compromise.</a:t>
            </a:r>
          </a:p>
          <a:p>
            <a:pPr>
              <a:spcAft>
                <a:spcPts val="1000"/>
              </a:spcAft>
              <a:defRPr sz="1800">
                <a:solidFill>
                  <a:srgbClr val="333333"/>
                </a:solidFill>
              </a:defRPr>
            </a:pPr>
            <a:r>
              <a:t>But what if the suspension could change in real-time? Soft over bumps, stiff in corners? That's where electronics come in.</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4472C4"/>
        </a:solidFill>
        <a:effectLst/>
      </p:bgPr>
    </p:bg>
    <p:spTree>
      <p:nvGrpSpPr>
        <p:cNvPr id="1" name=""/>
        <p:cNvGrpSpPr/>
        <p:nvPr/>
      </p:nvGrpSpPr>
      <p:grpSpPr/>
      <p:sp>
        <p:nvSpPr>
          <p:cNvPr id="2" name="Title 1"/>
          <p:cNvSpPr>
            <a:spLocks noGrp="1"/>
          </p:cNvSpPr>
          <p:nvPr>
            <p:ph type="ctrTitle"/>
          </p:nvPr>
        </p:nvSpPr>
        <p:spPr/>
        <p:txBody>
          <a:bodyPr/>
          <a:lstStyle/>
          <a:p>
            <a:pPr>
              <a:defRPr sz="4400" b="1">
                <a:solidFill>
                  <a:srgbClr val="FFFFFF"/>
                </a:solidFill>
              </a:defRPr>
            </a:pPr>
            <a:r>
              <a:t>PART 5: RESOLUTION - "Electronic Solutions</a:t>
            </a:r>
          </a:p>
        </p:txBody>
      </p:sp>
      <p:sp>
        <p:nvSpPr>
          <p:cNvPr id="3" name="Subtitle 2"/>
          <p:cNvSpPr>
            <a:spLocks noGrp="1"/>
          </p:cNvSpPr>
          <p:nvPr>
            <p:ph type="subTitle" idx="1"/>
          </p:nvPr>
        </p:nvSpPr>
        <p:spPr/>
        <p:txBody>
          <a:bodyPr/>
          <a:lstStyle/>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The Electronic Suspension Revolution</a:t>
            </a:r>
          </a:p>
        </p:txBody>
      </p:sp>
      <p:sp>
        <p:nvSpPr>
          <p:cNvPr id="3" name="Content Placeholder 2"/>
          <p:cNvSpPr>
            <a:spLocks noGrp="1"/>
          </p:cNvSpPr>
          <p:nvPr>
            <p:ph idx="1"/>
          </p:nvPr>
        </p:nvSpPr>
        <p:spPr/>
        <p:txBody>
          <a:bodyPr/>
          <a:lstStyle/>
          <a:p>
            <a:pPr>
              <a:spcAft>
                <a:spcPts val="1000"/>
              </a:spcAft>
              <a:defRPr sz="1800">
                <a:solidFill>
                  <a:srgbClr val="333333"/>
                </a:solidFill>
              </a:defRPr>
            </a:pPr>
            <a:r>
              <a:t>Instructor Narration:</a:t>
            </a:r>
          </a:p>
          <a:p>
            <a:pPr>
              <a:spcAft>
                <a:spcPts val="1000"/>
              </a:spcAft>
              <a:defRPr sz="1800">
                <a:solidFill>
                  <a:srgbClr val="333333"/>
                </a:solidFill>
              </a:defRPr>
            </a:pPr>
            <a:r>
              <a:t>In the 1980s, engineers asked: What if we could change damping in real-time based on driving conditions?</a:t>
            </a:r>
          </a:p>
          <a:p>
            <a:pPr>
              <a:spcAft>
                <a:spcPts val="1000"/>
              </a:spcAft>
              <a:defRPr sz="1800">
                <a:solidFill>
                  <a:srgbClr val="333333"/>
                </a:solidFill>
              </a:defRPr>
            </a:pPr>
            <a:r>
              <a:t>The Vision: — Comfort mode: Soft damping over bumps, smooth cruising</a:t>
            </a:r>
          </a:p>
          <a:p>
            <a:pPr>
              <a:spcAft>
                <a:spcPts val="600"/>
              </a:spcAft>
              <a:defRPr sz="1800">
                <a:solidFill>
                  <a:srgbClr val="333333"/>
                </a:solidFill>
              </a:defRPr>
            </a:pPr>
            <a:r>
              <a:t>Sport mode: Stiff damping during spirited driving, flat cornering</a:t>
            </a:r>
          </a:p>
          <a:p>
            <a:pPr>
              <a:spcAft>
                <a:spcPts val="600"/>
              </a:spcAft>
              <a:defRPr sz="1800">
                <a:solidFill>
                  <a:srgbClr val="333333"/>
                </a:solidFill>
              </a:defRPr>
            </a:pPr>
            <a:r>
              <a:t>Automatic: System detects driving style and adapts</a:t>
            </a:r>
          </a:p>
          <a:p>
            <a:pPr>
              <a:spcAft>
                <a:spcPts val="1000"/>
              </a:spcAft>
              <a:defRPr sz="1800">
                <a:solidFill>
                  <a:srgbClr val="333333"/>
                </a:solidFill>
              </a:defRPr>
            </a:pPr>
            <a:r>
              <a:t>Three Generations:</a:t>
            </a:r>
          </a:p>
          <a:p>
            <a:pPr>
              <a:spcAft>
                <a:spcPts val="1000"/>
              </a:spcAft>
              <a:defRPr sz="1800">
                <a:solidFill>
                  <a:srgbClr val="333333"/>
                </a:solidFill>
              </a:defRPr>
            </a:pPr>
            <a:r>
              <a:t>1. PASSIVE (Traditional - 1900s-1980s) — Fixed springs, fixed dampers</a:t>
            </a:r>
          </a:p>
          <a:p>
            <a:pPr>
              <a:spcAft>
                <a:spcPts val="600"/>
              </a:spcAft>
              <a:defRPr sz="1800">
                <a:solidFill>
                  <a:srgbClr val="333333"/>
                </a:solidFill>
              </a:defRPr>
            </a:pPr>
            <a:r>
              <a:t>No electronics</a:t>
            </a:r>
          </a:p>
          <a:p>
            <a:pPr>
              <a:spcAft>
                <a:spcPts val="600"/>
              </a:spcAft>
              <a:defRPr sz="1800">
                <a:solidFill>
                  <a:srgbClr val="333333"/>
                </a:solidFill>
              </a:defRPr>
            </a:pPr>
            <a:r>
              <a:t>One compromise tuning for all conditions</a:t>
            </a:r>
          </a:p>
          <a:p>
            <a:pPr>
              <a:spcAft>
                <a:spcPts val="1000"/>
              </a:spcAft>
              <a:defRPr sz="1800">
                <a:solidFill>
                  <a:srgbClr val="333333"/>
                </a:solidFill>
              </a:defRPr>
            </a:pPr>
            <a:r>
              <a:t>2. SEMI-ACTIVE (1990s-Present) — Fixed springs, adjustable dampers — Can change damping force in milliseconds</a:t>
            </a:r>
          </a:p>
          <a:p>
            <a:pPr>
              <a:spcAft>
                <a:spcPts val="600"/>
              </a:spcAft>
              <a:defRPr sz="1800">
                <a:solidFill>
                  <a:srgbClr val="333333"/>
                </a:solidFill>
              </a:defRPr>
            </a:pPr>
            <a:r>
              <a:t>Cannot add energy to system (can only dissipate)</a:t>
            </a:r>
          </a:p>
          <a:p>
            <a:pPr>
              <a:spcAft>
                <a:spcPts val="600"/>
              </a:spcAft>
              <a:defRPr sz="1800">
                <a:solidFill>
                  <a:srgbClr val="333333"/>
                </a:solidFill>
              </a:defRPr>
            </a:pPr>
            <a:r>
              <a:t>Most common modern system</a:t>
            </a:r>
          </a:p>
          <a:p>
            <a:pPr>
              <a:spcAft>
                <a:spcPts val="1000"/>
              </a:spcAft>
              <a:defRPr sz="1800">
                <a:solidFill>
                  <a:srgbClr val="333333"/>
                </a:solidFill>
              </a:defRPr>
            </a:pPr>
            <a:r>
              <a:t>3. ACTIVE (2000s-Present, Luxury Only) — Hydraulic or electric actuators</a:t>
            </a:r>
          </a:p>
          <a:p>
            <a:pPr>
              <a:spcAft>
                <a:spcPts val="600"/>
              </a:spcAft>
              <a:defRPr sz="1800">
                <a:solidFill>
                  <a:srgbClr val="333333"/>
                </a:solidFill>
              </a:defRPr>
            </a:pPr>
            <a:r>
              <a:t>Can add energy (push suspension up or down)</a:t>
            </a:r>
          </a:p>
          <a:p>
            <a:pPr>
              <a:spcAft>
                <a:spcPts val="600"/>
              </a:spcAft>
              <a:defRPr sz="1800">
                <a:solidFill>
                  <a:srgbClr val="333333"/>
                </a:solidFill>
              </a:defRPr>
            </a:pPr>
            <a:r>
              <a:t>Can completely cancel body roll</a:t>
            </a:r>
          </a:p>
          <a:p>
            <a:pPr>
              <a:spcAft>
                <a:spcPts val="600"/>
              </a:spcAft>
              <a:defRPr sz="1800">
                <a:solidFill>
                  <a:srgbClr val="333333"/>
                </a:solidFill>
              </a:defRPr>
            </a:pPr>
            <a:r>
              <a:t>Expensive, complex, rare</a:t>
            </a:r>
          </a:p>
          <a:p>
            <a:pPr>
              <a:spcAft>
                <a:spcPts val="1000"/>
              </a:spcAft>
              <a:defRPr sz="1800">
                <a:solidFill>
                  <a:srgbClr val="333333"/>
                </a:solidFill>
              </a:defRPr>
            </a:pPr>
            <a:r>
              <a:t>4. AI-ADAPTIVE (2020s-Present) — Camera-based preview (scans road ahead)</a:t>
            </a:r>
          </a:p>
          <a:p>
            <a:pPr>
              <a:spcAft>
                <a:spcPts val="600"/>
              </a:spcAft>
              <a:defRPr sz="1800">
                <a:solidFill>
                  <a:srgbClr val="333333"/>
                </a:solidFill>
              </a:defRPr>
            </a:pPr>
            <a:r>
              <a:t>Predictive algorithms</a:t>
            </a:r>
          </a:p>
          <a:p>
            <a:pPr>
              <a:spcAft>
                <a:spcPts val="600"/>
              </a:spcAft>
              <a:defRPr sz="1800">
                <a:solidFill>
                  <a:srgbClr val="333333"/>
                </a:solidFill>
              </a:defRPr>
            </a:pPr>
            <a:r>
              <a:t>Machine learning for driver preference</a:t>
            </a:r>
          </a:p>
          <a:p>
            <a:pPr>
              <a:spcAft>
                <a:spcPts val="600"/>
              </a:spcAft>
              <a:defRPr sz="1800">
                <a:solidFill>
                  <a:srgbClr val="333333"/>
                </a:solidFill>
              </a:defRPr>
            </a:pPr>
            <a:r>
              <a:t>Next-generation technology</a:t>
            </a:r>
          </a:p>
          <a:p>
            <a:pPr>
              <a:spcAft>
                <a:spcPts val="1000"/>
              </a:spcAft>
              <a:defRPr sz="1800">
                <a:solidFill>
                  <a:srgbClr val="333333"/>
                </a:solidFill>
              </a:defRPr>
            </a:pPr>
            <a:r>
              <a:t>We'll focus on semi-active (most common) and touch on active (emerging technology).</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Semi-Active Dampers - Variable Damping</a:t>
            </a:r>
          </a:p>
        </p:txBody>
      </p:sp>
      <p:sp>
        <p:nvSpPr>
          <p:cNvPr id="3" name="Content Placeholder 2"/>
          <p:cNvSpPr>
            <a:spLocks noGrp="1"/>
          </p:cNvSpPr>
          <p:nvPr>
            <p:ph idx="1"/>
          </p:nvPr>
        </p:nvSpPr>
        <p:spPr/>
        <p:txBody>
          <a:bodyPr/>
          <a:lstStyle/>
          <a:p>
            <a:pPr>
              <a:spcAft>
                <a:spcPts val="1000"/>
              </a:spcAft>
              <a:defRPr sz="1800">
                <a:solidFill>
                  <a:srgbClr val="333333"/>
                </a:solidFill>
              </a:defRPr>
            </a:pPr>
            <a:r>
              <a:t>Instructor Narration:</a:t>
            </a:r>
          </a:p>
          <a:p>
            <a:pPr>
              <a:spcAft>
                <a:spcPts val="1000"/>
              </a:spcAft>
              <a:defRPr sz="1800">
                <a:solidFill>
                  <a:srgbClr val="333333"/>
                </a:solidFill>
              </a:defRPr>
            </a:pPr>
            <a:r>
              <a:t>Semi-active suspension uses electronically adjustable dampers (shock absorbers that can change stiffness).</a:t>
            </a:r>
          </a:p>
          <a:p>
            <a:pPr>
              <a:spcAft>
                <a:spcPts val="1000"/>
              </a:spcAft>
              <a:defRPr sz="1800">
                <a:solidFill>
                  <a:srgbClr val="333333"/>
                </a:solidFill>
              </a:defRPr>
            </a:pPr>
            <a:r>
              <a:t>Technology: Magneto-Rheological (MR) Dampers (Most Advanced)</a:t>
            </a:r>
          </a:p>
          <a:p>
            <a:pPr>
              <a:spcAft>
                <a:spcPts val="1000"/>
              </a:spcAft>
              <a:defRPr sz="1800">
                <a:solidFill>
                  <a:srgbClr val="333333"/>
                </a:solidFill>
              </a:defRPr>
            </a:pPr>
            <a:r>
              <a:t>Design: — Monotube damper filled with magneto-rheological fluid — MR fluid contains tiny iron particles suspended in oil</a:t>
            </a:r>
          </a:p>
          <a:p>
            <a:pPr>
              <a:spcAft>
                <a:spcPts val="600"/>
              </a:spcAft>
              <a:defRPr sz="1800">
                <a:solidFill>
                  <a:srgbClr val="333333"/>
                </a:solidFill>
              </a:defRPr>
            </a:pPr>
            <a:r>
              <a:t>Electromagnetic coil around piston</a:t>
            </a:r>
          </a:p>
          <a:p>
            <a:pPr>
              <a:spcAft>
                <a:spcPts val="600"/>
              </a:spcAft>
              <a:defRPr sz="1800">
                <a:solidFill>
                  <a:srgbClr val="333333"/>
                </a:solidFill>
              </a:defRPr>
            </a:pPr>
            <a:r>
              <a:t>ECU controls coil current</a:t>
            </a:r>
          </a:p>
          <a:p>
            <a:pPr>
              <a:spcAft>
                <a:spcPts val="1000"/>
              </a:spcAft>
              <a:defRPr sz="1800">
                <a:solidFill>
                  <a:srgbClr val="333333"/>
                </a:solidFill>
              </a:defRPr>
            </a:pPr>
            <a:r>
              <a:t>How It Works:</a:t>
            </a:r>
          </a:p>
          <a:p>
            <a:pPr>
              <a:spcAft>
                <a:spcPts val="1000"/>
              </a:spcAft>
              <a:defRPr sz="1800">
                <a:solidFill>
                  <a:srgbClr val="333333"/>
                </a:solidFill>
              </a:defRPr>
            </a:pPr>
            <a:r>
              <a:t>No Magnetic Field (Soft Damping): — Iron particles randomly distributed in oil</a:t>
            </a:r>
          </a:p>
          <a:p>
            <a:pPr>
              <a:spcAft>
                <a:spcPts val="600"/>
              </a:spcAft>
              <a:defRPr sz="1800">
                <a:solidFill>
                  <a:srgbClr val="333333"/>
                </a:solidFill>
              </a:defRPr>
            </a:pPr>
            <a:r>
              <a:t>Fluid flows easily through piston orifices</a:t>
            </a:r>
          </a:p>
          <a:p>
            <a:pPr>
              <a:spcAft>
                <a:spcPts val="600"/>
              </a:spcAft>
              <a:defRPr sz="1800">
                <a:solidFill>
                  <a:srgbClr val="333333"/>
                </a:solidFill>
              </a:defRPr>
            </a:pPr>
            <a:r>
              <a:t>Low damping force</a:t>
            </a:r>
          </a:p>
          <a:p>
            <a:pPr>
              <a:spcAft>
                <a:spcPts val="600"/>
              </a:spcAft>
              <a:defRPr sz="1800">
                <a:solidFill>
                  <a:srgbClr val="333333"/>
                </a:solidFill>
              </a:defRPr>
            </a:pPr>
            <a:r>
              <a:t>Comfortable ride</a:t>
            </a:r>
          </a:p>
          <a:p>
            <a:pPr>
              <a:spcAft>
                <a:spcPts val="1000"/>
              </a:spcAft>
              <a:defRPr sz="1800">
                <a:solidFill>
                  <a:srgbClr val="333333"/>
                </a:solidFill>
              </a:defRPr>
            </a:pPr>
            <a:r>
              <a:t>Strong Magnetic Field (Stiff Damping): — Iron particles align in magnetic field</a:t>
            </a:r>
          </a:p>
          <a:p>
            <a:pPr>
              <a:spcAft>
                <a:spcPts val="600"/>
              </a:spcAft>
              <a:defRPr sz="1800">
                <a:solidFill>
                  <a:srgbClr val="333333"/>
                </a:solidFill>
              </a:defRPr>
            </a:pPr>
            <a:r>
              <a:t>Fluid becomes thick (viscosity increases dramatically)</a:t>
            </a:r>
          </a:p>
          <a:p>
            <a:pPr>
              <a:spcAft>
                <a:spcPts val="600"/>
              </a:spcAft>
              <a:defRPr sz="1800">
                <a:solidFill>
                  <a:srgbClr val="333333"/>
                </a:solidFill>
              </a:defRPr>
            </a:pPr>
            <a:r>
              <a:t>Fluid resists flow through piston</a:t>
            </a:r>
          </a:p>
          <a:p>
            <a:pPr>
              <a:spcAft>
                <a:spcPts val="600"/>
              </a:spcAft>
              <a:defRPr sz="1800">
                <a:solidFill>
                  <a:srgbClr val="333333"/>
                </a:solidFill>
              </a:defRPr>
            </a:pPr>
            <a:r>
              <a:t>High damping force</a:t>
            </a:r>
          </a:p>
          <a:p>
            <a:pPr>
              <a:spcAft>
                <a:spcPts val="600"/>
              </a:spcAft>
              <a:defRPr sz="1800">
                <a:solidFill>
                  <a:srgbClr val="333333"/>
                </a:solidFill>
              </a:defRPr>
            </a:pPr>
            <a:r>
              <a:t>Tight control</a:t>
            </a:r>
          </a:p>
          <a:p>
            <a:pPr>
              <a:spcAft>
                <a:spcPts val="1000"/>
              </a:spcAft>
              <a:defRPr sz="1800">
                <a:solidFill>
                  <a:srgbClr val="333333"/>
                </a:solidFill>
              </a:defRPr>
            </a:pPr>
            <a:r>
              <a:t>Response Time: 1-5 milliseconds (nearly instant!)</a:t>
            </a:r>
          </a:p>
          <a:p>
            <a:pPr>
              <a:spcAft>
                <a:spcPts val="1000"/>
              </a:spcAft>
              <a:defRPr sz="1800">
                <a:solidFill>
                  <a:srgbClr val="333333"/>
                </a:solidFill>
              </a:defRPr>
            </a:pPr>
            <a:r>
              <a:t>Control Range: — Minimum damping: ζ ≈ 0.2 (very comfortable)</a:t>
            </a:r>
          </a:p>
          <a:p>
            <a:pPr>
              <a:spcAft>
                <a:spcPts val="600"/>
              </a:spcAft>
              <a:defRPr sz="1800">
                <a:solidFill>
                  <a:srgbClr val="333333"/>
                </a:solidFill>
              </a:defRPr>
            </a:pPr>
            <a:r>
              <a:t>Maximum damping: ζ ≈ 0.8 (very controlled)</a:t>
            </a:r>
          </a:p>
          <a:p>
            <a:pPr>
              <a:spcAft>
                <a:spcPts val="600"/>
              </a:spcAft>
              <a:defRPr sz="1800">
                <a:solidFill>
                  <a:srgbClr val="333333"/>
                </a:solidFill>
              </a:defRPr>
            </a:pPr>
            <a:r>
              <a:t>Infinitely variable between these extremes</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p>
        </p:txBody>
      </p:sp>
      <p:sp>
        <p:nvSpPr>
          <p:cNvPr id="3" name="Content Placeholder 2"/>
          <p:cNvSpPr>
            <a:spLocks noGrp="1"/>
          </p:cNvSpPr>
          <p:nvPr>
            <p:ph idx="1"/>
          </p:nvPr>
        </p:nvSpPr>
        <p:spPr/>
        <p:txBody>
          <a:bodyPr/>
          <a:lstStyle/>
          <a:p>
            <a:pPr>
              <a:spcAft>
                <a:spcPts val="1000"/>
              </a:spcAft>
              <a:defRPr sz="1800">
                <a:solidFill>
                  <a:srgbClr val="333333"/>
                </a:solidFill>
              </a:defRPr>
            </a:pPr>
            <a:r>
              <a:t>Alternative Technology: Solenoid Valve Dampers (More Common, Cheaper)</a:t>
            </a:r>
          </a:p>
          <a:p>
            <a:pPr>
              <a:spcAft>
                <a:spcPts val="1000"/>
              </a:spcAft>
              <a:defRPr sz="1800">
                <a:solidFill>
                  <a:srgbClr val="333333"/>
                </a:solidFill>
              </a:defRPr>
            </a:pPr>
            <a:r>
              <a:t>Design: — Conventional damper with electronically controlled valve</a:t>
            </a:r>
          </a:p>
          <a:p>
            <a:pPr>
              <a:spcAft>
                <a:spcPts val="600"/>
              </a:spcAft>
              <a:defRPr sz="1800">
                <a:solidFill>
                  <a:srgbClr val="333333"/>
                </a:solidFill>
              </a:defRPr>
            </a:pPr>
            <a:r>
              <a:t>Solenoid valve bypasses piston orifices</a:t>
            </a:r>
          </a:p>
          <a:p>
            <a:pPr>
              <a:spcAft>
                <a:spcPts val="600"/>
              </a:spcAft>
              <a:defRPr sz="1800">
                <a:solidFill>
                  <a:srgbClr val="333333"/>
                </a:solidFill>
              </a:defRPr>
            </a:pPr>
            <a:r>
              <a:t>ECU opens/closes valve</a:t>
            </a:r>
          </a:p>
          <a:p>
            <a:pPr>
              <a:spcAft>
                <a:spcPts val="1000"/>
              </a:spcAft>
              <a:defRPr sz="1800">
                <a:solidFill>
                  <a:srgbClr val="333333"/>
                </a:solidFill>
              </a:defRPr>
            </a:pPr>
            <a:r>
              <a:t>How It Works:</a:t>
            </a:r>
          </a:p>
          <a:p>
            <a:pPr>
              <a:spcAft>
                <a:spcPts val="1000"/>
              </a:spcAft>
              <a:defRPr sz="1800">
                <a:solidFill>
                  <a:srgbClr val="333333"/>
                </a:solidFill>
              </a:defRPr>
            </a:pPr>
            <a:r>
              <a:t>Valve Open (Soft): — Oil bypasses piston orifices through large valve opening</a:t>
            </a:r>
          </a:p>
          <a:p>
            <a:pPr>
              <a:spcAft>
                <a:spcPts val="600"/>
              </a:spcAft>
              <a:defRPr sz="1800">
                <a:solidFill>
                  <a:srgbClr val="333333"/>
                </a:solidFill>
              </a:defRPr>
            </a:pPr>
            <a:r>
              <a:t>Low resistance, soft damping</a:t>
            </a:r>
          </a:p>
          <a:p>
            <a:pPr>
              <a:spcAft>
                <a:spcPts val="1000"/>
              </a:spcAft>
              <a:defRPr sz="1800">
                <a:solidFill>
                  <a:srgbClr val="333333"/>
                </a:solidFill>
              </a:defRPr>
            </a:pPr>
            <a:r>
              <a:t>Valve Closed (Stiff): — Oil must flow through small piston orifices</a:t>
            </a:r>
          </a:p>
          <a:p>
            <a:pPr>
              <a:spcAft>
                <a:spcPts val="600"/>
              </a:spcAft>
              <a:defRPr sz="1800">
                <a:solidFill>
                  <a:srgbClr val="333333"/>
                </a:solidFill>
              </a:defRPr>
            </a:pPr>
            <a:r>
              <a:t>High resistance, stiff damping</a:t>
            </a:r>
          </a:p>
          <a:p>
            <a:pPr>
              <a:spcAft>
                <a:spcPts val="1000"/>
              </a:spcAft>
              <a:defRPr sz="1800">
                <a:solidFill>
                  <a:srgbClr val="333333"/>
                </a:solidFill>
              </a:defRPr>
            </a:pPr>
            <a:r>
              <a:t>Response Time: 10-50 milliseconds (slower than MR, but adequate)</a:t>
            </a:r>
          </a:p>
          <a:p>
            <a:pPr>
              <a:spcAft>
                <a:spcPts val="1000"/>
              </a:spcAft>
              <a:defRPr sz="1800">
                <a:solidFill>
                  <a:srgbClr val="333333"/>
                </a:solidFill>
              </a:defRPr>
            </a:pPr>
            <a:r>
              <a:t>Control: Typically 2-3 discrete settings (Comfort / Normal / Sport), not infinitely variable</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p>
        </p:txBody>
      </p:sp>
      <p:sp>
        <p:nvSpPr>
          <p:cNvPr id="3" name="Content Placeholder 2"/>
          <p:cNvSpPr>
            <a:spLocks noGrp="1"/>
          </p:cNvSpPr>
          <p:nvPr>
            <p:ph idx="1"/>
          </p:nvPr>
        </p:nvSpPr>
        <p:spPr/>
        <p:txBody>
          <a:bodyPr/>
          <a:lstStyle/>
          <a:p>
            <a:pPr>
              <a:spcAft>
                <a:spcPts val="1000"/>
              </a:spcAft>
              <a:defRPr sz="1800">
                <a:solidFill>
                  <a:srgbClr val="333333"/>
                </a:solidFill>
              </a:defRPr>
            </a:pPr>
            <a:r>
              <a:t>ECU Control Strategy:</a:t>
            </a:r>
          </a:p>
          <a:p>
            <a:pPr>
              <a:spcAft>
                <a:spcPts val="1000"/>
              </a:spcAft>
              <a:defRPr sz="1800">
                <a:solidFill>
                  <a:srgbClr val="333333"/>
                </a:solidFill>
              </a:defRPr>
            </a:pPr>
            <a:r>
              <a:t>Inputs:</a:t>
            </a:r>
          </a:p>
          <a:p>
            <a:pPr>
              <a:spcAft>
                <a:spcPts val="600"/>
              </a:spcAft>
              <a:defRPr sz="1800">
                <a:solidFill>
                  <a:srgbClr val="333333"/>
                </a:solidFill>
              </a:defRPr>
            </a:pPr>
            <a:r>
              <a:t>Accelerometers (measure body vertical acceleration)</a:t>
            </a:r>
          </a:p>
          <a:p>
            <a:pPr>
              <a:spcAft>
                <a:spcPts val="600"/>
              </a:spcAft>
              <a:defRPr sz="1800">
                <a:solidFill>
                  <a:srgbClr val="333333"/>
                </a:solidFill>
              </a:defRPr>
            </a:pPr>
            <a:r>
              <a:t>Position sensors (measure suspension travel at each corner)</a:t>
            </a:r>
          </a:p>
          <a:p>
            <a:pPr>
              <a:spcAft>
                <a:spcPts val="600"/>
              </a:spcAft>
              <a:defRPr sz="1800">
                <a:solidFill>
                  <a:srgbClr val="333333"/>
                </a:solidFill>
              </a:defRPr>
            </a:pPr>
            <a:r>
              <a:t>Steering angle sensor (detect cornering)</a:t>
            </a:r>
          </a:p>
          <a:p>
            <a:pPr>
              <a:spcAft>
                <a:spcPts val="600"/>
              </a:spcAft>
              <a:defRPr sz="1800">
                <a:solidFill>
                  <a:srgbClr val="333333"/>
                </a:solidFill>
              </a:defRPr>
            </a:pPr>
            <a:r>
              <a:t>Brake pressure sensor (detect braking)</a:t>
            </a:r>
          </a:p>
          <a:p>
            <a:pPr>
              <a:spcAft>
                <a:spcPts val="600"/>
              </a:spcAft>
              <a:defRPr sz="1800">
                <a:solidFill>
                  <a:srgbClr val="333333"/>
                </a:solidFill>
              </a:defRPr>
            </a:pPr>
            <a:r>
              <a:t>Throttle position (detect acceleration)</a:t>
            </a:r>
          </a:p>
          <a:p>
            <a:pPr>
              <a:spcAft>
                <a:spcPts val="600"/>
              </a:spcAft>
              <a:defRPr sz="1800">
                <a:solidFill>
                  <a:srgbClr val="333333"/>
                </a:solidFill>
              </a:defRPr>
            </a:pPr>
            <a:r>
              <a:t>Vehicle speed</a:t>
            </a:r>
          </a:p>
          <a:p>
            <a:pPr>
              <a:spcAft>
                <a:spcPts val="600"/>
              </a:spcAft>
              <a:defRPr sz="1800">
                <a:solidFill>
                  <a:srgbClr val="333333"/>
                </a:solidFill>
              </a:defRPr>
            </a:pPr>
            <a:r>
              <a:t>Driver mode selection (Comfort / Sport / Auto button)</a:t>
            </a:r>
          </a:p>
          <a:p>
            <a:pPr>
              <a:spcAft>
                <a:spcPts val="1000"/>
              </a:spcAft>
              <a:defRPr sz="1800">
                <a:solidFill>
                  <a:srgbClr val="333333"/>
                </a:solidFill>
              </a:defRPr>
            </a:pPr>
            <a:r>
              <a:t>Processing:</a:t>
            </a:r>
          </a:p>
          <a:p>
            <a:pPr>
              <a:spcAft>
                <a:spcPts val="1000"/>
              </a:spcAft>
              <a:defRPr sz="1800">
                <a:solidFill>
                  <a:srgbClr val="333333"/>
                </a:solidFill>
              </a:defRPr>
            </a:pPr>
            <a:r>
              <a:t>The ECU runs at 100-1000 Hz, continuously:</a:t>
            </a:r>
          </a:p>
          <a:p>
            <a:pPr>
              <a:spcAft>
                <a:spcPts val="1000"/>
              </a:spcAft>
              <a:defRPr sz="1800">
                <a:solidFill>
                  <a:srgbClr val="333333"/>
                </a:solidFill>
              </a:defRPr>
            </a:pPr>
            <a:r>
              <a:t>Step 1: Classify driving state — Straight-line cruising → Comfort mode (soft damping)</a:t>
            </a:r>
          </a:p>
          <a:p>
            <a:pPr>
              <a:spcAft>
                <a:spcPts val="600"/>
              </a:spcAft>
              <a:defRPr sz="1800">
                <a:solidFill>
                  <a:srgbClr val="333333"/>
                </a:solidFill>
              </a:defRPr>
            </a:pPr>
            <a:r>
              <a:t>Cornering → Sport mode (stiff damping, especially compression on outside wheels)</a:t>
            </a:r>
          </a:p>
          <a:p>
            <a:pPr>
              <a:spcAft>
                <a:spcPts val="600"/>
              </a:spcAft>
              <a:defRPr sz="1800">
                <a:solidFill>
                  <a:srgbClr val="333333"/>
                </a:solidFill>
              </a:defRPr>
            </a:pPr>
            <a:r>
              <a:t>Braking → Stiffen front dampers (reduce dive)</a:t>
            </a:r>
          </a:p>
          <a:p>
            <a:pPr>
              <a:spcAft>
                <a:spcPts val="600"/>
              </a:spcAft>
              <a:defRPr sz="1800">
                <a:solidFill>
                  <a:srgbClr val="333333"/>
                </a:solidFill>
              </a:defRPr>
            </a:pPr>
            <a:r>
              <a:t>Acceleration → Stiffen rear dampers (reduce squat)</a:t>
            </a:r>
          </a:p>
          <a:p>
            <a:pPr>
              <a:spcAft>
                <a:spcPts val="600"/>
              </a:spcAft>
              <a:defRPr sz="1800">
                <a:solidFill>
                  <a:srgbClr val="333333"/>
                </a:solidFill>
              </a:defRPr>
            </a:pPr>
            <a:r>
              <a:t>Rough road detected → Soften all dampers (ride quality priority)</a:t>
            </a:r>
          </a:p>
          <a:p>
            <a:pPr>
              <a:spcAft>
                <a:spcPts val="1000"/>
              </a:spcAft>
              <a:defRPr sz="1800">
                <a:solidFill>
                  <a:srgbClr val="333333"/>
                </a:solidFill>
              </a:defRPr>
            </a:pPr>
            <a:r>
              <a:t>Step 2: Calculate required damping for each corner — May be different for FL, FR, RL, RR (individual control)</a:t>
            </a:r>
          </a:p>
          <a:p>
            <a:pPr>
              <a:spcAft>
                <a:spcPts val="600"/>
              </a:spcAft>
              <a:defRPr sz="1800">
                <a:solidFill>
                  <a:srgbClr val="333333"/>
                </a:solidFill>
              </a:defRPr>
            </a:pPr>
            <a:r>
              <a:t>Example: Right turn → Stiffen LF and LR (outside wheels), soften RF and RR (inside wheels)</a:t>
            </a:r>
          </a:p>
          <a:p>
            <a:pPr>
              <a:spcAft>
                <a:spcPts val="1000"/>
              </a:spcAft>
              <a:defRPr sz="1800">
                <a:solidFill>
                  <a:srgbClr val="333333"/>
                </a:solidFill>
              </a:defRPr>
            </a:pPr>
            <a:r>
              <a:t>Step 3: Command damper actuators — Send current to MR coils or open/close solenoid valves</a:t>
            </a:r>
          </a:p>
          <a:p>
            <a:pPr>
              <a:spcAft>
                <a:spcPts val="600"/>
              </a:spcAft>
              <a:defRPr sz="1800">
                <a:solidFill>
                  <a:srgbClr val="333333"/>
                </a:solidFill>
              </a:defRPr>
            </a:pPr>
            <a:r>
              <a:t>Update every 1-10 milliseconds</a:t>
            </a:r>
          </a:p>
          <a:p>
            <a:pPr>
              <a:spcAft>
                <a:spcPts val="1000"/>
              </a:spcAft>
              <a:defRPr sz="1800">
                <a:solidFill>
                  <a:srgbClr val="333333"/>
                </a:solidFill>
              </a:defRPr>
            </a:pPr>
            <a:r>
              <a:t>Instructor Narration (continued):</a:t>
            </a:r>
          </a:p>
          <a:p>
            <a:pPr>
              <a:spcAft>
                <a:spcPts val="1000"/>
              </a:spcAft>
              <a:defRPr sz="1800">
                <a:solidFill>
                  <a:srgbClr val="333333"/>
                </a:solidFill>
              </a:defRPr>
            </a:pPr>
            <a:r>
              <a:t>This is where semi-active suspension shines. The system adapts faster than you can perceive. You hit a bump → ECU detects it within 1 ms → Softens damper → You feel a smooth ride. You turn the steering wheel → ECU detects it instantly → Stiffens dampers → Body stays flat. It's the best of both worlds.</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Active Suspension - The Ultimate Solution</a:t>
            </a:r>
          </a:p>
        </p:txBody>
      </p:sp>
      <p:sp>
        <p:nvSpPr>
          <p:cNvPr id="3" name="Content Placeholder 2"/>
          <p:cNvSpPr>
            <a:spLocks noGrp="1"/>
          </p:cNvSpPr>
          <p:nvPr>
            <p:ph idx="1"/>
          </p:nvPr>
        </p:nvSpPr>
        <p:spPr/>
        <p:txBody>
          <a:bodyPr/>
          <a:lstStyle/>
          <a:p>
            <a:pPr>
              <a:spcAft>
                <a:spcPts val="1000"/>
              </a:spcAft>
              <a:defRPr sz="1800">
                <a:solidFill>
                  <a:srgbClr val="333333"/>
                </a:solidFill>
              </a:defRPr>
            </a:pPr>
            <a:r>
              <a:t>Instructor Narration:</a:t>
            </a:r>
          </a:p>
          <a:p>
            <a:pPr>
              <a:spcAft>
                <a:spcPts val="1000"/>
              </a:spcAft>
              <a:defRPr sz="1800">
                <a:solidFill>
                  <a:srgbClr val="333333"/>
                </a:solidFill>
              </a:defRPr>
            </a:pPr>
            <a:r>
              <a:t>Active suspension goes one step further: instead of just changing damping, the system can apply force to push or pull the suspension.</a:t>
            </a:r>
          </a:p>
          <a:p>
            <a:pPr>
              <a:spcAft>
                <a:spcPts val="1000"/>
              </a:spcAft>
              <a:defRPr sz="1800">
                <a:solidFill>
                  <a:srgbClr val="333333"/>
                </a:solidFill>
              </a:defRPr>
            </a:pPr>
            <a:r>
              <a:t>Semi-Active Limitation: — Can only dissipate energy (remove energy from system)</a:t>
            </a:r>
          </a:p>
          <a:p>
            <a:pPr>
              <a:spcAft>
                <a:spcPts val="600"/>
              </a:spcAft>
              <a:defRPr sz="1800">
                <a:solidFill>
                  <a:srgbClr val="333333"/>
                </a:solidFill>
              </a:defRPr>
            </a:pPr>
            <a:r>
              <a:t>Cannot add energy (cannot push suspension actively)</a:t>
            </a:r>
          </a:p>
          <a:p>
            <a:pPr>
              <a:spcAft>
                <a:spcPts val="600"/>
              </a:spcAft>
              <a:defRPr sz="1800">
                <a:solidFill>
                  <a:srgbClr val="333333"/>
                </a:solidFill>
              </a:defRPr>
            </a:pPr>
            <a:r>
              <a:t>Example: Can resist body roll, but cannot completely eliminate it</a:t>
            </a:r>
          </a:p>
          <a:p>
            <a:pPr>
              <a:spcAft>
                <a:spcPts val="1000"/>
              </a:spcAft>
              <a:defRPr sz="1800">
                <a:solidFill>
                  <a:srgbClr val="333333"/>
                </a:solidFill>
              </a:defRPr>
            </a:pPr>
            <a:r>
              <a:t>Active Advantage: — Can add energy (hydraulic pump or electric motor drives actuator)</a:t>
            </a:r>
          </a:p>
          <a:p>
            <a:pPr>
              <a:spcAft>
                <a:spcPts val="600"/>
              </a:spcAft>
              <a:defRPr sz="1800">
                <a:solidFill>
                  <a:srgbClr val="333333"/>
                </a:solidFill>
              </a:defRPr>
            </a:pPr>
            <a:r>
              <a:t>Can completely cancel body roll, pitch, dive</a:t>
            </a:r>
          </a:p>
          <a:p>
            <a:pPr>
              <a:spcAft>
                <a:spcPts val="600"/>
              </a:spcAft>
              <a:defRPr sz="1800">
                <a:solidFill>
                  <a:srgbClr val="333333"/>
                </a:solidFill>
              </a:defRPr>
            </a:pPr>
            <a:r>
              <a:t>Can adjust ride height on the fly</a:t>
            </a:r>
          </a:p>
          <a:p>
            <a:pPr>
              <a:spcAft>
                <a:spcPts val="1000"/>
              </a:spcAft>
              <a:defRPr sz="1800">
                <a:solidFill>
                  <a:srgbClr val="333333"/>
                </a:solidFill>
              </a:defRPr>
            </a:pPr>
            <a:r>
              <a:t>Technology:</a:t>
            </a:r>
          </a:p>
          <a:p>
            <a:pPr>
              <a:spcAft>
                <a:spcPts val="1000"/>
              </a:spcAft>
              <a:defRPr sz="1800">
                <a:solidFill>
                  <a:srgbClr val="333333"/>
                </a:solidFill>
              </a:defRPr>
            </a:pPr>
            <a:r>
              <a:t>1. HYDRAULIC ACTIVE SUSPENSION</a:t>
            </a:r>
          </a:p>
          <a:p>
            <a:pPr>
              <a:spcAft>
                <a:spcPts val="1000"/>
              </a:spcAft>
              <a:defRPr sz="1800">
                <a:solidFill>
                  <a:srgbClr val="333333"/>
                </a:solidFill>
              </a:defRPr>
            </a:pPr>
            <a:r>
              <a:t>Design: — Replace spring/damper with hydraulic actuator (double-acting cylinder)</a:t>
            </a:r>
          </a:p>
          <a:p>
            <a:pPr>
              <a:spcAft>
                <a:spcPts val="600"/>
              </a:spcAft>
              <a:defRPr sz="1800">
                <a:solidFill>
                  <a:srgbClr val="333333"/>
                </a:solidFill>
              </a:defRPr>
            </a:pPr>
            <a:r>
              <a:t>High-pressure hydraulic pump (200+ bar)</a:t>
            </a:r>
          </a:p>
          <a:p>
            <a:pPr>
              <a:spcAft>
                <a:spcPts val="600"/>
              </a:spcAft>
              <a:defRPr sz="1800">
                <a:solidFill>
                  <a:srgbClr val="333333"/>
                </a:solidFill>
              </a:defRPr>
            </a:pPr>
            <a:r>
              <a:t>Fast-acting servo valves</a:t>
            </a:r>
          </a:p>
          <a:p>
            <a:pPr>
              <a:spcAft>
                <a:spcPts val="600"/>
              </a:spcAft>
              <a:defRPr sz="1800">
                <a:solidFill>
                  <a:srgbClr val="333333"/>
                </a:solidFill>
              </a:defRPr>
            </a:pPr>
            <a:r>
              <a:t>ECU controls valve opening (pressure to upper or lower chamber)</a:t>
            </a:r>
          </a:p>
          <a:p>
            <a:pPr>
              <a:spcAft>
                <a:spcPts val="1000"/>
              </a:spcAft>
              <a:defRPr sz="1800">
                <a:solidFill>
                  <a:srgbClr val="333333"/>
                </a:solidFill>
              </a:defRPr>
            </a:pPr>
            <a:r>
              <a:t>How It Works: — Sensors detect impending body roll (steering input, lateral acceleration)</a:t>
            </a:r>
          </a:p>
          <a:p>
            <a:pPr>
              <a:spcAft>
                <a:spcPts val="600"/>
              </a:spcAft>
              <a:defRPr sz="1800">
                <a:solidFill>
                  <a:srgbClr val="333333"/>
                </a:solidFill>
              </a:defRPr>
            </a:pPr>
            <a:r>
              <a:t>ECU commands actuator to extend on outside, compress on inside</a:t>
            </a:r>
          </a:p>
          <a:p>
            <a:pPr>
              <a:spcAft>
                <a:spcPts val="600"/>
              </a:spcAft>
              <a:defRPr sz="1800">
                <a:solidFill>
                  <a:srgbClr val="333333"/>
                </a:solidFill>
              </a:defRPr>
            </a:pPr>
            <a:r>
              <a:t>Hydraulic force opposes body roll</a:t>
            </a:r>
          </a:p>
          <a:p>
            <a:pPr>
              <a:spcAft>
                <a:spcPts val="600"/>
              </a:spcAft>
              <a:defRPr sz="1800">
                <a:solidFill>
                  <a:srgbClr val="333333"/>
                </a:solidFill>
              </a:defRPr>
            </a:pPr>
            <a:r>
              <a:t>Result: Body stays perfectly flat even in hard corners</a:t>
            </a:r>
          </a:p>
          <a:p>
            <a:pPr>
              <a:spcAft>
                <a:spcPts val="1000"/>
              </a:spcAft>
              <a:defRPr sz="1800">
                <a:solidFill>
                  <a:srgbClr val="333333"/>
                </a:solidFill>
              </a:defRPr>
            </a:pPr>
            <a:r>
              <a:t>Examples: — Citroën Hydropneumatic (1950s!—pioneering technology)</a:t>
            </a:r>
          </a:p>
          <a:p>
            <a:pPr>
              <a:spcAft>
                <a:spcPts val="600"/>
              </a:spcAft>
              <a:defRPr sz="1800">
                <a:solidFill>
                  <a:srgbClr val="333333"/>
                </a:solidFill>
              </a:defRPr>
            </a:pPr>
            <a:r>
              <a:t>Mercedes-Benz Active Body Control (ABC) (2000s S-Class, current S-Class)</a:t>
            </a:r>
          </a:p>
          <a:p>
            <a:pPr>
              <a:spcAft>
                <a:spcPts val="600"/>
              </a:spcAft>
              <a:defRPr sz="1800">
                <a:solidFill>
                  <a:srgbClr val="333333"/>
                </a:solidFill>
              </a:defRPr>
            </a:pPr>
            <a:r>
              <a:t>McLaren Proactive Chassis Control (Supercars)</a:t>
            </a:r>
          </a:p>
          <a:p>
            <a:pPr>
              <a:spcAft>
                <a:spcPts val="1000"/>
              </a:spcAft>
              <a:defRPr sz="1800">
                <a:solidFill>
                  <a:srgbClr val="333333"/>
                </a:solidFill>
              </a:defRPr>
            </a:pPr>
            <a:r>
              <a:t>Advantages:</a:t>
            </a:r>
          </a:p>
          <a:p>
            <a:pPr>
              <a:spcAft>
                <a:spcPts val="1000"/>
              </a:spcAft>
              <a:defRPr sz="1800">
                <a:solidFill>
                  <a:srgbClr val="333333"/>
                </a:solidFill>
              </a:defRPr>
            </a:pPr>
            <a:r>
              <a:t>✅ Can achieve near-zero body roll (looks impossible, completely flat cornering)</a:t>
            </a:r>
          </a:p>
          <a:p>
            <a:pPr>
              <a:spcAft>
                <a:spcPts val="1000"/>
              </a:spcAft>
              <a:defRPr sz="1800">
                <a:solidFill>
                  <a:srgbClr val="333333"/>
                </a:solidFill>
              </a:defRPr>
            </a:pPr>
            <a:r>
              <a:t>✅ Can eliminate pitch during braking/acceleration</a:t>
            </a:r>
          </a:p>
          <a:p>
            <a:pPr>
              <a:spcAft>
                <a:spcPts val="1000"/>
              </a:spcAft>
              <a:defRPr sz="1800">
                <a:solidFill>
                  <a:srgbClr val="333333"/>
                </a:solidFill>
              </a:defRPr>
            </a:pPr>
            <a:r>
              <a:t>✅ Can adjust ride height for aerodynamics or ground clearance</a:t>
            </a:r>
          </a:p>
          <a:p>
            <a:pPr>
              <a:spcAft>
                <a:spcPts val="1000"/>
              </a:spcAft>
              <a:defRPr sz="1800">
                <a:solidFill>
                  <a:srgbClr val="333333"/>
                </a:solidFill>
              </a:defRPr>
            </a:pPr>
            <a:r>
              <a:t>✅ Best possible ride + handling combination</a:t>
            </a:r>
          </a:p>
          <a:p>
            <a:pPr>
              <a:spcAft>
                <a:spcPts val="1000"/>
              </a:spcAft>
              <a:defRPr sz="1800">
                <a:solidFill>
                  <a:srgbClr val="333333"/>
                </a:solidFill>
              </a:defRPr>
            </a:pPr>
            <a:r>
              <a:t>Disadvantages:</a:t>
            </a:r>
          </a:p>
          <a:p>
            <a:pPr>
              <a:spcAft>
                <a:spcPts val="1000"/>
              </a:spcAft>
              <a:defRPr sz="1800">
                <a:solidFill>
                  <a:srgbClr val="333333"/>
                </a:solidFill>
              </a:defRPr>
            </a:pPr>
            <a:r>
              <a:t>❌ Extremely expensive (hydraulic pump, actuators, valves, sensors = $5,000-10,000 system cost)</a:t>
            </a:r>
          </a:p>
          <a:p>
            <a:pPr>
              <a:spcAft>
                <a:spcPts val="1000"/>
              </a:spcAft>
              <a:defRPr sz="1800">
                <a:solidFill>
                  <a:srgbClr val="333333"/>
                </a:solidFill>
              </a:defRPr>
            </a:pPr>
            <a:r>
              <a:t>❌ Complex (many failure points, expensive repairs)</a:t>
            </a:r>
          </a:p>
          <a:p>
            <a:pPr>
              <a:spcAft>
                <a:spcPts val="1000"/>
              </a:spcAft>
              <a:defRPr sz="1800">
                <a:solidFill>
                  <a:srgbClr val="333333"/>
                </a:solidFill>
              </a:defRPr>
            </a:pPr>
            <a:r>
              <a:t>❌ Power consumption (hydraulic pump draws several kW)</a:t>
            </a:r>
          </a:p>
          <a:p>
            <a:pPr>
              <a:spcAft>
                <a:spcPts val="1000"/>
              </a:spcAft>
              <a:defRPr sz="1800">
                <a:solidFill>
                  <a:srgbClr val="333333"/>
                </a:solidFill>
              </a:defRPr>
            </a:pPr>
            <a:r>
              <a:t>❌ Weight (hydraulic system adds 50-100 kg)</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p>
        </p:txBody>
      </p:sp>
      <p:sp>
        <p:nvSpPr>
          <p:cNvPr id="3" name="Content Placeholder 2"/>
          <p:cNvSpPr>
            <a:spLocks noGrp="1"/>
          </p:cNvSpPr>
          <p:nvPr>
            <p:ph idx="1"/>
          </p:nvPr>
        </p:nvSpPr>
        <p:spPr/>
        <p:txBody>
          <a:bodyPr/>
          <a:lstStyle/>
          <a:p>
            <a:pPr>
              <a:spcAft>
                <a:spcPts val="1000"/>
              </a:spcAft>
              <a:defRPr sz="1800">
                <a:solidFill>
                  <a:srgbClr val="333333"/>
                </a:solidFill>
              </a:defRPr>
            </a:pPr>
            <a:r>
              <a:t>2. ELECTRIC ACTIVE SUSPENSION</a:t>
            </a:r>
          </a:p>
          <a:p>
            <a:pPr>
              <a:spcAft>
                <a:spcPts val="1000"/>
              </a:spcAft>
              <a:defRPr sz="1800">
                <a:solidFill>
                  <a:srgbClr val="333333"/>
                </a:solidFill>
              </a:defRPr>
            </a:pPr>
            <a:r>
              <a:t>Design: — Replace spring/damper with electric linear actuator (ball screw driven by motor)</a:t>
            </a:r>
          </a:p>
          <a:p>
            <a:pPr>
              <a:spcAft>
                <a:spcPts val="600"/>
              </a:spcAft>
              <a:defRPr sz="1800">
                <a:solidFill>
                  <a:srgbClr val="333333"/>
                </a:solidFill>
              </a:defRPr>
            </a:pPr>
            <a:r>
              <a:t>High-power electric motors (1-2 kW per corner)</a:t>
            </a:r>
          </a:p>
          <a:p>
            <a:pPr>
              <a:spcAft>
                <a:spcPts val="600"/>
              </a:spcAft>
              <a:defRPr sz="1800">
                <a:solidFill>
                  <a:srgbClr val="333333"/>
                </a:solidFill>
              </a:defRPr>
            </a:pPr>
            <a:r>
              <a:t>48V electrical system (standard 12V insufficient)</a:t>
            </a:r>
          </a:p>
          <a:p>
            <a:pPr>
              <a:spcAft>
                <a:spcPts val="600"/>
              </a:spcAft>
              <a:defRPr sz="1800">
                <a:solidFill>
                  <a:srgbClr val="333333"/>
                </a:solidFill>
              </a:defRPr>
            </a:pPr>
            <a:r>
              <a:t>ECU controls motor current</a:t>
            </a:r>
          </a:p>
          <a:p>
            <a:pPr>
              <a:spcAft>
                <a:spcPts val="1000"/>
              </a:spcAft>
              <a:defRPr sz="1800">
                <a:solidFill>
                  <a:srgbClr val="333333"/>
                </a:solidFill>
              </a:defRPr>
            </a:pPr>
            <a:r>
              <a:t>How It Works: — Similar to hydraulic, but uses electric motors instead of hydraulics</a:t>
            </a:r>
          </a:p>
          <a:p>
            <a:pPr>
              <a:spcAft>
                <a:spcPts val="600"/>
              </a:spcAft>
              <a:defRPr sz="1800">
                <a:solidFill>
                  <a:srgbClr val="333333"/>
                </a:solidFill>
              </a:defRPr>
            </a:pPr>
            <a:r>
              <a:t>Can add or remove energy by driving motor forward/reverse</a:t>
            </a:r>
          </a:p>
          <a:p>
            <a:pPr>
              <a:spcAft>
                <a:spcPts val="600"/>
              </a:spcAft>
              <a:defRPr sz="1800">
                <a:solidFill>
                  <a:srgbClr val="333333"/>
                </a:solidFill>
              </a:defRPr>
            </a:pPr>
            <a:r>
              <a:t>Regenerative capability (can recover energy during bump absorption)</a:t>
            </a:r>
          </a:p>
          <a:p>
            <a:pPr>
              <a:spcAft>
                <a:spcPts val="1000"/>
              </a:spcAft>
              <a:defRPr sz="1800">
                <a:solidFill>
                  <a:srgbClr val="333333"/>
                </a:solidFill>
              </a:defRPr>
            </a:pPr>
            <a:r>
              <a:t>Examples: — Bose Electromagnetic Suspension (prototype, never mass-produced—too expensive)</a:t>
            </a:r>
          </a:p>
          <a:p>
            <a:pPr>
              <a:spcAft>
                <a:spcPts val="600"/>
              </a:spcAft>
              <a:defRPr sz="1800">
                <a:solidFill>
                  <a:srgbClr val="333333"/>
                </a:solidFill>
              </a:defRPr>
            </a:pPr>
            <a:r>
              <a:t>Audi eROT system (electromechanical rotary damper, experimental)</a:t>
            </a:r>
          </a:p>
          <a:p>
            <a:pPr>
              <a:spcAft>
                <a:spcPts val="600"/>
              </a:spcAft>
              <a:defRPr sz="1800">
                <a:solidFill>
                  <a:srgbClr val="333333"/>
                </a:solidFill>
              </a:defRPr>
            </a:pPr>
            <a:r>
              <a:t>Future EVs (easier to implement with high-voltage electrical systems)</a:t>
            </a:r>
          </a:p>
          <a:p>
            <a:pPr>
              <a:spcAft>
                <a:spcPts val="1000"/>
              </a:spcAft>
              <a:defRPr sz="1800">
                <a:solidFill>
                  <a:srgbClr val="333333"/>
                </a:solidFill>
              </a:defRPr>
            </a:pPr>
            <a:r>
              <a:t>Advantages:</a:t>
            </a:r>
          </a:p>
          <a:p>
            <a:pPr>
              <a:spcAft>
                <a:spcPts val="1000"/>
              </a:spcAft>
              <a:defRPr sz="1800">
                <a:solidFill>
                  <a:srgbClr val="333333"/>
                </a:solidFill>
              </a:defRPr>
            </a:pPr>
            <a:r>
              <a:t>✅ More efficient than hydraulic (regenerate energy during compression)</a:t>
            </a:r>
          </a:p>
          <a:p>
            <a:pPr>
              <a:spcAft>
                <a:spcPts val="1000"/>
              </a:spcAft>
              <a:defRPr sz="1800">
                <a:solidFill>
                  <a:srgbClr val="333333"/>
                </a:solidFill>
              </a:defRPr>
            </a:pPr>
            <a:r>
              <a:t>✅ Simpler than hydraulic (no pump, no fluid, no hoses)</a:t>
            </a:r>
          </a:p>
          <a:p>
            <a:pPr>
              <a:spcAft>
                <a:spcPts val="1000"/>
              </a:spcAft>
              <a:defRPr sz="1800">
                <a:solidFill>
                  <a:srgbClr val="333333"/>
                </a:solidFill>
              </a:defRPr>
            </a:pPr>
            <a:r>
              <a:t>✅ Precise control (electric motors very controllable)</a:t>
            </a:r>
          </a:p>
          <a:p>
            <a:pPr>
              <a:spcAft>
                <a:spcPts val="1000"/>
              </a:spcAft>
              <a:defRPr sz="1800">
                <a:solidFill>
                  <a:srgbClr val="333333"/>
                </a:solidFill>
              </a:defRPr>
            </a:pPr>
            <a:r>
              <a:t>✅ Lighter than hydraulic (no heavy hydraulic components)</a:t>
            </a:r>
          </a:p>
          <a:p>
            <a:pPr>
              <a:spcAft>
                <a:spcPts val="1000"/>
              </a:spcAft>
              <a:defRPr sz="1800">
                <a:solidFill>
                  <a:srgbClr val="333333"/>
                </a:solidFill>
              </a:defRPr>
            </a:pPr>
            <a:r>
              <a:t>Disadvantages:</a:t>
            </a:r>
          </a:p>
          <a:p>
            <a:pPr>
              <a:spcAft>
                <a:spcPts val="1000"/>
              </a:spcAft>
              <a:defRPr sz="1800">
                <a:solidFill>
                  <a:srgbClr val="333333"/>
                </a:solidFill>
              </a:defRPr>
            </a:pPr>
            <a:r>
              <a:t>❌ Very expensive (high-power linear actuators are expensive)</a:t>
            </a:r>
          </a:p>
          <a:p>
            <a:pPr>
              <a:spcAft>
                <a:spcPts val="1000"/>
              </a:spcAft>
              <a:defRPr sz="1800">
                <a:solidFill>
                  <a:srgbClr val="333333"/>
                </a:solidFill>
              </a:defRPr>
            </a:pPr>
            <a:r>
              <a:t>❌ Power consumption (4-8 kW total, drains battery in EVs)</a:t>
            </a:r>
          </a:p>
          <a:p>
            <a:pPr>
              <a:spcAft>
                <a:spcPts val="1000"/>
              </a:spcAft>
              <a:defRPr sz="1800">
                <a:solidFill>
                  <a:srgbClr val="333333"/>
                </a:solidFill>
              </a:defRPr>
            </a:pPr>
            <a:r>
              <a:t>❌ Not yet mature (few production implementations)</a:t>
            </a:r>
          </a:p>
          <a:p>
            <a:pPr>
              <a:spcAft>
                <a:spcPts val="1000"/>
              </a:spcAft>
              <a:defRPr sz="1800">
                <a:solidFill>
                  <a:srgbClr val="333333"/>
                </a:solidFill>
              </a:defRPr>
            </a:pPr>
            <a:r>
              <a:t>Instructor Narration (continued):</a:t>
            </a:r>
          </a:p>
          <a:p>
            <a:pPr>
              <a:spcAft>
                <a:spcPts val="1000"/>
              </a:spcAft>
              <a:defRPr sz="1800">
                <a:solidFill>
                  <a:srgbClr val="333333"/>
                </a:solidFill>
              </a:defRPr>
            </a:pPr>
            <a:r>
              <a:t>Active suspension is the 'ideal' but the cost is prohibitive. Mercedes S-Class with ABC costs $5,000-8,000 to replace the system if it fails out of warranty. For most buyers, semi-active dampers (cost: $1,000-2,000 for all four) provide 80% of the benefit at 20% of the cost. But if you can afford it, active suspension is magical—the car feels like it's gliding on rails.</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Camera-Based Preview Suspension - The Future</a:t>
            </a:r>
          </a:p>
        </p:txBody>
      </p:sp>
      <p:sp>
        <p:nvSpPr>
          <p:cNvPr id="3" name="Content Placeholder 2"/>
          <p:cNvSpPr>
            <a:spLocks noGrp="1"/>
          </p:cNvSpPr>
          <p:nvPr>
            <p:ph idx="1"/>
          </p:nvPr>
        </p:nvSpPr>
        <p:spPr/>
        <p:txBody>
          <a:bodyPr/>
          <a:lstStyle/>
          <a:p>
            <a:pPr>
              <a:spcAft>
                <a:spcPts val="1000"/>
              </a:spcAft>
              <a:defRPr sz="1800">
                <a:solidFill>
                  <a:srgbClr val="333333"/>
                </a:solidFill>
              </a:defRPr>
            </a:pPr>
            <a:r>
              <a:t>Instructor Narration:</a:t>
            </a:r>
          </a:p>
          <a:p>
            <a:pPr>
              <a:spcAft>
                <a:spcPts val="1000"/>
              </a:spcAft>
              <a:defRPr sz="1800">
                <a:solidFill>
                  <a:srgbClr val="333333"/>
                </a:solidFill>
              </a:defRPr>
            </a:pPr>
            <a:r>
              <a:t>The cutting edge: predictive suspension that sees the road ahead.</a:t>
            </a:r>
          </a:p>
          <a:p>
            <a:pPr>
              <a:spcAft>
                <a:spcPts val="1000"/>
              </a:spcAft>
              <a:defRPr sz="1800">
                <a:solidFill>
                  <a:srgbClr val="333333"/>
                </a:solidFill>
              </a:defRPr>
            </a:pPr>
            <a:r>
              <a:t>The Concept:</a:t>
            </a:r>
          </a:p>
          <a:p>
            <a:pPr>
              <a:spcAft>
                <a:spcPts val="1000"/>
              </a:spcAft>
              <a:defRPr sz="1800">
                <a:solidFill>
                  <a:srgbClr val="333333"/>
                </a:solidFill>
              </a:defRPr>
            </a:pPr>
            <a:r>
              <a:t>Instead of reacting to bumps (traditional), predict bumps before they arrive.</a:t>
            </a:r>
          </a:p>
          <a:p>
            <a:pPr>
              <a:spcAft>
                <a:spcPts val="1000"/>
              </a:spcAft>
              <a:defRPr sz="1800">
                <a:solidFill>
                  <a:srgbClr val="333333"/>
                </a:solidFill>
              </a:defRPr>
            </a:pPr>
            <a:r>
              <a:t>How It Works:</a:t>
            </a:r>
          </a:p>
          <a:p>
            <a:pPr>
              <a:spcAft>
                <a:spcPts val="1000"/>
              </a:spcAft>
              <a:defRPr sz="1800">
                <a:solidFill>
                  <a:srgbClr val="333333"/>
                </a:solidFill>
              </a:defRPr>
            </a:pPr>
            <a:r>
              <a:t>Step 1: Road Scanning — Stereo cameras (same cameras used for ADAS—lane keeping, etc.) scan road ahead</a:t>
            </a:r>
          </a:p>
          <a:p>
            <a:pPr>
              <a:spcAft>
                <a:spcPts val="600"/>
              </a:spcAft>
              <a:defRPr sz="1800">
                <a:solidFill>
                  <a:srgbClr val="333333"/>
                </a:solidFill>
              </a:defRPr>
            </a:pPr>
            <a:r>
              <a:t>Image processing detects bumps, potholes, road texture</a:t>
            </a:r>
          </a:p>
          <a:p>
            <a:pPr>
              <a:spcAft>
                <a:spcPts val="600"/>
              </a:spcAft>
              <a:defRPr sz="1800">
                <a:solidFill>
                  <a:srgbClr val="333333"/>
                </a:solidFill>
              </a:defRPr>
            </a:pPr>
            <a:r>
              <a:t>3D map created: "In 2 meters, there's a 5 cm bump on the left side</a:t>
            </a:r>
          </a:p>
          <a:p>
            <a:pPr>
              <a:spcAft>
                <a:spcPts val="1000"/>
              </a:spcAft>
              <a:defRPr sz="1800">
                <a:solidFill>
                  <a:srgbClr val="333333"/>
                </a:solidFill>
              </a:defRPr>
            </a:pPr>
            <a:r>
              <a:t>Step 2: Prediction — ECU knows vehicle speed: 80 km/h = 22.2 m/s</a:t>
            </a:r>
          </a:p>
          <a:p>
            <a:pPr>
              <a:spcAft>
                <a:spcPts val="600"/>
              </a:spcAft>
              <a:defRPr sz="1800">
                <a:solidFill>
                  <a:srgbClr val="333333"/>
                </a:solidFill>
              </a:defRPr>
            </a:pPr>
            <a:r>
              <a:t>ECU calculates: "Left front wheel will hit that bump in 0.09 seconds</a:t>
            </a:r>
          </a:p>
          <a:p>
            <a:pPr>
              <a:spcAft>
                <a:spcPts val="600"/>
              </a:spcAft>
              <a:defRPr sz="1800">
                <a:solidFill>
                  <a:srgbClr val="333333"/>
                </a:solidFill>
              </a:defRPr>
            </a:pPr>
            <a:r>
              <a:t>ECU predicts: "This will cause 4 m/s² body acceleration with current damper setting</a:t>
            </a:r>
          </a:p>
          <a:p>
            <a:pPr>
              <a:spcAft>
                <a:spcPts val="1000"/>
              </a:spcAft>
              <a:defRPr sz="1800">
                <a:solidFill>
                  <a:srgbClr val="333333"/>
                </a:solidFill>
              </a:defRPr>
            </a:pPr>
            <a:r>
              <a:t>Step 3: Pre-Adjustment — 50 ms before bump arrival: ECU softens left front damper to minimum</a:t>
            </a:r>
          </a:p>
          <a:p>
            <a:pPr>
              <a:spcAft>
                <a:spcPts val="600"/>
              </a:spcAft>
              <a:defRPr sz="1800">
                <a:solidFill>
                  <a:srgbClr val="333333"/>
                </a:solidFill>
              </a:defRPr>
            </a:pPr>
            <a:r>
              <a:t>Wheel absorbs bump with minimal force transmission</a:t>
            </a:r>
          </a:p>
          <a:p>
            <a:pPr>
              <a:spcAft>
                <a:spcPts val="600"/>
              </a:spcAft>
              <a:defRPr sz="1800">
                <a:solidFill>
                  <a:srgbClr val="333333"/>
                </a:solidFill>
              </a:defRPr>
            </a:pPr>
            <a:r>
              <a:t>Immediately after bump: ECU stiffens damper to prevent excessive rebound</a:t>
            </a:r>
          </a:p>
          <a:p>
            <a:pPr>
              <a:spcAft>
                <a:spcPts val="600"/>
              </a:spcAft>
              <a:defRPr sz="1800">
                <a:solidFill>
                  <a:srgbClr val="333333"/>
                </a:solidFill>
              </a:defRPr>
            </a:pPr>
            <a:r>
              <a:t>Result: Bump is invisible to passengers (body acceleration &lt; 1 m/s²)</a:t>
            </a:r>
          </a:p>
          <a:p>
            <a:pPr>
              <a:spcAft>
                <a:spcPts val="1000"/>
              </a:spcAft>
              <a:defRPr sz="1800">
                <a:solidFill>
                  <a:srgbClr val="333333"/>
                </a:solidFill>
              </a:defRPr>
            </a:pPr>
            <a:r>
              <a:t>Real-World Implementation:</a:t>
            </a:r>
          </a:p>
          <a:p>
            <a:pPr>
              <a:spcAft>
                <a:spcPts val="1000"/>
              </a:spcAft>
              <a:defRPr sz="1800">
                <a:solidFill>
                  <a:srgbClr val="333333"/>
                </a:solidFill>
              </a:defRPr>
            </a:pPr>
            <a:r>
              <a:t>Mercedes-Benz E-Active Body Control (E-ABC) (2021+ S-Class, EQS):</a:t>
            </a:r>
          </a:p>
          <a:p>
            <a:pPr>
              <a:spcAft>
                <a:spcPts val="600"/>
              </a:spcAft>
              <a:defRPr sz="1800">
                <a:solidFill>
                  <a:srgbClr val="333333"/>
                </a:solidFill>
              </a:defRPr>
            </a:pPr>
            <a:r>
              <a:t>Stereo camera scans 15 meters ahead</a:t>
            </a:r>
          </a:p>
          <a:p>
            <a:pPr>
              <a:spcAft>
                <a:spcPts val="600"/>
              </a:spcAft>
              <a:defRPr sz="1800">
                <a:solidFill>
                  <a:srgbClr val="333333"/>
                </a:solidFill>
              </a:defRPr>
            </a:pPr>
            <a:r>
              <a:t>Active hydraulic suspension pre-adjusts for bumps</a:t>
            </a:r>
          </a:p>
          <a:p>
            <a:pPr>
              <a:spcAft>
                <a:spcPts val="600"/>
              </a:spcAft>
              <a:defRPr sz="1800">
                <a:solidFill>
                  <a:srgbClr val="333333"/>
                </a:solidFill>
              </a:defRPr>
            </a:pPr>
            <a:r>
              <a:t>Claims to reduce body motion by up to 90% on rough roads</a:t>
            </a:r>
          </a:p>
          <a:p>
            <a:pPr>
              <a:spcAft>
                <a:spcPts val="600"/>
              </a:spcAft>
              <a:defRPr sz="1800">
                <a:solidFill>
                  <a:srgbClr val="333333"/>
                </a:solidFill>
              </a:defRPr>
            </a:pPr>
            <a:r>
              <a:t>Also uses GPS data (if road profile is known, pre-load settings for specific road sections)</a:t>
            </a:r>
          </a:p>
          <a:p>
            <a:pPr>
              <a:spcAft>
                <a:spcPts val="1000"/>
              </a:spcAft>
              <a:defRPr sz="1800">
                <a:solidFill>
                  <a:srgbClr val="333333"/>
                </a:solidFill>
              </a:defRPr>
            </a:pPr>
            <a:r>
              <a:t>Audi AI Active Suspension (Concept):</a:t>
            </a:r>
          </a:p>
          <a:p>
            <a:pPr>
              <a:spcAft>
                <a:spcPts val="600"/>
              </a:spcAft>
              <a:defRPr sz="1800">
                <a:solidFill>
                  <a:srgbClr val="333333"/>
                </a:solidFill>
              </a:defRPr>
            </a:pPr>
            <a:r>
              <a:t>Electric active suspension</a:t>
            </a:r>
          </a:p>
          <a:p>
            <a:pPr>
              <a:spcAft>
                <a:spcPts val="600"/>
              </a:spcAft>
              <a:defRPr sz="1800">
                <a:solidFill>
                  <a:srgbClr val="333333"/>
                </a:solidFill>
              </a:defRPr>
            </a:pPr>
            <a:r>
              <a:t>Camera-based prediction</a:t>
            </a:r>
          </a:p>
          <a:p>
            <a:pPr>
              <a:spcAft>
                <a:spcPts val="600"/>
              </a:spcAft>
              <a:defRPr sz="1800">
                <a:solidFill>
                  <a:srgbClr val="333333"/>
                </a:solidFill>
              </a:defRPr>
            </a:pPr>
            <a:r>
              <a:t>Machine learning adapts to driver preference over time</a:t>
            </a:r>
          </a:p>
          <a:p>
            <a:pPr>
              <a:spcAft>
                <a:spcPts val="1000"/>
              </a:spcAft>
              <a:defRPr sz="1800">
                <a:solidFill>
                  <a:srgbClr val="333333"/>
                </a:solidFill>
              </a:defRPr>
            </a:pPr>
            <a:r>
              <a:t>Advantages:</a:t>
            </a:r>
          </a:p>
          <a:p>
            <a:pPr>
              <a:spcAft>
                <a:spcPts val="1000"/>
              </a:spcAft>
              <a:defRPr sz="1800">
                <a:solidFill>
                  <a:srgbClr val="333333"/>
                </a:solidFill>
              </a:defRPr>
            </a:pPr>
            <a:r>
              <a:t>✅ Proactive instead of reactive (can prepare for bump before it arrives)</a:t>
            </a:r>
          </a:p>
          <a:p>
            <a:pPr>
              <a:spcAft>
                <a:spcPts val="1000"/>
              </a:spcAft>
              <a:defRPr sz="1800">
                <a:solidFill>
                  <a:srgbClr val="333333"/>
                </a:solidFill>
              </a:defRPr>
            </a:pPr>
            <a:r>
              <a:t>✅ Smoother ride than even the best reactive system</a:t>
            </a:r>
          </a:p>
          <a:p>
            <a:pPr>
              <a:spcAft>
                <a:spcPts val="1000"/>
              </a:spcAft>
              <a:defRPr sz="1800">
                <a:solidFill>
                  <a:srgbClr val="333333"/>
                </a:solidFill>
              </a:defRPr>
            </a:pPr>
            <a:r>
              <a:t>✅ Uses existing cameras (ADAS hardware shared—minimal extra cost)</a:t>
            </a:r>
          </a:p>
          <a:p>
            <a:pPr>
              <a:spcAft>
                <a:spcPts val="1000"/>
              </a:spcAft>
              <a:defRPr sz="1800">
                <a:solidFill>
                  <a:srgbClr val="333333"/>
                </a:solidFill>
              </a:defRPr>
            </a:pPr>
            <a:r>
              <a:t>Challenges:</a:t>
            </a:r>
          </a:p>
          <a:p>
            <a:pPr>
              <a:spcAft>
                <a:spcPts val="1000"/>
              </a:spcAft>
              <a:defRPr sz="1800">
                <a:solidFill>
                  <a:srgbClr val="333333"/>
                </a:solidFill>
              </a:defRPr>
            </a:pPr>
            <a:r>
              <a:t>❌ Processing power (image recognition + prediction requires fast ECU)</a:t>
            </a:r>
          </a:p>
          <a:p>
            <a:pPr>
              <a:spcAft>
                <a:spcPts val="1000"/>
              </a:spcAft>
              <a:defRPr sz="1800">
                <a:solidFill>
                  <a:srgbClr val="333333"/>
                </a:solidFill>
              </a:defRPr>
            </a:pPr>
            <a:r>
              <a:t>❌ Requires active suspension (semi-active dampers too slow to fully exploit prediction)</a:t>
            </a:r>
          </a:p>
          <a:p>
            <a:pPr>
              <a:spcAft>
                <a:spcPts val="1000"/>
              </a:spcAft>
              <a:defRPr sz="1800">
                <a:solidFill>
                  <a:srgbClr val="333333"/>
                </a:solidFill>
              </a:defRPr>
            </a:pPr>
            <a:r>
              <a:t>❌ Works best in daylight (camera-based, limited in darkness or heavy rain/snow)</a:t>
            </a:r>
          </a:p>
          <a:p>
            <a:pPr>
              <a:spcAft>
                <a:spcPts val="1000"/>
              </a:spcAft>
              <a:defRPr sz="1800">
                <a:solidFill>
                  <a:srgbClr val="333333"/>
                </a:solidFill>
              </a:defRPr>
            </a:pPr>
            <a:r>
              <a:t>Instructor Narration (continued):</a:t>
            </a:r>
          </a:p>
          <a:p>
            <a:pPr>
              <a:spcAft>
                <a:spcPts val="1000"/>
              </a:spcAft>
              <a:defRPr sz="1800">
                <a:solidFill>
                  <a:srgbClr val="333333"/>
                </a:solidFill>
              </a:defRPr>
            </a:pPr>
            <a:r>
              <a:t>This is where suspension is headed: self-driving suspension. The system sees the road, predicts the optimal response, and adjusts before you feel anything. Combined with machine learning (learning your driving style and preferences), future suspensions will be personalized to each driver. Imagine: your car feels different than your spouse's identical car because it learned your preferences. That's the future—and it's arriving in luxury cars right now.</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Complete Suspension System Design Example</a:t>
            </a:r>
          </a:p>
        </p:txBody>
      </p:sp>
      <p:sp>
        <p:nvSpPr>
          <p:cNvPr id="3" name="Content Placeholder 2"/>
          <p:cNvSpPr>
            <a:spLocks noGrp="1"/>
          </p:cNvSpPr>
          <p:nvPr>
            <p:ph idx="1"/>
          </p:nvPr>
        </p:nvSpPr>
        <p:spPr/>
        <p:txBody>
          <a:bodyPr/>
          <a:lstStyle/>
          <a:p>
            <a:pPr>
              <a:spcAft>
                <a:spcPts val="1000"/>
              </a:spcAft>
              <a:defRPr sz="1800">
                <a:solidFill>
                  <a:srgbClr val="333333"/>
                </a:solidFill>
              </a:defRPr>
            </a:pPr>
            <a:r>
              <a:t>DESIGN CHALLENGE:</a:t>
            </a:r>
          </a:p>
          <a:p>
            <a:pPr>
              <a:spcAft>
                <a:spcPts val="1000"/>
              </a:spcAft>
              <a:defRPr sz="1800">
                <a:solidFill>
                  <a:srgbClr val="333333"/>
                </a:solidFill>
              </a:defRPr>
            </a:pPr>
            <a:r>
              <a:t>Design a suspension system for a premium sport sedan (BMW 3-Series competitor).</a:t>
            </a:r>
          </a:p>
          <a:p>
            <a:pPr>
              <a:spcAft>
                <a:spcPts val="1000"/>
              </a:spcAft>
              <a:defRPr sz="1800">
                <a:solidFill>
                  <a:srgbClr val="333333"/>
                </a:solidFill>
              </a:defRPr>
            </a:pPr>
            <a:r>
              <a:t>Requirements: — Excellent handling (flat cornering, responsive)</a:t>
            </a:r>
          </a:p>
          <a:p>
            <a:pPr>
              <a:spcAft>
                <a:spcPts val="600"/>
              </a:spcAft>
              <a:defRPr sz="1800">
                <a:solidFill>
                  <a:srgbClr val="333333"/>
                </a:solidFill>
              </a:defRPr>
            </a:pPr>
            <a:r>
              <a:t>Acceptable ride comfort (daily-drivable, not harsh)</a:t>
            </a:r>
          </a:p>
          <a:p>
            <a:pPr>
              <a:spcAft>
                <a:spcPts val="600"/>
              </a:spcAft>
              <a:defRPr sz="1800">
                <a:solidFill>
                  <a:srgbClr val="333333"/>
                </a:solidFill>
              </a:defRPr>
            </a:pPr>
            <a:r>
              <a:t>Target market: Enthusiast drivers willing to accept firmer ride for better handling</a:t>
            </a:r>
          </a:p>
          <a:p>
            <a:pPr>
              <a:spcAft>
                <a:spcPts val="600"/>
              </a:spcAft>
              <a:defRPr sz="1800">
                <a:solidFill>
                  <a:srgbClr val="333333"/>
                </a:solidFill>
              </a:defRPr>
            </a:pPr>
            <a:r>
              <a:t>Budget: Premium pricing allows advanced features</a:t>
            </a:r>
          </a:p>
          <a:p>
            <a:pPr>
              <a:spcAft>
                <a:spcPts val="1000"/>
              </a:spcAft>
              <a:defRPr sz="1800">
                <a:solidFill>
                  <a:srgbClr val="333333"/>
                </a:solidFill>
              </a:defRPr>
            </a:pPr>
            <a:r>
              <a:t>DESIGN DECISIONS:</a:t>
            </a:r>
          </a:p>
          <a:p>
            <a:pPr>
              <a:spcAft>
                <a:spcPts val="1000"/>
              </a:spcAft>
              <a:defRPr sz="1800">
                <a:solidFill>
                  <a:srgbClr val="333333"/>
                </a:solidFill>
              </a:defRPr>
            </a:pPr>
            <a:r>
              <a:t>1. Suspension Architecture</a:t>
            </a:r>
          </a:p>
          <a:p>
            <a:pPr>
              <a:spcAft>
                <a:spcPts val="1000"/>
              </a:spcAft>
              <a:defRPr sz="1800">
                <a:solidFill>
                  <a:srgbClr val="333333"/>
                </a:solidFill>
              </a:defRPr>
            </a:pPr>
            <a:r>
              <a:t>Front: Double Wishbone — Reason: Best camber control for handling</a:t>
            </a:r>
          </a:p>
          <a:p>
            <a:pPr>
              <a:spcAft>
                <a:spcPts val="600"/>
              </a:spcAft>
              <a:defRPr sz="1800">
                <a:solidFill>
                  <a:srgbClr val="333333"/>
                </a:solidFill>
              </a:defRPr>
            </a:pPr>
            <a:r>
              <a:t>Allows Short-Long Arm (SLA) geometry (camber compensation during roll)</a:t>
            </a:r>
          </a:p>
          <a:p>
            <a:pPr>
              <a:spcAft>
                <a:spcPts val="600"/>
              </a:spcAft>
              <a:defRPr sz="1800">
                <a:solidFill>
                  <a:srgbClr val="333333"/>
                </a:solidFill>
              </a:defRPr>
            </a:pPr>
            <a:r>
              <a:t>Cost acceptable for premium vehicle</a:t>
            </a:r>
          </a:p>
          <a:p>
            <a:pPr>
              <a:spcAft>
                <a:spcPts val="1000"/>
              </a:spcAft>
              <a:defRPr sz="1800">
                <a:solidFill>
                  <a:srgbClr val="333333"/>
                </a:solidFill>
              </a:defRPr>
            </a:pPr>
            <a:r>
              <a:t>Rear: Multi-Link (5-link) — Reason: Excellent toe and camber control</a:t>
            </a:r>
          </a:p>
          <a:p>
            <a:pPr>
              <a:spcAft>
                <a:spcPts val="600"/>
              </a:spcAft>
              <a:defRPr sz="1800">
                <a:solidFill>
                  <a:srgbClr val="333333"/>
                </a:solidFill>
              </a:defRPr>
            </a:pPr>
            <a:r>
              <a:t>Allows tuning of suspension compliance (handle longitudinal forces from RWD)</a:t>
            </a:r>
          </a:p>
          <a:p>
            <a:pPr>
              <a:spcAft>
                <a:spcPts val="600"/>
              </a:spcAft>
              <a:defRPr sz="1800">
                <a:solidFill>
                  <a:srgbClr val="333333"/>
                </a:solidFill>
              </a:defRPr>
            </a:pPr>
            <a:r>
              <a:t>Premium image</a:t>
            </a:r>
          </a:p>
          <a:p>
            <a:pPr>
              <a:spcAft>
                <a:spcPts val="1000"/>
              </a:spcAft>
              <a:defRPr sz="1800">
                <a:solidFill>
                  <a:srgbClr val="333333"/>
                </a:solidFill>
              </a:defRPr>
            </a:pPr>
            <a:r>
              <a:t>2. Springs</a:t>
            </a:r>
          </a:p>
          <a:p>
            <a:pPr>
              <a:spcAft>
                <a:spcPts val="1000"/>
              </a:spcAft>
              <a:defRPr sz="1800">
                <a:solidFill>
                  <a:srgbClr val="333333"/>
                </a:solidFill>
              </a:defRPr>
            </a:pPr>
            <a:r>
              <a:t>Type: Coil springs (conventional)</a:t>
            </a:r>
          </a:p>
          <a:p>
            <a:pPr>
              <a:spcAft>
                <a:spcPts val="1000"/>
              </a:spcAft>
              <a:defRPr sz="1800">
                <a:solidFill>
                  <a:srgbClr val="333333"/>
                </a:solidFill>
              </a:defRPr>
            </a:pPr>
            <a:r>
              <a:t>Spring Rates: — Front: k = 32,000 N/m (firm but not harsh)</a:t>
            </a:r>
          </a:p>
          <a:p>
            <a:pPr>
              <a:spcAft>
                <a:spcPts val="600"/>
              </a:spcAft>
              <a:defRPr sz="1800">
                <a:solidFill>
                  <a:srgbClr val="333333"/>
                </a:solidFill>
              </a:defRPr>
            </a:pPr>
            <a:r>
              <a:t>Rear: k = 30,000 N/m (slightly softer for comfort)</a:t>
            </a:r>
          </a:p>
          <a:p>
            <a:pPr>
              <a:spcAft>
                <a:spcPts val="1000"/>
              </a:spcAft>
              <a:defRPr sz="1800">
                <a:solidFill>
                  <a:srgbClr val="333333"/>
                </a:solidFill>
              </a:defRPr>
            </a:pPr>
            <a:r>
              <a:t>Natural Frequency: — Sprung mass: ms,front = 320 kg, ms,rear = 340 kg</a:t>
            </a:r>
          </a:p>
          <a:p>
            <a:pPr>
              <a:spcAft>
                <a:spcPts val="600"/>
              </a:spcAft>
              <a:defRPr sz="1800">
                <a:solidFill>
                  <a:srgbClr val="333333"/>
                </a:solidFill>
              </a:defRPr>
            </a:pPr>
            <a:r>
              <a:t>f_n,front = √(32,000/320) / (2π) = 1.59 Hz</a:t>
            </a:r>
          </a:p>
          <a:p>
            <a:pPr>
              <a:spcAft>
                <a:spcPts val="600"/>
              </a:spcAft>
              <a:defRPr sz="1800">
                <a:solidFill>
                  <a:srgbClr val="333333"/>
                </a:solidFill>
              </a:defRPr>
            </a:pPr>
            <a:r>
              <a:t>f_n,rear = √(30,000/340) / (2π) = 1.50 Hz</a:t>
            </a:r>
          </a:p>
          <a:p>
            <a:pPr>
              <a:spcAft>
                <a:spcPts val="600"/>
              </a:spcAft>
              <a:defRPr sz="1800">
                <a:solidFill>
                  <a:srgbClr val="333333"/>
                </a:solidFill>
              </a:defRPr>
            </a:pPr>
            <a:r>
              <a:t>Classification: Sport sedan (firm but acceptable)</a:t>
            </a:r>
          </a:p>
          <a:p>
            <a:pPr>
              <a:spcAft>
                <a:spcPts val="1000"/>
              </a:spcAft>
              <a:defRPr sz="1800">
                <a:solidFill>
                  <a:srgbClr val="333333"/>
                </a:solidFill>
              </a:defRPr>
            </a:pPr>
            <a:r>
              <a:t>3. Dampers</a:t>
            </a:r>
          </a:p>
          <a:p>
            <a:pPr>
              <a:spcAft>
                <a:spcPts val="1000"/>
              </a:spcAft>
              <a:defRPr sz="1800">
                <a:solidFill>
                  <a:srgbClr val="333333"/>
                </a:solidFill>
              </a:defRPr>
            </a:pPr>
            <a:r>
              <a:t>Type: Semi-active (electronically adjustable monotube with MR fluid)</a:t>
            </a:r>
          </a:p>
          <a:p>
            <a:pPr>
              <a:spcAft>
                <a:spcPts val="1000"/>
              </a:spcAft>
              <a:defRPr sz="1800">
                <a:solidFill>
                  <a:srgbClr val="333333"/>
                </a:solidFill>
              </a:defRPr>
            </a:pPr>
            <a:r>
              <a:t>Damping Range: — Comfort mode: ζ = 0.30 (smooth cruising)</a:t>
            </a:r>
          </a:p>
          <a:p>
            <a:pPr>
              <a:spcAft>
                <a:spcPts val="600"/>
              </a:spcAft>
              <a:defRPr sz="1800">
                <a:solidFill>
                  <a:srgbClr val="333333"/>
                </a:solidFill>
              </a:defRPr>
            </a:pPr>
            <a:r>
              <a:t>Sport mode: ζ = 0.55 (tight control)</a:t>
            </a:r>
          </a:p>
          <a:p>
            <a:pPr>
              <a:spcAft>
                <a:spcPts val="600"/>
              </a:spcAft>
              <a:defRPr sz="1800">
                <a:solidFill>
                  <a:srgbClr val="333333"/>
                </a:solidFill>
              </a:defRPr>
            </a:pPr>
            <a:r>
              <a:t>Auto mode: Adaptive based on road and driving input</a:t>
            </a:r>
          </a:p>
          <a:p>
            <a:pPr>
              <a:spcAft>
                <a:spcPts val="1000"/>
              </a:spcAft>
              <a:defRPr sz="1800">
                <a:solidFill>
                  <a:srgbClr val="333333"/>
                </a:solidFill>
              </a:defRPr>
            </a:pPr>
            <a:r>
              <a:t>Valving: Asymmetric (70% rebound / 30% compression)</a:t>
            </a:r>
          </a:p>
          <a:p>
            <a:pPr>
              <a:spcAft>
                <a:spcPts val="1000"/>
              </a:spcAft>
              <a:defRPr sz="1800">
                <a:solidFill>
                  <a:srgbClr val="333333"/>
                </a:solidFill>
              </a:defRPr>
            </a:pPr>
            <a:r>
              <a:t>4. Anti-Roll Bars</a:t>
            </a:r>
          </a:p>
          <a:p>
            <a:pPr>
              <a:spcAft>
                <a:spcPts val="1000"/>
              </a:spcAft>
              <a:defRPr sz="1800">
                <a:solidFill>
                  <a:srgbClr val="333333"/>
                </a:solidFill>
              </a:defRPr>
            </a:pPr>
            <a:r>
              <a:t>Front: 26 mm diameter</a:t>
            </a:r>
          </a:p>
          <a:p>
            <a:pPr>
              <a:spcAft>
                <a:spcPts val="600"/>
              </a:spcAft>
              <a:defRPr sz="1800">
                <a:solidFill>
                  <a:srgbClr val="333333"/>
                </a:solidFill>
              </a:defRPr>
            </a:pPr>
            <a:r>
              <a:t>K_roll,front = 52,000 Nm/rad</a:t>
            </a:r>
          </a:p>
          <a:p>
            <a:pPr>
              <a:spcAft>
                <a:spcPts val="1000"/>
              </a:spcAft>
              <a:defRPr sz="1800">
                <a:solidFill>
                  <a:srgbClr val="333333"/>
                </a:solidFill>
              </a:defRPr>
            </a:pPr>
            <a:r>
              <a:t>Rear: 24 mm diameter</a:t>
            </a:r>
          </a:p>
          <a:p>
            <a:pPr>
              <a:spcAft>
                <a:spcPts val="600"/>
              </a:spcAft>
              <a:defRPr sz="1800">
                <a:solidFill>
                  <a:srgbClr val="333333"/>
                </a:solidFill>
              </a:defRPr>
            </a:pPr>
            <a:r>
              <a:t>K_roll,rear = 42,000 Nm/rad</a:t>
            </a:r>
          </a:p>
          <a:p>
            <a:pPr>
              <a:spcAft>
                <a:spcPts val="1000"/>
              </a:spcAft>
              <a:defRPr sz="1800">
                <a:solidFill>
                  <a:srgbClr val="333333"/>
                </a:solidFill>
              </a:defRPr>
            </a:pPr>
            <a:r>
              <a:t>Distribution: 55% front / 45% rear</a:t>
            </a:r>
          </a:p>
          <a:p>
            <a:pPr>
              <a:spcAft>
                <a:spcPts val="600"/>
              </a:spcAft>
              <a:defRPr sz="1800">
                <a:solidFill>
                  <a:srgbClr val="333333"/>
                </a:solidFill>
              </a:defRPr>
            </a:pPr>
            <a:r>
              <a:t>Result: Mild understeer (safe, neutral at limit)</a:t>
            </a:r>
          </a:p>
          <a:p>
            <a:pPr>
              <a:spcAft>
                <a:spcPts val="600"/>
              </a:spcAft>
              <a:defRPr sz="1800">
                <a:solidFill>
                  <a:srgbClr val="333333"/>
                </a:solidFill>
              </a:defRPr>
            </a:pPr>
            <a:r>
              <a:t>Adjustable (aftermarket options available for track use)</a:t>
            </a:r>
          </a:p>
          <a:p>
            <a:pPr>
              <a:spcAft>
                <a:spcPts val="1000"/>
              </a:spcAft>
              <a:defRPr sz="1800">
                <a:solidFill>
                  <a:srgbClr val="333333"/>
                </a:solidFill>
              </a:defRPr>
            </a:pPr>
            <a:r>
              <a:t>5. Electronic Control</a:t>
            </a:r>
          </a:p>
          <a:p>
            <a:pPr>
              <a:spcAft>
                <a:spcPts val="1000"/>
              </a:spcAft>
              <a:defRPr sz="1800">
                <a:solidFill>
                  <a:srgbClr val="333333"/>
                </a:solidFill>
              </a:defRPr>
            </a:pPr>
            <a:r>
              <a:t>System: Semi-active damper control with driver selectable modes</a:t>
            </a:r>
          </a:p>
          <a:p>
            <a:pPr>
              <a:spcAft>
                <a:spcPts val="1000"/>
              </a:spcAft>
              <a:defRPr sz="1800">
                <a:solidFill>
                  <a:srgbClr val="333333"/>
                </a:solidFill>
              </a:defRPr>
            </a:pPr>
            <a:r>
              <a:t>Modes: — Comfort: Soft damping, prioritize ride quality</a:t>
            </a:r>
          </a:p>
          <a:p>
            <a:pPr>
              <a:spcAft>
                <a:spcPts val="600"/>
              </a:spcAft>
              <a:defRPr sz="1800">
                <a:solidFill>
                  <a:srgbClr val="333333"/>
                </a:solidFill>
              </a:defRPr>
            </a:pPr>
            <a:r>
              <a:t>Sport: Stiff damping, prioritize handling</a:t>
            </a:r>
          </a:p>
          <a:p>
            <a:pPr>
              <a:spcAft>
                <a:spcPts val="600"/>
              </a:spcAft>
              <a:defRPr sz="1800">
                <a:solidFill>
                  <a:srgbClr val="333333"/>
                </a:solidFill>
              </a:defRPr>
            </a:pPr>
            <a:r>
              <a:t>Sport+: Maximum stiffness, track-oriented</a:t>
            </a:r>
          </a:p>
          <a:p>
            <a:pPr>
              <a:spcAft>
                <a:spcPts val="600"/>
              </a:spcAft>
              <a:defRPr sz="1800">
                <a:solidFill>
                  <a:srgbClr val="333333"/>
                </a:solidFill>
              </a:defRPr>
            </a:pPr>
            <a:r>
              <a:t>Auto: Adaptive (learns driving style, adjusts in real-time)</a:t>
            </a:r>
          </a:p>
          <a:p>
            <a:pPr>
              <a:spcAft>
                <a:spcPts val="1000"/>
              </a:spcAft>
              <a:defRPr sz="1800">
                <a:solidFill>
                  <a:srgbClr val="333333"/>
                </a:solidFill>
              </a:defRPr>
            </a:pPr>
            <a:r>
              <a:t>Sensors: — 4× suspension position sensors</a:t>
            </a:r>
          </a:p>
          <a:p>
            <a:pPr>
              <a:spcAft>
                <a:spcPts val="600"/>
              </a:spcAft>
              <a:defRPr sz="1800">
                <a:solidFill>
                  <a:srgbClr val="333333"/>
                </a:solidFill>
              </a:defRPr>
            </a:pPr>
            <a:r>
              <a:t>4× accelerometers (one per corner)</a:t>
            </a:r>
          </a:p>
          <a:p>
            <a:pPr>
              <a:spcAft>
                <a:spcPts val="600"/>
              </a:spcAft>
              <a:defRPr sz="1800">
                <a:solidFill>
                  <a:srgbClr val="333333"/>
                </a:solidFill>
              </a:defRPr>
            </a:pPr>
            <a:r>
              <a:t>Steering angle sensor</a:t>
            </a:r>
          </a:p>
          <a:p>
            <a:pPr>
              <a:spcAft>
                <a:spcPts val="600"/>
              </a:spcAft>
              <a:defRPr sz="1800">
                <a:solidFill>
                  <a:srgbClr val="333333"/>
                </a:solidFill>
              </a:defRPr>
            </a:pPr>
            <a:r>
              <a:t>Brake pressure sensor</a:t>
            </a:r>
          </a:p>
          <a:p>
            <a:pPr>
              <a:spcAft>
                <a:spcPts val="600"/>
              </a:spcAft>
              <a:defRPr sz="1800">
                <a:solidFill>
                  <a:srgbClr val="333333"/>
                </a:solidFill>
              </a:defRPr>
            </a:pPr>
            <a:r>
              <a:t>Throttle position sensor</a:t>
            </a:r>
          </a:p>
          <a:p>
            <a:pPr>
              <a:spcAft>
                <a:spcPts val="1000"/>
              </a:spcAft>
              <a:defRPr sz="1800">
                <a:solidFill>
                  <a:srgbClr val="333333"/>
                </a:solidFill>
              </a:defRPr>
            </a:pPr>
            <a:r>
              <a:t>ECU Update Rate: 1000 Hz (1 ms response time)</a:t>
            </a:r>
          </a:p>
          <a:p>
            <a:pPr>
              <a:spcAft>
                <a:spcPts val="1000"/>
              </a:spcAft>
              <a:defRPr sz="1800">
                <a:solidFill>
                  <a:srgbClr val="333333"/>
                </a:solidFill>
              </a:defRPr>
            </a:pPr>
            <a:r>
              <a:t>6. Unsprung Mass Reduction</a:t>
            </a:r>
          </a:p>
          <a:p>
            <a:pPr>
              <a:spcAft>
                <a:spcPts val="1000"/>
              </a:spcAft>
              <a:defRPr sz="1800">
                <a:solidFill>
                  <a:srgbClr val="333333"/>
                </a:solidFill>
              </a:defRPr>
            </a:pPr>
            <a:r>
              <a:t>Target: &lt; 30 kg per corner</a:t>
            </a:r>
          </a:p>
          <a:p>
            <a:pPr>
              <a:spcAft>
                <a:spcPts val="1000"/>
              </a:spcAft>
              <a:defRPr sz="1800">
                <a:solidFill>
                  <a:srgbClr val="333333"/>
                </a:solidFill>
              </a:defRPr>
            </a:pPr>
            <a:r>
              <a:t>Strategies: — Forged aluminum wheels (save 3 kg/corner vs cast)</a:t>
            </a:r>
          </a:p>
          <a:p>
            <a:pPr>
              <a:spcAft>
                <a:spcPts val="600"/>
              </a:spcAft>
              <a:defRPr sz="1800">
                <a:solidFill>
                  <a:srgbClr val="333333"/>
                </a:solidFill>
              </a:defRPr>
            </a:pPr>
            <a:r>
              <a:t>Aluminum front control arms (save 2 kg/corner vs steel)</a:t>
            </a:r>
          </a:p>
          <a:p>
            <a:pPr>
              <a:spcAft>
                <a:spcPts val="600"/>
              </a:spcAft>
              <a:defRPr sz="1800">
                <a:solidFill>
                  <a:srgbClr val="333333"/>
                </a:solidFill>
              </a:defRPr>
            </a:pPr>
            <a:r>
              <a:t>Aluminum rear multi-link arms (save 1.5 kg/corner vs steel)</a:t>
            </a:r>
          </a:p>
          <a:p>
            <a:pPr>
              <a:spcAft>
                <a:spcPts val="600"/>
              </a:spcAft>
              <a:defRPr sz="1800">
                <a:solidFill>
                  <a:srgbClr val="333333"/>
                </a:solidFill>
              </a:defRPr>
            </a:pPr>
            <a:r>
              <a:t>Result: 28 kg per corner ✅</a:t>
            </a:r>
          </a:p>
          <a:p>
            <a:pPr>
              <a:spcAft>
                <a:spcPts val="1000"/>
              </a:spcAft>
              <a:defRPr sz="1800">
                <a:solidFill>
                  <a:srgbClr val="333333"/>
                </a:solidFill>
              </a:defRPr>
            </a:pPr>
            <a:r>
              <a:t>7. Suspension Travel</a:t>
            </a:r>
          </a:p>
          <a:p>
            <a:pPr>
              <a:spcAft>
                <a:spcPts val="1000"/>
              </a:spcAft>
              <a:defRPr sz="1800">
                <a:solidFill>
                  <a:srgbClr val="333333"/>
                </a:solidFill>
              </a:defRPr>
            </a:pPr>
            <a:r>
              <a:t>Front: 180 mm total (90 mm bump / 90 mm droop)</a:t>
            </a:r>
          </a:p>
          <a:p>
            <a:pPr>
              <a:spcAft>
                <a:spcPts val="1000"/>
              </a:spcAft>
              <a:defRPr sz="1800">
                <a:solidFill>
                  <a:srgbClr val="333333"/>
                </a:solidFill>
              </a:defRPr>
            </a:pPr>
            <a:r>
              <a:t>Rear: 190 mm total (95 mm bump / 95 mm droop)</a:t>
            </a:r>
          </a:p>
          <a:p>
            <a:pPr>
              <a:spcAft>
                <a:spcPts val="600"/>
              </a:spcAft>
              <a:defRPr sz="1800">
                <a:solidFill>
                  <a:srgbClr val="333333"/>
                </a:solidFill>
              </a:defRPr>
            </a:pPr>
            <a:r>
              <a:t>Adequate for street use (absorbs potholes, speed bumps)</a:t>
            </a:r>
          </a:p>
          <a:p>
            <a:pPr>
              <a:spcAft>
                <a:spcPts val="600"/>
              </a:spcAft>
              <a:defRPr sz="1800">
                <a:solidFill>
                  <a:srgbClr val="333333"/>
                </a:solidFill>
              </a:defRPr>
            </a:pPr>
            <a:r>
              <a:t>Not excessive (maintains tight control, allows lower ride height)</a:t>
            </a:r>
          </a:p>
          <a:p>
            <a:pPr>
              <a:spcAft>
                <a:spcPts val="1000"/>
              </a:spcAft>
              <a:defRPr sz="1800">
                <a:solidFill>
                  <a:srgbClr val="333333"/>
                </a:solidFill>
              </a:defRPr>
            </a:pPr>
            <a:r>
              <a:t>PERFORMANCE TARGETS:</a:t>
            </a:r>
          </a:p>
          <a:p>
            <a:pPr>
              <a:spcAft>
                <a:spcPts val="1000"/>
              </a:spcAft>
              <a:defRPr sz="1800">
                <a:solidFill>
                  <a:srgbClr val="333333"/>
                </a:solidFill>
              </a:defRPr>
            </a:pPr>
            <a:r>
              <a:t>Handling: — Body roll @ 0.5g: ~2.5° (very flat)</a:t>
            </a:r>
          </a:p>
          <a:p>
            <a:pPr>
              <a:spcAft>
                <a:spcPts val="600"/>
              </a:spcAft>
              <a:defRPr sz="1800">
                <a:solidFill>
                  <a:srgbClr val="333333"/>
                </a:solidFill>
              </a:defRPr>
            </a:pPr>
            <a:r>
              <a:t>Transient response: &lt; 0.3 seconds to settle after steering input</a:t>
            </a:r>
          </a:p>
          <a:p>
            <a:pPr>
              <a:spcAft>
                <a:spcPts val="600"/>
              </a:spcAft>
              <a:defRPr sz="1800">
                <a:solidFill>
                  <a:srgbClr val="333333"/>
                </a:solidFill>
              </a:defRPr>
            </a:pPr>
            <a:r>
              <a:t>Understeer gradient: +1.5 deg/g (mild understeer, safe and adjustable)</a:t>
            </a:r>
          </a:p>
          <a:p>
            <a:pPr>
              <a:spcAft>
                <a:spcPts val="1000"/>
              </a:spcAft>
              <a:defRPr sz="1800">
                <a:solidFill>
                  <a:srgbClr val="333333"/>
                </a:solidFill>
              </a:defRPr>
            </a:pPr>
            <a:r>
              <a:t>Ride Comfort: — Comfort mode: Comparable to premium family sedan</a:t>
            </a:r>
          </a:p>
          <a:p>
            <a:pPr>
              <a:spcAft>
                <a:spcPts val="600"/>
              </a:spcAft>
              <a:defRPr sz="1800">
                <a:solidFill>
                  <a:srgbClr val="333333"/>
                </a:solidFill>
              </a:defRPr>
            </a:pPr>
            <a:r>
              <a:t>Sport mode: Firm but acceptable for enthusiasts</a:t>
            </a:r>
          </a:p>
          <a:p>
            <a:pPr>
              <a:spcAft>
                <a:spcPts val="600"/>
              </a:spcAft>
              <a:defRPr sz="1800">
                <a:solidFill>
                  <a:srgbClr val="333333"/>
                </a:solidFill>
              </a:defRPr>
            </a:pPr>
            <a:r>
              <a:t>Auto mode: Adapts to road conditions (soft on highway, stiff on backroads)</a:t>
            </a:r>
          </a:p>
          <a:p>
            <a:pPr>
              <a:spcAft>
                <a:spcPts val="1000"/>
              </a:spcAft>
              <a:defRPr sz="1800">
                <a:solidFill>
                  <a:srgbClr val="333333"/>
                </a:solidFill>
              </a:defRPr>
            </a:pPr>
            <a:r>
              <a:t>COST ESTIMATE: — Double wishbone + multi-link components: $1,200</a:t>
            </a:r>
          </a:p>
          <a:p>
            <a:pPr>
              <a:spcAft>
                <a:spcPts val="600"/>
              </a:spcAft>
              <a:defRPr sz="1800">
                <a:solidFill>
                  <a:srgbClr val="333333"/>
                </a:solidFill>
              </a:defRPr>
            </a:pPr>
            <a:r>
              <a:t>Semi-active MR dampers (4×): $1,600</a:t>
            </a:r>
          </a:p>
          <a:p>
            <a:pPr>
              <a:spcAft>
                <a:spcPts val="600"/>
              </a:spcAft>
              <a:defRPr sz="1800">
                <a:solidFill>
                  <a:srgbClr val="333333"/>
                </a:solidFill>
              </a:defRPr>
            </a:pPr>
            <a:r>
              <a:t>ECU and sensors: $800</a:t>
            </a:r>
          </a:p>
          <a:p>
            <a:pPr>
              <a:spcAft>
                <a:spcPts val="600"/>
              </a:spcAft>
              <a:defRPr sz="1800">
                <a:solidFill>
                  <a:srgbClr val="333333"/>
                </a:solidFill>
              </a:defRPr>
            </a:pPr>
            <a:r>
              <a:t>Lightweight wheels: $2,000</a:t>
            </a:r>
          </a:p>
          <a:p>
            <a:pPr>
              <a:spcAft>
                <a:spcPts val="600"/>
              </a:spcAft>
              <a:defRPr sz="1800">
                <a:solidFill>
                  <a:srgbClr val="333333"/>
                </a:solidFill>
              </a:defRPr>
            </a:pPr>
            <a:r>
              <a:t>Total system cost: ~$5,600</a:t>
            </a:r>
          </a:p>
          <a:p>
            <a:pPr>
              <a:spcAft>
                <a:spcPts val="1000"/>
              </a:spcAft>
              <a:defRPr sz="1800">
                <a:solidFill>
                  <a:srgbClr val="333333"/>
                </a:solidFill>
              </a:defRPr>
            </a:pPr>
            <a:r>
              <a:t>Target retail price: $50,000-60,000 vehicle → Suspension cost acceptable</a:t>
            </a:r>
          </a:p>
          <a:p>
            <a:pPr>
              <a:spcAft>
                <a:spcPts val="1000"/>
              </a:spcAft>
              <a:defRPr sz="1800">
                <a:solidFill>
                  <a:srgbClr val="333333"/>
                </a:solidFill>
              </a:defRPr>
            </a:pPr>
            <a:r>
              <a:t>Instructor Narration:</a:t>
            </a:r>
          </a:p>
          <a:p>
            <a:pPr>
              <a:spcAft>
                <a:spcPts val="1000"/>
              </a:spcAft>
              <a:defRPr sz="1800">
                <a:solidFill>
                  <a:srgbClr val="333333"/>
                </a:solidFill>
              </a:defRPr>
            </a:pPr>
            <a:r>
              <a:t>This design balances performance and comfort using mechanical precision (double wishbone, multi-link) and electronic adaptability (semi-active dampers). It's the approach used by BMW M340i, Audi S4, Mercedes-AMG C43—premium sport sedans that must be fun on a track but livable for daily driving. The semi-active dampers are the key: they allow ONE car to feel like TWO different cars depending on the mode selected.</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Summary &amp; Key Takeaways</a:t>
            </a:r>
          </a:p>
        </p:txBody>
      </p:sp>
      <p:sp>
        <p:nvSpPr>
          <p:cNvPr id="3" name="Content Placeholder 2"/>
          <p:cNvSpPr>
            <a:spLocks noGrp="1"/>
          </p:cNvSpPr>
          <p:nvPr>
            <p:ph idx="1"/>
          </p:nvPr>
        </p:nvSpPr>
        <p:spPr/>
        <p:txBody>
          <a:bodyPr/>
          <a:lstStyle/>
          <a:p>
            <a:pPr>
              <a:spcAft>
                <a:spcPts val="1000"/>
              </a:spcAft>
              <a:defRPr sz="1800">
                <a:solidFill>
                  <a:srgbClr val="333333"/>
                </a:solidFill>
              </a:defRPr>
            </a:pPr>
            <a:r>
              <a:t>Instructor Narration:</a:t>
            </a:r>
          </a:p>
          <a:p>
            <a:pPr>
              <a:spcAft>
                <a:spcPts val="1000"/>
              </a:spcAft>
              <a:defRPr sz="1800">
                <a:solidFill>
                  <a:srgbClr val="333333"/>
                </a:solidFill>
              </a:defRPr>
            </a:pPr>
            <a:r>
              <a:t>Let's recap this comprehensive session on suspension systems.</a:t>
            </a:r>
          </a:p>
          <a:p>
            <a:pPr>
              <a:spcAft>
                <a:spcPts val="1000"/>
              </a:spcAft>
              <a:defRPr sz="1800">
                <a:solidFill>
                  <a:srgbClr val="333333"/>
                </a:solidFill>
              </a:defRPr>
            </a:pPr>
            <a:r>
              <a:t>PART 1: PHYSICS</a:t>
            </a:r>
          </a:p>
          <a:p>
            <a:pPr>
              <a:spcAft>
                <a:spcPts val="1000"/>
              </a:spcAft>
              <a:defRPr sz="1800">
                <a:solidFill>
                  <a:srgbClr val="333333"/>
                </a:solidFill>
              </a:defRPr>
            </a:pPr>
            <a:r>
              <a:t>✅ Spring-mass-damper system: m × z̈ + c × ż + k × z = F_input</a:t>
            </a:r>
          </a:p>
          <a:p>
            <a:pPr>
              <a:spcAft>
                <a:spcPts val="1000"/>
              </a:spcAft>
              <a:defRPr sz="1800">
                <a:solidFill>
                  <a:srgbClr val="333333"/>
                </a:solidFill>
              </a:defRPr>
            </a:pPr>
            <a:r>
              <a:t>✅ Natural frequency f_n = √(k/m) / (2π) - defines ride character (1.0-2.0 Hz typical)</a:t>
            </a:r>
          </a:p>
          <a:p>
            <a:pPr>
              <a:spcAft>
                <a:spcPts val="1000"/>
              </a:spcAft>
              <a:defRPr sz="1800">
                <a:solidFill>
                  <a:srgbClr val="333333"/>
                </a:solidFill>
              </a:defRPr>
            </a:pPr>
            <a:r>
              <a:t>✅ Damping ratio ζ = c / (2√(km)) - controls oscillation (0.2-0.4 typical, underdamped)</a:t>
            </a:r>
          </a:p>
          <a:p>
            <a:pPr>
              <a:spcAft>
                <a:spcPts val="1000"/>
              </a:spcAft>
              <a:defRPr sz="1800">
                <a:solidFill>
                  <a:srgbClr val="333333"/>
                </a:solidFill>
              </a:defRPr>
            </a:pPr>
            <a:r>
              <a:t>✅ Unsprung mass — minimize for better ride and handling</a:t>
            </a:r>
          </a:p>
          <a:p>
            <a:pPr>
              <a:spcAft>
                <a:spcPts val="1000"/>
              </a:spcAft>
              <a:defRPr sz="1800">
                <a:solidFill>
                  <a:srgbClr val="333333"/>
                </a:solidFill>
              </a:defRPr>
            </a:pPr>
            <a:r>
              <a:t>PART 2: THE TRADE-OFF</a:t>
            </a:r>
          </a:p>
          <a:p>
            <a:pPr>
              <a:spcAft>
                <a:spcPts val="1000"/>
              </a:spcAft>
              <a:defRPr sz="1800">
                <a:solidFill>
                  <a:srgbClr val="333333"/>
                </a:solidFill>
              </a:defRPr>
            </a:pPr>
            <a:r>
              <a:t>✅ Comfort vs Handling — Soft springs comfortable, stiff springs handle well (conflicting)</a:t>
            </a:r>
          </a:p>
          <a:p>
            <a:pPr>
              <a:spcAft>
                <a:spcPts val="1000"/>
              </a:spcAft>
              <a:defRPr sz="1800">
                <a:solidFill>
                  <a:srgbClr val="333333"/>
                </a:solidFill>
              </a:defRPr>
            </a:pPr>
            <a:r>
              <a:t>✅ Comfort vs Road Holding — Soft dampers comfortable, optimal dampers maintain tire contact (conflicting)</a:t>
            </a:r>
          </a:p>
          <a:p>
            <a:pPr>
              <a:spcAft>
                <a:spcPts val="1000"/>
              </a:spcAft>
              <a:defRPr sz="1800">
                <a:solidFill>
                  <a:srgbClr val="333333"/>
                </a:solidFill>
              </a:defRPr>
            </a:pPr>
            <a:r>
              <a:t>✅ Traditional solution: Pick your priority, accept compromise</a:t>
            </a:r>
          </a:p>
          <a:p>
            <a:pPr>
              <a:spcAft>
                <a:spcPts val="1000"/>
              </a:spcAft>
              <a:defRPr sz="1800">
                <a:solidFill>
                  <a:srgbClr val="333333"/>
                </a:solidFill>
              </a:defRPr>
            </a:pPr>
            <a:r>
              <a:t>PART 3: MECHANICAL DESIGNS</a:t>
            </a:r>
          </a:p>
          <a:p>
            <a:pPr>
              <a:spcAft>
                <a:spcPts val="1000"/>
              </a:spcAft>
              <a:defRPr sz="1800">
                <a:solidFill>
                  <a:srgbClr val="333333"/>
                </a:solidFill>
              </a:defRPr>
            </a:pPr>
            <a:r>
              <a:t>✅ McPherson Strut: Compact, cheap, good enough (most FWD cars)</a:t>
            </a:r>
          </a:p>
          <a:p>
            <a:pPr>
              <a:spcAft>
                <a:spcPts val="1000"/>
              </a:spcAft>
              <a:defRPr sz="1800">
                <a:solidFill>
                  <a:srgbClr val="333333"/>
                </a:solidFill>
              </a:defRPr>
            </a:pPr>
            <a:r>
              <a:t>✅ Double Wishbone: Best handling, expensive (sports cars, premium vehicles)</a:t>
            </a:r>
          </a:p>
          <a:p>
            <a:pPr>
              <a:spcAft>
                <a:spcPts val="1000"/>
              </a:spcAft>
              <a:defRPr sz="1800">
                <a:solidFill>
                  <a:srgbClr val="333333"/>
                </a:solidFill>
              </a:defRPr>
            </a:pPr>
            <a:r>
              <a:t>✅ Multi-Link: Ultimate tunability, very expensive (luxury rear suspension)</a:t>
            </a:r>
          </a:p>
          <a:p>
            <a:pPr>
              <a:spcAft>
                <a:spcPts val="1000"/>
              </a:spcAft>
              <a:defRPr sz="1800">
                <a:solidFill>
                  <a:srgbClr val="333333"/>
                </a:solidFill>
              </a:defRPr>
            </a:pPr>
            <a:r>
              <a:t>✅ Solid Axle: Durable, simple (trucks, off-road)</a:t>
            </a:r>
          </a:p>
          <a:p>
            <a:pPr>
              <a:spcAft>
                <a:spcPts val="1000"/>
              </a:spcAft>
              <a:defRPr sz="1800">
                <a:solidFill>
                  <a:srgbClr val="333333"/>
                </a:solidFill>
              </a:defRPr>
            </a:pPr>
            <a:r>
              <a:t>✅ Springs: Coil (common), leaf (trucks), torsion bar (packaging), air (adjustable)</a:t>
            </a:r>
          </a:p>
          <a:p>
            <a:pPr>
              <a:spcAft>
                <a:spcPts val="1000"/>
              </a:spcAft>
              <a:defRPr sz="1800">
                <a:solidFill>
                  <a:srgbClr val="333333"/>
                </a:solidFill>
              </a:defRPr>
            </a:pPr>
            <a:r>
              <a:t>✅ Dampers: Twin-tube (cheap), monotube (performance), asymmetric valving critical</a:t>
            </a:r>
          </a:p>
          <a:p>
            <a:pPr>
              <a:spcAft>
                <a:spcPts val="1000"/>
              </a:spcAft>
              <a:defRPr sz="1800">
                <a:solidFill>
                  <a:srgbClr val="333333"/>
                </a:solidFill>
              </a:defRPr>
            </a:pPr>
            <a:r>
              <a:t>PART 4: ANTI-ROLL BARS</a:t>
            </a:r>
          </a:p>
          <a:p>
            <a:pPr>
              <a:spcAft>
                <a:spcPts val="1000"/>
              </a:spcAft>
              <a:defRPr sz="1800">
                <a:solidFill>
                  <a:srgbClr val="333333"/>
                </a:solidFill>
              </a:defRPr>
            </a:pPr>
            <a:r>
              <a:t>✅ Add roll stiffness without affecting vertical ride (genius solution)</a:t>
            </a:r>
          </a:p>
          <a:p>
            <a:pPr>
              <a:spcAft>
                <a:spcPts val="1000"/>
              </a:spcAft>
              <a:defRPr sz="1800">
                <a:solidFill>
                  <a:srgbClr val="333333"/>
                </a:solidFill>
              </a:defRPr>
            </a:pPr>
            <a:r>
              <a:t>✅ Allow soft springs + flat cornering</a:t>
            </a:r>
          </a:p>
          <a:p>
            <a:pPr>
              <a:spcAft>
                <a:spcPts val="1000"/>
              </a:spcAft>
              <a:defRPr sz="1800">
                <a:solidFill>
                  <a:srgbClr val="333333"/>
                </a:solidFill>
              </a:defRPr>
            </a:pPr>
            <a:r>
              <a:t>✅ Tuning: Front/rear distribution controls understeer/oversteer</a:t>
            </a:r>
          </a:p>
          <a:p>
            <a:pPr>
              <a:spcAft>
                <a:spcPts val="1000"/>
              </a:spcAft>
              <a:defRPr sz="1800">
                <a:solidFill>
                  <a:srgbClr val="333333"/>
                </a:solidFill>
              </a:defRPr>
            </a:pPr>
            <a:r>
              <a:t>PART 5: ELECTRONIC SYSTEMS</a:t>
            </a:r>
          </a:p>
          <a:p>
            <a:pPr>
              <a:spcAft>
                <a:spcPts val="1000"/>
              </a:spcAft>
              <a:defRPr sz="1800">
                <a:solidFill>
                  <a:srgbClr val="333333"/>
                </a:solidFill>
              </a:defRPr>
            </a:pPr>
            <a:r>
              <a:t>✅ Semi-Active: Adjustable dampers, 80% solution, reasonable cost (modern standard for premium cars)</a:t>
            </a:r>
          </a:p>
          <a:p>
            <a:pPr>
              <a:spcAft>
                <a:spcPts val="1000"/>
              </a:spcAft>
              <a:defRPr sz="1800">
                <a:solidFill>
                  <a:srgbClr val="333333"/>
                </a:solidFill>
              </a:defRPr>
            </a:pPr>
            <a:r>
              <a:t>✅ Active: Hydraulic/electric actuators, near-perfect ride + handling, very expensive (luxury only)</a:t>
            </a:r>
          </a:p>
          <a:p>
            <a:pPr>
              <a:spcAft>
                <a:spcPts val="1000"/>
              </a:spcAft>
              <a:defRPr sz="1800">
                <a:solidFill>
                  <a:srgbClr val="333333"/>
                </a:solidFill>
              </a:defRPr>
            </a:pPr>
            <a:r>
              <a:t>✅ Predictive: Camera-based road preview, proactive adjustment (future/cutting-edge)</a:t>
            </a:r>
          </a:p>
          <a:p>
            <a:pPr>
              <a:spcAft>
                <a:spcPts val="1000"/>
              </a:spcAft>
              <a:defRPr sz="1800">
                <a:solidFill>
                  <a:srgbClr val="333333"/>
                </a:solidFill>
              </a:defRPr>
            </a:pPr>
            <a:r>
              <a:t>Connection to Module 3:</a:t>
            </a:r>
          </a:p>
          <a:p>
            <a:pPr>
              <a:spcAft>
                <a:spcPts val="1000"/>
              </a:spcAft>
              <a:defRPr sz="1800">
                <a:solidFill>
                  <a:srgbClr val="333333"/>
                </a:solidFill>
              </a:defRPr>
            </a:pPr>
            <a:r>
              <a:t>Session 9 (Vehicle Dynamics): We calculated load transfer - suspension controls the rate and amount of that transfer</a:t>
            </a:r>
          </a:p>
          <a:p>
            <a:pPr>
              <a:spcAft>
                <a:spcPts val="1000"/>
              </a:spcAft>
              <a:defRPr sz="1800">
                <a:solidFill>
                  <a:srgbClr val="333333"/>
                </a:solidFill>
              </a:defRPr>
            </a:pPr>
            <a:r>
              <a:t>Session 10 (Braking): We studied pitch during braking - suspension dampers control pitch angle</a:t>
            </a:r>
          </a:p>
          <a:p>
            <a:pPr>
              <a:spcAft>
                <a:spcPts val="1000"/>
              </a:spcAft>
              <a:defRPr sz="1800">
                <a:solidFill>
                  <a:srgbClr val="333333"/>
                </a:solidFill>
              </a:defRPr>
            </a:pPr>
            <a:r>
              <a:t>Session 11 (Steering): We explored camber angles - suspension geometry maintains optimal camber during body roll</a:t>
            </a:r>
          </a:p>
          <a:p>
            <a:pPr>
              <a:spcAft>
                <a:spcPts val="1000"/>
              </a:spcAft>
              <a:defRPr sz="1800">
                <a:solidFill>
                  <a:srgbClr val="333333"/>
                </a:solidFill>
              </a:defRPr>
            </a:pPr>
            <a:r>
              <a:t>Session 12 (Today): We learned HOW the suspension manages all these dynamic behaviors</a:t>
            </a:r>
          </a:p>
          <a:p>
            <a:pPr>
              <a:spcAft>
                <a:spcPts val="1000"/>
              </a:spcAft>
              <a:defRPr sz="1800">
                <a:solidFill>
                  <a:srgbClr val="333333"/>
                </a:solidFill>
              </a:defRPr>
            </a:pPr>
            <a:r>
              <a:t>Module 3 Complete:</a:t>
            </a:r>
          </a:p>
          <a:p>
            <a:pPr>
              <a:spcAft>
                <a:spcPts val="1000"/>
              </a:spcAft>
              <a:defRPr sz="1800">
                <a:solidFill>
                  <a:srgbClr val="333333"/>
                </a:solidFill>
              </a:defRPr>
            </a:pPr>
            <a:r>
              <a:t>We can now:</a:t>
            </a:r>
          </a:p>
          <a:p>
            <a:pPr>
              <a:spcAft>
                <a:spcPts val="600"/>
              </a:spcAft>
              <a:defRPr sz="1800">
                <a:solidFill>
                  <a:srgbClr val="333333"/>
                </a:solidFill>
              </a:defRPr>
            </a:pPr>
            <a:r>
              <a:t>Calculate vehicle dynamics (forces, accelerations, load transfer)</a:t>
            </a:r>
          </a:p>
          <a:p>
            <a:pPr>
              <a:spcAft>
                <a:spcPts val="600"/>
              </a:spcAft>
              <a:defRPr sz="1800">
                <a:solidFill>
                  <a:srgbClr val="333333"/>
                </a:solidFill>
              </a:defRPr>
            </a:pPr>
            <a:r>
              <a:t>Design braking systems (friction, hydraulics, ABS control)</a:t>
            </a:r>
          </a:p>
          <a:p>
            <a:pPr>
              <a:spcAft>
                <a:spcPts val="600"/>
              </a:spcAft>
              <a:defRPr sz="1800">
                <a:solidFill>
                  <a:srgbClr val="333333"/>
                </a:solidFill>
              </a:defRPr>
            </a:pPr>
            <a:r>
              <a:t>Design steering systems (Ackermann, power assist, feedback)</a:t>
            </a:r>
          </a:p>
          <a:p>
            <a:pPr>
              <a:spcAft>
                <a:spcPts val="600"/>
              </a:spcAft>
              <a:defRPr sz="1800">
                <a:solidFill>
                  <a:srgbClr val="333333"/>
                </a:solidFill>
              </a:defRPr>
            </a:pPr>
            <a:r>
              <a:t>Design suspension systems (springs, dampers, geometry, electronics)</a:t>
            </a:r>
          </a:p>
          <a:p>
            <a:pPr>
              <a:spcAft>
                <a:spcPts val="1000"/>
              </a:spcAft>
              <a:defRPr sz="1800">
                <a:solidFill>
                  <a:srgbClr val="333333"/>
                </a:solidFill>
              </a:defRPr>
            </a:pPr>
            <a:r>
              <a:t>Next Steps:</a:t>
            </a:r>
          </a:p>
          <a:p>
            <a:pPr>
              <a:spcAft>
                <a:spcPts val="1000"/>
              </a:spcAft>
              <a:defRPr sz="1800">
                <a:solidFill>
                  <a:srgbClr val="333333"/>
                </a:solidFill>
              </a:defRPr>
            </a:pPr>
            <a:r>
              <a:t>Module 4 (Electrical &amp; Control Systems) will explore the ECUs and networks that tie all these chassis control systems together (ABS ECU, ESC ECU, EPAS ECU, suspension ECU—all communicating via CAN bus).</a:t>
            </a:r>
          </a:p>
          <a:p>
            <a:pPr>
              <a:spcAft>
                <a:spcPts val="1000"/>
              </a:spcAft>
              <a:defRPr sz="1800">
                <a:solidFill>
                  <a:srgbClr val="333333"/>
                </a:solidFill>
              </a:defRPr>
            </a:pPr>
            <a:r>
              <a:t>See you next session!</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 SESSION METADATA</a:t>
            </a:r>
          </a:p>
        </p:txBody>
      </p:sp>
      <p:sp>
        <p:nvSpPr>
          <p:cNvPr id="3" name="Content Placeholder 2"/>
          <p:cNvSpPr>
            <a:spLocks noGrp="1"/>
          </p:cNvSpPr>
          <p:nvPr>
            <p:ph idx="1"/>
          </p:nvPr>
        </p:nvSpPr>
        <p:spPr/>
        <p:txBody>
          <a:bodyPr/>
          <a:lstStyle/>
          <a:p>
            <a:pPr>
              <a:spcAft>
                <a:spcPts val="1000"/>
              </a:spcAft>
              <a:defRPr sz="1800">
                <a:solidFill>
                  <a:srgbClr val="333333"/>
                </a:solidFill>
              </a:defRPr>
            </a:pPr>
            <a:r>
              <a:t>Total Slides: 32</a:t>
            </a:r>
          </a:p>
          <a:p>
            <a:pPr>
              <a:spcAft>
                <a:spcPts val="1000"/>
              </a:spcAft>
              <a:defRPr sz="1800">
                <a:solidFill>
                  <a:srgbClr val="333333"/>
                </a:solidFill>
              </a:defRPr>
            </a:pPr>
            <a:r>
              <a:t>Lecture Duration: 90 minutes</a:t>
            </a:r>
          </a:p>
          <a:p>
            <a:pPr>
              <a:spcAft>
                <a:spcPts val="1000"/>
              </a:spcAft>
              <a:defRPr sz="1800">
                <a:solidFill>
                  <a:srgbClr val="333333"/>
                </a:solidFill>
              </a:defRPr>
            </a:pPr>
            <a:r>
              <a:t>Q&amp;A Duration: 30 minutes</a:t>
            </a:r>
          </a:p>
          <a:p>
            <a:pPr>
              <a:spcAft>
                <a:spcPts val="1000"/>
              </a:spcAft>
              <a:defRPr sz="1800">
                <a:solidFill>
                  <a:srgbClr val="333333"/>
                </a:solidFill>
              </a:defRPr>
            </a:pPr>
            <a:r>
              <a:t>Total Session Time: 120 minutes</a:t>
            </a:r>
          </a:p>
          <a:p>
            <a:pPr>
              <a:spcAft>
                <a:spcPts val="1000"/>
              </a:spcAft>
              <a:defRPr sz="1800">
                <a:solidFill>
                  <a:srgbClr val="333333"/>
                </a:solidFill>
              </a:defRPr>
            </a:pPr>
            <a:r>
              <a:t>Learning Outcome Coverage: — ✅ SO-3-12-1: Spring-mass-damper principles (Slides 3-9, multiple worked examples)</a:t>
            </a:r>
          </a:p>
          <a:p>
            <a:pPr>
              <a:spcAft>
                <a:spcPts val="600"/>
              </a:spcAft>
              <a:defRPr sz="1800">
                <a:solidFill>
                  <a:srgbClr val="333333"/>
                </a:solidFill>
              </a:defRPr>
            </a:pPr>
            <a:r>
              <a:t>✅ SO-3-12-2: Suspension functions and trade-offs (Slides 10-13)</a:t>
            </a:r>
          </a:p>
          <a:p>
            <a:pPr>
              <a:spcAft>
                <a:spcPts val="600"/>
              </a:spcAft>
              <a:defRPr sz="1800">
                <a:solidFill>
                  <a:srgbClr val="333333"/>
                </a:solidFill>
              </a:defRPr>
            </a:pPr>
            <a:r>
              <a:t>✅ SO-3-12-3: Suspension type comparison (Slides 14-18)</a:t>
            </a:r>
          </a:p>
          <a:p>
            <a:pPr>
              <a:spcAft>
                <a:spcPts val="600"/>
              </a:spcAft>
              <a:defRPr sz="1800">
                <a:solidFill>
                  <a:srgbClr val="333333"/>
                </a:solidFill>
              </a:defRPr>
            </a:pPr>
            <a:r>
              <a:t>✅ SO-3-12-4: Spring and damper types (Slides 19-20)</a:t>
            </a:r>
          </a:p>
          <a:p>
            <a:pPr>
              <a:spcAft>
                <a:spcPts val="600"/>
              </a:spcAft>
              <a:defRPr sz="1800">
                <a:solidFill>
                  <a:srgbClr val="333333"/>
                </a:solidFill>
              </a:defRPr>
            </a:pPr>
            <a:r>
              <a:t>✅ SO-3-12-5: Anti-roll bar operation (Slides 22-25)</a:t>
            </a:r>
          </a:p>
          <a:p>
            <a:pPr>
              <a:spcAft>
                <a:spcPts val="600"/>
              </a:spcAft>
              <a:defRPr sz="1800">
                <a:solidFill>
                  <a:srgbClr val="333333"/>
                </a:solidFill>
              </a:defRPr>
            </a:pPr>
            <a:r>
              <a:t>✅ SO-3-12-6: Electronic suspension systems (Slides 27-31)</a:t>
            </a:r>
          </a:p>
          <a:p>
            <a:pPr>
              <a:spcAft>
                <a:spcPts val="1000"/>
              </a:spcAft>
              <a:defRPr sz="1800">
                <a:solidFill>
                  <a:srgbClr val="333333"/>
                </a:solidFill>
              </a:defRPr>
            </a:pPr>
            <a:r>
              <a:t>Worked Examples: 3</a:t>
            </a:r>
          </a:p>
          <a:p>
            <a:pPr>
              <a:spcAft>
                <a:spcPts val="600"/>
              </a:spcAft>
              <a:defRPr sz="1800">
                <a:solidFill>
                  <a:srgbClr val="333333"/>
                </a:solidFill>
              </a:defRPr>
            </a:pPr>
            <a:r>
              <a:t>Suspension natural frequency and damping ratio calculation (Slide 6)</a:t>
            </a:r>
          </a:p>
          <a:p>
            <a:pPr>
              <a:spcAft>
                <a:spcPts val="600"/>
              </a:spcAft>
              <a:defRPr sz="1800">
                <a:solidFill>
                  <a:srgbClr val="333333"/>
                </a:solidFill>
              </a:defRPr>
            </a:pPr>
            <a:r>
              <a:t>Suspension tuning (spring stiffness change) (Slide 9)</a:t>
            </a:r>
          </a:p>
          <a:p>
            <a:pPr>
              <a:spcAft>
                <a:spcPts val="600"/>
              </a:spcAft>
              <a:defRPr sz="1800">
                <a:solidFill>
                  <a:srgbClr val="333333"/>
                </a:solidFill>
              </a:defRPr>
            </a:pPr>
            <a:r>
              <a:t>Complete suspension system design (Slide 31)</a:t>
            </a:r>
          </a:p>
          <a:p>
            <a:pPr>
              <a:spcAft>
                <a:spcPts val="1000"/>
              </a:spcAft>
              <a:defRPr sz="1800">
                <a:solidFill>
                  <a:srgbClr val="333333"/>
                </a:solidFill>
              </a:defRPr>
            </a:pPr>
            <a:r>
              <a:t>Practice Problems: 1</a:t>
            </a:r>
          </a:p>
          <a:p>
            <a:pPr>
              <a:spcAft>
                <a:spcPts val="600"/>
              </a:spcAft>
              <a:defRPr sz="1800">
                <a:solidFill>
                  <a:srgbClr val="333333"/>
                </a:solidFill>
              </a:defRPr>
            </a:pPr>
            <a:r>
              <a:t>Suspension tuning for sports car (Slide 9)</a:t>
            </a:r>
          </a:p>
          <a:p>
            <a:pPr>
              <a:spcAft>
                <a:spcPts val="1000"/>
              </a:spcAft>
              <a:defRPr sz="1800">
                <a:solidFill>
                  <a:srgbClr val="333333"/>
                </a:solidFill>
              </a:defRPr>
            </a:pPr>
            <a:r>
              <a:t>Key Formulas:</a:t>
            </a:r>
          </a:p>
          <a:p>
            <a:pPr>
              <a:spcAft>
                <a:spcPts val="600"/>
              </a:spcAft>
              <a:defRPr sz="1800">
                <a:solidFill>
                  <a:srgbClr val="333333"/>
                </a:solidFill>
              </a:defRPr>
            </a:pPr>
            <a:r>
              <a:t>Natural frequency: fn = √(k/ms) / (2π)</a:t>
            </a:r>
          </a:p>
          <a:p>
            <a:pPr>
              <a:spcAft>
                <a:spcPts val="600"/>
              </a:spcAft>
              <a:defRPr sz="1800">
                <a:solidFill>
                  <a:srgbClr val="333333"/>
                </a:solidFill>
              </a:defRPr>
            </a:pPr>
            <a:r>
              <a:t>Damping ratio: ζ = c / (2√(k × m_s))</a:t>
            </a:r>
          </a:p>
          <a:p>
            <a:pPr>
              <a:spcAft>
                <a:spcPts val="600"/>
              </a:spcAft>
              <a:defRPr sz="1800">
                <a:solidFill>
                  <a:srgbClr val="333333"/>
                </a:solidFill>
              </a:defRPr>
            </a:pPr>
            <a:r>
              <a:t>Body roll: φ ≈ (m × alat × h) / (Kroll × t)</a:t>
            </a:r>
          </a:p>
          <a:p>
            <a:pPr>
              <a:spcAft>
                <a:spcPts val="600"/>
              </a:spcAft>
              <a:defRPr sz="1800">
                <a:solidFill>
                  <a:srgbClr val="333333"/>
                </a:solidFill>
              </a:defRPr>
            </a:pPr>
            <a:r>
              <a:t>ARB roll stiffness: K_roll,ARB = (G × π × r⁴) / (2 × L × l²)</a:t>
            </a:r>
          </a:p>
          <a:p>
            <a:pPr>
              <a:spcAft>
                <a:spcPts val="600"/>
              </a:spcAft>
              <a:defRPr sz="1800">
                <a:solidFill>
                  <a:srgbClr val="333333"/>
                </a:solidFill>
              </a:defRPr>
            </a:pPr>
            <a:r>
              <a:t>Spring-mass-damper equation: m × z̈ + c × ż + k × z = F_input</a:t>
            </a:r>
          </a:p>
          <a:p>
            <a:pPr>
              <a:spcAft>
                <a:spcPts val="1000"/>
              </a:spcAft>
              <a:defRPr sz="1800">
                <a:solidFill>
                  <a:srgbClr val="333333"/>
                </a:solidFill>
              </a:defRPr>
            </a:pPr>
            <a:r>
              <a:t>Visual Requirements: — Physics diagrams (spring-mass-damper, free-body) - 5 slides</a:t>
            </a:r>
          </a:p>
          <a:p>
            <a:pPr>
              <a:spcAft>
                <a:spcPts val="600"/>
              </a:spcAft>
              <a:defRPr sz="1800">
                <a:solidFill>
                  <a:srgbClr val="333333"/>
                </a:solidFill>
              </a:defRPr>
            </a:pPr>
            <a:r>
              <a:t>Suspension architecture cutaways - 5 slides</a:t>
            </a:r>
          </a:p>
          <a:p>
            <a:pPr>
              <a:spcAft>
                <a:spcPts val="600"/>
              </a:spcAft>
              <a:defRPr sz="1800">
                <a:solidFill>
                  <a:srgbClr val="333333"/>
                </a:solidFill>
              </a:defRPr>
            </a:pPr>
            <a:r>
              <a:t>Component diagrams (springs, dampers, ARB) - 4 slides</a:t>
            </a:r>
          </a:p>
          <a:p>
            <a:pPr>
              <a:spcAft>
                <a:spcPts val="600"/>
              </a:spcAft>
              <a:defRPr sz="1800">
                <a:solidFill>
                  <a:srgbClr val="333333"/>
                </a:solidFill>
              </a:defRPr>
            </a:pPr>
            <a:r>
              <a:t>Electronic system diagrams - 4 slides</a:t>
            </a:r>
          </a:p>
          <a:p>
            <a:pPr>
              <a:spcAft>
                <a:spcPts val="600"/>
              </a:spcAft>
              <a:defRPr sz="1800">
                <a:solidFill>
                  <a:srgbClr val="333333"/>
                </a:solidFill>
              </a:defRPr>
            </a:pPr>
            <a:r>
              <a:t>Graphs (frequency response, damping regimes) - 3 slides</a:t>
            </a:r>
          </a:p>
          <a:p>
            <a:pPr>
              <a:spcAft>
                <a:spcPts val="600"/>
              </a:spcAft>
              <a:defRPr sz="1800">
                <a:solidFill>
                  <a:srgbClr val="333333"/>
                </a:solidFill>
              </a:defRPr>
            </a:pPr>
            <a:r>
              <a:t>Comparison tables - 4 slides</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r>
              <a:t>🎯 INSTRUCTOR NOTES</a:t>
            </a:r>
          </a:p>
        </p:txBody>
      </p:sp>
      <p:sp>
        <p:nvSpPr>
          <p:cNvPr id="3" name="Content Placeholder 2"/>
          <p:cNvSpPr>
            <a:spLocks noGrp="1"/>
          </p:cNvSpPr>
          <p:nvPr>
            <p:ph idx="1"/>
          </p:nvPr>
        </p:nvSpPr>
        <p:spPr/>
        <p:txBody>
          <a:bodyPr/>
          <a:lstStyle/>
          <a:p>
            <a:pPr>
              <a:spcAft>
                <a:spcPts val="1000"/>
              </a:spcAft>
              <a:defRPr sz="1800">
                <a:solidFill>
                  <a:srgbClr val="333333"/>
                </a:solidFill>
              </a:defRPr>
            </a:pPr>
            <a:r>
              <a:t>Pacing Tips: — Spring-mass-damper physics (Slides 3-9): Most mathematically intensive. Go slowly, use board for derivations if students struggle.</a:t>
            </a:r>
          </a:p>
          <a:p>
            <a:pPr>
              <a:spcAft>
                <a:spcPts val="600"/>
              </a:spcAft>
              <a:defRPr sz="1800">
                <a:solidFill>
                  <a:srgbClr val="333333"/>
                </a:solidFill>
              </a:defRPr>
            </a:pPr>
            <a:r>
              <a:t>Suspension types (Slides 15-18): Students find this interesting (can relate to cars they know). Show real photos/videos if possible.</a:t>
            </a:r>
          </a:p>
          <a:p>
            <a:pPr>
              <a:spcAft>
                <a:spcPts val="600"/>
              </a:spcAft>
              <a:defRPr sz="1800">
                <a:solidFill>
                  <a:srgbClr val="333333"/>
                </a:solidFill>
              </a:defRPr>
            </a:pPr>
            <a:r>
              <a:t>Anti-roll bar (Slides 22-24): Counterintuitive concept. Use physical demonstration (twist a pencil vs bend it) to illustrate torsion vs bending.</a:t>
            </a:r>
          </a:p>
          <a:p>
            <a:pPr>
              <a:spcAft>
                <a:spcPts val="600"/>
              </a:spcAft>
              <a:defRPr sz="1800">
                <a:solidFill>
                  <a:srgbClr val="333333"/>
                </a:solidFill>
              </a:defRPr>
            </a:pPr>
            <a:r>
              <a:t>Electronic systems (Slides 27-31): Exciting topic. Show videos of active suspension if available (Mercedes ABC demo, Citroën hydraulic demo).</a:t>
            </a:r>
          </a:p>
          <a:p>
            <a:pPr>
              <a:spcAft>
                <a:spcPts val="1000"/>
              </a:spcAft>
              <a:defRPr sz="1800">
                <a:solidFill>
                  <a:srgbClr val="333333"/>
                </a:solidFill>
              </a:defRPr>
            </a:pPr>
            <a:r>
              <a:t>Common Student Questions:</a:t>
            </a:r>
          </a:p>
          <a:p>
            <a:pPr>
              <a:spcAft>
                <a:spcPts val="600"/>
              </a:spcAft>
              <a:defRPr sz="1800">
                <a:solidFill>
                  <a:srgbClr val="333333"/>
                </a:solidFill>
              </a:defRPr>
            </a:pPr>
            <a:r>
              <a:t>"Why not use active suspension on all cars?</a:t>
            </a:r>
          </a:p>
          <a:p>
            <a:pPr>
              <a:spcAft>
                <a:spcPts val="600"/>
              </a:spcAft>
              <a:defRPr sz="1800">
                <a:solidFill>
                  <a:srgbClr val="333333"/>
                </a:solidFill>
              </a:defRPr>
            </a:pPr>
            <a:r>
              <a:t>Answer: Cost ($5,000-10,000 vs $500-1,000 for passive). Most buyers won't pay premium.</a:t>
            </a:r>
          </a:p>
          <a:p>
            <a:pPr>
              <a:spcAft>
                <a:spcPts val="600"/>
              </a:spcAft>
              <a:defRPr sz="1800">
                <a:solidFill>
                  <a:srgbClr val="333333"/>
                </a:solidFill>
              </a:defRPr>
            </a:pPr>
            <a:r>
              <a:t>"Can I install adjustable dampers on my car?</a:t>
            </a:r>
          </a:p>
          <a:p>
            <a:pPr>
              <a:spcAft>
                <a:spcPts val="600"/>
              </a:spcAft>
              <a:defRPr sz="1800">
                <a:solidFill>
                  <a:srgbClr val="333333"/>
                </a:solidFill>
              </a:defRPr>
            </a:pPr>
            <a:r>
              <a:t>Answer: Yes (aftermarket coilovers). But requires knowledge to tune properly—poor settings worse than stock.</a:t>
            </a:r>
          </a:p>
          <a:p>
            <a:pPr>
              <a:spcAft>
                <a:spcPts val="600"/>
              </a:spcAft>
              <a:defRPr sz="1800">
                <a:solidFill>
                  <a:srgbClr val="333333"/>
                </a:solidFill>
              </a:defRPr>
            </a:pPr>
            <a:r>
              <a:t>"Why do lowered cars ride so harshly?</a:t>
            </a:r>
          </a:p>
          <a:p>
            <a:pPr>
              <a:spcAft>
                <a:spcPts val="600"/>
              </a:spcAft>
              <a:defRPr sz="1800">
                <a:solidFill>
                  <a:srgbClr val="333333"/>
                </a:solidFill>
              </a:defRPr>
            </a:pPr>
            <a:r>
              <a:t>Answer: Reduced bump travel → hitting bump stops frequently. Also often use stiffer springs (required to prevent bottoming).</a:t>
            </a:r>
          </a:p>
          <a:p>
            <a:pPr>
              <a:spcAft>
                <a:spcPts val="600"/>
              </a:spcAft>
              <a:defRPr sz="1800">
                <a:solidFill>
                  <a:srgbClr val="333333"/>
                </a:solidFill>
              </a:defRPr>
            </a:pPr>
            <a:r>
              <a:t>"What's the difference between shocks and struts?</a:t>
            </a:r>
          </a:p>
          <a:p>
            <a:pPr>
              <a:spcAft>
                <a:spcPts val="600"/>
              </a:spcAft>
              <a:defRPr sz="1800">
                <a:solidFill>
                  <a:srgbClr val="333333"/>
                </a:solidFill>
              </a:defRPr>
            </a:pPr>
            <a:r>
              <a:t>Answer: "Shock absorber" = damper. "Strut" = damper + structural element (McPherson strut replaces upper control arm).</a:t>
            </a:r>
          </a:p>
          <a:p>
            <a:pPr>
              <a:spcAft>
                <a:spcPts val="1000"/>
              </a:spcAft>
              <a:defRPr sz="1800">
                <a:solidFill>
                  <a:srgbClr val="333333"/>
                </a:solidFill>
              </a:defRPr>
            </a:pPr>
            <a:r>
              <a:t>Engagement Strategies: — Ask students about their own cars: "What suspension does your car use? McPherson? Double wishbone?</a:t>
            </a:r>
          </a:p>
          <a:p>
            <a:pPr>
              <a:spcAft>
                <a:spcPts val="600"/>
              </a:spcAft>
              <a:defRPr sz="1800">
                <a:solidFill>
                  <a:srgbClr val="333333"/>
                </a:solidFill>
              </a:defRPr>
            </a:pPr>
            <a:r>
              <a:t>Demonstrate damping regimes with door closer (underdamped = bounces, critically damped = closes smoothly)</a:t>
            </a:r>
          </a:p>
          <a:p>
            <a:pPr>
              <a:spcAft>
                <a:spcPts val="600"/>
              </a:spcAft>
              <a:defRPr sz="1800">
                <a:solidFill>
                  <a:srgbClr val="333333"/>
                </a:solidFill>
              </a:defRPr>
            </a:pPr>
            <a:r>
              <a:t>Show video of active suspension completely canceling body roll (always impresses students)</a:t>
            </a:r>
          </a:p>
          <a:p>
            <a:pPr>
              <a:spcAft>
                <a:spcPts val="600"/>
              </a:spcAft>
              <a:defRPr sz="1800">
                <a:solidFill>
                  <a:srgbClr val="333333"/>
                </a:solidFill>
              </a:defRPr>
            </a:pPr>
            <a:r>
              <a:t>Discuss lowering/modifying cars (many students interested—use it to teach proper engineering)</a:t>
            </a:r>
          </a:p>
          <a:p>
            <a:pPr>
              <a:spcAft>
                <a:spcPts val="1000"/>
              </a:spcAft>
              <a:defRPr sz="1800">
                <a:solidFill>
                  <a:srgbClr val="333333"/>
                </a:solidFill>
              </a:defRPr>
            </a:pPr>
            <a:r>
              <a:t>Prerequisite Check: — Review load transfer from Session 9 (critical for understanding ARB and roll stiffness)</a:t>
            </a:r>
          </a:p>
          <a:p>
            <a:pPr>
              <a:spcAft>
                <a:spcPts val="600"/>
              </a:spcAft>
              <a:defRPr sz="1800">
                <a:solidFill>
                  <a:srgbClr val="333333"/>
                </a:solidFill>
              </a:defRPr>
            </a:pPr>
            <a:r>
              <a:t>Ensure understanding of differential equations (at least conceptually—not solving them, but understanding what they represent)</a:t>
            </a:r>
          </a:p>
          <a:p>
            <a:pPr>
              <a:spcAft>
                <a:spcPts val="600"/>
              </a:spcAft>
              <a:defRPr sz="1800">
                <a:solidFill>
                  <a:srgbClr val="333333"/>
                </a:solidFill>
              </a:defRPr>
            </a:pPr>
            <a:r>
              <a:t>Check trigonometry comfort (angles in radians vs degrees, small angle approximations)</a:t>
            </a:r>
          </a:p>
          <a:p>
            <a:pPr>
              <a:spcAft>
                <a:spcPts val="1000"/>
              </a:spcAft>
              <a:defRPr sz="1800">
                <a:solidFill>
                  <a:srgbClr val="333333"/>
                </a:solidFill>
              </a:defRPr>
            </a:pPr>
            <a:r>
              <a:t>Safety/Practical Emphasis: — Never modify suspension without understanding consequences (handling, safety, legality)</a:t>
            </a:r>
          </a:p>
          <a:p>
            <a:pPr>
              <a:spcAft>
                <a:spcPts val="600"/>
              </a:spcAft>
              <a:defRPr sz="1800">
                <a:solidFill>
                  <a:srgbClr val="333333"/>
                </a:solidFill>
              </a:defRPr>
            </a:pPr>
            <a:r>
              <a:t>Worn dampers are dangerous (increase stopping distance, reduce control)</a:t>
            </a:r>
          </a:p>
          <a:p>
            <a:pPr>
              <a:spcAft>
                <a:spcPts val="600"/>
              </a:spcAft>
              <a:defRPr sz="1800">
                <a:solidFill>
                  <a:srgbClr val="333333"/>
                </a:solidFill>
              </a:defRPr>
            </a:pPr>
            <a:r>
              <a:t>Spring/damper mismatch causes poor handling (must be matched to work together)</a:t>
            </a:r>
          </a:p>
          <a:p>
            <a:pPr>
              <a:spcAft>
                <a:spcPts val="600"/>
              </a:spcAft>
              <a:defRPr sz="1800">
                <a:solidFill>
                  <a:srgbClr val="333333"/>
                </a:solidFill>
              </a:defRPr>
            </a:pPr>
            <a:r>
              <a:t>If modifying: Get professional alignment after ANY suspension work</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4472C4"/>
                </a:solidFill>
              </a:defRPr>
            </a:pPr>
          </a:p>
        </p:txBody>
      </p:sp>
      <p:sp>
        <p:nvSpPr>
          <p:cNvPr id="3" name="Content Placeholder 2"/>
          <p:cNvSpPr>
            <a:spLocks noGrp="1"/>
          </p:cNvSpPr>
          <p:nvPr>
            <p:ph idx="1"/>
          </p:nvPr>
        </p:nvSpPr>
        <p:spPr/>
        <p:txBody>
          <a:bodyPr/>
          <a:lstStyle/>
          <a:p>
            <a:pPr>
              <a:spcAft>
                <a:spcPts val="1000"/>
              </a:spcAft>
              <a:defRPr sz="1800">
                <a:solidFill>
                  <a:srgbClr val="333333"/>
                </a:solidFill>
              </a:defRPr>
            </a:pPr>
            <a:r>
              <a:t>END OF SESSION 12 FRAMEWORK</a:t>
            </a:r>
          </a:p>
          <a:p>
            <a:pPr>
              <a:spcAft>
                <a:spcPts val="1000"/>
              </a:spcAft>
              <a:defRPr sz="1800">
                <a:solidFill>
                  <a:srgbClr val="333333"/>
                </a:solidFill>
              </a:defRPr>
            </a:pPr>
            <a:r>
              <a:t>END OF MODULE 3 (CHASSIS DYNAMICS &amp; CONTROL)</a:t>
            </a:r>
          </a:p>
          <a:p>
            <a:pPr>
              <a:spcAft>
                <a:spcPts val="1000"/>
              </a:spcAft>
              <a:defRPr sz="1800">
                <a:solidFill>
                  <a:srgbClr val="333333"/>
                </a:solidFill>
              </a:defRPr>
            </a:pPr>
            <a:r>
              <a:t>This framework is ready for PowerPoint conversion. Each slide description includes visual guidance, instructor narration, and technical content for professional slide development.</a:t>
            </a:r>
          </a:p>
          <a:p>
            <a:pPr>
              <a:spcAft>
                <a:spcPts val="1000"/>
              </a:spcAft>
              <a:defRPr sz="1800">
                <a:solidFill>
                  <a:srgbClr val="333333"/>
                </a:solidFill>
              </a:defRPr>
            </a:pPr>
            <a:r>
              <a:t>Module 3 (Sessions 9-12) is now complete. This module emphasized mathematical analysis and system understanding, building on the physics foundation from Module 1 (Sessions 1-3) and applying it to real automotive chassis control systems.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