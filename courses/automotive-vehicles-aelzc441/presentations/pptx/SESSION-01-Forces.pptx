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1: Forces Acting on a Moving Vehicle'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Forces Acting on a Moving Vehicle</a:t>
            </a:r>
          </a:p>
        </p:txBody>
      </p:sp>
      <p:sp>
        <p:nvSpPr>
          <p:cNvPr id="3" name="Subtitle 2"/>
          <p:cNvSpPr>
            <a:spLocks noGrp="1"/>
          </p:cNvSpPr>
          <p:nvPr>
            <p:ph type="subTitle" idx="1"/>
          </p:nvPr>
        </p:nvSpPr>
        <p:spPr/>
        <p:txBody>
          <a:bodyPr/>
          <a:lstStyle/>
          <a:p>
            <a:pPr>
              <a:defRPr sz="2000">
                <a:solidFill>
                  <a:srgbClr val="FFFFFF"/>
                </a:solidFill>
              </a:defRPr>
            </a:pPr>
            <a:r>
              <a:t>Session 1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Welcome to Automotive Vehicles. Over the next 20 sessions, we're going to build your understanding of how vehicles work from the ground up. And I mean that literally – we start with the ground.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Question That Drives Everything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 me ask you something. When you press the accelerator in a car, what's actually happening? Most people say 'the engine speeds up.' That's not wrong, but it's incomplete. Today, I want to share with you a different way of thinking about vehicles – one that starts with a simple physics question: How much force does it take to move this car?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Why This Matters (Personal Connection)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 remember when I first started studying automotive engineering, I was overwhelmed by all the systems – engines, transmissions, electronics. But my professor told me something that changed everything: 'Before you can understand how to generate power, you need to understand why we need it.' That's what we're doing today.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Our Learning Journey Today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Here's our path today. We'll start with basic physics you already know – Newton's laws, force calculations. Then we'll apply them to real vehicles. By the end, you'll be able to calculate exactly how much force any vehicle needs in any situation. No black boxes, no magic – just physics and math.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Real-World Scenario</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 me give you a challenge. This is a Honda Civic. Mass: 1,300 kg. It's driving on a level highway at 100 km/h. Question: What force is the engine fighting against right now?</a:t>
            </a:r>
          </a:p>
          <a:p>
            <a:pPr>
              <a:spcAft>
                <a:spcPts val="1000"/>
              </a:spcAft>
              <a:defRPr sz="1800">
                <a:solidFill>
                  <a:srgbClr val="333333"/>
                </a:solidFill>
              </a:defRPr>
            </a:pPr>
            <a:r>
              <a:t>By the end of today, you won't just guess – you'll calculate the exact answer. And more importantly, you'll understand where every Newton of that force comes from.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Three Resistance Forces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Here's what I'm going to teach you today. Every moving vehicle fights three forces:</a:t>
            </a:r>
          </a:p>
          <a:p>
            <a:pPr>
              <a:spcAft>
                <a:spcPts val="600"/>
              </a:spcAft>
              <a:defRPr sz="1800">
                <a:solidFill>
                  <a:srgbClr val="333333"/>
                </a:solidFill>
              </a:defRPr>
            </a:pPr>
            <a:r>
              <a:t>Rolling Resistance — from the tires</a:t>
            </a:r>
          </a:p>
          <a:p>
            <a:pPr>
              <a:spcAft>
                <a:spcPts val="600"/>
              </a:spcAft>
              <a:defRPr sz="1800">
                <a:solidFill>
                  <a:srgbClr val="333333"/>
                </a:solidFill>
              </a:defRPr>
            </a:pPr>
            <a:r>
              <a:t>Aerodynamic Drag — from pushing through air</a:t>
            </a:r>
          </a:p>
          <a:p>
            <a:pPr>
              <a:spcAft>
                <a:spcPts val="600"/>
              </a:spcAft>
              <a:defRPr sz="1800">
                <a:solidFill>
                  <a:srgbClr val="333333"/>
                </a:solidFill>
              </a:defRPr>
            </a:pPr>
            <a:r>
              <a:t>Gradient Resistance — from climbing slopes</a:t>
            </a:r>
          </a:p>
          <a:p>
            <a:pPr>
              <a:spcAft>
                <a:spcPts val="1000"/>
              </a:spcAft>
              <a:defRPr sz="1800">
                <a:solidFill>
                  <a:srgbClr val="333333"/>
                </a:solidFill>
              </a:defRPr>
            </a:pPr>
            <a:r>
              <a:t>Understand these three, and you understand why vehicles need power.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What is Rolling Resistance?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Imagine pushing a shopping cart. Even on flat ground, you need force to keep it moving. Why? The wheels resist motion. Same with car tires.</a:t>
            </a:r>
          </a:p>
          <a:p>
            <a:pPr>
              <a:spcAft>
                <a:spcPts val="1000"/>
              </a:spcAft>
              <a:defRPr sz="1800">
                <a:solidFill>
                  <a:srgbClr val="333333"/>
                </a:solidFill>
              </a:defRPr>
            </a:pPr>
            <a:r>
              <a:t>When a tire rolls, it deforms slightly – it's not perfectly rigid. This deformation eats energy. That's rolling resistance.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Formula (Simplified)</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The formula is beautifully simple:</a:t>
            </a:r>
          </a:p>
          <a:p>
            <a:pPr>
              <a:spcAft>
                <a:spcPts val="1000"/>
              </a:spcAft>
              <a:defRPr sz="1800">
                <a:solidFill>
                  <a:srgbClr val="333333"/>
                </a:solidFill>
              </a:defRPr>
            </a:pPr>
            <a:r>
              <a:t>Frolling = Crr × W</a:t>
            </a:r>
          </a:p>
          <a:p>
            <a:pPr>
              <a:spcAft>
                <a:spcPts val="1000"/>
              </a:spcAft>
              <a:defRPr sz="1800">
                <a:solidFill>
                  <a:srgbClr val="333333"/>
                </a:solidFill>
              </a:defRPr>
            </a:pPr>
            <a:r>
              <a:t>Where:</a:t>
            </a:r>
          </a:p>
          <a:p>
            <a:pPr>
              <a:spcAft>
                <a:spcPts val="600"/>
              </a:spcAft>
              <a:defRPr sz="1800">
                <a:solidFill>
                  <a:srgbClr val="333333"/>
                </a:solidFill>
              </a:defRPr>
            </a:pPr>
            <a:r>
              <a:t>F_rolling = rolling resistance force (N)</a:t>
            </a:r>
          </a:p>
          <a:p>
            <a:pPr>
              <a:spcAft>
                <a:spcPts val="600"/>
              </a:spcAft>
              <a:defRPr sz="1800">
                <a:solidFill>
                  <a:srgbClr val="333333"/>
                </a:solidFill>
              </a:defRPr>
            </a:pPr>
            <a:r>
              <a:t>C_rr = coefficient of rolling resistance (dimensionless, ~0.01 for cars)</a:t>
            </a:r>
          </a:p>
          <a:p>
            <a:pPr>
              <a:spcAft>
                <a:spcPts val="600"/>
              </a:spcAft>
              <a:defRPr sz="1800">
                <a:solidFill>
                  <a:srgbClr val="333333"/>
                </a:solidFill>
              </a:defRPr>
            </a:pPr>
            <a:r>
              <a:t>W = vehicle weight (N) = mg</a:t>
            </a:r>
          </a:p>
          <a:p>
            <a:pPr>
              <a:spcAft>
                <a:spcPts val="1000"/>
              </a:spcAft>
              <a:defRPr sz="1800">
                <a:solidFill>
                  <a:srgbClr val="333333"/>
                </a:solidFill>
              </a:defRPr>
            </a:pPr>
            <a:r>
              <a:t>That's it. Weight times a small coefficient.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Example Calculation (Live)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 me show you with our Honda Civic:</a:t>
            </a:r>
          </a:p>
          <a:p>
            <a:pPr>
              <a:spcAft>
                <a:spcPts val="600"/>
              </a:spcAft>
              <a:defRPr sz="1800">
                <a:solidFill>
                  <a:srgbClr val="333333"/>
                </a:solidFill>
              </a:defRPr>
            </a:pPr>
            <a:r>
              <a:t>Mass (m) = 1,300 kg</a:t>
            </a:r>
          </a:p>
          <a:p>
            <a:pPr>
              <a:spcAft>
                <a:spcPts val="600"/>
              </a:spcAft>
              <a:defRPr sz="1800">
                <a:solidFill>
                  <a:srgbClr val="333333"/>
                </a:solidFill>
              </a:defRPr>
            </a:pPr>
            <a:r>
              <a:t>Weight (W) = mg = 1,300 × 9.81 = 12,753 N</a:t>
            </a:r>
          </a:p>
          <a:p>
            <a:pPr>
              <a:spcAft>
                <a:spcPts val="600"/>
              </a:spcAft>
              <a:defRPr sz="1800">
                <a:solidFill>
                  <a:srgbClr val="333333"/>
                </a:solidFill>
              </a:defRPr>
            </a:pPr>
            <a:r>
              <a:t>C_rr = 0.012 (typical for car tires on asphalt)</a:t>
            </a:r>
          </a:p>
          <a:p>
            <a:pPr>
              <a:spcAft>
                <a:spcPts val="1000"/>
              </a:spcAft>
              <a:defRPr sz="1800">
                <a:solidFill>
                  <a:srgbClr val="333333"/>
                </a:solidFill>
              </a:defRPr>
            </a:pPr>
            <a:r>
              <a:t>F_rolling = 0.012 × 12,753 = 153 N</a:t>
            </a:r>
          </a:p>
          <a:p>
            <a:pPr>
              <a:spcAft>
                <a:spcPts val="1000"/>
              </a:spcAft>
              <a:defRPr sz="1800">
                <a:solidFill>
                  <a:srgbClr val="333333"/>
                </a:solidFill>
              </a:defRPr>
            </a:pPr>
            <a:r>
              <a:t>That's the force just to overcome tire resistance. Write that number down – we'll use it later.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Factors Affecting Rolling Resistance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Quick note on what affects C_rr:</a:t>
            </a:r>
          </a:p>
          <a:p>
            <a:pPr>
              <a:spcAft>
                <a:spcPts val="600"/>
              </a:spcAft>
              <a:defRPr sz="1800">
                <a:solidFill>
                  <a:srgbClr val="333333"/>
                </a:solidFill>
              </a:defRPr>
            </a:pPr>
            <a:r>
              <a:t>Tire pressure (lower = higher resistance)</a:t>
            </a:r>
          </a:p>
          <a:p>
            <a:pPr>
              <a:spcAft>
                <a:spcPts val="600"/>
              </a:spcAft>
              <a:defRPr sz="1800">
                <a:solidFill>
                  <a:srgbClr val="333333"/>
                </a:solidFill>
              </a:defRPr>
            </a:pPr>
            <a:r>
              <a:t>Tire material (harder rubber = lower resistance)</a:t>
            </a:r>
          </a:p>
          <a:p>
            <a:pPr>
              <a:spcAft>
                <a:spcPts val="600"/>
              </a:spcAft>
              <a:defRPr sz="1800">
                <a:solidFill>
                  <a:srgbClr val="333333"/>
                </a:solidFill>
              </a:defRPr>
            </a:pPr>
            <a:r>
              <a:t>Road surface (smooth asphalt vs rough gravel)</a:t>
            </a:r>
          </a:p>
          <a:p>
            <a:pPr>
              <a:spcAft>
                <a:spcPts val="600"/>
              </a:spcAft>
              <a:defRPr sz="1800">
                <a:solidFill>
                  <a:srgbClr val="333333"/>
                </a:solidFill>
              </a:defRPr>
            </a:pPr>
            <a:r>
              <a:t>Temperature</a:t>
            </a:r>
          </a:p>
          <a:p>
            <a:pPr>
              <a:spcAft>
                <a:spcPts val="1000"/>
              </a:spcAft>
              <a:defRPr sz="1800">
                <a:solidFill>
                  <a:srgbClr val="333333"/>
                </a:solidFill>
              </a:defRPr>
            </a:pPr>
            <a:r>
              <a:t>For most calculations, we use 0.01 to 0.015 for cars.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Practice Problem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Your turn. Calculate rolling resistance for:</a:t>
            </a:r>
          </a:p>
          <a:p>
            <a:pPr>
              <a:spcAft>
                <a:spcPts val="600"/>
              </a:spcAft>
              <a:defRPr sz="1800">
                <a:solidFill>
                  <a:srgbClr val="333333"/>
                </a:solidFill>
              </a:defRPr>
            </a:pPr>
            <a:r>
              <a:t>Truck: 3,500 kg, C_rr = 0.008</a:t>
            </a:r>
          </a:p>
          <a:p>
            <a:pPr>
              <a:spcAft>
                <a:spcPts val="600"/>
              </a:spcAft>
              <a:defRPr sz="1800">
                <a:solidFill>
                  <a:srgbClr val="333333"/>
                </a:solidFill>
              </a:defRPr>
            </a:pPr>
            <a:r>
              <a:t>SUV: 2,200 kg, C_rr = 0.012</a:t>
            </a:r>
          </a:p>
          <a:p>
            <a:pPr>
              <a:spcAft>
                <a:spcPts val="1000"/>
              </a:spcAft>
              <a:defRPr sz="1800">
                <a:solidFill>
                  <a:srgbClr val="333333"/>
                </a:solidFill>
              </a:defRPr>
            </a:pPr>
            <a:r>
              <a:t>Take 2 minutes. I'll show the solution after.</a:t>
            </a:r>
          </a:p>
          <a:p>
            <a:pPr>
              <a:spcAft>
                <a:spcPts val="1000"/>
              </a:spcAft>
              <a:defRPr sz="1800">
                <a:solidFill>
                  <a:srgbClr val="333333"/>
                </a:solidFill>
              </a:defRPr>
            </a:pPr>
            <a:r>
              <a:t>[Include solution on next slide or as animation]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 Part 2: Aerodynamic Drag (Slides 14-18, ~20 minutes)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Air Resistance - The Hidden Force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Rolling resistance is constant – same force at 10 km/h or 100 km/h. But there's another resistance that grows dramatically with speed. You've felt it if you've ever stuck your hand out of a car window at highway speeds.</a:t>
            </a:r>
          </a:p>
          <a:p>
            <a:pPr>
              <a:spcAft>
                <a:spcPts val="1000"/>
              </a:spcAft>
              <a:defRPr sz="1800">
                <a:solidFill>
                  <a:srgbClr val="333333"/>
                </a:solidFill>
              </a:defRPr>
            </a:pPr>
            <a:r>
              <a:t>Air resistance. And it follows a fascinating relationship with velocity.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Drag Equation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This equation looks more complex, but let me break it down for you:</a:t>
            </a:r>
          </a:p>
          <a:p>
            <a:pPr>
              <a:spcAft>
                <a:spcPts val="1000"/>
              </a:spcAft>
              <a:defRPr sz="1800">
                <a:solidFill>
                  <a:srgbClr val="333333"/>
                </a:solidFill>
              </a:defRPr>
            </a:pPr>
            <a:r>
              <a:t>Fdrag = ½ ρ Cd A v² — F_drag = aerodynamic drag force (N)</a:t>
            </a:r>
          </a:p>
          <a:p>
            <a:pPr>
              <a:spcAft>
                <a:spcPts val="600"/>
              </a:spcAft>
              <a:defRPr sz="1800">
                <a:solidFill>
                  <a:srgbClr val="333333"/>
                </a:solidFill>
              </a:defRPr>
            </a:pPr>
            <a:r>
              <a:t>ρ = air density (1.225 kg/m³ at sea level)</a:t>
            </a:r>
          </a:p>
          <a:p>
            <a:pPr>
              <a:spcAft>
                <a:spcPts val="600"/>
              </a:spcAft>
              <a:defRPr sz="1800">
                <a:solidFill>
                  <a:srgbClr val="333333"/>
                </a:solidFill>
              </a:defRPr>
            </a:pPr>
            <a:r>
              <a:t>C_d = drag coefficient (0.25-0.35 for modern cars)</a:t>
            </a:r>
          </a:p>
          <a:p>
            <a:pPr>
              <a:spcAft>
                <a:spcPts val="600"/>
              </a:spcAft>
              <a:defRPr sz="1800">
                <a:solidFill>
                  <a:srgbClr val="333333"/>
                </a:solidFill>
              </a:defRPr>
            </a:pPr>
            <a:r>
              <a:t>A = frontal area (m²)</a:t>
            </a:r>
          </a:p>
          <a:p>
            <a:pPr>
              <a:spcAft>
                <a:spcPts val="600"/>
              </a:spcAft>
              <a:defRPr sz="1800">
                <a:solidFill>
                  <a:srgbClr val="333333"/>
                </a:solidFill>
              </a:defRPr>
            </a:pPr>
            <a:r>
              <a:t>v = velocity (m/s)</a:t>
            </a:r>
          </a:p>
          <a:p>
            <a:pPr>
              <a:spcAft>
                <a:spcPts val="1000"/>
              </a:spcAft>
              <a:defRPr sz="1800">
                <a:solidFill>
                  <a:srgbClr val="333333"/>
                </a:solidFill>
              </a:defRPr>
            </a:pPr>
            <a:r>
              <a:t>Notice that v² at the end? That's the key. Double your speed, quadruple the drag force.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Understanding Each Term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 me explain each term:</a:t>
            </a:r>
          </a:p>
          <a:p>
            <a:pPr>
              <a:spcAft>
                <a:spcPts val="1000"/>
              </a:spcAft>
              <a:defRPr sz="1800">
                <a:solidFill>
                  <a:srgbClr val="333333"/>
                </a:solidFill>
              </a:defRPr>
            </a:pPr>
            <a:r>
              <a:t>ρ (rho) - Air Density: 1.225 kg/m³ at sea level, 20°C. Lower at high altitudes.</a:t>
            </a:r>
          </a:p>
          <a:p>
            <a:pPr>
              <a:spcAft>
                <a:spcPts val="1000"/>
              </a:spcAft>
              <a:defRPr sz="1800">
                <a:solidFill>
                  <a:srgbClr val="333333"/>
                </a:solidFill>
              </a:defRPr>
            </a:pPr>
            <a:r>
              <a:t>C_d - Drag Coefficient: How 'slippery' the car is. Sports cars: 0.25-0.30. SUVs: 0.35-0.40. It's all about shape.</a:t>
            </a:r>
          </a:p>
          <a:p>
            <a:pPr>
              <a:spcAft>
                <a:spcPts val="1000"/>
              </a:spcAft>
              <a:defRPr sz="1800">
                <a:solidFill>
                  <a:srgbClr val="333333"/>
                </a:solidFill>
              </a:defRPr>
            </a:pPr>
            <a:r>
              <a:t>A - Frontal Area: How much air the car pushes. Measure the face of the car. Sedans: ~2-2.5 m². SUVs: ~3 m².</a:t>
            </a:r>
          </a:p>
          <a:p>
            <a:pPr>
              <a:spcAft>
                <a:spcPts val="1000"/>
              </a:spcAft>
              <a:defRPr sz="1800">
                <a:solidFill>
                  <a:srgbClr val="333333"/>
                </a:solidFill>
              </a:defRPr>
            </a:pPr>
            <a:r>
              <a:t>v - Velocity: Speed in m/s. Remember: 100 km/h = 27.8 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Example Calculation (The Power of v²)</a:t>
            </a:r>
          </a:p>
        </p:txBody>
      </p:sp>
      <p:sp>
        <p:nvSpPr>
          <p:cNvPr id="3" name="Content Placeholder 2"/>
          <p:cNvSpPr>
            <a:spLocks noGrp="1"/>
          </p:cNvSpPr>
          <p:nvPr>
            <p:ph idx="1"/>
          </p:nvPr>
        </p:nvSpPr>
        <p:spPr/>
        <p:txBody>
          <a:bodyPr/>
          <a:lstStyle/>
          <a:p>
            <a:pPr>
              <a:spcAft>
                <a:spcPts val="1000"/>
              </a:spcAft>
              <a:defRPr sz="1800">
                <a:solidFill>
                  <a:srgbClr val="333333"/>
                </a:solidFill>
              </a:defRPr>
            </a:pPr>
            <a:r>
              <a:t>Back to our Honda Civic:</a:t>
            </a:r>
          </a:p>
          <a:p>
            <a:pPr>
              <a:spcAft>
                <a:spcPts val="600"/>
              </a:spcAft>
              <a:defRPr sz="1800">
                <a:solidFill>
                  <a:srgbClr val="333333"/>
                </a:solidFill>
              </a:defRPr>
            </a:pPr>
            <a:r>
              <a:t>C_d = 0.30 (pretty aerodynamic)</a:t>
            </a:r>
          </a:p>
          <a:p>
            <a:pPr>
              <a:spcAft>
                <a:spcPts val="600"/>
              </a:spcAft>
              <a:defRPr sz="1800">
                <a:solidFill>
                  <a:srgbClr val="333333"/>
                </a:solidFill>
              </a:defRPr>
            </a:pPr>
            <a:r>
              <a:t>A = 2.2 m²</a:t>
            </a:r>
          </a:p>
          <a:p>
            <a:pPr>
              <a:spcAft>
                <a:spcPts val="600"/>
              </a:spcAft>
              <a:defRPr sz="1800">
                <a:solidFill>
                  <a:srgbClr val="333333"/>
                </a:solidFill>
              </a:defRPr>
            </a:pPr>
            <a:r>
              <a:t>ρ = 1.225 kg/m³</a:t>
            </a:r>
          </a:p>
          <a:p>
            <a:pPr>
              <a:spcAft>
                <a:spcPts val="600"/>
              </a:spcAft>
              <a:defRPr sz="1800">
                <a:solidFill>
                  <a:srgbClr val="333333"/>
                </a:solidFill>
              </a:defRPr>
            </a:pPr>
            <a:r>
              <a:t>v = 100 km/h = 27.8 m/s</a:t>
            </a:r>
          </a:p>
          <a:p>
            <a:pPr>
              <a:spcAft>
                <a:spcPts val="1000"/>
              </a:spcAft>
              <a:defRPr sz="1800">
                <a:solidFill>
                  <a:srgbClr val="333333"/>
                </a:solidFill>
              </a:defRPr>
            </a:pPr>
            <a:r>
              <a:t>F_drag = 0.5 × 1.225 × 0.30 × 2.2 × (27.8)²</a:t>
            </a:r>
          </a:p>
          <a:p>
            <a:pPr>
              <a:spcAft>
                <a:spcPts val="1000"/>
              </a:spcAft>
              <a:defRPr sz="1800">
                <a:solidFill>
                  <a:srgbClr val="333333"/>
                </a:solidFill>
              </a:defRPr>
            </a:pPr>
            <a:r>
              <a:t>F_drag = 0.5 × 1.225 × 0.30 × 2.2 × 772</a:t>
            </a:r>
          </a:p>
          <a:p>
            <a:pPr>
              <a:spcAft>
                <a:spcPts val="1000"/>
              </a:spcAft>
              <a:defRPr sz="1800">
                <a:solidFill>
                  <a:srgbClr val="333333"/>
                </a:solidFill>
              </a:defRPr>
            </a:pPr>
            <a:r>
              <a:t>F_drag = 312 N at 100 km/h</a:t>
            </a:r>
          </a:p>
          <a:p>
            <a:pPr>
              <a:spcAft>
                <a:spcPts val="1000"/>
              </a:spcAft>
              <a:defRPr sz="1800">
                <a:solidFill>
                  <a:srgbClr val="333333"/>
                </a:solidFill>
              </a:defRPr>
            </a:pPr>
            <a:r>
              <a:t>But watch what happens at 50 km/h (13.9 m/s):</a:t>
            </a:r>
          </a:p>
          <a:p>
            <a:pPr>
              <a:spcAft>
                <a:spcPts val="1000"/>
              </a:spcAft>
              <a:defRPr sz="1800">
                <a:solidFill>
                  <a:srgbClr val="333333"/>
                </a:solidFill>
              </a:defRPr>
            </a:pPr>
            <a:r>
              <a:t>F_drag = 0.5 × 1.225 × 0.30 × 2.2 × (13.9)²</a:t>
            </a:r>
          </a:p>
          <a:p>
            <a:pPr>
              <a:spcAft>
                <a:spcPts val="1000"/>
              </a:spcAft>
              <a:defRPr sz="1800">
                <a:solidFill>
                  <a:srgbClr val="333333"/>
                </a:solidFill>
              </a:defRPr>
            </a:pPr>
            <a:r>
              <a:t>F_drag = 78 N at 50 km/h</a:t>
            </a:r>
          </a:p>
          <a:p>
            <a:pPr>
              <a:spcAft>
                <a:spcPts val="1000"/>
              </a:spcAft>
              <a:defRPr sz="1800">
                <a:solidFill>
                  <a:srgbClr val="333333"/>
                </a:solidFill>
              </a:defRPr>
            </a:pPr>
            <a:r>
              <a:t>Half the speed = quarter the drag. This is why highway fuel economy is so different from city driving.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Practice Problem + Discussion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Calculate drag force for the same car at:</a:t>
            </a:r>
          </a:p>
          <a:p>
            <a:pPr>
              <a:spcAft>
                <a:spcPts val="600"/>
              </a:spcAft>
              <a:defRPr sz="1800">
                <a:solidFill>
                  <a:srgbClr val="333333"/>
                </a:solidFill>
              </a:defRPr>
            </a:pPr>
            <a:r>
              <a:t>60 km/h</a:t>
            </a:r>
          </a:p>
          <a:p>
            <a:pPr>
              <a:spcAft>
                <a:spcPts val="600"/>
              </a:spcAft>
              <a:defRPr sz="1800">
                <a:solidFill>
                  <a:srgbClr val="333333"/>
                </a:solidFill>
              </a:defRPr>
            </a:pPr>
            <a:r>
              <a:t>120 km/h</a:t>
            </a:r>
          </a:p>
          <a:p>
            <a:pPr>
              <a:spcAft>
                <a:spcPts val="1000"/>
              </a:spcAft>
              <a:defRPr sz="1800">
                <a:solidFill>
                  <a:srgbClr val="333333"/>
                </a:solidFill>
              </a:defRPr>
            </a:pPr>
            <a:r>
              <a:t>Then think: At what speed does aerodynamic drag equal rolling resistance (153 N)?</a:t>
            </a:r>
          </a:p>
          <a:p>
            <a:pPr>
              <a:spcAft>
                <a:spcPts val="1000"/>
              </a:spcAft>
              <a:defRPr sz="1800">
                <a:solidFill>
                  <a:srgbClr val="333333"/>
                </a:solidFill>
              </a:defRPr>
            </a:pPr>
            <a:r>
              <a:t>This is practical engineering thinking.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 Part 3: Gradient Resistance (Slides 19-22, ~15 minutes)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Climbing Hills - Gravity Fights Back</a:t>
            </a:r>
          </a:p>
        </p:txBody>
      </p:sp>
      <p:sp>
        <p:nvSpPr>
          <p:cNvPr id="3" name="Content Placeholder 2"/>
          <p:cNvSpPr>
            <a:spLocks noGrp="1"/>
          </p:cNvSpPr>
          <p:nvPr>
            <p:ph idx="1"/>
          </p:nvPr>
        </p:nvSpPr>
        <p:spPr/>
        <p:txBody>
          <a:bodyPr/>
          <a:lstStyle/>
          <a:p>
            <a:pPr>
              <a:spcAft>
                <a:spcPts val="1000"/>
              </a:spcAft>
              <a:defRPr sz="1800">
                <a:solidFill>
                  <a:srgbClr val="333333"/>
                </a:solidFill>
              </a:defRPr>
            </a:pPr>
            <a:r>
              <a:t>Flat roads are the easy case. But what about climbing a hill? Now we're fighting gravity directly.</a:t>
            </a:r>
          </a:p>
          <a:p>
            <a:pPr>
              <a:spcAft>
                <a:spcPts val="1000"/>
              </a:spcAft>
              <a:defRPr sz="1800">
                <a:solidFill>
                  <a:srgbClr val="333333"/>
                </a:solidFill>
              </a:defRPr>
            </a:pPr>
            <a:r>
              <a:t>This is where your trigonometry becomes useful.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Gradient Force Equation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When a vehicle climbs a slope at angle θ:</a:t>
            </a:r>
          </a:p>
          <a:p>
            <a:pPr>
              <a:spcAft>
                <a:spcPts val="1000"/>
              </a:spcAft>
              <a:defRPr sz="1800">
                <a:solidFill>
                  <a:srgbClr val="333333"/>
                </a:solidFill>
              </a:defRPr>
            </a:pPr>
            <a:r>
              <a:t>F_gradient = mg sin(θ)</a:t>
            </a:r>
          </a:p>
          <a:p>
            <a:pPr>
              <a:spcAft>
                <a:spcPts val="1000"/>
              </a:spcAft>
              <a:defRPr sz="1800">
                <a:solidFill>
                  <a:srgbClr val="333333"/>
                </a:solidFill>
              </a:defRPr>
            </a:pPr>
            <a:r>
              <a:t>Or, if you know the grade percentage:</a:t>
            </a:r>
          </a:p>
          <a:p>
            <a:pPr>
              <a:spcAft>
                <a:spcPts val="1000"/>
              </a:spcAft>
              <a:defRPr sz="1800">
                <a:solidFill>
                  <a:srgbClr val="333333"/>
                </a:solidFill>
              </a:defRPr>
            </a:pPr>
            <a:r>
              <a:t>F_gradient = mg × (grade/100)</a:t>
            </a:r>
          </a:p>
          <a:p>
            <a:pPr>
              <a:spcAft>
                <a:spcPts val="1000"/>
              </a:spcAft>
              <a:defRPr sz="1800">
                <a:solidFill>
                  <a:srgbClr val="333333"/>
                </a:solidFill>
              </a:defRPr>
            </a:pPr>
            <a:r>
              <a:t>For small angles (which most roads are), grade percentage is approximately the angle in degrees × 1.75.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Example - Climbing a 5% Grade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Our Honda Civic climbing a 5% grade (about 3 degrees):</a:t>
            </a:r>
          </a:p>
          <a:p>
            <a:pPr>
              <a:spcAft>
                <a:spcPts val="1000"/>
              </a:spcAft>
              <a:defRPr sz="1800">
                <a:solidFill>
                  <a:srgbClr val="333333"/>
                </a:solidFill>
              </a:defRPr>
            </a:pPr>
            <a:r>
              <a:t>Method 1 (using percentage):</a:t>
            </a:r>
          </a:p>
          <a:p>
            <a:pPr>
              <a:spcAft>
                <a:spcPts val="1000"/>
              </a:spcAft>
              <a:defRPr sz="1800">
                <a:solidFill>
                  <a:srgbClr val="333333"/>
                </a:solidFill>
              </a:defRPr>
            </a:pPr>
            <a:r>
              <a:t>F_gradient = 1,300 × 9.81 × (5/100)</a:t>
            </a:r>
          </a:p>
          <a:p>
            <a:pPr>
              <a:spcAft>
                <a:spcPts val="1000"/>
              </a:spcAft>
              <a:defRPr sz="1800">
                <a:solidFill>
                  <a:srgbClr val="333333"/>
                </a:solidFill>
              </a:defRPr>
            </a:pPr>
            <a:r>
              <a:t>F_gradient = 627 N</a:t>
            </a:r>
          </a:p>
          <a:p>
            <a:pPr>
              <a:spcAft>
                <a:spcPts val="1000"/>
              </a:spcAft>
              <a:defRPr sz="1800">
                <a:solidFill>
                  <a:srgbClr val="333333"/>
                </a:solidFill>
              </a:defRPr>
            </a:pPr>
            <a:r>
              <a:t>Method 2 (using angle):</a:t>
            </a:r>
          </a:p>
          <a:p>
            <a:pPr>
              <a:spcAft>
                <a:spcPts val="1000"/>
              </a:spcAft>
              <a:defRPr sz="1800">
                <a:solidFill>
                  <a:srgbClr val="333333"/>
                </a:solidFill>
              </a:defRPr>
            </a:pPr>
            <a:r>
              <a:t>θ = 2.86° (from arctan(0.05))</a:t>
            </a:r>
          </a:p>
          <a:p>
            <a:pPr>
              <a:spcAft>
                <a:spcPts val="1000"/>
              </a:spcAft>
              <a:defRPr sz="1800">
                <a:solidFill>
                  <a:srgbClr val="333333"/>
                </a:solidFill>
              </a:defRPr>
            </a:pPr>
            <a:r>
              <a:t>F_gradient = 12,753 × sin(2.86°)</a:t>
            </a:r>
          </a:p>
          <a:p>
            <a:pPr>
              <a:spcAft>
                <a:spcPts val="1000"/>
              </a:spcAft>
              <a:defRPr sz="1800">
                <a:solidFill>
                  <a:srgbClr val="333333"/>
                </a:solidFill>
              </a:defRPr>
            </a:pPr>
            <a:r>
              <a:t>F_gradient = 636 N (slightly more accurate)</a:t>
            </a:r>
          </a:p>
          <a:p>
            <a:pPr>
              <a:spcAft>
                <a:spcPts val="1000"/>
              </a:spcAft>
              <a:defRPr sz="1800">
                <a:solidFill>
                  <a:srgbClr val="333333"/>
                </a:solidFill>
              </a:defRPr>
            </a:pPr>
            <a:r>
              <a:t>That's more than rolling resistance and drag combined at moderate speeds!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Total Resistance Force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Here's the moment it all comes together. The total resistance force a vehicle faces is:</a:t>
            </a:r>
          </a:p>
          <a:p>
            <a:pPr>
              <a:spcAft>
                <a:spcPts val="1000"/>
              </a:spcAft>
              <a:defRPr sz="1800">
                <a:solidFill>
                  <a:srgbClr val="333333"/>
                </a:solidFill>
              </a:defRPr>
            </a:pPr>
            <a:r>
              <a:t>Ftotal = Frolling + Fdrag + Fgradient</a:t>
            </a:r>
          </a:p>
          <a:p>
            <a:pPr>
              <a:spcAft>
                <a:spcPts val="1000"/>
              </a:spcAft>
              <a:defRPr sz="1800">
                <a:solidFill>
                  <a:srgbClr val="333333"/>
                </a:solidFill>
              </a:defRPr>
            </a:pPr>
            <a:r>
              <a:t>Three independent forces, one total force the engine must overcome.</a:t>
            </a:r>
          </a:p>
          <a:p>
            <a:pPr>
              <a:spcAft>
                <a:spcPts val="1000"/>
              </a:spcAft>
              <a:defRPr sz="1800">
                <a:solidFill>
                  <a:srgbClr val="333333"/>
                </a:solidFill>
              </a:defRPr>
            </a:pPr>
            <a:r>
              <a:t>Let me show you a complete scenario.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Complete Example - The Full Picture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Honda Civic, 100 km/h, climbing 3% grade:</a:t>
            </a:r>
          </a:p>
          <a:p>
            <a:pPr>
              <a:spcAft>
                <a:spcPts val="1000"/>
              </a:spcAft>
              <a:defRPr sz="1800">
                <a:solidFill>
                  <a:srgbClr val="333333"/>
                </a:solidFill>
              </a:defRPr>
            </a:pPr>
            <a:r>
              <a:t>F_rolling = 0.012 × 12,753 = 153 N</a:t>
            </a:r>
          </a:p>
          <a:p>
            <a:pPr>
              <a:spcAft>
                <a:spcPts val="1000"/>
              </a:spcAft>
              <a:defRPr sz="1800">
                <a:solidFill>
                  <a:srgbClr val="333333"/>
                </a:solidFill>
              </a:defRPr>
            </a:pPr>
            <a:r>
              <a:t>F_drag = 0.5 × 1.225 × 0.30 × 2.2 × (27.8)² = 312 N</a:t>
            </a:r>
          </a:p>
          <a:p>
            <a:pPr>
              <a:spcAft>
                <a:spcPts val="1000"/>
              </a:spcAft>
              <a:defRPr sz="1800">
                <a:solidFill>
                  <a:srgbClr val="333333"/>
                </a:solidFill>
              </a:defRPr>
            </a:pPr>
            <a:r>
              <a:t>F_gradient = 12,753 × (3/100) = 383 N</a:t>
            </a:r>
          </a:p>
          <a:p>
            <a:pPr>
              <a:spcAft>
                <a:spcPts val="1000"/>
              </a:spcAft>
              <a:defRPr sz="1800">
                <a:solidFill>
                  <a:srgbClr val="333333"/>
                </a:solidFill>
              </a:defRPr>
            </a:pPr>
            <a:r>
              <a:t>F_total = 153 + 312 + 383 = 848 N</a:t>
            </a:r>
          </a:p>
          <a:p>
            <a:pPr>
              <a:spcAft>
                <a:spcPts val="1000"/>
              </a:spcAft>
              <a:defRPr sz="1800">
                <a:solidFill>
                  <a:srgbClr val="333333"/>
                </a:solidFill>
              </a:defRPr>
            </a:pPr>
            <a:r>
              <a:t>That's the answer. 848 Newtons of force, continuously, just to maintain 100 km/h up a 3% grade.</a:t>
            </a:r>
          </a:p>
          <a:p>
            <a:pPr>
              <a:spcAft>
                <a:spcPts val="1000"/>
              </a:spcAft>
              <a:defRPr sz="1800">
                <a:solidFill>
                  <a:srgbClr val="333333"/>
                </a:solidFill>
              </a:defRPr>
            </a:pPr>
            <a:r>
              <a:t>This is the force the powertrain must provide through the tires. Everything else in the car – the engine, transmission, differential – exists to deliver this force to the road.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Real-World Application Exercise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apply what we've learned. Calculate total resistance for:</a:t>
            </a:r>
          </a:p>
          <a:p>
            <a:pPr>
              <a:spcAft>
                <a:spcPts val="600"/>
              </a:spcAft>
              <a:defRPr sz="1800">
                <a:solidFill>
                  <a:srgbClr val="333333"/>
                </a:solidFill>
              </a:defRPr>
            </a:pPr>
            <a:r>
              <a:t>City driving: 50 km/h, flat road</a:t>
            </a:r>
          </a:p>
          <a:p>
            <a:pPr>
              <a:spcAft>
                <a:spcPts val="600"/>
              </a:spcAft>
              <a:defRPr sz="1800">
                <a:solidFill>
                  <a:srgbClr val="333333"/>
                </a:solidFill>
              </a:defRPr>
            </a:pPr>
            <a:r>
              <a:t>Highway cruising: 120 km/h, flat road</a:t>
            </a:r>
          </a:p>
          <a:p>
            <a:pPr>
              <a:spcAft>
                <a:spcPts val="600"/>
              </a:spcAft>
              <a:defRPr sz="1800">
                <a:solidFill>
                  <a:srgbClr val="333333"/>
                </a:solidFill>
              </a:defRPr>
            </a:pPr>
            <a:r>
              <a:t>Mountain driving: 80 km/h, 8% uphill grade</a:t>
            </a:r>
          </a:p>
          <a:p>
            <a:pPr>
              <a:spcAft>
                <a:spcPts val="1000"/>
              </a:spcAft>
              <a:defRPr sz="1800">
                <a:solidFill>
                  <a:srgbClr val="333333"/>
                </a:solidFill>
              </a:defRPr>
            </a:pPr>
            <a:r>
              <a:t>Use the same Honda Civic parameters. You have all the tools now.</a:t>
            </a:r>
          </a:p>
          <a:p>
            <a:pPr>
              <a:spcAft>
                <a:spcPts val="1000"/>
              </a:spcAft>
              <a:defRPr sz="1800">
                <a:solidFill>
                  <a:srgbClr val="333333"/>
                </a:solidFill>
              </a:defRPr>
            </a:pPr>
            <a:r>
              <a:t>[Include worked solutions]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Key Formulas Summary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Here are your takeaway formulas:</a:t>
            </a:r>
          </a:p>
          <a:p>
            <a:pPr>
              <a:spcAft>
                <a:spcPts val="1000"/>
              </a:spcAft>
              <a:defRPr sz="1800">
                <a:solidFill>
                  <a:srgbClr val="333333"/>
                </a:solidFill>
              </a:defRPr>
            </a:pPr>
            <a:r>
              <a:t>| Force Type | Formula | Typical Values |</a:t>
            </a:r>
          </a:p>
          <a:p>
            <a:pPr>
              <a:spcAft>
                <a:spcPts val="1000"/>
              </a:spcAft>
              <a:defRPr sz="1800">
                <a:solidFill>
                  <a:srgbClr val="333333"/>
                </a:solidFill>
              </a:defRPr>
            </a:pPr>
            <a:r>
              <a:t>|------------|---------|----------------|</a:t>
            </a:r>
          </a:p>
          <a:p>
            <a:pPr>
              <a:spcAft>
                <a:spcPts val="1000"/>
              </a:spcAft>
              <a:defRPr sz="1800">
                <a:solidFill>
                  <a:srgbClr val="333333"/>
                </a:solidFill>
              </a:defRPr>
            </a:pPr>
            <a:r>
              <a:t>| Rolling | Frr = Crr × mg | C_rr: 0.01-0.015 |</a:t>
            </a:r>
          </a:p>
          <a:p>
            <a:pPr>
              <a:spcAft>
                <a:spcPts val="1000"/>
              </a:spcAft>
              <a:defRPr sz="1800">
                <a:solidFill>
                  <a:srgbClr val="333333"/>
                </a:solidFill>
              </a:defRPr>
            </a:pPr>
            <a:r>
              <a:t>| Drag | Fd = ½ρCdAv² | C_d: 0.25-0.40 |</a:t>
            </a:r>
          </a:p>
          <a:p>
            <a:pPr>
              <a:spcAft>
                <a:spcPts val="1000"/>
              </a:spcAft>
              <a:defRPr sz="1800">
                <a:solidFill>
                  <a:srgbClr val="333333"/>
                </a:solidFill>
              </a:defRPr>
            </a:pPr>
            <a:r>
              <a:t>| Gradient | F_g = mg sin(θ) | θ: 0-15° typical |</a:t>
            </a:r>
          </a:p>
          <a:p>
            <a:pPr>
              <a:spcAft>
                <a:spcPts val="1000"/>
              </a:spcAft>
              <a:defRPr sz="1800">
                <a:solidFill>
                  <a:srgbClr val="333333"/>
                </a:solidFill>
              </a:defRPr>
            </a:pPr>
            <a:r>
              <a:t>| Total | Ft = Frr + Fd + Fg | Sum of all |</a:t>
            </a:r>
          </a:p>
          <a:p>
            <a:pPr>
              <a:spcAft>
                <a:spcPts val="1000"/>
              </a:spcAft>
              <a:defRPr sz="1800">
                <a:solidFill>
                  <a:srgbClr val="333333"/>
                </a:solidFill>
              </a:defRPr>
            </a:pPr>
            <a:r>
              <a:t>Master these, and you understand vehicle motion fundamentals.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Performance Metrics Preview</a:t>
            </a:r>
          </a:p>
        </p:txBody>
      </p:sp>
      <p:sp>
        <p:nvSpPr>
          <p:cNvPr id="3" name="Content Placeholder 2"/>
          <p:cNvSpPr>
            <a:spLocks noGrp="1"/>
          </p:cNvSpPr>
          <p:nvPr>
            <p:ph idx="1"/>
          </p:nvPr>
        </p:nvSpPr>
        <p:spPr/>
        <p:txBody>
          <a:bodyPr/>
          <a:lstStyle/>
          <a:p>
            <a:pPr>
              <a:spcAft>
                <a:spcPts val="1000"/>
              </a:spcAft>
              <a:defRPr sz="1800">
                <a:solidFill>
                  <a:srgbClr val="333333"/>
                </a:solidFill>
              </a:defRPr>
            </a:pPr>
            <a:r>
              <a:t>One more thing before we finish. You can now answer questions like:</a:t>
            </a:r>
          </a:p>
          <a:p>
            <a:pPr>
              <a:spcAft>
                <a:spcPts val="600"/>
              </a:spcAft>
              <a:defRPr sz="1800">
                <a:solidFill>
                  <a:srgbClr val="333333"/>
                </a:solidFill>
              </a:defRPr>
            </a:pPr>
            <a:r>
              <a:t>Why do electric cars have excellent city range but lower highway range?</a:t>
            </a:r>
          </a:p>
          <a:p>
            <a:pPr>
              <a:spcAft>
                <a:spcPts val="600"/>
              </a:spcAft>
              <a:defRPr sz="1800">
                <a:solidFill>
                  <a:srgbClr val="333333"/>
                </a:solidFill>
              </a:defRPr>
            </a:pPr>
            <a:r>
              <a:t>Why does fuel economy drop dramatically above 100 km/h?</a:t>
            </a:r>
          </a:p>
          <a:p>
            <a:pPr>
              <a:spcAft>
                <a:spcPts val="600"/>
              </a:spcAft>
              <a:defRPr sz="1800">
                <a:solidFill>
                  <a:srgbClr val="333333"/>
                </a:solidFill>
              </a:defRPr>
            </a:pPr>
            <a:r>
              <a:t>Why do trucks struggle on hills?</a:t>
            </a:r>
          </a:p>
          <a:p>
            <a:pPr>
              <a:spcAft>
                <a:spcPts val="1000"/>
              </a:spcAft>
              <a:defRPr sz="1800">
                <a:solidFill>
                  <a:srgbClr val="333333"/>
                </a:solidFill>
              </a:defRPr>
            </a:pPr>
            <a:r>
              <a:t>All of these are explained by the forces we calculated today. The math tells the story.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Assignment &amp; Next Session Preview</a:t>
            </a:r>
          </a:p>
        </p:txBody>
      </p:sp>
      <p:sp>
        <p:nvSpPr>
          <p:cNvPr id="3" name="Content Placeholder 2"/>
          <p:cNvSpPr>
            <a:spLocks noGrp="1"/>
          </p:cNvSpPr>
          <p:nvPr>
            <p:ph idx="1"/>
          </p:nvPr>
        </p:nvSpPr>
        <p:spPr/>
        <p:txBody>
          <a:bodyPr/>
          <a:lstStyle/>
          <a:p>
            <a:pPr>
              <a:spcAft>
                <a:spcPts val="1000"/>
              </a:spcAft>
              <a:defRPr sz="1800">
                <a:solidFill>
                  <a:srgbClr val="333333"/>
                </a:solidFill>
              </a:defRPr>
            </a:pPr>
            <a:r>
              <a:t>Your assignment:</a:t>
            </a:r>
          </a:p>
          <a:p>
            <a:pPr>
              <a:spcAft>
                <a:spcPts val="1000"/>
              </a:spcAft>
              <a:defRPr sz="1800">
                <a:solidFill>
                  <a:srgbClr val="333333"/>
                </a:solidFill>
              </a:defRPr>
            </a:pPr>
            <a:r>
              <a:t>Choose any vehicle (give me make, model, mass). Calculate total resistance at three scenarios of your choice. Show all work.</a:t>
            </a:r>
          </a:p>
          <a:p>
            <a:pPr>
              <a:spcAft>
                <a:spcPts val="1000"/>
              </a:spcAft>
              <a:defRPr sz="1800">
                <a:solidFill>
                  <a:srgbClr val="333333"/>
                </a:solidFill>
              </a:defRPr>
            </a:pPr>
            <a:r>
              <a:t>Next session: We move to the tires – the only part of the vehicle touching the road. How do they generate the forces we calculated today? How much force can they actually provide? What happens at the limit?</a:t>
            </a:r>
          </a:p>
          <a:p>
            <a:pPr>
              <a:spcAft>
                <a:spcPts val="1000"/>
              </a:spcAft>
              <a:defRPr sz="1800">
                <a:solidFill>
                  <a:srgbClr val="333333"/>
                </a:solidFill>
              </a:defRPr>
            </a:pPr>
            <a:r>
              <a:t>This is where things get really interesting.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Q&amp;A Prompts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We have 30 minutes for questions. Some things to think about:</a:t>
            </a:r>
          </a:p>
          <a:p>
            <a:pPr>
              <a:spcAft>
                <a:spcPts val="600"/>
              </a:spcAft>
              <a:defRPr sz="1800">
                <a:solidFill>
                  <a:srgbClr val="333333"/>
                </a:solidFill>
              </a:defRPr>
            </a:pPr>
            <a:r>
              <a:t>How would these forces change at high altitudes?</a:t>
            </a:r>
          </a:p>
          <a:p>
            <a:pPr>
              <a:spcAft>
                <a:spcPts val="600"/>
              </a:spcAft>
              <a:defRPr sz="1800">
                <a:solidFill>
                  <a:srgbClr val="333333"/>
                </a:solidFill>
              </a:defRPr>
            </a:pPr>
            <a:r>
              <a:t>What about electric vehicles vs IC engines?</a:t>
            </a:r>
          </a:p>
          <a:p>
            <a:pPr>
              <a:spcAft>
                <a:spcPts val="600"/>
              </a:spcAft>
              <a:defRPr sz="1800">
                <a:solidFill>
                  <a:srgbClr val="333333"/>
                </a:solidFill>
              </a:defRPr>
            </a:pPr>
            <a:r>
              <a:t>How do engineers optimize for different scenarios?</a:t>
            </a:r>
          </a:p>
          <a:p>
            <a:pPr>
              <a:spcAft>
                <a:spcPts val="1000"/>
              </a:spcAft>
              <a:defRPr sz="1800">
                <a:solidFill>
                  <a:srgbClr val="333333"/>
                </a:solidFill>
              </a:defRPr>
            </a:pPr>
            <a:r>
              <a:t>What questions do you have?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PPT DESIGN GUIDANCE</a:t>
            </a:r>
          </a:p>
        </p:txBody>
      </p:sp>
      <p:sp>
        <p:nvSpPr>
          <p:cNvPr id="3" name="Content Placeholder 2"/>
          <p:cNvSpPr>
            <a:spLocks noGrp="1"/>
          </p:cNvSpPr>
          <p:nvPr>
            <p:ph idx="1"/>
          </p:nvPr>
        </p:nvSpPr>
        <p:spPr/>
        <p:txBody>
          <a:bodyPr/>
          <a:lstStyle/>
          <a:p>
            <a:pPr>
              <a:defRPr sz="2400" b="1">
                <a:solidFill>
                  <a:srgbClr val="2E5090"/>
                </a:solidFill>
              </a:defRPr>
            </a:pPr>
            <a:r>
              <a:t>Technical Diagrams:</a:t>
            </a:r>
          </a:p>
          <a:p>
            <a:pPr>
              <a:spcAft>
                <a:spcPts val="600"/>
              </a:spcAft>
              <a:defRPr sz="1800">
                <a:solidFill>
                  <a:srgbClr val="333333"/>
                </a:solidFill>
              </a:defRPr>
            </a:pPr>
            <a:r>
              <a:t>Professional engineering aesthetic: Clean layouts, technical diagrams</a:t>
            </a:r>
          </a:p>
          <a:p>
            <a:pPr>
              <a:spcAft>
                <a:spcPts val="600"/>
              </a:spcAft>
              <a:defRPr sz="1800">
                <a:solidFill>
                  <a:srgbClr val="333333"/>
                </a:solidFill>
              </a:defRPr>
            </a:pPr>
            <a:r>
              <a:t>Color scheme: Blues and grays (professional), highlight key equations in orange</a:t>
            </a:r>
          </a:p>
          <a:p>
            <a:pPr>
              <a:spcAft>
                <a:spcPts val="600"/>
              </a:spcAft>
              <a:defRPr sz="1800">
                <a:solidFill>
                  <a:srgbClr val="333333"/>
                </a:solidFill>
              </a:defRPr>
            </a:pPr>
            <a:r>
              <a:t>Consistent: Same template throughout</a:t>
            </a:r>
          </a:p>
          <a:p>
            <a:pPr>
              <a:spcAft>
                <a:spcPts val="600"/>
              </a:spcAft>
              <a:defRPr sz="1800">
                <a:solidFill>
                  <a:srgbClr val="333333"/>
                </a:solidFill>
              </a:defRPr>
            </a:pPr>
            <a:r>
              <a:t>Slide 2 (The Question) - Hook students immediately</a:t>
            </a:r>
          </a:p>
          <a:p>
            <a:pPr>
              <a:spcAft>
                <a:spcPts val="600"/>
              </a:spcAft>
              <a:defRPr sz="1800">
                <a:solidFill>
                  <a:srgbClr val="333333"/>
                </a:solidFill>
              </a:defRPr>
            </a:pPr>
            <a:r>
              <a:t>Slide 10, 15, 20 (Formulas) - Make these crystal clear</a:t>
            </a:r>
          </a:p>
          <a:p>
            <a:pPr>
              <a:spcAft>
                <a:spcPts val="600"/>
              </a:spcAft>
              <a:defRPr sz="1800">
                <a:solidFill>
                  <a:srgbClr val="333333"/>
                </a:solidFill>
              </a:defRPr>
            </a:pPr>
            <a:r>
              <a:t>Slide 24 (Complete Example) - The "aha" moment</a:t>
            </a:r>
          </a:p>
          <a:p>
            <a:pPr>
              <a:spcAft>
                <a:spcPts val="600"/>
              </a:spcAft>
              <a:defRPr sz="1800">
                <a:solidFill>
                  <a:srgbClr val="333333"/>
                </a:solidFill>
              </a:defRPr>
            </a:pPr>
            <a:r>
              <a:t>Slide 27 (Summary) - Students will photograph this</a:t>
            </a:r>
          </a:p>
          <a:p>
            <a:pPr>
              <a:spcAft>
                <a:spcPts val="600"/>
              </a:spcAft>
              <a:defRPr sz="1800">
                <a:solidFill>
                  <a:srgbClr val="333333"/>
                </a:solidFill>
              </a:defRPr>
            </a:pPr>
            <a:r>
              <a:t>Minimal and professional</a:t>
            </a:r>
          </a:p>
          <a:p>
            <a:pPr>
              <a:spcAft>
                <a:spcPts val="600"/>
              </a:spcAft>
              <a:defRPr sz="1800">
                <a:solidFill>
                  <a:srgbClr val="333333"/>
                </a:solidFill>
              </a:defRPr>
            </a:pPr>
            <a:r>
              <a:t>Use build animations for multi-step calculations</a:t>
            </a:r>
          </a:p>
          <a:p>
            <a:pPr>
              <a:spcAft>
                <a:spcPts val="600"/>
              </a:spcAft>
              <a:defRPr sz="1800">
                <a:solidFill>
                  <a:srgbClr val="333333"/>
                </a:solidFill>
              </a:defRPr>
            </a:pPr>
            <a:r>
              <a:t>Highlight key terms as you mention them</a:t>
            </a:r>
          </a:p>
          <a:p>
            <a:pPr>
              <a:spcAft>
                <a:spcPts val="600"/>
              </a:spcAft>
              <a:defRPr sz="1800">
                <a:solidFill>
                  <a:srgbClr val="333333"/>
                </a:solidFill>
              </a:defRPr>
            </a:pPr>
            <a:r>
              <a:t>Reveal solutions to practice problems after pause</a:t>
            </a:r>
          </a:p>
          <a:p>
            <a:pPr>
              <a:spcAft>
                <a:spcPts val="600"/>
              </a:spcAft>
              <a:defRPr sz="1800">
                <a:solidFill>
                  <a:srgbClr val="333333"/>
                </a:solidFill>
              </a:defRPr>
            </a:pPr>
            <a:r>
              <a:t>Use clean, labeled free-body diagrams</a:t>
            </a:r>
          </a:p>
          <a:p>
            <a:pPr>
              <a:spcAft>
                <a:spcPts val="600"/>
              </a:spcAft>
              <a:defRPr sz="1800">
                <a:solidFill>
                  <a:srgbClr val="333333"/>
                </a:solidFill>
              </a:defRPr>
            </a:pPr>
            <a:r>
              <a:t>Show force vectors clearly</a:t>
            </a:r>
          </a:p>
          <a:p>
            <a:pPr>
              <a:spcAft>
                <a:spcPts val="600"/>
              </a:spcAft>
              <a:defRPr sz="1800">
                <a:solidFill>
                  <a:srgbClr val="333333"/>
                </a:solidFill>
              </a:defRPr>
            </a:pPr>
            <a:r>
              <a:t>Include units on all calculations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INSTRUCTOR NOTES</a:t>
            </a:r>
          </a:p>
        </p:txBody>
      </p:sp>
      <p:sp>
        <p:nvSpPr>
          <p:cNvPr id="3" name="Content Placeholder 2"/>
          <p:cNvSpPr>
            <a:spLocks noGrp="1"/>
          </p:cNvSpPr>
          <p:nvPr>
            <p:ph idx="1"/>
          </p:nvPr>
        </p:nvSpPr>
        <p:spPr/>
        <p:txBody>
          <a:bodyPr/>
          <a:lstStyle/>
          <a:p>
            <a:pPr>
              <a:defRPr sz="2400" b="1">
                <a:solidFill>
                  <a:srgbClr val="2E5090"/>
                </a:solidFill>
              </a:defRPr>
            </a:pPr>
            <a:r>
              <a:t>Engagement Points:</a:t>
            </a:r>
          </a:p>
          <a:p>
            <a:pPr>
              <a:spcAft>
                <a:spcPts val="1000"/>
              </a:spcAft>
              <a:defRPr sz="1800">
                <a:solidFill>
                  <a:srgbClr val="333333"/>
                </a:solidFill>
              </a:defRPr>
            </a:pPr>
            <a:r>
              <a:t>This session uses Teacher-Led Narrative to:</a:t>
            </a:r>
          </a:p>
          <a:p>
            <a:pPr>
              <a:spcAft>
                <a:spcPts val="600"/>
              </a:spcAft>
              <a:defRPr sz="1800">
                <a:solidFill>
                  <a:srgbClr val="333333"/>
                </a:solidFill>
              </a:defRPr>
            </a:pPr>
            <a:r>
              <a:t>Build confidence: Start with "you already know this</a:t>
            </a:r>
          </a:p>
          <a:p>
            <a:pPr>
              <a:spcAft>
                <a:spcPts val="600"/>
              </a:spcAft>
              <a:defRPr sz="1800">
                <a:solidFill>
                  <a:srgbClr val="333333"/>
                </a:solidFill>
              </a:defRPr>
            </a:pPr>
            <a:r>
              <a:t>Demystify complexity: Break down into three simple forces</a:t>
            </a:r>
          </a:p>
          <a:p>
            <a:pPr>
              <a:spcAft>
                <a:spcPts val="600"/>
              </a:spcAft>
              <a:defRPr sz="1800">
                <a:solidFill>
                  <a:srgbClr val="333333"/>
                </a:solidFill>
              </a:defRPr>
            </a:pPr>
            <a:r>
              <a:t>Provide tools: Every formula is immediately applied</a:t>
            </a:r>
          </a:p>
          <a:p>
            <a:pPr>
              <a:spcAft>
                <a:spcPts val="600"/>
              </a:spcAft>
              <a:defRPr sz="1800">
                <a:solidFill>
                  <a:srgbClr val="333333"/>
                </a:solidFill>
              </a:defRPr>
            </a:pPr>
            <a:r>
              <a:t>Connect to experience: Highway driving, hill climbing are relatable</a:t>
            </a:r>
          </a:p>
          <a:p>
            <a:pPr>
              <a:spcAft>
                <a:spcPts val="600"/>
              </a:spcAft>
              <a:defRPr sz="1800">
                <a:solidFill>
                  <a:srgbClr val="333333"/>
                </a:solidFill>
              </a:defRPr>
            </a:pPr>
            <a:r>
              <a:t>Unit conversion (km/h to m/s): Emphasize early, practice often</a:t>
            </a:r>
          </a:p>
          <a:p>
            <a:pPr>
              <a:spcAft>
                <a:spcPts val="600"/>
              </a:spcAft>
              <a:defRPr sz="1800">
                <a:solidFill>
                  <a:srgbClr val="333333"/>
                </a:solidFill>
              </a:defRPr>
            </a:pPr>
            <a:r>
              <a:t>When to use sin vs percentage: Show both methods</a:t>
            </a:r>
          </a:p>
          <a:p>
            <a:pPr>
              <a:spcAft>
                <a:spcPts val="600"/>
              </a:spcAft>
              <a:defRPr sz="1800">
                <a:solidFill>
                  <a:srgbClr val="333333"/>
                </a:solidFill>
              </a:defRPr>
            </a:pPr>
            <a:r>
              <a:t>Understanding v²: Use the comparison table (Slide 17)</a:t>
            </a:r>
          </a:p>
          <a:p>
            <a:pPr>
              <a:spcAft>
                <a:spcPts val="600"/>
              </a:spcAft>
              <a:defRPr sz="1800">
                <a:solidFill>
                  <a:srgbClr val="333333"/>
                </a:solidFill>
              </a:defRPr>
            </a:pPr>
            <a:r>
              <a:t>If running short: Skip one practice problem</a:t>
            </a:r>
          </a:p>
          <a:p>
            <a:pPr>
              <a:spcAft>
                <a:spcPts val="600"/>
              </a:spcAft>
              <a:defRPr sz="1800">
                <a:solidFill>
                  <a:srgbClr val="333333"/>
                </a:solidFill>
              </a:defRPr>
            </a:pPr>
            <a:r>
              <a:t>If running long: Move detailed gradient discussion to Q&amp;A</a:t>
            </a:r>
          </a:p>
          <a:p>
            <a:pPr>
              <a:spcAft>
                <a:spcPts val="600"/>
              </a:spcAft>
              <a:defRPr sz="1800">
                <a:solidFill>
                  <a:srgbClr val="333333"/>
                </a:solidFill>
              </a:defRPr>
            </a:pPr>
            <a:r>
              <a:t>Core content: Slides 1-25 (must cover)</a:t>
            </a:r>
          </a:p>
          <a:p>
            <a:pPr>
              <a:spcAft>
                <a:spcPts val="600"/>
              </a:spcAft>
              <a:defRPr sz="1800">
                <a:solidFill>
                  <a:srgbClr val="333333"/>
                </a:solidFill>
              </a:defRPr>
            </a:pPr>
            <a:r>
              <a:t>Slide 6: Pause for guesses before revealing challenge</a:t>
            </a:r>
          </a:p>
          <a:p>
            <a:pPr>
              <a:spcAft>
                <a:spcPts val="600"/>
              </a:spcAft>
              <a:defRPr sz="1800">
                <a:solidFill>
                  <a:srgbClr val="333333"/>
                </a:solidFill>
              </a:defRPr>
            </a:pPr>
            <a:r>
              <a:t>Slide 13, 18: Student calculation time (active learning)</a:t>
            </a:r>
          </a:p>
          <a:p>
            <a:pPr>
              <a:spcAft>
                <a:spcPts val="600"/>
              </a:spcAft>
              <a:defRPr sz="1800">
                <a:solidFill>
                  <a:srgbClr val="333333"/>
                </a:solidFill>
              </a:defRPr>
            </a:pPr>
            <a:r>
              <a:t>Slide 24: "Let's calculate together" - work through live</a:t>
            </a:r>
          </a:p>
          <a:p>
            <a:pPr>
              <a:spcAft>
                <a:spcPts val="600"/>
              </a:spcAft>
              <a:defRPr sz="1800">
                <a:solidFill>
                  <a:srgbClr val="333333"/>
                </a:solidFill>
              </a:defRPr>
            </a:pPr>
            <a:r>
              <a:t>Slide 26: Can be homework if time is tight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Session Success Criteria</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Students leave able to:</a:t>
            </a:r>
          </a:p>
          <a:p>
            <a:pPr>
              <a:spcAft>
                <a:spcPts val="600"/>
              </a:spcAft>
              <a:defRPr sz="1800">
                <a:solidFill>
                  <a:srgbClr val="333333"/>
                </a:solidFill>
              </a:defRPr>
            </a:pPr>
            <a:r>
              <a:t>✓ Calculate rolling resistance for any vehicle</a:t>
            </a:r>
          </a:p>
          <a:p>
            <a:pPr>
              <a:spcAft>
                <a:spcPts val="600"/>
              </a:spcAft>
              <a:defRPr sz="1800">
                <a:solidFill>
                  <a:srgbClr val="333333"/>
                </a:solidFill>
              </a:defRPr>
            </a:pPr>
            <a:r>
              <a:t>✓ Calculate aerodynamic drag at any speed</a:t>
            </a:r>
          </a:p>
          <a:p>
            <a:pPr>
              <a:spcAft>
                <a:spcPts val="600"/>
              </a:spcAft>
              <a:defRPr sz="1800">
                <a:solidFill>
                  <a:srgbClr val="333333"/>
                </a:solidFill>
              </a:defRPr>
            </a:pPr>
            <a:r>
              <a:t>✓ Calculate gradient force on any slope</a:t>
            </a:r>
          </a:p>
          <a:p>
            <a:pPr>
              <a:spcAft>
                <a:spcPts val="600"/>
              </a:spcAft>
              <a:defRPr sz="1800">
                <a:solidFill>
                  <a:srgbClr val="333333"/>
                </a:solidFill>
              </a:defRPr>
            </a:pPr>
            <a:r>
              <a:t>✓ Determine total resistance for combined scenarios</a:t>
            </a:r>
          </a:p>
          <a:p>
            <a:pPr>
              <a:spcAft>
                <a:spcPts val="600"/>
              </a:spcAft>
              <a:defRPr sz="1800">
                <a:solidFill>
                  <a:srgbClr val="333333"/>
                </a:solidFill>
              </a:defRPr>
            </a:pPr>
            <a:r>
              <a:t>✓ Understand why performance varies with speed and terrain</a:t>
            </a:r>
          </a:p>
          <a:p>
            <a:pPr>
              <a:spcAft>
                <a:spcPts val="1000"/>
              </a:spcAft>
              <a:defRPr sz="1800">
                <a:solidFill>
                  <a:srgbClr val="333333"/>
                </a:solidFill>
              </a:defRPr>
            </a:pPr>
            <a:r>
              <a:t>Most importantly: Students feel confident that automotive engineering is accessible physics, not black magic.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Framework</a:t>
            </a:r>
          </a:p>
          <a:p>
            <a:pPr>
              <a:spcAft>
                <a:spcPts val="1000"/>
              </a:spcAft>
              <a:defRPr sz="1800">
                <a:solidFill>
                  <a:srgbClr val="333333"/>
                </a:solidFill>
              </a:defRPr>
            </a:pPr>
            <a:r>
              <a:t>Next: Generate framework for Session 2 (Tires &amp; Friction Fundamentals)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