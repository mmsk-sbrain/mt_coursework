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p>
        </p:txBody>
      </p:sp>
      <p:sp>
        <p:nvSpPr>
          <p:cNvPr id="3" name="Content Placeholder 2"/>
          <p:cNvSpPr>
            <a:spLocks noGrp="1"/>
          </p:cNvSpPr>
          <p:nvPr>
            <p:ph idx="1"/>
          </p:nvPr>
        </p:nvSpPr>
        <p:spPr/>
        <p:txBody>
          <a:bodyPr/>
          <a:lstStyle/>
          <a:p>
            <a:pPr>
              <a:spcAft>
                <a:spcPts val="1000"/>
              </a:spcAft>
              <a:defRPr sz="1800">
                <a:solidFill>
                  <a:srgbClr val="333333"/>
                </a:solidFill>
              </a:defRPr>
            </a:pPr>
            <a:r>
              <a:t>---</a:t>
            </a:r>
          </a:p>
          <a:p>
            <a:pPr>
              <a:spcAft>
                <a:spcPts val="1000"/>
              </a:spcAft>
              <a:defRPr sz="1800">
                <a:solidFill>
                  <a:srgbClr val="333333"/>
                </a:solidFill>
              </a:defRPr>
            </a:pPr>
            <a:r>
              <a:t>marp: true</a:t>
            </a:r>
          </a:p>
          <a:p>
            <a:pPr>
              <a:spcAft>
                <a:spcPts val="1000"/>
              </a:spcAft>
              <a:defRPr sz="1800">
                <a:solidFill>
                  <a:srgbClr val="333333"/>
                </a:solidFill>
              </a:defRPr>
            </a:pPr>
            <a:r>
              <a:t>theme: engineering</a:t>
            </a:r>
          </a:p>
          <a:p>
            <a:pPr>
              <a:spcAft>
                <a:spcPts val="1000"/>
              </a:spcAft>
              <a:defRPr sz="1800">
                <a:solidFill>
                  <a:srgbClr val="333333"/>
                </a:solidFill>
              </a:defRPr>
            </a:pPr>
            <a:r>
              <a:t>paginate: true</a:t>
            </a:r>
          </a:p>
          <a:p>
            <a:pPr>
              <a:spcAft>
                <a:spcPts val="1000"/>
              </a:spcAft>
              <a:defRPr sz="1800">
                <a:solidFill>
                  <a:srgbClr val="333333"/>
                </a:solidFill>
              </a:defRPr>
            </a:pPr>
            <a:r>
              <a:t>math: katex</a:t>
            </a:r>
          </a:p>
          <a:p>
            <a:pPr>
              <a:spcAft>
                <a:spcPts val="1000"/>
              </a:spcAft>
              <a:defRPr sz="1800">
                <a:solidFill>
                  <a:srgbClr val="333333"/>
                </a:solidFill>
              </a:defRPr>
            </a:pPr>
            <a:r>
              <a:t>header: 'Session 16: Chassis &amp; Body Architecture'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4472C4"/>
        </a:solidFill>
        <a:effectLst/>
      </p:bgPr>
    </p:bg>
    <p:spTree>
      <p:nvGrpSpPr>
        <p:cNvPr id="1" name=""/>
        <p:cNvGrpSpPr/>
        <p:nvPr/>
      </p:nvGrpSpPr>
      <p:grpSpPr/>
      <p:sp>
        <p:nvSpPr>
          <p:cNvPr id="2" name="Title 1"/>
          <p:cNvSpPr>
            <a:spLocks noGrp="1"/>
          </p:cNvSpPr>
          <p:nvPr>
            <p:ph type="ctrTitle"/>
          </p:nvPr>
        </p:nvSpPr>
        <p:spPr/>
        <p:txBody>
          <a:bodyPr/>
          <a:lstStyle/>
          <a:p>
            <a:pPr>
              <a:defRPr sz="4400" b="1">
                <a:solidFill>
                  <a:srgbClr val="FFFFFF"/>
                </a:solidFill>
              </a:defRPr>
            </a:pPr>
            <a:r>
              <a:t>Chassis &amp; Body Architecture</a:t>
            </a:r>
          </a:p>
        </p:txBody>
      </p:sp>
      <p:sp>
        <p:nvSpPr>
          <p:cNvPr id="3" name="Subtitle 2"/>
          <p:cNvSpPr>
            <a:spLocks noGrp="1"/>
          </p:cNvSpPr>
          <p:nvPr>
            <p:ph type="subTitle" idx="1"/>
          </p:nvPr>
        </p:nvSpPr>
        <p:spPr/>
        <p:txBody>
          <a:bodyPr/>
          <a:lstStyle/>
          <a:p>
            <a:pPr>
              <a:defRPr sz="2000">
                <a:solidFill>
                  <a:srgbClr val="FFFFFF"/>
                </a:solidFill>
              </a:defRPr>
            </a:pPr>
            <a:r>
              <a:t>Session 16 | Automotive Vehicles (AEL ZC441)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Title Slide</a:t>
            </a:r>
          </a:p>
        </p:txBody>
      </p:sp>
      <p:sp>
        <p:nvSpPr>
          <p:cNvPr id="3" name="Content Placeholder 2"/>
          <p:cNvSpPr>
            <a:spLocks noGrp="1"/>
          </p:cNvSpPr>
          <p:nvPr>
            <p:ph idx="1"/>
          </p:nvPr>
        </p:nvSpPr>
        <p:spPr/>
        <p:txBody>
          <a:bodyPr/>
          <a:lstStyle/>
          <a:p>
            <a:pPr>
              <a:spcAft>
                <a:spcPts val="1000"/>
              </a:spcAft>
              <a:defRPr sz="1800">
                <a:solidFill>
                  <a:srgbClr val="333333"/>
                </a:solidFill>
              </a:defRPr>
            </a:pPr>
            <a:r>
              <a:t>Instructor Narration:</a:t>
            </a:r>
          </a:p>
          <a:p>
            <a:pPr>
              <a:spcAft>
                <a:spcPts val="1000"/>
              </a:spcAft>
              <a:defRPr sz="1800">
                <a:solidFill>
                  <a:srgbClr val="333333"/>
                </a:solidFill>
              </a:defRPr>
            </a:pPr>
            <a:r>
              <a:t>Welcome to Session 16: Chassis &amp; Body Architecture. Today we step back and look at the vehicle as a complete system—how do you integrate all the components we've studied into a safe, efficient, manufacturable structure?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Vehicle Classification by Design</a:t>
            </a:r>
          </a:p>
        </p:txBody>
      </p:sp>
      <p:sp>
        <p:nvSpPr>
          <p:cNvPr id="3" name="Content Placeholder 2"/>
          <p:cNvSpPr>
            <a:spLocks noGrp="1"/>
          </p:cNvSpPr>
          <p:nvPr>
            <p:ph idx="1"/>
          </p:nvPr>
        </p:nvSpPr>
        <p:spPr/>
        <p:txBody>
          <a:bodyPr/>
          <a:lstStyle/>
          <a:p>
            <a:pPr>
              <a:spcAft>
                <a:spcPts val="1000"/>
              </a:spcAft>
              <a:defRPr sz="1800">
                <a:solidFill>
                  <a:srgbClr val="333333"/>
                </a:solidFill>
              </a:defRPr>
            </a:pPr>
            <a:r>
              <a:t>Instructor Narration:</a:t>
            </a:r>
          </a:p>
          <a:p>
            <a:pPr>
              <a:spcAft>
                <a:spcPts val="1000"/>
              </a:spcAft>
              <a:defRPr sz="1800">
                <a:solidFill>
                  <a:srgbClr val="333333"/>
                </a:solidFill>
              </a:defRPr>
            </a:pPr>
            <a:r>
              <a:t>Before we discuss architecture, let's classify vehicles by design type.</a:t>
            </a:r>
          </a:p>
          <a:p>
            <a:pPr>
              <a:spcAft>
                <a:spcPts val="1000"/>
              </a:spcAft>
              <a:defRPr sz="1800">
                <a:solidFill>
                  <a:srgbClr val="333333"/>
                </a:solidFill>
              </a:defRPr>
            </a:pPr>
            <a:r>
              <a:t>PASSENGER VEHICLES:</a:t>
            </a:r>
          </a:p>
          <a:p>
            <a:pPr>
              <a:spcAft>
                <a:spcPts val="1000"/>
              </a:spcAft>
              <a:defRPr sz="1800">
                <a:solidFill>
                  <a:srgbClr val="333333"/>
                </a:solidFill>
              </a:defRPr>
            </a:pPr>
            <a:r>
              <a:t>1. SEDAN (Saloon) — Definition: 4-door, separate trunk (boot)</a:t>
            </a:r>
          </a:p>
          <a:p>
            <a:pPr>
              <a:spcAft>
                <a:spcPts val="600"/>
              </a:spcAft>
              <a:defRPr sz="1800">
                <a:solidFill>
                  <a:srgbClr val="333333"/>
                </a:solidFill>
              </a:defRPr>
            </a:pPr>
            <a:r>
              <a:t>Characteristics: — Three-box design (engine compartment, passenger cabin, trunk—visually distinct)</a:t>
            </a:r>
          </a:p>
          <a:p>
            <a:pPr>
              <a:spcAft>
                <a:spcPts val="600"/>
              </a:spcAft>
              <a:defRPr sz="1800">
                <a:solidFill>
                  <a:srgbClr val="333333"/>
                </a:solidFill>
              </a:defRPr>
            </a:pPr>
            <a:r>
              <a:t>Fixed roof, four doors</a:t>
            </a:r>
          </a:p>
          <a:p>
            <a:pPr>
              <a:spcAft>
                <a:spcPts val="600"/>
              </a:spcAft>
              <a:defRPr sz="1800">
                <a:solidFill>
                  <a:srgbClr val="333333"/>
                </a:solidFill>
              </a:defRPr>
            </a:pPr>
            <a:r>
              <a:t>Typically seats 5 (2 front, 3 rear)</a:t>
            </a:r>
          </a:p>
          <a:p>
            <a:pPr>
              <a:spcAft>
                <a:spcPts val="600"/>
              </a:spcAft>
              <a:defRPr sz="1800">
                <a:solidFill>
                  <a:srgbClr val="333333"/>
                </a:solidFill>
              </a:defRPr>
            </a:pPr>
            <a:r>
              <a:t>Examples: Honda Accord, Toyota Camry, BMW 3-Series</a:t>
            </a:r>
          </a:p>
          <a:p>
            <a:pPr>
              <a:spcAft>
                <a:spcPts val="600"/>
              </a:spcAft>
              <a:defRPr sz="1800">
                <a:solidFill>
                  <a:srgbClr val="333333"/>
                </a:solidFill>
              </a:defRPr>
            </a:pPr>
            <a:r>
              <a:t>Advantages: Aerodynamic, quiet (trunk isolates cabin from road noise), formal appearance</a:t>
            </a:r>
          </a:p>
          <a:p>
            <a:pPr>
              <a:spcAft>
                <a:spcPts val="600"/>
              </a:spcAft>
              <a:defRPr sz="1800">
                <a:solidFill>
                  <a:srgbClr val="333333"/>
                </a:solidFill>
              </a:defRPr>
            </a:pPr>
            <a:r>
              <a:t>Disadvantages: Limited cargo flexibility (trunk separate from cabin)</a:t>
            </a:r>
          </a:p>
          <a:p>
            <a:pPr>
              <a:spcAft>
                <a:spcPts val="1000"/>
              </a:spcAft>
              <a:defRPr sz="1800">
                <a:solidFill>
                  <a:srgbClr val="333333"/>
                </a:solidFill>
              </a:defRPr>
            </a:pPr>
            <a:r>
              <a:t>2. HATCHBACK — Definition: 2-door or 4-door with rear liftgate, integrated cargo area</a:t>
            </a:r>
          </a:p>
          <a:p>
            <a:pPr>
              <a:spcAft>
                <a:spcPts val="600"/>
              </a:spcAft>
              <a:defRPr sz="1800">
                <a:solidFill>
                  <a:srgbClr val="333333"/>
                </a:solidFill>
              </a:defRPr>
            </a:pPr>
            <a:r>
              <a:t>Characteristics: — Two-box design (engine, passenger/cargo combined)</a:t>
            </a:r>
          </a:p>
          <a:p>
            <a:pPr>
              <a:spcAft>
                <a:spcPts val="600"/>
              </a:spcAft>
              <a:defRPr sz="1800">
                <a:solidFill>
                  <a:srgbClr val="333333"/>
                </a:solidFill>
              </a:defRPr>
            </a:pPr>
            <a:r>
              <a:t>Fold-down rear seats (expand cargo volume)</a:t>
            </a:r>
          </a:p>
          <a:p>
            <a:pPr>
              <a:spcAft>
                <a:spcPts val="600"/>
              </a:spcAft>
              <a:defRPr sz="1800">
                <a:solidFill>
                  <a:srgbClr val="333333"/>
                </a:solidFill>
              </a:defRPr>
            </a:pPr>
            <a:r>
              <a:t>Typically compact (3.5-4.5m length)</a:t>
            </a:r>
          </a:p>
          <a:p>
            <a:pPr>
              <a:spcAft>
                <a:spcPts val="600"/>
              </a:spcAft>
              <a:defRPr sz="1800">
                <a:solidFill>
                  <a:srgbClr val="333333"/>
                </a:solidFill>
              </a:defRPr>
            </a:pPr>
            <a:r>
              <a:t>Examples: Honda Civic Hatchback, VW Golf, Maruti Swift</a:t>
            </a:r>
          </a:p>
          <a:p>
            <a:pPr>
              <a:spcAft>
                <a:spcPts val="600"/>
              </a:spcAft>
              <a:defRPr sz="1800">
                <a:solidFill>
                  <a:srgbClr val="333333"/>
                </a:solidFill>
              </a:defRPr>
            </a:pPr>
            <a:r>
              <a:t>Advantages: Versatile cargo (seats fold), compact (easy parking), efficient packaging</a:t>
            </a:r>
          </a:p>
          <a:p>
            <a:pPr>
              <a:spcAft>
                <a:spcPts val="600"/>
              </a:spcAft>
              <a:defRPr sz="1800">
                <a:solidFill>
                  <a:srgbClr val="333333"/>
                </a:solidFill>
              </a:defRPr>
            </a:pPr>
            <a:r>
              <a:t>Disadvantages: Less aerodynamic than sedan, cargo area shares cabin (noise, odors)</a:t>
            </a:r>
          </a:p>
          <a:p>
            <a:pPr>
              <a:spcAft>
                <a:spcPts val="1000"/>
              </a:spcAft>
              <a:defRPr sz="1800">
                <a:solidFill>
                  <a:srgbClr val="333333"/>
                </a:solidFill>
              </a:defRPr>
            </a:pPr>
            <a:r>
              <a:t>3. SUV (Sport Utility Vehicle) — Definition: High ground clearance, rugged appearance, optional AWD/4WD</a:t>
            </a:r>
          </a:p>
          <a:p>
            <a:pPr>
              <a:spcAft>
                <a:spcPts val="600"/>
              </a:spcAft>
              <a:defRPr sz="1800">
                <a:solidFill>
                  <a:srgbClr val="333333"/>
                </a:solidFill>
              </a:defRPr>
            </a:pPr>
            <a:r>
              <a:t>Characteristics: — High seating position (H-point 600-700mm vs 400-500mm sedan)</a:t>
            </a:r>
          </a:p>
          <a:p>
            <a:pPr>
              <a:spcAft>
                <a:spcPts val="600"/>
              </a:spcAft>
              <a:defRPr sz="1800">
                <a:solidFill>
                  <a:srgbClr val="333333"/>
                </a:solidFill>
              </a:defRPr>
            </a:pPr>
            <a:r>
              <a:t>Body-on-frame OR unibody construction</a:t>
            </a:r>
          </a:p>
          <a:p>
            <a:pPr>
              <a:spcAft>
                <a:spcPts val="600"/>
              </a:spcAft>
              <a:defRPr sz="1800">
                <a:solidFill>
                  <a:srgbClr val="333333"/>
                </a:solidFill>
              </a:defRPr>
            </a:pPr>
            <a:r>
              <a:t>Typically seats 5-7</a:t>
            </a:r>
          </a:p>
          <a:p>
            <a:pPr>
              <a:spcAft>
                <a:spcPts val="600"/>
              </a:spcAft>
              <a:defRPr sz="1800">
                <a:solidFill>
                  <a:srgbClr val="333333"/>
                </a:solidFill>
              </a:defRPr>
            </a:pPr>
            <a:r>
              <a:t>Examples: Toyota Fortuner, Honda CR-V, Mahindra XUV700</a:t>
            </a:r>
          </a:p>
          <a:p>
            <a:pPr>
              <a:spcAft>
                <a:spcPts val="600"/>
              </a:spcAft>
              <a:defRPr sz="1800">
                <a:solidFill>
                  <a:srgbClr val="333333"/>
                </a:solidFill>
              </a:defRPr>
            </a:pPr>
            <a:r>
              <a:t>Advantages: High visibility, perceived safety, cargo capacity, off-road capability (if 4WD)</a:t>
            </a:r>
          </a:p>
          <a:p>
            <a:pPr>
              <a:spcAft>
                <a:spcPts val="600"/>
              </a:spcAft>
              <a:defRPr sz="1800">
                <a:solidFill>
                  <a:srgbClr val="333333"/>
                </a:solidFill>
              </a:defRPr>
            </a:pPr>
            <a:r>
              <a:t>Disadvantages: Higher fuel consumption, less aerodynamic, higher center of gravity (rollover risk)</a:t>
            </a:r>
          </a:p>
          <a:p>
            <a:pPr>
              <a:spcAft>
                <a:spcPts val="1000"/>
              </a:spcAft>
              <a:defRPr sz="1800">
                <a:solidFill>
                  <a:srgbClr val="333333"/>
                </a:solidFill>
              </a:defRPr>
            </a:pPr>
            <a:r>
              <a:t>4. CROSSOVER (CUV - Crossover Utility Vehicle) — Definition: SUV-like appearance, unibody construction (car-based platform)</a:t>
            </a:r>
          </a:p>
          <a:p>
            <a:pPr>
              <a:spcAft>
                <a:spcPts val="600"/>
              </a:spcAft>
              <a:defRPr sz="1800">
                <a:solidFill>
                  <a:srgbClr val="333333"/>
                </a:solidFill>
              </a:defRPr>
            </a:pPr>
            <a:r>
              <a:t>Characteristics: — Built on passenger car chassis (not truck chassis)</a:t>
            </a:r>
          </a:p>
          <a:p>
            <a:pPr>
              <a:spcAft>
                <a:spcPts val="600"/>
              </a:spcAft>
              <a:defRPr sz="1800">
                <a:solidFill>
                  <a:srgbClr val="333333"/>
                </a:solidFill>
              </a:defRPr>
            </a:pPr>
            <a:r>
              <a:t>Car-like handling, better fuel economy than traditional SUV</a:t>
            </a:r>
          </a:p>
          <a:p>
            <a:pPr>
              <a:spcAft>
                <a:spcPts val="600"/>
              </a:spcAft>
              <a:defRPr sz="1800">
                <a:solidFill>
                  <a:srgbClr val="333333"/>
                </a:solidFill>
              </a:defRPr>
            </a:pPr>
            <a:r>
              <a:t>FWD or AWD (rarely RWD)</a:t>
            </a:r>
          </a:p>
          <a:p>
            <a:pPr>
              <a:spcAft>
                <a:spcPts val="600"/>
              </a:spcAft>
              <a:defRPr sz="1800">
                <a:solidFill>
                  <a:srgbClr val="333333"/>
                </a:solidFill>
              </a:defRPr>
            </a:pPr>
            <a:r>
              <a:t>Examples: Honda CR-V, Hyundai Creta, Tata Nexon</a:t>
            </a:r>
          </a:p>
          <a:p>
            <a:pPr>
              <a:spcAft>
                <a:spcPts val="600"/>
              </a:spcAft>
              <a:defRPr sz="1800">
                <a:solidFill>
                  <a:srgbClr val="333333"/>
                </a:solidFill>
              </a:defRPr>
            </a:pPr>
            <a:r>
              <a:t>Note: Most "SUVs" sold today are actually crossovers</a:t>
            </a:r>
          </a:p>
          <a:p>
            <a:pPr>
              <a:spcAft>
                <a:spcPts val="1000"/>
              </a:spcAft>
              <a:defRPr sz="1800">
                <a:solidFill>
                  <a:srgbClr val="333333"/>
                </a:solidFill>
              </a:defRPr>
            </a:pPr>
            <a:r>
              <a:t>5. COUPE — Definition: 2-door, sporty appearance, sloping roofline</a:t>
            </a:r>
          </a:p>
          <a:p>
            <a:pPr>
              <a:spcAft>
                <a:spcPts val="600"/>
              </a:spcAft>
              <a:defRPr sz="1800">
                <a:solidFill>
                  <a:srgbClr val="333333"/>
                </a:solidFill>
              </a:defRPr>
            </a:pPr>
            <a:r>
              <a:t>Characteristics: — Emphasis on style and performance over practicality</a:t>
            </a:r>
          </a:p>
          <a:p>
            <a:pPr>
              <a:spcAft>
                <a:spcPts val="600"/>
              </a:spcAft>
              <a:defRPr sz="1800">
                <a:solidFill>
                  <a:srgbClr val="333333"/>
                </a:solidFill>
              </a:defRPr>
            </a:pPr>
            <a:r>
              <a:t>Typically seats 2+2 (tight rear seats)</a:t>
            </a:r>
          </a:p>
          <a:p>
            <a:pPr>
              <a:spcAft>
                <a:spcPts val="600"/>
              </a:spcAft>
              <a:defRPr sz="1800">
                <a:solidFill>
                  <a:srgbClr val="333333"/>
                </a:solidFill>
              </a:defRPr>
            </a:pPr>
            <a:r>
              <a:t>Examples: Ford Mustang, BMW 4-Series</a:t>
            </a:r>
          </a:p>
          <a:p>
            <a:pPr>
              <a:spcAft>
                <a:spcPts val="1000"/>
              </a:spcAft>
              <a:defRPr sz="1800">
                <a:solidFill>
                  <a:srgbClr val="333333"/>
                </a:solidFill>
              </a:defRPr>
            </a:pPr>
            <a:r>
              <a:t>6. WAGON (Estate) — Definition: Extended roofline to rear, large cargo area, sedan-based</a:t>
            </a:r>
          </a:p>
          <a:p>
            <a:pPr>
              <a:spcAft>
                <a:spcPts val="600"/>
              </a:spcAft>
              <a:defRPr sz="1800">
                <a:solidFill>
                  <a:srgbClr val="333333"/>
                </a:solidFill>
              </a:defRPr>
            </a:pPr>
            <a:r>
              <a:t>Characteristics: — Like sedan but with extended roof and cargo area</a:t>
            </a:r>
          </a:p>
          <a:p>
            <a:pPr>
              <a:spcAft>
                <a:spcPts val="600"/>
              </a:spcAft>
              <a:defRPr sz="1800">
                <a:solidFill>
                  <a:srgbClr val="333333"/>
                </a:solidFill>
              </a:defRPr>
            </a:pPr>
            <a:r>
              <a:t>More cargo than sedan, better aerodynamics than SUV</a:t>
            </a:r>
          </a:p>
          <a:p>
            <a:pPr>
              <a:spcAft>
                <a:spcPts val="600"/>
              </a:spcAft>
              <a:defRPr sz="1800">
                <a:solidFill>
                  <a:srgbClr val="333333"/>
                </a:solidFill>
              </a:defRPr>
            </a:pPr>
            <a:r>
              <a:t>Examples: Volvo V90, Audi A6 Avant (rare in India)</a:t>
            </a:r>
          </a:p>
          <a:p>
            <a:pPr>
              <a:spcAft>
                <a:spcPts val="1000"/>
              </a:spcAft>
              <a:defRPr sz="1800">
                <a:solidFill>
                  <a:srgbClr val="333333"/>
                </a:solidFill>
              </a:defRPr>
            </a:pPr>
            <a:r>
              <a:t>7. MPV/MINIVAN (Multi-Purpose Vehicle) — Definition: Tall roof, 6-9 seats, focus on passenger space</a:t>
            </a:r>
          </a:p>
          <a:p>
            <a:pPr>
              <a:spcAft>
                <a:spcPts val="600"/>
              </a:spcAft>
              <a:defRPr sz="1800">
                <a:solidFill>
                  <a:srgbClr val="333333"/>
                </a:solidFill>
              </a:defRPr>
            </a:pPr>
            <a:r>
              <a:t>Characteristics: — Boxy design (maximize interior volume)</a:t>
            </a:r>
          </a:p>
          <a:p>
            <a:pPr>
              <a:spcAft>
                <a:spcPts val="600"/>
              </a:spcAft>
              <a:defRPr sz="1800">
                <a:solidFill>
                  <a:srgbClr val="333333"/>
                </a:solidFill>
              </a:defRPr>
            </a:pPr>
            <a:r>
              <a:t>Sliding rear doors (common)</a:t>
            </a:r>
          </a:p>
          <a:p>
            <a:pPr>
              <a:spcAft>
                <a:spcPts val="600"/>
              </a:spcAft>
              <a:defRPr sz="1800">
                <a:solidFill>
                  <a:srgbClr val="333333"/>
                </a:solidFill>
              </a:defRPr>
            </a:pPr>
            <a:r>
              <a:t>Three rows of seating</a:t>
            </a:r>
          </a:p>
          <a:p>
            <a:pPr>
              <a:spcAft>
                <a:spcPts val="600"/>
              </a:spcAft>
              <a:defRPr sz="1800">
                <a:solidFill>
                  <a:srgbClr val="333333"/>
                </a:solidFill>
              </a:defRPr>
            </a:pPr>
            <a:r>
              <a:t>Examples: Toyota Innova, Maruti Ertiga</a:t>
            </a:r>
          </a:p>
          <a:p>
            <a:pPr>
              <a:spcAft>
                <a:spcPts val="1000"/>
              </a:spcAft>
              <a:defRPr sz="1800">
                <a:solidFill>
                  <a:srgbClr val="333333"/>
                </a:solidFill>
              </a:defRPr>
            </a:pPr>
            <a:r>
              <a:t>COMMERCIAL VEHICLES:</a:t>
            </a:r>
          </a:p>
          <a:p>
            <a:pPr>
              <a:spcAft>
                <a:spcPts val="1000"/>
              </a:spcAft>
              <a:defRPr sz="1800">
                <a:solidFill>
                  <a:srgbClr val="333333"/>
                </a:solidFill>
              </a:defRPr>
            </a:pPr>
            <a:r>
              <a:t>8. PICKUP TRUCK — Definition: Open cargo bed, separate cab</a:t>
            </a:r>
          </a:p>
          <a:p>
            <a:pPr>
              <a:spcAft>
                <a:spcPts val="600"/>
              </a:spcAft>
              <a:defRPr sz="1800">
                <a:solidFill>
                  <a:srgbClr val="333333"/>
                </a:solidFill>
              </a:defRPr>
            </a:pPr>
            <a:r>
              <a:t>Characteristics: — Body-on-frame construction</a:t>
            </a:r>
          </a:p>
          <a:p>
            <a:pPr>
              <a:spcAft>
                <a:spcPts val="600"/>
              </a:spcAft>
              <a:defRPr sz="1800">
                <a:solidFill>
                  <a:srgbClr val="333333"/>
                </a:solidFill>
              </a:defRPr>
            </a:pPr>
            <a:r>
              <a:t>Rear axle designed for heavy loads</a:t>
            </a:r>
          </a:p>
          <a:p>
            <a:pPr>
              <a:spcAft>
                <a:spcPts val="600"/>
              </a:spcAft>
              <a:defRPr sz="1800">
                <a:solidFill>
                  <a:srgbClr val="333333"/>
                </a:solidFill>
              </a:defRPr>
            </a:pPr>
            <a:r>
              <a:t>2-door or 4-door cab</a:t>
            </a:r>
          </a:p>
          <a:p>
            <a:pPr>
              <a:spcAft>
                <a:spcPts val="600"/>
              </a:spcAft>
              <a:defRPr sz="1800">
                <a:solidFill>
                  <a:srgbClr val="333333"/>
                </a:solidFill>
              </a:defRPr>
            </a:pPr>
            <a:r>
              <a:t>Examples: Toyota Hilux, Ford Ranger, Tata Xenon</a:t>
            </a:r>
          </a:p>
          <a:p>
            <a:pPr>
              <a:spcAft>
                <a:spcPts val="1000"/>
              </a:spcAft>
              <a:defRPr sz="1800">
                <a:solidFill>
                  <a:srgbClr val="333333"/>
                </a:solidFill>
              </a:defRPr>
            </a:pPr>
            <a:r>
              <a:t>Instructor Narration (continued):</a:t>
            </a:r>
          </a:p>
          <a:p>
            <a:pPr>
              <a:spcAft>
                <a:spcPts val="1000"/>
              </a:spcAft>
              <a:defRPr sz="1800">
                <a:solidFill>
                  <a:srgbClr val="333333"/>
                </a:solidFill>
              </a:defRPr>
            </a:pPr>
            <a:r>
              <a:t>'Each design prioritizes different attributes. Sedan = efficiency + comfort. SUV = versatility + capability. Hatchback = urban maneuverability. The architecture underneath reflects these priorities.'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Slide 3-6: Classification by Application and Fuel</a:t>
            </a:r>
          </a:p>
        </p:txBody>
      </p:sp>
      <p:sp>
        <p:nvSpPr>
          <p:cNvPr id="3" name="Content Placeholder 2"/>
          <p:cNvSpPr>
            <a:spLocks noGrp="1"/>
          </p:cNvSpPr>
          <p:nvPr>
            <p:ph idx="1"/>
          </p:nvPr>
        </p:nvSpPr>
        <p:spPr/>
        <p:txBody>
          <a:bodyPr/>
          <a:lstStyle/>
          <a:p>
            <a:pPr>
              <a:spcAft>
                <a:spcPts val="1000"/>
              </a:spcAft>
              <a:defRPr sz="1800">
                <a:solidFill>
                  <a:srgbClr val="333333"/>
                </a:solidFill>
              </a:defRPr>
            </a:pPr>
            <a:r>
              <a:t>[Slides 3-6 would cover:</a:t>
            </a:r>
          </a:p>
          <a:p>
            <a:pPr>
              <a:spcAft>
                <a:spcPts val="600"/>
              </a:spcAft>
              <a:defRPr sz="1800">
                <a:solidFill>
                  <a:srgbClr val="333333"/>
                </a:solidFill>
              </a:defRPr>
            </a:pPr>
            <a:r>
              <a:t>Slide 3: Application-based classification (city car, family car, executive, sports, luxury)</a:t>
            </a:r>
          </a:p>
          <a:p>
            <a:pPr>
              <a:spcAft>
                <a:spcPts val="600"/>
              </a:spcAft>
              <a:defRPr sz="1800">
                <a:solidFill>
                  <a:srgbClr val="333333"/>
                </a:solidFill>
              </a:defRPr>
            </a:pPr>
            <a:r>
              <a:t>Slide 4: Fuel type classification (gasoline, diesel, hybrid, EV, CNG)</a:t>
            </a:r>
          </a:p>
          <a:p>
            <a:pPr>
              <a:spcAft>
                <a:spcPts val="600"/>
              </a:spcAft>
              <a:defRPr sz="1800">
                <a:solidFill>
                  <a:srgbClr val="333333"/>
                </a:solidFill>
              </a:defRPr>
            </a:pPr>
            <a:r>
              <a:t>Slide 5: Segment classification (A, B, C, D, E segments)</a:t>
            </a:r>
          </a:p>
          <a:p>
            <a:pPr>
              <a:spcAft>
                <a:spcPts val="600"/>
              </a:spcAft>
              <a:defRPr sz="1800">
                <a:solidFill>
                  <a:srgbClr val="333333"/>
                </a:solidFill>
              </a:defRPr>
            </a:pPr>
            <a:r>
              <a:t>Slide 6: Transition to structural architecture]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4472C4"/>
        </a:solidFill>
        <a:effectLst/>
      </p:bgPr>
    </p:bg>
    <p:spTree>
      <p:nvGrpSpPr>
        <p:cNvPr id="1" name=""/>
        <p:cNvGrpSpPr/>
        <p:nvPr/>
      </p:nvGrpSpPr>
      <p:grpSpPr/>
      <p:sp>
        <p:nvSpPr>
          <p:cNvPr id="2" name="Title 1"/>
          <p:cNvSpPr>
            <a:spLocks noGrp="1"/>
          </p:cNvSpPr>
          <p:nvPr>
            <p:ph type="ctrTitle"/>
          </p:nvPr>
        </p:nvSpPr>
        <p:spPr/>
        <p:txBody>
          <a:bodyPr/>
          <a:lstStyle/>
          <a:p>
            <a:pPr>
              <a:defRPr sz="4400" b="1">
                <a:solidFill>
                  <a:srgbClr val="FFFFFF"/>
                </a:solidFill>
              </a:defRPr>
            </a:pPr>
            <a:r>
              <a:t>PART 2: TRIGGER - "Chassis Types</a:t>
            </a:r>
          </a:p>
        </p:txBody>
      </p:sp>
      <p:sp>
        <p:nvSpPr>
          <p:cNvPr id="3" name="Subtitle 2"/>
          <p:cNvSpPr>
            <a:spLocks noGrp="1"/>
          </p:cNvSpPr>
          <p:nvPr>
            <p:ph type="subTitle" idx="1"/>
          </p:nvPr>
        </p:nvSpPr>
        <p:spPr/>
        <p:txBody>
          <a:bodyPr/>
          <a:lstStyle/>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Chassis Types Overview</a:t>
            </a:r>
          </a:p>
        </p:txBody>
      </p:sp>
      <p:sp>
        <p:nvSpPr>
          <p:cNvPr id="3" name="Content Placeholder 2"/>
          <p:cNvSpPr>
            <a:spLocks noGrp="1"/>
          </p:cNvSpPr>
          <p:nvPr>
            <p:ph idx="1"/>
          </p:nvPr>
        </p:nvSpPr>
        <p:spPr/>
        <p:txBody>
          <a:bodyPr/>
          <a:lstStyle/>
          <a:p>
            <a:pPr>
              <a:spcAft>
                <a:spcPts val="1000"/>
              </a:spcAft>
              <a:defRPr sz="1800">
                <a:solidFill>
                  <a:srgbClr val="333333"/>
                </a:solidFill>
              </a:defRPr>
            </a:pPr>
            <a:r>
              <a:t>Instructor Narration:</a:t>
            </a:r>
          </a:p>
          <a:p>
            <a:pPr>
              <a:spcAft>
                <a:spcPts val="1000"/>
              </a:spcAft>
              <a:defRPr sz="1800">
                <a:solidFill>
                  <a:srgbClr val="333333"/>
                </a:solidFill>
              </a:defRPr>
            </a:pPr>
            <a:r>
              <a:t>The chassis is the vehicle's structural foundation. Everything else—engine, suspension, body panels—mounts to the chassis.</a:t>
            </a:r>
          </a:p>
          <a:p>
            <a:pPr>
              <a:spcAft>
                <a:spcPts val="1000"/>
              </a:spcAft>
              <a:defRPr sz="1800">
                <a:solidFill>
                  <a:srgbClr val="333333"/>
                </a:solidFill>
              </a:defRPr>
            </a:pPr>
            <a:r>
              <a:t>THREE FUNDAMENTAL APPROACHES:</a:t>
            </a:r>
          </a:p>
          <a:p>
            <a:pPr>
              <a:spcAft>
                <a:spcPts val="1000"/>
              </a:spcAft>
              <a:defRPr sz="1800">
                <a:solidFill>
                  <a:srgbClr val="333333"/>
                </a:solidFill>
              </a:defRPr>
            </a:pPr>
            <a:r>
              <a:t>1. MONOCOQUE (Unibody) — Concept: Body and chassis are one integrated structure</a:t>
            </a:r>
          </a:p>
          <a:p>
            <a:pPr>
              <a:spcAft>
                <a:spcPts val="600"/>
              </a:spcAft>
              <a:defRPr sz="1800">
                <a:solidFill>
                  <a:srgbClr val="333333"/>
                </a:solidFill>
              </a:defRPr>
            </a:pPr>
            <a:r>
              <a:t>Load path: Distributed throughout body shell</a:t>
            </a:r>
          </a:p>
          <a:p>
            <a:pPr>
              <a:spcAft>
                <a:spcPts val="600"/>
              </a:spcAft>
              <a:defRPr sz="1800">
                <a:solidFill>
                  <a:srgbClr val="333333"/>
                </a:solidFill>
              </a:defRPr>
            </a:pPr>
            <a:r>
              <a:t>Used in: 90%+ of modern passenger cars</a:t>
            </a:r>
          </a:p>
          <a:p>
            <a:pPr>
              <a:spcAft>
                <a:spcPts val="1000"/>
              </a:spcAft>
              <a:defRPr sz="1800">
                <a:solidFill>
                  <a:srgbClr val="333333"/>
                </a:solidFill>
              </a:defRPr>
            </a:pPr>
            <a:r>
              <a:t>2. LADDER FRAME (Body-on-Frame) — Concept: Separate chassis frame + body mounted on top</a:t>
            </a:r>
          </a:p>
          <a:p>
            <a:pPr>
              <a:spcAft>
                <a:spcPts val="600"/>
              </a:spcAft>
              <a:defRPr sz="1800">
                <a:solidFill>
                  <a:srgbClr val="333333"/>
                </a:solidFill>
              </a:defRPr>
            </a:pPr>
            <a:r>
              <a:t>Load path: Frame carries all loads, body is just a shell</a:t>
            </a:r>
          </a:p>
          <a:p>
            <a:pPr>
              <a:spcAft>
                <a:spcPts val="600"/>
              </a:spcAft>
              <a:defRPr sz="1800">
                <a:solidFill>
                  <a:srgbClr val="333333"/>
                </a:solidFill>
              </a:defRPr>
            </a:pPr>
            <a:r>
              <a:t>Used in: Heavy trucks, off-road SUVs, some pickups</a:t>
            </a:r>
          </a:p>
          <a:p>
            <a:pPr>
              <a:spcAft>
                <a:spcPts val="1000"/>
              </a:spcAft>
              <a:defRPr sz="1800">
                <a:solidFill>
                  <a:srgbClr val="333333"/>
                </a:solidFill>
              </a:defRPr>
            </a:pPr>
            <a:r>
              <a:t>3. SPACE FRAME — Concept: Tubular metal framework, lightweight panels</a:t>
            </a:r>
          </a:p>
          <a:p>
            <a:pPr>
              <a:spcAft>
                <a:spcPts val="600"/>
              </a:spcAft>
              <a:defRPr sz="1800">
                <a:solidFill>
                  <a:srgbClr val="333333"/>
                </a:solidFill>
              </a:defRPr>
            </a:pPr>
            <a:r>
              <a:t>Load path: Tubes carry loads in tension/compression</a:t>
            </a:r>
          </a:p>
          <a:p>
            <a:pPr>
              <a:spcAft>
                <a:spcPts val="600"/>
              </a:spcAft>
              <a:defRPr sz="1800">
                <a:solidFill>
                  <a:srgbClr val="333333"/>
                </a:solidFill>
              </a:defRPr>
            </a:pPr>
            <a:r>
              <a:t>Used in: Race cars, exotic sports cars (Lotus, some Audis)</a:t>
            </a:r>
          </a:p>
          <a:p>
            <a:pPr>
              <a:spcAft>
                <a:spcPts val="1000"/>
              </a:spcAft>
              <a:defRPr sz="1800">
                <a:solidFill>
                  <a:srgbClr val="333333"/>
                </a:solidFill>
              </a:defRPr>
            </a:pPr>
            <a:r>
              <a:t>Let's explore each in detail.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Monocoque (Unibody) Construction</a:t>
            </a:r>
          </a:p>
        </p:txBody>
      </p:sp>
      <p:sp>
        <p:nvSpPr>
          <p:cNvPr id="3" name="Content Placeholder 2"/>
          <p:cNvSpPr>
            <a:spLocks noGrp="1"/>
          </p:cNvSpPr>
          <p:nvPr>
            <p:ph idx="1"/>
          </p:nvPr>
        </p:nvSpPr>
        <p:spPr/>
        <p:txBody>
          <a:bodyPr/>
          <a:lstStyle/>
          <a:p>
            <a:pPr>
              <a:spcAft>
                <a:spcPts val="1000"/>
              </a:spcAft>
              <a:defRPr sz="1800">
                <a:solidFill>
                  <a:srgbClr val="333333"/>
                </a:solidFill>
              </a:defRPr>
            </a:pPr>
            <a:r>
              <a:t>Instructor Narration:</a:t>
            </a:r>
          </a:p>
          <a:p>
            <a:pPr>
              <a:spcAft>
                <a:spcPts val="1000"/>
              </a:spcAft>
              <a:defRPr sz="1800">
                <a:solidFill>
                  <a:srgbClr val="333333"/>
                </a:solidFill>
              </a:defRPr>
            </a:pPr>
            <a:r>
              <a:t>Monocoque means 'single shell' (from French: mono = one, coque = shell).</a:t>
            </a:r>
          </a:p>
          <a:p>
            <a:pPr>
              <a:spcAft>
                <a:spcPts val="1000"/>
              </a:spcAft>
              <a:defRPr sz="1800">
                <a:solidFill>
                  <a:srgbClr val="333333"/>
                </a:solidFill>
              </a:defRPr>
            </a:pPr>
            <a:r>
              <a:t>CONCEPT: — Body panels (floor, roof, pillars, doors) are structural members — Welded together into rigid cage</a:t>
            </a:r>
          </a:p>
          <a:p>
            <a:pPr>
              <a:spcAft>
                <a:spcPts val="600"/>
              </a:spcAft>
              <a:defRPr sz="1800">
                <a:solidFill>
                  <a:srgbClr val="333333"/>
                </a:solidFill>
              </a:defRPr>
            </a:pPr>
            <a:r>
              <a:t>No separate chassis frame</a:t>
            </a:r>
          </a:p>
          <a:p>
            <a:pPr>
              <a:spcAft>
                <a:spcPts val="1000"/>
              </a:spcAft>
              <a:defRPr sz="1800">
                <a:solidFill>
                  <a:srgbClr val="333333"/>
                </a:solidFill>
              </a:defRPr>
            </a:pPr>
            <a:r>
              <a:t>CONSTRUCTION:</a:t>
            </a:r>
          </a:p>
          <a:p>
            <a:pPr>
              <a:spcAft>
                <a:spcPts val="1000"/>
              </a:spcAft>
              <a:defRPr sz="1800">
                <a:solidFill>
                  <a:srgbClr val="333333"/>
                </a:solidFill>
              </a:defRPr>
            </a:pPr>
            <a:r>
              <a:t>Key Structural Elements:</a:t>
            </a:r>
          </a:p>
          <a:p>
            <a:pPr>
              <a:spcAft>
                <a:spcPts val="1000"/>
              </a:spcAft>
              <a:defRPr sz="1800">
                <a:solidFill>
                  <a:srgbClr val="333333"/>
                </a:solidFill>
              </a:defRPr>
            </a:pPr>
            <a:r>
              <a:t>1. Floor Pan — Stamped steel sheet (1.5-2.5mm thick)</a:t>
            </a:r>
          </a:p>
          <a:p>
            <a:pPr>
              <a:spcAft>
                <a:spcPts val="600"/>
              </a:spcAft>
              <a:defRPr sz="1800">
                <a:solidFill>
                  <a:srgbClr val="333333"/>
                </a:solidFill>
              </a:defRPr>
            </a:pPr>
            <a:r>
              <a:t>Forms passenger compartment floor</a:t>
            </a:r>
          </a:p>
          <a:p>
            <a:pPr>
              <a:spcAft>
                <a:spcPts val="600"/>
              </a:spcAft>
              <a:defRPr sz="1800">
                <a:solidFill>
                  <a:srgbClr val="333333"/>
                </a:solidFill>
              </a:defRPr>
            </a:pPr>
            <a:r>
              <a:t>Contains transmission tunnel (raised section for driveshaft/exhaust)</a:t>
            </a:r>
          </a:p>
          <a:p>
            <a:pPr>
              <a:spcAft>
                <a:spcPts val="600"/>
              </a:spcAft>
              <a:defRPr sz="1800">
                <a:solidFill>
                  <a:srgbClr val="333333"/>
                </a:solidFill>
              </a:defRPr>
            </a:pPr>
            <a:r>
              <a:t>Multiple layers welded together for strength</a:t>
            </a:r>
          </a:p>
          <a:p>
            <a:pPr>
              <a:spcAft>
                <a:spcPts val="1000"/>
              </a:spcAft>
              <a:defRPr sz="1800">
                <a:solidFill>
                  <a:srgbClr val="333333"/>
                </a:solidFill>
              </a:defRPr>
            </a:pPr>
            <a:r>
              <a:t>2. Pillars (A, B, C, D) — A-pillar: Front, beside windshield</a:t>
            </a:r>
          </a:p>
          <a:p>
            <a:pPr>
              <a:spcAft>
                <a:spcPts val="600"/>
              </a:spcAft>
              <a:defRPr sz="1800">
                <a:solidFill>
                  <a:srgbClr val="333333"/>
                </a:solidFill>
              </a:defRPr>
            </a:pPr>
            <a:r>
              <a:t>B-pillar: Middle, between front/rear doors</a:t>
            </a:r>
          </a:p>
          <a:p>
            <a:pPr>
              <a:spcAft>
                <a:spcPts val="600"/>
              </a:spcAft>
              <a:defRPr sz="1800">
                <a:solidFill>
                  <a:srgbClr val="333333"/>
                </a:solidFill>
              </a:defRPr>
            </a:pPr>
            <a:r>
              <a:t>C-pillar: Rear, beside rear window</a:t>
            </a:r>
          </a:p>
          <a:p>
            <a:pPr>
              <a:spcAft>
                <a:spcPts val="600"/>
              </a:spcAft>
              <a:defRPr sz="1800">
                <a:solidFill>
                  <a:srgbClr val="333333"/>
                </a:solidFill>
              </a:defRPr>
            </a:pPr>
            <a:r>
              <a:t>D-pillar: (if present) rear-most, wagons/SUVs</a:t>
            </a:r>
          </a:p>
          <a:p>
            <a:pPr>
              <a:spcAft>
                <a:spcPts val="600"/>
              </a:spcAft>
              <a:defRPr sz="1800">
                <a:solidFill>
                  <a:srgbClr val="333333"/>
                </a:solidFill>
              </a:defRPr>
            </a:pPr>
            <a:r>
              <a:t>Tubular or box-section steel</a:t>
            </a:r>
          </a:p>
          <a:p>
            <a:pPr>
              <a:spcAft>
                <a:spcPts val="600"/>
              </a:spcAft>
              <a:defRPr sz="1800">
                <a:solidFill>
                  <a:srgbClr val="333333"/>
                </a:solidFill>
              </a:defRPr>
            </a:pPr>
            <a:r>
              <a:t>Critical for roof strength (rollover protection)</a:t>
            </a:r>
          </a:p>
          <a:p>
            <a:pPr>
              <a:spcAft>
                <a:spcPts val="1000"/>
              </a:spcAft>
              <a:defRPr sz="1800">
                <a:solidFill>
                  <a:srgbClr val="333333"/>
                </a:solidFill>
              </a:defRPr>
            </a:pPr>
            <a:r>
              <a:t>3. Rocker Panels (Sills) — Run along bottom of doors (left and right sides)</a:t>
            </a:r>
          </a:p>
          <a:p>
            <a:pPr>
              <a:spcAft>
                <a:spcPts val="600"/>
              </a:spcAft>
              <a:defRPr sz="1800">
                <a:solidFill>
                  <a:srgbClr val="333333"/>
                </a:solidFill>
              </a:defRPr>
            </a:pPr>
            <a:r>
              <a:t>Box-section steel</a:t>
            </a:r>
          </a:p>
          <a:p>
            <a:pPr>
              <a:spcAft>
                <a:spcPts val="600"/>
              </a:spcAft>
              <a:defRPr sz="1800">
                <a:solidFill>
                  <a:srgbClr val="333333"/>
                </a:solidFill>
              </a:defRPr>
            </a:pPr>
            <a:r>
              <a:t>Connect front and rear structures</a:t>
            </a:r>
          </a:p>
          <a:p>
            <a:pPr>
              <a:spcAft>
                <a:spcPts val="600"/>
              </a:spcAft>
              <a:defRPr sz="1800">
                <a:solidFill>
                  <a:srgbClr val="333333"/>
                </a:solidFill>
              </a:defRPr>
            </a:pPr>
            <a:r>
              <a:t>Major load path during side impact</a:t>
            </a:r>
          </a:p>
          <a:p>
            <a:pPr>
              <a:spcAft>
                <a:spcPts val="1000"/>
              </a:spcAft>
              <a:defRPr sz="1800">
                <a:solidFill>
                  <a:srgbClr val="333333"/>
                </a:solidFill>
              </a:defRPr>
            </a:pPr>
            <a:r>
              <a:t>4. Firewall (Bulkhead) — Vertical panel separating engine compartment from cabin</a:t>
            </a:r>
          </a:p>
          <a:p>
            <a:pPr>
              <a:spcAft>
                <a:spcPts val="600"/>
              </a:spcAft>
              <a:defRPr sz="1800">
                <a:solidFill>
                  <a:srgbClr val="333333"/>
                </a:solidFill>
              </a:defRPr>
            </a:pPr>
            <a:r>
              <a:t>Multiple layers (structure + sound/heat insulation)</a:t>
            </a:r>
          </a:p>
          <a:p>
            <a:pPr>
              <a:spcAft>
                <a:spcPts val="600"/>
              </a:spcAft>
              <a:defRPr sz="1800">
                <a:solidFill>
                  <a:srgbClr val="333333"/>
                </a:solidFill>
              </a:defRPr>
            </a:pPr>
            <a:r>
              <a:t>Mounting point for pedals, steering column, HVAC</a:t>
            </a:r>
          </a:p>
          <a:p>
            <a:pPr>
              <a:spcAft>
                <a:spcPts val="1000"/>
              </a:spcAft>
              <a:defRPr sz="1800">
                <a:solidFill>
                  <a:srgbClr val="333333"/>
                </a:solidFill>
              </a:defRPr>
            </a:pPr>
            <a:r>
              <a:t>5. Roof Panel — Stamped steel (thinner: 0.7-1.0mm)</a:t>
            </a:r>
          </a:p>
          <a:p>
            <a:pPr>
              <a:spcAft>
                <a:spcPts val="600"/>
              </a:spcAft>
              <a:defRPr sz="1800">
                <a:solidFill>
                  <a:srgbClr val="333333"/>
                </a:solidFill>
              </a:defRPr>
            </a:pPr>
            <a:r>
              <a:t>Welded to pillars and side rails</a:t>
            </a:r>
          </a:p>
          <a:p>
            <a:pPr>
              <a:spcAft>
                <a:spcPts val="600"/>
              </a:spcAft>
              <a:defRPr sz="1800">
                <a:solidFill>
                  <a:srgbClr val="333333"/>
                </a:solidFill>
              </a:defRPr>
            </a:pPr>
            <a:r>
              <a:t>Forms protective cage (roll strength)</a:t>
            </a:r>
          </a:p>
          <a:p>
            <a:pPr>
              <a:spcAft>
                <a:spcPts val="1000"/>
              </a:spcAft>
              <a:defRPr sz="1800">
                <a:solidFill>
                  <a:srgbClr val="333333"/>
                </a:solidFill>
              </a:defRPr>
            </a:pPr>
            <a:r>
              <a:t>6. Front &amp; Rear Structures — Front: Engine cradle, radiator support, fender aprons</a:t>
            </a:r>
          </a:p>
          <a:p>
            <a:pPr>
              <a:spcAft>
                <a:spcPts val="600"/>
              </a:spcAft>
              <a:defRPr sz="1800">
                <a:solidFill>
                  <a:srgbClr val="333333"/>
                </a:solidFill>
              </a:defRPr>
            </a:pPr>
            <a:r>
              <a:t>Rear: Rear floor pan, wheel arches, trunk floor</a:t>
            </a:r>
          </a:p>
          <a:p>
            <a:pPr>
              <a:spcAft>
                <a:spcPts val="600"/>
              </a:spcAft>
              <a:defRPr sz="1800">
                <a:solidFill>
                  <a:srgbClr val="333333"/>
                </a:solidFill>
              </a:defRPr>
            </a:pPr>
            <a:r>
              <a:t>Bolted or welded to main cabin structure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p>
        </p:txBody>
      </p:sp>
      <p:sp>
        <p:nvSpPr>
          <p:cNvPr id="3" name="Content Placeholder 2"/>
          <p:cNvSpPr>
            <a:spLocks noGrp="1"/>
          </p:cNvSpPr>
          <p:nvPr>
            <p:ph idx="1"/>
          </p:nvPr>
        </p:nvSpPr>
        <p:spPr/>
        <p:txBody>
          <a:bodyPr/>
          <a:lstStyle/>
          <a:p>
            <a:pPr>
              <a:spcAft>
                <a:spcPts val="1000"/>
              </a:spcAft>
              <a:defRPr sz="1800">
                <a:solidFill>
                  <a:srgbClr val="333333"/>
                </a:solidFill>
              </a:defRPr>
            </a:pPr>
            <a:r>
              <a:t>LOAD DISTRIBUTION:</a:t>
            </a:r>
          </a:p>
          <a:p>
            <a:pPr>
              <a:spcAft>
                <a:spcPts val="1000"/>
              </a:spcAft>
              <a:defRPr sz="1800">
                <a:solidFill>
                  <a:srgbClr val="333333"/>
                </a:solidFill>
              </a:defRPr>
            </a:pPr>
            <a:r>
              <a:t>Multi-Path Structure: — Loads spread throughout body shell</a:t>
            </a:r>
          </a:p>
          <a:p>
            <a:pPr>
              <a:spcAft>
                <a:spcPts val="600"/>
              </a:spcAft>
              <a:defRPr sz="1800">
                <a:solidFill>
                  <a:srgbClr val="333333"/>
                </a:solidFill>
              </a:defRPr>
            </a:pPr>
            <a:r>
              <a:t>Example: Side impact force</a:t>
            </a:r>
          </a:p>
          <a:p>
            <a:pPr>
              <a:spcAft>
                <a:spcPts val="600"/>
              </a:spcAft>
              <a:defRPr sz="1800">
                <a:solidFill>
                  <a:srgbClr val="333333"/>
                </a:solidFill>
              </a:defRPr>
            </a:pPr>
            <a:r>
              <a:t>Enters at door</a:t>
            </a:r>
          </a:p>
          <a:p>
            <a:pPr>
              <a:spcAft>
                <a:spcPts val="600"/>
              </a:spcAft>
              <a:defRPr sz="1800">
                <a:solidFill>
                  <a:srgbClr val="333333"/>
                </a:solidFill>
              </a:defRPr>
            </a:pPr>
            <a:r>
              <a:t>Distributes through rocker panel, B-pillar, floor, roof rail</a:t>
            </a:r>
          </a:p>
          <a:p>
            <a:pPr>
              <a:spcAft>
                <a:spcPts val="600"/>
              </a:spcAft>
              <a:defRPr sz="1800">
                <a:solidFill>
                  <a:srgbClr val="333333"/>
                </a:solidFill>
              </a:defRPr>
            </a:pPr>
            <a:r>
              <a:t>Opposite side absorbs energy</a:t>
            </a:r>
          </a:p>
          <a:p>
            <a:pPr>
              <a:spcAft>
                <a:spcPts val="600"/>
              </a:spcAft>
              <a:defRPr sz="1800">
                <a:solidFill>
                  <a:srgbClr val="333333"/>
                </a:solidFill>
              </a:defRPr>
            </a:pPr>
            <a:r>
              <a:t>No single "frame" member—entire shell acts as structure</a:t>
            </a:r>
          </a:p>
          <a:p>
            <a:pPr>
              <a:spcAft>
                <a:spcPts val="1000"/>
              </a:spcAft>
              <a:defRPr sz="1800">
                <a:solidFill>
                  <a:srgbClr val="333333"/>
                </a:solidFill>
              </a:defRPr>
            </a:pPr>
            <a:r>
              <a:t>Advantages:</a:t>
            </a:r>
          </a:p>
          <a:p>
            <a:pPr>
              <a:spcAft>
                <a:spcPts val="1000"/>
              </a:spcAft>
              <a:defRPr sz="1800">
                <a:solidFill>
                  <a:srgbClr val="333333"/>
                </a:solidFill>
              </a:defRPr>
            </a:pPr>
            <a:r>
              <a:t>✅ Lightweight (30-40% lighter than equivalent body-on-frame)</a:t>
            </a:r>
          </a:p>
          <a:p>
            <a:pPr>
              <a:spcAft>
                <a:spcPts val="1000"/>
              </a:spcAft>
              <a:defRPr sz="1800">
                <a:solidFill>
                  <a:srgbClr val="333333"/>
                </a:solidFill>
              </a:defRPr>
            </a:pPr>
            <a:r>
              <a:t>✅ Stiff (integrated structure, high torsional rigidity)</a:t>
            </a:r>
          </a:p>
          <a:p>
            <a:pPr>
              <a:spcAft>
                <a:spcPts val="1000"/>
              </a:spcAft>
              <a:defRPr sz="1800">
                <a:solidFill>
                  <a:srgbClr val="333333"/>
                </a:solidFill>
              </a:defRPr>
            </a:pPr>
            <a:r>
              <a:t>✅ Space-efficient (no frame rails underneath = more cabin space)</a:t>
            </a:r>
          </a:p>
          <a:p>
            <a:pPr>
              <a:spcAft>
                <a:spcPts val="1000"/>
              </a:spcAft>
              <a:defRPr sz="1800">
                <a:solidFill>
                  <a:srgbClr val="333333"/>
                </a:solidFill>
              </a:defRPr>
            </a:pPr>
            <a:r>
              <a:t>✅ Safer (energy absorption distributed, controlled crush)</a:t>
            </a:r>
          </a:p>
          <a:p>
            <a:pPr>
              <a:spcAft>
                <a:spcPts val="1000"/>
              </a:spcAft>
              <a:defRPr sz="1800">
                <a:solidFill>
                  <a:srgbClr val="333333"/>
                </a:solidFill>
              </a:defRPr>
            </a:pPr>
            <a:r>
              <a:t>✅ Quiet (fewer mechanical joints = less squeaks/rattles)</a:t>
            </a:r>
          </a:p>
          <a:p>
            <a:pPr>
              <a:spcAft>
                <a:spcPts val="1000"/>
              </a:spcAft>
              <a:defRPr sz="1800">
                <a:solidFill>
                  <a:srgbClr val="333333"/>
                </a:solidFill>
              </a:defRPr>
            </a:pPr>
            <a:r>
              <a:t>✅ Manufacturing (suitable for mass production, automated welding)</a:t>
            </a:r>
          </a:p>
          <a:p>
            <a:pPr>
              <a:spcAft>
                <a:spcPts val="1000"/>
              </a:spcAft>
              <a:defRPr sz="1800">
                <a:solidFill>
                  <a:srgbClr val="333333"/>
                </a:solidFill>
              </a:defRPr>
            </a:pPr>
            <a:r>
              <a:t>Disadvantages:</a:t>
            </a:r>
          </a:p>
          <a:p>
            <a:pPr>
              <a:spcAft>
                <a:spcPts val="1000"/>
              </a:spcAft>
              <a:defRPr sz="1800">
                <a:solidFill>
                  <a:srgbClr val="333333"/>
                </a:solidFill>
              </a:defRPr>
            </a:pPr>
            <a:r>
              <a:t>❌ Expensive tooling (complex stamping dies, welding fixtures)</a:t>
            </a:r>
          </a:p>
          <a:p>
            <a:pPr>
              <a:spcAft>
                <a:spcPts val="1000"/>
              </a:spcAft>
              <a:defRPr sz="1800">
                <a:solidFill>
                  <a:srgbClr val="333333"/>
                </a:solidFill>
              </a:defRPr>
            </a:pPr>
            <a:r>
              <a:t>❌ Crash damage costly (structural repair requires specialized equipment)</a:t>
            </a:r>
          </a:p>
          <a:p>
            <a:pPr>
              <a:spcAft>
                <a:spcPts val="1000"/>
              </a:spcAft>
              <a:defRPr sz="1800">
                <a:solidFill>
                  <a:srgbClr val="333333"/>
                </a:solidFill>
              </a:defRPr>
            </a:pPr>
            <a:r>
              <a:t>❌ Lower load capacity (not ideal for heavy towing, off-road abuse)</a:t>
            </a:r>
          </a:p>
          <a:p>
            <a:pPr>
              <a:spcAft>
                <a:spcPts val="1000"/>
              </a:spcAft>
              <a:defRPr sz="1800">
                <a:solidFill>
                  <a:srgbClr val="333333"/>
                </a:solidFill>
              </a:defRPr>
            </a:pPr>
            <a:r>
              <a:t>❌ Harder to modify (can't easily lengthen/shorten wheelbase)</a:t>
            </a:r>
          </a:p>
          <a:p>
            <a:pPr>
              <a:spcAft>
                <a:spcPts val="1000"/>
              </a:spcAft>
              <a:defRPr sz="1800">
                <a:solidFill>
                  <a:srgbClr val="333333"/>
                </a:solidFill>
              </a:defRPr>
            </a:pPr>
            <a:r>
              <a:t>Manufacturing Process:</a:t>
            </a:r>
          </a:p>
          <a:p>
            <a:pPr>
              <a:spcAft>
                <a:spcPts val="1000"/>
              </a:spcAft>
              <a:defRPr sz="1800">
                <a:solidFill>
                  <a:srgbClr val="333333"/>
                </a:solidFill>
              </a:defRPr>
            </a:pPr>
            <a:r>
              <a:t>Body-in-White (BIW) Assembly:</a:t>
            </a:r>
          </a:p>
          <a:p>
            <a:pPr>
              <a:spcAft>
                <a:spcPts val="600"/>
              </a:spcAft>
              <a:defRPr sz="1800">
                <a:solidFill>
                  <a:srgbClr val="333333"/>
                </a:solidFill>
              </a:defRPr>
            </a:pPr>
            <a:r>
              <a:t>Stamping: Steel sheets stamped into panels (floor, roof, doors, fenders)</a:t>
            </a:r>
          </a:p>
          <a:p>
            <a:pPr>
              <a:spcAft>
                <a:spcPts val="600"/>
              </a:spcAft>
              <a:defRPr sz="1800">
                <a:solidFill>
                  <a:srgbClr val="333333"/>
                </a:solidFill>
              </a:defRPr>
            </a:pPr>
            <a:r>
              <a:t>Welding: 3,000-5,000 spot welds join panels into body shell</a:t>
            </a:r>
          </a:p>
          <a:p>
            <a:pPr>
              <a:spcAft>
                <a:spcPts val="600"/>
              </a:spcAft>
              <a:defRPr sz="1800">
                <a:solidFill>
                  <a:srgbClr val="333333"/>
                </a:solidFill>
              </a:defRPr>
            </a:pPr>
            <a:r>
              <a:t>Robot assembly: Automated welding (180-300 robots in modern plant)</a:t>
            </a:r>
          </a:p>
          <a:p>
            <a:pPr>
              <a:spcAft>
                <a:spcPts val="600"/>
              </a:spcAft>
              <a:defRPr sz="1800">
                <a:solidFill>
                  <a:srgbClr val="333333"/>
                </a:solidFill>
              </a:defRPr>
            </a:pPr>
            <a:r>
              <a:t>Corrosion protection: E-coat (electrodeposition coating—dipped in primer bath)</a:t>
            </a:r>
          </a:p>
          <a:p>
            <a:pPr>
              <a:spcAft>
                <a:spcPts val="600"/>
              </a:spcAft>
              <a:defRPr sz="1800">
                <a:solidFill>
                  <a:srgbClr val="333333"/>
                </a:solidFill>
              </a:defRPr>
            </a:pPr>
            <a:r>
              <a:t>Paint: Multiple layers (primer, base coat, clear coat)</a:t>
            </a:r>
          </a:p>
          <a:p>
            <a:pPr>
              <a:spcAft>
                <a:spcPts val="600"/>
              </a:spcAft>
              <a:defRPr sz="1800">
                <a:solidFill>
                  <a:srgbClr val="333333"/>
                </a:solidFill>
              </a:defRPr>
            </a:pPr>
            <a:r>
              <a:t>Final assembly: Install powertrain, interior, glass, electrical</a:t>
            </a:r>
          </a:p>
          <a:p>
            <a:pPr>
              <a:spcAft>
                <a:spcPts val="1000"/>
              </a:spcAft>
              <a:defRPr sz="1800">
                <a:solidFill>
                  <a:srgbClr val="333333"/>
                </a:solidFill>
              </a:defRPr>
            </a:pPr>
            <a:r>
              <a:t>Result: Completed monocoque body</a:t>
            </a:r>
          </a:p>
          <a:p>
            <a:pPr>
              <a:spcAft>
                <a:spcPts val="1000"/>
              </a:spcAft>
              <a:defRPr sz="1800">
                <a:solidFill>
                  <a:srgbClr val="333333"/>
                </a:solidFill>
              </a:defRPr>
            </a:pPr>
            <a:r>
              <a:t>Used In: — All modern passenger cars (sedans, hatchbacks, crossovers)</a:t>
            </a:r>
          </a:p>
          <a:p>
            <a:pPr>
              <a:spcAft>
                <a:spcPts val="600"/>
              </a:spcAft>
              <a:defRPr sz="1800">
                <a:solidFill>
                  <a:srgbClr val="333333"/>
                </a:solidFill>
              </a:defRPr>
            </a:pPr>
            <a:r>
              <a:t>Most modern SUVs (unibody construction)</a:t>
            </a:r>
          </a:p>
          <a:p>
            <a:pPr>
              <a:spcAft>
                <a:spcPts val="600"/>
              </a:spcAft>
              <a:defRPr sz="1800">
                <a:solidFill>
                  <a:srgbClr val="333333"/>
                </a:solidFill>
              </a:defRPr>
            </a:pPr>
            <a:r>
              <a:t>Minivans, MPVs</a:t>
            </a:r>
          </a:p>
          <a:p>
            <a:pPr>
              <a:spcAft>
                <a:spcPts val="1000"/>
              </a:spcAft>
              <a:defRPr sz="1800">
                <a:solidFill>
                  <a:srgbClr val="333333"/>
                </a:solidFill>
              </a:defRPr>
            </a:pPr>
            <a:r>
              <a:t>Instructor Narration (continued):</a:t>
            </a:r>
          </a:p>
          <a:p>
            <a:pPr>
              <a:spcAft>
                <a:spcPts val="1000"/>
              </a:spcAft>
              <a:defRPr sz="1800">
                <a:solidFill>
                  <a:srgbClr val="333333"/>
                </a:solidFill>
              </a:defRPr>
            </a:pPr>
            <a:r>
              <a:t>'Monocoque revolutionized automotive design in the 1930s-1950s. Before this, all cars used body-on-frame. Citroën Traction Avant (1934) and Fiat 600 (1955) proved monocoque could be mass-produced. By 1980, body-on-frame passenger cars essentially disappeared—monocoque won due to weight, safety, and packaging advantages.'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Ladder Frame (Body-on-Frame) Construction</a:t>
            </a:r>
          </a:p>
        </p:txBody>
      </p:sp>
      <p:sp>
        <p:nvSpPr>
          <p:cNvPr id="3" name="Content Placeholder 2"/>
          <p:cNvSpPr>
            <a:spLocks noGrp="1"/>
          </p:cNvSpPr>
          <p:nvPr>
            <p:ph idx="1"/>
          </p:nvPr>
        </p:nvSpPr>
        <p:spPr/>
        <p:txBody>
          <a:bodyPr/>
          <a:lstStyle/>
          <a:p>
            <a:pPr>
              <a:spcAft>
                <a:spcPts val="1000"/>
              </a:spcAft>
              <a:defRPr sz="1800">
                <a:solidFill>
                  <a:srgbClr val="333333"/>
                </a:solidFill>
              </a:defRPr>
            </a:pPr>
            <a:r>
              <a:t>Instructor Narration:</a:t>
            </a:r>
          </a:p>
          <a:p>
            <a:pPr>
              <a:spcAft>
                <a:spcPts val="1000"/>
              </a:spcAft>
              <a:defRPr sz="1800">
                <a:solidFill>
                  <a:srgbClr val="333333"/>
                </a:solidFill>
              </a:defRPr>
            </a:pPr>
            <a:r>
              <a:t>Ladder Frame (also called body-on-frame) is the original automotive chassis design—and still the best for heavy-duty applications.</a:t>
            </a:r>
          </a:p>
          <a:p>
            <a:pPr>
              <a:spcAft>
                <a:spcPts val="1000"/>
              </a:spcAft>
              <a:defRPr sz="1800">
                <a:solidFill>
                  <a:srgbClr val="333333"/>
                </a:solidFill>
              </a:defRPr>
            </a:pPr>
            <a:r>
              <a:t>CONCEPT: — Separate chassis frame (looks like a ladder—two parallel rails with cross members)</a:t>
            </a:r>
          </a:p>
          <a:p>
            <a:pPr>
              <a:spcAft>
                <a:spcPts val="600"/>
              </a:spcAft>
              <a:defRPr sz="1800">
                <a:solidFill>
                  <a:srgbClr val="333333"/>
                </a:solidFill>
              </a:defRPr>
            </a:pPr>
            <a:r>
              <a:t>Body mounted on top via rubber bushings (body is non-structural)</a:t>
            </a:r>
          </a:p>
          <a:p>
            <a:pPr>
              <a:spcAft>
                <a:spcPts val="600"/>
              </a:spcAft>
              <a:defRPr sz="1800">
                <a:solidFill>
                  <a:srgbClr val="333333"/>
                </a:solidFill>
              </a:defRPr>
            </a:pPr>
            <a:r>
              <a:t>All loads carried by frame, not body</a:t>
            </a:r>
          </a:p>
          <a:p>
            <a:pPr>
              <a:spcAft>
                <a:spcPts val="1000"/>
              </a:spcAft>
              <a:defRPr sz="1800">
                <a:solidFill>
                  <a:srgbClr val="333333"/>
                </a:solidFill>
              </a:defRPr>
            </a:pPr>
            <a:r>
              <a:t>CONSTRUCTION:</a:t>
            </a:r>
          </a:p>
          <a:p>
            <a:pPr>
              <a:spcAft>
                <a:spcPts val="1000"/>
              </a:spcAft>
              <a:defRPr sz="1800">
                <a:solidFill>
                  <a:srgbClr val="333333"/>
                </a:solidFill>
              </a:defRPr>
            </a:pPr>
            <a:r>
              <a:t>Frame Components:</a:t>
            </a:r>
          </a:p>
          <a:p>
            <a:pPr>
              <a:spcAft>
                <a:spcPts val="1000"/>
              </a:spcAft>
              <a:defRPr sz="1800">
                <a:solidFill>
                  <a:srgbClr val="333333"/>
                </a:solidFill>
              </a:defRPr>
            </a:pPr>
            <a:r>
              <a:t>1. Side Rails (Frame Rails) — Two parallel C-channel or box-section steel beams</a:t>
            </a:r>
          </a:p>
          <a:p>
            <a:pPr>
              <a:spcAft>
                <a:spcPts val="600"/>
              </a:spcAft>
              <a:defRPr sz="1800">
                <a:solidFill>
                  <a:srgbClr val="333333"/>
                </a:solidFill>
              </a:defRPr>
            </a:pPr>
            <a:r>
              <a:t>Run full length of vehicle (front to rear)</a:t>
            </a:r>
          </a:p>
          <a:p>
            <a:pPr>
              <a:spcAft>
                <a:spcPts val="600"/>
              </a:spcAft>
              <a:defRPr sz="1800">
                <a:solidFill>
                  <a:srgbClr val="333333"/>
                </a:solidFill>
              </a:defRPr>
            </a:pPr>
            <a:r>
              <a:t>Typical dimensions: 150-250mm tall, 80-120mm wide, 3-6mm thick</a:t>
            </a:r>
          </a:p>
          <a:p>
            <a:pPr>
              <a:spcAft>
                <a:spcPts val="600"/>
              </a:spcAft>
              <a:defRPr sz="1800">
                <a:solidFill>
                  <a:srgbClr val="333333"/>
                </a:solidFill>
              </a:defRPr>
            </a:pPr>
            <a:r>
              <a:t>Carry bending and torsional loads</a:t>
            </a:r>
          </a:p>
          <a:p>
            <a:pPr>
              <a:spcAft>
                <a:spcPts val="1000"/>
              </a:spcAft>
              <a:defRPr sz="1800">
                <a:solidFill>
                  <a:srgbClr val="333333"/>
                </a:solidFill>
              </a:defRPr>
            </a:pPr>
            <a:r>
              <a:t>2. Cross Members — Perpendicular beams connecting left and right rails</a:t>
            </a:r>
          </a:p>
          <a:p>
            <a:pPr>
              <a:spcAft>
                <a:spcPts val="600"/>
              </a:spcAft>
              <a:defRPr sz="1800">
                <a:solidFill>
                  <a:srgbClr val="333333"/>
                </a:solidFill>
              </a:defRPr>
            </a:pPr>
            <a:r>
              <a:t>Typically 5-8 cross members</a:t>
            </a:r>
          </a:p>
          <a:p>
            <a:pPr>
              <a:spcAft>
                <a:spcPts val="600"/>
              </a:spcAft>
              <a:defRPr sz="1800">
                <a:solidFill>
                  <a:srgbClr val="333333"/>
                </a:solidFill>
              </a:defRPr>
            </a:pPr>
            <a:r>
              <a:t>Locations: Front (radiator support), middle (transmission/transfer case), rear (axle mounting)</a:t>
            </a:r>
          </a:p>
          <a:p>
            <a:pPr>
              <a:spcAft>
                <a:spcPts val="600"/>
              </a:spcAft>
              <a:defRPr sz="1800">
                <a:solidFill>
                  <a:srgbClr val="333333"/>
                </a:solidFill>
              </a:defRPr>
            </a:pPr>
            <a:r>
              <a:t>Provide torsional stiffness (prevent frame twist)</a:t>
            </a:r>
          </a:p>
          <a:p>
            <a:pPr>
              <a:spcAft>
                <a:spcPts val="1000"/>
              </a:spcAft>
              <a:defRPr sz="1800">
                <a:solidFill>
                  <a:srgbClr val="333333"/>
                </a:solidFill>
              </a:defRPr>
            </a:pPr>
            <a:r>
              <a:t>3. Body Mounts — Rubber or polyurethane bushings (isolate body from frame vibration)</a:t>
            </a:r>
          </a:p>
          <a:p>
            <a:pPr>
              <a:spcAft>
                <a:spcPts val="600"/>
              </a:spcAft>
              <a:defRPr sz="1800">
                <a:solidFill>
                  <a:srgbClr val="333333"/>
                </a:solidFill>
              </a:defRPr>
            </a:pPr>
            <a:r>
              <a:t>Typically 6-12 mounting points</a:t>
            </a:r>
          </a:p>
          <a:p>
            <a:pPr>
              <a:spcAft>
                <a:spcPts val="600"/>
              </a:spcAft>
              <a:defRPr sz="1800">
                <a:solidFill>
                  <a:srgbClr val="333333"/>
                </a:solidFill>
              </a:defRPr>
            </a:pPr>
            <a:r>
              <a:t>Body bolted to frame (not welded—allows body removal)</a:t>
            </a:r>
          </a:p>
          <a:p>
            <a:pPr>
              <a:spcAft>
                <a:spcPts val="1000"/>
              </a:spcAft>
              <a:defRPr sz="1800">
                <a:solidFill>
                  <a:srgbClr val="333333"/>
                </a:solidFill>
              </a:defRPr>
            </a:pPr>
            <a:r>
              <a:t>4. Suspension Mounts — Brackets welded to frame rails</a:t>
            </a:r>
          </a:p>
          <a:p>
            <a:pPr>
              <a:spcAft>
                <a:spcPts val="600"/>
              </a:spcAft>
              <a:defRPr sz="1800">
                <a:solidFill>
                  <a:srgbClr val="333333"/>
                </a:solidFill>
              </a:defRPr>
            </a:pPr>
            <a:r>
              <a:t>Mount suspension control arms, springs, shocks</a:t>
            </a:r>
          </a:p>
          <a:p>
            <a:pPr>
              <a:spcAft>
                <a:spcPts val="1000"/>
              </a:spcAft>
              <a:defRPr sz="1800">
                <a:solidFill>
                  <a:srgbClr val="333333"/>
                </a:solidFill>
              </a:defRPr>
            </a:pPr>
            <a:r>
              <a:t>5. Powertrain Mounts — Engine and transmission mount directly to frame</a:t>
            </a:r>
          </a:p>
          <a:p>
            <a:pPr>
              <a:spcAft>
                <a:spcPts val="600"/>
              </a:spcAft>
              <a:defRPr sz="1800">
                <a:solidFill>
                  <a:srgbClr val="333333"/>
                </a:solidFill>
              </a:defRPr>
            </a:pPr>
            <a:r>
              <a:t>Heavy-duty brackets (engine produces significant torque/vibration)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p>
        </p:txBody>
      </p:sp>
      <p:sp>
        <p:nvSpPr>
          <p:cNvPr id="3" name="Content Placeholder 2"/>
          <p:cNvSpPr>
            <a:spLocks noGrp="1"/>
          </p:cNvSpPr>
          <p:nvPr>
            <p:ph idx="1"/>
          </p:nvPr>
        </p:nvSpPr>
        <p:spPr/>
        <p:txBody>
          <a:bodyPr/>
          <a:lstStyle/>
          <a:p>
            <a:pPr>
              <a:spcAft>
                <a:spcPts val="1000"/>
              </a:spcAft>
              <a:defRPr sz="1800">
                <a:solidFill>
                  <a:srgbClr val="333333"/>
                </a:solidFill>
              </a:defRPr>
            </a:pPr>
            <a:r>
              <a:t>LOAD PATHS:</a:t>
            </a:r>
          </a:p>
          <a:p>
            <a:pPr>
              <a:spcAft>
                <a:spcPts val="1000"/>
              </a:spcAft>
              <a:defRPr sz="1800">
                <a:solidFill>
                  <a:srgbClr val="333333"/>
                </a:solidFill>
              </a:defRPr>
            </a:pPr>
            <a:r>
              <a:t>Simple, Direct Loads: — Vertical load (vehicle weight + cargo) → suspension → frame → wheels</a:t>
            </a:r>
          </a:p>
          <a:p>
            <a:pPr>
              <a:spcAft>
                <a:spcPts val="600"/>
              </a:spcAft>
              <a:defRPr sz="1800">
                <a:solidFill>
                  <a:srgbClr val="333333"/>
                </a:solidFill>
              </a:defRPr>
            </a:pPr>
            <a:r>
              <a:t>Longitudinal load (acceleration, braking) → frame rails</a:t>
            </a:r>
          </a:p>
          <a:p>
            <a:pPr>
              <a:spcAft>
                <a:spcPts val="600"/>
              </a:spcAft>
              <a:defRPr sz="1800">
                <a:solidFill>
                  <a:srgbClr val="333333"/>
                </a:solidFill>
              </a:defRPr>
            </a:pPr>
            <a:r>
              <a:t>Torsional load (one wheel over bump) → cross members resist twist</a:t>
            </a:r>
          </a:p>
          <a:p>
            <a:pPr>
              <a:spcAft>
                <a:spcPts val="1000"/>
              </a:spcAft>
              <a:defRPr sz="1800">
                <a:solidFill>
                  <a:srgbClr val="333333"/>
                </a:solidFill>
              </a:defRPr>
            </a:pPr>
            <a:r>
              <a:t>Analogy: Like a bridge—two main beams (frame rails) + cross bracing (cross members)</a:t>
            </a:r>
          </a:p>
          <a:p>
            <a:pPr>
              <a:spcAft>
                <a:spcPts val="1000"/>
              </a:spcAft>
              <a:defRPr sz="1800">
                <a:solidFill>
                  <a:srgbClr val="333333"/>
                </a:solidFill>
              </a:defRPr>
            </a:pPr>
            <a:r>
              <a:t>Advantages:</a:t>
            </a:r>
          </a:p>
          <a:p>
            <a:pPr>
              <a:spcAft>
                <a:spcPts val="1000"/>
              </a:spcAft>
              <a:defRPr sz="1800">
                <a:solidFill>
                  <a:srgbClr val="333333"/>
                </a:solidFill>
              </a:defRPr>
            </a:pPr>
            <a:r>
              <a:t>✅ Very strong (can handle heavy loads: 1,000-3,000 kg payload)</a:t>
            </a:r>
          </a:p>
          <a:p>
            <a:pPr>
              <a:spcAft>
                <a:spcPts val="1000"/>
              </a:spcAft>
              <a:defRPr sz="1800">
                <a:solidFill>
                  <a:srgbClr val="333333"/>
                </a:solidFill>
              </a:defRPr>
            </a:pPr>
            <a:r>
              <a:t>✅ Durable (withstands off-road abuse, twisting, impacts)</a:t>
            </a:r>
          </a:p>
          <a:p>
            <a:pPr>
              <a:spcAft>
                <a:spcPts val="1000"/>
              </a:spcAft>
              <a:defRPr sz="1800">
                <a:solidFill>
                  <a:srgbClr val="333333"/>
                </a:solidFill>
              </a:defRPr>
            </a:pPr>
            <a:r>
              <a:t>✅ Easy to repair (body damage doesn't affect frame—replace body panel easily)</a:t>
            </a:r>
          </a:p>
          <a:p>
            <a:pPr>
              <a:spcAft>
                <a:spcPts val="1000"/>
              </a:spcAft>
              <a:defRPr sz="1800">
                <a:solidFill>
                  <a:srgbClr val="333333"/>
                </a:solidFill>
              </a:defRPr>
            </a:pPr>
            <a:r>
              <a:t>✅ Versatile (same frame can support different bodies: pickup, SUV, van)</a:t>
            </a:r>
          </a:p>
          <a:p>
            <a:pPr>
              <a:spcAft>
                <a:spcPts val="1000"/>
              </a:spcAft>
              <a:defRPr sz="1800">
                <a:solidFill>
                  <a:srgbClr val="333333"/>
                </a:solidFill>
              </a:defRPr>
            </a:pPr>
            <a:r>
              <a:t>✅ High ground clearance (frame sits above axles, allows large wheels/tires)</a:t>
            </a:r>
          </a:p>
          <a:p>
            <a:pPr>
              <a:spcAft>
                <a:spcPts val="1000"/>
              </a:spcAft>
              <a:defRPr sz="1800">
                <a:solidFill>
                  <a:srgbClr val="333333"/>
                </a:solidFill>
              </a:defRPr>
            </a:pPr>
            <a:r>
              <a:t>✅ Excellent for towing (frame distributes trailer tongue weight)</a:t>
            </a:r>
          </a:p>
          <a:p>
            <a:pPr>
              <a:spcAft>
                <a:spcPts val="1000"/>
              </a:spcAft>
              <a:defRPr sz="1800">
                <a:solidFill>
                  <a:srgbClr val="333333"/>
                </a:solidFill>
              </a:defRPr>
            </a:pPr>
            <a:r>
              <a:t>Disadvantages:</a:t>
            </a:r>
          </a:p>
          <a:p>
            <a:pPr>
              <a:spcAft>
                <a:spcPts val="1000"/>
              </a:spcAft>
              <a:defRPr sz="1800">
                <a:solidFill>
                  <a:srgbClr val="333333"/>
                </a:solidFill>
              </a:defRPr>
            </a:pPr>
            <a:r>
              <a:t>❌ Heavy (frame alone: 200-400 kg for truck)</a:t>
            </a:r>
          </a:p>
          <a:p>
            <a:pPr>
              <a:spcAft>
                <a:spcPts val="1000"/>
              </a:spcAft>
              <a:defRPr sz="1800">
                <a:solidFill>
                  <a:srgbClr val="333333"/>
                </a:solidFill>
              </a:defRPr>
            </a:pPr>
            <a:r>
              <a:t>❌ Poor fuel economy (weight penalty + aerodynamic compromises)</a:t>
            </a:r>
          </a:p>
          <a:p>
            <a:pPr>
              <a:spcAft>
                <a:spcPts val="1000"/>
              </a:spcAft>
              <a:defRPr sz="1800">
                <a:solidFill>
                  <a:srgbClr val="333333"/>
                </a:solidFill>
              </a:defRPr>
            </a:pPr>
            <a:r>
              <a:t>❌ Less safe (body-on-frame has less controlled crash energy absorption)</a:t>
            </a:r>
          </a:p>
          <a:p>
            <a:pPr>
              <a:spcAft>
                <a:spcPts val="1000"/>
              </a:spcAft>
              <a:defRPr sz="1800">
                <a:solidFill>
                  <a:srgbClr val="333333"/>
                </a:solidFill>
              </a:defRPr>
            </a:pPr>
            <a:r>
              <a:t>❌ Higher floor (frame sits between wheels and cabin—raised seating position)</a:t>
            </a:r>
          </a:p>
          <a:p>
            <a:pPr>
              <a:spcAft>
                <a:spcPts val="1000"/>
              </a:spcAft>
              <a:defRPr sz="1800">
                <a:solidFill>
                  <a:srgbClr val="333333"/>
                </a:solidFill>
              </a:defRPr>
            </a:pPr>
            <a:r>
              <a:t>❌ Less rigid (frame can flex/twist more than monocoque)</a:t>
            </a:r>
          </a:p>
          <a:p>
            <a:pPr>
              <a:spcAft>
                <a:spcPts val="1000"/>
              </a:spcAft>
              <a:defRPr sz="1800">
                <a:solidFill>
                  <a:srgbClr val="333333"/>
                </a:solidFill>
              </a:defRPr>
            </a:pPr>
            <a:r>
              <a:t>❌ NVH (Noise/Vibration/Harshness): Body and frame can vibrate/squeak relative to each other</a:t>
            </a:r>
          </a:p>
          <a:p>
            <a:pPr>
              <a:spcAft>
                <a:spcPts val="1000"/>
              </a:spcAft>
              <a:defRPr sz="1800">
                <a:solidFill>
                  <a:srgbClr val="333333"/>
                </a:solidFill>
              </a:defRPr>
            </a:pPr>
            <a:r>
              <a:t>Modern Improvements:</a:t>
            </a:r>
          </a:p>
          <a:p>
            <a:pPr>
              <a:spcAft>
                <a:spcPts val="1000"/>
              </a:spcAft>
              <a:defRPr sz="1800">
                <a:solidFill>
                  <a:srgbClr val="333333"/>
                </a:solidFill>
              </a:defRPr>
            </a:pPr>
            <a:r>
              <a:t>Hydroformed Rails: — Liquid pressure forms tubes into complex shapes</a:t>
            </a:r>
          </a:p>
          <a:p>
            <a:pPr>
              <a:spcAft>
                <a:spcPts val="600"/>
              </a:spcAft>
              <a:defRPr sz="1800">
                <a:solidFill>
                  <a:srgbClr val="333333"/>
                </a:solidFill>
              </a:defRPr>
            </a:pPr>
            <a:r>
              <a:t>Variable cross-section (thick where needed, thin where not)</a:t>
            </a:r>
          </a:p>
          <a:p>
            <a:pPr>
              <a:spcAft>
                <a:spcPts val="600"/>
              </a:spcAft>
              <a:defRPr sz="1800">
                <a:solidFill>
                  <a:srgbClr val="333333"/>
                </a:solidFill>
              </a:defRPr>
            </a:pPr>
            <a:r>
              <a:t>25-30% weight reduction vs stamped C-channel</a:t>
            </a:r>
          </a:p>
          <a:p>
            <a:pPr>
              <a:spcAft>
                <a:spcPts val="1000"/>
              </a:spcAft>
              <a:defRPr sz="1800">
                <a:solidFill>
                  <a:srgbClr val="333333"/>
                </a:solidFill>
              </a:defRPr>
            </a:pPr>
            <a:r>
              <a:t>Boxed Rails: — Fully enclosed box section (instead of open C-channel)</a:t>
            </a:r>
          </a:p>
          <a:p>
            <a:pPr>
              <a:spcAft>
                <a:spcPts val="600"/>
              </a:spcAft>
              <a:defRPr sz="1800">
                <a:solidFill>
                  <a:srgbClr val="333333"/>
                </a:solidFill>
              </a:defRPr>
            </a:pPr>
            <a:r>
              <a:t>50-60% increase in torsional rigidity</a:t>
            </a:r>
          </a:p>
          <a:p>
            <a:pPr>
              <a:spcAft>
                <a:spcPts val="1000"/>
              </a:spcAft>
              <a:defRPr sz="1800">
                <a:solidFill>
                  <a:srgbClr val="333333"/>
                </a:solidFill>
              </a:defRPr>
            </a:pPr>
            <a:r>
              <a:t>Integrated Front Structure: — Front frame extends forward with controlled crush zones</a:t>
            </a:r>
          </a:p>
          <a:p>
            <a:pPr>
              <a:spcAft>
                <a:spcPts val="600"/>
              </a:spcAft>
              <a:defRPr sz="1800">
                <a:solidFill>
                  <a:srgbClr val="333333"/>
                </a:solidFill>
              </a:defRPr>
            </a:pPr>
            <a:r>
              <a:t>Modern body-on-frame SUVs have better crash performance than 1990s designs</a:t>
            </a:r>
          </a:p>
          <a:p>
            <a:pPr>
              <a:spcAft>
                <a:spcPts val="1000"/>
              </a:spcAft>
              <a:defRPr sz="1800">
                <a:solidFill>
                  <a:srgbClr val="333333"/>
                </a:solidFill>
              </a:defRPr>
            </a:pPr>
            <a:r>
              <a:t>Used In: — Heavy-duty pickups (Ford F-250/350, Ram 2500/3500, Tata 407)</a:t>
            </a:r>
          </a:p>
          <a:p>
            <a:pPr>
              <a:spcAft>
                <a:spcPts val="600"/>
              </a:spcAft>
              <a:defRPr sz="1800">
                <a:solidFill>
                  <a:srgbClr val="333333"/>
                </a:solidFill>
              </a:defRPr>
            </a:pPr>
            <a:r>
              <a:t>Body-on-frame SUVs (Toyota Land Cruiser, Mahindra Thar, Jeep Wrangler)</a:t>
            </a:r>
          </a:p>
          <a:p>
            <a:pPr>
              <a:spcAft>
                <a:spcPts val="600"/>
              </a:spcAft>
              <a:defRPr sz="1800">
                <a:solidFill>
                  <a:srgbClr val="333333"/>
                </a:solidFill>
              </a:defRPr>
            </a:pPr>
            <a:r>
              <a:t>Commercial vehicles (buses, heavy trucks)</a:t>
            </a:r>
          </a:p>
          <a:p>
            <a:pPr>
              <a:spcAft>
                <a:spcPts val="600"/>
              </a:spcAft>
              <a:defRPr sz="1800">
                <a:solidFill>
                  <a:srgbClr val="333333"/>
                </a:solidFill>
              </a:defRPr>
            </a:pPr>
            <a:r>
              <a:t>Off-road vehicles (require chassis flex for wheel articulation)</a:t>
            </a:r>
          </a:p>
          <a:p>
            <a:pPr>
              <a:spcAft>
                <a:spcPts val="1000"/>
              </a:spcAft>
              <a:defRPr sz="1800">
                <a:solidFill>
                  <a:srgbClr val="333333"/>
                </a:solidFill>
              </a:defRPr>
            </a:pPr>
            <a:r>
              <a:t>Instructor Narration (continued):</a:t>
            </a:r>
          </a:p>
          <a:p>
            <a:pPr>
              <a:spcAft>
                <a:spcPts val="1000"/>
              </a:spcAft>
              <a:defRPr sz="1800">
                <a:solidFill>
                  <a:srgbClr val="333333"/>
                </a:solidFill>
              </a:defRPr>
            </a:pPr>
            <a:r>
              <a:t>'If you're towing a 3,500 kg trailer or driving through a boulder field, you want body-on-frame. If you're commuting 50 km/day on smooth roads, monocoque is better (lighter, more efficient, safer). Engineering is about choosing the right tool for the job.'</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Slide 10-13: Space Frame and Chassis Comparison</a:t>
            </a:r>
          </a:p>
        </p:txBody>
      </p:sp>
      <p:sp>
        <p:nvSpPr>
          <p:cNvPr id="3" name="Content Placeholder 2"/>
          <p:cNvSpPr>
            <a:spLocks noGrp="1"/>
          </p:cNvSpPr>
          <p:nvPr>
            <p:ph idx="1"/>
          </p:nvPr>
        </p:nvSpPr>
        <p:spPr/>
        <p:txBody>
          <a:bodyPr/>
          <a:lstStyle/>
          <a:p>
            <a:pPr>
              <a:spcAft>
                <a:spcPts val="1000"/>
              </a:spcAft>
              <a:defRPr sz="1800">
                <a:solidFill>
                  <a:srgbClr val="333333"/>
                </a:solidFill>
              </a:defRPr>
            </a:pPr>
            <a:r>
              <a:t>[Slides 10-13 would cover:</a:t>
            </a:r>
          </a:p>
          <a:p>
            <a:pPr>
              <a:spcAft>
                <a:spcPts val="600"/>
              </a:spcAft>
              <a:defRPr sz="1800">
                <a:solidFill>
                  <a:srgbClr val="333333"/>
                </a:solidFill>
              </a:defRPr>
            </a:pPr>
            <a:r>
              <a:t>Slide 10: Space frame construction (tubular design, exotic applications—Lotus, Audi A8)</a:t>
            </a:r>
          </a:p>
          <a:p>
            <a:pPr>
              <a:spcAft>
                <a:spcPts val="600"/>
              </a:spcAft>
              <a:defRPr sz="1800">
                <a:solidFill>
                  <a:srgbClr val="333333"/>
                </a:solidFill>
              </a:defRPr>
            </a:pPr>
            <a:r>
              <a:t>Slide 11: Comparison table (monocoque vs ladder vs space frame)</a:t>
            </a:r>
          </a:p>
          <a:p>
            <a:pPr>
              <a:spcAft>
                <a:spcPts val="600"/>
              </a:spcAft>
              <a:defRPr sz="1800">
                <a:solidFill>
                  <a:srgbClr val="333333"/>
                </a:solidFill>
              </a:defRPr>
            </a:pPr>
            <a:r>
              <a:t>Slide 12: Hybrid approaches (Jeep Wrangler, Mercedes G-Class—integrated frames)</a:t>
            </a:r>
          </a:p>
          <a:p>
            <a:pPr>
              <a:spcAft>
                <a:spcPts val="600"/>
              </a:spcAft>
              <a:defRPr sz="1800">
                <a:solidFill>
                  <a:srgbClr val="333333"/>
                </a:solidFill>
              </a:defRPr>
            </a:pPr>
            <a:r>
              <a:t>Slide 13: Transition to materials]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4472C4"/>
        </a:solidFill>
        <a:effectLst/>
      </p:bgPr>
    </p:bg>
    <p:spTree>
      <p:nvGrpSpPr>
        <p:cNvPr id="1" name=""/>
        <p:cNvGrpSpPr/>
        <p:nvPr/>
      </p:nvGrpSpPr>
      <p:grpSpPr/>
      <p:sp>
        <p:nvSpPr>
          <p:cNvPr id="2" name="Title 1"/>
          <p:cNvSpPr>
            <a:spLocks noGrp="1"/>
          </p:cNvSpPr>
          <p:nvPr>
            <p:ph type="ctrTitle"/>
          </p:nvPr>
        </p:nvSpPr>
        <p:spPr/>
        <p:txBody>
          <a:bodyPr/>
          <a:lstStyle/>
          <a:p>
            <a:pPr>
              <a:defRPr sz="4400" b="1">
                <a:solidFill>
                  <a:srgbClr val="FFFFFF"/>
                </a:solidFill>
              </a:defRPr>
            </a:pPr>
            <a:r>
              <a:t>PART 3: RISING ACTION - "Materials &amp; Manufacturing</a:t>
            </a:r>
          </a:p>
        </p:txBody>
      </p:sp>
      <p:sp>
        <p:nvSpPr>
          <p:cNvPr id="3" name="Subtitle 2"/>
          <p:cNvSpPr>
            <a:spLocks noGrp="1"/>
          </p:cNvSpPr>
          <p:nvPr>
            <p:ph type="subTitle" idx="1"/>
          </p:nvPr>
        </p:nvSpPr>
        <p:spPr/>
        <p:txBody>
          <a:bodyPr/>
          <a:lstStyle/>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Materials Selection - The Steel vs Aluminum Trade-off</a:t>
            </a:r>
          </a:p>
        </p:txBody>
      </p:sp>
      <p:sp>
        <p:nvSpPr>
          <p:cNvPr id="3" name="Content Placeholder 2"/>
          <p:cNvSpPr>
            <a:spLocks noGrp="1"/>
          </p:cNvSpPr>
          <p:nvPr>
            <p:ph idx="1"/>
          </p:nvPr>
        </p:nvSpPr>
        <p:spPr/>
        <p:txBody>
          <a:bodyPr/>
          <a:lstStyle/>
          <a:p>
            <a:pPr>
              <a:spcAft>
                <a:spcPts val="1000"/>
              </a:spcAft>
              <a:defRPr sz="1800">
                <a:solidFill>
                  <a:srgbClr val="333333"/>
                </a:solidFill>
              </a:defRPr>
            </a:pPr>
            <a:r>
              <a:t>Instructor Narration:</a:t>
            </a:r>
          </a:p>
          <a:p>
            <a:pPr>
              <a:spcAft>
                <a:spcPts val="1000"/>
              </a:spcAft>
              <a:defRPr sz="1800">
                <a:solidFill>
                  <a:srgbClr val="333333"/>
                </a:solidFill>
              </a:defRPr>
            </a:pPr>
            <a:r>
              <a:t>Chassis material choice involves fundamental engineering trade-offs.</a:t>
            </a:r>
          </a:p>
          <a:p>
            <a:pPr>
              <a:spcAft>
                <a:spcPts val="1000"/>
              </a:spcAft>
              <a:defRPr sz="1800">
                <a:solidFill>
                  <a:srgbClr val="333333"/>
                </a:solidFill>
              </a:defRPr>
            </a:pPr>
            <a:r>
              <a:t>THE CHALLENGE: — Strong materials are usually heavy</a:t>
            </a:r>
          </a:p>
          <a:p>
            <a:pPr>
              <a:spcAft>
                <a:spcPts val="600"/>
              </a:spcAft>
              <a:defRPr sz="1800">
                <a:solidFill>
                  <a:srgbClr val="333333"/>
                </a:solidFill>
              </a:defRPr>
            </a:pPr>
            <a:r>
              <a:t>Light materials are usually expensive</a:t>
            </a:r>
          </a:p>
          <a:p>
            <a:pPr>
              <a:spcAft>
                <a:spcPts val="600"/>
              </a:spcAft>
              <a:defRPr sz="1800">
                <a:solidFill>
                  <a:srgbClr val="333333"/>
                </a:solidFill>
              </a:defRPr>
            </a:pPr>
            <a:r>
              <a:t>Cheap materials are usually heavy or weak</a:t>
            </a:r>
          </a:p>
          <a:p>
            <a:pPr>
              <a:spcAft>
                <a:spcPts val="1000"/>
              </a:spcAft>
              <a:defRPr sz="1800">
                <a:solidFill>
                  <a:srgbClr val="333333"/>
                </a:solidFill>
              </a:defRPr>
            </a:pPr>
            <a:r>
              <a:t>MATERIAL OPTIONS:</a:t>
            </a:r>
          </a:p>
          <a:p>
            <a:pPr>
              <a:spcAft>
                <a:spcPts val="1000"/>
              </a:spcAft>
              <a:defRPr sz="1800">
                <a:solidFill>
                  <a:srgbClr val="333333"/>
                </a:solidFill>
              </a:defRPr>
            </a:pPr>
            <a:r>
              <a:t>1. MILD STEEL (Low-Carbon Steel)</a:t>
            </a:r>
          </a:p>
          <a:p>
            <a:pPr>
              <a:spcAft>
                <a:spcPts val="1000"/>
              </a:spcAft>
              <a:defRPr sz="1800">
                <a:solidFill>
                  <a:srgbClr val="333333"/>
                </a:solidFill>
              </a:defRPr>
            </a:pPr>
            <a:r>
              <a:t>Properties: — Yield strength: 200-250 MPa</a:t>
            </a:r>
          </a:p>
          <a:p>
            <a:pPr>
              <a:spcAft>
                <a:spcPts val="600"/>
              </a:spcAft>
              <a:defRPr sz="1800">
                <a:solidFill>
                  <a:srgbClr val="333333"/>
                </a:solidFill>
              </a:defRPr>
            </a:pPr>
            <a:r>
              <a:t>Density: 7,850 kg/m³</a:t>
            </a:r>
          </a:p>
          <a:p>
            <a:pPr>
              <a:spcAft>
                <a:spcPts val="600"/>
              </a:spcAft>
              <a:defRPr sz="1800">
                <a:solidFill>
                  <a:srgbClr val="333333"/>
                </a:solidFill>
              </a:defRPr>
            </a:pPr>
            <a:r>
              <a:t>Cost: ₹50-60/kg ($0.60-0.70/kg)</a:t>
            </a:r>
          </a:p>
          <a:p>
            <a:pPr>
              <a:spcAft>
                <a:spcPts val="1000"/>
              </a:spcAft>
              <a:defRPr sz="1800">
                <a:solidFill>
                  <a:srgbClr val="333333"/>
                </a:solidFill>
              </a:defRPr>
            </a:pPr>
            <a:r>
              <a:t>Advantages:</a:t>
            </a:r>
          </a:p>
          <a:p>
            <a:pPr>
              <a:spcAft>
                <a:spcPts val="1000"/>
              </a:spcAft>
              <a:defRPr sz="1800">
                <a:solidFill>
                  <a:srgbClr val="333333"/>
                </a:solidFill>
              </a:defRPr>
            </a:pPr>
            <a:r>
              <a:t>✅ Very cheap (lowest cost structural material)</a:t>
            </a:r>
          </a:p>
          <a:p>
            <a:pPr>
              <a:spcAft>
                <a:spcPts val="1000"/>
              </a:spcAft>
              <a:defRPr sz="1800">
                <a:solidFill>
                  <a:srgbClr val="333333"/>
                </a:solidFill>
              </a:defRPr>
            </a:pPr>
            <a:r>
              <a:t>✅ Easy to form (stamping, bending, welding)</a:t>
            </a:r>
          </a:p>
          <a:p>
            <a:pPr>
              <a:spcAft>
                <a:spcPts val="1000"/>
              </a:spcAft>
              <a:defRPr sz="1800">
                <a:solidFill>
                  <a:srgbClr val="333333"/>
                </a:solidFill>
              </a:defRPr>
            </a:pPr>
            <a:r>
              <a:t>✅ Good weldability (spot welding, arc welding)</a:t>
            </a:r>
          </a:p>
          <a:p>
            <a:pPr>
              <a:spcAft>
                <a:spcPts val="1000"/>
              </a:spcAft>
              <a:defRPr sz="1800">
                <a:solidFill>
                  <a:srgbClr val="333333"/>
                </a:solidFill>
              </a:defRPr>
            </a:pPr>
            <a:r>
              <a:t>✅ Crash energy absorption (plastic deformation in controlled crush zones)</a:t>
            </a:r>
          </a:p>
          <a:p>
            <a:pPr>
              <a:spcAft>
                <a:spcPts val="1000"/>
              </a:spcAft>
              <a:defRPr sz="1800">
                <a:solidFill>
                  <a:srgbClr val="333333"/>
                </a:solidFill>
              </a:defRPr>
            </a:pPr>
            <a:r>
              <a:t>Disadvantages:</a:t>
            </a:r>
          </a:p>
          <a:p>
            <a:pPr>
              <a:spcAft>
                <a:spcPts val="1000"/>
              </a:spcAft>
              <a:defRPr sz="1800">
                <a:solidFill>
                  <a:srgbClr val="333333"/>
                </a:solidFill>
              </a:defRPr>
            </a:pPr>
            <a:r>
              <a:t>❌ Heavy (high density)</a:t>
            </a:r>
          </a:p>
          <a:p>
            <a:pPr>
              <a:spcAft>
                <a:spcPts val="1000"/>
              </a:spcAft>
              <a:defRPr sz="1800">
                <a:solidFill>
                  <a:srgbClr val="333333"/>
                </a:solidFill>
              </a:defRPr>
            </a:pPr>
            <a:r>
              <a:t>❌ Low strength (thick sections required)</a:t>
            </a:r>
          </a:p>
          <a:p>
            <a:pPr>
              <a:spcAft>
                <a:spcPts val="1000"/>
              </a:spcAft>
              <a:defRPr sz="1800">
                <a:solidFill>
                  <a:srgbClr val="333333"/>
                </a:solidFill>
              </a:defRPr>
            </a:pPr>
            <a:r>
              <a:t>❌ Corrosion (rusts without protection)</a:t>
            </a:r>
          </a:p>
          <a:p>
            <a:pPr>
              <a:spcAft>
                <a:spcPts val="1000"/>
              </a:spcAft>
              <a:defRPr sz="1800">
                <a:solidFill>
                  <a:srgbClr val="333333"/>
                </a:solidFill>
              </a:defRPr>
            </a:pPr>
            <a:r>
              <a:t>Used in: Non-structural body panels, inner structures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p>
        </p:txBody>
      </p:sp>
      <p:sp>
        <p:nvSpPr>
          <p:cNvPr id="3" name="Content Placeholder 2"/>
          <p:cNvSpPr>
            <a:spLocks noGrp="1"/>
          </p:cNvSpPr>
          <p:nvPr>
            <p:ph idx="1"/>
          </p:nvPr>
        </p:nvSpPr>
        <p:spPr/>
        <p:txBody>
          <a:bodyPr/>
          <a:lstStyle/>
          <a:p>
            <a:pPr>
              <a:spcAft>
                <a:spcPts val="1000"/>
              </a:spcAft>
              <a:defRPr sz="1800">
                <a:solidFill>
                  <a:srgbClr val="333333"/>
                </a:solidFill>
              </a:defRPr>
            </a:pPr>
            <a:r>
              <a:t>2. HIGH-STRENGTH STEEL (HSS)</a:t>
            </a:r>
          </a:p>
          <a:p>
            <a:pPr>
              <a:spcAft>
                <a:spcPts val="1000"/>
              </a:spcAft>
              <a:defRPr sz="1800">
                <a:solidFill>
                  <a:srgbClr val="333333"/>
                </a:solidFill>
              </a:defRPr>
            </a:pPr>
            <a:r>
              <a:t>Properties: — Yield strength: 300-550 MPa (2-3× mild steel)</a:t>
            </a:r>
          </a:p>
          <a:p>
            <a:pPr>
              <a:spcAft>
                <a:spcPts val="600"/>
              </a:spcAft>
              <a:defRPr sz="1800">
                <a:solidFill>
                  <a:srgbClr val="333333"/>
                </a:solidFill>
              </a:defRPr>
            </a:pPr>
            <a:r>
              <a:t>Density: 7,850 kg/m³ (same as mild steel)</a:t>
            </a:r>
          </a:p>
          <a:p>
            <a:pPr>
              <a:spcAft>
                <a:spcPts val="600"/>
              </a:spcAft>
              <a:defRPr sz="1800">
                <a:solidFill>
                  <a:srgbClr val="333333"/>
                </a:solidFill>
              </a:defRPr>
            </a:pPr>
            <a:r>
              <a:t>Cost: ₹60-80/kg (slightly more expensive)</a:t>
            </a:r>
          </a:p>
          <a:p>
            <a:pPr>
              <a:spcAft>
                <a:spcPts val="1000"/>
              </a:spcAft>
              <a:defRPr sz="1800">
                <a:solidFill>
                  <a:srgbClr val="333333"/>
                </a:solidFill>
              </a:defRPr>
            </a:pPr>
            <a:r>
              <a:t>Advantages:</a:t>
            </a:r>
          </a:p>
          <a:p>
            <a:pPr>
              <a:spcAft>
                <a:spcPts val="1000"/>
              </a:spcAft>
              <a:defRPr sz="1800">
                <a:solidFill>
                  <a:srgbClr val="333333"/>
                </a:solidFill>
              </a:defRPr>
            </a:pPr>
            <a:r>
              <a:t>✅ 2-3× stronger than mild steel</a:t>
            </a:r>
          </a:p>
          <a:p>
            <a:pPr>
              <a:spcAft>
                <a:spcPts val="1000"/>
              </a:spcAft>
              <a:defRPr sz="1800">
                <a:solidFill>
                  <a:srgbClr val="333333"/>
                </a:solidFill>
              </a:defRPr>
            </a:pPr>
            <a:r>
              <a:t>✅ Thinner sections (same strength, less weight)</a:t>
            </a:r>
          </a:p>
          <a:p>
            <a:pPr>
              <a:spcAft>
                <a:spcPts val="1000"/>
              </a:spcAft>
              <a:defRPr sz="1800">
                <a:solidFill>
                  <a:srgbClr val="333333"/>
                </a:solidFill>
              </a:defRPr>
            </a:pPr>
            <a:r>
              <a:t>✅ Same density as mild steel (no density penalty)</a:t>
            </a:r>
          </a:p>
          <a:p>
            <a:pPr>
              <a:spcAft>
                <a:spcPts val="1000"/>
              </a:spcAft>
              <a:defRPr sz="1800">
                <a:solidFill>
                  <a:srgbClr val="333333"/>
                </a:solidFill>
              </a:defRPr>
            </a:pPr>
            <a:r>
              <a:t>✅ Good weldability (similar to mild steel)</a:t>
            </a:r>
          </a:p>
          <a:p>
            <a:pPr>
              <a:spcAft>
                <a:spcPts val="1000"/>
              </a:spcAft>
              <a:defRPr sz="1800">
                <a:solidFill>
                  <a:srgbClr val="333333"/>
                </a:solidFill>
              </a:defRPr>
            </a:pPr>
            <a:r>
              <a:t>Disadvantages:</a:t>
            </a:r>
          </a:p>
          <a:p>
            <a:pPr>
              <a:spcAft>
                <a:spcPts val="1000"/>
              </a:spcAft>
              <a:defRPr sz="1800">
                <a:solidFill>
                  <a:srgbClr val="333333"/>
                </a:solidFill>
              </a:defRPr>
            </a:pPr>
            <a:r>
              <a:t>❌ Less formable (harder to stamp complex shapes)</a:t>
            </a:r>
          </a:p>
          <a:p>
            <a:pPr>
              <a:spcAft>
                <a:spcPts val="1000"/>
              </a:spcAft>
              <a:defRPr sz="1800">
                <a:solidFill>
                  <a:srgbClr val="333333"/>
                </a:solidFill>
              </a:defRPr>
            </a:pPr>
            <a:r>
              <a:t>❌ Springback (wants to return to original shape after forming)</a:t>
            </a:r>
          </a:p>
          <a:p>
            <a:pPr>
              <a:spcAft>
                <a:spcPts val="1000"/>
              </a:spcAft>
              <a:defRPr sz="1800">
                <a:solidFill>
                  <a:srgbClr val="333333"/>
                </a:solidFill>
              </a:defRPr>
            </a:pPr>
            <a:r>
              <a:t>Used in: B-pillars, rocker panels, door intrusion beams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p>
        </p:txBody>
      </p:sp>
      <p:sp>
        <p:nvSpPr>
          <p:cNvPr id="3" name="Content Placeholder 2"/>
          <p:cNvSpPr>
            <a:spLocks noGrp="1"/>
          </p:cNvSpPr>
          <p:nvPr>
            <p:ph idx="1"/>
          </p:nvPr>
        </p:nvSpPr>
        <p:spPr/>
        <p:txBody>
          <a:bodyPr/>
          <a:lstStyle/>
          <a:p>
            <a:pPr>
              <a:spcAft>
                <a:spcPts val="1000"/>
              </a:spcAft>
              <a:defRPr sz="1800">
                <a:solidFill>
                  <a:srgbClr val="333333"/>
                </a:solidFill>
              </a:defRPr>
            </a:pPr>
            <a:r>
              <a:t>3. ULTRA-HIGH-STRENGTH STEEL (UHSS) &amp; ADVANCED HIGH-STRENGTH STEEL (AHSS)</a:t>
            </a:r>
          </a:p>
          <a:p>
            <a:pPr>
              <a:spcAft>
                <a:spcPts val="1000"/>
              </a:spcAft>
              <a:defRPr sz="1800">
                <a:solidFill>
                  <a:srgbClr val="333333"/>
                </a:solidFill>
              </a:defRPr>
            </a:pPr>
            <a:r>
              <a:t>Types: — Dual-Phase (DP) Steel</a:t>
            </a:r>
          </a:p>
          <a:p>
            <a:pPr>
              <a:spcAft>
                <a:spcPts val="600"/>
              </a:spcAft>
              <a:defRPr sz="1800">
                <a:solidFill>
                  <a:srgbClr val="333333"/>
                </a:solidFill>
              </a:defRPr>
            </a:pPr>
            <a:r>
              <a:t>TRIP (Transformation-Induced Plasticity) Steel</a:t>
            </a:r>
          </a:p>
          <a:p>
            <a:pPr>
              <a:spcAft>
                <a:spcPts val="600"/>
              </a:spcAft>
              <a:defRPr sz="1800">
                <a:solidFill>
                  <a:srgbClr val="333333"/>
                </a:solidFill>
              </a:defRPr>
            </a:pPr>
            <a:r>
              <a:t>Martensitic Steel</a:t>
            </a:r>
          </a:p>
          <a:p>
            <a:pPr>
              <a:spcAft>
                <a:spcPts val="600"/>
              </a:spcAft>
              <a:defRPr sz="1800">
                <a:solidFill>
                  <a:srgbClr val="333333"/>
                </a:solidFill>
              </a:defRPr>
            </a:pPr>
            <a:r>
              <a:t>Boron Steel (press-hardened)</a:t>
            </a:r>
          </a:p>
          <a:p>
            <a:pPr>
              <a:spcAft>
                <a:spcPts val="1000"/>
              </a:spcAft>
              <a:defRPr sz="1800">
                <a:solidFill>
                  <a:srgbClr val="333333"/>
                </a:solidFill>
              </a:defRPr>
            </a:pPr>
            <a:r>
              <a:t>Properties: — Yield strength: 600-1,500 MPa (up to 7× mild steel!)</a:t>
            </a:r>
          </a:p>
          <a:p>
            <a:pPr>
              <a:spcAft>
                <a:spcPts val="600"/>
              </a:spcAft>
              <a:defRPr sz="1800">
                <a:solidFill>
                  <a:srgbClr val="333333"/>
                </a:solidFill>
              </a:defRPr>
            </a:pPr>
            <a:r>
              <a:t>Density: 7,850 kg/m³</a:t>
            </a:r>
          </a:p>
          <a:p>
            <a:pPr>
              <a:spcAft>
                <a:spcPts val="600"/>
              </a:spcAft>
              <a:defRPr sz="1800">
                <a:solidFill>
                  <a:srgbClr val="333333"/>
                </a:solidFill>
              </a:defRPr>
            </a:pPr>
            <a:r>
              <a:t>Cost: ₹100-200/kg</a:t>
            </a:r>
          </a:p>
          <a:p>
            <a:pPr>
              <a:spcAft>
                <a:spcPts val="1000"/>
              </a:spcAft>
              <a:defRPr sz="1800">
                <a:solidFill>
                  <a:srgbClr val="333333"/>
                </a:solidFill>
              </a:defRPr>
            </a:pPr>
            <a:r>
              <a:t>Boron Steel (Press-Hardened Steel - PHS): — Process: Heat to 900°C, stamp while hot, quench in die (rapid cooling)</a:t>
            </a:r>
          </a:p>
          <a:p>
            <a:pPr>
              <a:spcAft>
                <a:spcPts val="600"/>
              </a:spcAft>
              <a:defRPr sz="1800">
                <a:solidFill>
                  <a:srgbClr val="333333"/>
                </a:solidFill>
              </a:defRPr>
            </a:pPr>
            <a:r>
              <a:t>Result: Martensite structure (extremely hard: 1,300-1,500 MPa)</a:t>
            </a:r>
          </a:p>
          <a:p>
            <a:pPr>
              <a:spcAft>
                <a:spcPts val="600"/>
              </a:spcAft>
              <a:defRPr sz="1800">
                <a:solidFill>
                  <a:srgbClr val="333333"/>
                </a:solidFill>
              </a:defRPr>
            </a:pPr>
            <a:r>
              <a:t>Advantage: Can create very thin, very strong parts</a:t>
            </a:r>
          </a:p>
          <a:p>
            <a:pPr>
              <a:spcAft>
                <a:spcPts val="1000"/>
              </a:spcAft>
              <a:defRPr sz="1800">
                <a:solidFill>
                  <a:srgbClr val="333333"/>
                </a:solidFill>
              </a:defRPr>
            </a:pPr>
            <a:r>
              <a:t>Advantages:</a:t>
            </a:r>
          </a:p>
          <a:p>
            <a:pPr>
              <a:spcAft>
                <a:spcPts val="1000"/>
              </a:spcAft>
              <a:defRPr sz="1800">
                <a:solidFill>
                  <a:srgbClr val="333333"/>
                </a:solidFill>
              </a:defRPr>
            </a:pPr>
            <a:r>
              <a:t>✅ Extremely strong (thin sections with high strength)</a:t>
            </a:r>
          </a:p>
          <a:p>
            <a:pPr>
              <a:spcAft>
                <a:spcPts val="1000"/>
              </a:spcAft>
              <a:defRPr sz="1800">
                <a:solidFill>
                  <a:srgbClr val="333333"/>
                </a:solidFill>
              </a:defRPr>
            </a:pPr>
            <a:r>
              <a:t>✅ Weight savings (30-40% vs mild steel for same strength)</a:t>
            </a:r>
          </a:p>
          <a:p>
            <a:pPr>
              <a:spcAft>
                <a:spcPts val="1000"/>
              </a:spcAft>
              <a:defRPr sz="1800">
                <a:solidFill>
                  <a:srgbClr val="333333"/>
                </a:solidFill>
              </a:defRPr>
            </a:pPr>
            <a:r>
              <a:t>✅ Excellent crash performance (controlled deformation)</a:t>
            </a:r>
          </a:p>
          <a:p>
            <a:pPr>
              <a:spcAft>
                <a:spcPts val="1000"/>
              </a:spcAft>
              <a:defRPr sz="1800">
                <a:solidFill>
                  <a:srgbClr val="333333"/>
                </a:solidFill>
              </a:defRPr>
            </a:pPr>
            <a:r>
              <a:t>Disadvantages:</a:t>
            </a:r>
          </a:p>
          <a:p>
            <a:pPr>
              <a:spcAft>
                <a:spcPts val="1000"/>
              </a:spcAft>
              <a:defRPr sz="1800">
                <a:solidFill>
                  <a:srgbClr val="333333"/>
                </a:solidFill>
              </a:defRPr>
            </a:pPr>
            <a:r>
              <a:t>❌ Expensive (special processing, limited formability)</a:t>
            </a:r>
          </a:p>
          <a:p>
            <a:pPr>
              <a:spcAft>
                <a:spcPts val="1000"/>
              </a:spcAft>
              <a:defRPr sz="1800">
                <a:solidFill>
                  <a:srgbClr val="333333"/>
                </a:solidFill>
              </a:defRPr>
            </a:pPr>
            <a:r>
              <a:t>❌ Difficult to weld (special techniques required)</a:t>
            </a:r>
          </a:p>
          <a:p>
            <a:pPr>
              <a:spcAft>
                <a:spcPts val="1000"/>
              </a:spcAft>
              <a:defRPr sz="1800">
                <a:solidFill>
                  <a:srgbClr val="333333"/>
                </a:solidFill>
              </a:defRPr>
            </a:pPr>
            <a:r>
              <a:t>❌ Requires special tooling (press-hardening furnaces)</a:t>
            </a:r>
          </a:p>
          <a:p>
            <a:pPr>
              <a:spcAft>
                <a:spcPts val="1000"/>
              </a:spcAft>
              <a:defRPr sz="1800">
                <a:solidFill>
                  <a:srgbClr val="333333"/>
                </a:solidFill>
              </a:defRPr>
            </a:pPr>
            <a:r>
              <a:t>Used in: A-pillars, B-pillars, roof rails, door intrusion beams (safety cage)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p>
        </p:txBody>
      </p:sp>
      <p:sp>
        <p:nvSpPr>
          <p:cNvPr id="3" name="Content Placeholder 2"/>
          <p:cNvSpPr>
            <a:spLocks noGrp="1"/>
          </p:cNvSpPr>
          <p:nvPr>
            <p:ph idx="1"/>
          </p:nvPr>
        </p:nvSpPr>
        <p:spPr/>
        <p:txBody>
          <a:bodyPr/>
          <a:lstStyle/>
          <a:p>
            <a:pPr>
              <a:spcAft>
                <a:spcPts val="1000"/>
              </a:spcAft>
              <a:defRPr sz="1800">
                <a:solidFill>
                  <a:srgbClr val="333333"/>
                </a:solidFill>
              </a:defRPr>
            </a:pPr>
            <a:r>
              <a:t>4. ALUMINUM ALLOYS</a:t>
            </a:r>
          </a:p>
          <a:p>
            <a:pPr>
              <a:spcAft>
                <a:spcPts val="1000"/>
              </a:spcAft>
              <a:defRPr sz="1800">
                <a:solidFill>
                  <a:srgbClr val="333333"/>
                </a:solidFill>
              </a:defRPr>
            </a:pPr>
            <a:r>
              <a:t>Common Alloys: — 5000-series (Al-Mg): Good formability, corrosion resistance</a:t>
            </a:r>
          </a:p>
          <a:p>
            <a:pPr>
              <a:spcAft>
                <a:spcPts val="600"/>
              </a:spcAft>
              <a:defRPr sz="1800">
                <a:solidFill>
                  <a:srgbClr val="333333"/>
                </a:solidFill>
              </a:defRPr>
            </a:pPr>
            <a:r>
              <a:t>6000-series (Al-Mg-Si): Heat-treatable, moderate strength</a:t>
            </a:r>
          </a:p>
          <a:p>
            <a:pPr>
              <a:spcAft>
                <a:spcPts val="1000"/>
              </a:spcAft>
              <a:defRPr sz="1800">
                <a:solidFill>
                  <a:srgbClr val="333333"/>
                </a:solidFill>
              </a:defRPr>
            </a:pPr>
            <a:r>
              <a:t>Properties: — Yield strength: 100-300 MPa (varies by alloy and heat treatment)</a:t>
            </a:r>
          </a:p>
          <a:p>
            <a:pPr>
              <a:spcAft>
                <a:spcPts val="600"/>
              </a:spcAft>
              <a:defRPr sz="1800">
                <a:solidFill>
                  <a:srgbClr val="333333"/>
                </a:solidFill>
              </a:defRPr>
            </a:pPr>
            <a:r>
              <a:t>Density: 2,700 kg/m³ (65% lighter than steel!)</a:t>
            </a:r>
          </a:p>
          <a:p>
            <a:pPr>
              <a:spcAft>
                <a:spcPts val="600"/>
              </a:spcAft>
              <a:defRPr sz="1800">
                <a:solidFill>
                  <a:srgbClr val="333333"/>
                </a:solidFill>
              </a:defRPr>
            </a:pPr>
            <a:r>
              <a:t>Cost: ₹200-300/kg (3-5× steel)</a:t>
            </a:r>
          </a:p>
          <a:p>
            <a:pPr>
              <a:spcAft>
                <a:spcPts val="1000"/>
              </a:spcAft>
              <a:defRPr sz="1800">
                <a:solidFill>
                  <a:srgbClr val="333333"/>
                </a:solidFill>
              </a:defRPr>
            </a:pPr>
            <a:r>
              <a:t>Advantages:</a:t>
            </a:r>
          </a:p>
          <a:p>
            <a:pPr>
              <a:spcAft>
                <a:spcPts val="1000"/>
              </a:spcAft>
              <a:defRPr sz="1800">
                <a:solidFill>
                  <a:srgbClr val="333333"/>
                </a:solidFill>
              </a:defRPr>
            </a:pPr>
            <a:r>
              <a:t>✅ Lightweight (2/3 lighter than steel—major fuel economy benefit)</a:t>
            </a:r>
          </a:p>
          <a:p>
            <a:pPr>
              <a:spcAft>
                <a:spcPts val="1000"/>
              </a:spcAft>
              <a:defRPr sz="1800">
                <a:solidFill>
                  <a:srgbClr val="333333"/>
                </a:solidFill>
              </a:defRPr>
            </a:pPr>
            <a:r>
              <a:t>✅ Corrosion resistant (natural oxide layer)</a:t>
            </a:r>
          </a:p>
          <a:p>
            <a:pPr>
              <a:spcAft>
                <a:spcPts val="1000"/>
              </a:spcAft>
              <a:defRPr sz="1800">
                <a:solidFill>
                  <a:srgbClr val="333333"/>
                </a:solidFill>
              </a:defRPr>
            </a:pPr>
            <a:r>
              <a:t>✅ Recyclable (90% energy savings vs virgin aluminum)</a:t>
            </a:r>
          </a:p>
          <a:p>
            <a:pPr>
              <a:spcAft>
                <a:spcPts val="1000"/>
              </a:spcAft>
              <a:defRPr sz="1800">
                <a:solidFill>
                  <a:srgbClr val="333333"/>
                </a:solidFill>
              </a:defRPr>
            </a:pPr>
            <a:r>
              <a:t>Disadvantages:</a:t>
            </a:r>
          </a:p>
          <a:p>
            <a:pPr>
              <a:spcAft>
                <a:spcPts val="1000"/>
              </a:spcAft>
              <a:defRPr sz="1800">
                <a:solidFill>
                  <a:srgbClr val="333333"/>
                </a:solidFill>
              </a:defRPr>
            </a:pPr>
            <a:r>
              <a:t>❌ Expensive (3-5× cost of steel)</a:t>
            </a:r>
          </a:p>
          <a:p>
            <a:pPr>
              <a:spcAft>
                <a:spcPts val="1000"/>
              </a:spcAft>
              <a:defRPr sz="1800">
                <a:solidFill>
                  <a:srgbClr val="333333"/>
                </a:solidFill>
              </a:defRPr>
            </a:pPr>
            <a:r>
              <a:t>❌ Lower strength (for same thickness—must use thicker sections)</a:t>
            </a:r>
          </a:p>
          <a:p>
            <a:pPr>
              <a:spcAft>
                <a:spcPts val="1000"/>
              </a:spcAft>
              <a:defRPr sz="1800">
                <a:solidFill>
                  <a:srgbClr val="333333"/>
                </a:solidFill>
              </a:defRPr>
            </a:pPr>
            <a:r>
              <a:t>❌ Difficult welding (requires specialized techniques: MIG, TIG, rivet bonding)</a:t>
            </a:r>
          </a:p>
          <a:p>
            <a:pPr>
              <a:spcAft>
                <a:spcPts val="1000"/>
              </a:spcAft>
              <a:defRPr sz="1800">
                <a:solidFill>
                  <a:srgbClr val="333333"/>
                </a:solidFill>
              </a:defRPr>
            </a:pPr>
            <a:r>
              <a:t>❌ Expensive tooling (softer material, different forming processes)</a:t>
            </a:r>
          </a:p>
          <a:p>
            <a:pPr>
              <a:spcAft>
                <a:spcPts val="1000"/>
              </a:spcAft>
              <a:defRPr sz="1800">
                <a:solidFill>
                  <a:srgbClr val="333333"/>
                </a:solidFill>
              </a:defRPr>
            </a:pPr>
            <a:r>
              <a:t>Weight Comparison: — Steel body: 300 kg</a:t>
            </a:r>
          </a:p>
          <a:p>
            <a:pPr>
              <a:spcAft>
                <a:spcPts val="600"/>
              </a:spcAft>
              <a:defRPr sz="1800">
                <a:solidFill>
                  <a:srgbClr val="333333"/>
                </a:solidFill>
              </a:defRPr>
            </a:pPr>
            <a:r>
              <a:t>Aluminum body: 200 kg (33% weight savings)</a:t>
            </a:r>
          </a:p>
          <a:p>
            <a:pPr>
              <a:spcAft>
                <a:spcPts val="600"/>
              </a:spcAft>
              <a:defRPr sz="1800">
                <a:solidFill>
                  <a:srgbClr val="333333"/>
                </a:solidFill>
              </a:defRPr>
            </a:pPr>
            <a:r>
              <a:t>Fuel economy benefit: ~5-10% improvement</a:t>
            </a:r>
          </a:p>
          <a:p>
            <a:pPr>
              <a:spcAft>
                <a:spcPts val="1000"/>
              </a:spcAft>
              <a:defRPr sz="1800">
                <a:solidFill>
                  <a:srgbClr val="333333"/>
                </a:solidFill>
              </a:defRPr>
            </a:pPr>
            <a:r>
              <a:t>Cost Impact: — Aluminum body adds ₹50,000-100,000 to vehicle cost</a:t>
            </a:r>
          </a:p>
          <a:p>
            <a:pPr>
              <a:spcAft>
                <a:spcPts val="600"/>
              </a:spcAft>
              <a:defRPr sz="1800">
                <a:solidFill>
                  <a:srgbClr val="333333"/>
                </a:solidFill>
              </a:defRPr>
            </a:pPr>
            <a:r>
              <a:t>Premium/luxury brands absorb this (Audi A8, Jaguar XE, Ford F-150 aluminum body)</a:t>
            </a:r>
          </a:p>
          <a:p>
            <a:pPr>
              <a:spcAft>
                <a:spcPts val="1000"/>
              </a:spcAft>
              <a:defRPr sz="1800">
                <a:solidFill>
                  <a:srgbClr val="333333"/>
                </a:solidFill>
              </a:defRPr>
            </a:pPr>
            <a:r>
              <a:t>Used in: Hood, trunk lid, doors (outer panels); complete bodies (luxury vehicles)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p>
        </p:txBody>
      </p:sp>
      <p:sp>
        <p:nvSpPr>
          <p:cNvPr id="3" name="Content Placeholder 2"/>
          <p:cNvSpPr>
            <a:spLocks noGrp="1"/>
          </p:cNvSpPr>
          <p:nvPr>
            <p:ph idx="1"/>
          </p:nvPr>
        </p:nvSpPr>
        <p:spPr/>
        <p:txBody>
          <a:bodyPr/>
          <a:lstStyle/>
          <a:p>
            <a:pPr>
              <a:spcAft>
                <a:spcPts val="1000"/>
              </a:spcAft>
              <a:defRPr sz="1800">
                <a:solidFill>
                  <a:srgbClr val="333333"/>
                </a:solidFill>
              </a:defRPr>
            </a:pPr>
            <a:r>
              <a:t>5. COMPOSITES (Carbon Fiber, Fiberglass)</a:t>
            </a:r>
          </a:p>
          <a:p>
            <a:pPr>
              <a:spcAft>
                <a:spcPts val="1000"/>
              </a:spcAft>
              <a:defRPr sz="1800">
                <a:solidFill>
                  <a:srgbClr val="333333"/>
                </a:solidFill>
              </a:defRPr>
            </a:pPr>
            <a:r>
              <a:t>Carbon Fiber Reinforced Polymer (CFRP): — Strength: 600-1,000 MPa (in fiber direction)</a:t>
            </a:r>
          </a:p>
          <a:p>
            <a:pPr>
              <a:spcAft>
                <a:spcPts val="600"/>
              </a:spcAft>
              <a:defRPr sz="1800">
                <a:solidFill>
                  <a:srgbClr val="333333"/>
                </a:solidFill>
              </a:defRPr>
            </a:pPr>
            <a:r>
              <a:t>Density: 1,600 kg/m³ (50% of aluminum, 20% of steel!)</a:t>
            </a:r>
          </a:p>
          <a:p>
            <a:pPr>
              <a:spcAft>
                <a:spcPts val="600"/>
              </a:spcAft>
              <a:defRPr sz="1800">
                <a:solidFill>
                  <a:srgbClr val="333333"/>
                </a:solidFill>
              </a:defRPr>
            </a:pPr>
            <a:r>
              <a:t>Cost: ₹2,000-5,000/kg (insanely expensive!)</a:t>
            </a:r>
          </a:p>
          <a:p>
            <a:pPr>
              <a:spcAft>
                <a:spcPts val="1000"/>
              </a:spcAft>
              <a:defRPr sz="1800">
                <a:solidFill>
                  <a:srgbClr val="333333"/>
                </a:solidFill>
              </a:defRPr>
            </a:pPr>
            <a:r>
              <a:t>Advantages:</a:t>
            </a:r>
          </a:p>
          <a:p>
            <a:pPr>
              <a:spcAft>
                <a:spcPts val="1000"/>
              </a:spcAft>
              <a:defRPr sz="1800">
                <a:solidFill>
                  <a:srgbClr val="333333"/>
                </a:solidFill>
              </a:defRPr>
            </a:pPr>
            <a:r>
              <a:t>✅ Extremely light (lightest structural material)</a:t>
            </a:r>
          </a:p>
          <a:p>
            <a:pPr>
              <a:spcAft>
                <a:spcPts val="1000"/>
              </a:spcAft>
              <a:defRPr sz="1800">
                <a:solidFill>
                  <a:srgbClr val="333333"/>
                </a:solidFill>
              </a:defRPr>
            </a:pPr>
            <a:r>
              <a:t>✅ Very strong (in fiber direction)</a:t>
            </a:r>
          </a:p>
          <a:p>
            <a:pPr>
              <a:spcAft>
                <a:spcPts val="1000"/>
              </a:spcAft>
              <a:defRPr sz="1800">
                <a:solidFill>
                  <a:srgbClr val="333333"/>
                </a:solidFill>
              </a:defRPr>
            </a:pPr>
            <a:r>
              <a:t>✅ Corrosion-proof (polymer matrix)</a:t>
            </a:r>
          </a:p>
          <a:p>
            <a:pPr>
              <a:spcAft>
                <a:spcPts val="1000"/>
              </a:spcAft>
              <a:defRPr sz="1800">
                <a:solidFill>
                  <a:srgbClr val="333333"/>
                </a:solidFill>
              </a:defRPr>
            </a:pPr>
            <a:r>
              <a:t>Disadvantages:</a:t>
            </a:r>
          </a:p>
          <a:p>
            <a:pPr>
              <a:spcAft>
                <a:spcPts val="1000"/>
              </a:spcAft>
              <a:defRPr sz="1800">
                <a:solidFill>
                  <a:srgbClr val="333333"/>
                </a:solidFill>
              </a:defRPr>
            </a:pPr>
            <a:r>
              <a:t>❌ Prohibitively expensive (50-100× steel cost)</a:t>
            </a:r>
          </a:p>
          <a:p>
            <a:pPr>
              <a:spcAft>
                <a:spcPts val="1000"/>
              </a:spcAft>
              <a:defRPr sz="1800">
                <a:solidFill>
                  <a:srgbClr val="333333"/>
                </a:solidFill>
              </a:defRPr>
            </a:pPr>
            <a:r>
              <a:t>❌ Labor-intensive (hand layup, autoclave curing)</a:t>
            </a:r>
          </a:p>
          <a:p>
            <a:pPr>
              <a:spcAft>
                <a:spcPts val="1000"/>
              </a:spcAft>
              <a:defRPr sz="1800">
                <a:solidFill>
                  <a:srgbClr val="333333"/>
                </a:solidFill>
              </a:defRPr>
            </a:pPr>
            <a:r>
              <a:t>❌ Poor crash energy absorption (brittle fracture)</a:t>
            </a:r>
          </a:p>
          <a:p>
            <a:pPr>
              <a:spcAft>
                <a:spcPts val="1000"/>
              </a:spcAft>
              <a:defRPr sz="1800">
                <a:solidFill>
                  <a:srgbClr val="333333"/>
                </a:solidFill>
              </a:defRPr>
            </a:pPr>
            <a:r>
              <a:t>❌ Difficult to recycle</a:t>
            </a:r>
          </a:p>
          <a:p>
            <a:pPr>
              <a:spcAft>
                <a:spcPts val="1000"/>
              </a:spcAft>
              <a:defRPr sz="1800">
                <a:solidFill>
                  <a:srgbClr val="333333"/>
                </a:solidFill>
              </a:defRPr>
            </a:pPr>
            <a:r>
              <a:t>Used in: Supercars (McLaren, Lamborghini), F1 race cars, exotic applications</a:t>
            </a:r>
          </a:p>
          <a:p>
            <a:pPr>
              <a:spcAft>
                <a:spcPts val="1000"/>
              </a:spcAft>
              <a:defRPr sz="1800">
                <a:solidFill>
                  <a:srgbClr val="333333"/>
                </a:solidFill>
              </a:defRPr>
            </a:pPr>
            <a:r>
              <a:t>Fiberglass (GFRP - Glass Fiber Reinforced Polymer): — Cheaper than carbon fiber (₹200-500/kg)</a:t>
            </a:r>
          </a:p>
          <a:p>
            <a:pPr>
              <a:spcAft>
                <a:spcPts val="600"/>
              </a:spcAft>
              <a:defRPr sz="1800">
                <a:solidFill>
                  <a:srgbClr val="333333"/>
                </a:solidFill>
              </a:defRPr>
            </a:pPr>
            <a:r>
              <a:t>Lower strength (200-400 MPa)</a:t>
            </a:r>
          </a:p>
          <a:p>
            <a:pPr>
              <a:spcAft>
                <a:spcPts val="600"/>
              </a:spcAft>
              <a:defRPr sz="1800">
                <a:solidFill>
                  <a:srgbClr val="333333"/>
                </a:solidFill>
              </a:defRPr>
            </a:pPr>
            <a:r>
              <a:t>Used in: Body panels (Corvette), non-structural parts</a:t>
            </a:r>
          </a:p>
          <a:p>
            <a:pPr>
              <a:spcAft>
                <a:spcPts val="1000"/>
              </a:spcAft>
              <a:defRPr sz="1800">
                <a:solidFill>
                  <a:srgbClr val="333333"/>
                </a:solidFill>
              </a:defRPr>
            </a:pPr>
            <a:r>
              <a:t>Instructor Narration (continued):</a:t>
            </a:r>
          </a:p>
          <a:p>
            <a:pPr>
              <a:spcAft>
                <a:spcPts val="1000"/>
              </a:spcAft>
              <a:defRPr sz="1800">
                <a:solidFill>
                  <a:srgbClr val="333333"/>
                </a:solidFill>
              </a:defRPr>
            </a:pPr>
            <a:r>
              <a:t>'Material selection is economic engineering. Steel is cheap but heavy. Aluminum is light but expensive. Carbon fiber is lightest but unaffordable for mass production. Most modern vehicles use mixed materials: steel for most of structure (cheap), AHSS for safety cage (strong), aluminum for hood/doors (light), and maybe carbon fiber for spoilers (low-volume, high-value). This is called multi-material design.'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Slide 15-19: Manufacturing and Material Trends</a:t>
            </a:r>
          </a:p>
        </p:txBody>
      </p:sp>
      <p:sp>
        <p:nvSpPr>
          <p:cNvPr id="3" name="Content Placeholder 2"/>
          <p:cNvSpPr>
            <a:spLocks noGrp="1"/>
          </p:cNvSpPr>
          <p:nvPr>
            <p:ph idx="1"/>
          </p:nvPr>
        </p:nvSpPr>
        <p:spPr/>
        <p:txBody>
          <a:bodyPr/>
          <a:lstStyle/>
          <a:p>
            <a:pPr>
              <a:spcAft>
                <a:spcPts val="1000"/>
              </a:spcAft>
              <a:defRPr sz="1800">
                <a:solidFill>
                  <a:srgbClr val="333333"/>
                </a:solidFill>
              </a:defRPr>
            </a:pPr>
            <a:r>
              <a:t>[Slides 15-19 would cover:</a:t>
            </a:r>
          </a:p>
          <a:p>
            <a:pPr>
              <a:spcAft>
                <a:spcPts val="600"/>
              </a:spcAft>
              <a:defRPr sz="1800">
                <a:solidFill>
                  <a:srgbClr val="333333"/>
                </a:solidFill>
              </a:defRPr>
            </a:pPr>
            <a:r>
              <a:t>Slide 15: Steel types summary and material selection criteria</a:t>
            </a:r>
          </a:p>
          <a:p>
            <a:pPr>
              <a:spcAft>
                <a:spcPts val="600"/>
              </a:spcAft>
              <a:defRPr sz="1800">
                <a:solidFill>
                  <a:srgbClr val="333333"/>
                </a:solidFill>
              </a:defRPr>
            </a:pPr>
            <a:r>
              <a:t>Slide 16: Manufacturing processes (stamping, welding, riveting, adhesive bonding)</a:t>
            </a:r>
          </a:p>
          <a:p>
            <a:pPr>
              <a:spcAft>
                <a:spcPts val="600"/>
              </a:spcAft>
              <a:defRPr sz="1800">
                <a:solidFill>
                  <a:srgbClr val="333333"/>
                </a:solidFill>
              </a:defRPr>
            </a:pPr>
            <a:r>
              <a:t>Slide 17: Multi-material design example (BMW 7-Series uses 15+ materials)</a:t>
            </a:r>
          </a:p>
          <a:p>
            <a:pPr>
              <a:spcAft>
                <a:spcPts val="600"/>
              </a:spcAft>
              <a:defRPr sz="1800">
                <a:solidFill>
                  <a:srgbClr val="333333"/>
                </a:solidFill>
              </a:defRPr>
            </a:pPr>
            <a:r>
              <a:t>Slide 18: Future trends (increased aluminum, CFRP for electric vehicles—weight critical)</a:t>
            </a:r>
          </a:p>
          <a:p>
            <a:pPr>
              <a:spcAft>
                <a:spcPts val="600"/>
              </a:spcAft>
              <a:defRPr sz="1800">
                <a:solidFill>
                  <a:srgbClr val="333333"/>
                </a:solidFill>
              </a:defRPr>
            </a:pPr>
            <a:r>
              <a:t>Slide 19: Transition to weight distribution]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4472C4"/>
        </a:solidFill>
        <a:effectLst/>
      </p:bgPr>
    </p:bg>
    <p:spTree>
      <p:nvGrpSpPr>
        <p:cNvPr id="1" name=""/>
        <p:cNvGrpSpPr/>
        <p:nvPr/>
      </p:nvGrpSpPr>
      <p:grpSpPr/>
      <p:sp>
        <p:nvSpPr>
          <p:cNvPr id="2" name="Title 1"/>
          <p:cNvSpPr>
            <a:spLocks noGrp="1"/>
          </p:cNvSpPr>
          <p:nvPr>
            <p:ph type="ctrTitle"/>
          </p:nvPr>
        </p:nvSpPr>
        <p:spPr/>
        <p:txBody>
          <a:bodyPr/>
          <a:lstStyle/>
          <a:p>
            <a:pPr>
              <a:defRPr sz="4400" b="1">
                <a:solidFill>
                  <a:srgbClr val="FFFFFF"/>
                </a:solidFill>
              </a:defRPr>
            </a:pPr>
            <a:r>
              <a:t>PART 4: CLIMAX - "Weight Distribution &amp; Crash Safety</a:t>
            </a:r>
          </a:p>
        </p:txBody>
      </p:sp>
      <p:sp>
        <p:nvSpPr>
          <p:cNvPr id="3" name="Subtitle 2"/>
          <p:cNvSpPr>
            <a:spLocks noGrp="1"/>
          </p:cNvSpPr>
          <p:nvPr>
            <p:ph type="subTitle" idx="1"/>
          </p:nvPr>
        </p:nvSpPr>
        <p:spPr/>
        <p:txBody>
          <a:bodyPr/>
          <a:lstStyle/>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Weight Distribution - Impact on Performance</a:t>
            </a:r>
          </a:p>
        </p:txBody>
      </p:sp>
      <p:sp>
        <p:nvSpPr>
          <p:cNvPr id="3" name="Content Placeholder 2"/>
          <p:cNvSpPr>
            <a:spLocks noGrp="1"/>
          </p:cNvSpPr>
          <p:nvPr>
            <p:ph idx="1"/>
          </p:nvPr>
        </p:nvSpPr>
        <p:spPr/>
        <p:txBody>
          <a:bodyPr/>
          <a:lstStyle/>
          <a:p>
            <a:pPr>
              <a:spcAft>
                <a:spcPts val="1000"/>
              </a:spcAft>
              <a:defRPr sz="1800">
                <a:solidFill>
                  <a:srgbClr val="333333"/>
                </a:solidFill>
              </a:defRPr>
            </a:pPr>
            <a:r>
              <a:t>Instructor Narration:</a:t>
            </a:r>
          </a:p>
          <a:p>
            <a:pPr>
              <a:spcAft>
                <a:spcPts val="1000"/>
              </a:spcAft>
              <a:defRPr sz="1800">
                <a:solidFill>
                  <a:srgbClr val="333333"/>
                </a:solidFill>
              </a:defRPr>
            </a:pPr>
            <a:r>
              <a:t>Now let's connect architecture to performance—a topic from Session 9 (Vehicle Dynamics).</a:t>
            </a:r>
          </a:p>
          <a:p>
            <a:pPr>
              <a:spcAft>
                <a:spcPts val="1000"/>
              </a:spcAft>
              <a:defRPr sz="1800">
                <a:solidFill>
                  <a:srgbClr val="333333"/>
                </a:solidFill>
              </a:defRPr>
            </a:pPr>
            <a:r>
              <a:t>WEIGHT DISTRIBUTION:</a:t>
            </a:r>
          </a:p>
          <a:p>
            <a:pPr>
              <a:spcAft>
                <a:spcPts val="1000"/>
              </a:spcAft>
              <a:defRPr sz="1800">
                <a:solidFill>
                  <a:srgbClr val="333333"/>
                </a:solidFill>
              </a:defRPr>
            </a:pPr>
            <a:r>
              <a:t>Percentage of total vehicle weight on each axle.</a:t>
            </a:r>
          </a:p>
          <a:p>
            <a:pPr>
              <a:spcAft>
                <a:spcPts val="1000"/>
              </a:spcAft>
              <a:defRPr sz="1800">
                <a:solidFill>
                  <a:srgbClr val="333333"/>
                </a:solidFill>
              </a:defRPr>
            </a:pPr>
            <a:r>
              <a:t>Typical Distribution:</a:t>
            </a:r>
          </a:p>
          <a:p>
            <a:pPr>
              <a:spcAft>
                <a:spcPts val="1000"/>
              </a:spcAft>
              <a:defRPr sz="1800">
                <a:solidFill>
                  <a:srgbClr val="333333"/>
                </a:solidFill>
              </a:defRPr>
            </a:pPr>
            <a:r>
              <a:t>| Vehicle Type | Front % | Rear % | Reason |</a:t>
            </a:r>
          </a:p>
          <a:p>
            <a:pPr>
              <a:spcAft>
                <a:spcPts val="1000"/>
              </a:spcAft>
              <a:defRPr sz="1800">
                <a:solidFill>
                  <a:srgbClr val="333333"/>
                </a:solidFill>
              </a:defRPr>
            </a:pPr>
            <a:r>
              <a:t>|--------------|---------|--------|--------|</a:t>
            </a:r>
          </a:p>
          <a:p>
            <a:pPr>
              <a:spcAft>
                <a:spcPts val="1000"/>
              </a:spcAft>
              <a:defRPr sz="1800">
                <a:solidFill>
                  <a:srgbClr val="333333"/>
                </a:solidFill>
              </a:defRPr>
            </a:pPr>
            <a:r>
              <a:t>| FWD sedan | 60-65% | 35-40% | Engine/transmission over front axle |</a:t>
            </a:r>
          </a:p>
          <a:p>
            <a:pPr>
              <a:spcAft>
                <a:spcPts val="1000"/>
              </a:spcAft>
              <a:defRPr sz="1800">
                <a:solidFill>
                  <a:srgbClr val="333333"/>
                </a:solidFill>
              </a:defRPr>
            </a:pPr>
            <a:r>
              <a:t>| RWD sports car | 50-52% | 48-50% | Engine front, transmission rear (better balance) |</a:t>
            </a:r>
          </a:p>
          <a:p>
            <a:pPr>
              <a:spcAft>
                <a:spcPts val="1000"/>
              </a:spcAft>
              <a:defRPr sz="1800">
                <a:solidFill>
                  <a:srgbClr val="333333"/>
                </a:solidFill>
              </a:defRPr>
            </a:pPr>
            <a:r>
              <a:t>| Mid-engine sports car | 40-45% | 55-60% | Engine behind driver (Ferrari, Lamborghini) |</a:t>
            </a:r>
          </a:p>
          <a:p>
            <a:pPr>
              <a:spcAft>
                <a:spcPts val="1000"/>
              </a:spcAft>
              <a:defRPr sz="1800">
                <a:solidFill>
                  <a:srgbClr val="333333"/>
                </a:solidFill>
              </a:defRPr>
            </a:pPr>
            <a:r>
              <a:t>| Rear-engine (Porsche 911) | 38-40% | 60-62% | Engine over rear axle |</a:t>
            </a:r>
          </a:p>
          <a:p>
            <a:pPr>
              <a:spcAft>
                <a:spcPts val="1000"/>
              </a:spcAft>
              <a:defRPr sz="1800">
                <a:solidFill>
                  <a:srgbClr val="333333"/>
                </a:solidFill>
              </a:defRPr>
            </a:pPr>
            <a:r>
              <a:t>| Pickup truck (unloaded) | 55-60% | 40-45% | Front-heavy when empty |</a:t>
            </a:r>
          </a:p>
          <a:p>
            <a:pPr>
              <a:spcAft>
                <a:spcPts val="1000"/>
              </a:spcAft>
              <a:defRPr sz="1800">
                <a:solidFill>
                  <a:srgbClr val="333333"/>
                </a:solidFill>
              </a:defRPr>
            </a:pPr>
            <a:r>
              <a:t>| Pickup truck (loaded) | 40-45% | 55-60% | Rear-heavy when cargo loaded |</a:t>
            </a:r>
          </a:p>
          <a:p>
            <a:pPr>
              <a:spcAft>
                <a:spcPts val="1000"/>
              </a:spcAft>
              <a:defRPr sz="1800">
                <a:solidFill>
                  <a:srgbClr val="333333"/>
                </a:solidFill>
              </a:defRPr>
            </a:pPr>
            <a:r>
              <a:t>IDEAL: 50/50 Front/Rear</a:t>
            </a:r>
          </a:p>
          <a:p>
            <a:pPr>
              <a:spcAft>
                <a:spcPts val="1000"/>
              </a:spcAft>
              <a:defRPr sz="1800">
                <a:solidFill>
                  <a:srgbClr val="333333"/>
                </a:solidFill>
              </a:defRPr>
            </a:pPr>
            <a:r>
              <a:t>Why?</a:t>
            </a:r>
          </a:p>
          <a:p>
            <a:pPr>
              <a:spcAft>
                <a:spcPts val="1000"/>
              </a:spcAft>
              <a:defRPr sz="1800">
                <a:solidFill>
                  <a:srgbClr val="333333"/>
                </a:solidFill>
              </a:defRPr>
            </a:pPr>
            <a:r>
              <a:t>From Session 9, we learned:</a:t>
            </a:r>
          </a:p>
          <a:p>
            <a:pPr>
              <a:defRPr sz="1400">
                <a:solidFill>
                  <a:srgbClr val="787878"/>
                </a:solidFill>
                <a:latin typeface="Consolas"/>
              </a:defRPr>
            </a:pPr>
            <a:r>
              <a:t>Maximum lateral acceleration (cornering):</a:t>
            </a:r>
            <a:br/>
            <a:r>
              <a:t>a_lat,max = μ × g × (Weight on loaded tires / Total weight)</a:t>
            </a:r>
            <a:br/>
            <a:br/>
            <a:r>
              <a:t>50/50 distribution → Both axles equally loaded → Maximum total grip</a:t>
            </a:r>
          </a:p>
          <a:p>
            <a:pPr>
              <a:spcAft>
                <a:spcPts val="1000"/>
              </a:spcAft>
              <a:defRPr sz="1800">
                <a:solidFill>
                  <a:srgbClr val="333333"/>
                </a:solidFill>
              </a:defRPr>
            </a:pPr>
            <a:r>
              <a:t>Impact on Handling:</a:t>
            </a:r>
          </a:p>
          <a:p>
            <a:pPr>
              <a:spcAft>
                <a:spcPts val="1000"/>
              </a:spcAft>
              <a:defRPr sz="1800">
                <a:solidFill>
                  <a:srgbClr val="333333"/>
                </a:solidFill>
              </a:defRPr>
            </a:pPr>
            <a:r>
              <a:t>Front-Heavy (60/40): — Front tires more loaded → More front grip potential</a:t>
            </a:r>
          </a:p>
          <a:p>
            <a:pPr>
              <a:spcAft>
                <a:spcPts val="600"/>
              </a:spcAft>
              <a:defRPr sz="1800">
                <a:solidFill>
                  <a:srgbClr val="333333"/>
                </a:solidFill>
              </a:defRPr>
            </a:pPr>
            <a:r>
              <a:t>But: Front tires must handle steering AND acceleration (FWD) or braking</a:t>
            </a:r>
          </a:p>
          <a:p>
            <a:pPr>
              <a:spcAft>
                <a:spcPts val="600"/>
              </a:spcAft>
              <a:defRPr sz="1800">
                <a:solidFill>
                  <a:srgbClr val="333333"/>
                </a:solidFill>
              </a:defRPr>
            </a:pPr>
            <a:r>
              <a:t>Result: Understeer tendency (front loses grip first)</a:t>
            </a:r>
          </a:p>
          <a:p>
            <a:pPr>
              <a:spcAft>
                <a:spcPts val="600"/>
              </a:spcAft>
              <a:defRPr sz="1800">
                <a:solidFill>
                  <a:srgbClr val="333333"/>
                </a:solidFill>
              </a:defRPr>
            </a:pPr>
            <a:r>
              <a:t>Good for: Safety (predictable), easy for average drivers</a:t>
            </a:r>
          </a:p>
          <a:p>
            <a:pPr>
              <a:spcAft>
                <a:spcPts val="1000"/>
              </a:spcAft>
              <a:defRPr sz="1800">
                <a:solidFill>
                  <a:srgbClr val="333333"/>
                </a:solidFill>
              </a:defRPr>
            </a:pPr>
            <a:r>
              <a:t>Rear-Heavy (40/60): — Rear tires more loaded → More rear grip potential</a:t>
            </a:r>
          </a:p>
          <a:p>
            <a:pPr>
              <a:spcAft>
                <a:spcPts val="600"/>
              </a:spcAft>
              <a:defRPr sz="1800">
                <a:solidFill>
                  <a:srgbClr val="333333"/>
                </a:solidFill>
              </a:defRPr>
            </a:pPr>
            <a:r>
              <a:t>Result: Oversteer tendency (rear loses grip first)</a:t>
            </a:r>
          </a:p>
          <a:p>
            <a:pPr>
              <a:spcAft>
                <a:spcPts val="600"/>
              </a:spcAft>
              <a:defRPr sz="1800">
                <a:solidFill>
                  <a:srgbClr val="333333"/>
                </a:solidFill>
              </a:defRPr>
            </a:pPr>
            <a:r>
              <a:t>Dangerous for: Untrained drivers (car can spin)</a:t>
            </a:r>
          </a:p>
          <a:p>
            <a:pPr>
              <a:spcAft>
                <a:spcPts val="600"/>
              </a:spcAft>
              <a:defRPr sz="1800">
                <a:solidFill>
                  <a:srgbClr val="333333"/>
                </a:solidFill>
              </a:defRPr>
            </a:pPr>
            <a:r>
              <a:t>Preferred by: Enthusiasts (adjustable with throttle)</a:t>
            </a:r>
          </a:p>
          <a:p>
            <a:pPr>
              <a:spcAft>
                <a:spcPts val="1000"/>
              </a:spcAft>
              <a:defRPr sz="1800">
                <a:solidFill>
                  <a:srgbClr val="333333"/>
                </a:solidFill>
              </a:defRPr>
            </a:pPr>
            <a:r>
              <a:t>50/50 (Balanced): — Front and rear equally loaded</a:t>
            </a:r>
          </a:p>
          <a:p>
            <a:pPr>
              <a:spcAft>
                <a:spcPts val="600"/>
              </a:spcAft>
              <a:defRPr sz="1800">
                <a:solidFill>
                  <a:srgbClr val="333333"/>
                </a:solidFill>
              </a:defRPr>
            </a:pPr>
            <a:r>
              <a:t>Neutral handling (neither under nor oversteer bias)</a:t>
            </a:r>
          </a:p>
          <a:p>
            <a:pPr>
              <a:spcAft>
                <a:spcPts val="600"/>
              </a:spcAft>
              <a:defRPr sz="1800">
                <a:solidFill>
                  <a:srgbClr val="333333"/>
                </a:solidFill>
              </a:defRPr>
            </a:pPr>
            <a:r>
              <a:t>Best for: Performance, control, fun</a:t>
            </a:r>
          </a:p>
          <a:p>
            <a:pPr>
              <a:spcAft>
                <a:spcPts val="600"/>
              </a:spcAft>
              <a:defRPr sz="1800">
                <a:solidFill>
                  <a:srgbClr val="333333"/>
                </a:solidFill>
              </a:defRPr>
            </a:pPr>
            <a:r>
              <a:t>Achieved by: Careful component placement (engine, transmission, fuel tank, battery)</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p>
        </p:txBody>
      </p:sp>
      <p:sp>
        <p:nvSpPr>
          <p:cNvPr id="3" name="Content Placeholder 2"/>
          <p:cNvSpPr>
            <a:spLocks noGrp="1"/>
          </p:cNvSpPr>
          <p:nvPr>
            <p:ph idx="1"/>
          </p:nvPr>
        </p:nvSpPr>
        <p:spPr/>
        <p:txBody>
          <a:bodyPr/>
          <a:lstStyle/>
          <a:p>
            <a:pPr>
              <a:spcAft>
                <a:spcPts val="1000"/>
              </a:spcAft>
              <a:defRPr sz="1800">
                <a:solidFill>
                  <a:srgbClr val="333333"/>
                </a:solidFill>
              </a:defRPr>
            </a:pPr>
            <a:r>
              <a:t>CALCULATING WEIGHT DISTRIBUTION:</a:t>
            </a:r>
          </a:p>
          <a:p>
            <a:pPr>
              <a:spcAft>
                <a:spcPts val="1000"/>
              </a:spcAft>
              <a:defRPr sz="1800">
                <a:solidFill>
                  <a:srgbClr val="333333"/>
                </a:solidFill>
              </a:defRPr>
            </a:pPr>
            <a:r>
              <a:t>Simple Model (2D, Front/Rear):</a:t>
            </a:r>
          </a:p>
          <a:p>
            <a:pPr>
              <a:spcAft>
                <a:spcPts val="1000"/>
              </a:spcAft>
              <a:defRPr sz="1800">
                <a:solidFill>
                  <a:srgbClr val="333333"/>
                </a:solidFill>
              </a:defRPr>
            </a:pPr>
            <a:r>
              <a:t>Given: — Vehicle mass: m = 1,500 kg</a:t>
            </a:r>
          </a:p>
          <a:p>
            <a:pPr>
              <a:spcAft>
                <a:spcPts val="600"/>
              </a:spcAft>
              <a:defRPr sz="1800">
                <a:solidFill>
                  <a:srgbClr val="333333"/>
                </a:solidFill>
              </a:defRPr>
            </a:pPr>
            <a:r>
              <a:t>Wheelbase: L = 2.7 m</a:t>
            </a:r>
          </a:p>
          <a:p>
            <a:pPr>
              <a:spcAft>
                <a:spcPts val="600"/>
              </a:spcAft>
              <a:defRPr sz="1800">
                <a:solidFill>
                  <a:srgbClr val="333333"/>
                </a:solidFill>
              </a:defRPr>
            </a:pPr>
            <a:r>
              <a:t>Distance from front axle to center of gravity (CG): a = 1.2 m</a:t>
            </a:r>
          </a:p>
          <a:p>
            <a:pPr>
              <a:spcAft>
                <a:spcPts val="600"/>
              </a:spcAft>
              <a:defRPr sz="1800">
                <a:solidFill>
                  <a:srgbClr val="333333"/>
                </a:solidFill>
              </a:defRPr>
            </a:pPr>
            <a:r>
              <a:t>Distance from rear axle to CG: b = 1.5 m</a:t>
            </a:r>
          </a:p>
          <a:p>
            <a:pPr>
              <a:spcAft>
                <a:spcPts val="1000"/>
              </a:spcAft>
              <a:defRPr sz="1800">
                <a:solidFill>
                  <a:srgbClr val="333333"/>
                </a:solidFill>
              </a:defRPr>
            </a:pPr>
            <a:r>
              <a:t>Front Axle Load:</a:t>
            </a:r>
          </a:p>
          <a:p>
            <a:pPr>
              <a:defRPr sz="1400">
                <a:solidFill>
                  <a:srgbClr val="787878"/>
                </a:solidFill>
                <a:latin typeface="Consolas"/>
              </a:defRPr>
            </a:pPr>
            <a:r>
              <a:t>W_f = m × g × (b / L)</a:t>
            </a:r>
            <a:br/>
            <a:r>
              <a:t>    = 1,500 × 9.81 × (1.5 / 2.7)</a:t>
            </a:r>
            <a:br/>
            <a:r>
              <a:t>    = 1,500 × 9.81 × 0.556</a:t>
            </a:r>
            <a:br/>
            <a:r>
              <a:t>    = 8,185 N</a:t>
            </a:r>
          </a:p>
          <a:p>
            <a:pPr>
              <a:spcAft>
                <a:spcPts val="1000"/>
              </a:spcAft>
              <a:defRPr sz="1800">
                <a:solidFill>
                  <a:srgbClr val="333333"/>
                </a:solidFill>
              </a:defRPr>
            </a:pPr>
            <a:r>
              <a:t>Rear Axle Load:</a:t>
            </a:r>
          </a:p>
          <a:p>
            <a:pPr>
              <a:defRPr sz="1400">
                <a:solidFill>
                  <a:srgbClr val="787878"/>
                </a:solidFill>
                <a:latin typeface="Consolas"/>
              </a:defRPr>
            </a:pPr>
            <a:r>
              <a:t>W_r = m × g × (a / L)</a:t>
            </a:r>
            <a:br/>
            <a:r>
              <a:t>    = 1,500 × 9.81 × (1.2 / 2.7)</a:t>
            </a:r>
            <a:br/>
            <a:r>
              <a:t>    = 1,500 × 9.81 × 0.444</a:t>
            </a:r>
            <a:br/>
            <a:r>
              <a:t>    = 6,535 N</a:t>
            </a:r>
          </a:p>
          <a:p>
            <a:pPr>
              <a:spcAft>
                <a:spcPts val="1000"/>
              </a:spcAft>
              <a:defRPr sz="1800">
                <a:solidFill>
                  <a:srgbClr val="333333"/>
                </a:solidFill>
              </a:defRPr>
            </a:pPr>
            <a:r>
              <a:t>Distribution:</a:t>
            </a:r>
          </a:p>
          <a:p>
            <a:pPr>
              <a:defRPr sz="1400">
                <a:solidFill>
                  <a:srgbClr val="787878"/>
                </a:solidFill>
                <a:latin typeface="Consolas"/>
              </a:defRPr>
            </a:pPr>
            <a:r>
              <a:t>Front %: 8,185 / (8,185 + 6,535) × 100% = 55.6%</a:t>
            </a:r>
            <a:br/>
            <a:r>
              <a:t>Rear %: 6,535 / (8,185 + 6,535) × 100% = 44.4%</a:t>
            </a:r>
            <a:br/>
            <a:br/>
            <a:r>
              <a:t>Distribution: 56/44 (front-biased, typical FWD)</a:t>
            </a:r>
          </a:p>
          <a:p>
            <a:pPr>
              <a:spcAft>
                <a:spcPts val="1000"/>
              </a:spcAft>
              <a:defRPr sz="1800">
                <a:solidFill>
                  <a:srgbClr val="333333"/>
                </a:solidFill>
              </a:defRPr>
            </a:pPr>
            <a:r>
              <a:t>Instructor Narration (continued):</a:t>
            </a:r>
          </a:p>
          <a:p>
            <a:pPr>
              <a:spcAft>
                <a:spcPts val="1000"/>
              </a:spcAft>
              <a:defRPr sz="1800">
                <a:solidFill>
                  <a:srgbClr val="333333"/>
                </a:solidFill>
              </a:defRPr>
            </a:pPr>
            <a:r>
              <a:t>'Architects can manipulate weight distribution by relocating components. BMW moved the battery to the trunk (rear weight transfer). Corvette uses a transaxle (transmission at rear axle). Porsche 911 keeps engine in rear (unique handling). Every placement decision affects distribution and handling.'</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Slide 21-26: Crash Safety Architecture</a:t>
            </a:r>
          </a:p>
        </p:txBody>
      </p:sp>
      <p:sp>
        <p:nvSpPr>
          <p:cNvPr id="3" name="Content Placeholder 2"/>
          <p:cNvSpPr>
            <a:spLocks noGrp="1"/>
          </p:cNvSpPr>
          <p:nvPr>
            <p:ph idx="1"/>
          </p:nvPr>
        </p:nvSpPr>
        <p:spPr/>
        <p:txBody>
          <a:bodyPr/>
          <a:lstStyle/>
          <a:p>
            <a:pPr>
              <a:spcAft>
                <a:spcPts val="1000"/>
              </a:spcAft>
              <a:defRPr sz="1800">
                <a:solidFill>
                  <a:srgbClr val="333333"/>
                </a:solidFill>
              </a:defRPr>
            </a:pPr>
            <a:r>
              <a:t>[Slides 21-26 would cover:</a:t>
            </a:r>
          </a:p>
          <a:p>
            <a:pPr>
              <a:spcAft>
                <a:spcPts val="600"/>
              </a:spcAft>
              <a:defRPr sz="1800">
                <a:solidFill>
                  <a:srgbClr val="333333"/>
                </a:solidFill>
              </a:defRPr>
            </a:pPr>
            <a:r>
              <a:t>Slide 21: Crash safety principles (energy absorption, occupant deceleration limits)</a:t>
            </a:r>
          </a:p>
          <a:p>
            <a:pPr>
              <a:spcAft>
                <a:spcPts val="600"/>
              </a:spcAft>
              <a:defRPr sz="1800">
                <a:solidFill>
                  <a:srgbClr val="333333"/>
                </a:solidFill>
              </a:defRPr>
            </a:pPr>
            <a:r>
              <a:t>Slide 22: Crumple zones (front and rear—controlled deformation)</a:t>
            </a:r>
          </a:p>
          <a:p>
            <a:pPr>
              <a:spcAft>
                <a:spcPts val="600"/>
              </a:spcAft>
              <a:defRPr sz="1800">
                <a:solidFill>
                  <a:srgbClr val="333333"/>
                </a:solidFill>
              </a:defRPr>
            </a:pPr>
            <a:r>
              <a:t>Slide 23: Safety cage (rigid passenger compartment—A/B/C pillars, roof rails)</a:t>
            </a:r>
          </a:p>
          <a:p>
            <a:pPr>
              <a:spcAft>
                <a:spcPts val="600"/>
              </a:spcAft>
              <a:defRPr sz="1800">
                <a:solidFill>
                  <a:srgbClr val="333333"/>
                </a:solidFill>
              </a:defRPr>
            </a:pPr>
            <a:r>
              <a:t>Slide 24: Load paths during frontal impact (forces distributed through frame rails, firewall, floor)</a:t>
            </a:r>
          </a:p>
          <a:p>
            <a:pPr>
              <a:spcAft>
                <a:spcPts val="600"/>
              </a:spcAft>
              <a:defRPr sz="1800">
                <a:solidFill>
                  <a:srgbClr val="333333"/>
                </a:solidFill>
              </a:defRPr>
            </a:pPr>
            <a:r>
              <a:t>Slide 25: Side impact protection (door intrusion beams, B-pillar reinforcement)</a:t>
            </a:r>
          </a:p>
          <a:p>
            <a:pPr>
              <a:spcAft>
                <a:spcPts val="600"/>
              </a:spcAft>
              <a:defRPr sz="1800">
                <a:solidFill>
                  <a:srgbClr val="333333"/>
                </a:solidFill>
              </a:defRPr>
            </a:pPr>
            <a:r>
              <a:t>Slide 26: Crash testing standards (NCAP, Euro NCAP, IIHS ratings)]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4472C4"/>
        </a:solidFill>
        <a:effectLst/>
      </p:bgPr>
    </p:bg>
    <p:spTree>
      <p:nvGrpSpPr>
        <p:cNvPr id="1" name=""/>
        <p:cNvGrpSpPr/>
        <p:nvPr/>
      </p:nvGrpSpPr>
      <p:grpSpPr/>
      <p:sp>
        <p:nvSpPr>
          <p:cNvPr id="2" name="Title 1"/>
          <p:cNvSpPr>
            <a:spLocks noGrp="1"/>
          </p:cNvSpPr>
          <p:nvPr>
            <p:ph type="ctrTitle"/>
          </p:nvPr>
        </p:nvSpPr>
        <p:spPr/>
        <p:txBody>
          <a:bodyPr/>
          <a:lstStyle/>
          <a:p>
            <a:pPr>
              <a:defRPr sz="4400" b="1">
                <a:solidFill>
                  <a:srgbClr val="FFFFFF"/>
                </a:solidFill>
              </a:defRPr>
            </a:pPr>
            <a:r>
              <a:t>PART 5: RESOLUTION - "Complete Integration</a:t>
            </a:r>
          </a:p>
        </p:txBody>
      </p:sp>
      <p:sp>
        <p:nvSpPr>
          <p:cNvPr id="3" name="Subtitle 2"/>
          <p:cNvSpPr>
            <a:spLocks noGrp="1"/>
          </p:cNvSpPr>
          <p:nvPr>
            <p:ph type="subTitle" idx="1"/>
          </p:nvPr>
        </p:nvSpPr>
        <p:spPr/>
        <p:txBody>
          <a:bodyPr/>
          <a:lstStyle/>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Complete Vehicle Architecture - Subsystem Integration</a:t>
            </a:r>
          </a:p>
        </p:txBody>
      </p:sp>
      <p:sp>
        <p:nvSpPr>
          <p:cNvPr id="3" name="Content Placeholder 2"/>
          <p:cNvSpPr>
            <a:spLocks noGrp="1"/>
          </p:cNvSpPr>
          <p:nvPr>
            <p:ph idx="1"/>
          </p:nvPr>
        </p:nvSpPr>
        <p:spPr/>
        <p:txBody>
          <a:bodyPr/>
          <a:lstStyle/>
          <a:p>
            <a:pPr>
              <a:spcAft>
                <a:spcPts val="1000"/>
              </a:spcAft>
              <a:defRPr sz="1800">
                <a:solidFill>
                  <a:srgbClr val="333333"/>
                </a:solidFill>
              </a:defRPr>
            </a:pPr>
            <a:r>
              <a:t>Instructor Narration:</a:t>
            </a:r>
          </a:p>
          <a:p>
            <a:pPr>
              <a:spcAft>
                <a:spcPts val="1000"/>
              </a:spcAft>
              <a:defRPr sz="1800">
                <a:solidFill>
                  <a:srgbClr val="333333"/>
                </a:solidFill>
              </a:defRPr>
            </a:pPr>
            <a:r>
              <a:t>Let's integrate everything we've studied into a complete vehicle architecture.</a:t>
            </a:r>
          </a:p>
          <a:p>
            <a:pPr>
              <a:spcAft>
                <a:spcPts val="1000"/>
              </a:spcAft>
              <a:defRPr sz="1800">
                <a:solidFill>
                  <a:srgbClr val="333333"/>
                </a:solidFill>
              </a:defRPr>
            </a:pPr>
            <a:r>
              <a:t>FRONT SECTION:</a:t>
            </a:r>
          </a:p>
          <a:p>
            <a:pPr>
              <a:spcAft>
                <a:spcPts val="1000"/>
              </a:spcAft>
              <a:defRPr sz="1800">
                <a:solidFill>
                  <a:srgbClr val="333333"/>
                </a:solidFill>
              </a:defRPr>
            </a:pPr>
            <a:r>
              <a:t>Powertrain Compartment: — Engine: Longitudinal (RWD) or transverse (FWD) mounting</a:t>
            </a:r>
          </a:p>
          <a:p>
            <a:pPr>
              <a:spcAft>
                <a:spcPts val="600"/>
              </a:spcAft>
              <a:defRPr sz="1800">
                <a:solidFill>
                  <a:srgbClr val="333333"/>
                </a:solidFill>
              </a:defRPr>
            </a:pPr>
            <a:r>
              <a:t>Transmission: Attached to engine (integrated or separate)</a:t>
            </a:r>
          </a:p>
          <a:p>
            <a:pPr>
              <a:spcAft>
                <a:spcPts val="600"/>
              </a:spcAft>
              <a:defRPr sz="1800">
                <a:solidFill>
                  <a:srgbClr val="333333"/>
                </a:solidFill>
              </a:defRPr>
            </a:pPr>
            <a:r>
              <a:t>Radiator: Front mounting (airflow from grille)</a:t>
            </a:r>
          </a:p>
          <a:p>
            <a:pPr>
              <a:spcAft>
                <a:spcPts val="600"/>
              </a:spcAft>
              <a:defRPr sz="1800">
                <a:solidFill>
                  <a:srgbClr val="333333"/>
                </a:solidFill>
              </a:defRPr>
            </a:pPr>
            <a:r>
              <a:t>Battery: Typically front right (some luxury cars: trunk-mounted)</a:t>
            </a:r>
          </a:p>
          <a:p>
            <a:pPr>
              <a:spcAft>
                <a:spcPts val="600"/>
              </a:spcAft>
              <a:defRPr sz="1800">
                <a:solidFill>
                  <a:srgbClr val="333333"/>
                </a:solidFill>
              </a:defRPr>
            </a:pPr>
            <a:r>
              <a:t>Air intake system: Feeds from front grille or fender</a:t>
            </a:r>
          </a:p>
          <a:p>
            <a:pPr>
              <a:spcAft>
                <a:spcPts val="600"/>
              </a:spcAft>
              <a:defRPr sz="1800">
                <a:solidFill>
                  <a:srgbClr val="333333"/>
                </a:solidFill>
              </a:defRPr>
            </a:pPr>
            <a:r>
              <a:t>Exhaust manifold: Connects to catalytic converter, muffler (runs underneath)</a:t>
            </a:r>
          </a:p>
          <a:p>
            <a:pPr>
              <a:spcAft>
                <a:spcPts val="1000"/>
              </a:spcAft>
              <a:defRPr sz="1800">
                <a:solidFill>
                  <a:srgbClr val="333333"/>
                </a:solidFill>
              </a:defRPr>
            </a:pPr>
            <a:r>
              <a:t>Front Structure: — Crumple zones: Designed to collapse in controlled manner (60-80 cm deformation in severe crash)</a:t>
            </a:r>
          </a:p>
          <a:p>
            <a:pPr>
              <a:spcAft>
                <a:spcPts val="600"/>
              </a:spcAft>
              <a:defRPr sz="1800">
                <a:solidFill>
                  <a:srgbClr val="333333"/>
                </a:solidFill>
              </a:defRPr>
            </a:pPr>
            <a:r>
              <a:t>Frame rails / Unibody structure: Absorb crash energy</a:t>
            </a:r>
          </a:p>
          <a:p>
            <a:pPr>
              <a:spcAft>
                <a:spcPts val="600"/>
              </a:spcAft>
              <a:defRPr sz="1800">
                <a:solidFill>
                  <a:srgbClr val="333333"/>
                </a:solidFill>
              </a:defRPr>
            </a:pPr>
            <a:r>
              <a:t>Subframe: Bolt-on structure for engine/transmission mounting (allows easy assembly/disassembly)</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p>
        </p:txBody>
      </p:sp>
      <p:sp>
        <p:nvSpPr>
          <p:cNvPr id="3" name="Content Placeholder 2"/>
          <p:cNvSpPr>
            <a:spLocks noGrp="1"/>
          </p:cNvSpPr>
          <p:nvPr>
            <p:ph idx="1"/>
          </p:nvPr>
        </p:nvSpPr>
        <p:spPr/>
        <p:txBody>
          <a:bodyPr/>
          <a:lstStyle/>
          <a:p>
            <a:pPr>
              <a:spcAft>
                <a:spcPts val="1000"/>
              </a:spcAft>
              <a:defRPr sz="1800">
                <a:solidFill>
                  <a:srgbClr val="333333"/>
                </a:solidFill>
              </a:defRPr>
            </a:pPr>
            <a:r>
              <a:t>MIDDLE SECTION (Passenger Compartment):</a:t>
            </a:r>
          </a:p>
          <a:p>
            <a:pPr>
              <a:spcAft>
                <a:spcPts val="1000"/>
              </a:spcAft>
              <a:defRPr sz="1800">
                <a:solidFill>
                  <a:srgbClr val="333333"/>
                </a:solidFill>
              </a:defRPr>
            </a:pPr>
            <a:r>
              <a:t>Safety Cage: — A-pillar: UHSS or boron steel (1,500 MPa), ~3mm thick</a:t>
            </a:r>
          </a:p>
          <a:p>
            <a:pPr>
              <a:spcAft>
                <a:spcPts val="600"/>
              </a:spcAft>
              <a:defRPr sz="1800">
                <a:solidFill>
                  <a:srgbClr val="333333"/>
                </a:solidFill>
              </a:defRPr>
            </a:pPr>
            <a:r>
              <a:t>B-pillar: Reinforced with door intrusion beam</a:t>
            </a:r>
          </a:p>
          <a:p>
            <a:pPr>
              <a:spcAft>
                <a:spcPts val="600"/>
              </a:spcAft>
              <a:defRPr sz="1800">
                <a:solidFill>
                  <a:srgbClr val="333333"/>
                </a:solidFill>
              </a:defRPr>
            </a:pPr>
            <a:r>
              <a:t>Rocker panels: Box-section, carries side impact loads</a:t>
            </a:r>
          </a:p>
          <a:p>
            <a:pPr>
              <a:spcAft>
                <a:spcPts val="600"/>
              </a:spcAft>
              <a:defRPr sz="1800">
                <a:solidFill>
                  <a:srgbClr val="333333"/>
                </a:solidFill>
              </a:defRPr>
            </a:pPr>
            <a:r>
              <a:t>Floor pan: Multiple layers, transmission tunnel reinforced</a:t>
            </a:r>
          </a:p>
          <a:p>
            <a:pPr>
              <a:spcAft>
                <a:spcPts val="600"/>
              </a:spcAft>
              <a:defRPr sz="1800">
                <a:solidFill>
                  <a:srgbClr val="333333"/>
                </a:solidFill>
              </a:defRPr>
            </a:pPr>
            <a:r>
              <a:t>Roof rails: Connect pillars, provide rollover protection</a:t>
            </a:r>
          </a:p>
          <a:p>
            <a:pPr>
              <a:spcAft>
                <a:spcPts val="1000"/>
              </a:spcAft>
              <a:defRPr sz="1800">
                <a:solidFill>
                  <a:srgbClr val="333333"/>
                </a:solidFill>
              </a:defRPr>
            </a:pPr>
            <a:r>
              <a:t>Interior Packaging: — Front seats: Adjustable (fore/aft, recline, height)</a:t>
            </a:r>
          </a:p>
          <a:p>
            <a:pPr>
              <a:spcAft>
                <a:spcPts val="600"/>
              </a:spcAft>
              <a:defRPr sz="1800">
                <a:solidFill>
                  <a:srgbClr val="333333"/>
                </a:solidFill>
              </a:defRPr>
            </a:pPr>
            <a:r>
              <a:t>Steering column: Telescoping, collapsible (safety—deforms in crash)</a:t>
            </a:r>
          </a:p>
          <a:p>
            <a:pPr>
              <a:spcAft>
                <a:spcPts val="600"/>
              </a:spcAft>
              <a:defRPr sz="1800">
                <a:solidFill>
                  <a:srgbClr val="333333"/>
                </a:solidFill>
              </a:defRPr>
            </a:pPr>
            <a:r>
              <a:t>Dashboard: Airbag housing, instrument cluster, HVAC vents</a:t>
            </a:r>
          </a:p>
          <a:p>
            <a:pPr>
              <a:spcAft>
                <a:spcPts val="600"/>
              </a:spcAft>
              <a:defRPr sz="1800">
                <a:solidFill>
                  <a:srgbClr val="333333"/>
                </a:solidFill>
              </a:defRPr>
            </a:pPr>
            <a:r>
              <a:t>Center console: Transmission selector, storage, armrest</a:t>
            </a:r>
          </a:p>
          <a:p>
            <a:pPr>
              <a:spcAft>
                <a:spcPts val="600"/>
              </a:spcAft>
              <a:defRPr sz="1800">
                <a:solidFill>
                  <a:srgbClr val="333333"/>
                </a:solidFill>
              </a:defRPr>
            </a:pPr>
            <a:r>
              <a:t>Rear seats: Bench (3-passenger) or buckets (2-passenger), fold-down for cargo</a:t>
            </a:r>
          </a:p>
          <a:p>
            <a:pPr>
              <a:spcAft>
                <a:spcPts val="1000"/>
              </a:spcAft>
              <a:defRPr sz="1800">
                <a:solidFill>
                  <a:srgbClr val="333333"/>
                </a:solidFill>
              </a:defRPr>
            </a:pPr>
            <a:r>
              <a:t>Underbody: — Fuel tank: Typically under rear seats or rear axle area (protected location)</a:t>
            </a:r>
          </a:p>
          <a:p>
            <a:pPr>
              <a:spcAft>
                <a:spcPts val="600"/>
              </a:spcAft>
              <a:defRPr sz="1800">
                <a:solidFill>
                  <a:srgbClr val="333333"/>
                </a:solidFill>
              </a:defRPr>
            </a:pPr>
            <a:r>
              <a:t>Exhaust system: Runs along underbody from engine to rear</a:t>
            </a:r>
          </a:p>
          <a:p>
            <a:pPr>
              <a:spcAft>
                <a:spcPts val="600"/>
              </a:spcAft>
              <a:defRPr sz="1800">
                <a:solidFill>
                  <a:srgbClr val="333333"/>
                </a:solidFill>
              </a:defRPr>
            </a:pPr>
            <a:r>
              <a:t>Brake/fuel lines: Run along frame rails or floor (protected from road debris)</a:t>
            </a:r>
          </a:p>
          <a:p>
            <a:pPr>
              <a:spcAft>
                <a:spcPts val="600"/>
              </a:spcAft>
              <a:defRPr sz="1800">
                <a:solidFill>
                  <a:srgbClr val="333333"/>
                </a:solidFill>
              </a:defRPr>
            </a:pPr>
            <a:r>
              <a:t>Electrical harness: Runs under carpet, through firewall</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p>
        </p:txBody>
      </p:sp>
      <p:sp>
        <p:nvSpPr>
          <p:cNvPr id="3" name="Content Placeholder 2"/>
          <p:cNvSpPr>
            <a:spLocks noGrp="1"/>
          </p:cNvSpPr>
          <p:nvPr>
            <p:ph idx="1"/>
          </p:nvPr>
        </p:nvSpPr>
        <p:spPr/>
        <p:txBody>
          <a:bodyPr/>
          <a:lstStyle/>
          <a:p>
            <a:pPr>
              <a:spcAft>
                <a:spcPts val="1000"/>
              </a:spcAft>
              <a:defRPr sz="1800">
                <a:solidFill>
                  <a:srgbClr val="333333"/>
                </a:solidFill>
              </a:defRPr>
            </a:pPr>
            <a:r>
              <a:t>REAR SECTION:</a:t>
            </a:r>
          </a:p>
          <a:p>
            <a:pPr>
              <a:spcAft>
                <a:spcPts val="1000"/>
              </a:spcAft>
              <a:defRPr sz="1800">
                <a:solidFill>
                  <a:srgbClr val="333333"/>
                </a:solidFill>
              </a:defRPr>
            </a:pPr>
            <a:r>
              <a:t>Rear Structure: — Crumple zone: Rear-end collision protection (less deformation than front—typically 40-60 cm)</a:t>
            </a:r>
          </a:p>
          <a:p>
            <a:pPr>
              <a:spcAft>
                <a:spcPts val="600"/>
              </a:spcAft>
              <a:defRPr sz="1800">
                <a:solidFill>
                  <a:srgbClr val="333333"/>
                </a:solidFill>
              </a:defRPr>
            </a:pPr>
            <a:r>
              <a:t>Trunk floor / Cargo area: Steel or composite panel</a:t>
            </a:r>
          </a:p>
          <a:p>
            <a:pPr>
              <a:spcAft>
                <a:spcPts val="600"/>
              </a:spcAft>
              <a:defRPr sz="1800">
                <a:solidFill>
                  <a:srgbClr val="333333"/>
                </a:solidFill>
              </a:defRPr>
            </a:pPr>
            <a:r>
              <a:t>Spare tire well: (if equipped—many modern cars use tire repair kit instead)</a:t>
            </a:r>
          </a:p>
          <a:p>
            <a:pPr>
              <a:spcAft>
                <a:spcPts val="1000"/>
              </a:spcAft>
              <a:defRPr sz="1800">
                <a:solidFill>
                  <a:srgbClr val="333333"/>
                </a:solidFill>
              </a:defRPr>
            </a:pPr>
            <a:r>
              <a:t>Rear Suspension: — Independent: McPherson/multi-link (sedans, crossovers)</a:t>
            </a:r>
          </a:p>
          <a:p>
            <a:pPr>
              <a:spcAft>
                <a:spcPts val="600"/>
              </a:spcAft>
              <a:defRPr sz="1800">
                <a:solidFill>
                  <a:srgbClr val="333333"/>
                </a:solidFill>
              </a:defRPr>
            </a:pPr>
            <a:r>
              <a:t>Solid axle: Beam or live axle (trucks, some SUVs)</a:t>
            </a:r>
          </a:p>
          <a:p>
            <a:pPr>
              <a:spcAft>
                <a:spcPts val="1000"/>
              </a:spcAft>
              <a:defRPr sz="1800">
                <a:solidFill>
                  <a:srgbClr val="333333"/>
                </a:solidFill>
              </a:defRPr>
            </a:pPr>
            <a:r>
              <a:t>Rear Systems: — Fuel filler: Connects to fuel tank via hose</a:t>
            </a:r>
          </a:p>
          <a:p>
            <a:pPr>
              <a:spcAft>
                <a:spcPts val="600"/>
              </a:spcAft>
              <a:defRPr sz="1800">
                <a:solidFill>
                  <a:srgbClr val="333333"/>
                </a:solidFill>
              </a:defRPr>
            </a:pPr>
            <a:r>
              <a:t>Exhaust outlet: Muffler and tailpipe exit</a:t>
            </a:r>
          </a:p>
          <a:p>
            <a:pPr>
              <a:spcAft>
                <a:spcPts val="600"/>
              </a:spcAft>
              <a:defRPr sz="1800">
                <a:solidFill>
                  <a:srgbClr val="333333"/>
                </a:solidFill>
              </a:defRPr>
            </a:pPr>
            <a:r>
              <a:t>Rear lights: Tail lights, brake lights, reverse lights, turn signals</a:t>
            </a:r>
          </a:p>
          <a:p>
            <a:pPr>
              <a:spcAft>
                <a:spcPts val="600"/>
              </a:spcAft>
              <a:defRPr sz="1800">
                <a:solidFill>
                  <a:srgbClr val="333333"/>
                </a:solidFill>
              </a:defRPr>
            </a:pPr>
            <a:r>
              <a:t>License plate mounting —--</a:t>
            </a:r>
          </a:p>
          <a:p>
            <a:pPr>
              <a:spcAft>
                <a:spcPts val="1000"/>
              </a:spcAft>
              <a:defRPr sz="1800">
                <a:solidFill>
                  <a:srgbClr val="333333"/>
                </a:solidFill>
              </a:defRPr>
            </a:pPr>
            <a:r>
              <a:t>ROOF &amp; SIDES:</a:t>
            </a:r>
          </a:p>
          <a:p>
            <a:pPr>
              <a:spcAft>
                <a:spcPts val="1000"/>
              </a:spcAft>
              <a:defRPr sz="1800">
                <a:solidFill>
                  <a:srgbClr val="333333"/>
                </a:solidFill>
              </a:defRPr>
            </a:pPr>
            <a:r>
              <a:t>Roof: — Structural panel: Stamped steel, welded to pillars</a:t>
            </a:r>
          </a:p>
          <a:p>
            <a:pPr>
              <a:spcAft>
                <a:spcPts val="600"/>
              </a:spcAft>
              <a:defRPr sz="1800">
                <a:solidFill>
                  <a:srgbClr val="333333"/>
                </a:solidFill>
              </a:defRPr>
            </a:pPr>
            <a:r>
              <a:t>Optional sunroof: Requires reinforcement around opening</a:t>
            </a:r>
          </a:p>
          <a:p>
            <a:pPr>
              <a:spcAft>
                <a:spcPts val="600"/>
              </a:spcAft>
              <a:defRPr sz="1800">
                <a:solidFill>
                  <a:srgbClr val="333333"/>
                </a:solidFill>
              </a:defRPr>
            </a:pPr>
            <a:r>
              <a:t>Headliner: Interior trim (fabric/vinyl + foam sound absorption)</a:t>
            </a:r>
          </a:p>
          <a:p>
            <a:pPr>
              <a:spcAft>
                <a:spcPts val="1000"/>
              </a:spcAft>
              <a:defRPr sz="1800">
                <a:solidFill>
                  <a:srgbClr val="333333"/>
                </a:solidFill>
              </a:defRPr>
            </a:pPr>
            <a:r>
              <a:t>Doors: — Outer panel: Aluminum or steel (dent-resistant)</a:t>
            </a:r>
          </a:p>
          <a:p>
            <a:pPr>
              <a:spcAft>
                <a:spcPts val="600"/>
              </a:spcAft>
              <a:defRPr sz="1800">
                <a:solidFill>
                  <a:srgbClr val="333333"/>
                </a:solidFill>
              </a:defRPr>
            </a:pPr>
            <a:r>
              <a:t>Inner structure: Steel with intrusion beam</a:t>
            </a:r>
          </a:p>
          <a:p>
            <a:pPr>
              <a:spcAft>
                <a:spcPts val="600"/>
              </a:spcAft>
              <a:defRPr sz="1800">
                <a:solidFill>
                  <a:srgbClr val="333333"/>
                </a:solidFill>
              </a:defRPr>
            </a:pPr>
            <a:r>
              <a:t>Window regulator: Motor-driven or manual</a:t>
            </a:r>
          </a:p>
          <a:p>
            <a:pPr>
              <a:spcAft>
                <a:spcPts val="600"/>
              </a:spcAft>
              <a:defRPr sz="1800">
                <a:solidFill>
                  <a:srgbClr val="333333"/>
                </a:solidFill>
              </a:defRPr>
            </a:pPr>
            <a:r>
              <a:t>Door latch mechanism: Connects to body-mounted striker</a:t>
            </a:r>
          </a:p>
          <a:p>
            <a:pPr>
              <a:spcAft>
                <a:spcPts val="600"/>
              </a:spcAft>
              <a:defRPr sz="1800">
                <a:solidFill>
                  <a:srgbClr val="333333"/>
                </a:solidFill>
              </a:defRPr>
            </a:pPr>
            <a:r>
              <a:t>Side impact airbags: Mounted in door or seat</a:t>
            </a:r>
          </a:p>
          <a:p>
            <a:pPr>
              <a:spcAft>
                <a:spcPts val="1000"/>
              </a:spcAft>
              <a:defRPr sz="1800">
                <a:solidFill>
                  <a:srgbClr val="333333"/>
                </a:solidFill>
              </a:defRPr>
            </a:pPr>
            <a:r>
              <a:t>Fenders: — Front: Typically bolted on (easy replacement after minor crash)</a:t>
            </a:r>
          </a:p>
          <a:p>
            <a:pPr>
              <a:spcAft>
                <a:spcPts val="600"/>
              </a:spcAft>
              <a:defRPr sz="1800">
                <a:solidFill>
                  <a:srgbClr val="333333"/>
                </a:solidFill>
              </a:defRPr>
            </a:pPr>
            <a:r>
              <a:t>Rear: Integrated into body (welded) or bolted</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p>
        </p:txBody>
      </p:sp>
      <p:sp>
        <p:nvSpPr>
          <p:cNvPr id="3" name="Content Placeholder 2"/>
          <p:cNvSpPr>
            <a:spLocks noGrp="1"/>
          </p:cNvSpPr>
          <p:nvPr>
            <p:ph idx="1"/>
          </p:nvPr>
        </p:nvSpPr>
        <p:spPr/>
        <p:txBody>
          <a:bodyPr/>
          <a:lstStyle/>
          <a:p>
            <a:pPr>
              <a:spcAft>
                <a:spcPts val="1000"/>
              </a:spcAft>
              <a:defRPr sz="1800">
                <a:solidFill>
                  <a:srgbClr val="333333"/>
                </a:solidFill>
              </a:defRPr>
            </a:pPr>
            <a:r>
              <a:t>COMPLETE MASS BREAKDOWN (Typical 1,500 kg Sedan):</a:t>
            </a:r>
          </a:p>
          <a:p>
            <a:pPr>
              <a:spcAft>
                <a:spcPts val="1000"/>
              </a:spcAft>
              <a:defRPr sz="1800">
                <a:solidFill>
                  <a:srgbClr val="333333"/>
                </a:solidFill>
              </a:defRPr>
            </a:pPr>
            <a:r>
              <a:t>| Component | Mass (kg) | % of Total |</a:t>
            </a:r>
          </a:p>
          <a:p>
            <a:pPr>
              <a:spcAft>
                <a:spcPts val="1000"/>
              </a:spcAft>
              <a:defRPr sz="1800">
                <a:solidFill>
                  <a:srgbClr val="333333"/>
                </a:solidFill>
              </a:defRPr>
            </a:pPr>
            <a:r>
              <a:t>|-----------|-----------|------------|</a:t>
            </a:r>
          </a:p>
          <a:p>
            <a:pPr>
              <a:spcAft>
                <a:spcPts val="1000"/>
              </a:spcAft>
              <a:defRPr sz="1800">
                <a:solidFill>
                  <a:srgbClr val="333333"/>
                </a:solidFill>
              </a:defRPr>
            </a:pPr>
            <a:r>
              <a:t>| Body-in-White (BIW) | 300-350 | 20-23% |</a:t>
            </a:r>
          </a:p>
          <a:p>
            <a:pPr>
              <a:spcAft>
                <a:spcPts val="1000"/>
              </a:spcAft>
              <a:defRPr sz="1800">
                <a:solidFill>
                  <a:srgbClr val="333333"/>
                </a:solidFill>
              </a:defRPr>
            </a:pPr>
            <a:r>
              <a:t>| Powertrain (engine + transmission) | 250-350 | 17-23% |</a:t>
            </a:r>
          </a:p>
          <a:p>
            <a:pPr>
              <a:spcAft>
                <a:spcPts val="1000"/>
              </a:spcAft>
              <a:defRPr sz="1800">
                <a:solidFill>
                  <a:srgbClr val="333333"/>
                </a:solidFill>
              </a:defRPr>
            </a:pPr>
            <a:r>
              <a:t>| Chassis (suspension, brakes, wheels, tires) | 200-250 | 13-17% |</a:t>
            </a:r>
          </a:p>
          <a:p>
            <a:pPr>
              <a:spcAft>
                <a:spcPts val="1000"/>
              </a:spcAft>
              <a:defRPr sz="1800">
                <a:solidFill>
                  <a:srgbClr val="333333"/>
                </a:solidFill>
              </a:defRPr>
            </a:pPr>
            <a:r>
              <a:t>| Interior (seats, dashboard, carpet, insulation) | 100-150 | 7-10% |</a:t>
            </a:r>
          </a:p>
          <a:p>
            <a:pPr>
              <a:spcAft>
                <a:spcPts val="1000"/>
              </a:spcAft>
              <a:defRPr sz="1800">
                <a:solidFill>
                  <a:srgbClr val="333333"/>
                </a:solidFill>
              </a:defRPr>
            </a:pPr>
            <a:r>
              <a:t>| Electrical/Electronics | 80-120 | 5-8% |</a:t>
            </a:r>
          </a:p>
          <a:p>
            <a:pPr>
              <a:spcAft>
                <a:spcPts val="1000"/>
              </a:spcAft>
              <a:defRPr sz="1800">
                <a:solidFill>
                  <a:srgbClr val="333333"/>
                </a:solidFill>
              </a:defRPr>
            </a:pPr>
            <a:r>
              <a:t>| Fluids (fuel, oil, coolant) | 60-80 | 4-5% |</a:t>
            </a:r>
          </a:p>
          <a:p>
            <a:pPr>
              <a:spcAft>
                <a:spcPts val="1000"/>
              </a:spcAft>
              <a:defRPr sz="1800">
                <a:solidFill>
                  <a:srgbClr val="333333"/>
                </a:solidFill>
              </a:defRPr>
            </a:pPr>
            <a:r>
              <a:t>| Glass (windows, windshield) | 40-60 | 3-4% |</a:t>
            </a:r>
          </a:p>
          <a:p>
            <a:pPr>
              <a:spcAft>
                <a:spcPts val="1000"/>
              </a:spcAft>
              <a:defRPr sz="1800">
                <a:solidFill>
                  <a:srgbClr val="333333"/>
                </a:solidFill>
              </a:defRPr>
            </a:pPr>
            <a:r>
              <a:t>| Exterior trim (bumpers, mirrors, grille) | 30-50 | 2-3% |</a:t>
            </a:r>
          </a:p>
          <a:p>
            <a:pPr>
              <a:spcAft>
                <a:spcPts val="1000"/>
              </a:spcAft>
              <a:defRPr sz="1800">
                <a:solidFill>
                  <a:srgbClr val="333333"/>
                </a:solidFill>
              </a:defRPr>
            </a:pPr>
            <a:r>
              <a:t>| HVAC system | 20-30 | 1-2% |</a:t>
            </a:r>
          </a:p>
          <a:p>
            <a:pPr>
              <a:spcAft>
                <a:spcPts val="1000"/>
              </a:spcAft>
              <a:defRPr sz="1800">
                <a:solidFill>
                  <a:srgbClr val="333333"/>
                </a:solidFill>
              </a:defRPr>
            </a:pPr>
            <a:r>
              <a:t>| Exhaust system | 20-30 | 1-2% |</a:t>
            </a:r>
          </a:p>
          <a:p>
            <a:pPr>
              <a:spcAft>
                <a:spcPts val="1000"/>
              </a:spcAft>
              <a:defRPr sz="1800">
                <a:solidFill>
                  <a:srgbClr val="333333"/>
                </a:solidFill>
              </a:defRPr>
            </a:pPr>
            <a:r>
              <a:t>| Fuel system (tank, pump, lines) | 15-25 | 1-2% |</a:t>
            </a:r>
          </a:p>
          <a:p>
            <a:pPr>
              <a:spcAft>
                <a:spcPts val="1000"/>
              </a:spcAft>
              <a:defRPr sz="1800">
                <a:solidFill>
                  <a:srgbClr val="333333"/>
                </a:solidFill>
              </a:defRPr>
            </a:pPr>
            <a:r>
              <a:t>| Miscellaneous | 50-100 | 3-7% |</a:t>
            </a:r>
          </a:p>
          <a:p>
            <a:pPr>
              <a:spcAft>
                <a:spcPts val="1000"/>
              </a:spcAft>
              <a:defRPr sz="1800">
                <a:solidFill>
                  <a:srgbClr val="333333"/>
                </a:solidFill>
              </a:defRPr>
            </a:pPr>
            <a:r>
              <a:t>| TOTAL | ~1,500 kg | 100% |</a:t>
            </a:r>
          </a:p>
          <a:p>
            <a:pPr>
              <a:spcAft>
                <a:spcPts val="1000"/>
              </a:spcAft>
              <a:defRPr sz="1800">
                <a:solidFill>
                  <a:srgbClr val="333333"/>
                </a:solidFill>
              </a:defRPr>
            </a:pPr>
            <a:r>
              <a:t>Weight Reduction Targets (Modern Design):</a:t>
            </a:r>
          </a:p>
          <a:p>
            <a:pPr>
              <a:spcAft>
                <a:spcPts val="1000"/>
              </a:spcAft>
              <a:defRPr sz="1800">
                <a:solidFill>
                  <a:srgbClr val="333333"/>
                </a:solidFill>
              </a:defRPr>
            </a:pPr>
            <a:r>
              <a:t>Typical 2025 targets vs 2010 baseline:</a:t>
            </a:r>
          </a:p>
          <a:p>
            <a:pPr>
              <a:spcAft>
                <a:spcPts val="600"/>
              </a:spcAft>
              <a:defRPr sz="1800">
                <a:solidFill>
                  <a:srgbClr val="333333"/>
                </a:solidFill>
              </a:defRPr>
            </a:pPr>
            <a:r>
              <a:t>Body: 10-15% lighter (AHSS, aluminum, optimized design)</a:t>
            </a:r>
          </a:p>
          <a:p>
            <a:pPr>
              <a:spcAft>
                <a:spcPts val="600"/>
              </a:spcAft>
              <a:defRPr sz="1800">
                <a:solidFill>
                  <a:srgbClr val="333333"/>
                </a:solidFill>
              </a:defRPr>
            </a:pPr>
            <a:r>
              <a:t>Powertrain: 5-10% lighter (aluminum blocks, smaller displacement + turbo)</a:t>
            </a:r>
          </a:p>
          <a:p>
            <a:pPr>
              <a:spcAft>
                <a:spcPts val="600"/>
              </a:spcAft>
              <a:defRPr sz="1800">
                <a:solidFill>
                  <a:srgbClr val="333333"/>
                </a:solidFill>
              </a:defRPr>
            </a:pPr>
            <a:r>
              <a:t>Chassis: 5-10% lighter (aluminum suspension arms, lighter wheels)</a:t>
            </a:r>
          </a:p>
          <a:p>
            <a:pPr>
              <a:spcAft>
                <a:spcPts val="1000"/>
              </a:spcAft>
              <a:defRPr sz="1800">
                <a:solidFill>
                  <a:srgbClr val="333333"/>
                </a:solidFill>
              </a:defRPr>
            </a:pPr>
            <a:r>
              <a:t>Total: 8-12% vehicle weight reduction → 5-8% fuel economy improvement</a:t>
            </a:r>
          </a:p>
          <a:p>
            <a:pPr>
              <a:spcAft>
                <a:spcPts val="1000"/>
              </a:spcAft>
              <a:defRPr sz="1800">
                <a:solidFill>
                  <a:srgbClr val="333333"/>
                </a:solidFill>
              </a:defRPr>
            </a:pPr>
            <a:r>
              <a:t>Instructor Narration (continued):</a:t>
            </a:r>
          </a:p>
          <a:p>
            <a:pPr>
              <a:spcAft>
                <a:spcPts val="1000"/>
              </a:spcAft>
              <a:defRPr sz="1800">
                <a:solidFill>
                  <a:srgbClr val="333333"/>
                </a:solidFill>
              </a:defRPr>
            </a:pPr>
            <a:r>
              <a:t>'Every kilogram saved improves fuel economy, reduces emissions, and improves performance (acceleration, braking, handling). This is why engineers obsess over weight—it's the gift that keeps giving. Remove 100 kg, and you improve everything.'</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Slide 28-30: Summary and Integration</a:t>
            </a:r>
          </a:p>
        </p:txBody>
      </p:sp>
      <p:sp>
        <p:nvSpPr>
          <p:cNvPr id="3" name="Content Placeholder 2"/>
          <p:cNvSpPr>
            <a:spLocks noGrp="1"/>
          </p:cNvSpPr>
          <p:nvPr>
            <p:ph idx="1"/>
          </p:nvPr>
        </p:nvSpPr>
        <p:spPr/>
        <p:txBody>
          <a:bodyPr/>
          <a:lstStyle/>
          <a:p>
            <a:pPr>
              <a:spcAft>
                <a:spcPts val="1000"/>
              </a:spcAft>
              <a:defRPr sz="1800">
                <a:solidFill>
                  <a:srgbClr val="333333"/>
                </a:solidFill>
              </a:defRPr>
            </a:pPr>
            <a:r>
              <a:t>[Slides 28-30 would cover:</a:t>
            </a:r>
          </a:p>
          <a:p>
            <a:pPr>
              <a:spcAft>
                <a:spcPts val="600"/>
              </a:spcAft>
              <a:defRPr sz="1800">
                <a:solidFill>
                  <a:srgbClr val="333333"/>
                </a:solidFill>
              </a:defRPr>
            </a:pPr>
            <a:r>
              <a:t>Slide 28: Design trade-offs summary (cost vs weight vs performance vs safety)</a:t>
            </a:r>
          </a:p>
          <a:p>
            <a:pPr>
              <a:spcAft>
                <a:spcPts val="600"/>
              </a:spcAft>
              <a:defRPr sz="1800">
                <a:solidFill>
                  <a:srgbClr val="333333"/>
                </a:solidFill>
              </a:defRPr>
            </a:pPr>
            <a:r>
              <a:t>Slide 29: Modern trends (lightweighting, electrification impact on architecture, skateboard platforms for EVs)</a:t>
            </a:r>
          </a:p>
          <a:p>
            <a:pPr>
              <a:spcAft>
                <a:spcPts val="600"/>
              </a:spcAft>
              <a:defRPr sz="1800">
                <a:solidFill>
                  <a:srgbClr val="333333"/>
                </a:solidFill>
              </a:defRPr>
            </a:pPr>
            <a:r>
              <a:t>Slide 30: Complete session summary and preview of Session 17 (HVAC)]</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 SESSION METADATA</a:t>
            </a:r>
          </a:p>
        </p:txBody>
      </p:sp>
      <p:sp>
        <p:nvSpPr>
          <p:cNvPr id="3" name="Content Placeholder 2"/>
          <p:cNvSpPr>
            <a:spLocks noGrp="1"/>
          </p:cNvSpPr>
          <p:nvPr>
            <p:ph idx="1"/>
          </p:nvPr>
        </p:nvSpPr>
        <p:spPr/>
        <p:txBody>
          <a:bodyPr/>
          <a:lstStyle/>
          <a:p>
            <a:pPr>
              <a:spcAft>
                <a:spcPts val="1000"/>
              </a:spcAft>
              <a:defRPr sz="1800">
                <a:solidFill>
                  <a:srgbClr val="333333"/>
                </a:solidFill>
              </a:defRPr>
            </a:pPr>
            <a:r>
              <a:t>Total Slides: 30</a:t>
            </a:r>
          </a:p>
          <a:p>
            <a:pPr>
              <a:spcAft>
                <a:spcPts val="1000"/>
              </a:spcAft>
              <a:defRPr sz="1800">
                <a:solidFill>
                  <a:srgbClr val="333333"/>
                </a:solidFill>
              </a:defRPr>
            </a:pPr>
            <a:r>
              <a:t>Lecture Duration: 90 minutes</a:t>
            </a:r>
          </a:p>
          <a:p>
            <a:pPr>
              <a:spcAft>
                <a:spcPts val="1000"/>
              </a:spcAft>
              <a:defRPr sz="1800">
                <a:solidFill>
                  <a:srgbClr val="333333"/>
                </a:solidFill>
              </a:defRPr>
            </a:pPr>
            <a:r>
              <a:t>Q&amp;A Duration: 30 minutes</a:t>
            </a:r>
          </a:p>
          <a:p>
            <a:pPr>
              <a:spcAft>
                <a:spcPts val="1000"/>
              </a:spcAft>
              <a:defRPr sz="1800">
                <a:solidFill>
                  <a:srgbClr val="333333"/>
                </a:solidFill>
              </a:defRPr>
            </a:pPr>
            <a:r>
              <a:t>Learning Outcome Coverage: — ✅ SO-5-16-1: Vehicle classification (Slides 2-6)</a:t>
            </a:r>
          </a:p>
          <a:p>
            <a:pPr>
              <a:spcAft>
                <a:spcPts val="600"/>
              </a:spcAft>
              <a:defRPr sz="1800">
                <a:solidFill>
                  <a:srgbClr val="333333"/>
                </a:solidFill>
              </a:defRPr>
            </a:pPr>
            <a:r>
              <a:t>✅ SO-5-16-2: Chassis types comparison (Slides 7-13)</a:t>
            </a:r>
          </a:p>
          <a:p>
            <a:pPr>
              <a:spcAft>
                <a:spcPts val="600"/>
              </a:spcAft>
              <a:defRPr sz="1800">
                <a:solidFill>
                  <a:srgbClr val="333333"/>
                </a:solidFill>
              </a:defRPr>
            </a:pPr>
            <a:r>
              <a:t>✅ SO-5-16-3: Materials and construction (Slides 14-19)</a:t>
            </a:r>
          </a:p>
          <a:p>
            <a:pPr>
              <a:spcAft>
                <a:spcPts val="600"/>
              </a:spcAft>
              <a:defRPr sz="1800">
                <a:solidFill>
                  <a:srgbClr val="333333"/>
                </a:solidFill>
              </a:defRPr>
            </a:pPr>
            <a:r>
              <a:t>✅ SO-5-16-4: Weight distribution calculation (Slide 20)</a:t>
            </a:r>
          </a:p>
          <a:p>
            <a:pPr>
              <a:spcAft>
                <a:spcPts val="600"/>
              </a:spcAft>
              <a:defRPr sz="1800">
                <a:solidFill>
                  <a:srgbClr val="333333"/>
                </a:solidFill>
              </a:defRPr>
            </a:pPr>
            <a:r>
              <a:t>✅ SO-5-16-5: Crash structures and crumple zones (Slides 21-26)</a:t>
            </a:r>
          </a:p>
          <a:p>
            <a:pPr>
              <a:spcAft>
                <a:spcPts val="600"/>
              </a:spcAft>
              <a:defRPr sz="1800">
                <a:solidFill>
                  <a:srgbClr val="333333"/>
                </a:solidFill>
              </a:defRPr>
            </a:pPr>
            <a:r>
              <a:t>✅ SO-5-16-6: Complete architecture integration (Slide 27)</a:t>
            </a:r>
          </a:p>
          <a:p>
            <a:pPr>
              <a:spcAft>
                <a:spcPts val="1000"/>
              </a:spcAft>
              <a:defRPr sz="1800">
                <a:solidFill>
                  <a:srgbClr val="333333"/>
                </a:solidFill>
              </a:defRPr>
            </a:pPr>
            <a:r>
              <a:t>Worked Example: 1</a:t>
            </a:r>
          </a:p>
          <a:p>
            <a:pPr>
              <a:spcAft>
                <a:spcPts val="600"/>
              </a:spcAft>
              <a:defRPr sz="1800">
                <a:solidFill>
                  <a:srgbClr val="333333"/>
                </a:solidFill>
              </a:defRPr>
            </a:pPr>
            <a:r>
              <a:t>Weight distribution calculation (Slide 20)</a:t>
            </a:r>
          </a:p>
          <a:p>
            <a:pPr>
              <a:spcAft>
                <a:spcPts val="1000"/>
              </a:spcAft>
              <a:defRPr sz="1800">
                <a:solidFill>
                  <a:srgbClr val="333333"/>
                </a:solidFill>
              </a:defRPr>
            </a:pPr>
            <a:r>
              <a:t>Key Concepts:</a:t>
            </a:r>
          </a:p>
          <a:p>
            <a:pPr>
              <a:spcAft>
                <a:spcPts val="600"/>
              </a:spcAft>
              <a:defRPr sz="1800">
                <a:solidFill>
                  <a:srgbClr val="333333"/>
                </a:solidFill>
              </a:defRPr>
            </a:pPr>
            <a:r>
              <a:t>Monocoque (unibody) vs ladder frame vs space frame</a:t>
            </a:r>
          </a:p>
          <a:p>
            <a:pPr>
              <a:spcAft>
                <a:spcPts val="600"/>
              </a:spcAft>
              <a:defRPr sz="1800">
                <a:solidFill>
                  <a:srgbClr val="333333"/>
                </a:solidFill>
              </a:defRPr>
            </a:pPr>
            <a:r>
              <a:t>Material trade-offs (steel cheap/heavy, aluminum light/expensive, AHSS strong)</a:t>
            </a:r>
          </a:p>
          <a:p>
            <a:pPr>
              <a:spcAft>
                <a:spcPts val="600"/>
              </a:spcAft>
              <a:defRPr sz="1800">
                <a:solidFill>
                  <a:srgbClr val="333333"/>
                </a:solidFill>
              </a:defRPr>
            </a:pPr>
            <a:r>
              <a:t>Weight distribution affects handling (50/50 ideal, front-heavy = understeer)</a:t>
            </a:r>
          </a:p>
          <a:p>
            <a:pPr>
              <a:spcAft>
                <a:spcPts val="600"/>
              </a:spcAft>
              <a:defRPr sz="1800">
                <a:solidFill>
                  <a:srgbClr val="333333"/>
                </a:solidFill>
              </a:defRPr>
            </a:pPr>
            <a:r>
              <a:t>Crash safety requires crumple zones + rigid safety cage</a:t>
            </a:r>
          </a:p>
          <a:p>
            <a:pPr>
              <a:spcAft>
                <a:spcPts val="600"/>
              </a:spcAft>
              <a:defRPr sz="1800">
                <a:solidFill>
                  <a:srgbClr val="333333"/>
                </a:solidFill>
              </a:defRPr>
            </a:pPr>
            <a:r>
              <a:t>Complete vehicle is integrated system of subsystems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p>
        </p:txBody>
      </p:sp>
      <p:sp>
        <p:nvSpPr>
          <p:cNvPr id="3" name="Content Placeholder 2"/>
          <p:cNvSpPr>
            <a:spLocks noGrp="1"/>
          </p:cNvSpPr>
          <p:nvPr>
            <p:ph idx="1"/>
          </p:nvPr>
        </p:nvSpPr>
        <p:spPr/>
        <p:txBody>
          <a:bodyPr/>
          <a:lstStyle/>
          <a:p>
            <a:pPr>
              <a:spcAft>
                <a:spcPts val="1000"/>
              </a:spcAft>
              <a:defRPr sz="1800">
                <a:solidFill>
                  <a:srgbClr val="333333"/>
                </a:solidFill>
              </a:defRPr>
            </a:pPr>
            <a:r>
              <a:t>END OF SESSION 16 FRAMEWORK</a:t>
            </a:r>
          </a:p>
          <a:p>
            <a:pPr>
              <a:spcAft>
                <a:spcPts val="1000"/>
              </a:spcAft>
              <a:defRPr sz="1800">
                <a:solidFill>
                  <a:srgbClr val="333333"/>
                </a:solidFill>
              </a:defRPr>
            </a:pPr>
            <a:r>
              <a:t>This framework is ready for PowerPoint conversion.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