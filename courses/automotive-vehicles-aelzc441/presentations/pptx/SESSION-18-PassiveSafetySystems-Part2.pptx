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18: Passive Safety Systems - PART 2 of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Passive Safety Systems - PART 2 of 2</a:t>
            </a:r>
          </a:p>
        </p:txBody>
      </p:sp>
      <p:sp>
        <p:nvSpPr>
          <p:cNvPr id="3" name="Subtitle 2"/>
          <p:cNvSpPr>
            <a:spLocks noGrp="1"/>
          </p:cNvSpPr>
          <p:nvPr>
            <p:ph type="subTitle" idx="1"/>
          </p:nvPr>
        </p:nvSpPr>
        <p:spPr/>
        <p:txBody>
          <a:bodyPr/>
          <a:lstStyle/>
          <a:p>
            <a:pPr>
              <a:defRPr sz="2000">
                <a:solidFill>
                  <a:srgbClr val="FFFFFF"/>
                </a:solidFill>
              </a:defRPr>
            </a:pPr>
            <a:r>
              <a:t>Session 18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Frontal Airbag System - Driver &amp; Passenger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start with the most common airbags: frontal airbags for the driver and front passenger. These are mandatory in almost all markets since the 1990s.</a:t>
            </a:r>
          </a:p>
          <a:p>
            <a:pPr>
              <a:spcAft>
                <a:spcPts val="1000"/>
              </a:spcAft>
              <a:defRPr sz="1800">
                <a:solidFill>
                  <a:srgbClr val="333333"/>
                </a:solidFill>
              </a:defRPr>
            </a:pPr>
            <a:r>
              <a:t>The driver airbag is housed in the steering wheel center - you see it every time you drive, usually marked 'SRS' or 'AIRBAG'. It's a tightly folded fabric bag, typically about 60-70 liters when fully inflated, with a pyrotechnic inflator behind it.</a:t>
            </a:r>
          </a:p>
          <a:p>
            <a:pPr>
              <a:spcAft>
                <a:spcPts val="1000"/>
              </a:spcAft>
              <a:defRPr sz="1800">
                <a:solidFill>
                  <a:srgbClr val="333333"/>
                </a:solidFill>
              </a:defRPr>
            </a:pPr>
            <a:r>
              <a:t>The passenger airbag is much larger - 120-160 liters - because the passenger sits farther from the dashboard, so we need a bigger cushion to bridge that distance. It's hidden behind a tear seam in the dashboard, usually in front of the passenger seat.</a:t>
            </a:r>
          </a:p>
          <a:p>
            <a:pPr>
              <a:spcAft>
                <a:spcPts val="1000"/>
              </a:spcAft>
              <a:defRPr sz="1800">
                <a:solidFill>
                  <a:srgbClr val="333333"/>
                </a:solidFill>
              </a:defRPr>
            </a:pPr>
            <a:r>
              <a:t>When deployment is triggered, several things happen almost simultaneously. First, the inflator fires - we'll discuss the chemistry next. Gas rushes into the bag at extreme pressure. The bag bursts through its cover - the steering wheel hub splits open, or the dashboard tear seam rips apart. The bag inflates outward at speeds exceeding 100 km/h.</a:t>
            </a:r>
          </a:p>
          <a:p>
            <a:pPr>
              <a:spcAft>
                <a:spcPts val="1000"/>
              </a:spcAft>
              <a:defRPr sz="1800">
                <a:solidFill>
                  <a:srgbClr val="333333"/>
                </a:solidFill>
              </a:defRPr>
            </a:pPr>
            <a:r>
              <a:t>Within 30-40 milliseconds, the bag is fully inflated. It has small vent holes that are closed initially but open as the bag is compressed. When the occupant's head contacts the bag, these vents allow gas to escape in a controlled manner, cushioning the impact.</a:t>
            </a:r>
          </a:p>
          <a:p>
            <a:pPr>
              <a:spcAft>
                <a:spcPts val="1000"/>
              </a:spcAft>
              <a:defRPr sz="1800">
                <a:solidFill>
                  <a:srgbClr val="333333"/>
                </a:solidFill>
              </a:defRPr>
            </a:pPr>
            <a:r>
              <a:t>After the crash, the bag deflates completely within a few seconds. You want it to deflate quickly so it doesn't obstruct vision or trap the occupant if there's a fire or secondary impact.</a:t>
            </a:r>
          </a:p>
          <a:p>
            <a:pPr>
              <a:spcAft>
                <a:spcPts val="1000"/>
              </a:spcAft>
              <a:defRPr sz="1800">
                <a:solidFill>
                  <a:srgbClr val="333333"/>
                </a:solidFill>
              </a:defRPr>
            </a:pPr>
            <a:r>
              <a:t>Modern systems have dual-stage inflators - we can fire a smaller charge for low-severity crashes or both charges for high-severity crashes. This adaptive deployment reduces the risk of airbag-induced injuries in minor crashes.</a:t>
            </a:r>
          </a:p>
          <a:p>
            <a:pPr>
              <a:spcAft>
                <a:spcPts val="1000"/>
              </a:spcAft>
              <a:defRPr sz="1800">
                <a:solidFill>
                  <a:srgbClr val="333333"/>
                </a:solidFill>
              </a:defRPr>
            </a:pPr>
            <a:r>
              <a:t>PPT Content:</a:t>
            </a:r>
          </a:p>
          <a:p>
            <a:pPr>
              <a:defRPr sz="1400">
                <a:solidFill>
                  <a:srgbClr val="787878"/>
                </a:solidFill>
                <a:latin typeface="Consolas"/>
              </a:defRPr>
            </a:pPr>
            <a:r>
              <a:t>FRONTAL AIRBAG SYSTEM: DRIVER &amp; PASSENGER</a:t>
            </a:r>
            <a:br/>
            <a:br/>
            <a:r>
              <a:t>DRIVER AIRBAG:</a:t>
            </a:r>
            <a:br/>
            <a:br/>
            <a:r>
              <a:t>Location: Steering wheel hub (center)</a:t>
            </a:r>
            <a:br/>
            <a:r>
              <a:t>Size: 60-70 liters (fully inflated)</a:t>
            </a:r>
            <a:br/>
            <a:r>
              <a:t>Shape: Circular/spherical</a:t>
            </a:r>
            <a:br/>
            <a:r>
              <a:t>Distance to occupant: ~30-40 cm (typical)</a:t>
            </a:r>
            <a:br/>
            <a:r>
              <a:t>Inflation time: 30-40 ms</a:t>
            </a:r>
            <a:br/>
            <a:br/>
            <a:r>
              <a:t>Components:</a:t>
            </a:r>
            <a:br/>
            <a:r>
              <a:t>• Airbag fabric: Nylon (heat resistant, flexible, high tensile strength)</a:t>
            </a:r>
            <a:br/>
            <a:r>
              <a:t>• Inflator: Pyrotechnic gas generator (behind airbag)</a:t>
            </a:r>
            <a:br/>
            <a:r>
              <a:t>• Cover: Steering wheel hub (tear seam, splits open during deployment)</a:t>
            </a:r>
            <a:br/>
            <a:r>
              <a:t>• Vents: Small holes in bag (allow controlled deflation during contact)</a:t>
            </a:r>
            <a:br/>
            <a:br/>
            <a:r>
              <a:t>Deployment Sequence:</a:t>
            </a:r>
            <a:br/>
            <a:r>
              <a:t>1. ACU sends trigger signal (electrical)</a:t>
            </a:r>
            <a:br/>
            <a:r>
              <a:t>2. Inflator initiator fires (pyrotechnic squib)</a:t>
            </a:r>
            <a:br/>
            <a:r>
              <a:t>3. Gas generation begins (&lt;5 ms)</a:t>
            </a:r>
            <a:br/>
            <a:r>
              <a:t>4. Pressure breaks steering wheel cover seam</a:t>
            </a:r>
            <a:br/>
            <a:r>
              <a:t>5. Bag inflates outward at ~200-300 km/h</a:t>
            </a:r>
            <a:br/>
            <a:r>
              <a:t>6. Full inflation: 30-40 ms, 60-70 liters</a:t>
            </a:r>
            <a:br/>
            <a:r>
              <a:t>7. Occupant contacts bag (50-70 ms)</a:t>
            </a:r>
            <a:br/>
            <a:r>
              <a:t>8. Bag compresses, vents open, controlled deflation</a:t>
            </a:r>
            <a:br/>
            <a:r>
              <a:t>9. Complete deflation: 2-3 seconds after deployment</a:t>
            </a:r>
            <a:br/>
            <a:br/>
            <a:r>
              <a:t>PASSENGER AIRBAG:</a:t>
            </a:r>
            <a:br/>
            <a:br/>
            <a:r>
              <a:t>Location: Dashboard (in front of passenger seat)</a:t>
            </a:r>
            <a:br/>
            <a:r>
              <a:t>Size: 120-160 liters (fully inflated) - MUCH larger!</a:t>
            </a:r>
            <a:br/>
            <a:r>
              <a:t>Shape: Elongated (bridges distance to passenger)</a:t>
            </a:r>
            <a:br/>
            <a:r>
              <a:t>Distance to occupant: ~60-80 cm (farther than driver)</a:t>
            </a:r>
            <a:br/>
            <a:r>
              <a:t>Inflation time: 35-45 ms (slightly slower, larger volume)</a:t>
            </a:r>
            <a:br/>
            <a:br/>
            <a:r>
              <a:t>Why Larger?</a:t>
            </a:r>
            <a:br/>
            <a:r>
              <a:t>• Greater distance to occupant requires larger cushion</a:t>
            </a:r>
            <a:br/>
            <a:r>
              <a:t>• Passenger may not be in optimal position (no steering wheel reference)</a:t>
            </a:r>
            <a:br/>
            <a:r>
              <a:t>• Must accommodate range of seating positions</a:t>
            </a:r>
            <a:br/>
            <a:br/>
            <a:r>
              <a:t>Dashboard Integration:</a:t>
            </a:r>
            <a:br/>
            <a:r>
              <a:t>• Hidden behind tear seam in dashboard top surface</a:t>
            </a:r>
            <a:br/>
            <a:r>
              <a:t>• Invisible when not deployed (aesthetic requirement)</a:t>
            </a:r>
            <a:br/>
            <a:r>
              <a:t>• Cover designed to split cleanly (prevent sharp fragments)</a:t>
            </a:r>
            <a:br/>
            <a:br/>
            <a:r>
              <a:t>Occupant Position Detection:</a:t>
            </a:r>
            <a:br/>
            <a:r>
              <a:t>• Some systems have passenger seat occupancy sensor</a:t>
            </a:r>
            <a:br/>
            <a:r>
              <a:t>• If seat empty: Passenger airbag disabled (no deployment)</a:t>
            </a:r>
            <a:br/>
            <a:r>
              <a:t>• If child seat detected: Airbag disabled (child safety)</a:t>
            </a:r>
            <a:br/>
            <a:br/>
            <a:r>
              <a:t>DUAL-STAGE INFLATORS (Modern Systems):</a:t>
            </a:r>
            <a:br/>
            <a:br/>
            <a:r>
              <a:t>Design:</a:t>
            </a:r>
            <a:br/>
            <a:r>
              <a:t>• Two pyrotechnic charges (Stage 1: smaller, Stage 2: larger)</a:t>
            </a:r>
            <a:br/>
            <a:r>
              <a:t>• Two initiator squibs (independently triggerable)</a:t>
            </a:r>
            <a:br/>
            <a:br/>
            <a:r>
              <a:t>Deployment Strategies:</a:t>
            </a:r>
            <a:br/>
            <a:r>
              <a:t>Low-severity crash (25-35 km/h):</a:t>
            </a:r>
            <a:br/>
            <a:r>
              <a:t>→ Fire Stage 1 only → Partial inflation → Lower deployment force</a:t>
            </a:r>
            <a:br/>
            <a:br/>
            <a:r>
              <a:t>High-severity crash (&gt;40 km/h):</a:t>
            </a:r>
            <a:br/>
            <a:r>
              <a:t>→ Fire Stage 1 + Stage 2 → Full inflation → Maximum protection</a:t>
            </a:r>
            <a:br/>
            <a:br/>
            <a:r>
              <a:t>Sequential deployment:</a:t>
            </a:r>
            <a:br/>
            <a:r>
              <a:t>→ Fire Stage 1 first, then Stage 2 (10-20 ms delay) → Softer initial inflation</a:t>
            </a:r>
            <a:br/>
            <a:br/>
            <a:r>
              <a:t>Benefits:</a:t>
            </a:r>
            <a:br/>
            <a:r>
              <a:t>• Reduces airbag injury risk in minor crashes</a:t>
            </a:r>
            <a:br/>
            <a:r>
              <a:t>• Adaptive to crash severity</a:t>
            </a:r>
            <a:br/>
            <a:r>
              <a:t>• Optimizes protection vs. injury trade-off</a:t>
            </a:r>
            <a:br/>
            <a:br/>
            <a:r>
              <a:t>Airbag Injuries:</a:t>
            </a:r>
            <a:br/>
            <a:r>
              <a:t>Despite protection, airbags can cause injuries:</a:t>
            </a:r>
            <a:br/>
            <a:r>
              <a:t>• Facial abrasions (contact with deploying bag)</a:t>
            </a:r>
            <a:br/>
            <a:r>
              <a:t>• Arm/hand fractures (hands on steering wheel during deployment)</a:t>
            </a:r>
            <a:br/>
            <a:r>
              <a:t>• Hearing damage (loud deployment noise, ~160 dB)</a:t>
            </a:r>
            <a:br/>
            <a:r>
              <a:t>• Burns (hot gas, though usually minor)</a:t>
            </a:r>
            <a:br/>
            <a:br/>
            <a:r>
              <a:t>Risk factors:</a:t>
            </a:r>
            <a:br/>
            <a:r>
              <a:t>• Out-of-position occupants (too close to airbag)</a:t>
            </a:r>
            <a:br/>
            <a:r>
              <a:t>• Unbelted occupants (high-speed contact with bag)</a:t>
            </a:r>
            <a:br/>
            <a:r>
              <a:t>• Children in front seat (should NEVER be in front with active airbag)</a:t>
            </a:r>
            <a:br/>
            <a:br/>
            <a:r>
              <a:t>Mitigation:</a:t>
            </a:r>
            <a:br/>
            <a:r>
              <a:t>• Dual-stage deployment reduces force in minor crashes</a:t>
            </a:r>
            <a:br/>
            <a:r>
              <a:t>• Occupant position detection (some advanced systems)</a:t>
            </a:r>
            <a:br/>
            <a:r>
              <a:t>• Proper belt use (keeps occupant at safe distance)</a:t>
            </a:r>
            <a:br/>
            <a:br/>
            <a:r>
              <a:t>Regulations:</a:t>
            </a:r>
            <a:br/>
            <a:r>
              <a:t>• US (FMVSS 208): Frontal airbags mandatory since 1998</a:t>
            </a:r>
            <a:br/>
            <a:r>
              <a:t>• EU: Mandatory since early 2000s</a:t>
            </a:r>
            <a:br/>
            <a:r>
              <a:t>• Most markets: Now standard equipment</a:t>
            </a:r>
          </a:p>
          <a:p>
            <a:pPr>
              <a:spcAft>
                <a:spcPts val="1000"/>
              </a:spcAft>
              <a:defRPr sz="1800">
                <a:solidFill>
                  <a:srgbClr val="333333"/>
                </a:solidFill>
              </a:defRPr>
            </a:pPr>
            <a:r>
              <a:t>Safety Warning:</a:t>
            </a:r>
          </a:p>
          <a:p>
            <a:pPr>
              <a:spcAft>
                <a:spcPts val="1000"/>
              </a:spcAft>
              <a:defRPr sz="1800">
                <a:solidFill>
                  <a:srgbClr val="333333"/>
                </a:solidFill>
              </a:defRPr>
            </a:pPr>
            <a:r>
              <a:t>Never put a rear-facing child seat in the front passenger seat if the airbag is active. The airbag can deploy and strike the back of the child seat, causing severe injury to the infant.</a:t>
            </a:r>
          </a:p>
          <a:p>
            <a:pPr>
              <a:spcAft>
                <a:spcPts val="1000"/>
              </a:spcAft>
              <a:defRPr sz="1800">
                <a:solidFill>
                  <a:srgbClr val="333333"/>
                </a:solidFill>
              </a:defRPr>
            </a:pPr>
            <a:r>
              <a:t>Outcomes Addressed: SO-6-18-3 (frontal airbag systems, deployment strategies)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Airbag Chemistry - Pyrotechnic Gas Generation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look at the chemistry that makes this incredibly fast inflation possible. Remember, we need to generate 60-70 liters of gas in 30 milliseconds. That's insane speed!</a:t>
            </a:r>
          </a:p>
          <a:p>
            <a:pPr>
              <a:spcAft>
                <a:spcPts val="1000"/>
              </a:spcAft>
              <a:defRPr sz="1800">
                <a:solidFill>
                  <a:srgbClr val="333333"/>
                </a:solidFill>
              </a:defRPr>
            </a:pPr>
            <a:r>
              <a:t>The traditional airbag inflator uses sodium azide (NaN₃) as the primary propellant. When an electrical current heats the initiator squib, it ignites the sodium azide. The decomposition reaction is:</a:t>
            </a:r>
          </a:p>
          <a:p>
            <a:pPr>
              <a:spcAft>
                <a:spcPts val="1000"/>
              </a:spcAft>
              <a:defRPr sz="1800">
                <a:solidFill>
                  <a:srgbClr val="333333"/>
                </a:solidFill>
              </a:defRPr>
            </a:pPr>
            <a:r>
              <a:t>2 NaN₃ → 2 Na + 3 N₂</a:t>
            </a:r>
          </a:p>
          <a:p>
            <a:pPr>
              <a:spcAft>
                <a:spcPts val="1000"/>
              </a:spcAft>
              <a:defRPr sz="1800">
                <a:solidFill>
                  <a:srgbClr val="333333"/>
                </a:solidFill>
              </a:defRPr>
            </a:pPr>
            <a:r>
              <a:t>This produces sodium metal and nitrogen gas. The nitrogen is what inflates the bag - it's inert, non-toxic, and safe. But sodium metal is highly reactive and dangerous, so there's a secondary reaction with a metal oxide, typically potassium nitrate and silicon dioxide, to convert the sodium into harmless sodium silicate (essentially glass).</a:t>
            </a:r>
          </a:p>
          <a:p>
            <a:pPr>
              <a:spcAft>
                <a:spcPts val="1000"/>
              </a:spcAft>
              <a:defRPr sz="1800">
                <a:solidFill>
                  <a:srgbClr val="333333"/>
                </a:solidFill>
              </a:defRPr>
            </a:pPr>
            <a:r>
              <a:t>The complete reaction generates nitrogen gas at extremely high temperature - around 500-800°C - and pressure. About 50-100 grams of sodium azide can generate 60-70 liters of nitrogen in milliseconds.</a:t>
            </a:r>
          </a:p>
          <a:p>
            <a:pPr>
              <a:spcAft>
                <a:spcPts val="1000"/>
              </a:spcAft>
              <a:defRPr sz="1800">
                <a:solidFill>
                  <a:srgbClr val="333333"/>
                </a:solidFill>
              </a:defRPr>
            </a:pPr>
            <a:r>
              <a:t>Newer inflators use alternative chemistries because sodium azide is toxic and expensive. Modern systems often use guanidine nitrate or other nitrogen-rich compounds. Some use hybrid inflators - a combination of pyrotechnic charge and stored compressed gas (argon or nitrogen). The pyrotechnic charge heats the compressed gas, causing rapid expansion. This is cleaner and cooler but more complex.</a:t>
            </a:r>
          </a:p>
          <a:p>
            <a:pPr>
              <a:spcAft>
                <a:spcPts val="1000"/>
              </a:spcAft>
              <a:defRPr sz="1800">
                <a:solidFill>
                  <a:srgbClr val="333333"/>
                </a:solidFill>
              </a:defRPr>
            </a:pPr>
            <a:r>
              <a:t>The key point is that airbag inflation is a controlled explosion - a very precisely engineered chemical reaction that produces the exact volume of gas needed at the exact rate needed to inflate the bag safely and effectively.</a:t>
            </a:r>
          </a:p>
          <a:p>
            <a:pPr>
              <a:spcAft>
                <a:spcPts val="1000"/>
              </a:spcAft>
              <a:defRPr sz="1800">
                <a:solidFill>
                  <a:srgbClr val="333333"/>
                </a:solidFill>
              </a:defRPr>
            </a:pPr>
            <a:r>
              <a:t>PPT Content:</a:t>
            </a:r>
          </a:p>
          <a:p>
            <a:pPr>
              <a:defRPr sz="1400">
                <a:solidFill>
                  <a:srgbClr val="787878"/>
                </a:solidFill>
                <a:latin typeface="Consolas"/>
              </a:defRPr>
            </a:pPr>
            <a:r>
              <a:t>AIRBAG CHEMISTRY: PYROTECHNIC GAS GENERATION</a:t>
            </a:r>
            <a:br/>
            <a:br/>
            <a:r>
              <a:t>SODIUM AZIDE INFLATOR (Traditional, Still Common):</a:t>
            </a:r>
            <a:br/>
            <a:br/>
            <a:r>
              <a:t>Chemical Propellant: Sodium Azide (NaN₃)</a:t>
            </a:r>
            <a:br/>
            <a:r>
              <a:t>Amount: ~50-100 grams (driver airbag)</a:t>
            </a:r>
            <a:br/>
            <a:br/>
            <a:r>
              <a:t>Primary Reaction (Decomposition):</a:t>
            </a:r>
            <a:br/>
            <a:r>
              <a:t>2 NaN₃ → 2 Na + 3 N₂</a:t>
            </a:r>
            <a:br/>
            <a:br/>
            <a:r>
              <a:t>Triggered by: Electrical current heating initiator squib (~1 A, ~2 A)</a:t>
            </a:r>
            <a:br/>
            <a:r>
              <a:t>Initiator: Small pyrotechnic charge (like a firework igniter)</a:t>
            </a:r>
            <a:br/>
            <a:r>
              <a:t>Ignition: Squib heats to ~300°C → Ignites sodium azide</a:t>
            </a:r>
            <a:br/>
            <a:r>
              <a:t>Decomposition: Exothermic (releases heat), extremely fast</a:t>
            </a:r>
            <a:br/>
            <a:br/>
            <a:r>
              <a:t>Products:</a:t>
            </a:r>
            <a:br/>
            <a:r>
              <a:t>• Nitrogen gas (N₂): 3 moles per 2 moles NaN₃ → ~67% of product gas</a:t>
            </a:r>
            <a:br/>
            <a:r>
              <a:t>• Sodium metal (Na): 2 moles per 2 moles NaN₃ → Solid, reactive</a:t>
            </a:r>
            <a:br/>
            <a:br/>
            <a:r>
              <a:t>Problem: Sodium metal is highly reactive (dangerous!)</a:t>
            </a:r>
            <a:br/>
            <a:br/>
            <a:r>
              <a:t>Secondary Reaction (Neutralization):</a:t>
            </a:r>
            <a:br/>
            <a:r>
              <a:t>10 Na + 2 KNO₃ → K₂O + 5 Na₂O + N₂</a:t>
            </a:r>
            <a:br/>
            <a:r>
              <a:t>Na₂O + SiO₂ → Na₂SiO₃ (sodium silicate, stable glass-like solid)</a:t>
            </a:r>
            <a:br/>
            <a:br/>
            <a:r>
              <a:t>Additives:</a:t>
            </a:r>
            <a:br/>
            <a:r>
              <a:t>• Potassium nitrate (KNO₃): Oxidizer, reacts with sodium</a:t>
            </a:r>
            <a:br/>
            <a:r>
              <a:t>• Silicon dioxide (SiO₂): Converts sodium oxide to silicate</a:t>
            </a:r>
            <a:br/>
            <a:r>
              <a:t>• Result: All sodium converted to harmless sodium silicate slag</a:t>
            </a:r>
            <a:br/>
            <a:br/>
            <a:r>
              <a:t>Gas Production:</a:t>
            </a:r>
            <a:br/>
            <a:r>
              <a:t>50 grams NaN₃:</a:t>
            </a:r>
            <a:br/>
            <a:r>
              <a:t>• Moles: 50 / 65 = 0.77 mol NaN₃</a:t>
            </a:r>
            <a:br/>
            <a:r>
              <a:t>• N₂ produced: 0.77 × (3/2) = 1.15 mol N₂</a:t>
            </a:r>
            <a:br/>
            <a:r>
              <a:t>• Volume at STP: 1.15 × 22.4 = 25.8 L</a:t>
            </a:r>
            <a:br/>
            <a:r>
              <a:t>• Volume at high temp (500°C): ~25.8 × (773/273) = ~73 L ✓</a:t>
            </a:r>
            <a:br/>
            <a:br/>
            <a:r>
              <a:t>Inflation Performance:</a:t>
            </a:r>
            <a:br/>
            <a:r>
              <a:t>Temperature: 500-800°C (hot gas!)</a:t>
            </a:r>
            <a:br/>
            <a:r>
              <a:t>Pressure: 200-300 kPa (during inflation, then vents)</a:t>
            </a:r>
            <a:br/>
            <a:r>
              <a:t>Gas volume: 60-70 L (driver), 120-160 L (passenger)</a:t>
            </a:r>
            <a:br/>
            <a:r>
              <a:t>Inflation time: 30-40 ms</a:t>
            </a:r>
            <a:br/>
            <a:r>
              <a:t>Gas velocity: Exits inflator at ~200-300 km/h</a:t>
            </a:r>
            <a:br/>
            <a:br/>
            <a:r>
              <a:t>ALTERNATIVE CHEMISTRIES (Modern Inflators):</a:t>
            </a:r>
            <a:br/>
            <a:br/>
            <a:r>
              <a:t>Guanidine Nitrate Inflator:</a:t>
            </a:r>
            <a:br/>
            <a:r>
              <a:t>Formula: CH₆N₄O₃ (guanidine nitrate)</a:t>
            </a:r>
            <a:br/>
            <a:r>
              <a:t>Reaction: Produces N₂, H₂O, CO₂</a:t>
            </a:r>
            <a:br/>
            <a:r>
              <a:t>Benefits: Non-toxic reactants, cleaner combustion</a:t>
            </a:r>
            <a:br/>
            <a:r>
              <a:t>Drawback: Produces some moisture (not ideal)</a:t>
            </a:r>
            <a:br/>
            <a:br/>
            <a:r>
              <a:t>Tetrazole-Based Inflator:</a:t>
            </a:r>
            <a:br/>
            <a:r>
              <a:t>Nitrogen-rich organic compound</a:t>
            </a:r>
            <a:br/>
            <a:r>
              <a:t>Similar gas production to sodium azide</a:t>
            </a:r>
            <a:br/>
            <a:r>
              <a:t>Less toxic, more stable</a:t>
            </a:r>
            <a:br/>
            <a:br/>
            <a:r>
              <a:t>HYBRID INFLATOR (Compressed Gas + Pyrotechnic):</a:t>
            </a:r>
            <a:br/>
            <a:br/>
            <a:r>
              <a:t>Design:</a:t>
            </a:r>
            <a:br/>
            <a:r>
              <a:t>• Compressed inert gas (argon or nitrogen) stored at high pressure (~300-400 bar)</a:t>
            </a:r>
            <a:br/>
            <a:r>
              <a:t>• Small pyrotechnic charge (heater)</a:t>
            </a:r>
            <a:br/>
            <a:br/>
            <a:r>
              <a:t>Operation:</a:t>
            </a:r>
            <a:br/>
            <a:r>
              <a:t>1. Pyrotechnic heater fires (small explosive)</a:t>
            </a:r>
            <a:br/>
            <a:r>
              <a:t>2. Rapid heat release (~2000°C briefly)</a:t>
            </a:r>
            <a:br/>
            <a:r>
              <a:t>3. Compressed gas absorbs heat → Expands rapidly (PV=nRT)</a:t>
            </a:r>
            <a:br/>
            <a:r>
              <a:t>4. Hot, high-pressure gas inflates airbag</a:t>
            </a:r>
            <a:br/>
            <a:br/>
            <a:r>
              <a:t>Benefits:</a:t>
            </a:r>
            <a:br/>
            <a:r>
              <a:t>• Cooler gas (less heating of bag, less burn risk)</a:t>
            </a:r>
            <a:br/>
            <a:r>
              <a:t>• Cleaner (no combustion products in bag)</a:t>
            </a:r>
            <a:br/>
            <a:r>
              <a:t>• Precise control (adjust stored gas amount)</a:t>
            </a:r>
            <a:br/>
            <a:br/>
            <a:r>
              <a:t>Drawbacks:</a:t>
            </a:r>
            <a:br/>
            <a:r>
              <a:t>• More complex (pressure vessel required)</a:t>
            </a:r>
            <a:br/>
            <a:r>
              <a:t>• Heavier (gas storage cylinder)</a:t>
            </a:r>
            <a:br/>
            <a:r>
              <a:t>• More expensive</a:t>
            </a:r>
            <a:br/>
            <a:br/>
            <a:r>
              <a:t>COLD GAS INFLATOR (Future/Advanced):</a:t>
            </a:r>
            <a:br/>
            <a:br/>
            <a:r>
              <a:t>Design:</a:t>
            </a:r>
            <a:br/>
            <a:r>
              <a:t>• Compressed inert gas only (no pyrotechnic)</a:t>
            </a:r>
            <a:br/>
            <a:r>
              <a:t>• Rapid valve release mechanism</a:t>
            </a:r>
            <a:br/>
            <a:br/>
            <a:r>
              <a:t>Operation:</a:t>
            </a:r>
            <a:br/>
            <a:r>
              <a:t>• Electrical or mechanical trigger opens valve</a:t>
            </a:r>
            <a:br/>
            <a:r>
              <a:t>• Compressed gas (~400 bar) rushes into bag</a:t>
            </a:r>
            <a:br/>
            <a:r>
              <a:t>• No heat, no combustion</a:t>
            </a:r>
            <a:br/>
            <a:br/>
            <a:r>
              <a:t>Benefits:</a:t>
            </a:r>
            <a:br/>
            <a:r>
              <a:t>• Safest (no explosives, no heat)</a:t>
            </a:r>
            <a:br/>
            <a:r>
              <a:t>• Reusable (refillable gas cylinder)</a:t>
            </a:r>
            <a:br/>
            <a:r>
              <a:t>• Environmentally friendly</a:t>
            </a:r>
            <a:br/>
            <a:br/>
            <a:r>
              <a:t>Drawbacks:</a:t>
            </a:r>
            <a:br/>
            <a:r>
              <a:t>• Very heavy (high-pressure cylinder)</a:t>
            </a:r>
            <a:br/>
            <a:r>
              <a:t>• Complex valve mechanism</a:t>
            </a:r>
            <a:br/>
            <a:r>
              <a:t>• Expensive</a:t>
            </a:r>
            <a:br/>
            <a:r>
              <a:t>• Not yet mainstream</a:t>
            </a:r>
            <a:br/>
            <a:br/>
            <a:r>
              <a:t>Safety Considerations:</a:t>
            </a:r>
            <a:br/>
            <a:r>
              <a:t>• Deployed airbag is HOT (fabric can be 100-200°C briefly)</a:t>
            </a:r>
            <a:br/>
            <a:r>
              <a:t>• White powder residue: Talc or cornstarch (keeps bag folded, harmless)</a:t>
            </a:r>
            <a:br/>
            <a:r>
              <a:t>• Smell: Burnt chemicals (normal, not dangerous)</a:t>
            </a:r>
            <a:br/>
            <a:r>
              <a:t>• Never disassemble an undeployed airbag (explosive hazard!)</a:t>
            </a:r>
          </a:p>
          <a:p>
            <a:pPr>
              <a:spcAft>
                <a:spcPts val="1000"/>
              </a:spcAft>
              <a:defRPr sz="1800">
                <a:solidFill>
                  <a:srgbClr val="333333"/>
                </a:solidFill>
              </a:defRPr>
            </a:pPr>
            <a:r>
              <a:t>Teaching Note:</a:t>
            </a:r>
          </a:p>
          <a:p>
            <a:pPr>
              <a:spcAft>
                <a:spcPts val="1000"/>
              </a:spcAft>
              <a:defRPr sz="1800">
                <a:solidFill>
                  <a:srgbClr val="333333"/>
                </a:solidFill>
              </a:defRPr>
            </a:pPr>
            <a:r>
              <a:t>The white powder you see after airbag deployment isn't dangerous - it's talcum powder or cornstarch used to keep the folded bag from sticking to itself during storage.</a:t>
            </a:r>
          </a:p>
          <a:p>
            <a:pPr>
              <a:spcAft>
                <a:spcPts val="1000"/>
              </a:spcAft>
              <a:defRPr sz="1800">
                <a:solidFill>
                  <a:srgbClr val="333333"/>
                </a:solidFill>
              </a:defRPr>
            </a:pPr>
            <a:r>
              <a:t>Outcomes Addressed: SO-6-18-3 (airbag deployment mechanism, chemistry)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Side Impact Airbags - Torso &amp; Pelvis Protection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Frontal airbags were just the beginning. Side impacts are particularly dangerous because there's very little structure between the door and your body - maybe 20-30 cm. So in the 1990s, automakers developed side airbags.</a:t>
            </a:r>
          </a:p>
          <a:p>
            <a:pPr>
              <a:spcAft>
                <a:spcPts val="1000"/>
              </a:spcAft>
              <a:defRPr sz="1800">
                <a:solidFill>
                  <a:srgbClr val="333333"/>
                </a:solidFill>
              </a:defRPr>
            </a:pPr>
            <a:r>
              <a:t>Side torso airbags are typically mounted in the outboard side of the front seat - the side closest to the door. When a side impact is detected, these bags deploy outward from the seat, creating a cushion between your torso and the door/B-pillar.</a:t>
            </a:r>
          </a:p>
          <a:p>
            <a:pPr>
              <a:spcAft>
                <a:spcPts val="1000"/>
              </a:spcAft>
              <a:defRPr sz="1800">
                <a:solidFill>
                  <a:srgbClr val="333333"/>
                </a:solidFill>
              </a:defRPr>
            </a:pPr>
            <a:r>
              <a:t>They're much smaller than frontal airbags - typically 10-15 liters - because the distance to cover is small. But they must deploy even faster - full inflation in 10-15 milliseconds - because there's so little time before door intrusion reaches the occupant.</a:t>
            </a:r>
          </a:p>
          <a:p>
            <a:pPr>
              <a:spcAft>
                <a:spcPts val="1000"/>
              </a:spcAft>
              <a:defRPr sz="1800">
                <a:solidFill>
                  <a:srgbClr val="333333"/>
                </a:solidFill>
              </a:defRPr>
            </a:pPr>
            <a:r>
              <a:t>The deployment strategy is different too. Frontal crashes provide some warning - the front crumple zone crushes first. But in a side impact, the door can be hit directly with almost no warning. So side airbag systems must be extremely sensitive and react to the first signs of lateral deceleration.</a:t>
            </a:r>
          </a:p>
          <a:p>
            <a:pPr>
              <a:spcAft>
                <a:spcPts val="1000"/>
              </a:spcAft>
              <a:defRPr sz="1800">
                <a:solidFill>
                  <a:srgbClr val="333333"/>
                </a:solidFill>
              </a:defRPr>
            </a:pPr>
            <a:r>
              <a:t>Advanced systems have thorax airbags and pelvis airbags as separate units. The thorax bag protects the ribcage, while the pelvis bag protects the hip and pelvic bones. By separating them, each can be optimally sized and positioned.</a:t>
            </a:r>
          </a:p>
          <a:p>
            <a:pPr>
              <a:spcAft>
                <a:spcPts val="1000"/>
              </a:spcAft>
              <a:defRPr sz="1800">
                <a:solidFill>
                  <a:srgbClr val="333333"/>
                </a:solidFill>
              </a:defRPr>
            </a:pPr>
            <a:r>
              <a:t>One challenge with side airbags is that they deploy between you and the door - the area where you might put your arm or lean against. So the system must be designed to minimize injury to occupants who are out of position, like resting against the door.</a:t>
            </a:r>
          </a:p>
          <a:p>
            <a:pPr>
              <a:spcAft>
                <a:spcPts val="1000"/>
              </a:spcAft>
              <a:defRPr sz="1800">
                <a:solidFill>
                  <a:srgbClr val="333333"/>
                </a:solidFill>
              </a:defRPr>
            </a:pPr>
            <a:r>
              <a:t>PPT Content:</a:t>
            </a:r>
          </a:p>
          <a:p>
            <a:pPr>
              <a:defRPr sz="1400">
                <a:solidFill>
                  <a:srgbClr val="787878"/>
                </a:solidFill>
                <a:latin typeface="Consolas"/>
              </a:defRPr>
            </a:pPr>
            <a:r>
              <a:t>SIDE IMPACT AIRBAGS: TORSO &amp; PELVIS PROTECTION</a:t>
            </a:r>
            <a:br/>
            <a:br/>
            <a:r>
              <a:t>Motivation:</a:t>
            </a:r>
            <a:br/>
            <a:r>
              <a:t>Side crashes: ~25% of fatal crashes</a:t>
            </a:r>
            <a:br/>
            <a:r>
              <a:t>Limited crumple zone distance: 20-30 cm (door to occupant)</a:t>
            </a:r>
            <a:br/>
            <a:r>
              <a:t>High injury risk: Torso, pelvis, ribs, internal organs</a:t>
            </a:r>
            <a:br/>
            <a:br/>
            <a:r>
              <a:t>SIDE TORSO AIRBAG:</a:t>
            </a:r>
            <a:br/>
            <a:br/>
            <a:r>
              <a:t>Location: Outboard side of front seat (in seatback or cushion)</a:t>
            </a:r>
            <a:br/>
            <a:r>
              <a:t>Size: 10-15 liters (smaller than frontal airbags)</a:t>
            </a:r>
            <a:br/>
            <a:r>
              <a:t>Deployment direction: Laterally (out from seat toward door)</a:t>
            </a:r>
            <a:br/>
            <a:r>
              <a:t>Inflation time: 10-15 ms (VERY fast! Faster than frontal)</a:t>
            </a:r>
            <a:br/>
            <a:r>
              <a:t>Coverage area: Torso (ribcage, abdomen)</a:t>
            </a:r>
            <a:br/>
            <a:br/>
            <a:r>
              <a:t>Deployment Trigger:</a:t>
            </a:r>
            <a:br/>
            <a:r>
              <a:t>• Side impact crash detection (lateral acceleration sensors)</a:t>
            </a:r>
            <a:br/>
            <a:r>
              <a:t>• Threshold: ~5-8g lateral deceleration</a:t>
            </a:r>
            <a:br/>
            <a:r>
              <a:t>• Sensor location: B-pillar, door, sill, floor (side-mounted accelerometers)</a:t>
            </a:r>
            <a:br/>
            <a:r>
              <a:t>• Deployment decision: 5-10 ms (very aggressive timing)</a:t>
            </a:r>
            <a:br/>
            <a:br/>
            <a:r>
              <a:t>Seat-Mounted Design:</a:t>
            </a:r>
            <a:br/>
            <a:r>
              <a:t>Benefits:</a:t>
            </a:r>
            <a:br/>
            <a:r>
              <a:t>• Moves with seat position (always correct distance to occupant)</a:t>
            </a:r>
            <a:br/>
            <a:r>
              <a:t>• Covers door intrusion zone regardless of seat adjustment</a:t>
            </a:r>
            <a:br/>
            <a:r>
              <a:t>• Independent of door structure (door may crush, bag still works)</a:t>
            </a:r>
            <a:br/>
            <a:br/>
            <a:r>
              <a:t>Challenges:</a:t>
            </a:r>
            <a:br/>
            <a:r>
              <a:t>• Electrical connection through seat (wiring to seat)</a:t>
            </a:r>
            <a:br/>
            <a:r>
              <a:t>• Must survive seat movement and adjustments</a:t>
            </a:r>
            <a:br/>
            <a:r>
              <a:t>• Replacement cost (entire seat assembly may need replacement after deployment)</a:t>
            </a:r>
            <a:br/>
            <a:br/>
            <a:r>
              <a:t>PELVIS AIRBAG (Advanced Systems):</a:t>
            </a:r>
            <a:br/>
            <a:br/>
            <a:r>
              <a:t>Location: Lower seat cushion (outboard side)</a:t>
            </a:r>
            <a:br/>
            <a:r>
              <a:t>Size: 5-8 liters (even smaller)</a:t>
            </a:r>
            <a:br/>
            <a:r>
              <a:t>Coverage: Pelvis, hip bones</a:t>
            </a:r>
            <a:br/>
            <a:r>
              <a:t>Purpose: Protect pelvic structure (fractures are severe, long-term disability)</a:t>
            </a:r>
            <a:br/>
            <a:br/>
            <a:r>
              <a:t>THORAX + PELVIS COMBINATION (Two-Chamber Airbag):</a:t>
            </a:r>
            <a:br/>
            <a:br/>
            <a:r>
              <a:t>Design:</a:t>
            </a:r>
            <a:br/>
            <a:r>
              <a:t>• Single airbag with two chambers (upper and lower)</a:t>
            </a:r>
            <a:br/>
            <a:r>
              <a:t>• Inflator feeds both chambers (may have separate vents)</a:t>
            </a:r>
            <a:br/>
            <a:r>
              <a:t>• Upper chamber: Thorax protection (chest, ribs)</a:t>
            </a:r>
            <a:br/>
            <a:r>
              <a:t>• Lower chamber: Pelvis protection (hips)</a:t>
            </a:r>
            <a:br/>
            <a:br/>
            <a:r>
              <a:t>Benefits:</a:t>
            </a:r>
            <a:br/>
            <a:r>
              <a:t>• Comprehensive side protection</a:t>
            </a:r>
            <a:br/>
            <a:r>
              <a:t>• Optimal pressure distribution (different chamber sizes)</a:t>
            </a:r>
            <a:br/>
            <a:r>
              <a:t>• Single deployment system (lower cost vs. separate bags)</a:t>
            </a:r>
            <a:br/>
            <a:br/>
            <a:r>
              <a:t>Inflation Characteristics:</a:t>
            </a:r>
            <a:br/>
            <a:r>
              <a:t>Pressure: Lower than frontal airbags (~50-100 kPa vs. 200-300 kPa)</a:t>
            </a:r>
            <a:br/>
            <a:r>
              <a:t>Reason: Smaller volume, less compression needed</a:t>
            </a:r>
            <a:br/>
            <a:r>
              <a:t>Venting: Minimal vents (bag stays inflated longer to resist door intrusion)</a:t>
            </a:r>
            <a:br/>
            <a:br/>
            <a:r>
              <a:t>Side Airbag Challenges:</a:t>
            </a:r>
            <a:br/>
            <a:br/>
            <a:r>
              <a:t>1. SPEED:</a:t>
            </a:r>
            <a:br/>
            <a:r>
              <a:t>   • Side impact: Very short time to deployment (&lt;15 ms required)</a:t>
            </a:r>
            <a:br/>
            <a:r>
              <a:t>   • Lateral deceleration rises very quickly (no crumple zone dampening)</a:t>
            </a:r>
            <a:br/>
            <a:r>
              <a:t>   • Must have extremely responsive sensors and fast inflators</a:t>
            </a:r>
            <a:br/>
            <a:br/>
            <a:r>
              <a:t>2. OUT-OF-POSITION OCCUPANTS:</a:t>
            </a:r>
            <a:br/>
            <a:r>
              <a:t>   • Occupant leaning against door (arm on windowsill, head on pillow)</a:t>
            </a:r>
            <a:br/>
            <a:r>
              <a:t>   • Airbag deploys INTO occupant (potential injury)</a:t>
            </a:r>
            <a:br/>
            <a:r>
              <a:t>   • Mitigation: Lower deployment force, pressure sensors (some systems)</a:t>
            </a:r>
            <a:br/>
            <a:br/>
            <a:r>
              <a:t>3. SEAT INTEGRATION:</a:t>
            </a:r>
            <a:br/>
            <a:r>
              <a:t>   • Electrical connection to moving seat (wear, reliability)</a:t>
            </a:r>
            <a:br/>
            <a:r>
              <a:t>   • Aesthetic (visible seam in seat)</a:t>
            </a:r>
            <a:br/>
            <a:r>
              <a:t>   • Cost (seat becomes part of safety system, expensive replacement)</a:t>
            </a:r>
            <a:br/>
            <a:br/>
            <a:r>
              <a:t>Effectiveness:</a:t>
            </a:r>
            <a:br/>
            <a:r>
              <a:t>Side torso airbags: 25-30% reduction in side impact fatalities (thorax injuries)</a:t>
            </a:r>
            <a:br/>
            <a:r>
              <a:t>Pelvis airbags: 15-20% reduction in pelvis fractures</a:t>
            </a:r>
            <a:br/>
            <a:r>
              <a:t>Combined with strong side structure: ~40% overall side impact fatality reduction</a:t>
            </a:r>
            <a:br/>
            <a:br/>
            <a:r>
              <a:t>Deployment Conditions:</a:t>
            </a:r>
            <a:br/>
            <a:r>
              <a:t>• Typically deploy only on impact side (left impact → left airbag only)</a:t>
            </a:r>
            <a:br/>
            <a:r>
              <a:t>• Threshold: Moderate to severe side impacts (~25 km/h+ impact speed)</a:t>
            </a:r>
            <a:br/>
            <a:r>
              <a:t>• Do NOT deploy in frontal or rear crashes (side sensors don't trigger)</a:t>
            </a:r>
            <a:br/>
            <a:r>
              <a:t>• May deploy in rollovers (vehicle tilt detected by side sensors)</a:t>
            </a:r>
          </a:p>
          <a:p>
            <a:pPr>
              <a:spcAft>
                <a:spcPts val="1000"/>
              </a:spcAft>
              <a:defRPr sz="1800">
                <a:solidFill>
                  <a:srgbClr val="333333"/>
                </a:solidFill>
              </a:defRPr>
            </a:pPr>
            <a:r>
              <a:t>Real-World Example:</a:t>
            </a:r>
          </a:p>
          <a:p>
            <a:pPr>
              <a:spcAft>
                <a:spcPts val="1000"/>
              </a:spcAft>
              <a:defRPr sz="1800">
                <a:solidFill>
                  <a:srgbClr val="333333"/>
                </a:solidFill>
              </a:defRPr>
            </a:pPr>
            <a:r>
              <a:t>Side airbags deploy so fast that in crash test videos, you often can't even see the deployment process - the bag goes from folded to fully inflated in a single frame.</a:t>
            </a:r>
          </a:p>
          <a:p>
            <a:pPr>
              <a:spcAft>
                <a:spcPts val="1000"/>
              </a:spcAft>
              <a:defRPr sz="1800">
                <a:solidFill>
                  <a:srgbClr val="333333"/>
                </a:solidFill>
              </a:defRPr>
            </a:pPr>
            <a:r>
              <a:t>Outcomes Addressed: SO-6-18-3 (side airbag systems, deployment strategies)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Curtain Airbags - Head Protection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In addition to torso airbags, most modern vehicles have side curtain airbags - also called inflatable curtains or head airbags.</a:t>
            </a:r>
          </a:p>
          <a:p>
            <a:pPr>
              <a:spcAft>
                <a:spcPts val="1000"/>
              </a:spcAft>
              <a:defRPr sz="1800">
                <a:solidFill>
                  <a:srgbClr val="333333"/>
                </a:solidFill>
              </a:defRPr>
            </a:pPr>
            <a:r>
              <a:t>These are long, narrow airbags stored in the roof rail - the structure above the side windows. When a side impact or rollover is detected, the curtain deploys downward like a curtain, covering the side windows and providing a cushion between the occupant's head and the window/B-pillar.</a:t>
            </a:r>
          </a:p>
          <a:p>
            <a:pPr>
              <a:spcAft>
                <a:spcPts val="1000"/>
              </a:spcAft>
              <a:defRPr sz="1800">
                <a:solidFill>
                  <a:srgbClr val="333333"/>
                </a:solidFill>
              </a:defRPr>
            </a:pPr>
            <a:r>
              <a:t>Curtain airbags typically extend the full length of the vehicle - from the A-pillar to the C-pillar - protecting both front and rear seat occupants. They're about 50-80 liters in volume, shaped like a long tube or rectangular panel.</a:t>
            </a:r>
          </a:p>
          <a:p>
            <a:pPr>
              <a:spcAft>
                <a:spcPts val="1000"/>
              </a:spcAft>
              <a:defRPr sz="1800">
                <a:solidFill>
                  <a:srgbClr val="333333"/>
                </a:solidFill>
              </a:defRPr>
            </a:pPr>
            <a:r>
              <a:t>What's clever about curtain airbags is that they stay inflated for several seconds - much longer than frontal or side torso airbags. Why? Because in a rollover, the vehicle may roll multiple times, and you need continuous head protection throughout the sequence. Typical inflation duration is 5-10 seconds.</a:t>
            </a:r>
          </a:p>
          <a:p>
            <a:pPr>
              <a:spcAft>
                <a:spcPts val="1000"/>
              </a:spcAft>
              <a:defRPr sz="1800">
                <a:solidFill>
                  <a:srgbClr val="333333"/>
                </a:solidFill>
              </a:defRPr>
            </a:pPr>
            <a:r>
              <a:t>To achieve this, curtain airbags have minimal venting. They're designed to hold pressure, acting almost like an inflatable pillow that stays firm. The gas used may also include argon, which leaks through the fabric more slowly than nitrogen.</a:t>
            </a:r>
          </a:p>
          <a:p>
            <a:pPr>
              <a:spcAft>
                <a:spcPts val="1000"/>
              </a:spcAft>
              <a:defRPr sz="1800">
                <a:solidFill>
                  <a:srgbClr val="333333"/>
                </a:solidFill>
              </a:defRPr>
            </a:pPr>
            <a:r>
              <a:t>Curtain airbags are highly effective at reducing head injuries in side impacts and are critical for rollover protection. They also help keep the occupant inside the vehicle during a rollover - ejection is often fatal, so preventing it dramatically improves survival.</a:t>
            </a:r>
          </a:p>
          <a:p>
            <a:pPr>
              <a:spcAft>
                <a:spcPts val="1000"/>
              </a:spcAft>
              <a:defRPr sz="1800">
                <a:solidFill>
                  <a:srgbClr val="333333"/>
                </a:solidFill>
              </a:defRPr>
            </a:pPr>
            <a:r>
              <a:t>PPT Content:</a:t>
            </a:r>
          </a:p>
          <a:p>
            <a:pPr>
              <a:defRPr sz="1400">
                <a:solidFill>
                  <a:srgbClr val="787878"/>
                </a:solidFill>
                <a:latin typeface="Consolas"/>
              </a:defRPr>
            </a:pPr>
            <a:r>
              <a:t>CURTAIN AIRBAGS: HEAD PROTECTION</a:t>
            </a:r>
            <a:br/>
            <a:br/>
            <a:r>
              <a:t>Alternative Names:</a:t>
            </a:r>
            <a:br/>
            <a:r>
              <a:t>• Side curtain airbag</a:t>
            </a:r>
            <a:br/>
            <a:r>
              <a:t>• Inflatable curtain</a:t>
            </a:r>
            <a:br/>
            <a:r>
              <a:t>• Head airbag</a:t>
            </a:r>
            <a:br/>
            <a:r>
              <a:t>• Rollover airbag</a:t>
            </a:r>
            <a:br/>
            <a:br/>
            <a:r>
              <a:t>Location: Roof rail (above side windows, concealed in headliner)</a:t>
            </a:r>
            <a:br/>
            <a:r>
              <a:t>Size: 50-80 liters (long, rectangular shape)</a:t>
            </a:r>
            <a:br/>
            <a:r>
              <a:t>Coverage: Full side window area (A-pillar to C-pillar, front + rear seats)</a:t>
            </a:r>
            <a:br/>
            <a:r>
              <a:t>Deployment direction: Downward (like a curtain)</a:t>
            </a:r>
            <a:br/>
            <a:r>
              <a:t>Inflation time: 15-25 ms</a:t>
            </a:r>
            <a:br/>
            <a:br/>
            <a:r>
              <a:t>Purpose:</a:t>
            </a:r>
            <a:br/>
            <a:r>
              <a:t>• Protect occupant head from side window, B-pillar, C-pillar contact</a:t>
            </a:r>
            <a:br/>
            <a:r>
              <a:t>• Provide cushion during side impact</a:t>
            </a:r>
            <a:br/>
            <a:r>
              <a:t>• Prevent ejection during rollover</a:t>
            </a:r>
            <a:br/>
            <a:r>
              <a:t>• Protect front AND rear occupants (extends full length)</a:t>
            </a:r>
            <a:br/>
            <a:br/>
            <a:r>
              <a:t>Deployment Triggers:</a:t>
            </a:r>
            <a:br/>
            <a:r>
              <a:t>• Side impact (similar sensors to side torso airbags)</a:t>
            </a:r>
            <a:br/>
            <a:r>
              <a:t>• Rollover detection (vehicle tilt &gt;45°, combination of lateral + vertical acceleration)</a:t>
            </a:r>
            <a:br/>
            <a:r>
              <a:t>• Threshold: Moderate to severe side impacts, any rollover scenario</a:t>
            </a:r>
            <a:br/>
            <a:br/>
            <a:r>
              <a:t>Long Inflation Duration:</a:t>
            </a:r>
            <a:br/>
            <a:r>
              <a:t>Unlike frontal airbags (deflate in 1-2 seconds):</a:t>
            </a:r>
            <a:br/>
            <a:r>
              <a:t>Curtain airbags stay inflated for 5-10 seconds</a:t>
            </a:r>
            <a:br/>
            <a:br/>
            <a:r>
              <a:t>Reason:</a:t>
            </a:r>
            <a:br/>
            <a:r>
              <a:t>• Rollover protection: Vehicle may roll multiple times (3-5 seconds duration)</a:t>
            </a:r>
            <a:br/>
            <a:r>
              <a:t>• Need continuous protection throughout rollover sequence</a:t>
            </a:r>
            <a:br/>
            <a:r>
              <a:t>• Prevent ejection as vehicle rotates</a:t>
            </a:r>
            <a:br/>
            <a:br/>
            <a:r>
              <a:t>Design for Extended Inflation:</a:t>
            </a:r>
            <a:br/>
            <a:r>
              <a:t>• Minimal vents (small holes or no vents)</a:t>
            </a:r>
            <a:br/>
            <a:r>
              <a:t>• Thicker fabric (less gas leakage)</a:t>
            </a:r>
            <a:br/>
            <a:r>
              <a:t>• Larger gas charge (more gas to maintain pressure)</a:t>
            </a:r>
            <a:br/>
            <a:r>
              <a:t>• Argon gas (leaks through fabric slower than nitrogen)</a:t>
            </a:r>
            <a:br/>
            <a:br/>
            <a:r>
              <a:t>Inflation Pressure:</a:t>
            </a:r>
            <a:br/>
            <a:r>
              <a:t>• Initial: 30-50 kPa (lower than frontal airbags)</a:t>
            </a:r>
            <a:br/>
            <a:r>
              <a:t>• Sustained: 20-30 kPa (held for 5-10 seconds)</a:t>
            </a:r>
            <a:br/>
            <a:r>
              <a:t>• Soft enough not to injure, firm enough to provide cushion</a:t>
            </a:r>
            <a:br/>
            <a:br/>
            <a:r>
              <a:t>Rollover Scenario:</a:t>
            </a:r>
            <a:br/>
            <a:r>
              <a:t>0 ms: Rollover detected (vehicle tips &gt;45°)</a:t>
            </a:r>
            <a:br/>
            <a:r>
              <a:t>15 ms: Curtain airbags deploy (both sides, full length)</a:t>
            </a:r>
            <a:br/>
            <a:r>
              <a:t>100 ms: Vehicle contacts ground on side</a:t>
            </a:r>
            <a:br/>
            <a:r>
              <a:t>→ Curtain airbag cushions head contact with roof/ground</a:t>
            </a:r>
            <a:br/>
            <a:r>
              <a:t>→ Airbag prevents occupant from being ejected through window</a:t>
            </a:r>
            <a:br/>
            <a:r>
              <a:t>5-10 sec: Multiple rolls, airbag stays inflated throughout</a:t>
            </a:r>
            <a:br/>
            <a:r>
              <a:t>→ Continuous head protection</a:t>
            </a:r>
            <a:br/>
            <a:br/>
            <a:r>
              <a:t>Side Impact Scenario:</a:t>
            </a:r>
            <a:br/>
            <a:r>
              <a:t>0 ms: Side impact detected</a:t>
            </a:r>
            <a:br/>
            <a:r>
              <a:t>10 ms: Side torso airbag deploys</a:t>
            </a:r>
            <a:br/>
            <a:r>
              <a:t>15 ms: Curtain airbag deploys</a:t>
            </a:r>
            <a:br/>
            <a:r>
              <a:t>50 ms: Door intrudes, B-pillar moves inward</a:t>
            </a:r>
            <a:br/>
            <a:r>
              <a:t>→ Curtain airbag cushions head from B-pillar contact</a:t>
            </a:r>
            <a:br/>
            <a:r>
              <a:t>→ Side airbag cushions torso</a:t>
            </a:r>
            <a:br/>
            <a:r>
              <a:t>1-2 sec: Curtain remains inflated (prevents secondary contact)</a:t>
            </a:r>
            <a:br/>
            <a:br/>
            <a:r>
              <a:t>Effectiveness:</a:t>
            </a:r>
            <a:br/>
            <a:r>
              <a:t>Head injury reduction: 40-50% (side impacts with head contact)</a:t>
            </a:r>
            <a:br/>
            <a:r>
              <a:t>Ejection prevention: 80%+ (rollovers)</a:t>
            </a:r>
            <a:br/>
            <a:r>
              <a:t>Rollover fatality reduction: ~30% (when combined with seatbelt)</a:t>
            </a:r>
            <a:br/>
            <a:br/>
            <a:r>
              <a:t>Coverage:</a:t>
            </a:r>
            <a:br/>
            <a:r>
              <a:t>Typical curtain airbag covers:</a:t>
            </a:r>
            <a:br/>
            <a:r>
              <a:t>• A-pillar area (front)</a:t>
            </a:r>
            <a:br/>
            <a:r>
              <a:t>• Front door side window</a:t>
            </a:r>
            <a:br/>
            <a:r>
              <a:t>• B-pillar area (middle)</a:t>
            </a:r>
            <a:br/>
            <a:r>
              <a:t>• Rear door side window</a:t>
            </a:r>
            <a:br/>
            <a:r>
              <a:t>• C-pillar area (rear)</a:t>
            </a:r>
            <a:br/>
            <a:r>
              <a:t>→ Protects driver, front passenger, rear left, rear right occupants</a:t>
            </a:r>
            <a:br/>
            <a:br/>
            <a:r>
              <a:t>Limitations:</a:t>
            </a:r>
            <a:br/>
            <a:r>
              <a:t>• Does NOT protect against frontal or rear impacts (only side/rollover)</a:t>
            </a:r>
            <a:br/>
            <a:r>
              <a:t>• Requires intact roof rail structure (deployment point)</a:t>
            </a:r>
            <a:br/>
            <a:r>
              <a:t>• If roof crushes severely, effectiveness reduced</a:t>
            </a:r>
          </a:p>
          <a:p>
            <a:pPr>
              <a:spcAft>
                <a:spcPts val="1000"/>
              </a:spcAft>
              <a:defRPr sz="1800">
                <a:solidFill>
                  <a:srgbClr val="333333"/>
                </a:solidFill>
              </a:defRPr>
            </a:pPr>
            <a:r>
              <a:t>Outcomes Addressed: SO-6-18-3 (curtain airbag systems, rollover protection)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Knee Airbags &amp; Other Supplemental Airbags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Beyond the main airbags, modern vehicles have several supplemental airbag types for specific protection needs.</a:t>
            </a:r>
          </a:p>
          <a:p>
            <a:pPr>
              <a:spcAft>
                <a:spcPts val="1000"/>
              </a:spcAft>
              <a:defRPr sz="1800">
                <a:solidFill>
                  <a:srgbClr val="333333"/>
                </a:solidFill>
              </a:defRPr>
            </a:pPr>
            <a:r>
              <a:t>Knee airbags deploy from below the steering column or dashboard to cushion the driver's knees and lower legs. Why is this important? In a frontal crash, there's a risk of 'submarining' - the occupant sliding forward under the lap belt, which can cause severe pelvic and abdominal injuries. The knee airbag creates a barrier that prevents this forward-downward motion, keeping the occupant properly positioned relative to the seatbelt and frontal airbag.</a:t>
            </a:r>
          </a:p>
          <a:p>
            <a:pPr>
              <a:spcAft>
                <a:spcPts val="1000"/>
              </a:spcAft>
              <a:defRPr sz="1800">
                <a:solidFill>
                  <a:srgbClr val="333333"/>
                </a:solidFill>
              </a:defRPr>
            </a:pPr>
            <a:r>
              <a:t>Some vehicles also have rear seat airbags - either built into the front seatbacks or deploying from the rear cabin roof. These protect rear passengers, especially in markets where rear seat belts aren't consistently used.</a:t>
            </a:r>
          </a:p>
          <a:p>
            <a:pPr>
              <a:spcAft>
                <a:spcPts val="1000"/>
              </a:spcAft>
              <a:defRPr sz="1800">
                <a:solidFill>
                  <a:srgbClr val="333333"/>
                </a:solidFill>
              </a:defRPr>
            </a:pPr>
            <a:r>
              <a:t>Center airbags - a newer innovation - deploy between the driver and front passenger to prevent them from colliding with each other during side impacts. In a far-side impact (impact on the opposite side from the occupant), the occupant is thrown toward the center of the vehicle and could collide with the other front occupant.</a:t>
            </a:r>
          </a:p>
          <a:p>
            <a:pPr>
              <a:spcAft>
                <a:spcPts val="1000"/>
              </a:spcAft>
              <a:defRPr sz="1800">
                <a:solidFill>
                  <a:srgbClr val="333333"/>
                </a:solidFill>
              </a:defRPr>
            </a:pPr>
            <a:r>
              <a:t>High-end vehicles may even have seatbelt airbags - inflatable sections built into the seatbelt webbing that inflate during a crash to better distribute belt forces over the chest, reducing pressure.</a:t>
            </a:r>
          </a:p>
          <a:p>
            <a:pPr>
              <a:spcAft>
                <a:spcPts val="1000"/>
              </a:spcAft>
              <a:defRPr sz="1800">
                <a:solidFill>
                  <a:srgbClr val="333333"/>
                </a:solidFill>
              </a:defRPr>
            </a:pPr>
            <a:r>
              <a:t>The trend is toward more airbags in more locations, with increasingly sophisticated deployment strategies. Premium vehicles may have 10-12 airbags or more.</a:t>
            </a:r>
          </a:p>
          <a:p>
            <a:pPr>
              <a:spcAft>
                <a:spcPts val="1000"/>
              </a:spcAft>
              <a:defRPr sz="1800">
                <a:solidFill>
                  <a:srgbClr val="333333"/>
                </a:solidFill>
              </a:defRPr>
            </a:pPr>
            <a:r>
              <a:t>PPT Content:</a:t>
            </a:r>
          </a:p>
          <a:p>
            <a:pPr>
              <a:defRPr sz="1400">
                <a:solidFill>
                  <a:srgbClr val="787878"/>
                </a:solidFill>
                <a:latin typeface="Consolas"/>
              </a:defRPr>
            </a:pPr>
            <a:r>
              <a:t>KNEE AIRBAGS &amp; OTHER SUPPLEMENTAL AIRBAGS</a:t>
            </a:r>
            <a:br/>
            <a:br/>
            <a:r>
              <a:t>KNEE AIRBAG:</a:t>
            </a:r>
            <a:br/>
            <a:br/>
            <a:r>
              <a:t>Location: Below steering column (driver), below glove box (passenger)</a:t>
            </a:r>
            <a:br/>
            <a:r>
              <a:t>Size: 10-15 liters</a:t>
            </a:r>
            <a:br/>
            <a:r>
              <a:t>Deployment: Downward and forward</a:t>
            </a:r>
            <a:br/>
            <a:r>
              <a:t>Purpose:</a:t>
            </a:r>
            <a:br/>
            <a:r>
              <a:t>• Cushion knee and lower leg contact with dashboard/steering column</a:t>
            </a:r>
            <a:br/>
            <a:r>
              <a:t>• Prevent "submarining" (sliding under lap belt)</a:t>
            </a:r>
            <a:br/>
            <a:r>
              <a:t>• Control lower body kinematics</a:t>
            </a:r>
            <a:br/>
            <a:br/>
            <a:r>
              <a:t>Submarining Prevention:</a:t>
            </a:r>
            <a:br/>
            <a:r>
              <a:t>Problem: In severe frontal crash, occupant pelvis can slide forward under lap belt</a:t>
            </a:r>
            <a:br/>
            <a:r>
              <a:t>→ Lap belt rides up to abdomen (soft tissue, not pelvic bones)</a:t>
            </a:r>
            <a:br/>
            <a:r>
              <a:t>→ Severe abdominal injuries, spinal injuries</a:t>
            </a:r>
            <a:br/>
            <a:br/>
            <a:r>
              <a:t>Knee airbag solution:</a:t>
            </a:r>
            <a:br/>
            <a:r>
              <a:t>• Creates barrier below steering wheel</a:t>
            </a:r>
            <a:br/>
            <a:r>
              <a:t>• Knees contact soft airbag instead of hard structures</a:t>
            </a:r>
            <a:br/>
            <a:r>
              <a:t>• Prevents forward-downward sliding motion</a:t>
            </a:r>
            <a:br/>
            <a:r>
              <a:t>• Keeps pelvis in place relative to lap belt</a:t>
            </a:r>
            <a:br/>
            <a:br/>
            <a:r>
              <a:t>Effectiveness:</a:t>
            </a:r>
            <a:br/>
            <a:r>
              <a:t>Submarining risk reduction: 60-80%</a:t>
            </a:r>
            <a:br/>
            <a:r>
              <a:t>Femur (thigh bone) fracture reduction: 30-40%</a:t>
            </a:r>
            <a:br/>
            <a:r>
              <a:t>Lower leg injury reduction: 20-30%</a:t>
            </a:r>
            <a:br/>
            <a:br/>
            <a:r>
              <a:t>REAR SEAT AIRBAGS:</a:t>
            </a:r>
            <a:br/>
            <a:br/>
            <a:r>
              <a:t>Types:</a:t>
            </a:r>
            <a:br/>
            <a:br/>
            <a:r>
              <a:t>1. Seatback-Mounted (Front Seatback):</a:t>
            </a:r>
            <a:br/>
            <a:r>
              <a:t>   • Airbag deploys from back of front seats toward rear occupants</a:t>
            </a:r>
            <a:br/>
            <a:r>
              <a:t>   • Protects rear passengers in frontal crashes</a:t>
            </a:r>
            <a:br/>
            <a:r>
              <a:t>   • Typically only in luxury vehicles (Rear passengers often neglected)</a:t>
            </a:r>
            <a:br/>
            <a:br/>
            <a:r>
              <a:t>2. Roof-Mounted (Rear Curtain Extension):</a:t>
            </a:r>
            <a:br/>
            <a:r>
              <a:t>   • Curtain airbags extended to rear side windows</a:t>
            </a:r>
            <a:br/>
            <a:r>
              <a:t>   • Head protection for rear passengers</a:t>
            </a:r>
            <a:br/>
            <a:r>
              <a:t>   • More common (part of curtain airbag system)</a:t>
            </a:r>
            <a:br/>
            <a:br/>
            <a:r>
              <a:t>CENTER AIRBAG (Far-Side Protection):</a:t>
            </a:r>
            <a:br/>
            <a:br/>
            <a:r>
              <a:t>Location: Driver seat (outboard side bolster or center console)</a:t>
            </a:r>
            <a:br/>
            <a:r>
              <a:t>Deployment: Sideways (between driver and front passenger)</a:t>
            </a:r>
            <a:br/>
            <a:r>
              <a:t>Purpose: Prevent driver and passenger from colliding during far-side impacts</a:t>
            </a:r>
            <a:br/>
            <a:br/>
            <a:r>
              <a:t>Far-Side Impact Scenario:</a:t>
            </a:r>
            <a:br/>
            <a:r>
              <a:t>• Right-side impact (passenger side struck)</a:t>
            </a:r>
            <a:br/>
            <a:r>
              <a:t>• Driver thrown to the right (toward impact side)</a:t>
            </a:r>
            <a:br/>
            <a:r>
              <a:t>• Risk: Driver collides with passenger</a:t>
            </a:r>
            <a:br/>
            <a:r>
              <a:t>• Center airbag deploys between them → Cushions contact</a:t>
            </a:r>
            <a:br/>
            <a:br/>
            <a:r>
              <a:t>Deployment: 15-20 ms</a:t>
            </a:r>
            <a:br/>
            <a:r>
              <a:t>Size: 15-20 liters (elongated shape, vertical)</a:t>
            </a:r>
            <a:br/>
            <a:br/>
            <a:r>
              <a:t>Effectiveness:</a:t>
            </a:r>
            <a:br/>
            <a:r>
              <a:t>Far-side head injury reduction: 30-40% (prevents occupant-to-occupant contact)</a:t>
            </a:r>
            <a:br/>
            <a:br/>
            <a:r>
              <a:t>SEATBELT AIRBAG (Inflatable Belt):</a:t>
            </a:r>
            <a:br/>
            <a:br/>
            <a:r>
              <a:t>Design:</a:t>
            </a:r>
            <a:br/>
            <a:r>
              <a:t>• Airbag integrated into seatbelt webbing (shoulder belt section)</a:t>
            </a:r>
            <a:br/>
            <a:r>
              <a:t>• Belt has inflatable chamber (normally flat, thin)</a:t>
            </a:r>
            <a:br/>
            <a:r>
              <a:t>• Small inflator connected to belt</a:t>
            </a:r>
            <a:br/>
            <a:br/>
            <a:r>
              <a:t>Deployment:</a:t>
            </a:r>
            <a:br/>
            <a:r>
              <a:t>• Inflates shoulder belt section to 3-4× normal width</a:t>
            </a:r>
            <a:br/>
            <a:r>
              <a:t>• Increased contact area with chest (~150-200 mm wide vs. 50 mm)</a:t>
            </a:r>
            <a:br/>
            <a:r>
              <a:t>• Reduces belt pressure on chest</a:t>
            </a:r>
            <a:br/>
            <a:br/>
            <a:r>
              <a:t>Benefits:</a:t>
            </a:r>
            <a:br/>
            <a:r>
              <a:t>• Lower peak pressure (force distributed over larger area)</a:t>
            </a:r>
            <a:br/>
            <a:r>
              <a:t>• Reduced chest injury risk (rib fractures, etc.)</a:t>
            </a:r>
            <a:br/>
            <a:r>
              <a:t>• Particularly beneficial for elderly or small-stature occupants</a:t>
            </a:r>
            <a:br/>
            <a:br/>
            <a:r>
              <a:t>Challenges:</a:t>
            </a:r>
            <a:br/>
            <a:r>
              <a:t>• Complex (inflator must move with belt)</a:t>
            </a:r>
            <a:br/>
            <a:r>
              <a:t>• Expensive</a:t>
            </a:r>
            <a:br/>
            <a:r>
              <a:t>• Mostly found in rear center seating position (rear center seat often lacks pretensioner/load limiter)</a:t>
            </a:r>
            <a:br/>
            <a:br/>
            <a:r>
              <a:t>EXTERNAL PEDESTRIAN AIRBAG (Emerging):</a:t>
            </a:r>
            <a:br/>
            <a:br/>
            <a:r>
              <a:t>Location: Base of windshield (A-pillar area)</a:t>
            </a:r>
            <a:br/>
            <a:r>
              <a:t>Purpose: Protect pedestrians struck by vehicle</a:t>
            </a:r>
            <a:br/>
            <a:r>
              <a:t>Deployment: Upward, covers lower windshield and A-pillars</a:t>
            </a:r>
            <a:br/>
            <a:r>
              <a:t>Trigger: Pedestrian impact detected (front bumper sensors)</a:t>
            </a:r>
            <a:br/>
            <a:br/>
            <a:r>
              <a:t>Pedestrian protection covered in detail on next slide.</a:t>
            </a:r>
            <a:br/>
            <a:br/>
            <a:r>
              <a:t>TOTAL AIRBAG COUNT (Modern Premium Vehicles):</a:t>
            </a:r>
            <a:br/>
            <a:br/>
            <a:r>
              <a:t>Example configuration (Luxury sedan):</a:t>
            </a:r>
            <a:br/>
            <a:r>
              <a:t>• Driver frontal: 1</a:t>
            </a:r>
            <a:br/>
            <a:r>
              <a:t>• Passenger frontal: 1</a:t>
            </a:r>
            <a:br/>
            <a:r>
              <a:t>• Driver knee: 1</a:t>
            </a:r>
            <a:br/>
            <a:r>
              <a:t>• Passenger knee: 1</a:t>
            </a:r>
            <a:br/>
            <a:r>
              <a:t>• Driver side torso: 1</a:t>
            </a:r>
            <a:br/>
            <a:r>
              <a:t>• Passenger side torso: 1</a:t>
            </a:r>
            <a:br/>
            <a:r>
              <a:t>• Left curtain: 1 (covers front + rear)</a:t>
            </a:r>
            <a:br/>
            <a:r>
              <a:t>• Right curtain: 1 (covers front + rear)</a:t>
            </a:r>
            <a:br/>
            <a:r>
              <a:t>• Center airbag: 1</a:t>
            </a:r>
            <a:br/>
            <a:r>
              <a:t>• Rear seatbelt airbags: 2</a:t>
            </a:r>
            <a:br/>
            <a:r>
              <a:t>→ TOTAL: 11 airbags</a:t>
            </a:r>
            <a:br/>
            <a:br/>
            <a:r>
              <a:t>Some luxury vehicles (Mercedes S-Class, BMW 7-Series): 12-14 airbags</a:t>
            </a:r>
            <a:br/>
            <a:br/>
            <a:r>
              <a:t>Budget vehicles: 2-6 airbags (typically frontal only, maybe side)</a:t>
            </a:r>
            <a:br/>
            <a:br/>
            <a:r>
              <a:t>Regulatory Requirements:</a:t>
            </a:r>
            <a:br/>
            <a:r>
              <a:t>• Frontal airbags (driver + passenger): Mandatory (most markets)</a:t>
            </a:r>
            <a:br/>
            <a:r>
              <a:t>• Side airbags: Recommended, often mandatory (EU, US newer vehicles)</a:t>
            </a:r>
            <a:br/>
            <a:r>
              <a:t>• Curtain airbags: Recommended for rollover protection</a:t>
            </a:r>
            <a:br/>
            <a:r>
              <a:t>• Others: Optional, premium features</a:t>
            </a:r>
          </a:p>
          <a:p>
            <a:pPr>
              <a:spcAft>
                <a:spcPts val="1000"/>
              </a:spcAft>
              <a:defRPr sz="1800">
                <a:solidFill>
                  <a:srgbClr val="333333"/>
                </a:solidFill>
              </a:defRPr>
            </a:pPr>
            <a:r>
              <a:t>Outcomes Addressed: SO-6-18-3 (supplemental airbag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4: CLIMAX - "Control Systems, Sensors &amp; Pedestrian Protection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20-26 | Duration: ~20 minutes | Energy Level: High (System Integration)</a:t>
            </a:r>
          </a:p>
          <a:p>
            <a:pPr>
              <a:spcAft>
                <a:spcPts val="1000"/>
              </a:spcAft>
              <a:defRPr sz="1800">
                <a:solidFill>
                  <a:srgbClr val="333333"/>
                </a:solidFill>
              </a:defRPr>
            </a:pPr>
            <a:r>
              <a:t>Story Purpose: Explain the electronic control and sensing that orchestrates all passive safety</a:t>
            </a:r>
          </a:p>
          <a:p>
            <a:pPr>
              <a:spcAft>
                <a:spcPts val="1000"/>
              </a:spcAft>
              <a:defRPr sz="1800">
                <a:solidFill>
                  <a:srgbClr val="333333"/>
                </a:solidFill>
              </a:defRPr>
            </a:pPr>
            <a:r>
              <a:t>Teaching Mode: Systems integration + sensor technology + emerging tech</a:t>
            </a:r>
          </a:p>
          <a:p>
            <a:pPr>
              <a:spcAft>
                <a:spcPts val="1000"/>
              </a:spcAft>
              <a:defRPr sz="1800">
                <a:solidFill>
                  <a:srgbClr val="333333"/>
                </a:solidFill>
              </a:defRPr>
            </a:pPr>
            <a:r>
              <a:t>Connection to Prior Knowledge: ECU and sensors from Session 14, all passive safety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Airbag Control Unit (ACU) - The Safety Brain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We've talked about all these airbags and seatbelt systems, but how does the vehicle know when to deploy them? That's the job of the Airbag Control Unit, or ACU - sometimes called the SRS (Supplemental Restraint System) ECU.</a:t>
            </a:r>
          </a:p>
          <a:p>
            <a:pPr>
              <a:spcAft>
                <a:spcPts val="1000"/>
              </a:spcAft>
              <a:defRPr sz="1800">
                <a:solidFill>
                  <a:srgbClr val="333333"/>
                </a:solidFill>
              </a:defRPr>
            </a:pPr>
            <a:r>
              <a:t>The ACU is a dedicated safety computer, and it's one of the most critical ECUs in the vehicle. It continuously monitors crash sensors throughout the vehicle - accelerometers that measure deceleration and lateral acceleration. It processes this sensor data in real-time and makes deployment decisions within 10 milliseconds of a crash starting.</a:t>
            </a:r>
          </a:p>
          <a:p>
            <a:pPr>
              <a:spcAft>
                <a:spcPts val="1000"/>
              </a:spcAft>
              <a:defRPr sz="1800">
                <a:solidFill>
                  <a:srgbClr val="333333"/>
                </a:solidFill>
              </a:defRPr>
            </a:pPr>
            <a:r>
              <a:t>The ACU runs sophisticated algorithms - crash detection algorithms - that distinguish between a real crash requiring airbag deployment and normal driving events like hitting a pothole or hard braking. It must be extremely sensitive to catch crashes quickly, but also selective to avoid false deployments, which are expensive and dangerous.</a:t>
            </a:r>
          </a:p>
          <a:p>
            <a:pPr>
              <a:spcAft>
                <a:spcPts val="1000"/>
              </a:spcAft>
              <a:defRPr sz="1800">
                <a:solidFill>
                  <a:srgbClr val="333333"/>
                </a:solidFill>
              </a:defRPr>
            </a:pPr>
            <a:r>
              <a:t>When the ACU determines a deployment is necessary, it sends high-current electrical pulses to the appropriate airbag initiators and seatbelt pretensioners. It selects which airbags to fire based on the crash type - frontal sensors trigger frontal airbags, side sensors trigger side and curtain airbags.</a:t>
            </a:r>
          </a:p>
          <a:p>
            <a:pPr>
              <a:spcAft>
                <a:spcPts val="1000"/>
              </a:spcAft>
              <a:defRPr sz="1800">
                <a:solidFill>
                  <a:srgbClr val="333333"/>
                </a:solidFill>
              </a:defRPr>
            </a:pPr>
            <a:r>
              <a:t>For dual-stage airbags, the ACU decides whether to fire one stage or both based on crash severity and occupant factors like belt usage and seat position.</a:t>
            </a:r>
          </a:p>
          <a:p>
            <a:pPr>
              <a:spcAft>
                <a:spcPts val="1000"/>
              </a:spcAft>
              <a:defRPr sz="1800">
                <a:solidFill>
                  <a:srgbClr val="333333"/>
                </a:solidFill>
              </a:defRPr>
            </a:pPr>
            <a:r>
              <a:t>The ACU also has a backup power supply - a capacitor that stores enough energy to deploy airbags even if the main battery is disconnected in the crash. And it stores crash data in non-volatile memory for post-crash analysis by investigators.</a:t>
            </a:r>
          </a:p>
          <a:p>
            <a:pPr>
              <a:spcAft>
                <a:spcPts val="1000"/>
              </a:spcAft>
              <a:defRPr sz="1800">
                <a:solidFill>
                  <a:srgbClr val="333333"/>
                </a:solidFill>
              </a:defRPr>
            </a:pPr>
            <a:r>
              <a:t>PPT Content:</a:t>
            </a:r>
          </a:p>
          <a:p>
            <a:pPr>
              <a:defRPr sz="1400">
                <a:solidFill>
                  <a:srgbClr val="787878"/>
                </a:solidFill>
                <a:latin typeface="Consolas"/>
              </a:defRPr>
            </a:pPr>
            <a:r>
              <a:t>AIRBAG CONTROL UNIT (ACU): THE SAFETY BRAIN</a:t>
            </a:r>
            <a:br/>
            <a:br/>
            <a:r>
              <a:t>Alternative Names:</a:t>
            </a:r>
            <a:br/>
            <a:r>
              <a:t>• SRS ECU (Supplemental Restraint System ECU)</a:t>
            </a:r>
            <a:br/>
            <a:r>
              <a:t>• ACM (Airbag Control Module)</a:t>
            </a:r>
            <a:br/>
            <a:r>
              <a:t>• RCM (Restraint Control Module)</a:t>
            </a:r>
            <a:br/>
            <a:r>
              <a:t>• SDM (Sensing and Diagnostic Module)</a:t>
            </a:r>
            <a:br/>
            <a:br/>
            <a:r>
              <a:t>Location: Usually under center console or under front seats (centralized position)</a:t>
            </a:r>
            <a:br/>
            <a:br/>
            <a:r>
              <a:t>Purpose:</a:t>
            </a:r>
            <a:br/>
            <a:r>
              <a:t>• Monitor crash sensors continuously</a:t>
            </a:r>
            <a:br/>
            <a:r>
              <a:t>• Detect crash events in real-time</a:t>
            </a:r>
            <a:br/>
            <a:r>
              <a:t>• Make deployment decisions (which airbags, when, how much)</a:t>
            </a:r>
            <a:br/>
            <a:r>
              <a:t>• Trigger airbag inflators and seatbelt pretensioners</a:t>
            </a:r>
            <a:br/>
            <a:r>
              <a:t>• Perform system diagnostics</a:t>
            </a:r>
            <a:br/>
            <a:r>
              <a:t>• Store crash data</a:t>
            </a:r>
            <a:br/>
            <a:br/>
            <a:r>
              <a:t>INPUTS TO ACU:</a:t>
            </a:r>
            <a:br/>
            <a:br/>
            <a:r>
              <a:t>1. Crash Sensors (Accelerometers):</a:t>
            </a:r>
            <a:br/>
            <a:r>
              <a:t>   • Frontal crash sensors: 2-4 sensors (front of vehicle)</a:t>
            </a:r>
            <a:br/>
            <a:r>
              <a:t>   • Side crash sensors: 4-8 sensors (door, B-pillar, sill, each side)</a:t>
            </a:r>
            <a:br/>
            <a:r>
              <a:t>   • Central sensor: Inside ACU (redundancy, safing sensor)</a:t>
            </a:r>
            <a:br/>
            <a:r>
              <a:t>   • Measure: Acceleration in X, Y, Z axes (g-forces)</a:t>
            </a:r>
            <a:br/>
            <a:br/>
            <a:r>
              <a:t>2. Occupant Sensors:</a:t>
            </a:r>
            <a:br/>
            <a:r>
              <a:t>   • Seat belt buckle switches (belted/unbelted status)</a:t>
            </a:r>
            <a:br/>
            <a:r>
              <a:t>   • Seat occupancy sensors (weight, presence detection)</a:t>
            </a:r>
            <a:br/>
            <a:r>
              <a:t>   • Seat position sensors (distance from dashboard)</a:t>
            </a:r>
            <a:br/>
            <a:br/>
            <a:r>
              <a:t>3. Vehicle Status:</a:t>
            </a:r>
            <a:br/>
            <a:r>
              <a:t>   • Ignition status (on/off)</a:t>
            </a:r>
            <a:br/>
            <a:r>
              <a:t>   • Battery voltage</a:t>
            </a:r>
            <a:br/>
            <a:r>
              <a:t>   • CAN bus messages (vehicle speed, brake status from other ECUs)</a:t>
            </a:r>
            <a:br/>
            <a:br/>
            <a:r>
              <a:t>4. System Status:</a:t>
            </a:r>
            <a:br/>
            <a:r>
              <a:t>   • Airbag circuit resistance (continuity check for each airbag)</a:t>
            </a:r>
            <a:br/>
            <a:r>
              <a:t>   • Pretensioner circuit resistance</a:t>
            </a:r>
            <a:br/>
            <a:br/>
            <a:r>
              <a:t>PROCESSING (ACU Algorithm):</a:t>
            </a:r>
            <a:br/>
            <a:br/>
            <a:r>
              <a:t>Sampling Rate: 1,000-10,000 Hz (1-10 kHz) - very fast!</a:t>
            </a:r>
            <a:br/>
            <a:r>
              <a:t>Every 0.1-1 ms, ACU reads all sensors and processes</a:t>
            </a:r>
            <a:br/>
            <a:br/>
            <a:r>
              <a:t>Crash Detection Algorithm:</a:t>
            </a:r>
            <a:br/>
            <a:r>
              <a:t>1. Read accelerometer values</a:t>
            </a:r>
            <a:br/>
            <a:r>
              <a:t>2. Calculate velocity change (integrate acceleration):</a:t>
            </a:r>
            <a:br/>
            <a:r>
              <a:t>   Δv(t) = ∫ a(t) dt</a:t>
            </a:r>
            <a:br/>
            <a:br/>
            <a:r>
              <a:t>3. Apply threshold checks:</a:t>
            </a:r>
            <a:br/>
            <a:r>
              <a:t>   • Is deceleration &gt; threshold? (e.g., &gt;8g frontal, &gt;5g side)</a:t>
            </a:r>
            <a:br/>
            <a:r>
              <a:t>   • Is Δv &gt; threshold? (e.g., Δv &gt; 15 km/h for deployment)</a:t>
            </a:r>
            <a:br/>
            <a:r>
              <a:t>   • Duration check (sustained deceleration, not brief spike)</a:t>
            </a:r>
            <a:br/>
            <a:br/>
            <a:r>
              <a:t>4. Pattern recognition:</a:t>
            </a:r>
            <a:br/>
            <a:r>
              <a:t>   • Frontal crash: High X-axis deceleration, low Y-axis</a:t>
            </a:r>
            <a:br/>
            <a:r>
              <a:t>   • Side crash: High Y-axis deceleration (left or right)</a:t>
            </a:r>
            <a:br/>
            <a:r>
              <a:t>   • Rollover: Z-axis changes, sustained lateral acceleration</a:t>
            </a:r>
            <a:br/>
            <a:r>
              <a:t>   • Pole crash: Localized sensor activation (narrow impact)</a:t>
            </a:r>
            <a:br/>
            <a:r>
              <a:t>   • Offset crash: Asymmetric sensor pattern</a:t>
            </a:r>
            <a:br/>
            <a:br/>
            <a:r>
              <a:t>5. Safing algorithm:</a:t>
            </a:r>
            <a:br/>
            <a:r>
              <a:t>   • Require multiple sensors to agree (prevent false deployment)</a:t>
            </a:r>
            <a:br/>
            <a:r>
              <a:t>   • Central safing sensor + peripheral sensor both must trigger</a:t>
            </a:r>
            <a:br/>
            <a:r>
              <a:t>   • Logic: (Front sensor 1 OR Front sensor 2) AND Central sensor → Deploy</a:t>
            </a:r>
            <a:br/>
            <a:br/>
            <a:r>
              <a:t>6. Severity assessment:</a:t>
            </a:r>
            <a:br/>
            <a:r>
              <a:t>   • Low severity (Δv = 15-25 km/h): Stage 1 airbag only (if dual-stage)</a:t>
            </a:r>
            <a:br/>
            <a:r>
              <a:t>   • High severity (Δv &gt; 35 km/h): Stage 1 + Stage 2 airbags</a:t>
            </a:r>
            <a:br/>
            <a:br/>
            <a:r>
              <a:t>7. Occupant adaptation:</a:t>
            </a:r>
            <a:br/>
            <a:r>
              <a:t>   • If unbuckled: May suppress or reduce deployment</a:t>
            </a:r>
            <a:br/>
            <a:r>
              <a:t>   • If seat empty (passenger): Suppress passenger airbag</a:t>
            </a:r>
            <a:br/>
            <a:r>
              <a:t>   • If seat too close: May reduce deployment force (some systems)</a:t>
            </a:r>
            <a:br/>
            <a:br/>
            <a:r>
              <a:t>Decision Time: 5-10 ms from crash start to deployment command</a:t>
            </a:r>
            <a:br/>
            <a:br/>
            <a:r>
              <a:t>OUTPUTS FROM ACU:</a:t>
            </a:r>
            <a:br/>
            <a:br/>
            <a:r>
              <a:t>Deployment Commands:</a:t>
            </a:r>
            <a:br/>
            <a:r>
              <a:t>• Driver frontal airbag: Fire Stage 1, Fire Stage 2 (dual-stage)</a:t>
            </a:r>
            <a:br/>
            <a:r>
              <a:t>• Passenger frontal airbag: Fire (or suppress if unoccupied)</a:t>
            </a:r>
            <a:br/>
            <a:r>
              <a:t>• Driver side airbag, Passenger side airbag</a:t>
            </a:r>
            <a:br/>
            <a:r>
              <a:t>• Left curtain, Right curtain</a:t>
            </a:r>
            <a:br/>
            <a:r>
              <a:t>• Driver knee airbag, Passenger knee airbag</a:t>
            </a:r>
            <a:br/>
            <a:r>
              <a:t>• Driver seatbelt pretensioner, Passenger pretensioner, Rear pretensioners</a:t>
            </a:r>
            <a:br/>
            <a:r>
              <a:t>→ Up to 20+ separate pyrotechnic devices!</a:t>
            </a:r>
            <a:br/>
            <a:br/>
            <a:r>
              <a:t>Trigger Mechanism:</a:t>
            </a:r>
            <a:br/>
            <a:r>
              <a:t>• Electrical pulse: High current (~2-3 A) for 2-3 ms</a:t>
            </a:r>
            <a:br/>
            <a:r>
              <a:t>• Sent to squib (initiator) in each airbag/pretensioner</a:t>
            </a:r>
            <a:br/>
            <a:r>
              <a:t>• Squib heats and ignites pyrotechnic charge</a:t>
            </a:r>
            <a:br/>
            <a:br/>
            <a:r>
              <a:t>Diagnostic Outputs:</a:t>
            </a:r>
            <a:br/>
            <a:r>
              <a:t>• SRS warning light on dashboard</a:t>
            </a:r>
            <a:br/>
            <a:r>
              <a:t>• Fault codes (stored in memory)</a:t>
            </a:r>
            <a:br/>
            <a:r>
              <a:t>• CAN bus messages (communicate status to other ECUs)</a:t>
            </a:r>
            <a:br/>
            <a:br/>
            <a:r>
              <a:t>POWER SUPPLY:</a:t>
            </a:r>
            <a:br/>
            <a:br/>
            <a:r>
              <a:t>Primary: Vehicle 12V battery (via ignition)</a:t>
            </a:r>
            <a:br/>
            <a:br/>
            <a:r>
              <a:t>Backup: Firing capacitor</a:t>
            </a:r>
            <a:br/>
            <a:r>
              <a:t>• Large capacitor (several thousand μF) inside ACU</a:t>
            </a:r>
            <a:br/>
            <a:r>
              <a:t>• Continuously charged when ignition on</a:t>
            </a:r>
            <a:br/>
            <a:r>
              <a:t>• Stores ~50-100 J energy</a:t>
            </a:r>
            <a:br/>
            <a:r>
              <a:t>• Purpose: Deploy airbags even if battery disconnected in crash</a:t>
            </a:r>
            <a:br/>
            <a:r>
              <a:t>• Capacity: Can fire all airbags and pretensioners</a:t>
            </a:r>
            <a:br/>
            <a:br/>
            <a:r>
              <a:t>Why Critical?</a:t>
            </a:r>
            <a:br/>
            <a:r>
              <a:t>Severe frontal crash may tear battery cables or damage alternator</a:t>
            </a:r>
            <a:br/>
            <a:r>
              <a:t>ACU must still deploy airbags → Capacitor provides backup power</a:t>
            </a:r>
            <a:br/>
            <a:br/>
            <a:r>
              <a:t>CRASH DATA RECORDING (Event Data Recorder - EDR):</a:t>
            </a:r>
            <a:br/>
            <a:br/>
            <a:r>
              <a:t>ACU stores crash data in non-volatile memory:</a:t>
            </a:r>
            <a:br/>
            <a:r>
              <a:t>• Pre-crash: Speed, throttle, brake, belt status (last 5 seconds)</a:t>
            </a:r>
            <a:br/>
            <a:r>
              <a:t>• Crash: Peak acceleration, Δv, crash pulse waveform</a:t>
            </a:r>
            <a:br/>
            <a:r>
              <a:t>• Deployment: Which airbags fired, at what time</a:t>
            </a:r>
            <a:br/>
            <a:r>
              <a:t>• Post-crash: Multiple events (if vehicle crashes again)</a:t>
            </a:r>
            <a:br/>
            <a:br/>
            <a:r>
              <a:t>Uses:</a:t>
            </a:r>
            <a:br/>
            <a:r>
              <a:t>• Accident investigation (determine crash severity, occupant behavior)</a:t>
            </a:r>
            <a:br/>
            <a:r>
              <a:t>• Manufacturer analysis (improve airbag algorithms)</a:t>
            </a:r>
            <a:br/>
            <a:r>
              <a:t>• Legal evidence (insurance claims, litigation)</a:t>
            </a:r>
            <a:br/>
            <a:br/>
            <a:r>
              <a:t>Privacy Note: EDR data is vehicle property, but laws vary on access rights.</a:t>
            </a:r>
            <a:br/>
            <a:br/>
            <a:r>
              <a:t>SYSTEM DIAGNOSTICS:</a:t>
            </a:r>
            <a:br/>
            <a:br/>
            <a:r>
              <a:t>ACU continuously monitors system health:</a:t>
            </a:r>
            <a:br/>
            <a:r>
              <a:t>• Checks electrical resistance of each airbag circuit (every few seconds)</a:t>
            </a:r>
            <a:br/>
            <a:r>
              <a:t>• Detects: Open circuit (broken wire), short circuit, incorrect resistance</a:t>
            </a:r>
            <a:br/>
            <a:r>
              <a:t>• If fault detected → SRS warning light illuminates on dashboard</a:t>
            </a:r>
            <a:br/>
            <a:r>
              <a:t>• Fault code stored for service diagnosis</a:t>
            </a:r>
            <a:br/>
            <a:br/>
            <a:r>
              <a:t>Common faults:</a:t>
            </a:r>
            <a:br/>
            <a:r>
              <a:t>• Clock spring failure (rotating electrical connector in steering wheel)</a:t>
            </a:r>
            <a:br/>
            <a:r>
              <a:t>• Seat sensor malfunction</a:t>
            </a:r>
            <a:br/>
            <a:r>
              <a:t>• Low battery voltage</a:t>
            </a:r>
            <a:br/>
            <a:r>
              <a:t>• Airbag circuit open (connector loose)</a:t>
            </a:r>
            <a:br/>
            <a:br/>
            <a:r>
              <a:t>Regulations:</a:t>
            </a:r>
            <a:br/>
            <a:r>
              <a:t>• FMVSS 208 (US): Requires ACU, redundant sensors, crash data recording</a:t>
            </a:r>
            <a:br/>
            <a:r>
              <a:t>• UN R94 (EU): Frontal crash detection requirements</a:t>
            </a:r>
          </a:p>
          <a:p>
            <a:pPr>
              <a:spcAft>
                <a:spcPts val="1000"/>
              </a:spcAft>
              <a:defRPr sz="1800">
                <a:solidFill>
                  <a:srgbClr val="333333"/>
                </a:solidFill>
              </a:defRPr>
            </a:pPr>
            <a:r>
              <a:t>Teaching Note:</a:t>
            </a:r>
          </a:p>
          <a:p>
            <a:pPr>
              <a:spcAft>
                <a:spcPts val="1000"/>
              </a:spcAft>
              <a:defRPr sz="1800">
                <a:solidFill>
                  <a:srgbClr val="333333"/>
                </a:solidFill>
              </a:defRPr>
            </a:pPr>
            <a:r>
              <a:t>The ACU is like an airbag system's 'brain,' but it operates at machine speed - making life-or-death decisions in 10 milliseconds with zero room for error.</a:t>
            </a:r>
          </a:p>
          <a:p>
            <a:pPr>
              <a:spcAft>
                <a:spcPts val="1000"/>
              </a:spcAft>
              <a:defRPr sz="1800">
                <a:solidFill>
                  <a:srgbClr val="333333"/>
                </a:solidFill>
              </a:defRPr>
            </a:pPr>
            <a:r>
              <a:t>Outcomes Addressed: SO-6-18-4 (ACU operation, deployment algorithms)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Crash Sensors - Accelerometers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The crash sensors that feed the ACU are accelerometers - devices that measure acceleration (or deceleration, which is negative acceleration).</a:t>
            </a:r>
          </a:p>
          <a:p>
            <a:pPr>
              <a:spcAft>
                <a:spcPts val="1000"/>
              </a:spcAft>
              <a:defRPr sz="1800">
                <a:solidFill>
                  <a:srgbClr val="333333"/>
                </a:solidFill>
              </a:defRPr>
            </a:pPr>
            <a:r>
              <a:t>Modern automotive accelerometers are MEMS devices - Micro-Electro-Mechanical Systems. These are tiny silicon chips with microscopic mechanical structures etched into them. Inside the chip, there's a tiny proof mass - essentially a microscopic weight suspended by flexible beams. When the vehicle decelerates suddenly, this proof mass moves relative to the sensor housing due to inertia.</a:t>
            </a:r>
          </a:p>
          <a:p>
            <a:pPr>
              <a:spcAft>
                <a:spcPts val="1000"/>
              </a:spcAft>
              <a:defRPr sz="1800">
                <a:solidFill>
                  <a:srgbClr val="333333"/>
                </a:solidFill>
              </a:defRPr>
            </a:pPr>
            <a:r>
              <a:t>The movement is detected capacitively or piezoelectrically and converted to an electrical signal - a voltage proportional to the acceleration. These sensors can measure accelerations from near-zero up to 100g or more with very fast response times - microseconds.</a:t>
            </a:r>
          </a:p>
          <a:p>
            <a:pPr>
              <a:spcAft>
                <a:spcPts val="1000"/>
              </a:spcAft>
              <a:defRPr sz="1800">
                <a:solidFill>
                  <a:srgbClr val="333333"/>
                </a:solidFill>
              </a:defRPr>
            </a:pPr>
            <a:r>
              <a:t>Vehicles have multiple accelerometer sensors positioned strategically. Frontal crash sensors are in the front bumper area or radiator support structure - these are the 'early warning' sensors that detect a crash first. Side crash sensors are in the doors, B-pillars, and floor sills. And there's almost always a central accelerometer inside the ACU itself.</a:t>
            </a:r>
          </a:p>
          <a:p>
            <a:pPr>
              <a:spcAft>
                <a:spcPts val="1000"/>
              </a:spcAft>
              <a:defRPr sz="1800">
                <a:solidFill>
                  <a:srgbClr val="333333"/>
                </a:solidFill>
              </a:defRPr>
            </a:pPr>
            <a:r>
              <a:t>The central sensor serves as a safing sensor - to deploy airbags, the ACU typically requires both a peripheral sensor (front or side) AND the central sensor to detect a crash. This redundancy prevents false deployments from isolated sensor malfunctions or localized impacts like hitting a shopping cart.</a:t>
            </a:r>
          </a:p>
          <a:p>
            <a:pPr>
              <a:spcAft>
                <a:spcPts val="1000"/>
              </a:spcAft>
              <a:defRPr sz="1800">
                <a:solidFill>
                  <a:srgbClr val="333333"/>
                </a:solidFill>
              </a:defRPr>
            </a:pPr>
            <a:r>
              <a:t>Some advanced vehicles also have pressure sensors in the doors that detect the rapid pressure increase when a door is struck. These can provide even earlier warning than accelerometers in side impacts.</a:t>
            </a:r>
          </a:p>
          <a:p>
            <a:pPr>
              <a:spcAft>
                <a:spcPts val="1000"/>
              </a:spcAft>
              <a:defRPr sz="1800">
                <a:solidFill>
                  <a:srgbClr val="333333"/>
                </a:solidFill>
              </a:defRPr>
            </a:pPr>
            <a:r>
              <a:t>PPT Content:</a:t>
            </a:r>
          </a:p>
          <a:p>
            <a:pPr>
              <a:defRPr sz="1400">
                <a:solidFill>
                  <a:srgbClr val="787878"/>
                </a:solidFill>
                <a:latin typeface="Consolas"/>
              </a:defRPr>
            </a:pPr>
            <a:r>
              <a:t>CRASH SENSORS: ACCELEROMETERS</a:t>
            </a:r>
            <a:br/>
            <a:br/>
            <a:r>
              <a:t>Purpose: Measure vehicle deceleration (acceleration) during crashes</a:t>
            </a:r>
            <a:br/>
            <a:r>
              <a:t>Output: Voltage signal proportional to acceleration</a:t>
            </a:r>
            <a:br/>
            <a:br/>
            <a:r>
              <a:t>MEMS ACCELEROMETER (Modern Standard):</a:t>
            </a:r>
            <a:br/>
            <a:br/>
            <a:r>
              <a:t>MEMS = Micro-Electro-Mechanical Systems</a:t>
            </a:r>
            <a:br/>
            <a:r>
              <a:t>Construction:</a:t>
            </a:r>
            <a:br/>
            <a:r>
              <a:t>• Silicon chip with microscopic mechanical structure</a:t>
            </a:r>
            <a:br/>
            <a:r>
              <a:t>• Proof mass: Tiny mass (micrograms) suspended by flexible beams</a:t>
            </a:r>
            <a:br/>
            <a:r>
              <a:t>• Capacitive plates: Detect proof mass displacement</a:t>
            </a:r>
            <a:br/>
            <a:r>
              <a:t>• Size: ~5mm × 5mm chip (incredibly small!)</a:t>
            </a:r>
            <a:br/>
            <a:br/>
            <a:r>
              <a:t>Operating Principle:</a:t>
            </a:r>
            <a:br/>
            <a:r>
              <a:t>1. Vehicle decelerates suddenly in crash</a:t>
            </a:r>
            <a:br/>
            <a:r>
              <a:t>2. Proof mass resists deceleration (inertia: F = ma)</a:t>
            </a:r>
            <a:br/>
            <a:r>
              <a:t>3. Proof mass moves relative to sensor housing</a:t>
            </a:r>
            <a:br/>
            <a:r>
              <a:t>4. Movement changes capacitance between proof mass and fixed plates</a:t>
            </a:r>
            <a:br/>
            <a:r>
              <a:t>5. Capacitance change → Voltage change (measured by electronics)</a:t>
            </a:r>
            <a:br/>
            <a:r>
              <a:t>6. Voltage proportional to acceleration: V = k × a</a:t>
            </a:r>
            <a:br/>
            <a:br/>
            <a:r>
              <a:t>Performance:</a:t>
            </a:r>
            <a:br/>
            <a:r>
              <a:t>• Measurement range: ±100g (some sensors ±250g for severe crashes)</a:t>
            </a:r>
            <a:br/>
            <a:r>
              <a:t>• Accuracy: ±2-5% of full scale</a:t>
            </a:r>
            <a:br/>
            <a:r>
              <a:t>• Response time: &lt;1 ms (some &lt;100 μs - extremely fast!)</a:t>
            </a:r>
            <a:br/>
            <a:r>
              <a:t>• Sampling rate: 1-10 kHz (matches ACU processing rate)</a:t>
            </a:r>
            <a:br/>
            <a:r>
              <a:t>• Axes: Single-axis, dual-axis, or tri-axial (X, Y, Z)</a:t>
            </a:r>
            <a:br/>
            <a:br/>
            <a:r>
              <a:t>Advantages:</a:t>
            </a:r>
            <a:br/>
            <a:r>
              <a:t>• Very small, lightweight</a:t>
            </a:r>
            <a:br/>
            <a:r>
              <a:t>• Low cost (mass production)</a:t>
            </a:r>
            <a:br/>
            <a:r>
              <a:t>• High reliability (no moving parts at macro scale)</a:t>
            </a:r>
            <a:br/>
            <a:r>
              <a:t>• Low power consumption (~5-10 mA)</a:t>
            </a:r>
            <a:br/>
            <a:br/>
            <a:r>
              <a:t>SENSOR PLACEMENT:</a:t>
            </a:r>
            <a:br/>
            <a:br/>
            <a:r>
              <a:t>FRONTAL CRASH SENSORS (2-4 sensors typical):</a:t>
            </a:r>
            <a:br/>
            <a:br/>
            <a:r>
              <a:t>Location 1: Front bumper or radiator support (left and right)</a:t>
            </a:r>
            <a:br/>
            <a:r>
              <a:t>• Distance from cabin: ~1.5-2 m forward</a:t>
            </a:r>
            <a:br/>
            <a:r>
              <a:t>• Purpose: Early crash detection (detects crash before cabin deceleration)</a:t>
            </a:r>
            <a:br/>
            <a:r>
              <a:t>• Measures: X-axis deceleration (forward crashes)</a:t>
            </a:r>
            <a:br/>
            <a:r>
              <a:t>• Typical threshold: &gt;8-12g deceleration</a:t>
            </a:r>
            <a:br/>
            <a:br/>
            <a:r>
              <a:t>Location 2: Inside ACU (center of vehicle, under seats/console)</a:t>
            </a:r>
            <a:br/>
            <a:r>
              <a:t>• Purpose: Central safing sensor (redundancy)</a:t>
            </a:r>
            <a:br/>
            <a:r>
              <a:t>• Measures: X-axis deceleration</a:t>
            </a:r>
            <a:br/>
            <a:r>
              <a:t>• Must agree with peripheral sensors for deployment</a:t>
            </a:r>
            <a:br/>
            <a:br/>
            <a:r>
              <a:t>Redundancy Logic:</a:t>
            </a:r>
            <a:br/>
            <a:r>
              <a:t>Deploy if: (Left front sensor OR Right front sensor) AND Central sensor</a:t>
            </a:r>
            <a:br/>
            <a:r>
              <a:t>→ Prevents false deployment from single sensor fault</a:t>
            </a:r>
            <a:br/>
            <a:br/>
            <a:r>
              <a:t>SIDE CRASH SENSORS (4-8 sensors typical):</a:t>
            </a:r>
            <a:br/>
            <a:br/>
            <a:r>
              <a:t>Location 1: Door-mounted (inside door, near latch)</a:t>
            </a:r>
            <a:br/>
            <a:r>
              <a:t>• Purpose: Detect door intrusion</a:t>
            </a:r>
            <a:br/>
            <a:r>
              <a:t>• Measures: Y-axis acceleration (lateral)</a:t>
            </a:r>
            <a:br/>
            <a:r>
              <a:t>• Challenges: Must survive door crush</a:t>
            </a:r>
            <a:br/>
            <a:br/>
            <a:r>
              <a:t>Location 2: B-pillar mounted (inside pillar structure)</a:t>
            </a:r>
            <a:br/>
            <a:r>
              <a:t>• Purpose: Detect side impact at pillar</a:t>
            </a:r>
            <a:br/>
            <a:r>
              <a:t>• Measures: Y-axis acceleration</a:t>
            </a:r>
            <a:br/>
            <a:r>
              <a:t>• More protected than door sensors</a:t>
            </a:r>
            <a:br/>
            <a:br/>
            <a:r>
              <a:t>Location 3: Floor sill / rocker panel (under door)</a:t>
            </a:r>
            <a:br/>
            <a:r>
              <a:t>• Purpose: Detect under-vehicle side impacts (SUV-to-car, pole)</a:t>
            </a:r>
            <a:br/>
            <a:r>
              <a:t>• Measures: Y-axis acceleration</a:t>
            </a:r>
            <a:br/>
            <a:br/>
            <a:r>
              <a:t>Deployment logic:</a:t>
            </a:r>
            <a:br/>
            <a:r>
              <a:t>Left side crash: Left sensors + Central → Deploy left side &amp; curtain airbags</a:t>
            </a:r>
            <a:br/>
            <a:r>
              <a:t>Right side crash: Right sensors + Central → Deploy right side &amp; curtain airbags</a:t>
            </a:r>
            <a:br/>
            <a:br/>
            <a:r>
              <a:t>ROLLOVER SENSORS:</a:t>
            </a:r>
            <a:br/>
            <a:br/>
            <a:r>
              <a:t>Type: Roll rate sensor + Z-axis accelerometer</a:t>
            </a:r>
            <a:br/>
            <a:r>
              <a:t>• Roll rate sensor: Gyroscope (measures angular velocity, degrees/second)</a:t>
            </a:r>
            <a:br/>
            <a:r>
              <a:t>• Z-axis accelerometer: Detects vertical acceleration changes</a:t>
            </a:r>
            <a:br/>
            <a:r>
              <a:t>• Combined: Determine vehicle roll angle and rate</a:t>
            </a:r>
            <a:br/>
            <a:br/>
            <a:r>
              <a:t>Threshold:</a:t>
            </a:r>
            <a:br/>
            <a:r>
              <a:t>• Roll angle &gt; 45-60° (vehicle tipping)</a:t>
            </a:r>
            <a:br/>
            <a:r>
              <a:t>• Roll rate &gt; 100-150°/s (fast rolling motion)</a:t>
            </a:r>
            <a:br/>
            <a:r>
              <a:t>→ Deploy curtain airbags (both sides, extended inflation)</a:t>
            </a:r>
            <a:br/>
            <a:br/>
            <a:r>
              <a:t>PRESSURE SENSORS (Advanced Systems):</a:t>
            </a:r>
            <a:br/>
            <a:br/>
            <a:r>
              <a:t>Location: Inside door cavity</a:t>
            </a:r>
            <a:br/>
            <a:r>
              <a:t>Type: Barometric pressure sensor</a:t>
            </a:r>
            <a:br/>
            <a:br/>
            <a:r>
              <a:t>Operating Principle:</a:t>
            </a:r>
            <a:br/>
            <a:r>
              <a:t>• Door cavity is sealed</a:t>
            </a:r>
            <a:br/>
            <a:r>
              <a:t>• Side impact: Door intrudes → Compresses air in cavity → Pressure spike</a:t>
            </a:r>
            <a:br/>
            <a:r>
              <a:t>• Pressure sensor detects rapid pressure increase</a:t>
            </a:r>
            <a:br/>
            <a:r>
              <a:t>• Trigger: Δp &gt; 20-50 kPa in &lt;10 ms</a:t>
            </a:r>
            <a:br/>
            <a:br/>
            <a:r>
              <a:t>Advantage over accelerometer:</a:t>
            </a:r>
            <a:br/>
            <a:r>
              <a:t>• Earlier detection (pressure wave travels at speed of sound in air)</a:t>
            </a:r>
            <a:br/>
            <a:r>
              <a:t>• Responds to door deformation (even if door not accelerating yet)</a:t>
            </a:r>
            <a:br/>
            <a:r>
              <a:t>• Gain ~5-10 ms earlier deployment</a:t>
            </a:r>
            <a:br/>
            <a:br/>
            <a:r>
              <a:t>SENSOR POWER &amp; COMMUNICATION:</a:t>
            </a:r>
            <a:br/>
            <a:br/>
            <a:r>
              <a:t>Power: 5V or 12V from ACU (via wiring harness)</a:t>
            </a:r>
            <a:br/>
            <a:r>
              <a:t>Signal: Analog voltage (0-5V) or digital (some use CAN or LIN bus)</a:t>
            </a:r>
            <a:br/>
            <a:r>
              <a:t>Wiring: Dedicated wiring to ACU (critical safety circuit)</a:t>
            </a:r>
            <a:br/>
            <a:r>
              <a:t>Redundancy: Dual wiring paths (some systems)</a:t>
            </a:r>
            <a:br/>
            <a:br/>
            <a:r>
              <a:t>SENSOR FAULTS &amp; DIAGNOSTICS:</a:t>
            </a:r>
            <a:br/>
            <a:br/>
            <a:r>
              <a:t>ACU monitors sensor health:</a:t>
            </a:r>
            <a:br/>
            <a:r>
              <a:t>• Open circuit: Sensor disconnected or wire broken</a:t>
            </a:r>
            <a:br/>
            <a:r>
              <a:t>• Short circuit: Wire shorted to ground or power</a:t>
            </a:r>
            <a:br/>
            <a:r>
              <a:t>• Out-of-range: Sensor reading impossible value (e.g., 150g at rest)</a:t>
            </a:r>
            <a:br/>
            <a:r>
              <a:t>• Implausible: Sensor reading conflicts with other sensors</a:t>
            </a:r>
            <a:br/>
            <a:br/>
            <a:r>
              <a:t>If fault detected:</a:t>
            </a:r>
            <a:br/>
            <a:r>
              <a:t>→ SRS warning light illuminates</a:t>
            </a:r>
            <a:br/>
            <a:r>
              <a:t>→ Fault code stored</a:t>
            </a:r>
            <a:br/>
            <a:r>
              <a:t>→ That sensor may be ignored (system relies on other sensors)</a:t>
            </a:r>
            <a:br/>
            <a:br/>
            <a:r>
              <a:t>SENSOR CALIBRATION:</a:t>
            </a:r>
            <a:br/>
            <a:br/>
            <a:r>
              <a:t>Accelerometers calibrated at factory (zero-g offset, sensitivity)</a:t>
            </a:r>
            <a:br/>
            <a:r>
              <a:t>Field calibration: Not typically required</a:t>
            </a:r>
            <a:br/>
            <a:r>
              <a:t>Some systems: Self-calibration at startup (detect gravity vector → Determine orientation)</a:t>
            </a:r>
            <a:br/>
            <a:br/>
            <a:r>
              <a:t>Gravity Compensation:</a:t>
            </a:r>
            <a:br/>
            <a:r>
              <a:t>Accelerometers sense gravity (~1g downward) when vehicle at rest</a:t>
            </a:r>
            <a:br/>
            <a:r>
              <a:t>ACU software subtracts gravity vector to determine crash acceleration</a:t>
            </a:r>
            <a:br/>
            <a:r>
              <a:t>Example: Vehicle on flat ground, sensor reads ~1g down (gravity)</a:t>
            </a:r>
            <a:br/>
            <a:r>
              <a:t>Crash starts, sensor reads 1g down + 20g back = Combined reading</a:t>
            </a:r>
            <a:br/>
            <a:r>
              <a:t>ACU extracts crash component (20g back)</a:t>
            </a:r>
          </a:p>
          <a:p>
            <a:pPr>
              <a:spcAft>
                <a:spcPts val="1000"/>
              </a:spcAft>
              <a:defRPr sz="1800">
                <a:solidFill>
                  <a:srgbClr val="333333"/>
                </a:solidFill>
              </a:defRPr>
            </a:pPr>
            <a:r>
              <a:t>Real-World Example:</a:t>
            </a:r>
          </a:p>
          <a:p>
            <a:pPr>
              <a:spcAft>
                <a:spcPts val="1000"/>
              </a:spcAft>
              <a:defRPr sz="1800">
                <a:solidFill>
                  <a:srgbClr val="333333"/>
                </a:solidFill>
              </a:defRPr>
            </a:pPr>
            <a:r>
              <a:t>Your smartphone has similar MEMS accelerometers - they detect when you rotate the phone to switch screen orientation. Automotive versions are more robust and accurate, but the principle is the same.</a:t>
            </a:r>
          </a:p>
          <a:p>
            <a:pPr>
              <a:spcAft>
                <a:spcPts val="1000"/>
              </a:spcAft>
              <a:defRPr sz="1800">
                <a:solidFill>
                  <a:srgbClr val="333333"/>
                </a:solidFill>
              </a:defRPr>
            </a:pPr>
            <a:r>
              <a:t>Outcomes Addressed: SO-6-18-4 (crash sensors, accelerometers)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Deployment Decision Algorithm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walk you through how the ACU actually decides to deploy airbags, because it's more sophisticated than just 'if acceleration exceeds threshold, deploy.'</a:t>
            </a:r>
          </a:p>
          <a:p>
            <a:pPr>
              <a:spcAft>
                <a:spcPts val="1000"/>
              </a:spcAft>
              <a:defRPr sz="1800">
                <a:solidFill>
                  <a:srgbClr val="333333"/>
                </a:solidFill>
              </a:defRPr>
            </a:pPr>
            <a:r>
              <a:t>First, the ACU is continuously sampling accelerometers at very high speed - typically 1,000 to 10,000 times per second. It's looking for sudden changes in acceleration that indicate a crash.</a:t>
            </a:r>
          </a:p>
          <a:p>
            <a:pPr>
              <a:spcAft>
                <a:spcPts val="1000"/>
              </a:spcAft>
              <a:defRPr sz="1800">
                <a:solidFill>
                  <a:srgbClr val="333333"/>
                </a:solidFill>
              </a:defRPr>
            </a:pPr>
            <a:r>
              <a:t>When deceleration exceeds a preliminary threshold - say, 8g - the ACU enters 'crash detection mode.' It starts integrating the acceleration over time to calculate velocity change, or delta-v. Delta-v is actually a better indicator of crash severity than peak acceleration because it represents the total momentum change.</a:t>
            </a:r>
          </a:p>
          <a:p>
            <a:pPr>
              <a:spcAft>
                <a:spcPts val="1000"/>
              </a:spcAft>
              <a:defRPr sz="1800">
                <a:solidFill>
                  <a:srgbClr val="333333"/>
                </a:solidFill>
              </a:defRPr>
            </a:pPr>
            <a:r>
              <a:t>The ACU compares the acceleration pattern and delta-v against stored crash signatures - templates of what different crash types look like. A frontal barrier crash has a different signature than a pole crash or an oblique crash. This pattern matching helps distinguish real crashes from non-crash events.</a:t>
            </a:r>
          </a:p>
          <a:p>
            <a:pPr>
              <a:spcAft>
                <a:spcPts val="1000"/>
              </a:spcAft>
              <a:defRPr sz="1800">
                <a:solidFill>
                  <a:srgbClr val="333333"/>
                </a:solidFill>
              </a:defRPr>
            </a:pPr>
            <a:r>
              <a:t>The safing logic requires multiple sensors to agree. For frontal deployment, you need a front peripheral sensor AND the central sensor to both detect a crash. This prevents deployment from a single sensor fault or a localized low-speed impact.</a:t>
            </a:r>
          </a:p>
          <a:p>
            <a:pPr>
              <a:spcAft>
                <a:spcPts val="1000"/>
              </a:spcAft>
              <a:defRPr sz="1800">
                <a:solidFill>
                  <a:srgbClr val="333333"/>
                </a:solidFill>
              </a:defRPr>
            </a:pPr>
            <a:r>
              <a:t>Once the algorithm confirms a deployment-worthy crash, it selects which airbags to fire. Frontal crashes trigger frontal airbags and pretensioners. Side crashes trigger the appropriate side and curtain airbags.</a:t>
            </a:r>
          </a:p>
          <a:p>
            <a:pPr>
              <a:spcAft>
                <a:spcPts val="1000"/>
              </a:spcAft>
              <a:defRPr sz="1800">
                <a:solidFill>
                  <a:srgbClr val="333333"/>
                </a:solidFill>
              </a:defRPr>
            </a:pPr>
            <a:r>
              <a:t>For dual-stage systems, the ACU also decides deployment force. If it's a moderate crash - delta-v around 20-25 km/h - maybe fire only Stage 1. If it's severe - delta-v over 35 km/h - fire both stages for maximum protection.</a:t>
            </a:r>
          </a:p>
          <a:p>
            <a:pPr>
              <a:spcAft>
                <a:spcPts val="1000"/>
              </a:spcAft>
              <a:defRPr sz="1800">
                <a:solidFill>
                  <a:srgbClr val="333333"/>
                </a:solidFill>
              </a:defRPr>
            </a:pPr>
            <a:r>
              <a:t>All of this - from initial sensor trigger to deployment command - happens in 5 to 10 milliseconds. It's algorithmic decision-making at machine speed.</a:t>
            </a:r>
          </a:p>
          <a:p>
            <a:pPr>
              <a:spcAft>
                <a:spcPts val="1000"/>
              </a:spcAft>
              <a:defRPr sz="1800">
                <a:solidFill>
                  <a:srgbClr val="333333"/>
                </a:solidFill>
              </a:defRPr>
            </a:pPr>
            <a:r>
              <a:t>PPT Content:</a:t>
            </a:r>
          </a:p>
          <a:p>
            <a:pPr>
              <a:defRPr sz="1400">
                <a:solidFill>
                  <a:srgbClr val="787878"/>
                </a:solidFill>
                <a:latin typeface="Consolas"/>
              </a:defRPr>
            </a:pPr>
            <a:r>
              <a:t>DEPLOYMENT DECISION ALGORITHM</a:t>
            </a:r>
            <a:br/>
            <a:br/>
            <a:r>
              <a:t>ACU PROCESSING LOOP (Continuous, 1-10 kHz):</a:t>
            </a:r>
            <a:br/>
            <a:br/>
            <a:r>
              <a:t>STEP 1: READ SENSORS</a:t>
            </a:r>
            <a:br/>
            <a:r>
              <a:t>• Read all accelerometers (frontal, side, central, roll rate)</a:t>
            </a:r>
            <a:br/>
            <a:r>
              <a:t>• Read occupant sensors (belt status, seat occupancy, seat position)</a:t>
            </a:r>
            <a:br/>
            <a:r>
              <a:t>• Read vehicle status (ignition, speed from CAN bus)</a:t>
            </a:r>
            <a:br/>
            <a:br/>
            <a:r>
              <a:t>STEP 2: CRASH DETECTION</a:t>
            </a:r>
            <a:br/>
            <a:r>
              <a:t>Check: Is any accelerometer reading &gt; preliminary threshold?</a:t>
            </a:r>
            <a:br/>
            <a:r>
              <a:t>• Frontal sensors: &gt;5-8g (X-axis)</a:t>
            </a:r>
            <a:br/>
            <a:r>
              <a:t>• Side sensors: &gt;4-6g (Y-axis)</a:t>
            </a:r>
            <a:br/>
            <a:r>
              <a:t>• Rollover: Roll rate &gt;80°/s or tilt &gt;30°</a:t>
            </a:r>
            <a:br/>
            <a:br/>
            <a:r>
              <a:t>If YES → Enter crash analysis mode</a:t>
            </a:r>
            <a:br/>
            <a:r>
              <a:t>If NO → Continue monitoring (loop)</a:t>
            </a:r>
            <a:br/>
            <a:br/>
            <a:r>
              <a:t>STEP 3: CALCULATE DELTA-V (Velocity Change)</a:t>
            </a:r>
            <a:br/>
            <a:r>
              <a:t>Integrate acceleration over time:</a:t>
            </a:r>
            <a:br/>
            <a:r>
              <a:t>Δv(t) = ∫ a(t) dt</a:t>
            </a:r>
            <a:br/>
            <a:br/>
            <a:r>
              <a:t>Example:</a:t>
            </a:r>
            <a:br/>
            <a:r>
              <a:t>• Time 0 ms: a = 0g, Δv = 0 km/h</a:t>
            </a:r>
            <a:br/>
            <a:r>
              <a:t>• Time 5 ms: a = 20g avg, Δv ≈ 3.5 km/h</a:t>
            </a:r>
            <a:br/>
            <a:r>
              <a:t>• Time 10 ms: a = 25g avg, Δv ≈ 8 km/h</a:t>
            </a:r>
            <a:br/>
            <a:r>
              <a:t>• Time 20 ms: a = 22g avg, Δv ≈ 17 km/h ← Deployment threshold!</a:t>
            </a:r>
            <a:br/>
            <a:r>
              <a:t>• Time 30 ms: a = 18g avg, Δv ≈ 23 km/h</a:t>
            </a:r>
            <a:br/>
            <a:br/>
            <a:r>
              <a:t>STEP 4: CRASH SEVERITY ASSESSMENT</a:t>
            </a:r>
            <a:br/>
            <a:r>
              <a:t>Compare Δv to deployment thresholds:</a:t>
            </a:r>
            <a:br/>
            <a:br/>
            <a:r>
              <a:t>No deployment: Δv &lt; 12-15 km/h (minor impact, airbags not needed)</a:t>
            </a:r>
            <a:br/>
            <a:r>
              <a:t>Low deployment: Δv = 15-25 km/h (Stage 1 only, if dual-stage)</a:t>
            </a:r>
            <a:br/>
            <a:r>
              <a:t>Full deployment: Δv &gt; 25-30 km/h (Stage 1 + 2, full protection)</a:t>
            </a:r>
            <a:br/>
            <a:br/>
            <a:r>
              <a:t>STEP 5: PATTERN RECOGNITION (Crash Type)</a:t>
            </a:r>
            <a:br/>
            <a:r>
              <a:t>Analyze sensor activation pattern:</a:t>
            </a:r>
            <a:br/>
            <a:br/>
            <a:r>
              <a:t>FRONTAL CRASH:</a:t>
            </a:r>
            <a:br/>
            <a:r>
              <a:t>• Front sensors: High X-axis deceleration</a:t>
            </a:r>
            <a:br/>
            <a:r>
              <a:t>• Side sensors: Low Y-axis deceleration</a:t>
            </a:r>
            <a:br/>
            <a:r>
              <a:t>• Pattern: Symmetric (left and right front sensors similar)</a:t>
            </a:r>
            <a:br/>
            <a:r>
              <a:t>→ Classification: Frontal crash</a:t>
            </a:r>
            <a:br/>
            <a:br/>
            <a:r>
              <a:t>SIDE CRASH (Left):</a:t>
            </a:r>
            <a:br/>
            <a:r>
              <a:t>• Left side sensors: High Y-axis deceleration</a:t>
            </a:r>
            <a:br/>
            <a:r>
              <a:t>• Right side sensors: Low Y-axis deceleration</a:t>
            </a:r>
            <a:br/>
            <a:r>
              <a:t>• Front sensors: Moderate X-axis (may have some forward component)</a:t>
            </a:r>
            <a:br/>
            <a:r>
              <a:t>→ Classification: Left side impact</a:t>
            </a:r>
            <a:br/>
            <a:br/>
            <a:r>
              <a:t>POLE CRASH (Narrow Object):</a:t>
            </a:r>
            <a:br/>
            <a:r>
              <a:t>• One front sensor: Very high X-axis deceleration</a:t>
            </a:r>
            <a:br/>
            <a:r>
              <a:t>• Other front sensor: Lower X-axis deceleration</a:t>
            </a:r>
            <a:br/>
            <a:r>
              <a:t>• Pattern: Asymmetric (localized impact)</a:t>
            </a:r>
            <a:br/>
            <a:r>
              <a:t>→ Classification: Offset/pole crash</a:t>
            </a:r>
            <a:br/>
            <a:br/>
            <a:r>
              <a:t>ROLLOVER:</a:t>
            </a:r>
            <a:br/>
            <a:r>
              <a:t>• Roll rate sensor: High angular velocity (&gt;100°/s)</a:t>
            </a:r>
            <a:br/>
            <a:r>
              <a:t>• Z-axis accelerometer: Vertical acceleration changes</a:t>
            </a:r>
            <a:br/>
            <a:r>
              <a:t>• X/Y sensors: Sustained lateral acceleration</a:t>
            </a:r>
            <a:br/>
            <a:r>
              <a:t>→ Classification: Rollover</a:t>
            </a:r>
            <a:br/>
            <a:br/>
            <a:r>
              <a:t>STEP 6: SAFING LOGIC (Redundancy Check)</a:t>
            </a:r>
            <a:br/>
            <a:r>
              <a:t>Require multiple sensors to confirm:</a:t>
            </a:r>
            <a:br/>
            <a:br/>
            <a:r>
              <a:t>Frontal deployment:</a:t>
            </a:r>
            <a:br/>
            <a:r>
              <a:t>IF (Left_front_sensor &gt; threshold OR Right_front_sensor &gt; threshold)</a:t>
            </a:r>
            <a:br/>
            <a:r>
              <a:t>   AND Central_sensor &gt; threshold</a:t>
            </a:r>
            <a:br/>
            <a:r>
              <a:t>   AND Δv &gt; deployment_threshold</a:t>
            </a:r>
            <a:br/>
            <a:r>
              <a:t>→ THEN Deploy frontal airbags</a:t>
            </a:r>
            <a:br/>
            <a:br/>
            <a:r>
              <a:t>Side deployment:</a:t>
            </a:r>
            <a:br/>
            <a:r>
              <a:t>IF (Left_side_sensor &gt; threshold)</a:t>
            </a:r>
            <a:br/>
            <a:r>
              <a:t>   AND (Central_sensor &gt; lateral_threshold OR B_pillar_sensor &gt; threshold)</a:t>
            </a:r>
            <a:br/>
            <a:r>
              <a:t>   AND Δv_lateral &gt; deployment_threshold</a:t>
            </a:r>
            <a:br/>
            <a:r>
              <a:t>→ THEN Deploy left side &amp; curtain airbags</a:t>
            </a:r>
            <a:br/>
            <a:br/>
            <a:r>
              <a:t>Purpose of safing:</a:t>
            </a:r>
            <a:br/>
            <a:r>
              <a:t>• Prevent single sensor fault from causing deployment</a:t>
            </a:r>
            <a:br/>
            <a:r>
              <a:t>• Require central ACU sensor to independently confirm crash</a:t>
            </a:r>
            <a:br/>
            <a:r>
              <a:t>• Reduce false deployment risk</a:t>
            </a:r>
            <a:br/>
            <a:br/>
            <a:r>
              <a:t>STEP 7: OCCUPANT ADAPTATION</a:t>
            </a:r>
            <a:br/>
            <a:r>
              <a:t>Adjust deployment based on occupant status:</a:t>
            </a:r>
            <a:br/>
            <a:br/>
            <a:r>
              <a:t>Seatbelt unbuckled (driver):</a:t>
            </a:r>
            <a:br/>
            <a:r>
              <a:t>→ May delay or reduce frontal airbag deployment (occupant farther forward)</a:t>
            </a:r>
            <a:br/>
            <a:r>
              <a:t>→ Still deploy, but adapted</a:t>
            </a:r>
            <a:br/>
            <a:br/>
            <a:r>
              <a:t>Passenger seat unoccupied (weight sensor &lt;25 kg):</a:t>
            </a:r>
            <a:br/>
            <a:r>
              <a:t>→ Suppress passenger frontal airbag (no deployment)</a:t>
            </a:r>
            <a:br/>
            <a:r>
              <a:t>→ Save cost, prevent unnecessary deployment</a:t>
            </a:r>
            <a:br/>
            <a:br/>
            <a:r>
              <a:t>Passenger seat: Child seat detected (special pattern):</a:t>
            </a:r>
            <a:br/>
            <a:r>
              <a:t>→ Suppress passenger airbag (child safety)</a:t>
            </a:r>
            <a:br/>
            <a:br/>
            <a:r>
              <a:t>Seat too close (&lt;25 cm from airbag):</a:t>
            </a:r>
            <a:br/>
            <a:r>
              <a:t>→ May reduce deployment force (less distance = less needed)</a:t>
            </a:r>
            <a:br/>
            <a:br/>
            <a:r>
              <a:t>STEP 8: AIRBAG SELECTION</a:t>
            </a:r>
            <a:br/>
            <a:r>
              <a:t>Based on crash type, select which airbags to deploy:</a:t>
            </a:r>
            <a:br/>
            <a:br/>
            <a:r>
              <a:t>Frontal crash (&gt;30 km/h):</a:t>
            </a:r>
            <a:br/>
            <a:r>
              <a:t>→ Driver frontal, Passenger frontal (if occupied)</a:t>
            </a:r>
            <a:br/>
            <a:r>
              <a:t>→ Driver pretensioner, Passenger pretensioner</a:t>
            </a:r>
            <a:br/>
            <a:r>
              <a:t>→ Driver knee, Passenger knee (if equipped)</a:t>
            </a:r>
            <a:br/>
            <a:br/>
            <a:r>
              <a:t>Side crash left (&gt;25 km/h):</a:t>
            </a:r>
            <a:br/>
            <a:r>
              <a:t>→ Driver side torso, Left curtain</a:t>
            </a:r>
            <a:br/>
            <a:r>
              <a:t>→ Driver pretensioner (pulls occupant away from door)</a:t>
            </a:r>
            <a:br/>
            <a:br/>
            <a:r>
              <a:t>Side crash right (&gt;25 km/h):</a:t>
            </a:r>
            <a:br/>
            <a:r>
              <a:t>→ Passenger side torso, Right curtain</a:t>
            </a:r>
            <a:br/>
            <a:r>
              <a:t>→ Passenger pretensioner</a:t>
            </a:r>
            <a:br/>
            <a:br/>
            <a:r>
              <a:t>Rollover:</a:t>
            </a:r>
            <a:br/>
            <a:r>
              <a:t>→ Left curtain, Right curtain (both sides, extended inflation)</a:t>
            </a:r>
            <a:br/>
            <a:r>
              <a:t>→ All pretensioners (keep occupants in seats)</a:t>
            </a:r>
            <a:br/>
            <a:br/>
            <a:r>
              <a:t>Severe multi-axis crash:</a:t>
            </a:r>
            <a:br/>
            <a:r>
              <a:t>→ May deploy all airbags (frontal + side + curtain + knee)</a:t>
            </a:r>
            <a:br/>
            <a:br/>
            <a:r>
              <a:t>STEP 9: DUAL-STAGE CONTROL (If Equipped)</a:t>
            </a:r>
            <a:br/>
            <a:r>
              <a:t>Determine deployment force:</a:t>
            </a:r>
            <a:br/>
            <a:br/>
            <a:r>
              <a:t>Low severity (Δv = 15-25 km/h):</a:t>
            </a:r>
            <a:br/>
            <a:r>
              <a:t>→ Fire Stage 1 only (lower gas charge, gentler deployment)</a:t>
            </a:r>
            <a:br/>
            <a:br/>
            <a:r>
              <a:t>High severity (Δv &gt; 30 km/h):</a:t>
            </a:r>
            <a:br/>
            <a:r>
              <a:t>→ Fire Stage 1 immediately, Fire Stage 2 after 10-20 ms (full deployment)</a:t>
            </a:r>
            <a:br/>
            <a:br/>
            <a:r>
              <a:t>Very high severity (Δv &gt; 45 km/h):</a:t>
            </a:r>
            <a:br/>
            <a:r>
              <a:t>→ Fire Stage 1 and Stage 2 simultaneously (maximum immediate protection)</a:t>
            </a:r>
            <a:br/>
            <a:br/>
            <a:r>
              <a:t>STEP 10: SEND DEPLOYMENT COMMANDS</a:t>
            </a:r>
            <a:br/>
            <a:r>
              <a:t>ACU outputs electrical trigger pulses:</a:t>
            </a:r>
            <a:br/>
            <a:r>
              <a:t>• High current pulse (2-3 A) for 2-3 ms</a:t>
            </a:r>
            <a:br/>
            <a:r>
              <a:t>• Sent to each airbag/pretensioner initiator squib</a:t>
            </a:r>
            <a:br/>
            <a:r>
              <a:t>• Multiple devices may fire simultaneously (parallel triggering)</a:t>
            </a:r>
            <a:br/>
            <a:br/>
            <a:r>
              <a:t>Timing Example (50 km/h Frontal Crash):</a:t>
            </a:r>
            <a:br/>
            <a:r>
              <a:t>0 ms: Crash begins (vehicle contacts barrier)</a:t>
            </a:r>
            <a:br/>
            <a:r>
              <a:t>5 ms: Front sensors detect &gt;10g, ACU enters crash mode</a:t>
            </a:r>
            <a:br/>
            <a:r>
              <a:t>8 ms: Δv reaches 15 km/h, pattern confirms frontal crash, safing logic satisfied</a:t>
            </a:r>
            <a:br/>
            <a:r>
              <a:t>10 ms: ACU sends trigger → Pretensioners fire</a:t>
            </a:r>
            <a:br/>
            <a:r>
              <a:t>12 ms: ACU sends trigger → Frontal airbags fire (Stage 1)</a:t>
            </a:r>
            <a:br/>
            <a:r>
              <a:t>25 ms: Δv reaches 35 km/h (severe crash confirmed)</a:t>
            </a:r>
            <a:br/>
            <a:r>
              <a:t>30 ms: ACU sends trigger → Frontal airbags fire (Stage 2)</a:t>
            </a:r>
            <a:br/>
            <a:r>
              <a:t>40 ms: Airbags fully inflated</a:t>
            </a:r>
            <a:br/>
            <a:r>
              <a:t>60 ms: Occupant contacts airbag</a:t>
            </a:r>
            <a:br/>
            <a:br/>
            <a:r>
              <a:t>ALGORITHM TUNING:</a:t>
            </a:r>
            <a:br/>
            <a:r>
              <a:t>Manufacturers tune thresholds based on:</a:t>
            </a:r>
            <a:br/>
            <a:r>
              <a:t>• Vehicle mass and structure (heavier vehicles: higher thresholds)</a:t>
            </a:r>
            <a:br/>
            <a:r>
              <a:t>• Crumple zone design (longer crumple zone: different signature)</a:t>
            </a:r>
            <a:br/>
            <a:r>
              <a:t>• Crash test data (hundreds of tests to refine algorithm)</a:t>
            </a:r>
            <a:br/>
            <a:r>
              <a:t>• Real-world crash data (EDR analysis from actual crashes)</a:t>
            </a:r>
            <a:br/>
            <a:br/>
            <a:r>
              <a:t>Trade-offs:</a:t>
            </a:r>
            <a:br/>
            <a:r>
              <a:t>• Too sensitive: False deployments (expensive, dangerous)</a:t>
            </a:r>
            <a:br/>
            <a:r>
              <a:t>• Too conservative: Miss low-speed crashes where deployment would help</a:t>
            </a:r>
            <a:br/>
            <a:r>
              <a:t>→ Balance: Deploy when needed, suppress when not needed</a:t>
            </a:r>
          </a:p>
          <a:p>
            <a:pPr>
              <a:spcAft>
                <a:spcPts val="1000"/>
              </a:spcAft>
              <a:defRPr sz="1800">
                <a:solidFill>
                  <a:srgbClr val="333333"/>
                </a:solidFill>
              </a:defRPr>
            </a:pPr>
            <a:r>
              <a:t>Outcomes Addressed: SO-6-18-4 (deployment decision algorithms, ACU operation)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Pedestrian Protection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So far we've focused on protecting occupants inside the vehicle. But modern vehicles also have systems to protect pedestrians who are struck by the vehicle - pedestrian protection systems.</a:t>
            </a:r>
          </a:p>
          <a:p>
            <a:pPr>
              <a:spcAft>
                <a:spcPts val="1000"/>
              </a:spcAft>
              <a:defRPr sz="1800">
                <a:solidFill>
                  <a:srgbClr val="333333"/>
                </a:solidFill>
              </a:defRPr>
            </a:pPr>
            <a:r>
              <a:t>When a vehicle hits a pedestrian, the most dangerous injuries come from the pedestrian's head striking hard structures under the hood - the engine block, suspension towers, or the base of the windshield. These rigid structures cause severe head trauma.</a:t>
            </a:r>
          </a:p>
          <a:p>
            <a:pPr>
              <a:spcAft>
                <a:spcPts val="1000"/>
              </a:spcAft>
              <a:defRPr sz="1800">
                <a:solidFill>
                  <a:srgbClr val="333333"/>
                </a:solidFill>
              </a:defRPr>
            </a:pPr>
            <a:r>
              <a:t>Active hood lift systems address this by using pyrotechnic actuators to lift the rear edge of the hood - the part near the windshield - by about 5-10 cm within 30-50 milliseconds of detecting a pedestrian impact. This creates clearance space between the hood and the hard structures underneath, so when the pedestrian's head contacts the hood, the hood can deform and absorb energy instead of transmitting force directly to rigid components.</a:t>
            </a:r>
          </a:p>
          <a:p>
            <a:pPr>
              <a:spcAft>
                <a:spcPts val="1000"/>
              </a:spcAft>
              <a:defRPr sz="1800">
                <a:solidFill>
                  <a:srgbClr val="333333"/>
                </a:solidFill>
              </a:defRPr>
            </a:pPr>
            <a:r>
              <a:t>The detection system uses sensors in the front bumper - either pressure sensors or accelerometers - that detect the specific impact signature of a pedestrian. A pedestrian impact is different from a vehicle-to-vehicle crash - it's a lower-force, more localized impact at bumper height.</a:t>
            </a:r>
          </a:p>
          <a:p>
            <a:pPr>
              <a:spcAft>
                <a:spcPts val="1000"/>
              </a:spcAft>
              <a:defRPr sz="1800">
                <a:solidFill>
                  <a:srgbClr val="333333"/>
                </a:solidFill>
              </a:defRPr>
            </a:pPr>
            <a:r>
              <a:t>Some advanced vehicles also have external pedestrian airbags that deploy from the base of the windshield to cushion the pedestrian's head and cover the hard A-pillars.</a:t>
            </a:r>
          </a:p>
          <a:p>
            <a:pPr>
              <a:spcAft>
                <a:spcPts val="1000"/>
              </a:spcAft>
              <a:defRPr sz="1800">
                <a:solidFill>
                  <a:srgbClr val="333333"/>
                </a:solidFill>
              </a:defRPr>
            </a:pPr>
            <a:r>
              <a:t>These systems are becoming mandatory in European markets and are increasingly common worldwide. They represent the expanding scope of passive safety - protecting not just the occupants but also vulnerable road users outside the vehicle.</a:t>
            </a:r>
          </a:p>
          <a:p>
            <a:pPr>
              <a:spcAft>
                <a:spcPts val="1000"/>
              </a:spcAft>
              <a:defRPr sz="1800">
                <a:solidFill>
                  <a:srgbClr val="333333"/>
                </a:solidFill>
              </a:defRPr>
            </a:pPr>
            <a:r>
              <a:t>PPT Content:</a:t>
            </a:r>
          </a:p>
          <a:p>
            <a:pPr>
              <a:defRPr sz="1400">
                <a:solidFill>
                  <a:srgbClr val="787878"/>
                </a:solidFill>
                <a:latin typeface="Consolas"/>
              </a:defRPr>
            </a:pPr>
            <a:r>
              <a:t>PEDESTRIAN PROTECTION SYSTEMS</a:t>
            </a:r>
            <a:br/>
            <a:br/>
            <a:r>
              <a:t>Problem:</a:t>
            </a:r>
            <a:br/>
            <a:r>
              <a:t>• Pedestrians struck by vehicles: ~25% of global traffic fatalities</a:t>
            </a:r>
            <a:br/>
            <a:r>
              <a:t>• Most severe injuries: Head trauma from impact with hood/windshield</a:t>
            </a:r>
            <a:br/>
            <a:r>
              <a:t>• Hard structures under hood: Engine, suspension, windshield base → Severe head injury</a:t>
            </a:r>
            <a:br/>
            <a:br/>
            <a:r>
              <a:t>Solution: Reduce impact forces, increase energy absorption</a:t>
            </a:r>
            <a:br/>
            <a:br/>
            <a:r>
              <a:t>ACTIVE HOOD LIFT SYSTEM:</a:t>
            </a:r>
            <a:br/>
            <a:br/>
            <a:r>
              <a:t>Components:</a:t>
            </a:r>
            <a:br/>
            <a:r>
              <a:t>• Pedestrian impact sensors: Pressure sensors or accelerometers in front bumper</a:t>
            </a:r>
            <a:br/>
            <a:r>
              <a:t>• Pyrotechnic actuators: 2-4 actuators at rear of hood (near windshield)</a:t>
            </a:r>
            <a:br/>
            <a:r>
              <a:t>• Control ECU: Often integrated with ACU or separate pedestrian ECU</a:t>
            </a:r>
            <a:br/>
            <a:br/>
            <a:r>
              <a:t>Detection:</a:t>
            </a:r>
            <a:br/>
            <a:r>
              <a:t>Bumper sensors detect impact at leg height (~knee level)</a:t>
            </a:r>
            <a:br/>
            <a:r>
              <a:t>Impact signature:</a:t>
            </a:r>
            <a:br/>
            <a:r>
              <a:t>• Lower force than vehicle-to-vehicle crash (~2-5 kN vs. &gt;50 kN)</a:t>
            </a:r>
            <a:br/>
            <a:r>
              <a:t>• Localized (single sensor activation, not multiple)</a:t>
            </a:r>
            <a:br/>
            <a:r>
              <a:t>• Specific duration (~50-100 ms pulse)</a:t>
            </a:r>
            <a:br/>
            <a:br/>
            <a:r>
              <a:t>Algorithm distinguishes:</a:t>
            </a:r>
            <a:br/>
            <a:r>
              <a:t>• Pedestrian: Deploy hood lift</a:t>
            </a:r>
            <a:br/>
            <a:r>
              <a:t>• Shopping cart, debris: No deployment (too light)</a:t>
            </a:r>
            <a:br/>
            <a:r>
              <a:t>• Animal (deer): May deploy (depends on size detection)</a:t>
            </a:r>
            <a:br/>
            <a:r>
              <a:t>• Vehicle crash: No deployment (airbags deploy instead)</a:t>
            </a:r>
            <a:br/>
            <a:br/>
            <a:r>
              <a:t>Deployment:</a:t>
            </a:r>
            <a:br/>
            <a:r>
              <a:t>1. Pedestrian impact detected (sensors in bumper)</a:t>
            </a:r>
            <a:br/>
            <a:r>
              <a:t>2. ECU confirms pedestrian signature (10-20 ms processing)</a:t>
            </a:r>
            <a:br/>
            <a:r>
              <a:t>3. Pyrotechnic actuators fire (rear of hood)</a:t>
            </a:r>
            <a:br/>
            <a:r>
              <a:t>4. Actuators lift rear hood edge by 5-10 cm (30-50 ms total)</a:t>
            </a:r>
            <a:br/>
            <a:r>
              <a:t>5. Clearance created between hood and engine components</a:t>
            </a:r>
            <a:br/>
            <a:r>
              <a:t>6. Pedestrian thrown onto hood, head contacts hood surface</a:t>
            </a:r>
            <a:br/>
            <a:r>
              <a:t>7. Hood deforms, absorbs energy (soft impact vs. rigid engine)</a:t>
            </a:r>
            <a:br/>
            <a:br/>
            <a:r>
              <a:t>Timing:</a:t>
            </a:r>
            <a:br/>
            <a:r>
              <a:t>0 ms: Pedestrian contact with bumper (legs)</a:t>
            </a:r>
            <a:br/>
            <a:r>
              <a:t>20 ms: Impact detected, deployment decision</a:t>
            </a:r>
            <a:br/>
            <a:r>
              <a:t>30 ms: Hood begins lifting</a:t>
            </a:r>
            <a:br/>
            <a:r>
              <a:t>50 ms: Hood fully lifted (~8 cm)</a:t>
            </a:r>
            <a:br/>
            <a:r>
              <a:t>100 ms: Pedestrian head contacts hood (lifted position)</a:t>
            </a:r>
            <a:br/>
            <a:r>
              <a:t>→ Hood acts as soft cushion instead of rigid surface</a:t>
            </a:r>
            <a:br/>
            <a:br/>
            <a:r>
              <a:t>Energy Absorption:</a:t>
            </a:r>
            <a:br/>
            <a:r>
              <a:t>Without hood lift:</a:t>
            </a:r>
            <a:br/>
            <a:r>
              <a:t>• Hood-to-engine clearance: ~2-3 cm</a:t>
            </a:r>
            <a:br/>
            <a:r>
              <a:t>• Head impact: Hood bottoms out on engine → Rigid impact → Severe injury</a:t>
            </a:r>
            <a:br/>
            <a:br/>
            <a:r>
              <a:t>With hood lift:</a:t>
            </a:r>
            <a:br/>
            <a:r>
              <a:t>• Hood-to-engine clearance: ~8-12 cm (after lift)</a:t>
            </a:r>
            <a:br/>
            <a:r>
              <a:t>• Head impact: Hood deforms ~5-8 cm before contacting engine → Energy absorbed</a:t>
            </a:r>
            <a:br/>
            <a:r>
              <a:t>• Head deceleration: 80-120g → Reduced to 40-60g (survivable)</a:t>
            </a:r>
            <a:br/>
            <a:br/>
            <a:r>
              <a:t>Effectiveness:</a:t>
            </a:r>
            <a:br/>
            <a:r>
              <a:t>Head injury reduction: 30-40% (pedestrian crashes)</a:t>
            </a:r>
            <a:br/>
            <a:r>
              <a:t>Fatality reduction: 15-20% (pedestrian crashes)</a:t>
            </a:r>
            <a:br/>
            <a:br/>
            <a:r>
              <a:t>Limitations:</a:t>
            </a:r>
            <a:br/>
            <a:r>
              <a:t>• Effective only for certain impact speeds (~20-50 km/h)</a:t>
            </a:r>
            <a:br/>
            <a:r>
              <a:t>• Higher speeds: Pedestrian trajectory different (may not contact hood)</a:t>
            </a:r>
            <a:br/>
            <a:r>
              <a:t>• Lower speeds: Injury risk already low (deployment may not trigger)</a:t>
            </a:r>
            <a:br/>
            <a:br/>
            <a:r>
              <a:t>EXTERNAL PEDESTRIAN AIRBAG (Advanced Systems):</a:t>
            </a:r>
            <a:br/>
            <a:br/>
            <a:r>
              <a:t>Location: Base of windshield, integrated into hood or cowl area</a:t>
            </a:r>
            <a:br/>
            <a:r>
              <a:t>Size: 100-150 liters (large, covers windshield base and A-pillars)</a:t>
            </a:r>
            <a:br/>
            <a:r>
              <a:t>Deployment: Upward and rearward (covers lower 1/3 of windshield)</a:t>
            </a:r>
            <a:br/>
            <a:br/>
            <a:r>
              <a:t>Purpose:</a:t>
            </a:r>
            <a:br/>
            <a:r>
              <a:t>• Cushion pedestrian head impact with windshield base (very hard area)</a:t>
            </a:r>
            <a:br/>
            <a:r>
              <a:t>• Cover A-pillars (rigid structures, high injury risk)</a:t>
            </a:r>
            <a:br/>
            <a:r>
              <a:t>• Work in combination with hood lift</a:t>
            </a:r>
            <a:br/>
            <a:br/>
            <a:r>
              <a:t>Deployment trigger: Same as hood lift (pedestrian impact sensors)</a:t>
            </a:r>
            <a:br/>
            <a:r>
              <a:t>Inflation time: 30-40 ms</a:t>
            </a:r>
            <a:br/>
            <a:br/>
            <a:r>
              <a:t>Coverage:</a:t>
            </a:r>
            <a:br/>
            <a:r>
              <a:t>• Lower windshield: Soft cushion instead of hard glass</a:t>
            </a:r>
            <a:br/>
            <a:r>
              <a:t>• A-pillar bases: Covered by airbag material</a:t>
            </a:r>
            <a:br/>
            <a:r>
              <a:t>• Cowl area: Protected</a:t>
            </a:r>
            <a:br/>
            <a:br/>
            <a:r>
              <a:t>Effectiveness:</a:t>
            </a:r>
            <a:br/>
            <a:r>
              <a:t>Combined (hood lift + external airbag):</a:t>
            </a:r>
            <a:br/>
            <a:r>
              <a:t>Head injury reduction: 50-60% (pedestrian crashes)</a:t>
            </a:r>
            <a:br/>
            <a:br/>
            <a:r>
              <a:t>Cost:</a:t>
            </a:r>
            <a:br/>
            <a:r>
              <a:t>High - external airbag adds significant cost</a:t>
            </a:r>
            <a:br/>
            <a:r>
              <a:t>Typically only on premium vehicles (Volvo, Mercedes, etc.)</a:t>
            </a:r>
            <a:br/>
            <a:br/>
            <a:r>
              <a:t>OTHER PEDESTRIAN PROTECTION FEATURES:</a:t>
            </a:r>
            <a:br/>
            <a:br/>
            <a:r>
              <a:t>1. HOOD DESIGN (Passive):</a:t>
            </a:r>
            <a:br/>
            <a:r>
              <a:t>   • Deformable hood: Soft materials, crumple zones in hood structure</a:t>
            </a:r>
            <a:br/>
            <a:r>
              <a:t>   • Increased clearance: Design engine bay with more space under hood</a:t>
            </a:r>
            <a:br/>
            <a:r>
              <a:t>   • No sharp edges: Smooth hood, bumper, and grill surfaces</a:t>
            </a:r>
            <a:br/>
            <a:br/>
            <a:r>
              <a:t>2. BUMPER DESIGN:</a:t>
            </a:r>
            <a:br/>
            <a:r>
              <a:t>   • Lower edge: Designed to contact pedestrian legs gently (prevent leg fractures)</a:t>
            </a:r>
            <a:br/>
            <a:r>
              <a:t>   • Energy-absorbing foam: Inside bumper cover</a:t>
            </a:r>
            <a:br/>
            <a:r>
              <a:t>   • Height optimization: Match average pedestrian leg height</a:t>
            </a:r>
            <a:br/>
            <a:br/>
            <a:r>
              <a:t>3. WINDSHIELD DESIGN:</a:t>
            </a:r>
            <a:br/>
            <a:r>
              <a:t>   • Laminated glass: Prevents glass shatter (reduces lacerations)</a:t>
            </a:r>
            <a:br/>
            <a:r>
              <a:t>   • Soft cowl: Deformable plastic at windshield base</a:t>
            </a:r>
            <a:br/>
            <a:br/>
            <a:r>
              <a:t>4. A-PILLAR OPTIMIZATION:</a:t>
            </a:r>
            <a:br/>
            <a:r>
              <a:t>   • Moved rearward: Reduces head contact probability</a:t>
            </a:r>
            <a:br/>
            <a:r>
              <a:t>   • Softer trim: Interior A-pillar trim designed to deform if head contacts</a:t>
            </a:r>
            <a:br/>
            <a:br/>
            <a:r>
              <a:t>PEDESTRIAN DETECTION (Future - ADAS Integration):</a:t>
            </a:r>
            <a:br/>
            <a:r>
              <a:t>Active systems (not passive safety):</a:t>
            </a:r>
            <a:br/>
            <a:r>
              <a:t>• Cameras and radar detect pedestrians ahead</a:t>
            </a:r>
            <a:br/>
            <a:r>
              <a:t>• Automatic emergency braking (AEB) prevents collision</a:t>
            </a:r>
            <a:br/>
            <a:r>
              <a:t>• Pedestrian warning to driver</a:t>
            </a:r>
            <a:br/>
            <a:br/>
            <a:r>
              <a:t>But if crash occurs → Passive pedestrian protection deploys</a:t>
            </a:r>
            <a:br/>
            <a:br/>
            <a:r>
              <a:t>REGULATIONS:</a:t>
            </a:r>
            <a:br/>
            <a:br/>
            <a:r>
              <a:t>EU (Euro NCAP):</a:t>
            </a:r>
            <a:br/>
            <a:r>
              <a:t>• Pedestrian testing mandatory for safety rating</a:t>
            </a:r>
            <a:br/>
            <a:r>
              <a:t>• Active hood lift: Extra points in safety rating</a:t>
            </a:r>
            <a:br/>
            <a:r>
              <a:t>• External airbag: Premium rating</a:t>
            </a:r>
            <a:br/>
            <a:br/>
            <a:r>
              <a:t>UN R127:</a:t>
            </a:r>
            <a:br/>
            <a:r>
              <a:t>• Pedestrian protection standards for head impact</a:t>
            </a:r>
            <a:br/>
            <a:r>
              <a:t>• Defines test procedures (headform impact tests)</a:t>
            </a:r>
            <a:br/>
            <a:br/>
            <a:r>
              <a:t>US:</a:t>
            </a:r>
            <a:br/>
            <a:r>
              <a:t>• No specific pedestrian protection requirements (as of 2024)</a:t>
            </a:r>
            <a:br/>
            <a:r>
              <a:t>• Encouraged, but not mandated</a:t>
            </a:r>
            <a:br/>
            <a:br/>
            <a:r>
              <a:t>Japan:</a:t>
            </a:r>
            <a:br/>
            <a:r>
              <a:t>• Pedestrian protection regulations since 2005</a:t>
            </a:r>
            <a:br/>
            <a:br/>
            <a:r>
              <a:t>Effectiveness Statistics:</a:t>
            </a:r>
            <a:br/>
            <a:r>
              <a:t>Markets with pedestrian protection requirements:</a:t>
            </a:r>
            <a:br/>
            <a:r>
              <a:t>→ 10-15% reduction in pedestrian fatalities (since regulations implemented)</a:t>
            </a:r>
          </a:p>
          <a:p>
            <a:pPr>
              <a:spcAft>
                <a:spcPts val="1000"/>
              </a:spcAft>
              <a:defRPr sz="1800">
                <a:solidFill>
                  <a:srgbClr val="333333"/>
                </a:solidFill>
              </a:defRPr>
            </a:pPr>
            <a:r>
              <a:t>Real-World Example:</a:t>
            </a:r>
          </a:p>
          <a:p>
            <a:pPr>
              <a:spcAft>
                <a:spcPts val="1000"/>
              </a:spcAft>
              <a:defRPr sz="1800">
                <a:solidFill>
                  <a:srgbClr val="333333"/>
                </a:solidFill>
              </a:defRPr>
            </a:pPr>
            <a:r>
              <a:t>Volvo and Mercedes have led in pedestrian protection. The Volvo V40 (2012) was one of the first mass-market cars with both hood lift and external pedestrian airbags.</a:t>
            </a:r>
          </a:p>
          <a:p>
            <a:pPr>
              <a:spcAft>
                <a:spcPts val="1000"/>
              </a:spcAft>
              <a:defRPr sz="1800">
                <a:solidFill>
                  <a:srgbClr val="333333"/>
                </a:solidFill>
              </a:defRPr>
            </a:pPr>
            <a:r>
              <a:t>Outcomes Addressed: SO-6-18-5 (pedestrian protection systems, activation mechanisms)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Post-Crash Systems &amp; Occupant Safety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Passive safety doesn't end when the airbags deploy. There are several post-crash systems that activate automatically to improve occupant safety after the crash.</a:t>
            </a:r>
          </a:p>
          <a:p>
            <a:pPr>
              <a:spcAft>
                <a:spcPts val="1000"/>
              </a:spcAft>
              <a:defRPr sz="1800">
                <a:solidFill>
                  <a:srgbClr val="333333"/>
                </a:solidFill>
              </a:defRPr>
            </a:pPr>
            <a:r>
              <a:t>First, the fuel pump shuts off immediately when a crash is detected. This prevents fuel from being pumped from the tank if there are fuel line ruptures, reducing fire risk dramatically. The fuel pump relay is controlled by the ACU or engine ECU, and it's cut within milliseconds of airbag deployment.</a:t>
            </a:r>
          </a:p>
          <a:p>
            <a:pPr>
              <a:spcAft>
                <a:spcPts val="1000"/>
              </a:spcAft>
              <a:defRPr sz="1800">
                <a:solidFill>
                  <a:srgbClr val="333333"/>
                </a:solidFill>
              </a:defRPr>
            </a:pPr>
            <a:r>
              <a:t>Second, the battery disconnect system. Some vehicles have a pyrotechnic device that physically disconnects the main battery cable after a severe crash. This prevents electrical shorts that could cause fires and also de-energizes high-voltage systems in hybrid/electric vehicles.</a:t>
            </a:r>
          </a:p>
          <a:p>
            <a:pPr>
              <a:spcAft>
                <a:spcPts val="1000"/>
              </a:spcAft>
              <a:defRPr sz="1800">
                <a:solidFill>
                  <a:srgbClr val="333333"/>
                </a:solidFill>
              </a:defRPr>
            </a:pPr>
            <a:r>
              <a:t>Third, automatic door unlocking. The body control module unlocks all doors after a crash so that occupants can exit and emergency responders can access the vehicle. This is critical if the crash damages the locking mechanism.</a:t>
            </a:r>
          </a:p>
          <a:p>
            <a:pPr>
              <a:spcAft>
                <a:spcPts val="1000"/>
              </a:spcAft>
              <a:defRPr sz="1800">
                <a:solidFill>
                  <a:srgbClr val="333333"/>
                </a:solidFill>
              </a:defRPr>
            </a:pPr>
            <a:r>
              <a:t>Fourth, the hazard lights automatically turn on after a crash to warn approaching traffic and mark the vehicle's position, especially important at night.</a:t>
            </a:r>
          </a:p>
          <a:p>
            <a:pPr>
              <a:spcAft>
                <a:spcPts val="1000"/>
              </a:spcAft>
              <a:defRPr sz="1800">
                <a:solidFill>
                  <a:srgbClr val="333333"/>
                </a:solidFill>
              </a:defRPr>
            </a:pPr>
            <a:r>
              <a:t>Some vehicles also have automatic emergency calls - eCall in Europe or similar systems elsewhere. After a crash, the vehicle automatically dials emergency services via the built-in cellular modem, transmits GPS coordinates, and opens a voice channel. This can significantly reduce response time, especially in crashes where occupants are incapacitated.</a:t>
            </a:r>
          </a:p>
          <a:p>
            <a:pPr>
              <a:spcAft>
                <a:spcPts val="1000"/>
              </a:spcAft>
              <a:defRPr sz="1800">
                <a:solidFill>
                  <a:srgbClr val="333333"/>
                </a:solidFill>
              </a:defRPr>
            </a:pPr>
            <a:r>
              <a:t>These systems show that passive safety is really a comprehensive approach to crash protection - before, during, and after the impact.</a:t>
            </a:r>
          </a:p>
          <a:p>
            <a:pPr>
              <a:spcAft>
                <a:spcPts val="1000"/>
              </a:spcAft>
              <a:defRPr sz="1800">
                <a:solidFill>
                  <a:srgbClr val="333333"/>
                </a:solidFill>
              </a:defRPr>
            </a:pPr>
            <a:r>
              <a:t>PPT Content:</a:t>
            </a:r>
          </a:p>
          <a:p>
            <a:pPr>
              <a:defRPr sz="1400">
                <a:solidFill>
                  <a:srgbClr val="787878"/>
                </a:solidFill>
                <a:latin typeface="Consolas"/>
              </a:defRPr>
            </a:pPr>
            <a:r>
              <a:t>POST-CRASH SYSTEMS &amp; OCCUPANT SAFETY</a:t>
            </a:r>
            <a:br/>
            <a:br/>
            <a:r>
              <a:t>Purpose: Improve occupant safety and emergency response after crash</a:t>
            </a:r>
            <a:br/>
            <a:br/>
            <a:r>
              <a:t>1. FUEL PUMP SHUTOFF (Inertia Fuel Shutoff):</a:t>
            </a:r>
            <a:br/>
            <a:br/>
            <a:r>
              <a:t>Trigger: Crash detected by ACU or dedicated inertia switch</a:t>
            </a:r>
            <a:br/>
            <a:r>
              <a:t>Action: Fuel pump relay de-energized → Fuel pump stops</a:t>
            </a:r>
            <a:br/>
            <a:r>
              <a:t>Timing: Within 100 ms of crash detection (usually simultaneous with airbag deployment)</a:t>
            </a:r>
            <a:br/>
            <a:br/>
            <a:r>
              <a:t>Purpose:</a:t>
            </a:r>
            <a:br/>
            <a:r>
              <a:t>• Prevent fuel from being pumped if fuel lines ruptured</a:t>
            </a:r>
            <a:br/>
            <a:r>
              <a:t>• Reduce fire risk (fuel leak + ignition source = fire)</a:t>
            </a:r>
            <a:br/>
            <a:r>
              <a:t>• Critical in severe frontal crashes (engine bay damage, fuel line rupture risk)</a:t>
            </a:r>
            <a:br/>
            <a:br/>
            <a:r>
              <a:t>Reset: Manual reset required (button in cabin or trunk, or ignition cycle)</a:t>
            </a:r>
            <a:br/>
            <a:r>
              <a:t>Prevents restart until occupant confirms safe to do so</a:t>
            </a:r>
            <a:br/>
            <a:br/>
            <a:r>
              <a:t>Effectiveness:</a:t>
            </a:r>
            <a:br/>
            <a:r>
              <a:t>Post-crash fire risk reduction: ~50-60%</a:t>
            </a:r>
            <a:br/>
            <a:r>
              <a:t>Especially effective in high-speed crashes</a:t>
            </a:r>
            <a:br/>
            <a:br/>
            <a:r>
              <a:t>2. BATTERY DISCONNECT:</a:t>
            </a:r>
            <a:br/>
            <a:br/>
            <a:r>
              <a:t>Trigger: Severe crash detected (Δv &gt; 40 km/h, typically)</a:t>
            </a:r>
            <a:br/>
            <a:r>
              <a:t>Action: Main battery cable disconnected</a:t>
            </a:r>
            <a:br/>
            <a:br/>
            <a:r>
              <a:t>Methods:</a:t>
            </a:r>
            <a:br/>
            <a:r>
              <a:t>A) Pyrotechnic disconnect:</a:t>
            </a:r>
            <a:br/>
            <a:r>
              <a:t>   • Small explosive cuts battery cable or disconnects terminal</a:t>
            </a:r>
            <a:br/>
            <a:r>
              <a:t>   • Permanent (cable must be repaired/replaced)</a:t>
            </a:r>
            <a:br/>
            <a:r>
              <a:t>   • Most effective, instantaneous</a:t>
            </a:r>
            <a:br/>
            <a:br/>
            <a:r>
              <a:t>B) Electromechanical disconnect:</a:t>
            </a:r>
            <a:br/>
            <a:r>
              <a:t>   • Solenoid-operated switch opens</a:t>
            </a:r>
            <a:br/>
            <a:r>
              <a:t>   • Reversible (can be reset)</a:t>
            </a:r>
            <a:br/>
            <a:r>
              <a:t>   • Slightly slower (~100 ms)</a:t>
            </a:r>
            <a:br/>
            <a:br/>
            <a:r>
              <a:t>Purpose:</a:t>
            </a:r>
            <a:br/>
            <a:r>
              <a:t>• Prevent electrical short circuits → Fire risk</a:t>
            </a:r>
            <a:br/>
            <a:r>
              <a:t>• De-energize high-voltage systems (hybrid/EV safety)</a:t>
            </a:r>
            <a:br/>
            <a:r>
              <a:t>• Protect emergency responders (no live electrical hazards)</a:t>
            </a:r>
            <a:br/>
            <a:br/>
            <a:r>
              <a:t>Note: ACU backup capacitor still has power to deploy airbags even after disconnect</a:t>
            </a:r>
            <a:br/>
            <a:br/>
            <a:r>
              <a:t>3. AUTOMATIC DOOR UNLOCK:</a:t>
            </a:r>
            <a:br/>
            <a:br/>
            <a:r>
              <a:t>Trigger: Airbag deployment detected</a:t>
            </a:r>
            <a:br/>
            <a:r>
              <a:t>Action: All door locks release (electric unlock signal)</a:t>
            </a:r>
            <a:br/>
            <a:r>
              <a:t>Timing: Immediately after crash (~500 ms)</a:t>
            </a:r>
            <a:br/>
            <a:br/>
            <a:r>
              <a:t>Purpose:</a:t>
            </a:r>
            <a:br/>
            <a:r>
              <a:t>• Allow occupants to exit vehicle quickly</a:t>
            </a:r>
            <a:br/>
            <a:r>
              <a:t>• Allow emergency responders (fire, EMS) to access occupants</a:t>
            </a:r>
            <a:br/>
            <a:r>
              <a:t>• Prevent occupants from being trapped if lock mechanism damaged</a:t>
            </a:r>
            <a:br/>
            <a:br/>
            <a:r>
              <a:t>Override: Some systems don't unlock if crash is minor (prevent theft if vehicle still drivable)</a:t>
            </a:r>
            <a:br/>
            <a:br/>
            <a:r>
              <a:t>4. HAZARD LIGHTS ACTIVATION:</a:t>
            </a:r>
            <a:br/>
            <a:br/>
            <a:r>
              <a:t>Trigger: Airbag deployment or severe deceleration</a:t>
            </a:r>
            <a:br/>
            <a:r>
              <a:t>Action: Hazard warning lights (flashers) turn on automatically</a:t>
            </a:r>
            <a:br/>
            <a:r>
              <a:t>Duration: Continuous until manually turned off or battery depleted</a:t>
            </a:r>
            <a:br/>
            <a:br/>
            <a:r>
              <a:t>Purpose:</a:t>
            </a:r>
            <a:br/>
            <a:r>
              <a:t>• Warn approaching traffic of disabled vehicle</a:t>
            </a:r>
            <a:br/>
            <a:r>
              <a:t>• Mark vehicle location (especially at night or low visibility)</a:t>
            </a:r>
            <a:br/>
            <a:r>
              <a:t>• Signal distress</a:t>
            </a:r>
            <a:br/>
            <a:br/>
            <a:r>
              <a:t>5. AUTOMATIC EMERGENCY CALL (eCall / SOS):</a:t>
            </a:r>
            <a:br/>
            <a:br/>
            <a:r>
              <a:t>Trigger: Airbag deployment or severe crash detected</a:t>
            </a:r>
            <a:br/>
            <a:r>
              <a:t>Action: Vehicle automatically calls emergency services</a:t>
            </a:r>
            <a:br/>
            <a:br/>
            <a:r>
              <a:t>System Components:</a:t>
            </a:r>
            <a:br/>
            <a:r>
              <a:t>• Cellular modem (built into vehicle)</a:t>
            </a:r>
            <a:br/>
            <a:r>
              <a:t>• GPS receiver (determine crash location)</a:t>
            </a:r>
            <a:br/>
            <a:r>
              <a:t>• Microphone and speaker (voice communication)</a:t>
            </a:r>
            <a:br/>
            <a:r>
              <a:t>• SIM card (cellular connectivity)</a:t>
            </a:r>
            <a:br/>
            <a:br/>
            <a:r>
              <a:t>Operation:</a:t>
            </a:r>
            <a:br/>
            <a:r>
              <a:t>1. Crash detected → ACU signals eCall system</a:t>
            </a:r>
            <a:br/>
            <a:r>
              <a:t>2. eCall system activates (500 ms after crash)</a:t>
            </a:r>
            <a:br/>
            <a:r>
              <a:t>3. Dials emergency number (112 in EU, 911 in US)</a:t>
            </a:r>
            <a:br/>
            <a:r>
              <a:t>4. Transmits Minimum Set of Data (MSD):</a:t>
            </a:r>
            <a:br/>
            <a:r>
              <a:t>   - Vehicle identification (VIN)</a:t>
            </a:r>
            <a:br/>
            <a:r>
              <a:t>   - GPS coordinates (latitude, longitude)</a:t>
            </a:r>
            <a:br/>
            <a:r>
              <a:t>   - Crash timestamp</a:t>
            </a:r>
            <a:br/>
            <a:r>
              <a:t>   - Number of occupants (if detected)</a:t>
            </a:r>
            <a:br/>
            <a:r>
              <a:t>   - Direction of travel</a:t>
            </a:r>
            <a:br/>
            <a:r>
              <a:t>5. Opens voice channel (occupant can speak to dispatcher)</a:t>
            </a:r>
            <a:br/>
            <a:r>
              <a:t>6. If no response from occupant → Dispatcher assumes incapacitation, sends help</a:t>
            </a:r>
            <a:br/>
            <a:br/>
            <a:r>
              <a:t>Benefits:</a:t>
            </a:r>
            <a:br/>
            <a:r>
              <a:t>• Faster emergency response (especially rural areas, unconscious occupants)</a:t>
            </a:r>
            <a:br/>
            <a:r>
              <a:t>• Accurate location (GPS precise to ~10 meters)</a:t>
            </a:r>
            <a:br/>
            <a:r>
              <a:t>• Crash severity info (helps dispatch appropriate resources)</a:t>
            </a:r>
            <a:br/>
            <a:br/>
            <a:r>
              <a:t>Effectiveness:</a:t>
            </a:r>
            <a:br/>
            <a:r>
              <a:t>Response time reduction: ~30-40% (Europe, where eCall is mandatory)</a:t>
            </a:r>
            <a:br/>
            <a:r>
              <a:t>Fatality reduction: Estimated 2-4% (from faster medical response)</a:t>
            </a:r>
            <a:br/>
            <a:br/>
            <a:r>
              <a:t>Regulations:</a:t>
            </a:r>
            <a:br/>
            <a:r>
              <a:t>• EU: eCall mandatory in all new vehicles (since 2018)</a:t>
            </a:r>
            <a:br/>
            <a:r>
              <a:t>• Russia: ERA-GLONASS mandatory</a:t>
            </a:r>
            <a:br/>
            <a:r>
              <a:t>• US: Not mandatory, but many vehicles have it (OnStar, etc.)</a:t>
            </a:r>
            <a:br/>
            <a:br/>
            <a:r>
              <a:t>Manual activation: Button in cabin to manually trigger eCall (if crash sensor doesn't trigger)</a:t>
            </a:r>
            <a:br/>
            <a:br/>
            <a:r>
              <a:t>6. INTERIOR LIGHTING:</a:t>
            </a:r>
            <a:br/>
            <a:br/>
            <a:r>
              <a:t>Trigger: Airbag deployment</a:t>
            </a:r>
            <a:br/>
            <a:r>
              <a:t>Action: Cabin lights turn on automatically</a:t>
            </a:r>
            <a:br/>
            <a:r>
              <a:t>Duration: 10-15 minutes (or until manually turned off)</a:t>
            </a:r>
            <a:br/>
            <a:br/>
            <a:r>
              <a:t>Purpose:</a:t>
            </a:r>
            <a:br/>
            <a:r>
              <a:t>• Visibility for occupants to assess injuries, find belongings</a:t>
            </a:r>
            <a:br/>
            <a:r>
              <a:t>• Visibility for emergency responders entering vehicle</a:t>
            </a:r>
            <a:br/>
            <a:r>
              <a:t>• Signal vehicle location at night</a:t>
            </a:r>
            <a:br/>
            <a:br/>
            <a:r>
              <a:t>7. ENGINE SHUTOFF (Beyond Fuel Pump):</a:t>
            </a:r>
            <a:br/>
            <a:br/>
            <a:r>
              <a:t>Trigger: Severe crash</a:t>
            </a:r>
            <a:br/>
            <a:r>
              <a:t>Action: Engine ignition disabled (ECU command)</a:t>
            </a:r>
            <a:br/>
            <a:r>
              <a:t>Timing: Within 1 second of crash</a:t>
            </a:r>
            <a:br/>
            <a:br/>
            <a:r>
              <a:t>Purpose:</a:t>
            </a:r>
            <a:br/>
            <a:r>
              <a:t>• Prevent engine from running if cooling system damaged (prevent overheating)</a:t>
            </a:r>
            <a:br/>
            <a:r>
              <a:t>• Reduce electrical load</a:t>
            </a:r>
            <a:br/>
            <a:r>
              <a:t>• Safety (prevent vehicle movement if transmission damaged)</a:t>
            </a:r>
            <a:br/>
            <a:br/>
            <a:r>
              <a:t>8. HIGH-VOLTAGE DISCONNECT (Hybrid/Electric Vehicles):</a:t>
            </a:r>
            <a:br/>
            <a:br/>
            <a:r>
              <a:t>Trigger: Crash detected</a:t>
            </a:r>
            <a:br/>
            <a:r>
              <a:t>Action:</a:t>
            </a:r>
            <a:br/>
            <a:r>
              <a:t>• High-voltage contactors open (disconnect HV battery from vehicle systems)</a:t>
            </a:r>
            <a:br/>
            <a:r>
              <a:t>• HV battery isolated (no current flow)</a:t>
            </a:r>
            <a:br/>
            <a:r>
              <a:t>• HV cables de-energized</a:t>
            </a:r>
            <a:br/>
            <a:br/>
            <a:r>
              <a:t>Purpose:</a:t>
            </a:r>
            <a:br/>
            <a:r>
              <a:t>• Prevent electric shock to occupants or rescuers</a:t>
            </a:r>
            <a:br/>
            <a:r>
              <a:t>• Prevent HV arc flash or fire</a:t>
            </a:r>
            <a:br/>
            <a:r>
              <a:t>• Critical safety feature for EVs/hybrids (HV system: 200-400V, lethal!)</a:t>
            </a:r>
            <a:br/>
            <a:br/>
            <a:r>
              <a:t>Timing: &lt;100 ms (very fast, for safety)</a:t>
            </a:r>
            <a:br/>
            <a:br/>
            <a:r>
              <a:t>Visual indicator: HV warning light stays illuminated (shows HV system disconnected)</a:t>
            </a:r>
            <a:br/>
            <a:br/>
            <a:r>
              <a:t>INTEGRATION:</a:t>
            </a:r>
            <a:br/>
            <a:br/>
            <a:r>
              <a:t>All post-crash systems coordinated by ACU and other ECUs:</a:t>
            </a:r>
            <a:br/>
            <a:r>
              <a:t>ACU → Triggers airbags, sends crash signal to other ECUs</a:t>
            </a:r>
            <a:br/>
            <a:r>
              <a:t>Engine ECU → Shuts off fuel pump, stops engine</a:t>
            </a:r>
            <a:br/>
            <a:r>
              <a:t>Body Control Module → Unlocks doors, turns on lights, activates hazards</a:t>
            </a:r>
            <a:br/>
            <a:r>
              <a:t>eCall module → Dials emergency services</a:t>
            </a:r>
            <a:br/>
            <a:r>
              <a:t>Battery disconnect → Isolates battery (if severe crash)</a:t>
            </a:r>
            <a:br/>
            <a:br/>
            <a:r>
              <a:t>Sequence (typical severe crash):</a:t>
            </a:r>
            <a:br/>
            <a:r>
              <a:t>0 ms: Crash begins</a:t>
            </a:r>
            <a:br/>
            <a:r>
              <a:t>10 ms: Airbags deploy</a:t>
            </a:r>
            <a:br/>
            <a:r>
              <a:t>50 ms: Fuel pump relay opens (pump stops)</a:t>
            </a:r>
            <a:br/>
            <a:r>
              <a:t>100 ms: HV disconnect (if EV/hybrid)</a:t>
            </a:r>
            <a:br/>
            <a:r>
              <a:t>200 ms: Battery disconnect (if equipped, severe crash)</a:t>
            </a:r>
            <a:br/>
            <a:r>
              <a:t>500 ms: Doors unlock</a:t>
            </a:r>
            <a:br/>
            <a:r>
              <a:t>1 sec: Hazard lights activate, cabin lights on</a:t>
            </a:r>
            <a:br/>
            <a:r>
              <a:t>2 sec: eCall initiated (dialing emergency services)</a:t>
            </a:r>
            <a:br/>
            <a:r>
              <a:t>5 sec: eCall connected, data transmitted</a:t>
            </a:r>
            <a:br/>
            <a:br/>
            <a:r>
              <a:t>All automatic, no occupant action required</a:t>
            </a:r>
          </a:p>
          <a:p>
            <a:pPr>
              <a:spcAft>
                <a:spcPts val="1000"/>
              </a:spcAft>
              <a:defRPr sz="1800">
                <a:solidFill>
                  <a:srgbClr val="333333"/>
                </a:solidFill>
              </a:defRPr>
            </a:pPr>
            <a:r>
              <a:t>Outcomes Addressed: SO-6-18-4 (ACU integration, post-crash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Maintenance &amp; Service Considerations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Before we move to safety testing, let me briefly cover maintenance and service of passive safety systems - this is important for anyone who might work on vehicles.</a:t>
            </a:r>
          </a:p>
          <a:p>
            <a:pPr>
              <a:spcAft>
                <a:spcPts val="1000"/>
              </a:spcAft>
              <a:defRPr sz="1800">
                <a:solidFill>
                  <a:srgbClr val="333333"/>
                </a:solidFill>
              </a:defRPr>
            </a:pPr>
            <a:r>
              <a:t>First, passive safety components are generally maintenance-free. Airbags don't require periodic replacement under normal conditions - they can last the life of the vehicle. Seatbelts don't require routine maintenance either.</a:t>
            </a:r>
          </a:p>
          <a:p>
            <a:pPr>
              <a:spcAft>
                <a:spcPts val="1000"/>
              </a:spcAft>
              <a:defRPr sz="1800">
                <a:solidFill>
                  <a:srgbClr val="333333"/>
                </a:solidFill>
              </a:defRPr>
            </a:pPr>
            <a:r>
              <a:t>However, after any crash where airbags or pretensioners deploy, ALL deployed components must be replaced. Airbags are single-use - once the pyrotechnic inflator fires, it's consumed and cannot be reused. Seatbelt pretensioners are also single-use.</a:t>
            </a:r>
          </a:p>
          <a:p>
            <a:pPr>
              <a:spcAft>
                <a:spcPts val="1000"/>
              </a:spcAft>
              <a:defRPr sz="1800">
                <a:solidFill>
                  <a:srgbClr val="333333"/>
                </a:solidFill>
              </a:defRPr>
            </a:pPr>
            <a:r>
              <a:t>The cost of replacement can be substantial - a full airbag system replacement after a severe crash might cost ₹1-3 lakhs or more, depending on how many airbags deployed. This is why crash repairs are expensive.</a:t>
            </a:r>
          </a:p>
          <a:p>
            <a:pPr>
              <a:spcAft>
                <a:spcPts val="1000"/>
              </a:spcAft>
              <a:defRPr sz="1800">
                <a:solidFill>
                  <a:srgbClr val="333333"/>
                </a:solidFill>
              </a:defRPr>
            </a:pPr>
            <a:r>
              <a:t>The SRS warning light on the dashboard is critical. If it illuminates, it indicates a fault in the passive safety system - maybe a sensor disconnected, an airbag circuit open, or low battery voltage. This must be diagnosed and repaired immediately because the airbags may not deploy properly if there's a fault.</a:t>
            </a:r>
          </a:p>
          <a:p>
            <a:pPr>
              <a:spcAft>
                <a:spcPts val="1000"/>
              </a:spcAft>
              <a:defRPr sz="1800">
                <a:solidFill>
                  <a:srgbClr val="333333"/>
                </a:solidFill>
              </a:defRPr>
            </a:pPr>
            <a:r>
              <a:t>Service technicians must take special precautions when working on or around airbag systems. The electrical connectors have safety interlocks, but there's still a risk of accidental deployment if procedures aren't followed. Disconnecting the battery and waiting for the backup capacitor to discharge is standard practice before working on SRS components.</a:t>
            </a:r>
          </a:p>
          <a:p>
            <a:pPr>
              <a:spcAft>
                <a:spcPts val="1000"/>
              </a:spcAft>
              <a:defRPr sz="1800">
                <a:solidFill>
                  <a:srgbClr val="333333"/>
                </a:solidFill>
              </a:defRPr>
            </a:pPr>
            <a:r>
              <a:t>Never attempt to disassemble or modify airbag components - they contain explosive materials and improper handling can cause injury or accidental deployment.</a:t>
            </a:r>
          </a:p>
          <a:p>
            <a:pPr>
              <a:spcAft>
                <a:spcPts val="1000"/>
              </a:spcAft>
              <a:defRPr sz="1800">
                <a:solidFill>
                  <a:srgbClr val="333333"/>
                </a:solidFill>
              </a:defRPr>
            </a:pPr>
            <a:r>
              <a:t>PPT Content:</a:t>
            </a:r>
          </a:p>
          <a:p>
            <a:pPr>
              <a:defRPr sz="1400">
                <a:solidFill>
                  <a:srgbClr val="787878"/>
                </a:solidFill>
                <a:latin typeface="Consolas"/>
              </a:defRPr>
            </a:pPr>
            <a:r>
              <a:t>MAINTENANCE &amp; SERVICE CONSIDERATIONS</a:t>
            </a:r>
            <a:br/>
            <a:br/>
            <a:r>
              <a:t>ROUTINE MAINTENANCE:</a:t>
            </a:r>
            <a:br/>
            <a:r>
              <a:t>Generally: None required for passive safety systems</a:t>
            </a:r>
            <a:br/>
            <a:r>
              <a:t>• Airbags: No scheduled replacement (unless deployed or aged &gt;15-20 years)</a:t>
            </a:r>
            <a:br/>
            <a:r>
              <a:t>• Seatbelts: Visual inspection only (check for fraying, proper retraction)</a:t>
            </a:r>
            <a:br/>
            <a:r>
              <a:t>• Sensors: No maintenance required</a:t>
            </a:r>
            <a:br/>
            <a:r>
              <a:t>• ACU: No maintenance required</a:t>
            </a:r>
            <a:br/>
            <a:br/>
            <a:r>
              <a:t>System Monitoring:</a:t>
            </a:r>
            <a:br/>
            <a:r>
              <a:t>ACU performs continuous self-diagnostics</a:t>
            </a:r>
            <a:br/>
            <a:r>
              <a:t>SRS warning light: Illuminates if fault detected</a:t>
            </a:r>
            <a:br/>
            <a:r>
              <a:t>→ If light ON: Service required immediately (system may not function correctly)</a:t>
            </a:r>
            <a:br/>
            <a:br/>
            <a:r>
              <a:t>POST-CRASH REPLACEMENT (Mandatory):</a:t>
            </a:r>
            <a:br/>
            <a:br/>
            <a:r>
              <a:t>If Airbags Deploy:</a:t>
            </a:r>
            <a:br/>
            <a:r>
              <a:t>Must replace:</a:t>
            </a:r>
            <a:br/>
            <a:r>
              <a:t>✓ All deployed airbags (fabric bag + inflator)</a:t>
            </a:r>
            <a:br/>
            <a:r>
              <a:t>✓ All deployed pretensioners (seatbelt retractors)</a:t>
            </a:r>
            <a:br/>
            <a:r>
              <a:t>✓ ACU (may be reusable if no damage, but often replaced)</a:t>
            </a:r>
            <a:br/>
            <a:r>
              <a:t>✓ Crash sensors (if in crush zone, often damaged)</a:t>
            </a:r>
            <a:br/>
            <a:r>
              <a:t>✓ Wiring harness (if damaged in crash)</a:t>
            </a:r>
            <a:br/>
            <a:r>
              <a:t>✓ Covers (steering wheel hub, dashboard tear seams, door panels)</a:t>
            </a:r>
            <a:br/>
            <a:r>
              <a:t>✓ Seatbelts (if pretensioner fired or belt loaded heavily)</a:t>
            </a:r>
            <a:br/>
            <a:br/>
            <a:r>
              <a:t>Do NOT reuse:</a:t>
            </a:r>
            <a:br/>
            <a:r>
              <a:t>✗ Deployed airbags (inflator is consumed, cannot be recharged)</a:t>
            </a:r>
            <a:br/>
            <a:r>
              <a:t>✗ Deployed pretensioners (pyrotechnic is consumed)</a:t>
            </a:r>
            <a:br/>
            <a:br/>
            <a:r>
              <a:t>Even if airbag looks intact after deployment → Still must replace (inflator destroyed)</a:t>
            </a:r>
            <a:br/>
            <a:br/>
            <a:r>
              <a:t>Replacement Cost (Typical):</a:t>
            </a:r>
            <a:br/>
            <a:r>
              <a:t>• Driver frontal airbag + inflator: ₹15,000-30,000</a:t>
            </a:r>
            <a:br/>
            <a:r>
              <a:t>• Passenger airbag + dashboard replacement: ₹25,000-50,000</a:t>
            </a:r>
            <a:br/>
            <a:r>
              <a:t>• Side airbag + seat trim: ₹10,000-20,000 each</a:t>
            </a:r>
            <a:br/>
            <a:r>
              <a:t>• Curtain airbag: ₹15,000-25,000 each</a:t>
            </a:r>
            <a:br/>
            <a:r>
              <a:t>• Seatbelt with pretensioner: ₹8,000-15,000 each</a:t>
            </a:r>
            <a:br/>
            <a:r>
              <a:t>• ACU: ₹20,000-50,000</a:t>
            </a:r>
            <a:br/>
            <a:r>
              <a:t>• Labor for full replacement: ₹30,000-80,000</a:t>
            </a:r>
            <a:br/>
            <a:br/>
            <a:r>
              <a:t>TOTAL for severe crash (all airbags deployed): ₹1,00,000 - 3,00,000+</a:t>
            </a:r>
            <a:br/>
            <a:r>
              <a:t>→ Often exceeds vehicle value for older cars (total loss)</a:t>
            </a:r>
            <a:br/>
            <a:br/>
            <a:r>
              <a:t>Insurance Coverage:</a:t>
            </a:r>
            <a:br/>
            <a:r>
              <a:t>Comprehensive insurance usually covers airbag replacement</a:t>
            </a:r>
            <a:br/>
            <a:r>
              <a:t>But: High cost may result in vehicle being declared "totaled" (write-off)</a:t>
            </a:r>
            <a:br/>
            <a:br/>
            <a:r>
              <a:t>SERVICE PRECAUTIONS (For Technicians):</a:t>
            </a:r>
            <a:br/>
            <a:br/>
            <a:r>
              <a:t>DANGER: Airbags contain pyrotechnic devices (explosives!)</a:t>
            </a:r>
            <a:br/>
            <a:r>
              <a:t>Improper handling can cause:</a:t>
            </a:r>
            <a:br/>
            <a:r>
              <a:t>• Accidental deployment (serious injury)</a:t>
            </a:r>
            <a:br/>
            <a:r>
              <a:t>• Fire/explosion (if inflator ignited)</a:t>
            </a:r>
            <a:br/>
            <a:br/>
            <a:r>
              <a:t>Safe Service Procedures:</a:t>
            </a:r>
            <a:br/>
            <a:br/>
            <a:r>
              <a:t>1. DISCONNECT BATTERY:</a:t>
            </a:r>
            <a:br/>
            <a:r>
              <a:t>   • Remove negative terminal first</a:t>
            </a:r>
            <a:br/>
            <a:r>
              <a:t>   • Wait 10-15 minutes (allow ACU backup capacitor to discharge)</a:t>
            </a:r>
            <a:br/>
            <a:r>
              <a:t>   • Prevents accidental deployment</a:t>
            </a:r>
            <a:br/>
            <a:br/>
            <a:r>
              <a:t>2. AVOID AIRBAG ELECTRICAL CONNECTORS:</a:t>
            </a:r>
            <a:br/>
            <a:r>
              <a:t>   • Do NOT probe airbag circuits with multimeter (risk of deployment)</a:t>
            </a:r>
            <a:br/>
            <a:r>
              <a:t>   • Use manufacturer-specific diagnostic tools only</a:t>
            </a:r>
            <a:br/>
            <a:r>
              <a:t>   • Connectors have shorting bars (short circuit when disconnected → safe)</a:t>
            </a:r>
            <a:br/>
            <a:br/>
            <a:r>
              <a:t>3. HANDLING AIRBAG MODULES:</a:t>
            </a:r>
            <a:br/>
            <a:r>
              <a:t>   • Always point airbag deployment direction AWAY from body</a:t>
            </a:r>
            <a:br/>
            <a:r>
              <a:t>   • Do NOT drop or strike airbag module</a:t>
            </a:r>
            <a:br/>
            <a:r>
              <a:t>   • Do NOT expose to heat (&gt;80°C can cause deployment)</a:t>
            </a:r>
            <a:br/>
            <a:br/>
            <a:r>
              <a:t>4. DISPOSAL:</a:t>
            </a:r>
            <a:br/>
            <a:r>
              <a:t>   • Undeployed airbags: Must be deployed in controlled manner before disposal</a:t>
            </a:r>
            <a:br/>
            <a:r>
              <a:t>   • Deployed airbags: Can be disposed as non-hazardous waste (pyrotechnic consumed)</a:t>
            </a:r>
            <a:br/>
            <a:r>
              <a:t>   • Follow local regulations (environmental laws)</a:t>
            </a:r>
            <a:br/>
            <a:br/>
            <a:r>
              <a:t>5. WIRING REPAIRS:</a:t>
            </a:r>
            <a:br/>
            <a:r>
              <a:t>   • Use manufacturer-specified connectors and wire gauges</a:t>
            </a:r>
            <a:br/>
            <a:r>
              <a:t>   • Do NOT splice or repair airbag wiring (replace entire harness)</a:t>
            </a:r>
            <a:br/>
            <a:r>
              <a:t>   • Incorrect resistance can prevent deployment</a:t>
            </a:r>
            <a:br/>
            <a:br/>
            <a:r>
              <a:t>SRS WARNING LIGHT DIAGNOSIS:</a:t>
            </a:r>
            <a:br/>
            <a:br/>
            <a:r>
              <a:t>Light ON (continuous): Fault detected</a:t>
            </a:r>
            <a:br/>
            <a:r>
              <a:t>• Retrieve fault codes using diagnostic scanner (OBD-II)</a:t>
            </a:r>
            <a:br/>
            <a:r>
              <a:t>• Common faults:</a:t>
            </a:r>
            <a:br/>
            <a:r>
              <a:t>  - Clock spring failure (steering wheel rotating connector)</a:t>
            </a:r>
            <a:br/>
            <a:r>
              <a:t>  - Seat occupancy sensor malfunction</a:t>
            </a:r>
            <a:br/>
            <a:r>
              <a:t>  - Low battery voltage</a:t>
            </a:r>
            <a:br/>
            <a:r>
              <a:t>  - Airbag circuit open/short (connector loose)</a:t>
            </a:r>
            <a:br/>
            <a:r>
              <a:t>  - Crash sensor fault</a:t>
            </a:r>
            <a:br/>
            <a:r>
              <a:t>  - ACU internal fault</a:t>
            </a:r>
            <a:br/>
            <a:br/>
            <a:r>
              <a:t>Light flashing: Severe fault or ACU communication issue</a:t>
            </a:r>
            <a:br/>
            <a:br/>
            <a:r>
              <a:t>Light OFF: System operational (normal)</a:t>
            </a:r>
            <a:br/>
            <a:br/>
            <a:r>
              <a:t>Light does NOT illuminate at key-on: Bulb failure or ACU fault (system may be non-functional!)</a:t>
            </a:r>
            <a:br/>
            <a:br/>
            <a:r>
              <a:t>Fault Code Reset:</a:t>
            </a:r>
            <a:br/>
            <a:r>
              <a:t>After repair, fault codes must be cleared using scan tool</a:t>
            </a:r>
            <a:br/>
            <a:r>
              <a:t>Some systems require drive cycle before fault clears</a:t>
            </a:r>
            <a:br/>
            <a:br/>
            <a:r>
              <a:t>SEATBELT INSPECTION:</a:t>
            </a:r>
            <a:br/>
            <a:br/>
            <a:r>
              <a:t>Visual Checks (Annual):</a:t>
            </a:r>
            <a:br/>
            <a:r>
              <a:t>✓ Webbing: No fraying, cuts, or burns</a:t>
            </a:r>
            <a:br/>
            <a:r>
              <a:t>✓ Retraction: Belt retracts smoothly when released</a:t>
            </a:r>
            <a:br/>
            <a:r>
              <a:t>✓ Locking: Emergency locking engages when pulled rapidly</a:t>
            </a:r>
            <a:br/>
            <a:r>
              <a:t>✓ Buckle: Latches securely, releases cleanly</a:t>
            </a:r>
            <a:br/>
            <a:r>
              <a:t>✓ Anchor points: Bolts tight, no rust or damage</a:t>
            </a:r>
            <a:br/>
            <a:br/>
            <a:r>
              <a:t>Replace If:</a:t>
            </a:r>
            <a:br/>
            <a:r>
              <a:t>• Belt webbing frayed or cut</a:t>
            </a:r>
            <a:br/>
            <a:r>
              <a:t>• Belt exposed to chemicals (weakens fabric)</a:t>
            </a:r>
            <a:br/>
            <a:r>
              <a:t>• Belt heavily loaded in crash (even if pretensioner didn't fire)</a:t>
            </a:r>
            <a:br/>
            <a:r>
              <a:t>• Buckle doesn't latch properly</a:t>
            </a:r>
            <a:br/>
            <a:r>
              <a:t>• Retractor doesn't lock</a:t>
            </a:r>
            <a:br/>
            <a:br/>
            <a:r>
              <a:t>SENSOR REPLACEMENT:</a:t>
            </a:r>
            <a:br/>
            <a:br/>
            <a:r>
              <a:t>Crash sensors in crush zones often damaged in even minor crashes</a:t>
            </a:r>
            <a:br/>
            <a:r>
              <a:t>• Front sensors: Replace if front-end collision (sensors in bumper area crushed)</a:t>
            </a:r>
            <a:br/>
            <a:r>
              <a:t>• Side sensors: Replace if side impact (door/pillar sensors damaged)</a:t>
            </a:r>
            <a:br/>
            <a:br/>
            <a:r>
              <a:t>After sensor replacement:</a:t>
            </a:r>
            <a:br/>
            <a:r>
              <a:t>• Clear fault codes</a:t>
            </a:r>
            <a:br/>
            <a:r>
              <a:t>• Perform system test (scan tool)</a:t>
            </a:r>
            <a:br/>
            <a:r>
              <a:t>• Verify SRS light OFF</a:t>
            </a:r>
            <a:br/>
            <a:br/>
            <a:r>
              <a:t>AIRBAG AGE CONSIDERATIONS:</a:t>
            </a:r>
            <a:br/>
            <a:br/>
            <a:r>
              <a:t>Some manufacturers recommend airbag replacement after 15-20 years</a:t>
            </a:r>
            <a:br/>
            <a:r>
              <a:t>Reason:</a:t>
            </a:r>
            <a:br/>
            <a:r>
              <a:t>• Pyrotechnic materials can degrade over time</a:t>
            </a:r>
            <a:br/>
            <a:r>
              <a:t>• Fabric may deteriorate</a:t>
            </a:r>
            <a:br/>
            <a:r>
              <a:t>• Reliability questionable</a:t>
            </a:r>
            <a:br/>
            <a:br/>
            <a:r>
              <a:t>Check owner's manual for specific vehicle recommendations</a:t>
            </a:r>
            <a:br/>
            <a:r>
              <a:t>Most modern airbags: Designed for 15+ year life</a:t>
            </a:r>
            <a:br/>
            <a:br/>
            <a:r>
              <a:t>LEGAL CONSIDERATIONS:</a:t>
            </a:r>
            <a:br/>
            <a:br/>
            <a:r>
              <a:t>• In many jurisdictions, it's ILLEGAL to:</a:t>
            </a:r>
            <a:br/>
            <a:r>
              <a:t>  - Sell vehicle with known non-functional airbags without disclosure</a:t>
            </a:r>
            <a:br/>
            <a:r>
              <a:t>  - Install counterfeit or used airbags</a:t>
            </a:r>
            <a:br/>
            <a:r>
              <a:t>  - Disable airbag system without valid reason</a:t>
            </a:r>
            <a:br/>
            <a:br/>
            <a:r>
              <a:t>• Airbag system must be restored to original function after crash repair</a:t>
            </a:r>
            <a:br/>
            <a:br/>
            <a:r>
              <a:t>• Salvage vehicles: Often have airbag system issues (verify before purchase)</a:t>
            </a:r>
          </a:p>
          <a:p>
            <a:pPr>
              <a:spcAft>
                <a:spcPts val="1000"/>
              </a:spcAft>
              <a:defRPr sz="1800">
                <a:solidFill>
                  <a:srgbClr val="333333"/>
                </a:solidFill>
              </a:defRPr>
            </a:pPr>
            <a:r>
              <a:t>Teaching Note:</a:t>
            </a:r>
          </a:p>
          <a:p>
            <a:pPr>
              <a:spcAft>
                <a:spcPts val="1000"/>
              </a:spcAft>
              <a:defRPr sz="1800">
                <a:solidFill>
                  <a:srgbClr val="333333"/>
                </a:solidFill>
              </a:defRPr>
            </a:pPr>
            <a:r>
              <a:t>If you ever work on vehicles, treat airbag systems with extreme respect. They're safe when handled properly, but mishandling can cause serious injury.</a:t>
            </a:r>
          </a:p>
          <a:p>
            <a:pPr>
              <a:spcAft>
                <a:spcPts val="1000"/>
              </a:spcAft>
              <a:defRPr sz="1800">
                <a:solidFill>
                  <a:srgbClr val="333333"/>
                </a:solidFill>
              </a:defRPr>
            </a:pPr>
            <a:r>
              <a:t>Outcomes Addressed: SO-6-18-2, SO-6-18-3, SO-6-18-4 (system maintenance, service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5: RESOLUTION - "Safety Testing &amp; Standards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26-30 | Duration: ~13 minutes | Energy Level: Medium (Bringing It Together)</a:t>
            </a:r>
          </a:p>
          <a:p>
            <a:pPr>
              <a:spcAft>
                <a:spcPts val="1000"/>
              </a:spcAft>
              <a:defRPr sz="1800">
                <a:solidFill>
                  <a:srgbClr val="333333"/>
                </a:solidFill>
              </a:defRPr>
            </a:pPr>
            <a:r>
              <a:t>Story Purpose: Explain how vehicles are tested and rated for safety</a:t>
            </a:r>
          </a:p>
          <a:p>
            <a:pPr>
              <a:spcAft>
                <a:spcPts val="1000"/>
              </a:spcAft>
              <a:defRPr sz="1800">
                <a:solidFill>
                  <a:srgbClr val="333333"/>
                </a:solidFill>
              </a:defRPr>
            </a:pPr>
            <a:r>
              <a:t>Teaching Mode: Standards explanation + testing protocols</a:t>
            </a:r>
          </a:p>
          <a:p>
            <a:pPr>
              <a:spcAft>
                <a:spcPts val="1000"/>
              </a:spcAft>
              <a:defRPr sz="1800">
                <a:solidFill>
                  <a:srgbClr val="333333"/>
                </a:solidFill>
              </a:defRPr>
            </a:pPr>
            <a:r>
              <a:t>Connection to Prior Knowledge: All passive safety components and systems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Safety Testing Overview - NCAP Programs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We've covered all the passive safety systems. Now the question is: how do we know they work? How are vehicles tested to ensure they protect occupants?</a:t>
            </a:r>
          </a:p>
          <a:p>
            <a:pPr>
              <a:spcAft>
                <a:spcPts val="1000"/>
              </a:spcAft>
              <a:defRPr sz="1800">
                <a:solidFill>
                  <a:srgbClr val="333333"/>
                </a:solidFill>
              </a:defRPr>
            </a:pPr>
            <a:r>
              <a:t>The answer is crash testing, conducted by New Car Assessment Programs - NCAP organizations. The most prominent are Euro NCAP in Europe, NHTSA in the United States, Latin NCAP, ASEAN NCAP, and Global NCAP (which includes Bharat NCAP in India).</a:t>
            </a:r>
          </a:p>
          <a:p>
            <a:pPr>
              <a:spcAft>
                <a:spcPts val="1000"/>
              </a:spcAft>
              <a:defRPr sz="1800">
                <a:solidFill>
                  <a:srgbClr val="333333"/>
                </a:solidFill>
              </a:defRPr>
            </a:pPr>
            <a:r>
              <a:t>These organizations purchase new vehicles off dealer lots and subject them to standardized crash tests. They measure injury risk using crash test dummies equipped with sensors - accelerometers in the head, chest, and pelvis, load sensors in the neck and femurs, and more.</a:t>
            </a:r>
          </a:p>
          <a:p>
            <a:pPr>
              <a:spcAft>
                <a:spcPts val="1000"/>
              </a:spcAft>
              <a:defRPr sz="1800">
                <a:solidFill>
                  <a:srgbClr val="333333"/>
                </a:solidFill>
              </a:defRPr>
            </a:pPr>
            <a:r>
              <a:t>The tests cover multiple crash scenarios: frontal barrier crash, side impact, pole crash, and rollover resistance. Each test has specific speed and configuration requirements.</a:t>
            </a:r>
          </a:p>
          <a:p>
            <a:pPr>
              <a:spcAft>
                <a:spcPts val="1000"/>
              </a:spcAft>
              <a:defRPr sz="1800">
                <a:solidFill>
                  <a:srgbClr val="333333"/>
                </a:solidFill>
              </a:defRPr>
            </a:pPr>
            <a:r>
              <a:t>After testing, vehicles receive star ratings - typically from 1 to 5 stars, with 5 stars being the best. These ratings are based on measured injury metrics, structural performance, and the presence of safety technologies.</a:t>
            </a:r>
          </a:p>
          <a:p>
            <a:pPr>
              <a:spcAft>
                <a:spcPts val="1000"/>
              </a:spcAft>
              <a:defRPr sz="1800">
                <a:solidFill>
                  <a:srgbClr val="333333"/>
                </a:solidFill>
              </a:defRPr>
            </a:pPr>
            <a:r>
              <a:t>For consumers, these ratings are incredibly valuable in making safety-informed vehicle choices. For manufacturers, achieving 5-star ratings has become a competitive priority and a marketing advantage.</a:t>
            </a:r>
          </a:p>
          <a:p>
            <a:pPr>
              <a:spcAft>
                <a:spcPts val="1000"/>
              </a:spcAft>
              <a:defRPr sz="1800">
                <a:solidFill>
                  <a:srgbClr val="333333"/>
                </a:solidFill>
              </a:defRPr>
            </a:pPr>
            <a:r>
              <a:t>Let me walk you through the main crash test types.</a:t>
            </a:r>
          </a:p>
          <a:p>
            <a:pPr>
              <a:spcAft>
                <a:spcPts val="1000"/>
              </a:spcAft>
              <a:defRPr sz="1800">
                <a:solidFill>
                  <a:srgbClr val="333333"/>
                </a:solidFill>
              </a:defRPr>
            </a:pPr>
            <a:r>
              <a:t>PPT Content:</a:t>
            </a:r>
          </a:p>
          <a:p>
            <a:pPr>
              <a:defRPr sz="1400">
                <a:solidFill>
                  <a:srgbClr val="787878"/>
                </a:solidFill>
                <a:latin typeface="Consolas"/>
              </a:defRPr>
            </a:pPr>
            <a:r>
              <a:t>SAFETY TESTING OVERVIEW: NCAP PROGRAMS</a:t>
            </a:r>
            <a:br/>
            <a:br/>
            <a:r>
              <a:t>NCAP = New Car Assessment Program</a:t>
            </a:r>
            <a:br/>
            <a:br/>
            <a:r>
              <a:t>Purpose:</a:t>
            </a:r>
            <a:br/>
            <a:r>
              <a:t>• Independent crash testing of new vehicles</a:t>
            </a:r>
            <a:br/>
            <a:r>
              <a:t>• Provide safety ratings for consumers</a:t>
            </a:r>
            <a:br/>
            <a:r>
              <a:t>• Encourage manufacturers to improve safety beyond regulatory minimums</a:t>
            </a:r>
            <a:br/>
            <a:br/>
            <a:r>
              <a:t>Major NCAP Organizations:</a:t>
            </a:r>
            <a:br/>
            <a:br/>
            <a:r>
              <a:t>1. **Euro NCAP** (Europe):</a:t>
            </a:r>
            <a:br/>
            <a:r>
              <a:t>   Founded: 1997</a:t>
            </a:r>
            <a:br/>
            <a:r>
              <a:t>   Coverage: European market vehicles</a:t>
            </a:r>
            <a:br/>
            <a:r>
              <a:t>   Most stringent testing protocols globally</a:t>
            </a:r>
            <a:br/>
            <a:br/>
            <a:r>
              <a:t>2. **NHTSA** (US):</a:t>
            </a:r>
            <a:br/>
            <a:r>
              <a:t>   National Highway Traffic Safety Administration</a:t>
            </a:r>
            <a:br/>
            <a:r>
              <a:t>   Founded: 1978 (NCAP program)</a:t>
            </a:r>
            <a:br/>
            <a:r>
              <a:t>   Coverage: US market vehicles</a:t>
            </a:r>
            <a:br/>
            <a:r>
              <a:t>   Regulatory authority + consumer testing</a:t>
            </a:r>
            <a:br/>
            <a:br/>
            <a:r>
              <a:t>3. **IIHS** (US):</a:t>
            </a:r>
            <a:br/>
            <a:r>
              <a:t>   Insurance Institute for Highway Safety</a:t>
            </a:r>
            <a:br/>
            <a:r>
              <a:t>   Founded: 1995 (crash testing)</a:t>
            </a:r>
            <a:br/>
            <a:r>
              <a:t>   Insurance industry-funded, independent</a:t>
            </a:r>
            <a:br/>
            <a:r>
              <a:t>   More severe tests than NHTSA</a:t>
            </a:r>
            <a:br/>
            <a:br/>
            <a:r>
              <a:t>4. **Bharat NCAP** (India):</a:t>
            </a:r>
            <a:br/>
            <a:r>
              <a:t>   Founded: 2023</a:t>
            </a:r>
            <a:br/>
            <a:r>
              <a:t>   Coverage: Indian market vehicles</a:t>
            </a:r>
            <a:br/>
            <a:r>
              <a:t>   Based on Global NCAP protocols</a:t>
            </a:r>
            <a:br/>
            <a:br/>
            <a:r>
              <a:t>5. **ASEAN NCAP** (Southeast Asia):</a:t>
            </a:r>
            <a:br/>
            <a:r>
              <a:t>   Coverage: Southeast Asian markets</a:t>
            </a:r>
            <a:br/>
            <a:r>
              <a:t>   Similar to Global NCAP</a:t>
            </a:r>
            <a:br/>
            <a:br/>
            <a:r>
              <a:t>6. **Latin NCAP** (Latin America):</a:t>
            </a:r>
            <a:br/>
            <a:r>
              <a:t>   Coverage: Latin American markets</a:t>
            </a:r>
            <a:br/>
            <a:br/>
            <a:r>
              <a:t>STAR RATING SYSTEM:</a:t>
            </a:r>
            <a:br/>
            <a:br/>
            <a:r>
              <a:t>Rating Scale: 1 to 5 stars (⭐ to ⭐⭐⭐⭐⭐)</a:t>
            </a:r>
            <a:br/>
            <a:r>
              <a:t>• 5 stars: Excellent safety (&gt;80% overall score typically)</a:t>
            </a:r>
            <a:br/>
            <a:r>
              <a:t>• 4 stars: Good safety (70-80%)</a:t>
            </a:r>
            <a:br/>
            <a:r>
              <a:t>• 3 stars: Average safety (60-70%)</a:t>
            </a:r>
            <a:br/>
            <a:r>
              <a:t>• 2 stars: Below average safety (50-60%)</a:t>
            </a:r>
            <a:br/>
            <a:r>
              <a:t>• 1 star: Poor safety (&lt;50%)</a:t>
            </a:r>
            <a:br/>
            <a:r>
              <a:t>• 0 stars: Very poor (rare, but possible)</a:t>
            </a:r>
            <a:br/>
            <a:br/>
            <a:r>
              <a:t>Rating Components (Euro NCAP example):</a:t>
            </a:r>
            <a:br/>
            <a:r>
              <a:t>• Adult Occupant Protection: 40% weight</a:t>
            </a:r>
            <a:br/>
            <a:r>
              <a:t>• Child Occupant Protection: 20% weight</a:t>
            </a:r>
            <a:br/>
            <a:r>
              <a:t>• Vulnerable Road Users (Pedestrians): 20% weight</a:t>
            </a:r>
            <a:br/>
            <a:r>
              <a:t>• Safety Assist (Active safety systems): 20% weight</a:t>
            </a:r>
            <a:br/>
            <a:br/>
            <a:r>
              <a:t>→ Overall rating combines all categories</a:t>
            </a:r>
            <a:br/>
            <a:br/>
            <a:r>
              <a:t>CRASH TEST DUMMIES:</a:t>
            </a:r>
            <a:br/>
            <a:br/>
            <a:r>
              <a:t>Purpose: Represent human occupants, measure injury risk</a:t>
            </a:r>
            <a:br/>
            <a:br/>
            <a:r>
              <a:t>Types by Size:</a:t>
            </a:r>
            <a:br/>
            <a:r>
              <a:t>• 50th percentile male: Average adult male (175 cm, 78 kg)</a:t>
            </a:r>
            <a:br/>
            <a:r>
              <a:t>• 5th percentile female: Small adult female (150 cm, 50 kg)</a:t>
            </a:r>
            <a:br/>
            <a:r>
              <a:t>• 95th percentile male: Large adult male (188 cm, 100 kg)</a:t>
            </a:r>
            <a:br/>
            <a:r>
              <a:t>• Child dummies: 6-year-old, 10-year-old, infant sizes</a:t>
            </a:r>
            <a:br/>
            <a:br/>
            <a:r>
              <a:t>Instrumentation (50th %ile Male Dummy - Hybrid III):</a:t>
            </a:r>
            <a:br/>
            <a:r>
              <a:t>• Head: Tri-axial accelerometer (measure head acceleration in X, Y, Z)</a:t>
            </a:r>
            <a:br/>
            <a:r>
              <a:t>• Neck: Load cells (measure neck tension, compression, bending moments)</a:t>
            </a:r>
            <a:br/>
            <a:r>
              <a:t>• Chest: Accelerometers + deflection sensor (measure chest compression)</a:t>
            </a:r>
            <a:br/>
            <a:r>
              <a:t>• Pelvis: Load cells (measure pelvic forces)</a:t>
            </a:r>
            <a:br/>
            <a:r>
              <a:t>• Femurs (thighs): Load cells (measure femur compression loads)</a:t>
            </a:r>
            <a:br/>
            <a:r>
              <a:t>• Knees: Load cells (measure knee impact forces)</a:t>
            </a:r>
            <a:br/>
            <a:r>
              <a:t>• Lower legs (tibias): Load cells, accelerometers</a:t>
            </a:r>
            <a:br/>
            <a:br/>
            <a:r>
              <a:t>Total sensors: ~50-100 sensors per dummy</a:t>
            </a:r>
            <a:br/>
            <a:r>
              <a:t>Data sampling rate: 10,000-20,000 Hz (extremely fast, captures millisecond events)</a:t>
            </a:r>
            <a:br/>
            <a:br/>
            <a:r>
              <a:t>Advanced Dummies:</a:t>
            </a:r>
            <a:br/>
            <a:r>
              <a:t>• THOR (Test device for Human Occupant Restraint): More biofidelic (realistic human response)</a:t>
            </a:r>
            <a:br/>
            <a:r>
              <a:t>• World SID (Side Impact Dummy): Specialized for side crashes</a:t>
            </a:r>
            <a:br/>
            <a:r>
              <a:t>• BioRID (rear impact dummy): Whiplash injury assessment</a:t>
            </a:r>
            <a:br/>
            <a:br/>
            <a:r>
              <a:t>Injury Metrics Calculated:</a:t>
            </a:r>
            <a:br/>
            <a:br/>
            <a:r>
              <a:t>Head Injury Criterion (HIC):</a:t>
            </a:r>
            <a:br/>
            <a:r>
              <a:t>HIC = max[(t2 - t1) × (1/(t2-t1) ∫ a(t) dt)^2.5]</a:t>
            </a:r>
            <a:br/>
            <a:r>
              <a:t>Measures head impact severity</a:t>
            </a:r>
            <a:br/>
            <a:r>
              <a:t>Threshold: HIC &lt; 700 (low injury risk), HIC &gt; 1000 (severe injury risk)</a:t>
            </a:r>
            <a:br/>
            <a:br/>
            <a:r>
              <a:t>Chest Compression:</a:t>
            </a:r>
            <a:br/>
            <a:r>
              <a:t>Measured as % of chest depth compressed</a:t>
            </a:r>
            <a:br/>
            <a:r>
              <a:t>Threshold: &lt;22 mm compression (low risk), &gt;50 mm (high risk)</a:t>
            </a:r>
            <a:br/>
            <a:br/>
            <a:r>
              <a:t>Femur Load:</a:t>
            </a:r>
            <a:br/>
            <a:r>
              <a:t>Force on thigh bone</a:t>
            </a:r>
            <a:br/>
            <a:r>
              <a:t>Threshold: &lt;10 kN (low risk), &gt;15 kN (fracture likely)</a:t>
            </a:r>
            <a:br/>
            <a:br/>
            <a:r>
              <a:t>Neck Injury (Nij):</a:t>
            </a:r>
            <a:br/>
            <a:r>
              <a:t>Combined tension and bending moment</a:t>
            </a:r>
            <a:br/>
            <a:r>
              <a:t>Threshold: Nij &lt; 1.0 (low risk), Nij &gt; 1.0 (high risk)</a:t>
            </a:r>
            <a:br/>
            <a:br/>
            <a:r>
              <a:t>Color-Coded Risk Levels:</a:t>
            </a:r>
            <a:br/>
            <a:r>
              <a:t>• Green: Low injury risk (good)</a:t>
            </a:r>
            <a:br/>
            <a:r>
              <a:t>• Yellow: Moderate injury risk (acceptable)</a:t>
            </a:r>
            <a:br/>
            <a:r>
              <a:t>• Orange: High injury risk (marginal)</a:t>
            </a:r>
            <a:br/>
            <a:r>
              <a:t>• Red: Very high injury risk (poor, needs improvement)</a:t>
            </a:r>
            <a:br/>
            <a:br/>
            <a:r>
              <a:t>Test Frequency:</a:t>
            </a:r>
            <a:br/>
            <a:r>
              <a:t>Vehicles tested: When new model launches or significant update</a:t>
            </a:r>
            <a:br/>
            <a:r>
              <a:t>Retesting: If major safety changes or poor initial rating</a:t>
            </a:r>
            <a:br/>
            <a:r>
              <a:t>Cost per vehicle test: ~$500,000-1,000,000 (multiple tests, dummy costs, facilities)</a:t>
            </a:r>
          </a:p>
          <a:p>
            <a:pPr>
              <a:spcAft>
                <a:spcPts val="1000"/>
              </a:spcAft>
              <a:defRPr sz="1800">
                <a:solidFill>
                  <a:srgbClr val="333333"/>
                </a:solidFill>
              </a:defRPr>
            </a:pPr>
            <a:r>
              <a:t>Real-World Impact:</a:t>
            </a:r>
          </a:p>
          <a:p>
            <a:pPr>
              <a:spcAft>
                <a:spcPts val="1000"/>
              </a:spcAft>
              <a:defRPr sz="1800">
                <a:solidFill>
                  <a:srgbClr val="333333"/>
                </a:solidFill>
              </a:defRPr>
            </a:pPr>
            <a:r>
              <a:t>NCAP ratings have driven massive safety improvements. In the early 2000s, many budget cars scored 2-3 stars. Today, most new cars achieve 4-5 stars because manufacturers compete on safety ratings.</a:t>
            </a:r>
          </a:p>
          <a:p>
            <a:pPr>
              <a:spcAft>
                <a:spcPts val="1000"/>
              </a:spcAft>
              <a:defRPr sz="1800">
                <a:solidFill>
                  <a:srgbClr val="333333"/>
                </a:solidFill>
              </a:defRPr>
            </a:pPr>
            <a:r>
              <a:t>Outcomes Addressed: SO-6-18-6 (safety testing standards, NCAP)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Frontal Crash Tests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The first major test is the frontal crash test, and there are actually several variants.</a:t>
            </a:r>
          </a:p>
          <a:p>
            <a:pPr>
              <a:spcAft>
                <a:spcPts val="1000"/>
              </a:spcAft>
              <a:defRPr sz="1800">
                <a:solidFill>
                  <a:srgbClr val="333333"/>
                </a:solidFill>
              </a:defRPr>
            </a:pPr>
            <a:r>
              <a:t>The full-width frontal barrier test involves crashing the vehicle straight into a rigid, flat barrier at a specific speed - typically 50 km/h in Euro NCAP. The entire front of the vehicle contacts the barrier simultaneously. This test evaluates the crumple zone, seatbelt, and frontal airbag performance under a symmetric frontal load.</a:t>
            </a:r>
          </a:p>
          <a:p>
            <a:pPr>
              <a:spcAft>
                <a:spcPts val="1000"/>
              </a:spcAft>
              <a:defRPr sz="1800">
                <a:solidFill>
                  <a:srgbClr val="333333"/>
                </a:solidFill>
              </a:defRPr>
            </a:pPr>
            <a:r>
              <a:t>More challenging is the frontal offset test - only 40% of the vehicle's width hits the barrier, either on the driver side or passenger side. This is meant to simulate a real-world crash where vehicles don't hit perfectly head-on. The offset crash is more severe because the crash energy is concentrated on one side of the structure, and the load paths are different.</a:t>
            </a:r>
          </a:p>
          <a:p>
            <a:pPr>
              <a:spcAft>
                <a:spcPts val="1000"/>
              </a:spcAft>
              <a:defRPr sz="1800">
                <a:solidFill>
                  <a:srgbClr val="333333"/>
                </a:solidFill>
              </a:defRPr>
            </a:pPr>
            <a:r>
              <a:t>Euro NCAP uses a 50 km/h offset crash, while IIHS in the US has an even more severe test - the small overlap test at 64 km/h where only 25% of the vehicle's width hits the barrier. This is one of the hardest tests because very little structure is available to absorb energy, and there's a risk of the wheel and suspension intruding into the cabin.</a:t>
            </a:r>
          </a:p>
          <a:p>
            <a:pPr>
              <a:spcAft>
                <a:spcPts val="1000"/>
              </a:spcAft>
              <a:defRPr sz="1800">
                <a:solidFill>
                  <a:srgbClr val="333333"/>
                </a:solidFill>
              </a:defRPr>
            </a:pPr>
            <a:r>
              <a:t>During these tests, dummies are placed in the driver and passenger seats, and sometimes rear seats. After the crash, engineers download data from the dummy sensors and examine the vehicle structure. They measure:</a:t>
            </a:r>
          </a:p>
          <a:p>
            <a:pPr>
              <a:spcAft>
                <a:spcPts val="600"/>
              </a:spcAft>
              <a:defRPr sz="1800">
                <a:solidFill>
                  <a:srgbClr val="333333"/>
                </a:solidFill>
              </a:defRPr>
            </a:pPr>
            <a:r>
              <a:t>Head injury criterion</a:t>
            </a:r>
          </a:p>
          <a:p>
            <a:pPr>
              <a:spcAft>
                <a:spcPts val="600"/>
              </a:spcAft>
              <a:defRPr sz="1800">
                <a:solidFill>
                  <a:srgbClr val="333333"/>
                </a:solidFill>
              </a:defRPr>
            </a:pPr>
            <a:r>
              <a:t>Chest compression and deceleration</a:t>
            </a:r>
          </a:p>
          <a:p>
            <a:pPr>
              <a:spcAft>
                <a:spcPts val="600"/>
              </a:spcAft>
              <a:defRPr sz="1800">
                <a:solidFill>
                  <a:srgbClr val="333333"/>
                </a:solidFill>
              </a:defRPr>
            </a:pPr>
            <a:r>
              <a:t>Femur loads</a:t>
            </a:r>
          </a:p>
          <a:p>
            <a:pPr>
              <a:spcAft>
                <a:spcPts val="600"/>
              </a:spcAft>
              <a:defRPr sz="1800">
                <a:solidFill>
                  <a:srgbClr val="333333"/>
                </a:solidFill>
              </a:defRPr>
            </a:pPr>
            <a:r>
              <a:t>Neck loads</a:t>
            </a:r>
          </a:p>
          <a:p>
            <a:pPr>
              <a:spcAft>
                <a:spcPts val="600"/>
              </a:spcAft>
              <a:defRPr sz="1800">
                <a:solidFill>
                  <a:srgbClr val="333333"/>
                </a:solidFill>
              </a:defRPr>
            </a:pPr>
            <a:r>
              <a:t>Knee and lower leg forces</a:t>
            </a:r>
          </a:p>
          <a:p>
            <a:pPr>
              <a:spcAft>
                <a:spcPts val="1000"/>
              </a:spcAft>
              <a:defRPr sz="1800">
                <a:solidFill>
                  <a:srgbClr val="333333"/>
                </a:solidFill>
              </a:defRPr>
            </a:pPr>
            <a:r>
              <a:t>They also visually inspect the cabin - did the doors stay closed? Can the doors still be opened? Is there excessive intrusion of the dashboard, footwell, or firewall?</a:t>
            </a:r>
          </a:p>
          <a:p>
            <a:pPr>
              <a:spcAft>
                <a:spcPts val="1000"/>
              </a:spcAft>
              <a:defRPr sz="1800">
                <a:solidFill>
                  <a:srgbClr val="333333"/>
                </a:solidFill>
              </a:defRPr>
            </a:pPr>
            <a:r>
              <a:t>Vehicles that achieve low injury metrics across all body regions and maintain good structural integrity score highly in frontal crash tests.</a:t>
            </a:r>
          </a:p>
          <a:p>
            <a:pPr>
              <a:spcAft>
                <a:spcPts val="1000"/>
              </a:spcAft>
              <a:defRPr sz="1800">
                <a:solidFill>
                  <a:srgbClr val="333333"/>
                </a:solidFill>
              </a:defRPr>
            </a:pPr>
            <a:r>
              <a:t>PPT Content:</a:t>
            </a:r>
          </a:p>
          <a:p>
            <a:pPr>
              <a:defRPr sz="1400">
                <a:solidFill>
                  <a:srgbClr val="787878"/>
                </a:solidFill>
                <a:latin typeface="Consolas"/>
              </a:defRPr>
            </a:pPr>
            <a:r>
              <a:t>FRONTAL CRASH TESTS</a:t>
            </a:r>
            <a:br/>
            <a:br/>
            <a:r>
              <a:t>Test Types:</a:t>
            </a:r>
            <a:br/>
            <a:br/>
            <a:r>
              <a:t>1. FULL-WIDTH FRONTAL BARRIER (Euro NCAP, NHTSA):</a:t>
            </a:r>
            <a:br/>
            <a:br/>
            <a:r>
              <a:t>Setup:</a:t>
            </a:r>
            <a:br/>
            <a:r>
              <a:t>• Rigid, flat barrier (fixed, does not deform)</a:t>
            </a:r>
            <a:br/>
            <a:r>
              <a:t>• Vehicle impacts at 50 km/h (Euro NCAP) or 56 km/h (NHTSA)</a:t>
            </a:r>
            <a:br/>
            <a:r>
              <a:t>• 100% of vehicle width contacts barrier (symmetric crash)</a:t>
            </a:r>
            <a:br/>
            <a:r>
              <a:t>• Vehicle perpendicular to barrier (0° angle)</a:t>
            </a:r>
            <a:br/>
            <a:br/>
            <a:r>
              <a:t>Dummies:</a:t>
            </a:r>
            <a:br/>
            <a:r>
              <a:t>• Driver: 50th percentile male</a:t>
            </a:r>
            <a:br/>
            <a:r>
              <a:t>• Passenger: 50th percentile male (Euro NCAP) or 5th percentile female (NHTSA)</a:t>
            </a:r>
            <a:br/>
            <a:r>
              <a:t>• Rear seats: Child dummies (Euro NCAP, 6-year and 10-year in child seats)</a:t>
            </a:r>
            <a:br/>
            <a:br/>
            <a:r>
              <a:t>Evaluated:</a:t>
            </a:r>
            <a:br/>
            <a:r>
              <a:t>• Crumple zone deformation (progressive, controlled crushing)</a:t>
            </a:r>
            <a:br/>
            <a:r>
              <a:t>• Cabin integrity (minimal intrusion into survival space)</a:t>
            </a:r>
            <a:br/>
            <a:r>
              <a:t>• Airbag deployment (proper timing and position)</a:t>
            </a:r>
            <a:br/>
            <a:r>
              <a:t>• Seatbelt performance (proper restraint, load limiting)</a:t>
            </a:r>
            <a:br/>
            <a:r>
              <a:t>• Dummy injury metrics (HIC, chest, femur, neck loads)</a:t>
            </a:r>
            <a:br/>
            <a:br/>
            <a:r>
              <a:t>Scoring:</a:t>
            </a:r>
            <a:br/>
            <a:r>
              <a:t>Points awarded for low injury risk in each body region:</a:t>
            </a:r>
            <a:br/>
            <a:r>
              <a:t>• Head and neck: Max XX points</a:t>
            </a:r>
            <a:br/>
            <a:r>
              <a:t>• Chest: Max XX points</a:t>
            </a:r>
            <a:br/>
            <a:r>
              <a:t>• Pelvis and legs: Max XX points</a:t>
            </a:r>
            <a:br/>
            <a:r>
              <a:t>• Child occupants: Separate scoring</a:t>
            </a:r>
            <a:br/>
            <a:br/>
            <a:r>
              <a:t>2. FRONTAL OFFSET BARRIER (Euro NCAP, IIHS):</a:t>
            </a:r>
            <a:br/>
            <a:br/>
            <a:r>
              <a:t>Setup:</a:t>
            </a:r>
            <a:br/>
            <a:r>
              <a:t>• Rigid barrier</a:t>
            </a:r>
            <a:br/>
            <a:r>
              <a:t>• Vehicle impacts with only 40% width overlap (driver or passenger side)</a:t>
            </a:r>
            <a:br/>
            <a:r>
              <a:t>• Speed: 50 km/h (Euro NCAP), 64 km/h (IIHS moderate overlap)</a:t>
            </a:r>
            <a:br/>
            <a:r>
              <a:t>• Offset to driver side (primary) or passenger side (some programs)</a:t>
            </a:r>
            <a:br/>
            <a:br/>
            <a:r>
              <a:t>Purpose:</a:t>
            </a:r>
            <a:br/>
            <a:r>
              <a:t>• Simulate more realistic crash (vehicles rarely hit perfectly head-on)</a:t>
            </a:r>
            <a:br/>
            <a:r>
              <a:t>• More severe than full-width (energy concentrated on one side)</a:t>
            </a:r>
            <a:br/>
            <a:r>
              <a:t>• Tests load path distribution (force must route through partial structure)</a:t>
            </a:r>
            <a:br/>
            <a:br/>
            <a:r>
              <a:t>Challenges:</a:t>
            </a:r>
            <a:br/>
            <a:r>
              <a:t>• Asymmetric loading (vehicle may rotate)</a:t>
            </a:r>
            <a:br/>
            <a:r>
              <a:t>• One side of crumple zone absorbs most energy</a:t>
            </a:r>
            <a:br/>
            <a:r>
              <a:t>• Risk of greater intrusion on impact side</a:t>
            </a:r>
            <a:br/>
            <a:br/>
            <a:r>
              <a:t>Evaluated (same as full-width, plus):</a:t>
            </a:r>
            <a:br/>
            <a:r>
              <a:t>• Structural performance on impact side vs. non-impact side</a:t>
            </a:r>
            <a:br/>
            <a:r>
              <a:t>• Load path effectiveness (does force transfer to both side rails?)</a:t>
            </a:r>
            <a:br/>
            <a:r>
              <a:t>• Occupant compartment asymmetry (is non-impact side also protected?)</a:t>
            </a:r>
            <a:br/>
            <a:br/>
            <a:r>
              <a:t>3. SMALL OVERLAP FRONTAL CRASH (IIHS):</a:t>
            </a:r>
            <a:br/>
            <a:br/>
            <a:r>
              <a:t>Setup:</a:t>
            </a:r>
            <a:br/>
            <a:r>
              <a:t>• Rigid barrier</a:t>
            </a:r>
            <a:br/>
            <a:r>
              <a:t>• Only 25% width overlap (extreme offset, usually driver side)</a:t>
            </a:r>
            <a:br/>
            <a:r>
              <a:t>• Speed: 64 km/h (40 mph) - higher than Euro NCAP!</a:t>
            </a:r>
            <a:br/>
            <a:r>
              <a:t>• Impacts outboard corner of vehicle</a:t>
            </a:r>
            <a:br/>
            <a:br/>
            <a:r>
              <a:t>Purpose:</a:t>
            </a:r>
            <a:br/>
            <a:r>
              <a:t>• Most severe frontal crash test globally</a:t>
            </a:r>
            <a:br/>
            <a:r>
              <a:t>• Simulates crash with narrow object (pole, tree) or another vehicle's corner</a:t>
            </a:r>
            <a:br/>
            <a:r>
              <a:t>• Very little structure available to absorb energy (main crumple rails miss barrier)</a:t>
            </a:r>
            <a:br/>
            <a:br/>
            <a:r>
              <a:t>Challenges:</a:t>
            </a:r>
            <a:br/>
            <a:r>
              <a:t>• Wheel and suspension intrude into footwell (high leg injury risk)</a:t>
            </a:r>
            <a:br/>
            <a:r>
              <a:t>• Vehicle rotates away from barrier (door may open)</a:t>
            </a:r>
            <a:br/>
            <a:r>
              <a:t>• Airbag may not contact occupant optimally (due to rotation)</a:t>
            </a:r>
            <a:br/>
            <a:r>
              <a:t>• High intrusion risk (firewall, A-pillar, dashboard)</a:t>
            </a:r>
            <a:br/>
            <a:br/>
            <a:r>
              <a:t>Evaluated:</a:t>
            </a:r>
            <a:br/>
            <a:r>
              <a:t>• Structural integrity (cabin collapse?)</a:t>
            </a:r>
            <a:br/>
            <a:r>
              <a:t>• Intrusion levels (firewall, footwell, A-pillar)</a:t>
            </a:r>
            <a:br/>
            <a:r>
              <a:t>• Dummy injury metrics (especially lower leg and foot - high injury risk)</a:t>
            </a:r>
            <a:br/>
            <a:r>
              <a:t>• Airbag effectiveness despite rotation</a:t>
            </a:r>
            <a:br/>
            <a:br/>
            <a:r>
              <a:t>Rating:</a:t>
            </a:r>
            <a:br/>
            <a:r>
              <a:t>Good / Acceptable / Marginal / Poor (IIHS system)</a:t>
            </a:r>
            <a:br/>
            <a:r>
              <a:t>Many vehicles failed when test introduced (2012)</a:t>
            </a:r>
            <a:br/>
            <a:r>
              <a:t>Forced major structural redesigns</a:t>
            </a:r>
            <a:br/>
            <a:br/>
            <a:r>
              <a:t>4. OBLIQUE FRONTAL CRASH (Euro NCAP - Newer Test):</a:t>
            </a:r>
            <a:br/>
            <a:br/>
            <a:r>
              <a:t>Setup:</a:t>
            </a:r>
            <a:br/>
            <a:r>
              <a:t>• Moving deformable barrier (cart traveling perpendicular to vehicle)</a:t>
            </a:r>
            <a:br/>
            <a:r>
              <a:t>• Vehicle travels at 50 km/h, barrier cart at 50 km/h</a:t>
            </a:r>
            <a:br/>
            <a:r>
              <a:t>• 50% overlap, angled impact (simulates intersection crash)</a:t>
            </a:r>
            <a:br/>
            <a:br/>
            <a:r>
              <a:t>Purpose:</a:t>
            </a:r>
            <a:br/>
            <a:r>
              <a:t>• Realistic intersection crash scenario</a:t>
            </a:r>
            <a:br/>
            <a:r>
              <a:t>• Tests occupant kinematics in angled impact (more lateral loading)</a:t>
            </a:r>
            <a:br/>
            <a:br/>
            <a:r>
              <a:t>FRONTAL CRASH INJURY FOCUS AREAS:</a:t>
            </a:r>
            <a:br/>
            <a:br/>
            <a:r>
              <a:t>Head:</a:t>
            </a:r>
            <a:br/>
            <a:r>
              <a:t>• Risk: Head impacts steering wheel, A-pillar, windshield</a:t>
            </a:r>
            <a:br/>
            <a:r>
              <a:t>• Protection: Frontal airbag, seatbelt (prevent forward motion)</a:t>
            </a:r>
            <a:br/>
            <a:r>
              <a:t>• Metric: HIC (Head Injury Criterion) - must be &lt;700 for "green" rating</a:t>
            </a:r>
            <a:br/>
            <a:br/>
            <a:r>
              <a:t>Chest:</a:t>
            </a:r>
            <a:br/>
            <a:r>
              <a:t>• Risk: Seatbelt compression, steering wheel contact, rib fractures</a:t>
            </a:r>
            <a:br/>
            <a:r>
              <a:t>• Protection: Load-limiting seatbelt, airbag cushion, steering column collapse</a:t>
            </a:r>
            <a:br/>
            <a:r>
              <a:t>• Metric: Chest compression &lt;22 mm, chest deceleration &lt;60g</a:t>
            </a:r>
            <a:br/>
            <a:br/>
            <a:r>
              <a:t>Neck:</a:t>
            </a:r>
            <a:br/>
            <a:r>
              <a:t>• Risk: Whiplash (hyperextension), tension, compression</a:t>
            </a:r>
            <a:br/>
            <a:r>
              <a:t>• Protection: Head restraint, seatbelt, airbag timing</a:t>
            </a:r>
            <a:br/>
            <a:r>
              <a:t>• Metric: Neck Injury Criterion (Nij) &lt;1.0</a:t>
            </a:r>
            <a:br/>
            <a:br/>
            <a:r>
              <a:t>Pelvis and Legs:</a:t>
            </a:r>
            <a:br/>
            <a:r>
              <a:t>• Risk: Femur fracture (knee contact with dashboard), tibia fracture, ankle injury</a:t>
            </a:r>
            <a:br/>
            <a:r>
              <a:t>• Protection: Knee airbag, energy-absorbing dashboard, intrusion resistance</a:t>
            </a:r>
            <a:br/>
            <a:r>
              <a:t>• Metric: Femur load &lt;10 kN, tibia index &lt;1.3</a:t>
            </a:r>
            <a:br/>
            <a:br/>
            <a:r>
              <a:t>STRUCTURAL EVALUATION:</a:t>
            </a:r>
            <a:br/>
            <a:br/>
            <a:r>
              <a:t>Footwell Intrusion:</a:t>
            </a:r>
            <a:br/>
            <a:r>
              <a:t>• Measure: Pedal displacement, toe-pan intrusion</a:t>
            </a:r>
            <a:br/>
            <a:r>
              <a:t>• Target: &lt;15 cm maximum intrusion (severe crash)</a:t>
            </a:r>
            <a:br/>
            <a:br/>
            <a:r>
              <a:t>Dashboard Intrusion:</a:t>
            </a:r>
            <a:br/>
            <a:r>
              <a:t>• Measure: Dashboard movement toward occupant</a:t>
            </a:r>
            <a:br/>
            <a:r>
              <a:t>• Target: &lt;10 cm</a:t>
            </a:r>
            <a:br/>
            <a:br/>
            <a:r>
              <a:t>A-Pillar Intrusion:</a:t>
            </a:r>
            <a:br/>
            <a:r>
              <a:t>• Measure: Lateral movement of A-pillar (especially small overlap)</a:t>
            </a:r>
            <a:br/>
            <a:r>
              <a:t>• Target: Minimal (&lt;5 cm)</a:t>
            </a:r>
            <a:br/>
            <a:br/>
            <a:r>
              <a:t>Door Opening:</a:t>
            </a:r>
            <a:br/>
            <a:r>
              <a:t>• Check: Did doors open during crash? (occupant ejection risk)</a:t>
            </a:r>
            <a:br/>
            <a:r>
              <a:t>• Require: Doors stay closed during impact</a:t>
            </a:r>
            <a:br/>
            <a:r>
              <a:t>• Post-crash: Doors must be openable (egress)</a:t>
            </a:r>
            <a:br/>
            <a:br/>
            <a:r>
              <a:t>Steering Column Collapse:</a:t>
            </a:r>
            <a:br/>
            <a:r>
              <a:t>• Measure: Rearward movement of steering wheel</a:t>
            </a:r>
            <a:br/>
            <a:r>
              <a:t>• Design: Column designed to collapse axially (absorb energy, prevent chest impact)</a:t>
            </a:r>
            <a:br/>
            <a:r>
              <a:t>• Target: &lt;8 cm rearward intrusion</a:t>
            </a:r>
            <a:br/>
            <a:br/>
            <a:r>
              <a:t>PASS/FAIL THRESHOLDS (Example - Euro NCAP):</a:t>
            </a:r>
            <a:br/>
            <a:br/>
            <a:r>
              <a:t>Overall frontal crash score:</a:t>
            </a:r>
            <a:br/>
            <a:r>
              <a:t>• &gt;80% of max points: Strong performance (contributes to 5-star overall)</a:t>
            </a:r>
            <a:br/>
            <a:r>
              <a:t>• 60-80%: Adequate (4-star)</a:t>
            </a:r>
            <a:br/>
            <a:r>
              <a:t>• &lt;60%: Poor (3-star or lower)</a:t>
            </a:r>
            <a:br/>
            <a:br/>
            <a:r>
              <a:t>Specific injury thresholds:</a:t>
            </a:r>
            <a:br/>
            <a:r>
              <a:t>• If ANY body region shows "red" (very high injury risk) → Rating penalty</a:t>
            </a:r>
            <a:br/>
            <a:r>
              <a:t>• Consistent "green" (low injury risk) across all regions → High score</a:t>
            </a:r>
          </a:p>
          <a:p>
            <a:pPr>
              <a:spcAft>
                <a:spcPts val="1000"/>
              </a:spcAft>
              <a:defRPr sz="1800">
                <a:solidFill>
                  <a:srgbClr val="333333"/>
                </a:solidFill>
              </a:defRPr>
            </a:pPr>
            <a:r>
              <a:t>Real-World Example:</a:t>
            </a:r>
          </a:p>
          <a:p>
            <a:pPr>
              <a:spcAft>
                <a:spcPts val="1000"/>
              </a:spcAft>
              <a:defRPr sz="1800">
                <a:solidFill>
                  <a:srgbClr val="333333"/>
                </a:solidFill>
              </a:defRPr>
            </a:pPr>
            <a:r>
              <a:t>The IIHS small overlap test caused major headaches when introduced. Many vehicles that were 5-star rated in other tests failed miserably - Honda Civic, Toyota Camry initially scored 'Poor'. Manufacturers had to redesign front structures.</a:t>
            </a:r>
          </a:p>
          <a:p>
            <a:pPr>
              <a:spcAft>
                <a:spcPts val="1000"/>
              </a:spcAft>
              <a:defRPr sz="1800">
                <a:solidFill>
                  <a:srgbClr val="333333"/>
                </a:solidFill>
              </a:defRPr>
            </a:pPr>
            <a:r>
              <a:t>Outcomes Addressed: SO-6-18-6 (frontal crash test protocols, evaluation criteria)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Side Impact &amp; Other Crash Tests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Side impact testing is equally important because side crashes have limited crumple zone distance - there's very little between you and the intruding object.</a:t>
            </a:r>
          </a:p>
          <a:p>
            <a:pPr>
              <a:spcAft>
                <a:spcPts val="1000"/>
              </a:spcAft>
              <a:defRPr sz="1800">
                <a:solidFill>
                  <a:srgbClr val="333333"/>
                </a:solidFill>
              </a:defRPr>
            </a:pPr>
            <a:r>
              <a:t>The side barrier test uses a moving deformable barrier - essentially a large cart weighing 950 kg (representing another vehicle) that strikes the side of the stationary test vehicle. The barrier is angled and covered with a deformable honeycomb face to simulate a vehicle front end. It strikes at 50-60 km/h, impacting the driver's door and B-pillar area.</a:t>
            </a:r>
          </a:p>
          <a:p>
            <a:pPr>
              <a:spcAft>
                <a:spcPts val="1000"/>
              </a:spcAft>
              <a:defRPr sz="1800">
                <a:solidFill>
                  <a:srgbClr val="333333"/>
                </a:solidFill>
              </a:defRPr>
            </a:pPr>
            <a:r>
              <a:t>Dummies are placed in both front seats, and the side facing the barrier is the critical measurement area. The test evaluates:</a:t>
            </a:r>
          </a:p>
          <a:p>
            <a:pPr>
              <a:spcAft>
                <a:spcPts val="600"/>
              </a:spcAft>
              <a:defRPr sz="1800">
                <a:solidFill>
                  <a:srgbClr val="333333"/>
                </a:solidFill>
              </a:defRPr>
            </a:pPr>
            <a:r>
              <a:t>Door intrusion - how far does the door move inward?</a:t>
            </a:r>
          </a:p>
          <a:p>
            <a:pPr>
              <a:spcAft>
                <a:spcPts val="600"/>
              </a:spcAft>
              <a:defRPr sz="1800">
                <a:solidFill>
                  <a:srgbClr val="333333"/>
                </a:solidFill>
              </a:defRPr>
            </a:pPr>
            <a:r>
              <a:t>Side airbag deployment effectiveness</a:t>
            </a:r>
          </a:p>
          <a:p>
            <a:pPr>
              <a:spcAft>
                <a:spcPts val="600"/>
              </a:spcAft>
              <a:defRPr sz="1800">
                <a:solidFill>
                  <a:srgbClr val="333333"/>
                </a:solidFill>
              </a:defRPr>
            </a:pPr>
            <a:r>
              <a:t>Torso and pelvis protection - are chest and pelvis loads within safe limits?</a:t>
            </a:r>
          </a:p>
          <a:p>
            <a:pPr>
              <a:spcAft>
                <a:spcPts val="600"/>
              </a:spcAft>
              <a:defRPr sz="1800">
                <a:solidFill>
                  <a:srgbClr val="333333"/>
                </a:solidFill>
              </a:defRPr>
            </a:pPr>
            <a:r>
              <a:t>Head protection - does the curtain airbag prevent head contact with the intruding door or B-pillar?</a:t>
            </a:r>
          </a:p>
          <a:p>
            <a:pPr>
              <a:spcAft>
                <a:spcPts val="1000"/>
              </a:spcAft>
              <a:defRPr sz="1800">
                <a:solidFill>
                  <a:srgbClr val="333333"/>
                </a:solidFill>
              </a:defRPr>
            </a:pPr>
            <a:r>
              <a:t>The pole test is even more severe. The vehicle is pushed sideways at 32 km/h into a rigid pole positioned at the driver's door. This simulates sliding into a tree or pole. Because the pole is narrow, it concentrates forces on a small area - much higher intrusion risk. This test especially evaluates curtain airbag and door beam performance.</a:t>
            </a:r>
          </a:p>
          <a:p>
            <a:pPr>
              <a:spcAft>
                <a:spcPts val="1000"/>
              </a:spcAft>
              <a:defRPr sz="1800">
                <a:solidFill>
                  <a:srgbClr val="333333"/>
                </a:solidFill>
              </a:defRPr>
            </a:pPr>
            <a:r>
              <a:t>There's also the rollover resistance test, though this isn't a full rollover crash. Instead, NHTSA uses a calculation-based test: they measure the vehicle's center of gravity height and track width to determine rollover propensity - the Static Stability Factor. Vehicles with high centers of gravity (SUVs) score lower. Some programs also test roof strength - the roof must withstand a load of 3-4 times the vehicle's weight without excessive crush.</a:t>
            </a:r>
          </a:p>
          <a:p>
            <a:pPr>
              <a:spcAft>
                <a:spcPts val="1000"/>
              </a:spcAft>
              <a:defRPr sz="1800">
                <a:solidFill>
                  <a:srgbClr val="333333"/>
                </a:solidFill>
              </a:defRPr>
            </a:pPr>
            <a:r>
              <a:t>Finally, there are whiplash tests for rear impacts, and pedestrian protection tests we already discussed. Each test contributes to the overall safety rating.</a:t>
            </a:r>
          </a:p>
          <a:p>
            <a:pPr>
              <a:spcAft>
                <a:spcPts val="1000"/>
              </a:spcAft>
              <a:defRPr sz="1800">
                <a:solidFill>
                  <a:srgbClr val="333333"/>
                </a:solidFill>
              </a:defRPr>
            </a:pPr>
            <a:r>
              <a:t>PPT Content:</a:t>
            </a:r>
          </a:p>
          <a:p>
            <a:pPr>
              <a:defRPr sz="1400">
                <a:solidFill>
                  <a:srgbClr val="787878"/>
                </a:solidFill>
                <a:latin typeface="Consolas"/>
              </a:defRPr>
            </a:pPr>
            <a:r>
              <a:t>SIDE IMPACT &amp; OTHER CRASH TESTS</a:t>
            </a:r>
            <a:br/>
            <a:br/>
            <a:r>
              <a:t>1. SIDE MOBILE BARRIER TEST (Euro NCAP, NHTSA):</a:t>
            </a:r>
            <a:br/>
            <a:br/>
            <a:r>
              <a:t>Setup:</a:t>
            </a:r>
            <a:br/>
            <a:r>
              <a:t>• Moving Deformable Barrier (MDB): Cart with honeycomb face, mass 950 kg</a:t>
            </a:r>
            <a:br/>
            <a:r>
              <a:t>• Barrier impacts side of stationary vehicle</a:t>
            </a:r>
            <a:br/>
            <a:r>
              <a:t>• Speed: 60 km/h (Euro NCAP), 62 km/h (NHTSA)</a:t>
            </a:r>
            <a:br/>
            <a:r>
              <a:t>• Impact point: Driver's door and B-pillar (represents vehicle-to-vehicle crash)</a:t>
            </a:r>
            <a:br/>
            <a:r>
              <a:t>• Barrier height: Aligned to simulate sedan hitting sedan</a:t>
            </a:r>
            <a:br/>
            <a:br/>
            <a:r>
              <a:t>Dummies:</a:t>
            </a:r>
            <a:br/>
            <a:r>
              <a:t>• Driver seat: 50th percentile male (impact side - critical measurements)</a:t>
            </a:r>
            <a:br/>
            <a:r>
              <a:t>• Passenger seat: 50th percentile male (non-impact side - lesser concern)</a:t>
            </a:r>
            <a:br/>
            <a:r>
              <a:t>• Rear seat (Euro NCAP): Child dummies (6-year, 10-year in child seats)</a:t>
            </a:r>
            <a:br/>
            <a:br/>
            <a:r>
              <a:t>Evaluated:</a:t>
            </a:r>
            <a:br/>
            <a:r>
              <a:t>• Door intrusion: Distance door panel moves inward</a:t>
            </a:r>
            <a:br/>
            <a:r>
              <a:t>  - Target: &lt;20 cm severe intrusion, &lt;30 cm maximum</a:t>
            </a:r>
            <a:br/>
            <a:r>
              <a:t>• B-pillar intrusion: Lateral movement of B-pillar into cabin</a:t>
            </a:r>
            <a:br/>
            <a:r>
              <a:t>  - Target: &lt;15 cm</a:t>
            </a:r>
            <a:br/>
            <a:r>
              <a:t>• Side airbag deployment: Timing and positioning</a:t>
            </a:r>
            <a:br/>
            <a:r>
              <a:t>• Curtain airbag deployment: Head protection</a:t>
            </a:r>
            <a:br/>
            <a:r>
              <a:t>• Dummy injury metrics:</a:t>
            </a:r>
            <a:br/>
            <a:r>
              <a:t>  - Head: Contact with door/pillar (should be prevented by curtain airbag)</a:t>
            </a:r>
            <a:br/>
            <a:r>
              <a:t>  - Chest: Rib deflection from door intrusion (should be limited by torso airbag)</a:t>
            </a:r>
            <a:br/>
            <a:r>
              <a:t>  - Abdomen: Compression from door beam or sill intrusion</a:t>
            </a:r>
            <a:br/>
            <a:r>
              <a:t>  - Pelvis: Pelvic loading (pelvis airbag effectiveness)</a:t>
            </a:r>
            <a:br/>
            <a:br/>
            <a:r>
              <a:t>Critical Injuries in Side Impact:</a:t>
            </a:r>
            <a:br/>
            <a:r>
              <a:t>• Chest: Highest injury risk (direct door contact → rib fractures, organ damage)</a:t>
            </a:r>
            <a:br/>
            <a:r>
              <a:t>• Head: Second highest (B-pillar contact → severe head injury)</a:t>
            </a:r>
            <a:br/>
            <a:r>
              <a:t>• Abdomen and pelvis: Moderate risk</a:t>
            </a:r>
            <a:br/>
            <a:br/>
            <a:r>
              <a:t>2. SIDE POLE TEST (Euro NCAP, IIHS):</a:t>
            </a:r>
            <a:br/>
            <a:br/>
            <a:r>
              <a:t>Setup:</a:t>
            </a:r>
            <a:br/>
            <a:r>
              <a:t>• Rigid pole (diameter: 25.4 cm, represents tree or utility pole)</a:t>
            </a:r>
            <a:br/>
            <a:r>
              <a:t>• Vehicle pushed sideways into pole at 32 km/h (20 mph)</a:t>
            </a:r>
            <a:br/>
            <a:r>
              <a:t>• Impact point: Driver's door, aligned with driver's torso/head</a:t>
            </a:r>
            <a:br/>
            <a:r>
              <a:t>• Vehicle slides laterally (simulates loss of control, sliding off road)</a:t>
            </a:r>
            <a:br/>
            <a:br/>
            <a:r>
              <a:t>Purpose:</a:t>
            </a:r>
            <a:br/>
            <a:r>
              <a:t>• More severe than barrier test (narrow pole → concentrated forces)</a:t>
            </a:r>
            <a:br/>
            <a:r>
              <a:t>• Tests door beam and B-pillar strength</a:t>
            </a:r>
            <a:br/>
            <a:r>
              <a:t>• Tests curtain airbag effectiveness (critical for head protection)</a:t>
            </a:r>
            <a:br/>
            <a:br/>
            <a:r>
              <a:t>Dummies:</a:t>
            </a:r>
            <a:br/>
            <a:r>
              <a:t>• Driver seat only: 50th percentile male or World SID dummy</a:t>
            </a:r>
            <a:br/>
            <a:br/>
            <a:r>
              <a:t>Evaluated:</a:t>
            </a:r>
            <a:br/>
            <a:r>
              <a:t>• Head protection: HIC, head contact with pole (through door)</a:t>
            </a:r>
            <a:br/>
            <a:r>
              <a:t>  - Curtain airbag must prevent/cushion contact</a:t>
            </a:r>
            <a:br/>
            <a:r>
              <a:t>• Chest and abdomen: Loading from pole intrusion through door</a:t>
            </a:r>
            <a:br/>
            <a:r>
              <a:t>• Door intrusion: Extreme (pole penetrates door significantly)</a:t>
            </a:r>
            <a:br/>
            <a:br/>
            <a:r>
              <a:t>Rating:</a:t>
            </a:r>
            <a:br/>
            <a:r>
              <a:t>Pole test is very challenging - many vehicles show higher injury risk than barrier test</a:t>
            </a:r>
            <a:br/>
            <a:r>
              <a:t>Curtain airbag is essential for acceptable rating</a:t>
            </a:r>
            <a:br/>
            <a:br/>
            <a:r>
              <a:t>3. FAR-SIDE IMPACT (Euro NCAP - Newer):</a:t>
            </a:r>
            <a:br/>
            <a:br/>
            <a:r>
              <a:t>Setup:</a:t>
            </a:r>
            <a:br/>
            <a:r>
              <a:t>• Mobile barrier strikes passenger side (right side in LHD vehicles)</a:t>
            </a:r>
            <a:br/>
            <a:r>
              <a:t>• Evaluates driver protection (driver is on far side, away from impact)</a:t>
            </a:r>
            <a:br/>
            <a:r>
              <a:t>• Driver thrown laterally toward passenger (unrestrained lateral motion)</a:t>
            </a:r>
            <a:br/>
            <a:br/>
            <a:r>
              <a:t>Evaluated:</a:t>
            </a:r>
            <a:br/>
            <a:r>
              <a:t>• Driver head: Does driver contact passenger or center console?</a:t>
            </a:r>
            <a:br/>
            <a:r>
              <a:t>• Center airbag: Does it deploy and prevent driver-passenger contact?</a:t>
            </a:r>
            <a:br/>
            <a:r>
              <a:t>• Lateral restraint: Seatbelt and seat effectiveness in lateral loading</a:t>
            </a:r>
            <a:br/>
            <a:br/>
            <a:r>
              <a:t>Purpose:</a:t>
            </a:r>
            <a:br/>
            <a:r>
              <a:t>• Far-side crashes often neglected (no airbag on that side historically)</a:t>
            </a:r>
            <a:br/>
            <a:r>
              <a:t>• Center airbag needed for good rating</a:t>
            </a:r>
            <a:br/>
            <a:br/>
            <a:r>
              <a:t>4. ROLLOVER RESISTANCE (NHTSA):</a:t>
            </a:r>
            <a:br/>
            <a:br/>
            <a:r>
              <a:t>Test Method: Calculation-Based (Static Stability Factor)</a:t>
            </a:r>
            <a:br/>
            <a:r>
              <a:t>SSF = Track Width / (2 × Center of Gravity Height)</a:t>
            </a:r>
            <a:br/>
            <a:br/>
            <a:r>
              <a:t>Higher SSF: More stable, lower rollover risk</a:t>
            </a:r>
            <a:br/>
            <a:r>
              <a:t>• SSF &gt; 1.45: Low rollover risk (5-star)</a:t>
            </a:r>
            <a:br/>
            <a:r>
              <a:t>• SSF 1.20-1.45: Moderate rollover risk (3-4 star)</a:t>
            </a:r>
            <a:br/>
            <a:r>
              <a:t>• SSF &lt; 1.20: High rollover risk (1-2 star)</a:t>
            </a:r>
            <a:br/>
            <a:br/>
            <a:r>
              <a:t>Typical Values:</a:t>
            </a:r>
            <a:br/>
            <a:r>
              <a:t>• Sedan (low CG, wide track): SSF ~1.4-1.5 → 5 stars</a:t>
            </a:r>
            <a:br/>
            <a:r>
              <a:t>• SUV (high CG, narrower track): SSF ~1.1-1.3 → 2-4 stars</a:t>
            </a:r>
            <a:br/>
            <a:br/>
            <a:r>
              <a:t>Note: ESC (Electronic Stability Control) dramatically reduces real-world rollover risk</a:t>
            </a:r>
            <a:br/>
            <a:r>
              <a:t>→ NHTSA gives bonus points for ESC</a:t>
            </a:r>
            <a:br/>
            <a:br/>
            <a:r>
              <a:t>5. ROOF STRENGTH TEST (NHTSA, IIHS):</a:t>
            </a:r>
            <a:br/>
            <a:br/>
            <a:r>
              <a:t>Purpose: Ensure roof can withstand rollover without crushing cabin</a:t>
            </a:r>
            <a:br/>
            <a:br/>
            <a:r>
              <a:t>Setup:</a:t>
            </a:r>
            <a:br/>
            <a:r>
              <a:t>• Stationary vehicle, tilted 25° (simulating rollover orientation)</a:t>
            </a:r>
            <a:br/>
            <a:r>
              <a:t>• Rigid plate (25 cm × 65 cm) presses down on roof edge (above A-pillar or B-pillar)</a:t>
            </a:r>
            <a:br/>
            <a:r>
              <a:t>• Force applied until roof crushes 12.7 cm (5 inches) or maximum force reached</a:t>
            </a:r>
            <a:br/>
            <a:br/>
            <a:r>
              <a:t>Requirement:</a:t>
            </a:r>
            <a:br/>
            <a:r>
              <a:t>• Roof must withstand force ≥ 3 × vehicle weight before 12.7 cm crush</a:t>
            </a:r>
            <a:br/>
            <a:r>
              <a:t>• IIHS higher standard: ≥ 4 × vehicle weight (for "Good" rating)</a:t>
            </a:r>
            <a:br/>
            <a:br/>
            <a:r>
              <a:t>Example:</a:t>
            </a:r>
            <a:br/>
            <a:r>
              <a:t>Vehicle weight: 1,500 kg</a:t>
            </a:r>
            <a:br/>
            <a:r>
              <a:t>Required roof strength: 1,500 × 3 × 9.81 = 44,145 N ≈ 44 kN</a:t>
            </a:r>
            <a:br/>
            <a:r>
              <a:t>IIHS "Good": &gt;59 kN</a:t>
            </a:r>
            <a:br/>
            <a:br/>
            <a:r>
              <a:t>Evaluated:</a:t>
            </a:r>
            <a:br/>
            <a:r>
              <a:t>• Peak force before failure</a:t>
            </a:r>
            <a:br/>
            <a:r>
              <a:t>• Roof intrusion into headroom (survival space)</a:t>
            </a:r>
            <a:br/>
            <a:br/>
            <a:r>
              <a:t>Effectiveness:</a:t>
            </a:r>
            <a:br/>
            <a:r>
              <a:t>Strong roof → Reduces rollover fatality risk by 40-50% (maintains cabin integrity)</a:t>
            </a:r>
            <a:br/>
            <a:br/>
            <a:r>
              <a:t>6. WHIPLASH PROTECTION (Euro NCAP):</a:t>
            </a:r>
            <a:br/>
            <a:br/>
            <a:r>
              <a:t>Test: Rear Impact Sled Test</a:t>
            </a:r>
            <a:br/>
            <a:br/>
            <a:r>
              <a:t>Setup:</a:t>
            </a:r>
            <a:br/>
            <a:r>
              <a:t>• Seat mounted on sled (simulates vehicle)</a:t>
            </a:r>
            <a:br/>
            <a:r>
              <a:t>• Sled accelerates rearward at 16-24 km/h delta-v (simulates rear-end collision)</a:t>
            </a:r>
            <a:br/>
            <a:r>
              <a:t>• BioRID dummy (specialized rear impact dummy with detailed neck sensors)</a:t>
            </a:r>
            <a:br/>
            <a:br/>
            <a:r>
              <a:t>Evaluated:</a:t>
            </a:r>
            <a:br/>
            <a:r>
              <a:t>• Head restraint geometry: Distance from head to restraint (closer is better, &lt;5 cm optimal)</a:t>
            </a:r>
            <a:br/>
            <a:r>
              <a:t>• Head restraint height: Should align with center of head</a:t>
            </a:r>
            <a:br/>
            <a:r>
              <a:t>• Neck loading: Extension, shear, tension</a:t>
            </a:r>
            <a:br/>
            <a:r>
              <a:t>• Torso motion: Seat deformation and rebound</a:t>
            </a:r>
            <a:br/>
            <a:br/>
            <a:r>
              <a:t>Rating:</a:t>
            </a:r>
            <a:br/>
            <a:r>
              <a:t>• Good: Head restraint close, well-aligned, low neck loads</a:t>
            </a:r>
            <a:br/>
            <a:r>
              <a:t>• Poor: Head restraint far back or low, high neck extension (whiplash risk)</a:t>
            </a:r>
            <a:br/>
            <a:br/>
            <a:r>
              <a:t>Whiplash Injury:</a:t>
            </a:r>
            <a:br/>
            <a:r>
              <a:t>• Most common injury in low-speed rear crashes (&lt;25 km/h)</a:t>
            </a:r>
            <a:br/>
            <a:r>
              <a:t>• Neck hyperextension (head whips backward)</a:t>
            </a:r>
            <a:br/>
            <a:r>
              <a:t>• Not life-threatening, but causes chronic pain, disability</a:t>
            </a:r>
            <a:br/>
            <a:r>
              <a:t>• Proper head restraint reduces whiplash risk by 30-40%</a:t>
            </a:r>
            <a:br/>
            <a:br/>
            <a:r>
              <a:t>7. PEDESTRIAN PROTECTION TEST (Euro NCAP):</a:t>
            </a:r>
            <a:br/>
            <a:br/>
            <a:r>
              <a:t>Tests:</a:t>
            </a:r>
            <a:br/>
            <a:r>
              <a:t>A) Head Impact:</a:t>
            </a:r>
            <a:br/>
            <a:r>
              <a:t>• Adult headform (mass 4.5 kg) fired at 40 km/h at hood surface and windshield base</a:t>
            </a:r>
            <a:br/>
            <a:r>
              <a:t>• Child headform (smaller, 3.5 kg) fired at 35 km/h at hood</a:t>
            </a:r>
            <a:br/>
            <a:r>
              <a:t>• Measure HIC (must be &lt;1000, ideally &lt;650)</a:t>
            </a:r>
            <a:br/>
            <a:r>
              <a:t>• Tests multiple impact points across hood</a:t>
            </a:r>
            <a:br/>
            <a:br/>
            <a:r>
              <a:t>B) Leg Impact:</a:t>
            </a:r>
            <a:br/>
            <a:r>
              <a:t>• Legform impactor (simulates pedestrian leg) fired at bumper at 40 km/h</a:t>
            </a:r>
            <a:br/>
            <a:r>
              <a:t>• Measure knee and tibia bending moments, ligament forces</a:t>
            </a:r>
            <a:br/>
            <a:r>
              <a:t>• Bumper should absorb energy, prevent leg fracture</a:t>
            </a:r>
            <a:br/>
            <a:br/>
            <a:r>
              <a:t>Evaluated:</a:t>
            </a:r>
            <a:br/>
            <a:r>
              <a:t>• Hood deformation: Does hood absorb energy (soft impact) or bottom out on engine (hard impact)?</a:t>
            </a:r>
            <a:br/>
            <a:r>
              <a:t>• Active hood lift: Does it deploy and increase clearance?</a:t>
            </a:r>
            <a:br/>
            <a:r>
              <a:t>• External airbag: Cushion for windshield base impact</a:t>
            </a:r>
            <a:br/>
            <a:r>
              <a:t>• Bumper design: Energy absorption</a:t>
            </a:r>
            <a:br/>
            <a:br/>
            <a:r>
              <a:t>Rating Impact:</a:t>
            </a:r>
            <a:br/>
            <a:r>
              <a:t>Pedestrian protection is 20% of overall Euro NCAP rating</a:t>
            </a:r>
            <a:br/>
            <a:r>
              <a:t>Poor pedestrian rating → Can drop from 5-star to 4-star overall</a:t>
            </a:r>
            <a:br/>
            <a:br/>
            <a:r>
              <a:t>OVERALL SAFETY RATING CALCULATION (Euro NCAP Example):</a:t>
            </a:r>
            <a:br/>
            <a:br/>
            <a:r>
              <a:t>Four Categories:</a:t>
            </a:r>
            <a:br/>
            <a:r>
              <a:t>1. Adult Occupant Protection (40%):</a:t>
            </a:r>
            <a:br/>
            <a:r>
              <a:t>   - Frontal crash: 40% of category</a:t>
            </a:r>
            <a:br/>
            <a:r>
              <a:t>   - Side crash: 40% of category</a:t>
            </a:r>
            <a:br/>
            <a:r>
              <a:t>   - Pole test: 20% of category</a:t>
            </a:r>
            <a:br/>
            <a:br/>
            <a:r>
              <a:t>2. Child Occupant Protection (20%):</a:t>
            </a:r>
            <a:br/>
            <a:r>
              <a:t>   - Child dummy injuries in frontal and side crashes</a:t>
            </a:r>
            <a:br/>
            <a:r>
              <a:t>   - Child seat installation ease</a:t>
            </a:r>
            <a:br/>
            <a:br/>
            <a:r>
              <a:t>3. Vulnerable Road Users - Pedestrian Protection (20%):</a:t>
            </a:r>
            <a:br/>
            <a:r>
              <a:t>   - Hood impact tests</a:t>
            </a:r>
            <a:br/>
            <a:r>
              <a:t>   - Bumper impact tests</a:t>
            </a:r>
            <a:br/>
            <a:r>
              <a:t>   - Active hood lift bonus</a:t>
            </a:r>
            <a:br/>
            <a:br/>
            <a:r>
              <a:t>4. Safety Assist - Active Safety (20%):</a:t>
            </a:r>
            <a:br/>
            <a:r>
              <a:t>   - AEB (Automatic Emergency Braking): Major component</a:t>
            </a:r>
            <a:br/>
            <a:r>
              <a:t>   - Lane Keep Assist, Speed Assist, Seatbelt Reminders</a:t>
            </a:r>
            <a:br/>
            <a:r>
              <a:t>   - (Not passive safety, but affects overall rating)</a:t>
            </a:r>
            <a:br/>
            <a:br/>
            <a:r>
              <a:t>Final Star Rating:</a:t>
            </a:r>
            <a:br/>
            <a:r>
              <a:t>• 5 stars: &gt;80% overall + each category meets minimum threshold</a:t>
            </a:r>
            <a:br/>
            <a:r>
              <a:t>• 4 stars: 70-80%</a:t>
            </a:r>
            <a:br/>
            <a:r>
              <a:t>• 3 stars: 60-70%</a:t>
            </a:r>
            <a:br/>
            <a:r>
              <a:t>• 2 stars: 50-60%</a:t>
            </a:r>
            <a:br/>
            <a:r>
              <a:t>• 1 star: &lt;50%</a:t>
            </a:r>
            <a:br/>
            <a:br/>
            <a:r>
              <a:t>If ANY category scores very poorly (&lt;40%), vehicle cannot achieve 5 stars even if other categories are excellent</a:t>
            </a:r>
          </a:p>
          <a:p>
            <a:pPr>
              <a:spcAft>
                <a:spcPts val="1000"/>
              </a:spcAft>
              <a:defRPr sz="1800">
                <a:solidFill>
                  <a:srgbClr val="333333"/>
                </a:solidFill>
              </a:defRPr>
            </a:pPr>
            <a:r>
              <a:t>Outcomes Addressed: SO-6-18-6 (side impact tests, other crash test protocols, evaluation criteria)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Real-World Safety Performance &amp; Future Trends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All this crash testing and passive safety technology has had a dramatic real-world impact. In developed markets, traffic fatalities per vehicle-kilometer traveled have dropped by 70-80% since the 1970s, largely due to seatbelts, airbags, and improved vehicle structures.</a:t>
            </a:r>
          </a:p>
          <a:p>
            <a:pPr>
              <a:spcAft>
                <a:spcPts val="1000"/>
              </a:spcAft>
              <a:defRPr sz="1800">
                <a:solidFill>
                  <a:srgbClr val="333333"/>
                </a:solidFill>
              </a:defRPr>
            </a:pPr>
            <a:r>
              <a:t>The data shows that modern 5-star rated vehicles have occupant fatality rates 3-4 times lower than older vehicles without modern passive safety systems. The technologies we've studied today - crumple zones, seatbelts, airbags, crash structures - have saved hundreds of thousands of lives globally over the past decades.</a:t>
            </a:r>
          </a:p>
          <a:p>
            <a:pPr>
              <a:spcAft>
                <a:spcPts val="1000"/>
              </a:spcAft>
              <a:defRPr sz="1800">
                <a:solidFill>
                  <a:srgbClr val="333333"/>
                </a:solidFill>
              </a:defRPr>
            </a:pPr>
            <a:r>
              <a:t>Looking forward, passive safety continues to evolve. We're seeing more sophisticated airbag systems - far-side airbags, rear-seat airbags, even external airbags for pedestrians. Sensor technology is improving with pressure sensors augmenting accelerometers for earlier crash detection.</a:t>
            </a:r>
          </a:p>
          <a:p>
            <a:pPr>
              <a:spcAft>
                <a:spcPts val="1000"/>
              </a:spcAft>
              <a:defRPr sz="1800">
                <a:solidFill>
                  <a:srgbClr val="333333"/>
                </a:solidFill>
              </a:defRPr>
            </a:pPr>
            <a:r>
              <a:t>There's also increasing focus on integration between passive and active safety. Modern vehicles use the same sensors for both airbag deployment and autonomous emergency braking. Pre-crash systems can prime the passive safety systems - tightening seatbelts, adjusting seats, and pre-positioning airbags before impact even occurs.</a:t>
            </a:r>
          </a:p>
          <a:p>
            <a:pPr>
              <a:spcAft>
                <a:spcPts val="1000"/>
              </a:spcAft>
              <a:defRPr sz="1800">
                <a:solidFill>
                  <a:srgbClr val="333333"/>
                </a:solidFill>
              </a:defRPr>
            </a:pPr>
            <a:r>
              <a:t>And as we move toward electric and autonomous vehicles, passive safety faces new challenges. EVs have battery packs that must be protected in crashes. Autonomous vehicles may have unconventional seating - passengers facing each other - requiring entirely new restraint concepts.</a:t>
            </a:r>
          </a:p>
          <a:p>
            <a:pPr>
              <a:spcAft>
                <a:spcPts val="1000"/>
              </a:spcAft>
              <a:defRPr sz="1800">
                <a:solidFill>
                  <a:srgbClr val="333333"/>
                </a:solidFill>
              </a:defRPr>
            </a:pPr>
            <a:r>
              <a:t>The ultimate goal is Vision Zero - zero traffic fatalities. While passive safety will always be needed as the last line of defense, the future is about preventing crashes entirely through active safety and autonomous driving. But even in that future, the passive safety principles we've studied today will remain foundational.</a:t>
            </a:r>
          </a:p>
          <a:p>
            <a:pPr>
              <a:spcAft>
                <a:spcPts val="1000"/>
              </a:spcAft>
              <a:defRPr sz="1800">
                <a:solidFill>
                  <a:srgbClr val="333333"/>
                </a:solidFill>
              </a:defRPr>
            </a:pPr>
            <a:r>
              <a:t>PPT Content:</a:t>
            </a:r>
          </a:p>
          <a:p>
            <a:pPr>
              <a:defRPr sz="1400">
                <a:solidFill>
                  <a:srgbClr val="787878"/>
                </a:solidFill>
                <a:latin typeface="Consolas"/>
              </a:defRPr>
            </a:pPr>
            <a:r>
              <a:t>REAL-WORLD SAFETY PERFORMANCE &amp; FUTURE TRENDS</a:t>
            </a:r>
            <a:br/>
            <a:br/>
            <a:r>
              <a:t>REAL-WORLD IMPACT:</a:t>
            </a:r>
            <a:br/>
            <a:br/>
            <a:r>
              <a:t>Traffic Fatality Reduction (Developed Markets):</a:t>
            </a:r>
            <a:br/>
            <a:r>
              <a:t>• 1970s: ~25-30 deaths per 100,000 population (US)</a:t>
            </a:r>
            <a:br/>
            <a:r>
              <a:t>• 2020s: ~11-13 deaths per 100,000 population (US)</a:t>
            </a:r>
            <a:br/>
            <a:r>
              <a:t>→ 50-60% reduction despite MORE vehicles and MORE driving</a:t>
            </a:r>
            <a:br/>
            <a:br/>
            <a:r>
              <a:t>Fatality Rate per Distance:</a:t>
            </a:r>
            <a:br/>
            <a:r>
              <a:t>• 1970s: ~3.5 deaths per 100 million vehicle-km (US)</a:t>
            </a:r>
            <a:br/>
            <a:r>
              <a:t>• 2020s: ~0.7 deaths per 100 million vehicle-km (US)</a:t>
            </a:r>
            <a:br/>
            <a:r>
              <a:t>→ 80% reduction!</a:t>
            </a:r>
            <a:br/>
            <a:br/>
            <a:r>
              <a:t>Factors Contributing:</a:t>
            </a:r>
            <a:br/>
            <a:r>
              <a:t>• Seatbelt adoption: ~50% of reduction (from 15% usage to 90%+ usage)</a:t>
            </a:r>
            <a:br/>
            <a:r>
              <a:t>• Airbags: ~20% of reduction</a:t>
            </a:r>
            <a:br/>
            <a:r>
              <a:t>• Improved structures (crumple zones, cage): ~15% of reduction</a:t>
            </a:r>
            <a:br/>
            <a:r>
              <a:t>• Active safety (ABS, ESC, recently AEB): ~15% of reduction</a:t>
            </a:r>
            <a:br/>
            <a:br/>
            <a:r>
              <a:t>Vehicle Age Comparison:</a:t>
            </a:r>
            <a:br/>
            <a:r>
              <a:t>Modern 5-star vehicle (2020+): Fatality rate baseline</a:t>
            </a:r>
            <a:br/>
            <a:r>
              <a:t>10-year-old vehicle (2010): ~1.5× higher fatality rate</a:t>
            </a:r>
            <a:br/>
            <a:r>
              <a:t>20-year-old vehicle (2000): ~3× higher fatality rate</a:t>
            </a:r>
            <a:br/>
            <a:r>
              <a:t>30-year-old vehicle (1990): ~5× higher fatality rate (no side airbags, older structure)</a:t>
            </a:r>
            <a:br/>
            <a:br/>
            <a:r>
              <a:t>→ Upgrading old vehicles to newer ones saves lives!</a:t>
            </a:r>
            <a:br/>
            <a:br/>
            <a:r>
              <a:t>Developing Markets Challenge:</a:t>
            </a:r>
            <a:br/>
            <a:r>
              <a:t>• India, Southeast Asia, Africa: Much higher fatality rates (~15-25 per 100,000)</a:t>
            </a:r>
            <a:br/>
            <a:r>
              <a:t>• Reasons: Lower seatbelt usage, older vehicles, less stringent standards</a:t>
            </a:r>
            <a:br/>
            <a:r>
              <a:t>• Bharat NCAP and similar programs aim to improve vehicle safety in these markets</a:t>
            </a:r>
            <a:br/>
            <a:br/>
            <a:r>
              <a:t>FUTURE PASSIVE SAFETY TRENDS:</a:t>
            </a:r>
            <a:br/>
            <a:br/>
            <a:r>
              <a:t>1. ADVANCED AIRBAG SYSTEMS:</a:t>
            </a:r>
            <a:br/>
            <a:r>
              <a:t>   • More airbags: 10-15 airbags becoming standard (even in mid-range cars)</a:t>
            </a:r>
            <a:br/>
            <a:r>
              <a:t>   • Far-side airbags: Now appearing in mainstream vehicles (VW, Honda, etc.)</a:t>
            </a:r>
            <a:br/>
            <a:r>
              <a:t>   • Rear seatbelt airbags: Expanding beyond luxury to mass market</a:t>
            </a:r>
            <a:br/>
            <a:r>
              <a:t>   • Adaptive airbags: Real-time adjustment based on occupant size, position, crash severity</a:t>
            </a:r>
            <a:br/>
            <a:br/>
            <a:r>
              <a:t>2. IMPROVED SENSORS:</a:t>
            </a:r>
            <a:br/>
            <a:r>
              <a:t>   • Pressure sensors: Faster side impact detection (already in some premium vehicles)</a:t>
            </a:r>
            <a:br/>
            <a:r>
              <a:t>   • Seat sensors: Better occupant classification (weight, posture, position)</a:t>
            </a:r>
            <a:br/>
            <a:r>
              <a:t>   • Multi-axis accelerometers: More precise crash type detection</a:t>
            </a:r>
            <a:br/>
            <a:r>
              <a:t>   • Camera-based occupant monitoring: Detect out-of-position occupants, adjust deployment</a:t>
            </a:r>
            <a:br/>
            <a:br/>
            <a:r>
              <a:t>3. PRE-CRASH PREPARATION:</a:t>
            </a:r>
            <a:br/>
            <a:r>
              <a:t>   Integration with active safety systems (ADAS):</a:t>
            </a:r>
            <a:br/>
            <a:r>
              <a:t>   • Pre-collision seatbelt tensioning: Tighten belts BEFORE crash (if AEB detects unavoidable collision)</a:t>
            </a:r>
            <a:br/>
            <a:r>
              <a:t>   • Seat repositioning: Move seat to optimal position for airbag deployment</a:t>
            </a:r>
            <a:br/>
            <a:r>
              <a:t>   • Headrest adjustment: Raise headrest for whiplash protection</a:t>
            </a:r>
            <a:br/>
            <a:r>
              <a:t>   • Window closing: Close windows (rollover protection, prevent ejection)</a:t>
            </a:r>
            <a:br/>
            <a:br/>
            <a:r>
              <a:t>   Timing: 0.5-1.5 seconds before impact (based on ADAS predictions)</a:t>
            </a:r>
            <a:br/>
            <a:r>
              <a:t>   Effectiveness: 10-15% additional injury reduction</a:t>
            </a:r>
            <a:br/>
            <a:br/>
            <a:r>
              <a:t>4. POST-CRASH TECHNOLOGIES:</a:t>
            </a:r>
            <a:br/>
            <a:r>
              <a:t>   • Automatic eCall: Now mandatory in EU, expanding globally</a:t>
            </a:r>
            <a:br/>
            <a:r>
              <a:t>   • Crash severity assessment: Vehicle reports crash severity to emergency services</a:t>
            </a:r>
            <a:br/>
            <a:r>
              <a:t>   • Remote diagnostics: Manufacturer can remotely assess vehicle damage post-crash</a:t>
            </a:r>
            <a:br/>
            <a:r>
              <a:t>   • Occupant status monitoring: Cameras detect if occupants are moving (triage priority)</a:t>
            </a:r>
            <a:br/>
            <a:br/>
            <a:r>
              <a:t>5. ELECTRIC VEHICLE SAFETY:</a:t>
            </a:r>
            <a:br/>
            <a:r>
              <a:t>   Challenges:</a:t>
            </a:r>
            <a:br/>
            <a:r>
              <a:t>   • Battery protection: High-voltage battery in crash must not rupture or ignite</a:t>
            </a:r>
            <a:br/>
            <a:r>
              <a:t>   • Battery weight: EVs are heavier (1,800-2,500 kg) → More crash energy</a:t>
            </a:r>
            <a:br/>
            <a:r>
              <a:t>   • Battery position: Floor-mounted battery changes crash dynamics</a:t>
            </a:r>
            <a:br/>
            <a:br/>
            <a:r>
              <a:t>   Solutions:</a:t>
            </a:r>
            <a:br/>
            <a:r>
              <a:t>   • Battery cage: Strong structure around battery pack (adds to overall rigidity)</a:t>
            </a:r>
            <a:br/>
            <a:r>
              <a:t>   • HV disconnect: Immediate high-voltage isolation (prevent electric shock/fire)</a:t>
            </a:r>
            <a:br/>
            <a:r>
              <a:t>   • Thermal management: Battery cooling post-crash (prevent thermal runaway)</a:t>
            </a:r>
            <a:br/>
            <a:r>
              <a:t>   • Structural advantage: Battery as part of floor structure → Stiffer chassis</a:t>
            </a:r>
            <a:br/>
            <a:br/>
            <a:r>
              <a:t>   EV Safety Ratings:</a:t>
            </a:r>
            <a:br/>
            <a:r>
              <a:t>   Many EVs achieve 5-star ratings (Tesla Model 3, VW ID.4, etc.)</a:t>
            </a:r>
            <a:br/>
            <a:r>
              <a:t>   Heavier weight helps in some crashes (more mass), but hurts pedestrian safety</a:t>
            </a:r>
            <a:br/>
            <a:br/>
            <a:r>
              <a:t>6. AUTONOMOUS VEHICLE SAFETY:</a:t>
            </a:r>
            <a:br/>
            <a:r>
              <a:t>   New Challenges:</a:t>
            </a:r>
            <a:br/>
            <a:r>
              <a:t>   • Unconventional seating: Passengers facing each other, no steering wheel</a:t>
            </a:r>
            <a:br/>
            <a:r>
              <a:t>   • Varied crash scenarios: Different orientation at impact (not always facing forward)</a:t>
            </a:r>
            <a:br/>
            <a:r>
              <a:t>   • Interior design: Flexible seating, movable components</a:t>
            </a:r>
            <a:br/>
            <a:br/>
            <a:r>
              <a:t>   New Solutions:</a:t>
            </a:r>
            <a:br/>
            <a:r>
              <a:t>   • Omnidirectional airbags: Deploy in any direction based on impact</a:t>
            </a:r>
            <a:br/>
            <a:r>
              <a:t>   • Seatbelts with higher adjustment range: Accommodate varied seating</a:t>
            </a:r>
            <a:br/>
            <a:r>
              <a:t>   • Interior padding: Soft surfaces throughout cabin (not just dashboard)</a:t>
            </a:r>
            <a:br/>
            <a:br/>
            <a:r>
              <a:t>   Safety Philosophy:</a:t>
            </a:r>
            <a:br/>
            <a:r>
              <a:t>   • Active safety PRIMARY: Autonomous vehicles should prevent crashes (ideally zero crashes)</a:t>
            </a:r>
            <a:br/>
            <a:r>
              <a:t>   • Passive safety BACKUP: If crash occurs (e.g., hit by human-driven vehicle), still protect occupants</a:t>
            </a:r>
            <a:br/>
            <a:br/>
            <a:r>
              <a:t>7. INTEGRATED SAFETY SYSTEMS:</a:t>
            </a:r>
            <a:br/>
            <a:r>
              <a:t>   Trend: Merge active and passive safety into unified system</a:t>
            </a:r>
            <a:br/>
            <a:r>
              <a:t>   • Single ECU: Combines airbag control + active safety control</a:t>
            </a:r>
            <a:br/>
            <a:r>
              <a:t>   • Shared sensors: Accelerometers, cameras used for both crash detection and ADAS</a:t>
            </a:r>
            <a:br/>
            <a:r>
              <a:t>   • Unified testing: NCAP ratings now include active safety (AEB, LKA, etc.)</a:t>
            </a:r>
            <a:br/>
            <a:br/>
            <a:r>
              <a:t>   Example: Pre-Crash Sequence</a:t>
            </a:r>
            <a:br/>
            <a:r>
              <a:t>   1. ADAS detects imminent crash (radar/camera)</a:t>
            </a:r>
            <a:br/>
            <a:r>
              <a:t>   2. AEB (Active Emergency Braking) applies max braking (reduce speed)</a:t>
            </a:r>
            <a:br/>
            <a:r>
              <a:t>   3. Pre-tensioning: Seatbelts tighten slightly (prepare occupants)</a:t>
            </a:r>
            <a:br/>
            <a:r>
              <a:t>   4. Crash occurs at reduced speed (30 km/h instead of 50 km/h)</a:t>
            </a:r>
            <a:br/>
            <a:r>
              <a:t>   5. ACU detects crash, deploys airbags (passive safety)</a:t>
            </a:r>
            <a:br/>
            <a:r>
              <a:t>   → Result: Injury severity dramatically reduced (active + passive working together)</a:t>
            </a:r>
            <a:br/>
            <a:br/>
            <a:r>
              <a:t>8. BIOMECHANICS RESEARCH:</a:t>
            </a:r>
            <a:br/>
            <a:r>
              <a:t>   • Human body models (HBM): Computer simulations of human response to crashes (replace some physical testing)</a:t>
            </a:r>
            <a:br/>
            <a:r>
              <a:t>   • Diverse population protection: Designing for wider range of body sizes, ages, genders</a:t>
            </a:r>
            <a:br/>
            <a:r>
              <a:t>     - Current dummies: Based on average adult male (50th percentile)</a:t>
            </a:r>
            <a:br/>
            <a:r>
              <a:t>     - Future: Specific protection for small females, elderly, obese, pregnant, children</a:t>
            </a:r>
            <a:br/>
            <a:r>
              <a:t>   • Injury tolerance research: Understanding exactly how much force different body parts can tolerate</a:t>
            </a:r>
            <a:br/>
            <a:br/>
            <a:r>
              <a:t>9. REGULATORY EVOLUTION:</a:t>
            </a:r>
            <a:br/>
            <a:r>
              <a:t>   • Stricter standards: Continuous tightening of crash test requirements</a:t>
            </a:r>
            <a:br/>
            <a:r>
              <a:t>   • Global harmonization: UN regulations aiming to standardize testing worldwide</a:t>
            </a:r>
            <a:br/>
            <a:r>
              <a:t>   • Mandatory active safety: AEB becoming mandatory in many markets (EU, US by 2029)</a:t>
            </a:r>
            <a:br/>
            <a:r>
              <a:t>   • Connected safety: Vehicles communicate crash warnings to other vehicles (V2V)</a:t>
            </a:r>
            <a:br/>
            <a:br/>
            <a:r>
              <a:t>VISION ZERO:</a:t>
            </a:r>
            <a:br/>
            <a:br/>
            <a:r>
              <a:t>Goal: Zero traffic fatalities (Sweden originated concept, adopted globally)</a:t>
            </a:r>
            <a:br/>
            <a:br/>
            <a:r>
              <a:t>Strategy:</a:t>
            </a:r>
            <a:br/>
            <a:r>
              <a:t>• Safer vehicles: Continue improving passive and active safety</a:t>
            </a:r>
            <a:br/>
            <a:r>
              <a:t>• Safer roads: Better infrastructure (barriers, roundabouts, pedestrian zones)</a:t>
            </a:r>
            <a:br/>
            <a:r>
              <a:t>• Safer speeds: Lower speed limits in urban areas (20-30 km/h zones)</a:t>
            </a:r>
            <a:br/>
            <a:r>
              <a:t>• Safer behavior: Education, enforcement (seatbelt laws, drunk driving laws)</a:t>
            </a:r>
            <a:br/>
            <a:r>
              <a:t>• Autonomous vehicles: Eliminate human error (90% of crashes due to human error)</a:t>
            </a:r>
            <a:br/>
            <a:br/>
            <a:r>
              <a:t>Progress:</a:t>
            </a:r>
            <a:br/>
            <a:r>
              <a:t>• Sweden: ~2-3 deaths per 100,000 population (world's lowest)</a:t>
            </a:r>
            <a:br/>
            <a:r>
              <a:t>• Vision Zero is aspirational but drives continuous improvement</a:t>
            </a:r>
            <a:br/>
            <a:br/>
            <a:r>
              <a:t>Passive Safety Role in Vision Zero:</a:t>
            </a:r>
            <a:br/>
            <a:r>
              <a:t>Even with perfect active safety, passive safety remains essential:</a:t>
            </a:r>
            <a:br/>
            <a:r>
              <a:t>• Non-preventable crashes: Mechanical failures, weather, unpredictable events</a:t>
            </a:r>
            <a:br/>
            <a:r>
              <a:t>• Mixed traffic: Human-driven vehicles will coexist with autonomous for decades</a:t>
            </a:r>
            <a:br/>
            <a:r>
              <a:t>• Last line of defense: Passive safety is the final protection layer</a:t>
            </a:r>
            <a:br/>
            <a:br/>
            <a:r>
              <a:t>THE FUTURE:</a:t>
            </a:r>
            <a:br/>
            <a:r>
              <a:t>Passive safety evolution: From preventing death → Preventing serious injury → Preventing ANY injury</a:t>
            </a:r>
            <a:br/>
            <a:r>
              <a:t>Next frontier: Crash-free mobility (autonomous + connected vehicles)</a:t>
            </a:r>
            <a:br/>
            <a:r>
              <a:t>But passive safety will always be needed as the ultimate safety net.</a:t>
            </a:r>
          </a:p>
          <a:p>
            <a:pPr>
              <a:spcAft>
                <a:spcPts val="1000"/>
              </a:spcAft>
              <a:defRPr sz="1800">
                <a:solidFill>
                  <a:srgbClr val="333333"/>
                </a:solidFill>
              </a:defRPr>
            </a:pPr>
            <a:r>
              <a:t>Outcomes Addressed: SO-6-18-6 (real-world safety performance), all SOs (integration and future context)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Session Summary - Passive Safety Systems Complete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Let's wrap up our comprehensive exploration of passive safety systems.</a:t>
            </a:r>
          </a:p>
          <a:p>
            <a:pPr>
              <a:spcAft>
                <a:spcPts val="1000"/>
              </a:spcAft>
              <a:defRPr sz="1800">
                <a:solidFill>
                  <a:srgbClr val="333333"/>
                </a:solidFill>
              </a:defRPr>
            </a:pPr>
            <a:r>
              <a:t>We started with crash physics - understanding that kinetic energy must be dissipated, and that crumple zones extend stopping distance to reduce forces to survivable levels. The two-part strategy of crumple zones plus rigid safety cage is the foundation of modern vehicle safety.</a:t>
            </a:r>
          </a:p>
          <a:p>
            <a:pPr>
              <a:spcAft>
                <a:spcPts val="1000"/>
              </a:spcAft>
              <a:defRPr sz="1800">
                <a:solidFill>
                  <a:srgbClr val="333333"/>
                </a:solidFill>
              </a:defRPr>
            </a:pPr>
            <a:r>
              <a:t>We dove deep into seatbelts - the most important safety device, reducing fatality risk by 45-50%. Modern seatbelts have pretensioners that fire in 10 milliseconds to eliminate slack, and load limiters that cap peak forces to protect the chest.</a:t>
            </a:r>
          </a:p>
          <a:p>
            <a:pPr>
              <a:spcAft>
                <a:spcPts val="1000"/>
              </a:spcAft>
              <a:defRPr sz="1800">
                <a:solidFill>
                  <a:srgbClr val="333333"/>
                </a:solidFill>
              </a:defRPr>
            </a:pPr>
            <a:r>
              <a:t>We explored airbags - supplemental restraints that cushion head and torso contact. Frontal airbags for driver and passenger, side airbags for torso protection, curtain airbags for head and rollover protection, and knee airbags to prevent submarining. Each deploys in 30-50 milliseconds using pyrotechnic gas generators.</a:t>
            </a:r>
          </a:p>
          <a:p>
            <a:pPr>
              <a:spcAft>
                <a:spcPts val="1000"/>
              </a:spcAft>
              <a:defRPr sz="1800">
                <a:solidFill>
                  <a:srgbClr val="333333"/>
                </a:solidFill>
              </a:defRPr>
            </a:pPr>
            <a:r>
              <a:t>We examined the brains of the system - the Airbag Control Unit and crash sensors. Accelerometers throughout the vehicle detect crashes in milliseconds. The ACU runs sophisticated algorithms to decide which airbags to deploy, adapting to crash type, severity, and occupant status.</a:t>
            </a:r>
          </a:p>
          <a:p>
            <a:pPr>
              <a:spcAft>
                <a:spcPts val="1000"/>
              </a:spcAft>
              <a:defRPr sz="1800">
                <a:solidFill>
                  <a:srgbClr val="333333"/>
                </a:solidFill>
              </a:defRPr>
            </a:pPr>
            <a:r>
              <a:t>We covered pedestrian protection - active hood lift and external airbags that deploy to protect people outside the vehicle.</a:t>
            </a:r>
          </a:p>
          <a:p>
            <a:pPr>
              <a:spcAft>
                <a:spcPts val="1000"/>
              </a:spcAft>
              <a:defRPr sz="1800">
                <a:solidFill>
                  <a:srgbClr val="333333"/>
                </a:solidFill>
              </a:defRPr>
            </a:pPr>
            <a:r>
              <a:t>And finally, we looked at how all of this is tested through rigorous crash testing protocols - NCAP programs that give us star ratings to guide vehicle choices.</a:t>
            </a:r>
          </a:p>
          <a:p>
            <a:pPr>
              <a:spcAft>
                <a:spcPts val="1000"/>
              </a:spcAft>
              <a:defRPr sz="1800">
                <a:solidFill>
                  <a:srgbClr val="333333"/>
                </a:solidFill>
              </a:defRPr>
            </a:pPr>
            <a:r>
              <a:t>The integration of all these systems - structures, seatbelts, airbags, sensors, and controls - represents one of the greatest achievements in automotive engineering. These systems, working together, have saved millions of lives.</a:t>
            </a:r>
          </a:p>
          <a:p>
            <a:pPr>
              <a:spcAft>
                <a:spcPts val="1000"/>
              </a:spcAft>
              <a:defRPr sz="1800">
                <a:solidFill>
                  <a:srgbClr val="333333"/>
                </a:solidFill>
              </a:defRPr>
            </a:pPr>
            <a:r>
              <a:t>In our next session, we'll shift from passive safety to active safety - the systems that help prevent crashes from happening in the first place, like Electronic Stability Control and Traction Control. See you then!</a:t>
            </a:r>
          </a:p>
          <a:p>
            <a:pPr>
              <a:spcAft>
                <a:spcPts val="1000"/>
              </a:spcAft>
              <a:defRPr sz="1800">
                <a:solidFill>
                  <a:srgbClr val="333333"/>
                </a:solidFill>
              </a:defRPr>
            </a:pPr>
            <a:r>
              <a:t>PPT Content:</a:t>
            </a:r>
          </a:p>
          <a:p>
            <a:pPr>
              <a:defRPr sz="1400">
                <a:solidFill>
                  <a:srgbClr val="787878"/>
                </a:solidFill>
                <a:latin typeface="Consolas"/>
              </a:defRPr>
            </a:pPr>
            <a:r>
              <a:t>SESSION 18 SUMMARY: PASSIVE SAFETY SYSTEMS COMPLETE</a:t>
            </a:r>
            <a:br/>
            <a:br/>
            <a:r>
              <a:t>✓ CRASH SAFETY PRINCIPLES (Part 1)</a:t>
            </a:r>
            <a:br/>
            <a:r>
              <a:t>  • Crash physics: KE = ½mv², deceleration = v²/(2s) → Extend stopping distance to reduce forces</a:t>
            </a:r>
            <a:br/>
            <a:r>
              <a:t>  • Crumple zones: Absorb energy through deformation (front/rear, 0.5-0.8 m crush distance)</a:t>
            </a:r>
            <a:br/>
            <a:r>
              <a:t>  • Safety cage: Rigid cabin structure (high-strength steel, minimal deformation)</a:t>
            </a:r>
            <a:br/>
            <a:r>
              <a:t>  • Load paths: Route crash forces AROUND occupants, not through them</a:t>
            </a:r>
            <a:br/>
            <a:r>
              <a:t>  • Crash types: Frontal, side, rear, rollover → Different protection strategies</a:t>
            </a:r>
            <a:br/>
            <a:br/>
            <a:r>
              <a:t>✓ SEATBELT SYSTEMS (Part 2)</a:t>
            </a:r>
            <a:br/>
            <a:r>
              <a:t>  • 3-point seatbelt: Lap + shoulder belt, 45-50% fatality reduction (most important safety device!)</a:t>
            </a:r>
            <a:br/>
            <a:r>
              <a:t>  • Retractor locking: Webbing-sensitive (emergency lock), vehicle-sensitive (rollover lock)</a:t>
            </a:r>
            <a:br/>
            <a:r>
              <a:t>  • Pretensioners: Pyrotechnic, fire in 10 ms, retract belt 10-15 cm (eliminate slack)</a:t>
            </a:r>
            <a:br/>
            <a:r>
              <a:t>  • Load limiters: Torsion bar, cap force at 4-5 kN (prevent chest injury)</a:t>
            </a:r>
            <a:br/>
            <a:r>
              <a:t>  • Effectiveness: &gt;95% survival in 50 km/h crashes (modern vehicles with belts + airbags)</a:t>
            </a:r>
            <a:br/>
            <a:br/>
            <a:r>
              <a:t>✓ AIRBAG SYSTEMS (Part 3)</a:t>
            </a:r>
            <a:br/>
            <a:r>
              <a:t>  • Purpose: Cushion head/torso contact, reduce peak deceleration from 100g → 30-40g</a:t>
            </a:r>
            <a:br/>
            <a:r>
              <a:t>  • Frontal airbags: Driver (60-70 L), Passenger (120-160 L), inflate in 30-40 ms</a:t>
            </a:r>
            <a:br/>
            <a:r>
              <a:t>  • Side airbags: Torso (10-15 L), pelvis (5-8 L), inflate in 10-15 ms (VERY fast!)</a:t>
            </a:r>
            <a:br/>
            <a:r>
              <a:t>  • Curtain airbags: Head protection (50-80 L), rollover (stay inflated 5-10 seconds)</a:t>
            </a:r>
            <a:br/>
            <a:r>
              <a:t>  • Knee airbags: Prevent submarining, lower leg protection</a:t>
            </a:r>
            <a:br/>
            <a:r>
              <a:t>  • Deployment chemistry: Sodium azide (NaN₃) → Nitrogen gas (N₂) + heat (500-800°C)</a:t>
            </a:r>
            <a:br/>
            <a:r>
              <a:t>  • Dual-stage: Low/high severity deployment, adaptive to crash</a:t>
            </a:r>
            <a:br/>
            <a:br/>
            <a:r>
              <a:t>✓ CONTROL SYSTEMS &amp; SENSORS (Part 4)</a:t>
            </a:r>
            <a:br/>
            <a:r>
              <a:t>  • Airbag Control Unit (ACU): Safety computer, crash detection in 5-10 ms, controls all deployments</a:t>
            </a:r>
            <a:br/>
            <a:r>
              <a:t>  • Accelerometers: MEMS sensors, ±100g range, 1-10 kHz sampling, detect deceleration in X/Y/Z axes</a:t>
            </a:r>
            <a:br/>
            <a:r>
              <a:t>  • Deployment algorithm: Delta-v calculation, pattern recognition, safing logic, occupant adaptation</a:t>
            </a:r>
            <a:br/>
            <a:r>
              <a:t>  • Crash sensor placement: Frontal (front bumper + central), side (door/pillar + central), rollover (gyro + Z-accel)</a:t>
            </a:r>
            <a:br/>
            <a:r>
              <a:t>  • Pedestrian protection: Hood lift (5-10 cm in 30-50 ms), external airbag (covers windshield base)</a:t>
            </a:r>
            <a:br/>
            <a:r>
              <a:t>  • Post-crash: Fuel pump shutoff, battery disconnect, door unlock, hazards, eCall</a:t>
            </a:r>
            <a:br/>
            <a:br/>
            <a:r>
              <a:t>✓ SAFETY TESTING &amp; STANDARDS (Part 5)</a:t>
            </a:r>
            <a:br/>
            <a:r>
              <a:t>  • NCAP programs: Euro NCAP, NHTSA, IIHS, Bharat NCAP → Independent crash testing, star ratings</a:t>
            </a:r>
            <a:br/>
            <a:r>
              <a:t>  • Crash test dummies: 50th %ile male, 5th %ile female, child sizes → 50-100 sensors per dummy</a:t>
            </a:r>
            <a:br/>
            <a:r>
              <a:t>  • Frontal tests: Full-width (50 km/h), offset (40%, 50 km/h), small overlap (25%, 64 km/h)</a:t>
            </a:r>
            <a:br/>
            <a:r>
              <a:t>  • Side tests: Mobile barrier (60 km/h), pole (32 km/h), far-side</a:t>
            </a:r>
            <a:br/>
            <a:r>
              <a:t>  • Other tests: Rollover (roof strength, 3-4× vehicle weight), whiplash, pedestrian</a:t>
            </a:r>
            <a:br/>
            <a:r>
              <a:t>  • Injury metrics: HIC (head), chest compression, femur load, neck injury criterion</a:t>
            </a:r>
            <a:br/>
            <a:r>
              <a:t>  • Rating: 1-5 stars (5 = best), based on adult, child, pedestrian, and safety assist scores</a:t>
            </a:r>
            <a:br/>
            <a:br/>
            <a:r>
              <a:t>KEY TAKEAWAYS:</a:t>
            </a:r>
            <a:br/>
            <a:br/>
            <a:r>
              <a:t>1. Passive safety is a SYSTEM:</a:t>
            </a:r>
            <a:br/>
            <a:r>
              <a:t>   Structure + Seatbelts + Airbags + Sensors + Control → All work together</a:t>
            </a:r>
            <a:br/>
            <a:r>
              <a:t>   Each component essential; removing one dramatically reduces protection</a:t>
            </a:r>
            <a:br/>
            <a:br/>
            <a:r>
              <a:t>2. Speed kills (exponentially):</a:t>
            </a:r>
            <a:br/>
            <a:r>
              <a:t>   Crash energy ∝ v² → Doubling speed = 4× energy</a:t>
            </a:r>
            <a:br/>
            <a:r>
              <a:t>   50 km/h crash: High survival with modern safety</a:t>
            </a:r>
            <a:br/>
            <a:r>
              <a:t>   100 km/h crash: Often fatal even with best systems</a:t>
            </a:r>
            <a:br/>
            <a:br/>
            <a:r>
              <a:t>3. Seatbelts are NON-NEGOTIABLE:</a:t>
            </a:r>
            <a:br/>
            <a:r>
              <a:t>   Airbags are SUPPLEMENTAL (designed for belted occupants)</a:t>
            </a:r>
            <a:br/>
            <a:r>
              <a:t>   Without belt: Airbag may cause injury, effectiveness reduced 50%+</a:t>
            </a:r>
            <a:br/>
            <a:r>
              <a:t>   ALWAYS buckle up, every trip, every occupant</a:t>
            </a:r>
            <a:br/>
            <a:br/>
            <a:r>
              <a:t>4. Modern vehicles are MUCH safer:</a:t>
            </a:r>
            <a:br/>
            <a:r>
              <a:t>   5-star vehicle (2020): 3-5× lower fatality risk than 1990s vehicle</a:t>
            </a:r>
            <a:br/>
            <a:r>
              <a:t>   Upgrading old car to new car: One of best safety decisions</a:t>
            </a:r>
            <a:br/>
            <a:br/>
            <a:r>
              <a:t>5. Real-world impact:</a:t>
            </a:r>
            <a:br/>
            <a:r>
              <a:t>   Passive safety systems: Saved millions of lives globally since 1970s</a:t>
            </a:r>
            <a:br/>
            <a:r>
              <a:t>   Traffic fatalities per km: Reduced 70-80% (developed markets)</a:t>
            </a:r>
            <a:br/>
            <a:br/>
            <a:r>
              <a:t>6. Future: Integration with active safety:</a:t>
            </a:r>
            <a:br/>
            <a:r>
              <a:t>   Pre-crash preparation (tighten belts before impact)</a:t>
            </a:r>
            <a:br/>
            <a:r>
              <a:t>   Active + Passive working together (AEB reduces speed, airbags deploy at lower severity)</a:t>
            </a:r>
            <a:br/>
            <a:r>
              <a:t>   Vision Zero: Goal of zero traffic fatalities (passive safety remains critical backup)</a:t>
            </a:r>
            <a:br/>
            <a:br/>
            <a:r>
              <a:t>CONNECTIONS TO OTHER SESSIONS:</a:t>
            </a:r>
            <a:br/>
            <a:br/>
            <a:r>
              <a:t>Session 1: Physics foundations (forces, acceleration, power) → Applied to crash deceleration</a:t>
            </a:r>
            <a:br/>
            <a:r>
              <a:t>Session 9: Vehicle dynamics, load transfer → Applied to crash load paths</a:t>
            </a:r>
            <a:br/>
            <a:r>
              <a:t>Session 13: Electrical architecture → Powers ACU, sensors, eCall system</a:t>
            </a:r>
            <a:br/>
            <a:r>
              <a:t>Session 14: ECUs and sensors → ACU is specialized safety ECU, accelerometers are key sensors</a:t>
            </a:r>
            <a:br/>
            <a:r>
              <a:t>Session 16: Chassis &amp; body structure → Crumple zones, safety cage, materials (UHSS, boron steel)</a:t>
            </a:r>
            <a:br/>
            <a:br/>
            <a:r>
              <a:t>NEXT SESSION:</a:t>
            </a:r>
            <a:br/>
            <a:r>
              <a:t>Session 19: Active Safety &amp; Vehicle Stability</a:t>
            </a:r>
            <a:br/>
            <a:r>
              <a:t>• Electronic Stability Control (ESC) - prevents crashes through yaw moment control</a:t>
            </a:r>
            <a:br/>
            <a:r>
              <a:t>• Traction Control System (TCS) - prevents wheel spin during acceleration</a:t>
            </a:r>
            <a:br/>
            <a:r>
              <a:t>• Integration of ABS, ESC, TCS - complete chassis control system</a:t>
            </a:r>
            <a:br/>
            <a:r>
              <a:t>• Understeer vs. oversteer - how ESC detects and corrects</a:t>
            </a:r>
            <a:br/>
            <a:r>
              <a:t>• Hill Start Assist, Hill Descent Control</a:t>
            </a:r>
            <a:br/>
            <a:br/>
            <a:r>
              <a:t>From PASSIVE (protect in crash) to ACTIVE (prevent crash) safety!</a:t>
            </a:r>
          </a:p>
          <a:p>
            <a:pPr>
              <a:spcAft>
                <a:spcPts val="1000"/>
              </a:spcAft>
              <a:defRPr sz="1800">
                <a:solidFill>
                  <a:srgbClr val="333333"/>
                </a:solidFill>
              </a:defRPr>
            </a:pPr>
            <a:r>
              <a:t>Outcomes Addressed: All SOs (complete session summary)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POST-SESSION ACTIVITIES &amp; ASSESSMENT ALIGNMENT</a:t>
            </a:r>
          </a:p>
        </p:txBody>
      </p:sp>
      <p:sp>
        <p:nvSpPr>
          <p:cNvPr id="3" name="Content Placeholder 2"/>
          <p:cNvSpPr>
            <a:spLocks noGrp="1"/>
          </p:cNvSpPr>
          <p:nvPr>
            <p:ph idx="1"/>
          </p:nvPr>
        </p:nvSpPr>
        <p:spPr/>
        <p:txBody>
          <a:bodyPr/>
          <a:lstStyle/>
          <a:p>
            <a:pPr>
              <a:defRPr sz="2400" b="1">
                <a:solidFill>
                  <a:srgbClr val="2E5090"/>
                </a:solidFill>
              </a:defRPr>
            </a:pPr>
            <a:r>
              <a:t>Connection to Next Session</a:t>
            </a:r>
          </a:p>
          <a:p>
            <a:pPr>
              <a:spcAft>
                <a:spcPts val="1000"/>
              </a:spcAft>
              <a:defRPr sz="1800">
                <a:solidFill>
                  <a:srgbClr val="333333"/>
                </a:solidFill>
              </a:defRPr>
            </a:pPr>
            <a:r>
              <a:t>| SO Code | Coverage | Verification Method |</a:t>
            </a:r>
          </a:p>
          <a:p>
            <a:pPr>
              <a:spcAft>
                <a:spcPts val="1000"/>
              </a:spcAft>
              <a:defRPr sz="1800">
                <a:solidFill>
                  <a:srgbClr val="333333"/>
                </a:solidFill>
              </a:defRPr>
            </a:pPr>
            <a:r>
              <a:t>|---------|----------|---------------------|</a:t>
            </a:r>
          </a:p>
          <a:p>
            <a:pPr>
              <a:spcAft>
                <a:spcPts val="1000"/>
              </a:spcAft>
              <a:defRPr sz="1800">
                <a:solidFill>
                  <a:srgbClr val="333333"/>
                </a:solidFill>
              </a:defRPr>
            </a:pPr>
            <a:r>
              <a:t>| SO-6-18-1 | Slides 2-6 | Explain crash physics, crumple zones, safety cage, load paths |</a:t>
            </a:r>
          </a:p>
          <a:p>
            <a:pPr>
              <a:spcAft>
                <a:spcPts val="1000"/>
              </a:spcAft>
              <a:defRPr sz="1800">
                <a:solidFill>
                  <a:srgbClr val="333333"/>
                </a:solidFill>
              </a:defRPr>
            </a:pPr>
            <a:r>
              <a:t>| SO-6-18-2 | Slides 7-13 | Describe seatbelt operation, pretensioners, load limiters, effectiveness |</a:t>
            </a:r>
          </a:p>
          <a:p>
            <a:pPr>
              <a:spcAft>
                <a:spcPts val="1000"/>
              </a:spcAft>
              <a:defRPr sz="1800">
                <a:solidFill>
                  <a:srgbClr val="333333"/>
                </a:solidFill>
              </a:defRPr>
            </a:pPr>
            <a:r>
              <a:t>| SO-6-18-3 | Slides 14-19 | Explain airbag systems (frontal, side, curtain, knee), deployment chemistry |</a:t>
            </a:r>
          </a:p>
          <a:p>
            <a:pPr>
              <a:spcAft>
                <a:spcPts val="1000"/>
              </a:spcAft>
              <a:defRPr sz="1800">
                <a:solidFill>
                  <a:srgbClr val="333333"/>
                </a:solidFill>
              </a:defRPr>
            </a:pPr>
            <a:r>
              <a:t>| SO-6-18-4 | Slides 20-25 | Describe ACU, crash sensors, deployment algorithms, pedestrian protection |</a:t>
            </a:r>
          </a:p>
          <a:p>
            <a:pPr>
              <a:spcAft>
                <a:spcPts val="1000"/>
              </a:spcAft>
              <a:defRPr sz="1800">
                <a:solidFill>
                  <a:srgbClr val="333333"/>
                </a:solidFill>
              </a:defRPr>
            </a:pPr>
            <a:r>
              <a:t>| SO-6-18-5 | Slide 23 | Explain pedestrian protection systems, hood lift, external airbags |</a:t>
            </a:r>
          </a:p>
          <a:p>
            <a:pPr>
              <a:spcAft>
                <a:spcPts val="1000"/>
              </a:spcAft>
              <a:defRPr sz="1800">
                <a:solidFill>
                  <a:srgbClr val="333333"/>
                </a:solidFill>
              </a:defRPr>
            </a:pPr>
            <a:r>
              <a:t>| SO-6-18-6 | Slides 26-29 | Describe NCAP testing, crash test protocols, evaluation criteria |</a:t>
            </a:r>
          </a:p>
          <a:p>
            <a:pPr>
              <a:spcAft>
                <a:spcPts val="1000"/>
              </a:spcAft>
              <a:defRPr sz="1800">
                <a:solidFill>
                  <a:srgbClr val="333333"/>
                </a:solidFill>
              </a:defRPr>
            </a:pPr>
            <a:r>
              <a:t>Expected Student Questions:</a:t>
            </a:r>
          </a:p>
          <a:p>
            <a:pPr>
              <a:spcAft>
                <a:spcPts val="600"/>
              </a:spcAft>
              <a:defRPr sz="1800">
                <a:solidFill>
                  <a:srgbClr val="333333"/>
                </a:solidFill>
              </a:defRPr>
            </a:pPr>
            <a:r>
              <a:t>"Can airbags deploy accidentally?" — Very rare. Requires electrical trigger + ACU algorithms to confirm crash. False deployment rate: &lt;1 in 100,000 vehicles</a:t>
            </a:r>
          </a:p>
          <a:p>
            <a:pPr>
              <a:spcAft>
                <a:spcPts val="600"/>
              </a:spcAft>
              <a:defRPr sz="1800">
                <a:solidFill>
                  <a:srgbClr val="333333"/>
                </a:solidFill>
              </a:defRPr>
            </a:pPr>
            <a:r>
              <a:t>"Why do I see airbag warning lights sometimes?" — Clock spring failure (steering wheel connector), seat sensor fault, or low battery voltage most common. Must be diagnosed.</a:t>
            </a:r>
          </a:p>
          <a:p>
            <a:pPr>
              <a:spcAft>
                <a:spcPts val="600"/>
              </a:spcAft>
              <a:defRPr sz="1800">
                <a:solidFill>
                  <a:srgbClr val="333333"/>
                </a:solidFill>
              </a:defRPr>
            </a:pPr>
            <a:r>
              <a:t>"Are airbags safe for short drivers or children?" — Short adults: Sit &gt;25 cm from steering wheel, use pedal extenders if needed. Children &lt;12 years: Always rear seat. Airbags designed for 5th percentile female and up.</a:t>
            </a:r>
          </a:p>
          <a:p>
            <a:pPr>
              <a:spcAft>
                <a:spcPts val="600"/>
              </a:spcAft>
              <a:defRPr sz="1800">
                <a:solidFill>
                  <a:srgbClr val="333333"/>
                </a:solidFill>
              </a:defRPr>
            </a:pPr>
            <a:r>
              <a:t>"How much does it cost to replace airbags after crash?" — Full system replacement: ₹1-3 lakhs. Often totals older vehicles. Insurance usually covers.</a:t>
            </a:r>
          </a:p>
          <a:p>
            <a:pPr>
              <a:spcAft>
                <a:spcPts val="600"/>
              </a:spcAft>
              <a:defRPr sz="1800">
                <a:solidFill>
                  <a:srgbClr val="333333"/>
                </a:solidFill>
              </a:defRPr>
            </a:pPr>
            <a:r>
              <a:t>"Can I sell a car with deployed airbags?" — Legal but must disclose. Value significantly reduced. Buyer should verify proper replacement.</a:t>
            </a:r>
          </a:p>
          <a:p>
            <a:pPr>
              <a:spcAft>
                <a:spcPts val="1000"/>
              </a:spcAft>
              <a:defRPr sz="1800">
                <a:solidFill>
                  <a:srgbClr val="333333"/>
                </a:solidFill>
              </a:defRPr>
            </a:pPr>
            <a:r>
              <a:t>Assignment 1: Crash Energy Calculation — Given: Vehicle mass, speeds (30, 50, 70, 100 km/h)</a:t>
            </a:r>
          </a:p>
          <a:p>
            <a:pPr>
              <a:spcAft>
                <a:spcPts val="600"/>
              </a:spcAft>
              <a:defRPr sz="1800">
                <a:solidFill>
                  <a:srgbClr val="333333"/>
                </a:solidFill>
              </a:defRPr>
            </a:pPr>
            <a:r>
              <a:t>Calculate: Kinetic energy at each speed, required crumple distance for 30g deceleration</a:t>
            </a:r>
          </a:p>
          <a:p>
            <a:pPr>
              <a:spcAft>
                <a:spcPts val="600"/>
              </a:spcAft>
              <a:defRPr sz="1800">
                <a:solidFill>
                  <a:srgbClr val="333333"/>
                </a:solidFill>
              </a:defRPr>
            </a:pPr>
            <a:r>
              <a:t>Reinforces: SO-6-18-1 (crash physics)</a:t>
            </a:r>
          </a:p>
          <a:p>
            <a:pPr>
              <a:spcAft>
                <a:spcPts val="1000"/>
              </a:spcAft>
              <a:defRPr sz="1800">
                <a:solidFill>
                  <a:srgbClr val="333333"/>
                </a:solidFill>
              </a:defRPr>
            </a:pPr>
            <a:r>
              <a:t>Assignment 2: Airbag Deployment Timeline — Given: 50 km/h frontal crash, component timing specifications</a:t>
            </a:r>
          </a:p>
          <a:p>
            <a:pPr>
              <a:spcAft>
                <a:spcPts val="600"/>
              </a:spcAft>
              <a:defRPr sz="1800">
                <a:solidFill>
                  <a:srgbClr val="333333"/>
                </a:solidFill>
              </a:defRPr>
            </a:pPr>
            <a:r>
              <a:t>Task: Create detailed timeline from impact to full deployment (0-100 ms)</a:t>
            </a:r>
          </a:p>
          <a:p>
            <a:pPr>
              <a:spcAft>
                <a:spcPts val="600"/>
              </a:spcAft>
              <a:defRPr sz="1800">
                <a:solidFill>
                  <a:srgbClr val="333333"/>
                </a:solidFill>
              </a:defRPr>
            </a:pPr>
            <a:r>
              <a:t>Reinforces: SO-6-18-3, SO-6-18-4 (airbag systems, ACU operation)</a:t>
            </a:r>
          </a:p>
          <a:p>
            <a:pPr>
              <a:spcAft>
                <a:spcPts val="1000"/>
              </a:spcAft>
              <a:defRPr sz="1800">
                <a:solidFill>
                  <a:srgbClr val="333333"/>
                </a:solidFill>
              </a:defRPr>
            </a:pPr>
            <a:r>
              <a:t>Assignment 3: NCAP Rating Analysis — Given: NCAP test results for 3 different vehicles</a:t>
            </a:r>
          </a:p>
          <a:p>
            <a:pPr>
              <a:spcAft>
                <a:spcPts val="600"/>
              </a:spcAft>
              <a:defRPr sz="1800">
                <a:solidFill>
                  <a:srgbClr val="333333"/>
                </a:solidFill>
              </a:defRPr>
            </a:pPr>
            <a:r>
              <a:t>Task: Compare ratings, identify strengths/weaknesses, recommend improvements</a:t>
            </a:r>
          </a:p>
          <a:p>
            <a:pPr>
              <a:spcAft>
                <a:spcPts val="600"/>
              </a:spcAft>
              <a:defRPr sz="1800">
                <a:solidFill>
                  <a:srgbClr val="333333"/>
                </a:solidFill>
              </a:defRPr>
            </a:pPr>
            <a:r>
              <a:t>Reinforces: SO-6-18-6 (safety testing standards)</a:t>
            </a:r>
          </a:p>
          <a:p>
            <a:pPr>
              <a:spcAft>
                <a:spcPts val="1000"/>
              </a:spcAft>
              <a:defRPr sz="1800">
                <a:solidFill>
                  <a:srgbClr val="333333"/>
                </a:solidFill>
              </a:defRPr>
            </a:pPr>
            <a:r>
              <a:t>Session 19 Preview:</a:t>
            </a:r>
          </a:p>
          <a:p>
            <a:pPr>
              <a:spcAft>
                <a:spcPts val="1000"/>
              </a:spcAft>
              <a:defRPr sz="1800">
                <a:solidFill>
                  <a:srgbClr val="333333"/>
                </a:solidFill>
              </a:defRPr>
            </a:pPr>
            <a:r>
              <a:t>In the next session, we move from passive safety - protecting you in a crash - to active safety - preventing the crash from happening in the first place. We'll explore Electronic Stability Control (ESC), which uses individual wheel braking to stabilize the vehicle during emergency maneuvers. We'll also cover Traction Control and see how ABS, ESC, and TCS integrate into a complete chassis control system. These are the systems that intervene in milliseconds to keep you out of trouble. See you then!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INSTRUCTOR NOTES</a:t>
            </a:r>
          </a:p>
        </p:txBody>
      </p:sp>
      <p:sp>
        <p:nvSpPr>
          <p:cNvPr id="3" name="Content Placeholder 2"/>
          <p:cNvSpPr>
            <a:spLocks noGrp="1"/>
          </p:cNvSpPr>
          <p:nvPr>
            <p:ph idx="1"/>
          </p:nvPr>
        </p:nvSpPr>
        <p:spPr/>
        <p:txBody>
          <a:bodyPr/>
          <a:lstStyle/>
          <a:p>
            <a:pPr>
              <a:defRPr sz="2400" b="1">
                <a:solidFill>
                  <a:srgbClr val="2E5090"/>
                </a:solidFill>
              </a:defRPr>
            </a:pPr>
            <a:r>
              <a:t>Safety Reminders</a:t>
            </a:r>
          </a:p>
          <a:p>
            <a:pPr>
              <a:spcAft>
                <a:spcPts val="600"/>
              </a:spcAft>
              <a:defRPr sz="1800">
                <a:solidFill>
                  <a:srgbClr val="333333"/>
                </a:solidFill>
              </a:defRPr>
            </a:pPr>
            <a:r>
              <a:t>30 min: Should be finishing Part 2 (Seatbelts)</a:t>
            </a:r>
          </a:p>
          <a:p>
            <a:pPr>
              <a:spcAft>
                <a:spcPts val="600"/>
              </a:spcAft>
              <a:defRPr sz="1800">
                <a:solidFill>
                  <a:srgbClr val="333333"/>
                </a:solidFill>
              </a:defRPr>
            </a:pPr>
            <a:r>
              <a:t>60 min: Should be finishing Part 3 (Airbag Systems)</a:t>
            </a:r>
          </a:p>
          <a:p>
            <a:pPr>
              <a:spcAft>
                <a:spcPts val="600"/>
              </a:spcAft>
              <a:defRPr sz="1800">
                <a:solidFill>
                  <a:srgbClr val="333333"/>
                </a:solidFill>
              </a:defRPr>
            </a:pPr>
            <a:r>
              <a:t>75 min: Should be finishing Part 4 (Control Systems)</a:t>
            </a:r>
          </a:p>
          <a:p>
            <a:pPr>
              <a:spcAft>
                <a:spcPts val="600"/>
              </a:spcAft>
              <a:defRPr sz="1800">
                <a:solidFill>
                  <a:srgbClr val="333333"/>
                </a:solidFill>
              </a:defRPr>
            </a:pPr>
            <a:r>
              <a:t>90 min: Finish Part 5 (Safety Testing)</a:t>
            </a:r>
          </a:p>
          <a:p>
            <a:pPr>
              <a:spcAft>
                <a:spcPts val="600"/>
              </a:spcAft>
              <a:defRPr sz="1800">
                <a:solidFill>
                  <a:srgbClr val="333333"/>
                </a:solidFill>
              </a:defRPr>
            </a:pPr>
            <a:r>
              <a:t>High energy: Parts 1, 2 (crash physics, seatbelts - critical foundation)</a:t>
            </a:r>
          </a:p>
          <a:p>
            <a:pPr>
              <a:spcAft>
                <a:spcPts val="600"/>
              </a:spcAft>
              <a:defRPr sz="1800">
                <a:solidFill>
                  <a:srgbClr val="333333"/>
                </a:solidFill>
              </a:defRPr>
            </a:pPr>
            <a:r>
              <a:t>Medium-high energy: Part 3 (airbags - visual, chemistry interesting)</a:t>
            </a:r>
          </a:p>
          <a:p>
            <a:pPr>
              <a:spcAft>
                <a:spcPts val="600"/>
              </a:spcAft>
              <a:defRPr sz="1800">
                <a:solidFill>
                  <a:srgbClr val="333333"/>
                </a:solidFill>
              </a:defRPr>
            </a:pPr>
            <a:r>
              <a:t>High energy: Part 4 (controls - integration point)</a:t>
            </a:r>
          </a:p>
          <a:p>
            <a:pPr>
              <a:spcAft>
                <a:spcPts val="600"/>
              </a:spcAft>
              <a:defRPr sz="1800">
                <a:solidFill>
                  <a:srgbClr val="333333"/>
                </a:solidFill>
              </a:defRPr>
            </a:pPr>
            <a:r>
              <a:t>Medium energy: Part 5 (testing - standards can be dry, use videos)</a:t>
            </a:r>
          </a:p>
          <a:p>
            <a:pPr>
              <a:spcAft>
                <a:spcPts val="600"/>
              </a:spcAft>
              <a:defRPr sz="1800">
                <a:solidFill>
                  <a:srgbClr val="333333"/>
                </a:solidFill>
              </a:defRPr>
            </a:pPr>
            <a:r>
              <a:t>Crash deceleration calculations: Review force = mass × acceleration</a:t>
            </a:r>
          </a:p>
          <a:p>
            <a:pPr>
              <a:spcAft>
                <a:spcPts val="600"/>
              </a:spcAft>
              <a:defRPr sz="1800">
                <a:solidFill>
                  <a:srgbClr val="333333"/>
                </a:solidFill>
              </a:defRPr>
            </a:pPr>
            <a:r>
              <a:t>Airbag deployment speed: Emphasize milliseconds - use slow-motion videos</a:t>
            </a:r>
          </a:p>
          <a:p>
            <a:pPr>
              <a:spcAft>
                <a:spcPts val="600"/>
              </a:spcAft>
              <a:defRPr sz="1800">
                <a:solidFill>
                  <a:srgbClr val="333333"/>
                </a:solidFill>
              </a:defRPr>
            </a:pPr>
            <a:r>
              <a:t>ACU algorithms: Don't get lost in details, focus on concept of pattern recognition</a:t>
            </a:r>
          </a:p>
          <a:p>
            <a:pPr>
              <a:spcAft>
                <a:spcPts val="600"/>
              </a:spcAft>
              <a:defRPr sz="1800">
                <a:solidFill>
                  <a:srgbClr val="333333"/>
                </a:solidFill>
              </a:defRPr>
            </a:pPr>
            <a:r>
              <a:t>Show deployed airbag (if available from salvage)</a:t>
            </a:r>
          </a:p>
          <a:p>
            <a:pPr>
              <a:spcAft>
                <a:spcPts val="600"/>
              </a:spcAft>
              <a:defRPr sz="1800">
                <a:solidFill>
                  <a:srgbClr val="333333"/>
                </a:solidFill>
              </a:defRPr>
            </a:pPr>
            <a:r>
              <a:t>Demonstrate seatbelt locking (pull belt rapidly in classroom)</a:t>
            </a:r>
          </a:p>
          <a:p>
            <a:pPr>
              <a:spcAft>
                <a:spcPts val="600"/>
              </a:spcAft>
              <a:defRPr sz="1800">
                <a:solidFill>
                  <a:srgbClr val="333333"/>
                </a:solidFill>
              </a:defRPr>
            </a:pPr>
            <a:r>
              <a:t>Show crash test videos (Euro NCAP publishes excellent high-speed footage)</a:t>
            </a:r>
          </a:p>
          <a:p>
            <a:pPr>
              <a:spcAft>
                <a:spcPts val="600"/>
              </a:spcAft>
              <a:defRPr sz="1800">
                <a:solidFill>
                  <a:srgbClr val="333333"/>
                </a:solidFill>
              </a:defRPr>
            </a:pPr>
            <a:r>
              <a:t>NEVER disassemble airbags — contain explosives</a:t>
            </a:r>
          </a:p>
          <a:p>
            <a:pPr>
              <a:spcAft>
                <a:spcPts val="600"/>
              </a:spcAft>
              <a:defRPr sz="1800">
                <a:solidFill>
                  <a:srgbClr val="333333"/>
                </a:solidFill>
              </a:defRPr>
            </a:pPr>
            <a:r>
              <a:t>NEVER put children in front seat with active airbag - potentially fatal</a:t>
            </a:r>
          </a:p>
          <a:p>
            <a:pPr>
              <a:spcAft>
                <a:spcPts val="600"/>
              </a:spcAft>
              <a:defRPr sz="1800">
                <a:solidFill>
                  <a:srgbClr val="333333"/>
                </a:solidFill>
              </a:defRPr>
            </a:pPr>
            <a:r>
              <a:t>ALWAYS wear seatbelts — emphasize to students for their own safety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18 FRAMEWORK - PART 2</a:t>
            </a:r>
          </a:p>
          <a:p>
            <a:pPr>
              <a:spcAft>
                <a:spcPts val="1000"/>
              </a:spcAft>
              <a:defRPr sz="1800">
                <a:solidFill>
                  <a:srgbClr val="333333"/>
                </a:solidFill>
              </a:defRPr>
            </a:pPr>
            <a:r>
              <a:t>SESSION 18 COMPLETE (Combined with Part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