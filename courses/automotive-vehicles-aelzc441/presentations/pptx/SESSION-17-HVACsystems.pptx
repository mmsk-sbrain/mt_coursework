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a:t>
            </a:r>
          </a:p>
          <a:p>
            <a:pPr>
              <a:spcAft>
                <a:spcPts val="1000"/>
              </a:spcAft>
              <a:defRPr sz="1800">
                <a:solidFill>
                  <a:srgbClr val="333333"/>
                </a:solidFill>
              </a:defRPr>
            </a:pPr>
            <a:r>
              <a:t>marp: true</a:t>
            </a:r>
          </a:p>
          <a:p>
            <a:pPr>
              <a:spcAft>
                <a:spcPts val="1000"/>
              </a:spcAft>
              <a:defRPr sz="1800">
                <a:solidFill>
                  <a:srgbClr val="333333"/>
                </a:solidFill>
              </a:defRPr>
            </a:pPr>
            <a:r>
              <a:t>theme: engineering</a:t>
            </a:r>
          </a:p>
          <a:p>
            <a:pPr>
              <a:spcAft>
                <a:spcPts val="1000"/>
              </a:spcAft>
              <a:defRPr sz="1800">
                <a:solidFill>
                  <a:srgbClr val="333333"/>
                </a:solidFill>
              </a:defRPr>
            </a:pPr>
            <a:r>
              <a:t>paginate: true</a:t>
            </a:r>
          </a:p>
          <a:p>
            <a:pPr>
              <a:spcAft>
                <a:spcPts val="1000"/>
              </a:spcAft>
              <a:defRPr sz="1800">
                <a:solidFill>
                  <a:srgbClr val="333333"/>
                </a:solidFill>
              </a:defRPr>
            </a:pPr>
            <a:r>
              <a:t>math: katex</a:t>
            </a:r>
          </a:p>
          <a:p>
            <a:pPr>
              <a:spcAft>
                <a:spcPts val="1000"/>
              </a:spcAft>
              <a:defRPr sz="1800">
                <a:solidFill>
                  <a:srgbClr val="333333"/>
                </a:solidFill>
              </a:defRPr>
            </a:pPr>
            <a:r>
              <a:t>header: 'Session 17: HVAC Systems'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HVAC Systems</a:t>
            </a:r>
          </a:p>
        </p:txBody>
      </p:sp>
      <p:sp>
        <p:nvSpPr>
          <p:cNvPr id="3" name="Subtitle 2"/>
          <p:cNvSpPr>
            <a:spLocks noGrp="1"/>
          </p:cNvSpPr>
          <p:nvPr>
            <p:ph type="subTitle" idx="1"/>
          </p:nvPr>
        </p:nvSpPr>
        <p:spPr/>
        <p:txBody>
          <a:bodyPr/>
          <a:lstStyle/>
          <a:p>
            <a:pPr>
              <a:defRPr sz="2000">
                <a:solidFill>
                  <a:srgbClr val="FFFFFF"/>
                </a:solidFill>
              </a:defRPr>
            </a:pPr>
            <a:r>
              <a:t>Session 17 | Automotive Vehicles (AEL ZC441)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Title Slide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1 minute</a:t>
            </a:r>
          </a:p>
          <a:p>
            <a:pPr>
              <a:spcAft>
                <a:spcPts val="1000"/>
              </a:spcAft>
              <a:defRPr sz="1800">
                <a:solidFill>
                  <a:srgbClr val="333333"/>
                </a:solidFill>
              </a:defRPr>
            </a:pPr>
            <a:r>
              <a:t>Instructor Narrative:</a:t>
            </a:r>
          </a:p>
          <a:p>
            <a:pPr>
              <a:spcAft>
                <a:spcPts val="1000"/>
              </a:spcAft>
              <a:defRPr sz="1800">
                <a:solidFill>
                  <a:srgbClr val="333333"/>
                </a:solidFill>
              </a:defRPr>
            </a:pPr>
            <a:r>
              <a:t>Welcome to Session 17. Today we're tackling the HVAC system - Heating, Ventilation, and Air Conditioning. Now, I know what some of you might be thinking: 'It's just the AC, right? Turn it on when it's hot, turn on the heater when it's cold.' But I'm going to show you that automotive climate control is actually a sophisticated thermal management system with some fascinating thermodynamics. By the end of today, you'll understand the refrigeration cycle, identify every major component, and appreciate how modern automatic climate control works. Let's dive in.</a:t>
            </a:r>
          </a:p>
          <a:p>
            <a:pPr>
              <a:spcAft>
                <a:spcPts val="1000"/>
              </a:spcAft>
              <a:defRPr sz="1800">
                <a:solidFill>
                  <a:srgbClr val="333333"/>
                </a:solidFill>
              </a:defRPr>
            </a:pPr>
            <a:r>
              <a:t>PPT Content:</a:t>
            </a:r>
          </a:p>
          <a:p>
            <a:pPr>
              <a:defRPr sz="1400">
                <a:solidFill>
                  <a:srgbClr val="787878"/>
                </a:solidFill>
                <a:latin typeface="Consolas"/>
              </a:defRPr>
            </a:pPr>
            <a:r>
              <a:t>SESSION 17: HVAC SYSTEMS</a:t>
            </a:r>
            <a:br/>
            <a:r>
              <a:t>Heating, Ventilation, and Air Conditioning</a:t>
            </a:r>
            <a:br/>
            <a:br/>
            <a:r>
              <a:t>Module 5: Vehicle Architecture &amp; Comfort</a:t>
            </a:r>
            <a:br/>
            <a:r>
              <a:t>Automotive Vehicles (AEL ZC441)</a:t>
            </a:r>
          </a:p>
          <a:p>
            <a:pPr>
              <a:spcAft>
                <a:spcPts val="1000"/>
              </a:spcAft>
              <a:defRPr sz="1800">
                <a:solidFill>
                  <a:srgbClr val="333333"/>
                </a:solidFill>
              </a:defRPr>
            </a:pPr>
            <a:r>
              <a:t>Outcomes Addressed: Setting context for SO-5-17-1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What Makes a Cabin Comfortable?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2 minutes</a:t>
            </a:r>
          </a:p>
          <a:p>
            <a:pPr>
              <a:spcAft>
                <a:spcPts val="1000"/>
              </a:spcAft>
              <a:defRPr sz="1800">
                <a:solidFill>
                  <a:srgbClr val="333333"/>
                </a:solidFill>
              </a:defRPr>
            </a:pPr>
            <a:r>
              <a:t>Instructor Narrative:</a:t>
            </a:r>
          </a:p>
          <a:p>
            <a:pPr>
              <a:spcAft>
                <a:spcPts val="1000"/>
              </a:spcAft>
              <a:defRPr sz="1800">
                <a:solidFill>
                  <a:srgbClr val="333333"/>
                </a:solidFill>
              </a:defRPr>
            </a:pPr>
            <a:r>
              <a:t>Let me start with a question: What makes you comfortable inside a car? Temperature, obviously. But it's not just about temperature. It's about humidity - ever notice how 30°C feels different in Mumbai versus Delhi? It's about air quality - stale air makes you drowsy. It's about air velocity - a gentle breeze feels nice, but a blast from the vent can be annoying. And believe it or not, even noise matters for comfort.</a:t>
            </a:r>
          </a:p>
          <a:p>
            <a:pPr>
              <a:spcAft>
                <a:spcPts val="1000"/>
              </a:spcAft>
              <a:defRPr sz="1800">
                <a:solidFill>
                  <a:srgbClr val="333333"/>
                </a:solidFill>
              </a:defRPr>
            </a:pPr>
            <a:r>
              <a:t>So when we design an HVAC system, we're not just cooling or heating air. We're managing multiple parameters to keep occupants in their comfort zone. For most people, that's around 22-25°C cabin temperature, 40-60% relative humidity, fresh air circulation every few minutes, and gentle, quiet airflow. That's our design target.</a:t>
            </a:r>
          </a:p>
          <a:p>
            <a:pPr>
              <a:spcAft>
                <a:spcPts val="1000"/>
              </a:spcAft>
              <a:defRPr sz="1800">
                <a:solidFill>
                  <a:srgbClr val="333333"/>
                </a:solidFill>
              </a:defRPr>
            </a:pPr>
            <a:r>
              <a:t>PPT Content:</a:t>
            </a:r>
          </a:p>
          <a:p>
            <a:pPr>
              <a:defRPr sz="1400">
                <a:solidFill>
                  <a:srgbClr val="787878"/>
                </a:solidFill>
                <a:latin typeface="Consolas"/>
              </a:defRPr>
            </a:pPr>
            <a:r>
              <a:t>CABIN COMFORT PARAMETERS</a:t>
            </a:r>
            <a:br/>
            <a:br/>
            <a:r>
              <a:t>1. Temperature: 22-25°C (ideal cabin temp)</a:t>
            </a:r>
            <a:br/>
            <a:r>
              <a:t>2. Humidity: 40-60% relative humidity</a:t>
            </a:r>
            <a:br/>
            <a:r>
              <a:t>3. Air Quality: Fresh air circulation, no odors/pollutants</a:t>
            </a:r>
            <a:br/>
            <a:r>
              <a:t>4. Air Velocity: 0.2-0.5 m/s (gentle breeze)</a:t>
            </a:r>
            <a:br/>
            <a:r>
              <a:t>5. Noise: &lt;50 dB (quiet blower operation)</a:t>
            </a:r>
            <a:br/>
            <a:br/>
            <a:r>
              <a:t>HUMAN THERMAL COMFORT ZONE</a:t>
            </a:r>
            <a:br/>
            <a:r>
              <a:t>[Diagram: Temperature vs Humidity comfort envelope]</a:t>
            </a:r>
            <a:br/>
            <a:r>
              <a:t>Too hot, humid → discomfort</a:t>
            </a:r>
            <a:br/>
            <a:r>
              <a:t>Too cold, dry → discomfort</a:t>
            </a:r>
            <a:br/>
            <a:r>
              <a:t>Comfort zone → 22-25°C, 40-60% RH</a:t>
            </a:r>
          </a:p>
          <a:p>
            <a:pPr>
              <a:spcAft>
                <a:spcPts val="1000"/>
              </a:spcAft>
              <a:defRPr sz="1800">
                <a:solidFill>
                  <a:srgbClr val="333333"/>
                </a:solidFill>
              </a:defRPr>
            </a:pPr>
            <a:r>
              <a:t>Technical Details: — Comfort zone based on ASHRAE standards (American Society of Heating, Refrigerating and Air-Conditioning Engineers)</a:t>
            </a:r>
          </a:p>
          <a:p>
            <a:pPr>
              <a:spcAft>
                <a:spcPts val="600"/>
              </a:spcAft>
              <a:defRPr sz="1800">
                <a:solidFill>
                  <a:srgbClr val="333333"/>
                </a:solidFill>
              </a:defRPr>
            </a:pPr>
            <a:r>
              <a:t>Automotive adjustments: seated posture, low activity, varied clothing</a:t>
            </a:r>
          </a:p>
          <a:p>
            <a:pPr>
              <a:spcAft>
                <a:spcPts val="600"/>
              </a:spcAft>
              <a:defRPr sz="1800">
                <a:solidFill>
                  <a:srgbClr val="333333"/>
                </a:solidFill>
              </a:defRPr>
            </a:pPr>
            <a:r>
              <a:t>Thermal sensation scale: -3 (cold) to +3 (hot), 0 is neutral comfort</a:t>
            </a:r>
          </a:p>
          <a:p>
            <a:pPr>
              <a:spcAft>
                <a:spcPts val="1000"/>
              </a:spcAft>
              <a:defRPr sz="1800">
                <a:solidFill>
                  <a:srgbClr val="333333"/>
                </a:solidFill>
              </a:defRPr>
            </a:pPr>
            <a:r>
              <a:t>Outcomes Addressed: SO-5-17-1 (comfort requirements)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Automotive HVAC Challenges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2 minutes</a:t>
            </a:r>
          </a:p>
          <a:p>
            <a:pPr>
              <a:spcAft>
                <a:spcPts val="1000"/>
              </a:spcAft>
              <a:defRPr sz="1800">
                <a:solidFill>
                  <a:srgbClr val="333333"/>
                </a:solidFill>
              </a:defRPr>
            </a:pPr>
            <a:r>
              <a:t>Instructor Narrative:</a:t>
            </a:r>
          </a:p>
          <a:p>
            <a:pPr>
              <a:spcAft>
                <a:spcPts val="1000"/>
              </a:spcAft>
              <a:defRPr sz="1800">
                <a:solidFill>
                  <a:srgbClr val="333333"/>
                </a:solidFill>
              </a:defRPr>
            </a:pPr>
            <a:r>
              <a:t>Now here's the challenge: Unlike your home AC, which operates in a relatively stable environment, automotive HVAC has to deal with extreme variability. In summer, you might park your car in the sun - cabin temperature can hit 60-70°C! That's oven-level heat. Then you start the car and expect it to cool down to 24°C in a few minutes.</a:t>
            </a:r>
          </a:p>
          <a:p>
            <a:pPr>
              <a:spcAft>
                <a:spcPts val="1000"/>
              </a:spcAft>
              <a:defRPr sz="1800">
                <a:solidFill>
                  <a:srgbClr val="333333"/>
                </a:solidFill>
              </a:defRPr>
            </a:pPr>
            <a:r>
              <a:t>In winter, it's the opposite - you start with a freezing cabin at maybe -10°C in northern regions, and you want warmth immediately. Plus, the outside ambient temperature keeps changing as you drive, from shaded areas to sunny highways. You might have one passenger who's too hot and another who's too cold. Solar radiation through the windshield heats the dashboard but not the rear seat. And all of this needs to work efficiently without draining too much engine power or battery charge.</a:t>
            </a:r>
          </a:p>
          <a:p>
            <a:pPr>
              <a:spcAft>
                <a:spcPts val="1000"/>
              </a:spcAft>
              <a:defRPr sz="1800">
                <a:solidFill>
                  <a:srgbClr val="333333"/>
                </a:solidFill>
              </a:defRPr>
            </a:pPr>
            <a:r>
              <a:t>So automotive HVAC is actually a very demanding thermal management problem.</a:t>
            </a:r>
          </a:p>
          <a:p>
            <a:pPr>
              <a:spcAft>
                <a:spcPts val="1000"/>
              </a:spcAft>
              <a:defRPr sz="1800">
                <a:solidFill>
                  <a:srgbClr val="333333"/>
                </a:solidFill>
              </a:defRPr>
            </a:pPr>
            <a:r>
              <a:t>PPT Content:</a:t>
            </a:r>
          </a:p>
          <a:p>
            <a:pPr>
              <a:defRPr sz="1400">
                <a:solidFill>
                  <a:srgbClr val="787878"/>
                </a:solidFill>
                <a:latin typeface="Consolas"/>
              </a:defRPr>
            </a:pPr>
            <a:r>
              <a:t>AUTOMOTIVE HVAC CHALLENGES</a:t>
            </a:r>
            <a:br/>
            <a:br/>
            <a:r>
              <a:t>Summer Scenario:</a:t>
            </a:r>
            <a:br/>
            <a:r>
              <a:t>• Parked in sun: Cabin temp → 60-70°C</a:t>
            </a:r>
            <a:br/>
            <a:r>
              <a:t>• Soaked heat in seats, dashboard, glass</a:t>
            </a:r>
            <a:br/>
            <a:r>
              <a:t>• Need rapid cooldown to 24°C in &lt;5 minutes</a:t>
            </a:r>
            <a:br/>
            <a:r>
              <a:t>• High cooling load initially</a:t>
            </a:r>
            <a:br/>
            <a:br/>
            <a:r>
              <a:t>Winter Scenario:</a:t>
            </a:r>
            <a:br/>
            <a:r>
              <a:t>• Cold start: Cabin temp → -10°C to 0°C</a:t>
            </a:r>
            <a:br/>
            <a:r>
              <a:t>• Need rapid warmth for comfort &amp; defogging</a:t>
            </a:r>
            <a:br/>
            <a:r>
              <a:t>• Windshield defrost critical for visibility</a:t>
            </a:r>
            <a:br/>
            <a:r>
              <a:t>• Limited heat available until engine warms up</a:t>
            </a:r>
            <a:br/>
            <a:br/>
            <a:r>
              <a:t>Variable Conditions:</a:t>
            </a:r>
            <a:br/>
            <a:r>
              <a:t>• Changing ambient temperature (0-45°C)</a:t>
            </a:r>
            <a:br/>
            <a:r>
              <a:t>• Solar radiation through glass (1000 W/m²)</a:t>
            </a:r>
            <a:br/>
            <a:r>
              <a:t>• Multiple occupants with different preferences</a:t>
            </a:r>
            <a:br/>
            <a:r>
              <a:t>• Humidity management (prevent fogging)</a:t>
            </a:r>
            <a:br/>
            <a:r>
              <a:t>• Efficiency requirement (minimize engine load/fuel penalty)</a:t>
            </a:r>
          </a:p>
          <a:p>
            <a:pPr>
              <a:spcAft>
                <a:spcPts val="1000"/>
              </a:spcAft>
              <a:defRPr sz="1800">
                <a:solidFill>
                  <a:srgbClr val="333333"/>
                </a:solidFill>
              </a:defRPr>
            </a:pPr>
            <a:r>
              <a:t>Real-World Examples: — Black car parked in Mumbai summer: cabin can reach 70°C</a:t>
            </a:r>
          </a:p>
          <a:p>
            <a:pPr>
              <a:spcAft>
                <a:spcPts val="600"/>
              </a:spcAft>
              <a:defRPr sz="1800">
                <a:solidFill>
                  <a:srgbClr val="333333"/>
                </a:solidFill>
              </a:defRPr>
            </a:pPr>
            <a:r>
              <a:t>Cold start in Delhi winter: condensation on windshield is safety issue</a:t>
            </a:r>
          </a:p>
          <a:p>
            <a:pPr>
              <a:spcAft>
                <a:spcPts val="600"/>
              </a:spcAft>
              <a:defRPr sz="1800">
                <a:solidFill>
                  <a:srgbClr val="333333"/>
                </a:solidFill>
              </a:defRPr>
            </a:pPr>
            <a:r>
              <a:t>Highway driving: solar load through windshield heats front passengers more than rear</a:t>
            </a:r>
          </a:p>
          <a:p>
            <a:pPr>
              <a:spcAft>
                <a:spcPts val="1000"/>
              </a:spcAft>
              <a:defRPr sz="1800">
                <a:solidFill>
                  <a:srgbClr val="333333"/>
                </a:solidFill>
              </a:defRPr>
            </a:pPr>
            <a:r>
              <a:t>Outcomes Addressed: SO-5-17-1 (system fundamentals, challenges)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HVAC System Functions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2 minutes</a:t>
            </a:r>
          </a:p>
          <a:p>
            <a:pPr>
              <a:spcAft>
                <a:spcPts val="1000"/>
              </a:spcAft>
              <a:defRPr sz="1800">
                <a:solidFill>
                  <a:srgbClr val="333333"/>
                </a:solidFill>
              </a:defRPr>
            </a:pPr>
            <a:r>
              <a:t>Instructor Narrative:</a:t>
            </a:r>
          </a:p>
          <a:p>
            <a:pPr>
              <a:spcAft>
                <a:spcPts val="1000"/>
              </a:spcAft>
              <a:defRPr sz="1800">
                <a:solidFill>
                  <a:srgbClr val="333333"/>
                </a:solidFill>
              </a:defRPr>
            </a:pPr>
            <a:r>
              <a:t>So let's break down HVAC into its three core functions. H is for Heating - we need to raise cabin air temperature in cold conditions. That's actually the easiest part in conventional vehicles because we have waste heat from the engine that we can use. We'll see exactly how later.</a:t>
            </a:r>
          </a:p>
          <a:p>
            <a:pPr>
              <a:spcAft>
                <a:spcPts val="1000"/>
              </a:spcAft>
              <a:defRPr sz="1800">
                <a:solidFill>
                  <a:srgbClr val="333333"/>
                </a:solidFill>
              </a:defRPr>
            </a:pPr>
            <a:r>
              <a:t>V is for Ventilation - that means bringing in fresh air from outside, filtering it, and distributing it throughout the cabin. Even with windows closed, you need fresh air circulation to remove CO₂, odors, and humidity that passengers exhale. Typically we aim for about 10-15 liters per second of fresh air per person.</a:t>
            </a:r>
          </a:p>
          <a:p>
            <a:pPr>
              <a:spcAft>
                <a:spcPts val="1000"/>
              </a:spcAft>
              <a:defRPr sz="1800">
                <a:solidFill>
                  <a:srgbClr val="333333"/>
                </a:solidFill>
              </a:defRPr>
            </a:pPr>
            <a:r>
              <a:t>A is for Air Conditioning - the big one. This means cooling and dehumidifying the air. Unlike heating, cooling requires active energy input because we're moving heat against its natural flow - from the cool cabin to the hot outside. This is where thermodynamics and refrigeration come in, which we'll explore in detail in a few minutes.</a:t>
            </a:r>
          </a:p>
          <a:p>
            <a:pPr>
              <a:spcAft>
                <a:spcPts val="1000"/>
              </a:spcAft>
              <a:defRPr sz="1800">
                <a:solidFill>
                  <a:srgbClr val="333333"/>
                </a:solidFill>
              </a:defRPr>
            </a:pPr>
            <a:r>
              <a:t>PPT Content:</a:t>
            </a:r>
          </a:p>
          <a:p>
            <a:pPr>
              <a:defRPr sz="1400">
                <a:solidFill>
                  <a:srgbClr val="787878"/>
                </a:solidFill>
                <a:latin typeface="Consolas"/>
              </a:defRPr>
            </a:pPr>
            <a:r>
              <a:t>HVAC SYSTEM FUNCTIONS</a:t>
            </a:r>
            <a:br/>
            <a:br/>
            <a:r>
              <a:t>HEATING (H)</a:t>
            </a:r>
            <a:br/>
            <a:r>
              <a:t>• Raise cabin air temperature</a:t>
            </a:r>
            <a:br/>
            <a:r>
              <a:t>• Source: Engine waste heat (conventional vehicles)</a:t>
            </a:r>
            <a:br/>
            <a:r>
              <a:t>• Component: Heater core (small radiator in cabin)</a:t>
            </a:r>
            <a:br/>
            <a:r>
              <a:t>• Winter comfort &amp; windshield defrost</a:t>
            </a:r>
            <a:br/>
            <a:br/>
            <a:r>
              <a:t>VENTILATION (V)</a:t>
            </a:r>
            <a:br/>
            <a:r>
              <a:t>• Fresh air circulation from outside</a:t>
            </a:r>
            <a:br/>
            <a:r>
              <a:t>• Remove CO₂, odors, humidity</a:t>
            </a:r>
            <a:br/>
            <a:r>
              <a:t>• Air filtration (cabin air filter)</a:t>
            </a:r>
            <a:br/>
            <a:r>
              <a:t>• Flow rate: 10-15 L/s per occupant</a:t>
            </a:r>
            <a:br/>
            <a:br/>
            <a:r>
              <a:t>AIR CONDITIONING (A)</a:t>
            </a:r>
            <a:br/>
            <a:r>
              <a:t>• Cool and dehumidify cabin air</a:t>
            </a:r>
            <a:br/>
            <a:r>
              <a:t>• Requires active refrigeration system</a:t>
            </a:r>
            <a:br/>
            <a:r>
              <a:t>• Components: Compressor, condenser, evaporator, expansion valve</a:t>
            </a:r>
            <a:br/>
            <a:r>
              <a:t>• Removes ~2-5 kW heat from cabin (typical)</a:t>
            </a:r>
            <a:br/>
            <a:br/>
            <a:r>
              <a:t>COMPLETE HVAC = H + V + A</a:t>
            </a:r>
            <a:br/>
            <a:r>
              <a:t>All three functions integrated in one system</a:t>
            </a:r>
          </a:p>
          <a:p>
            <a:pPr>
              <a:spcAft>
                <a:spcPts val="1000"/>
              </a:spcAft>
              <a:defRPr sz="1800">
                <a:solidFill>
                  <a:srgbClr val="333333"/>
                </a:solidFill>
              </a:defRPr>
            </a:pPr>
            <a:r>
              <a:t>Technical Note: — Cooling load calculation example: 1500 kg sedan, 70°C cabin → 24°C, ~15 kW initial load, ~3 kW steady-state</a:t>
            </a:r>
          </a:p>
          <a:p>
            <a:pPr>
              <a:spcAft>
                <a:spcPts val="600"/>
              </a:spcAft>
              <a:defRPr sz="1800">
                <a:solidFill>
                  <a:srgbClr val="333333"/>
                </a:solidFill>
              </a:defRPr>
            </a:pPr>
            <a:r>
              <a:t>Dehumidification is critical: moisture removal prevents window fogging</a:t>
            </a:r>
          </a:p>
          <a:p>
            <a:pPr>
              <a:spcAft>
                <a:spcPts val="1000"/>
              </a:spcAft>
              <a:defRPr sz="1800">
                <a:solidFill>
                  <a:srgbClr val="333333"/>
                </a:solidFill>
              </a:defRPr>
            </a:pPr>
            <a:r>
              <a:t>Outcomes Addressed: SO-5-17-1 (system fundamentals)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Energy Flow: Cooling vs Heating</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2 minutes</a:t>
            </a:r>
          </a:p>
          <a:p>
            <a:pPr>
              <a:spcAft>
                <a:spcPts val="1000"/>
              </a:spcAft>
              <a:defRPr sz="1800">
                <a:solidFill>
                  <a:srgbClr val="333333"/>
                </a:solidFill>
              </a:defRPr>
            </a:pPr>
            <a:r>
              <a:t>Instructor Narrative:</a:t>
            </a:r>
          </a:p>
          <a:p>
            <a:pPr>
              <a:spcAft>
                <a:spcPts val="1000"/>
              </a:spcAft>
              <a:defRPr sz="1800">
                <a:solidFill>
                  <a:srgbClr val="333333"/>
                </a:solidFill>
              </a:defRPr>
            </a:pPr>
            <a:r>
              <a:t>Before we dive into components, I want you to understand the energy flow difference between cooling and heating. This is fundamental.</a:t>
            </a:r>
          </a:p>
          <a:p>
            <a:pPr>
              <a:spcAft>
                <a:spcPts val="1000"/>
              </a:spcAft>
              <a:defRPr sz="1800">
                <a:solidFill>
                  <a:srgbClr val="333333"/>
                </a:solidFill>
              </a:defRPr>
            </a:pPr>
            <a:r>
              <a:t>For heating, we're lucky - the engine is producing massive waste heat anyway. Only about 30% of fuel energy becomes useful mechanical work; the rest is heat. Some goes out the exhaust, but about 30-40% goes into the engine coolant. So we just tap into that hot coolant, run it through a small radiator inside the cabin - called the heater core - and blow cabin air over it. Free heating! Well, free in the sense that the heat was already being generated and rejected anyway.</a:t>
            </a:r>
          </a:p>
          <a:p>
            <a:pPr>
              <a:spcAft>
                <a:spcPts val="1000"/>
              </a:spcAft>
              <a:defRPr sz="1800">
                <a:solidFill>
                  <a:srgbClr val="333333"/>
                </a:solidFill>
              </a:defRPr>
            </a:pPr>
            <a:r>
              <a:t>But for cooling, we don't have any 'free' cold source. We need to actively move heat from the cabin (cool place) to the outside (hot place), which violates the natural direction of heat flow. To do this, we need a refrigeration system that consumes mechanical power from the engine - typically 2 to 5 horsepower. This is why turning on the AC noticeably reduces engine performance in small cars and increases fuel consumption by about 10-20%.</a:t>
            </a:r>
          </a:p>
          <a:p>
            <a:pPr>
              <a:spcAft>
                <a:spcPts val="1000"/>
              </a:spcAft>
              <a:defRPr sz="1800">
                <a:solidFill>
                  <a:srgbClr val="333333"/>
                </a:solidFill>
              </a:defRPr>
            </a:pPr>
            <a:r>
              <a:t>Understanding this asymmetry is key: heating is 'free' waste heat recovery, cooling requires active power input.</a:t>
            </a:r>
          </a:p>
          <a:p>
            <a:pPr>
              <a:spcAft>
                <a:spcPts val="1000"/>
              </a:spcAft>
              <a:defRPr sz="1800">
                <a:solidFill>
                  <a:srgbClr val="333333"/>
                </a:solidFill>
              </a:defRPr>
            </a:pPr>
            <a:r>
              <a:t>PPT Content:</a:t>
            </a:r>
          </a:p>
          <a:p>
            <a:pPr>
              <a:defRPr sz="1400">
                <a:solidFill>
                  <a:srgbClr val="787878"/>
                </a:solidFill>
                <a:latin typeface="Consolas"/>
              </a:defRPr>
            </a:pPr>
            <a:r>
              <a:t>ENERGY FLOW: HEATING vs COOLING</a:t>
            </a:r>
            <a:br/>
            <a:br/>
            <a:r>
              <a:t>HEATING (Winter Mode)</a:t>
            </a:r>
            <a:br/>
            <a:r>
              <a:t>Engine → Hot Coolant (90°C) → Heater Core → Cabin Air (warm)</a:t>
            </a:r>
            <a:br/>
            <a:r>
              <a:t>↑ 'Free' waste heat recovery</a:t>
            </a:r>
            <a:br/>
            <a:r>
              <a:t>Fuel Energy: 100%</a:t>
            </a:r>
            <a:br/>
            <a:r>
              <a:t>  → Mechanical Work: ~30%</a:t>
            </a:r>
            <a:br/>
            <a:r>
              <a:t>  → Coolant Heat: ~30-40% ← WE USE THIS</a:t>
            </a:r>
            <a:br/>
            <a:r>
              <a:t>  → Exhaust Heat: ~30%</a:t>
            </a:r>
            <a:br/>
            <a:br/>
            <a:r>
              <a:t>COOLING (Summer Mode)</a:t>
            </a:r>
            <a:br/>
            <a:r>
              <a:t>Engine → Mechanical Power → Compressor → Refrigeration Cycle</a:t>
            </a:r>
            <a:br/>
            <a:r>
              <a:t>                                          ↓</a:t>
            </a:r>
            <a:br/>
            <a:r>
              <a:t>Cabin Heat (removed) → Refrigerant → Outside (rejected)</a:t>
            </a:r>
            <a:br/>
            <a:r>
              <a:t>↑ Active power consumption: 2-5 hp (1.5-3.5 kW)</a:t>
            </a:r>
            <a:br/>
            <a:br/>
            <a:r>
              <a:t>COMPARISON</a:t>
            </a:r>
            <a:br/>
            <a:r>
              <a:t>Heating: Uses waste heat (no extra fuel penalty)</a:t>
            </a:r>
            <a:br/>
            <a:r>
              <a:t>Cooling: Requires mechanical work (10-20% fuel penalty when AC is on)</a:t>
            </a:r>
            <a:br/>
            <a:br/>
            <a:r>
              <a:t>ELECTRIC VEHICLES</a:t>
            </a:r>
            <a:br/>
            <a:r>
              <a:t>Heating: No waste heat! Must use electric heater (heat pump more efficient)</a:t>
            </a:r>
            <a:br/>
            <a:r>
              <a:t>Cooling: Electric compressor (direct from battery)</a:t>
            </a:r>
            <a:br/>
            <a:r>
              <a:t>Both heating &amp; cooling reduce driving range</a:t>
            </a:r>
          </a:p>
          <a:p>
            <a:pPr>
              <a:spcAft>
                <a:spcPts val="1000"/>
              </a:spcAft>
              <a:defRPr sz="1800">
                <a:solidFill>
                  <a:srgbClr val="333333"/>
                </a:solidFill>
              </a:defRPr>
            </a:pPr>
            <a:r>
              <a:t>Technical Details: — AC compressor power: 1.5-3.5 kW depending on cooling load</a:t>
            </a:r>
          </a:p>
          <a:p>
            <a:pPr>
              <a:spcAft>
                <a:spcPts val="600"/>
              </a:spcAft>
              <a:defRPr sz="1800">
                <a:solidFill>
                  <a:srgbClr val="333333"/>
                </a:solidFill>
              </a:defRPr>
            </a:pPr>
            <a:r>
              <a:t>Fuel penalty with AC on: city driving +15-20%, highway +10% (smaller % at higher speeds)</a:t>
            </a:r>
          </a:p>
          <a:p>
            <a:pPr>
              <a:spcAft>
                <a:spcPts val="600"/>
              </a:spcAft>
              <a:defRPr sz="1800">
                <a:solidFill>
                  <a:srgbClr val="333333"/>
                </a:solidFill>
              </a:defRPr>
            </a:pPr>
            <a:r>
              <a:t>Electric vehicle challenge: both heating and cooling drain battery (no free waste heat)</a:t>
            </a:r>
          </a:p>
          <a:p>
            <a:pPr>
              <a:spcAft>
                <a:spcPts val="1000"/>
              </a:spcAft>
              <a:defRPr sz="1800">
                <a:solidFill>
                  <a:srgbClr val="333333"/>
                </a:solidFill>
              </a:defRPr>
            </a:pPr>
            <a:r>
              <a:t>Outcomes Addressed: SO-5-17-1 (system fundamentals), building foundation for SO-5-17-5 (heating integration)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Session Roadmap</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1 minute</a:t>
            </a:r>
          </a:p>
          <a:p>
            <a:pPr>
              <a:spcAft>
                <a:spcPts val="1000"/>
              </a:spcAft>
              <a:defRPr sz="1800">
                <a:solidFill>
                  <a:srgbClr val="333333"/>
                </a:solidFill>
              </a:defRPr>
            </a:pPr>
            <a:r>
              <a:t>Instructor Narrative:</a:t>
            </a:r>
          </a:p>
          <a:p>
            <a:pPr>
              <a:spcAft>
                <a:spcPts val="1000"/>
              </a:spcAft>
              <a:defRPr sz="1800">
                <a:solidFill>
                  <a:srgbClr val="333333"/>
                </a:solidFill>
              </a:defRPr>
            </a:pPr>
            <a:r>
              <a:t>Okay, here's our roadmap for today. We've just established why HVAC matters and what challenges we face. Next, I'm going to take you through the thermodynamics of refrigeration - how we can make something cold by moving heat around. This is the core physics principle.</a:t>
            </a:r>
          </a:p>
          <a:p>
            <a:pPr>
              <a:spcAft>
                <a:spcPts val="1000"/>
              </a:spcAft>
              <a:defRPr sz="1800">
                <a:solidFill>
                  <a:srgbClr val="333333"/>
                </a:solidFill>
              </a:defRPr>
            </a:pPr>
            <a:r>
              <a:t>Then we'll build up the air conditioning system component by component: compressor, condenser, expansion valve, evaporator. You'll see how refrigerant circulates through the system, changing state from gas to liquid and back again.</a:t>
            </a:r>
          </a:p>
          <a:p>
            <a:pPr>
              <a:spcAft>
                <a:spcPts val="1000"/>
              </a:spcAft>
              <a:defRPr sz="1800">
                <a:solidFill>
                  <a:srgbClr val="333333"/>
                </a:solidFill>
              </a:defRPr>
            </a:pPr>
            <a:r>
              <a:t>After that, we'll integrate the heating side, showing how the heater core connects to the engine cooling system you studied in Session 5. We'll also compare different types of compressors - fixed, variable, and electric.</a:t>
            </a:r>
          </a:p>
          <a:p>
            <a:pPr>
              <a:spcAft>
                <a:spcPts val="1000"/>
              </a:spcAft>
              <a:defRPr sz="1800">
                <a:solidFill>
                  <a:srgbClr val="333333"/>
                </a:solidFill>
              </a:defRPr>
            </a:pPr>
            <a:r>
              <a:t>Finally, we'll see how modern vehicles use automatic climate control with multiple sensors and an ECU to manage all of this intelligently, including multi-zone temperature control and air quality management.</a:t>
            </a:r>
          </a:p>
          <a:p>
            <a:pPr>
              <a:spcAft>
                <a:spcPts val="1000"/>
              </a:spcAft>
              <a:defRPr sz="1800">
                <a:solidFill>
                  <a:srgbClr val="333333"/>
                </a:solidFill>
              </a:defRPr>
            </a:pPr>
            <a:r>
              <a:t>Let's start with the fascinating physics of refrigeration.</a:t>
            </a:r>
          </a:p>
          <a:p>
            <a:pPr>
              <a:spcAft>
                <a:spcPts val="1000"/>
              </a:spcAft>
              <a:defRPr sz="1800">
                <a:solidFill>
                  <a:srgbClr val="333333"/>
                </a:solidFill>
              </a:defRPr>
            </a:pPr>
            <a:r>
              <a:t>PPT Content:</a:t>
            </a:r>
          </a:p>
          <a:p>
            <a:pPr>
              <a:defRPr sz="1400">
                <a:solidFill>
                  <a:srgbClr val="787878"/>
                </a:solidFill>
                <a:latin typeface="Consolas"/>
              </a:defRPr>
            </a:pPr>
            <a:r>
              <a:t>TODAY'S ROADMAP</a:t>
            </a:r>
            <a:br/>
            <a:br/>
            <a:r>
              <a:t>✓ Part 1: Cabin Comfort Requirements (Now)</a:t>
            </a:r>
            <a:br/>
            <a:r>
              <a:t>  → What makes a cabin comfortable</a:t>
            </a:r>
            <a:br/>
            <a:r>
              <a:t>  → Automotive HVAC challenges</a:t>
            </a:r>
            <a:br/>
            <a:r>
              <a:t>  → Heating vs cooling energy flow</a:t>
            </a:r>
            <a:br/>
            <a:br/>
            <a:r>
              <a:t>→ Part 2: Refrigeration Thermodynamics (Next)</a:t>
            </a:r>
            <a:br/>
            <a:r>
              <a:t>  → How refrigeration works</a:t>
            </a:r>
            <a:br/>
            <a:r>
              <a:t>  → P-h diagram and thermodynamic cycle</a:t>
            </a:r>
            <a:br/>
            <a:r>
              <a:t>  → Refrigerant properties</a:t>
            </a:r>
            <a:br/>
            <a:br/>
            <a:r>
              <a:t>→ Part 3: HVAC Components</a:t>
            </a:r>
            <a:br/>
            <a:r>
              <a:t>  → Compressor, condenser, evaporator, expansion valve</a:t>
            </a:r>
            <a:br/>
            <a:r>
              <a:t>  → Refrigerant circuit flow</a:t>
            </a:r>
            <a:br/>
            <a:r>
              <a:t>  → Component integration</a:t>
            </a:r>
            <a:br/>
            <a:br/>
            <a:r>
              <a:t>→ Part 4: Heating &amp; Complete System</a:t>
            </a:r>
            <a:br/>
            <a:r>
              <a:t>  → Heater core and engine cooling integration</a:t>
            </a:r>
            <a:br/>
            <a:r>
              <a:t>  → Compressor types comparison</a:t>
            </a:r>
            <a:br/>
            <a:r>
              <a:t>  → Air distribution system</a:t>
            </a:r>
            <a:br/>
            <a:br/>
            <a:r>
              <a:t>→ Part 5: Automatic Climate Control</a:t>
            </a:r>
            <a:br/>
            <a:r>
              <a:t>  → Sensors and ECU control</a:t>
            </a:r>
            <a:br/>
            <a:r>
              <a:t>  → Multi-zone systems</a:t>
            </a:r>
            <a:br/>
            <a:r>
              <a:t>  → Air quality management</a:t>
            </a:r>
          </a:p>
          <a:p>
            <a:pPr>
              <a:spcAft>
                <a:spcPts val="1000"/>
              </a:spcAft>
              <a:defRPr sz="1800">
                <a:solidFill>
                  <a:srgbClr val="333333"/>
                </a:solidFill>
              </a:defRPr>
            </a:pPr>
            <a:r>
              <a:t>Outcomes Addressed: Setting roadmap for all SOs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PART 2: TRIGGER - "Refrigeration Thermodynamics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Slides 7-13 | Duration: ~25 minutes | Energy Level: High (Core Physics)</a:t>
            </a:r>
          </a:p>
          <a:p>
            <a:pPr>
              <a:spcAft>
                <a:spcPts val="1000"/>
              </a:spcAft>
              <a:defRPr sz="1800">
                <a:solidFill>
                  <a:srgbClr val="333333"/>
                </a:solidFill>
              </a:defRPr>
            </a:pPr>
            <a:r>
              <a:t>Story Purpose: Explain the refrigeration cycle - the "magic" behind air conditioning</a:t>
            </a:r>
          </a:p>
          <a:p>
            <a:pPr>
              <a:spcAft>
                <a:spcPts val="1000"/>
              </a:spcAft>
              <a:defRPr sz="1800">
                <a:solidFill>
                  <a:srgbClr val="333333"/>
                </a:solidFill>
              </a:defRPr>
            </a:pPr>
            <a:r>
              <a:t>Teaching Mode: Concept explanation + thermodynamic visualization</a:t>
            </a:r>
          </a:p>
          <a:p>
            <a:pPr>
              <a:spcAft>
                <a:spcPts val="1000"/>
              </a:spcAft>
              <a:defRPr sz="1800">
                <a:solidFill>
                  <a:srgbClr val="333333"/>
                </a:solidFill>
              </a:defRPr>
            </a:pPr>
            <a:r>
              <a:t>Connection to Prior Knowledge: Basic thermodynamics (heat transfer, phase change)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Refrigeration Challenge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2 minutes</a:t>
            </a:r>
          </a:p>
          <a:p>
            <a:pPr>
              <a:spcAft>
                <a:spcPts val="1000"/>
              </a:spcAft>
              <a:defRPr sz="1800">
                <a:solidFill>
                  <a:srgbClr val="333333"/>
                </a:solidFill>
              </a:defRPr>
            </a:pPr>
            <a:r>
              <a:t>Instructor Narrative:</a:t>
            </a:r>
          </a:p>
          <a:p>
            <a:pPr>
              <a:spcAft>
                <a:spcPts val="1000"/>
              </a:spcAft>
              <a:defRPr sz="1800">
                <a:solidFill>
                  <a:srgbClr val="333333"/>
                </a:solidFill>
              </a:defRPr>
            </a:pPr>
            <a:r>
              <a:t>Alright, let's tackle the fundamental challenge of refrigeration. We know from basic thermodynamics that heat naturally flows from hot to cold. If you put a hot cup of coffee in a room, it cools down. Heat flows from the coffee to the room, never the reverse.</a:t>
            </a:r>
          </a:p>
          <a:p>
            <a:pPr>
              <a:spcAft>
                <a:spcPts val="1000"/>
              </a:spcAft>
              <a:defRPr sz="1800">
                <a:solidFill>
                  <a:srgbClr val="333333"/>
                </a:solidFill>
              </a:defRPr>
            </a:pPr>
            <a:r>
              <a:t>But in air conditioning, we want to do the opposite - we want to take heat from the cool cabin and move it to the hot outside environment. This is 'unnatural' - it requires work input. It's like pushing water uphill instead of letting it flow downhill.</a:t>
            </a:r>
          </a:p>
          <a:p>
            <a:pPr>
              <a:spcAft>
                <a:spcPts val="1000"/>
              </a:spcAft>
              <a:defRPr sz="1800">
                <a:solidFill>
                  <a:srgbClr val="333333"/>
                </a:solidFill>
              </a:defRPr>
            </a:pPr>
            <a:r>
              <a:t>So how do we do this? The answer is the refrigeration cycle, which uses a special fluid called refrigerant that can evaporate and condense at convenient temperatures. By carefully controlling where the refrigerant evaporates and where it condenses, we can move heat from inside the cabin to outside.</a:t>
            </a:r>
          </a:p>
          <a:p>
            <a:pPr>
              <a:spcAft>
                <a:spcPts val="1000"/>
              </a:spcAft>
              <a:defRPr sz="1800">
                <a:solidFill>
                  <a:srgbClr val="333333"/>
                </a:solidFill>
              </a:defRPr>
            </a:pPr>
            <a:r>
              <a:t>Here's the key insight: when a liquid evaporates, it absorbs heat. When a vapor condenses, it releases heat. We evaporate the refrigerant inside the cabin - it absorbs cabin heat, cooling the air. We condense it outside - it releases that heat to the atmosphere. Brilliant, right?</a:t>
            </a:r>
          </a:p>
          <a:p>
            <a:pPr>
              <a:spcAft>
                <a:spcPts val="1000"/>
              </a:spcAft>
              <a:defRPr sz="1800">
                <a:solidFill>
                  <a:srgbClr val="333333"/>
                </a:solidFill>
              </a:defRPr>
            </a:pPr>
            <a:r>
              <a:t>PPT Content:</a:t>
            </a:r>
          </a:p>
          <a:p>
            <a:pPr>
              <a:defRPr sz="1400">
                <a:solidFill>
                  <a:srgbClr val="787878"/>
                </a:solidFill>
                <a:latin typeface="Consolas"/>
              </a:defRPr>
            </a:pPr>
            <a:r>
              <a:t>THE REFRIGERATION CHALLENGE</a:t>
            </a:r>
            <a:br/>
            <a:br/>
            <a:r>
              <a:t>Natural Heat Flow:</a:t>
            </a:r>
            <a:br/>
            <a:r>
              <a:t>HOT → COLD (spontaneous, no work required)</a:t>
            </a:r>
            <a:br/>
            <a:r>
              <a:t>Example: Hot coffee cools in a room</a:t>
            </a:r>
            <a:br/>
            <a:br/>
            <a:r>
              <a:t>Air Conditioning Requirement:</a:t>
            </a:r>
            <a:br/>
            <a:r>
              <a:t>COOL CABIN → HOT OUTSIDE (against natural flow!)</a:t>
            </a:r>
            <a:br/>
            <a:r>
              <a:t>Requires WORK INPUT (compressor)</a:t>
            </a:r>
            <a:br/>
            <a:br/>
            <a:r>
              <a:t>Solution: REFRIGERATION CYCLE</a:t>
            </a:r>
            <a:br/>
            <a:r>
              <a:t>Use a working fluid (refrigerant) that:</a:t>
            </a:r>
            <a:br/>
            <a:r>
              <a:t>• Evaporates at low temperature → Absorbs heat</a:t>
            </a:r>
            <a:br/>
            <a:r>
              <a:t>• Condenses at high temperature → Releases heat</a:t>
            </a:r>
            <a:br/>
            <a:br/>
            <a:r>
              <a:t>Key Principle:</a:t>
            </a:r>
            <a:br/>
            <a:r>
              <a:t>Evaporation (liquid → gas): Absorbs heat (endothermic)</a:t>
            </a:r>
            <a:br/>
            <a:r>
              <a:t>Condensation (gas → liquid): Releases heat (exothermic)</a:t>
            </a:r>
            <a:br/>
            <a:br/>
            <a:r>
              <a:t>Example:</a:t>
            </a:r>
            <a:br/>
            <a:r>
              <a:t>Water evaporating from your skin → You feel cool (heat absorbed)</a:t>
            </a:r>
            <a:br/>
            <a:r>
              <a:t>Steam condensing on mirror → Mirror gets hot (heat released)</a:t>
            </a:r>
            <a:br/>
            <a:br/>
            <a:r>
              <a:t>Refrigeration Cycle Insight:</a:t>
            </a:r>
            <a:br/>
            <a:r>
              <a:t>Evaporate refrigerant INSIDE cabin → Absorbs cabin heat → Cooling</a:t>
            </a:r>
            <a:br/>
            <a:r>
              <a:t>Condense refrigerant OUTSIDE vehicle → Releases heat to atmosphere</a:t>
            </a:r>
          </a:p>
          <a:p>
            <a:pPr>
              <a:spcAft>
                <a:spcPts val="1000"/>
              </a:spcAft>
              <a:defRPr sz="1800">
                <a:solidFill>
                  <a:srgbClr val="333333"/>
                </a:solidFill>
              </a:defRPr>
            </a:pPr>
            <a:r>
              <a:t>Analogy:</a:t>
            </a:r>
          </a:p>
          <a:p>
            <a:pPr>
              <a:spcAft>
                <a:spcPts val="1000"/>
              </a:spcAft>
              <a:defRPr sz="1800">
                <a:solidFill>
                  <a:srgbClr val="333333"/>
                </a:solidFill>
              </a:defRPr>
            </a:pPr>
            <a:r>
              <a:t>Think of the refrigerant as a heat courier. It picks up heat inside the cabin during evaporation, carries it outside, and drops it off during condensation. Then it returns inside to pick up more heat. It's a continuous cycle.</a:t>
            </a:r>
          </a:p>
          <a:p>
            <a:pPr>
              <a:spcAft>
                <a:spcPts val="1000"/>
              </a:spcAft>
              <a:defRPr sz="1800">
                <a:solidFill>
                  <a:srgbClr val="333333"/>
                </a:solidFill>
              </a:defRPr>
            </a:pPr>
            <a:r>
              <a:t>Outcomes Addressed: SO-5-17-2 (refrigeration cycle principles)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Refrigeration Cycle Overview</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Now let me show you the complete refrigeration cycle. It has four key processes that repeat continuously.</a:t>
            </a:r>
          </a:p>
          <a:p>
            <a:pPr>
              <a:spcAft>
                <a:spcPts val="1000"/>
              </a:spcAft>
              <a:defRPr sz="1800">
                <a:solidFill>
                  <a:srgbClr val="333333"/>
                </a:solidFill>
              </a:defRPr>
            </a:pPr>
            <a:r>
              <a:t>First: Compression. We take low-pressure refrigerant vapor and compress it using a compressor driven by the engine. Compression raises both the pressure and temperature of the refrigerant. This is where we put work into the system.</a:t>
            </a:r>
          </a:p>
          <a:p>
            <a:pPr>
              <a:spcAft>
                <a:spcPts val="1000"/>
              </a:spcAft>
              <a:defRPr sz="1800">
                <a:solidFill>
                  <a:srgbClr val="333333"/>
                </a:solidFill>
              </a:defRPr>
            </a:pPr>
            <a:r>
              <a:t>Second: Condensation. The hot, high-pressure vapor flows through the condenser - a heat exchanger at the front of the vehicle. Ambient air flowing over the condenser cools the refrigerant below its boiling point at this high pressure, so it condenses into a liquid. Heat is released to the outside air during this phase change.</a:t>
            </a:r>
          </a:p>
          <a:p>
            <a:pPr>
              <a:spcAft>
                <a:spcPts val="1000"/>
              </a:spcAft>
              <a:defRPr sz="1800">
                <a:solidFill>
                  <a:srgbClr val="333333"/>
                </a:solidFill>
              </a:defRPr>
            </a:pPr>
            <a:r>
              <a:t>Third: Expansion. The high-pressure liquid then passes through an expansion valve, which is basically a controlled restriction. As the liquid squeezes through, its pressure drops dramatically. This is called throttling. The temperature also drops due to the pressure reduction.</a:t>
            </a:r>
          </a:p>
          <a:p>
            <a:pPr>
              <a:spcAft>
                <a:spcPts val="1000"/>
              </a:spcAft>
              <a:defRPr sz="1800">
                <a:solidFill>
                  <a:srgbClr val="333333"/>
                </a:solidFill>
              </a:defRPr>
            </a:pPr>
            <a:r>
              <a:t>Fourth: Evaporation. The low-pressure, low-temperature liquid enters the evaporator - a heat exchanger inside the cabin. Cabin air blown over the evaporator heats the refrigerant, causing it to evaporate back into a vapor. This evaporation absorbs heat from the cabin air, which is how we get cooling!</a:t>
            </a:r>
          </a:p>
          <a:p>
            <a:pPr>
              <a:spcAft>
                <a:spcPts val="1000"/>
              </a:spcAft>
              <a:defRPr sz="1800">
                <a:solidFill>
                  <a:srgbClr val="333333"/>
                </a:solidFill>
              </a:defRPr>
            </a:pPr>
            <a:r>
              <a:t>Then the cycle repeats: the low-pressure vapor goes back to the compressor, and around we go again.</a:t>
            </a:r>
          </a:p>
          <a:p>
            <a:pPr>
              <a:spcAft>
                <a:spcPts val="1000"/>
              </a:spcAft>
              <a:defRPr sz="1800">
                <a:solidFill>
                  <a:srgbClr val="333333"/>
                </a:solidFill>
              </a:defRPr>
            </a:pPr>
            <a:r>
              <a:t>PPT Content:</a:t>
            </a:r>
          </a:p>
          <a:p>
            <a:pPr>
              <a:defRPr sz="1400">
                <a:solidFill>
                  <a:srgbClr val="787878"/>
                </a:solidFill>
                <a:latin typeface="Consolas"/>
              </a:defRPr>
            </a:pPr>
            <a:r>
              <a:t>THE REFRIGERATION CYCLE (4 Processes)</a:t>
            </a:r>
            <a:br/>
            <a:br/>
            <a:r>
              <a:t>     ┌──────────────────────────────────────┐</a:t>
            </a:r>
            <a:br/>
            <a:r>
              <a:t>     │                                      │</a:t>
            </a:r>
            <a:br/>
            <a:r>
              <a:t>  Compressor                            Evaporator</a:t>
            </a:r>
            <a:br/>
            <a:r>
              <a:t>     │                                      ↑</a:t>
            </a:r>
            <a:br/>
            <a:r>
              <a:t>     ↓                                      │</a:t>
            </a:r>
            <a:br/>
            <a:r>
              <a:t>  Condenser ─────→ Expansion Valve ─────────┘</a:t>
            </a:r>
            <a:br/>
            <a:br/>
            <a:r>
              <a:t>1. COMPRESSION (Compressor)</a:t>
            </a:r>
            <a:br/>
            <a:r>
              <a:t>   Low-pressure vapor → High-pressure vapor</a:t>
            </a:r>
            <a:br/>
            <a:r>
              <a:t>   Work input: ~2-4 kW (from engine/electric motor)</a:t>
            </a:r>
            <a:br/>
            <a:r>
              <a:t>   Temperature rises: ~60°C → ~80-90°C</a:t>
            </a:r>
            <a:br/>
            <a:r>
              <a:t>   Pressure rises: 2-3 bar → 12-18 bar</a:t>
            </a:r>
            <a:br/>
            <a:br/>
            <a:r>
              <a:t>2. CONDENSATION (Condenser)</a:t>
            </a:r>
            <a:br/>
            <a:r>
              <a:t>   High-pressure vapor → High-pressure liquid</a:t>
            </a:r>
            <a:br/>
            <a:r>
              <a:t>   Heat rejection: Released to outside air (~3-6 kW)</a:t>
            </a:r>
            <a:br/>
            <a:r>
              <a:t>   Temperature drops: ~80°C → ~50-60°C (ambient + margin)</a:t>
            </a:r>
            <a:br/>
            <a:r>
              <a:t>   Phase change: Gas → Liquid</a:t>
            </a:r>
            <a:br/>
            <a:br/>
            <a:r>
              <a:t>3. EXPANSION (Expansion Valve)</a:t>
            </a:r>
            <a:br/>
            <a:r>
              <a:t>   High-pressure liquid → Low-pressure liquid</a:t>
            </a:r>
            <a:br/>
            <a:r>
              <a:t>   Throttling process (isenthalpic)</a:t>
            </a:r>
            <a:br/>
            <a:r>
              <a:t>   Pressure drops: 12-18 bar → 2-3 bar</a:t>
            </a:r>
            <a:br/>
            <a:r>
              <a:t>   Temperature drops: ~50°C → ~5°C</a:t>
            </a:r>
            <a:br/>
            <a:br/>
            <a:r>
              <a:t>4. EVAPORATION (Evaporator)</a:t>
            </a:r>
            <a:br/>
            <a:r>
              <a:t>   Low-pressure liquid → Low-pressure vapor</a:t>
            </a:r>
            <a:br/>
            <a:r>
              <a:t>   Heat absorption: Absorbs cabin heat (~2-5 kW)</a:t>
            </a:r>
            <a:br/>
            <a:r>
              <a:t>   Temperature rises slightly: ~5°C → ~10°C</a:t>
            </a:r>
            <a:br/>
            <a:r>
              <a:t>   Phase change: Liquid → Gas</a:t>
            </a:r>
            <a:br/>
            <a:br/>
            <a:r>
              <a:t>Then back to compressor → Cycle repeats</a:t>
            </a:r>
          </a:p>
          <a:p>
            <a:pPr>
              <a:spcAft>
                <a:spcPts val="1000"/>
              </a:spcAft>
              <a:defRPr sz="1800">
                <a:solidFill>
                  <a:srgbClr val="333333"/>
                </a:solidFill>
              </a:defRPr>
            </a:pPr>
            <a:r>
              <a:t>Teaching Tip:</a:t>
            </a:r>
          </a:p>
          <a:p>
            <a:pPr>
              <a:spcAft>
                <a:spcPts val="1000"/>
              </a:spcAft>
              <a:defRPr sz="1800">
                <a:solidFill>
                  <a:srgbClr val="333333"/>
                </a:solidFill>
              </a:defRPr>
            </a:pPr>
            <a:r>
              <a:t>I'll often use the analogy of a heat pump. We're pumping heat uphill from the cool cabin to the hot outside, just like a water pump pushes water uphill.</a:t>
            </a:r>
          </a:p>
          <a:p>
            <a:pPr>
              <a:spcAft>
                <a:spcPts val="1000"/>
              </a:spcAft>
              <a:defRPr sz="1800">
                <a:solidFill>
                  <a:srgbClr val="333333"/>
                </a:solidFill>
              </a:defRPr>
            </a:pPr>
            <a:r>
              <a:t>Outcomes Addressed: SO-5-17-2 (refrigeration cycle description)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Pressure-Enthalpy (P-h) Diagram</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4 minutes</a:t>
            </a:r>
          </a:p>
          <a:p>
            <a:pPr>
              <a:spcAft>
                <a:spcPts val="1000"/>
              </a:spcAft>
              <a:defRPr sz="1800">
                <a:solidFill>
                  <a:srgbClr val="333333"/>
                </a:solidFill>
              </a:defRPr>
            </a:pPr>
            <a:r>
              <a:t>Instructor Narrative:</a:t>
            </a:r>
          </a:p>
          <a:p>
            <a:pPr>
              <a:spcAft>
                <a:spcPts val="1000"/>
              </a:spcAft>
              <a:defRPr sz="1800">
                <a:solidFill>
                  <a:srgbClr val="333333"/>
                </a:solidFill>
              </a:defRPr>
            </a:pPr>
            <a:r>
              <a:t>Now I want to show you the professional way to visualize the refrigeration cycle: the Pressure-Enthalpy diagram, or P-h diagram. This might look intimidating at first, but it's actually an incredibly useful tool. Let me walk you through it.</a:t>
            </a:r>
          </a:p>
          <a:p>
            <a:pPr>
              <a:spcAft>
                <a:spcPts val="1000"/>
              </a:spcAft>
              <a:defRPr sz="1800">
                <a:solidFill>
                  <a:srgbClr val="333333"/>
                </a:solidFill>
              </a:defRPr>
            </a:pPr>
            <a:r>
              <a:t>The vertical axis is pressure in bar - notice it's a log scale. The horizontal axis is specific enthalpy in kJ/kg, which is essentially the energy content of the refrigerant per unit mass.</a:t>
            </a:r>
          </a:p>
          <a:p>
            <a:pPr>
              <a:spcAft>
                <a:spcPts val="1000"/>
              </a:spcAft>
              <a:defRPr sz="1800">
                <a:solidFill>
                  <a:srgbClr val="333333"/>
                </a:solidFill>
              </a:defRPr>
            </a:pPr>
            <a:r>
              <a:t>You see these dome-shaped lines? The one on the left is the saturated liquid line, the one on the right is the saturated vapor line. Inside the dome, you have a mixture of liquid and vapor - two-phase region. To the left of the dome is pure liquid, to the right is superheated vapor.</a:t>
            </a:r>
          </a:p>
          <a:p>
            <a:pPr>
              <a:spcAft>
                <a:spcPts val="1000"/>
              </a:spcAft>
              <a:defRPr sz="1800">
                <a:solidFill>
                  <a:srgbClr val="333333"/>
                </a:solidFill>
              </a:defRPr>
            </a:pPr>
            <a:r>
              <a:t>Now, let's plot our refrigeration cycle on this diagram. We start at Point 1: low pressure, low temperature vapor coming from the evaporator.</a:t>
            </a:r>
          </a:p>
          <a:p>
            <a:pPr>
              <a:spcAft>
                <a:spcPts val="1000"/>
              </a:spcAft>
              <a:defRPr sz="1800">
                <a:solidFill>
                  <a:srgbClr val="333333"/>
                </a:solidFill>
              </a:defRPr>
            </a:pPr>
            <a:r>
              <a:t>The compressor raises the pressure and temperature - we move upward vertically (actually slightly to the right due to entropy increase) to Point 2: high pressure, high temperature vapor.</a:t>
            </a:r>
          </a:p>
          <a:p>
            <a:pPr>
              <a:spcAft>
                <a:spcPts val="1000"/>
              </a:spcAft>
              <a:defRPr sz="1800">
                <a:solidFill>
                  <a:srgbClr val="333333"/>
                </a:solidFill>
              </a:defRPr>
            </a:pPr>
            <a:r>
              <a:t>In the condenser, the vapor cools and condenses at constant high pressure, moving leftward along a horizontal line from Point 2 to Point 3. We cross the two-phase dome and end up with high-pressure liquid.</a:t>
            </a:r>
          </a:p>
          <a:p>
            <a:pPr>
              <a:spcAft>
                <a:spcPts val="1000"/>
              </a:spcAft>
              <a:defRPr sz="1800">
                <a:solidFill>
                  <a:srgbClr val="333333"/>
                </a:solidFill>
              </a:defRPr>
            </a:pPr>
            <a:r>
              <a:t>The expansion valve throttles the liquid - pressure drops rapidly, moving downward to Point 4. This is approximately a constant enthalpy process (vertical drop on P-h diagram).</a:t>
            </a:r>
          </a:p>
          <a:p>
            <a:pPr>
              <a:spcAft>
                <a:spcPts val="1000"/>
              </a:spcAft>
              <a:defRPr sz="1800">
                <a:solidFill>
                  <a:srgbClr val="333333"/>
                </a:solidFill>
              </a:defRPr>
            </a:pPr>
            <a:r>
              <a:t>Finally, in the evaporator, the liquid absorbs heat and evaporates at constant low pressure, moving rightward along a horizontal line back to Point 1.</a:t>
            </a:r>
          </a:p>
          <a:p>
            <a:pPr>
              <a:spcAft>
                <a:spcPts val="1000"/>
              </a:spcAft>
              <a:defRPr sz="1800">
                <a:solidFill>
                  <a:srgbClr val="333333"/>
                </a:solidFill>
              </a:defRPr>
            </a:pPr>
            <a:r>
              <a:t>The area enclosed by this cycle represents the cooling effect. The height of the cycle represents the pressure lift the compressor must provide. It's all there in one elegant diagram.</a:t>
            </a:r>
          </a:p>
          <a:p>
            <a:pPr>
              <a:spcAft>
                <a:spcPts val="1000"/>
              </a:spcAft>
              <a:defRPr sz="1800">
                <a:solidFill>
                  <a:srgbClr val="333333"/>
                </a:solidFill>
              </a:defRPr>
            </a:pPr>
            <a:r>
              <a:t>PPT Content:</a:t>
            </a:r>
          </a:p>
          <a:p>
            <a:pPr>
              <a:defRPr sz="1400">
                <a:solidFill>
                  <a:srgbClr val="787878"/>
                </a:solidFill>
                <a:latin typeface="Consolas"/>
              </a:defRPr>
            </a:pPr>
            <a:r>
              <a:t>PRESSURE-ENTHALPY (P-h) DIAGRAM</a:t>
            </a:r>
            <a:br/>
            <a:br/>
            <a:r>
              <a:t>[Diagram showing P-h plot with 4 processes marked]</a:t>
            </a:r>
            <a:br/>
            <a:br/>
            <a:r>
              <a:t>Axes:</a:t>
            </a:r>
            <a:br/>
            <a:r>
              <a:t>• Vertical: Pressure (bar) - Log scale</a:t>
            </a:r>
            <a:br/>
            <a:r>
              <a:t>• Horizontal: Specific Enthalpy (kJ/kg) - Energy content</a:t>
            </a:r>
            <a:br/>
            <a:br/>
            <a:r>
              <a:t>Key Lines:</a:t>
            </a:r>
            <a:br/>
            <a:r>
              <a:t>• Saturated liquid line (left dome edge)</a:t>
            </a:r>
            <a:br/>
            <a:r>
              <a:t>• Saturated vapor line (right dome edge)</a:t>
            </a:r>
            <a:br/>
            <a:r>
              <a:t>• Two-phase region (inside dome): Mix of liquid + vapor</a:t>
            </a:r>
            <a:br/>
            <a:r>
              <a:t>• Subcooled liquid (left of dome)</a:t>
            </a:r>
            <a:br/>
            <a:r>
              <a:t>• Superheated vapor (right of dome)</a:t>
            </a:r>
            <a:br/>
            <a:br/>
            <a:r>
              <a:t>REFRIGERATION CYCLE on P-h Diagram:</a:t>
            </a:r>
            <a:br/>
            <a:br/>
            <a:r>
              <a:t>Point 1 (Evaporator exit): P_low = 2-3 bar, T ≈ 5-10°C, vapor</a:t>
            </a:r>
            <a:br/>
            <a:r>
              <a:t>  ↓ COMPRESSION (compressor work input)</a:t>
            </a:r>
            <a:br/>
            <a:r>
              <a:t>Point 2 (Compressor exit): P_high = 15 bar, T ≈ 80-90°C, superheated vapor</a:t>
            </a:r>
            <a:br/>
            <a:r>
              <a:t>  ↓ CONDENSATION (heat rejection, constant pressure)</a:t>
            </a:r>
            <a:br/>
            <a:r>
              <a:t>Point 3 (Condenser exit): P_high = 15 bar, T ≈ 50°C, subcooled liquid</a:t>
            </a:r>
            <a:br/>
            <a:r>
              <a:t>  ↓ EXPANSION (throttling, isenthalpic)</a:t>
            </a:r>
            <a:br/>
            <a:r>
              <a:t>Point 4 (Expansion valve exit): P_low = 2-3 bar, T ≈ 5°C, two-phase mixture</a:t>
            </a:r>
            <a:br/>
            <a:r>
              <a:t>  ↓ EVAPORATION (heat absorption, constant pressure)</a:t>
            </a:r>
            <a:br/>
            <a:r>
              <a:t>Point 1 (back to start)</a:t>
            </a:r>
            <a:br/>
            <a:br/>
            <a:r>
              <a:t>Cooling Effect (Q_evap):</a:t>
            </a:r>
            <a:br/>
            <a:r>
              <a:t>Enthalpy increase in evaporator = h1 - h4 (kJ/kg)</a:t>
            </a:r>
            <a:br/>
            <a:br/>
            <a:r>
              <a:t>Work Input (W_comp):</a:t>
            </a:r>
            <a:br/>
            <a:r>
              <a:t>Enthalpy increase in compressor = h2 - h1 (kJ/kg)</a:t>
            </a:r>
            <a:br/>
            <a:br/>
            <a:r>
              <a:t>COP (Coefficient of Performance):</a:t>
            </a:r>
            <a:br/>
            <a:r>
              <a:t>COP = Q_evap / W_comp = (h1 - h4) / (h2 - h1)</a:t>
            </a:r>
            <a:br/>
            <a:r>
              <a:t>Typical automotive AC: COP ≈ 2-3</a:t>
            </a:r>
          </a:p>
          <a:p>
            <a:pPr>
              <a:spcAft>
                <a:spcPts val="1000"/>
              </a:spcAft>
              <a:defRPr sz="1800">
                <a:solidFill>
                  <a:srgbClr val="333333"/>
                </a:solidFill>
              </a:defRPr>
            </a:pPr>
            <a:r>
              <a:t>Teaching Note: — Students don't need to memorize exact values, but should understand the shape and flow</a:t>
            </a:r>
          </a:p>
          <a:p>
            <a:pPr>
              <a:spcAft>
                <a:spcPts val="600"/>
              </a:spcAft>
              <a:defRPr sz="1800">
                <a:solidFill>
                  <a:srgbClr val="333333"/>
                </a:solidFill>
              </a:defRPr>
            </a:pPr>
            <a:r>
              <a:t>Emphasize: High pressure in condenser, low pressure in evaporator</a:t>
            </a:r>
          </a:p>
          <a:p>
            <a:pPr>
              <a:spcAft>
                <a:spcPts val="600"/>
              </a:spcAft>
              <a:defRPr sz="1800">
                <a:solidFill>
                  <a:srgbClr val="333333"/>
                </a:solidFill>
              </a:defRPr>
            </a:pPr>
            <a:r>
              <a:t>Phase changes occur at constant pressure (horizontal lines)</a:t>
            </a:r>
          </a:p>
          <a:p>
            <a:pPr>
              <a:spcAft>
                <a:spcPts val="1000"/>
              </a:spcAft>
              <a:defRPr sz="1800">
                <a:solidFill>
                  <a:srgbClr val="333333"/>
                </a:solidFill>
              </a:defRPr>
            </a:pPr>
            <a:r>
              <a:t>Outcomes Addressed: SO-5-17-2 (P-h diagram, thermodynamic cycle)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Refrigerant Properties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Now, what exactly is this refrigerant we keep talking about? It's a special chemical compound chosen for very specific thermodynamic properties. For decades, automotive air conditioning used R12 (dichlorodifluoromethane), but that was phased out in the 1990s because it damages the ozone layer.</a:t>
            </a:r>
          </a:p>
          <a:p>
            <a:pPr>
              <a:spcAft>
                <a:spcPts val="1000"/>
              </a:spcAft>
              <a:defRPr sz="1800">
                <a:solidFill>
                  <a:srgbClr val="333333"/>
                </a:solidFill>
              </a:defRPr>
            </a:pPr>
            <a:r>
              <a:t>It was replaced by R134a (tetrafluoroethane), which became the industry standard from the mid-1990s to around 2015. R134a has good thermodynamic properties - it boils at -26°C at atmospheric pressure, which means at cabin pressure of 2-3 bar, it boils at around 0-10°C, perfect for air conditioning. It's also non-toxic and non-flammable, which is critical for safety.</a:t>
            </a:r>
          </a:p>
          <a:p>
            <a:pPr>
              <a:spcAft>
                <a:spcPts val="1000"/>
              </a:spcAft>
              <a:defRPr sz="1800">
                <a:solidFill>
                  <a:srgbClr val="333333"/>
                </a:solidFill>
              </a:defRPr>
            </a:pPr>
            <a:r>
              <a:t>However, R134a has a high Global Warming Potential - if it leaks, it's 1,430 times worse than CO₂ as a greenhouse gas over 100 years. So European regulations pushed for a replacement.</a:t>
            </a:r>
          </a:p>
          <a:p>
            <a:pPr>
              <a:spcAft>
                <a:spcPts val="1000"/>
              </a:spcAft>
              <a:defRPr sz="1800">
                <a:solidFill>
                  <a:srgbClr val="333333"/>
                </a:solidFill>
              </a:defRPr>
            </a:pPr>
            <a:r>
              <a:t>Enter R1234yf (tetrafluoropropene), which has been mandatory in new EU vehicles since 2017. Its GWP is only 4 - essentially equivalent to CO₂. The thermodynamic properties are very similar to R134a, so the same system architecture works. The main differences are cost - R1234yf is more expensive - and a slight flammability concern, though in practice the risk is very low.</a:t>
            </a:r>
          </a:p>
          <a:p>
            <a:pPr>
              <a:spcAft>
                <a:spcPts val="1000"/>
              </a:spcAft>
              <a:defRPr sz="1800">
                <a:solidFill>
                  <a:srgbClr val="333333"/>
                </a:solidFill>
              </a:defRPr>
            </a:pPr>
            <a:r>
              <a:t>The key point is that the refrigeration cycle and components remain essentially the same regardless of which refrigerant you use. The refrigerant is just the working fluid.</a:t>
            </a:r>
          </a:p>
          <a:p>
            <a:pPr>
              <a:spcAft>
                <a:spcPts val="1000"/>
              </a:spcAft>
              <a:defRPr sz="1800">
                <a:solidFill>
                  <a:srgbClr val="333333"/>
                </a:solidFill>
              </a:defRPr>
            </a:pPr>
            <a:r>
              <a:t>PPT Content:</a:t>
            </a:r>
          </a:p>
          <a:p>
            <a:pPr>
              <a:defRPr sz="1400">
                <a:solidFill>
                  <a:srgbClr val="787878"/>
                </a:solidFill>
                <a:latin typeface="Consolas"/>
              </a:defRPr>
            </a:pPr>
            <a:r>
              <a:t>REFRIGERANT PROPERTIES</a:t>
            </a:r>
            <a:br/>
            <a:br/>
            <a:r>
              <a:t>Historical Evolution:</a:t>
            </a:r>
            <a:br/>
            <a:r>
              <a:t>R12 (CFC) → Phased out 1990s (ozone depletion)</a:t>
            </a:r>
            <a:br/>
            <a:r>
              <a:t>R134a (HFC) → Industry standard 1995-2017</a:t>
            </a:r>
            <a:br/>
            <a:r>
              <a:t>R1234yf (HFO) → EU mandatory since 2017 (low GWP)</a:t>
            </a:r>
            <a:br/>
            <a:br/>
            <a:r>
              <a:t>R134a (Tetrafluoroethane) - Legacy Standard</a:t>
            </a:r>
            <a:br/>
            <a:r>
              <a:t>• Chemical formula: CH₂FCF₃</a:t>
            </a:r>
            <a:br/>
            <a:r>
              <a:t>• Boiling point at 1 atm: -26.3°C</a:t>
            </a:r>
            <a:br/>
            <a:r>
              <a:t>• Operating pressure range: 2-18 bar (typical AC cycle)</a:t>
            </a:r>
            <a:br/>
            <a:r>
              <a:t>• Global Warming Potential (GWP): 1,430 (high!)</a:t>
            </a:r>
            <a:br/>
            <a:r>
              <a:t>• Ozone Depletion Potential (ODP): 0 (safe for ozone)</a:t>
            </a:r>
            <a:br/>
            <a:r>
              <a:t>• Safety: Non-toxic, non-flammable</a:t>
            </a:r>
            <a:br/>
            <a:r>
              <a:t>• Cost: Moderate (₹300-500/kg)</a:t>
            </a:r>
            <a:br/>
            <a:br/>
            <a:r>
              <a:t>R1234yf (Tetrafluoropropene) - Current Standard</a:t>
            </a:r>
            <a:br/>
            <a:r>
              <a:t>• Chemical formula: CF₃CF=CH₂</a:t>
            </a:r>
            <a:br/>
            <a:r>
              <a:t>• Boiling point at 1 atm: -29.5°C</a:t>
            </a:r>
            <a:br/>
            <a:r>
              <a:t>• Operating pressure range: 2-18 bar (similar to R134a)</a:t>
            </a:r>
            <a:br/>
            <a:r>
              <a:t>• Global Warming Potential (GWP): &lt;1 (very low!)</a:t>
            </a:r>
            <a:br/>
            <a:r>
              <a:t>• Ozone Depletion Potential (ODP): 0</a:t>
            </a:r>
            <a:br/>
            <a:r>
              <a:t>• Safety: Non-toxic, mildly flammable (low risk)</a:t>
            </a:r>
            <a:br/>
            <a:r>
              <a:t>• Cost: High (₹2,000-3,000/kg) - patent-protected</a:t>
            </a:r>
            <a:br/>
            <a:br/>
            <a:r>
              <a:t>Key Requirements for Automotive Refrigerant:</a:t>
            </a:r>
            <a:br/>
            <a:r>
              <a:t>✓ Suitable boiling point for AC temperature range</a:t>
            </a:r>
            <a:br/>
            <a:r>
              <a:t>✓ High latent heat of vaporization (more cooling per kg)</a:t>
            </a:r>
            <a:br/>
            <a:r>
              <a:t>✓ Safe (non-toxic, low flammability)</a:t>
            </a:r>
            <a:br/>
            <a:r>
              <a:t>✓ Chemically stable (won't decompose)</a:t>
            </a:r>
            <a:br/>
            <a:r>
              <a:t>✓ Compatible with lubricants and materials</a:t>
            </a:r>
            <a:br/>
            <a:r>
              <a:t>✓ Low environmental impact (GWP, ODP)</a:t>
            </a:r>
            <a:br/>
            <a:br/>
            <a:r>
              <a:t>System Design:</a:t>
            </a:r>
            <a:br/>
            <a:r>
              <a:t>Same components work for both R134a and R1234yf</a:t>
            </a:r>
            <a:br/>
            <a:r>
              <a:t>Refrigerant charge quantity: ~400-800 grams (typical sedan)</a:t>
            </a:r>
          </a:p>
          <a:p>
            <a:pPr>
              <a:spcAft>
                <a:spcPts val="1000"/>
              </a:spcAft>
              <a:defRPr sz="1800">
                <a:solidFill>
                  <a:srgbClr val="333333"/>
                </a:solidFill>
              </a:defRPr>
            </a:pPr>
            <a:r>
              <a:t>Real-World Context: — EU Directive 2006/40/EC mandated GWP &lt;150 for new vehicles from 2017</a:t>
            </a:r>
          </a:p>
          <a:p>
            <a:pPr>
              <a:spcAft>
                <a:spcPts val="600"/>
              </a:spcAft>
              <a:defRPr sz="1800">
                <a:solidFill>
                  <a:srgbClr val="333333"/>
                </a:solidFill>
              </a:defRPr>
            </a:pPr>
            <a:r>
              <a:t>India mostly still uses R134a (as of 2024), gradual transition to R1234yf</a:t>
            </a:r>
          </a:p>
          <a:p>
            <a:pPr>
              <a:spcAft>
                <a:spcPts val="600"/>
              </a:spcAft>
              <a:defRPr sz="1800">
                <a:solidFill>
                  <a:srgbClr val="333333"/>
                </a:solidFill>
              </a:defRPr>
            </a:pPr>
            <a:r>
              <a:t>System must be designed to minimize leaks (both for performance and environment)</a:t>
            </a:r>
          </a:p>
          <a:p>
            <a:pPr>
              <a:spcAft>
                <a:spcPts val="1000"/>
              </a:spcAft>
              <a:defRPr sz="1800">
                <a:solidFill>
                  <a:srgbClr val="333333"/>
                </a:solidFill>
              </a:defRPr>
            </a:pPr>
            <a:r>
              <a:t>Outcomes Addressed: SO-5-17-2 (refrigerant properties), SO-5-17-3 (component identification prep)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Phase Change and Cooling Effect</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I want to zoom in on why evaporation cools. This is fundamental to understanding the evaporator.</a:t>
            </a:r>
          </a:p>
          <a:p>
            <a:pPr>
              <a:spcAft>
                <a:spcPts val="1000"/>
              </a:spcAft>
              <a:defRPr sz="1800">
                <a:solidFill>
                  <a:srgbClr val="333333"/>
                </a:solidFill>
              </a:defRPr>
            </a:pPr>
            <a:r>
              <a:t>At the molecular level, temperature is just the average kinetic energy of molecules. In a liquid, molecules are bonded together weakly. To break free and become a gas, a molecule needs energy - specifically, the latent heat of vaporization.</a:t>
            </a:r>
          </a:p>
          <a:p>
            <a:pPr>
              <a:spcAft>
                <a:spcPts val="1000"/>
              </a:spcAft>
              <a:defRPr sz="1800">
                <a:solidFill>
                  <a:srgbClr val="333333"/>
                </a:solidFill>
              </a:defRPr>
            </a:pPr>
            <a:r>
              <a:t>When refrigerant evaporates inside the evaporator, each molecule that escapes the liquid phase must absorb energy to overcome the intermolecular forces. Where does this energy come from? From the cabin air blowing over the evaporator!</a:t>
            </a:r>
          </a:p>
          <a:p>
            <a:pPr>
              <a:spcAft>
                <a:spcPts val="1000"/>
              </a:spcAft>
              <a:defRPr sz="1800">
                <a:solidFill>
                  <a:srgbClr val="333333"/>
                </a:solidFill>
              </a:defRPr>
            </a:pPr>
            <a:r>
              <a:t>This is the cooling effect: the refrigerant steals energy from the cabin air as it evaporates. The cabin air loses energy, so its temperature drops - you feel cold air from the vents.</a:t>
            </a:r>
          </a:p>
          <a:p>
            <a:pPr>
              <a:spcAft>
                <a:spcPts val="1000"/>
              </a:spcAft>
              <a:defRPr sz="1800">
                <a:solidFill>
                  <a:srgbClr val="333333"/>
                </a:solidFill>
              </a:defRPr>
            </a:pPr>
            <a:r>
              <a:t>For R134a, the latent heat is about 217 kJ/kg at typical evaporator conditions. That means for every kilogram of refrigerant that evaporates, we remove 217 kilojoules of heat from the cabin. If we circulate, say, 10 grams per second of refrigerant through the system, that's 217 × 0.01 = 2.17 kW of cooling. That's enough to cool a small sedan in steady-state conditions.</a:t>
            </a:r>
          </a:p>
          <a:p>
            <a:pPr>
              <a:spcAft>
                <a:spcPts val="1000"/>
              </a:spcAft>
              <a:defRPr sz="1800">
                <a:solidFill>
                  <a:srgbClr val="333333"/>
                </a:solidFill>
              </a:defRPr>
            </a:pPr>
            <a:r>
              <a:t>The beauty of using phase change is that we get a large amount of cooling (latent heat) at a nearly constant temperature. That's why refrigeration is so effective compared to just blowing air over ice, for example.</a:t>
            </a:r>
          </a:p>
          <a:p>
            <a:pPr>
              <a:spcAft>
                <a:spcPts val="1000"/>
              </a:spcAft>
              <a:defRPr sz="1800">
                <a:solidFill>
                  <a:srgbClr val="333333"/>
                </a:solidFill>
              </a:defRPr>
            </a:pPr>
            <a:r>
              <a:t>PPT Content:</a:t>
            </a:r>
          </a:p>
          <a:p>
            <a:pPr>
              <a:defRPr sz="1400">
                <a:solidFill>
                  <a:srgbClr val="787878"/>
                </a:solidFill>
                <a:latin typeface="Consolas"/>
              </a:defRPr>
            </a:pPr>
            <a:r>
              <a:t>PHASE CHANGE &amp; COOLING EFFECT</a:t>
            </a:r>
            <a:br/>
            <a:br/>
            <a:r>
              <a:t>Molecular View of Evaporation:</a:t>
            </a:r>
            <a:br/>
            <a:r>
              <a:t>Liquid molecules: Weakly bonded, vibrating</a:t>
            </a:r>
            <a:br/>
            <a:r>
              <a:t>→ Energy input: Overcome intermolecular forces</a:t>
            </a:r>
            <a:br/>
            <a:r>
              <a:t>→ Gas molecules: Free to move, high kinetic energy</a:t>
            </a:r>
            <a:br/>
            <a:br/>
            <a:r>
              <a:t>Latent Heat of Vaporization:</a:t>
            </a:r>
            <a:br/>
            <a:r>
              <a:t>Energy required to change phase (liquid → gas) at constant temperature</a:t>
            </a:r>
            <a:br/>
            <a:r>
              <a:t>R134a: ΔH_vap ≈ 217 kJ/kg (at evaporator conditions)</a:t>
            </a:r>
            <a:br/>
            <a:r>
              <a:t>This is MUCH larger than specific heat (sensible cooling)</a:t>
            </a:r>
            <a:br/>
            <a:br/>
            <a:r>
              <a:t>Cooling Effect Calculation:</a:t>
            </a:r>
            <a:br/>
            <a:r>
              <a:t>Q_cooling = ṁ × ΔH_vap</a:t>
            </a:r>
            <a:br/>
            <a:r>
              <a:t>Where:</a:t>
            </a:r>
            <a:br/>
            <a:r>
              <a:t>• Q_cooling = Cooling power (kW)</a:t>
            </a:r>
            <a:br/>
            <a:r>
              <a:t>• ṁ = Refrigerant mass flow rate (kg/s)</a:t>
            </a:r>
            <a:br/>
            <a:r>
              <a:t>• ΔH_vap = Latent heat of vaporization (kJ/kg)</a:t>
            </a:r>
            <a:br/>
            <a:br/>
            <a:r>
              <a:t>Example:</a:t>
            </a:r>
            <a:br/>
            <a:r>
              <a:t>Refrigerant flow rate: ṁ = 0.01 kg/s (10 g/s)</a:t>
            </a:r>
            <a:br/>
            <a:r>
              <a:t>Latent heat: ΔH_vap = 217 kJ/kg</a:t>
            </a:r>
            <a:br/>
            <a:r>
              <a:t>Cooling power: Q = 0.01 × 217 = 2.17 kW ✓</a:t>
            </a:r>
            <a:br/>
            <a:br/>
            <a:r>
              <a:t>Comparison:</a:t>
            </a:r>
            <a:br/>
            <a:r>
              <a:t>Latent heat (phase change): 217 kJ/kg</a:t>
            </a:r>
            <a:br/>
            <a:r>
              <a:t>Sensible heat (temperature change): ~1.4 kJ/(kg·°C)</a:t>
            </a:r>
            <a:br/>
            <a:r>
              <a:t>→ Phase change gives ~150x more cooling per degree!</a:t>
            </a:r>
            <a:br/>
            <a:br/>
            <a:r>
              <a:t>Why This Matters:</a:t>
            </a:r>
            <a:br/>
            <a:r>
              <a:t>Evaporator absorbs LARGE amounts of heat with SMALL temperature change</a:t>
            </a:r>
            <a:br/>
            <a:r>
              <a:t>→ Efficient, compact cooling</a:t>
            </a:r>
          </a:p>
          <a:p>
            <a:pPr>
              <a:spcAft>
                <a:spcPts val="1000"/>
              </a:spcAft>
              <a:defRPr sz="1800">
                <a:solidFill>
                  <a:srgbClr val="333333"/>
                </a:solidFill>
              </a:defRPr>
            </a:pPr>
            <a:r>
              <a:t>Visual Aid:</a:t>
            </a:r>
          </a:p>
          <a:p>
            <a:pPr>
              <a:spcAft>
                <a:spcPts val="1000"/>
              </a:spcAft>
              <a:defRPr sz="1800">
                <a:solidFill>
                  <a:srgbClr val="333333"/>
                </a:solidFill>
              </a:defRPr>
            </a:pPr>
            <a:r>
              <a:t>Show animation of molecules escaping liquid surface, with "energy arrows" being absorbed from surroundings.</a:t>
            </a:r>
          </a:p>
          <a:p>
            <a:pPr>
              <a:spcAft>
                <a:spcPts val="1000"/>
              </a:spcAft>
              <a:defRPr sz="1800">
                <a:solidFill>
                  <a:srgbClr val="333333"/>
                </a:solidFill>
              </a:defRPr>
            </a:pPr>
            <a:r>
              <a:t>Outcomes Addressed: SO-5-17-2 (thermodynamic cycle), foundation for SO-5-17-3 (evaporator operation)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Compression Work and COP</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Now let's talk about efficiency. We put work into the compressor - that's energy we're spending, either from the engine or the battery in an EV. In return, we get cooling. How efficient is this process?</a:t>
            </a:r>
          </a:p>
          <a:p>
            <a:pPr>
              <a:spcAft>
                <a:spcPts val="1000"/>
              </a:spcAft>
              <a:defRPr sz="1800">
                <a:solidFill>
                  <a:srgbClr val="333333"/>
                </a:solidFill>
              </a:defRPr>
            </a:pPr>
            <a:r>
              <a:t>The metric we use is called COP - Coefficient of Performance. It's simply the ratio of cooling output to work input. For automotive air conditioning, COP is typically around 2 to 3. That means for every 1 kW of compressor work, we get 2-3 kW of cooling.</a:t>
            </a:r>
          </a:p>
          <a:p>
            <a:pPr>
              <a:spcAft>
                <a:spcPts val="1000"/>
              </a:spcAft>
              <a:defRPr sz="1800">
                <a:solidFill>
                  <a:srgbClr val="333333"/>
                </a:solidFill>
              </a:defRPr>
            </a:pPr>
            <a:r>
              <a:t>Wait, you might think - that's more than 100% efficient! How is that possible? The key is that we're not creating cold energy, we're moving heat. The compressor work helps move heat from inside to outside. The total heat rejected to the condenser is actually the cabin heat we absorbed PLUS the compressor work. Energy is conserved, don't worry.</a:t>
            </a:r>
          </a:p>
          <a:p>
            <a:pPr>
              <a:spcAft>
                <a:spcPts val="1000"/>
              </a:spcAft>
              <a:defRPr sz="1800">
                <a:solidFill>
                  <a:srgbClr val="333333"/>
                </a:solidFill>
              </a:defRPr>
            </a:pPr>
            <a:r>
              <a:t>A COP of 3 means we remove 3 kW of cabin heat by putting in 1 kW of compressor work. We dump 4 kW to the condenser. From the cabin's perspective, we got 3 kW of cooling benefit for 1 kW of cost - that's why COP is a useful metric.</a:t>
            </a:r>
          </a:p>
          <a:p>
            <a:pPr>
              <a:spcAft>
                <a:spcPts val="1000"/>
              </a:spcAft>
              <a:defRPr sz="1800">
                <a:solidFill>
                  <a:srgbClr val="333333"/>
                </a:solidFill>
              </a:defRPr>
            </a:pPr>
            <a:r>
              <a:t>Now, COP is not constant. It depends on operating conditions. If the outside temperature is very high, the condenser has to work harder, and COP drops. If you're asking for extremely cold cabin air, the evaporator temperature drops, pressure ratio increases, and COP drops. Optimal COP is when temperature difference between inside and outside is moderate.</a:t>
            </a:r>
          </a:p>
          <a:p>
            <a:pPr>
              <a:spcAft>
                <a:spcPts val="1000"/>
              </a:spcAft>
              <a:defRPr sz="1800">
                <a:solidFill>
                  <a:srgbClr val="333333"/>
                </a:solidFill>
              </a:defRPr>
            </a:pPr>
            <a:r>
              <a:t>PPT Content:</a:t>
            </a:r>
          </a:p>
          <a:p>
            <a:pPr>
              <a:defRPr sz="1400">
                <a:solidFill>
                  <a:srgbClr val="787878"/>
                </a:solidFill>
                <a:latin typeface="Consolas"/>
              </a:defRPr>
            </a:pPr>
            <a:r>
              <a:t>COMPRESSION WORK &amp; COP</a:t>
            </a:r>
            <a:br/>
            <a:br/>
            <a:r>
              <a:t>Compressor Work:</a:t>
            </a:r>
            <a:br/>
            <a:r>
              <a:t>W_comp = ṁ × (h2 - h1)</a:t>
            </a:r>
            <a:br/>
            <a:r>
              <a:t>Where:</a:t>
            </a:r>
            <a:br/>
            <a:r>
              <a:t>• h2 = Enthalpy after compression (kJ/kg)</a:t>
            </a:r>
            <a:br/>
            <a:r>
              <a:t>• h1 = Enthalpy before compression (kJ/kg)</a:t>
            </a:r>
            <a:br/>
            <a:r>
              <a:t>• ṁ = Refrigerant mass flow rate (kg/s)</a:t>
            </a:r>
            <a:br/>
            <a:br/>
            <a:r>
              <a:t>Typical compressor power: 2-4 kW (automotive AC)</a:t>
            </a:r>
            <a:br/>
            <a:br/>
            <a:r>
              <a:t>Cooling Effect:</a:t>
            </a:r>
            <a:br/>
            <a:r>
              <a:t>Q_evap = ṁ × (h1 - h4)</a:t>
            </a:r>
            <a:br/>
            <a:r>
              <a:t>Typical cooling power: 3-8 kW (depends on conditions)</a:t>
            </a:r>
            <a:br/>
            <a:br/>
            <a:r>
              <a:t>COP (Coefficient of Performance):</a:t>
            </a:r>
            <a:br/>
            <a:r>
              <a:t>COP = Q_evap / W_comp = Cooling Output / Work Input</a:t>
            </a:r>
            <a:br/>
            <a:br/>
            <a:r>
              <a:t>Typical automotive AC COP: 2.0 - 3.0</a:t>
            </a:r>
            <a:br/>
            <a:br/>
            <a:r>
              <a:t>Example:</a:t>
            </a:r>
            <a:br/>
            <a:r>
              <a:t>Compressor work: W = 2 kW</a:t>
            </a:r>
            <a:br/>
            <a:r>
              <a:t>Cooling output: Q = 5 kW</a:t>
            </a:r>
            <a:br/>
            <a:r>
              <a:t>COP = 5 / 2 = 2.5 ✓</a:t>
            </a:r>
            <a:br/>
            <a:br/>
            <a:r>
              <a:t>Energy Balance (Conservation):</a:t>
            </a:r>
            <a:br/>
            <a:r>
              <a:t>Heat rejected at condenser: Q_cond = Q_evap + W_comp</a:t>
            </a:r>
            <a:br/>
            <a:r>
              <a:t>Example: Q_cond = 5 + 2 = 7 kW</a:t>
            </a:r>
            <a:br/>
            <a:r>
              <a:t>This 7 kW is dumped to outside air via condenser</a:t>
            </a:r>
            <a:br/>
            <a:br/>
            <a:r>
              <a:t>Factors Affecting COP:</a:t>
            </a:r>
            <a:br/>
            <a:r>
              <a:t>• Outside temperature ↑ → COP ↓ (harder to reject heat)</a:t>
            </a:r>
            <a:br/>
            <a:r>
              <a:t>• Desired cabin temp ↓ → COP ↓ (larger temperature lift)</a:t>
            </a:r>
            <a:br/>
            <a:r>
              <a:t>• Compressor efficiency (mechanical losses reduce COP)</a:t>
            </a:r>
            <a:br/>
            <a:r>
              <a:t>• Refrigerant charge level (undercharged or overcharged reduces COP)</a:t>
            </a:r>
            <a:br/>
            <a:br/>
            <a:r>
              <a:t>Comparison to Home AC:</a:t>
            </a:r>
            <a:br/>
            <a:r>
              <a:t>Home AC COP: 3-4 (higher, more stable conditions)</a:t>
            </a:r>
            <a:br/>
            <a:r>
              <a:t>Automotive AC COP: 2-3 (lower, variable conditions, size constraints)</a:t>
            </a:r>
          </a:p>
          <a:p>
            <a:pPr>
              <a:spcAft>
                <a:spcPts val="1000"/>
              </a:spcAft>
              <a:defRPr sz="1800">
                <a:solidFill>
                  <a:srgbClr val="333333"/>
                </a:solidFill>
              </a:defRPr>
            </a:pPr>
            <a:r>
              <a:t>Teaching Note:</a:t>
            </a:r>
          </a:p>
          <a:p>
            <a:pPr>
              <a:spcAft>
                <a:spcPts val="1000"/>
              </a:spcAft>
              <a:defRPr sz="1800">
                <a:solidFill>
                  <a:srgbClr val="333333"/>
                </a:solidFill>
              </a:defRPr>
            </a:pPr>
            <a:r>
              <a:t>COP &gt; 1 is normal for heat pumps/refrigeration because we're moving heat, not creating it. Don't confuse with thermal efficiency (η &lt; 1 always).</a:t>
            </a:r>
          </a:p>
          <a:p>
            <a:pPr>
              <a:spcAft>
                <a:spcPts val="1000"/>
              </a:spcAft>
              <a:defRPr sz="1800">
                <a:solidFill>
                  <a:srgbClr val="333333"/>
                </a:solidFill>
              </a:defRPr>
            </a:pPr>
            <a:r>
              <a:t>Outcomes Addressed: SO-5-17-2 (refrigeration cycle, thermodynamic understanding)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Summary: Refrigeration Cycle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2 minutes</a:t>
            </a:r>
          </a:p>
          <a:p>
            <a:pPr>
              <a:spcAft>
                <a:spcPts val="1000"/>
              </a:spcAft>
              <a:defRPr sz="1800">
                <a:solidFill>
                  <a:srgbClr val="333333"/>
                </a:solidFill>
              </a:defRPr>
            </a:pPr>
            <a:r>
              <a:t>Instructor Narrative:</a:t>
            </a:r>
          </a:p>
          <a:p>
            <a:pPr>
              <a:spcAft>
                <a:spcPts val="1000"/>
              </a:spcAft>
              <a:defRPr sz="1800">
                <a:solidFill>
                  <a:srgbClr val="333333"/>
                </a:solidFill>
              </a:defRPr>
            </a:pPr>
            <a:r>
              <a:t>Let's recap the refrigeration thermodynamics before we move to components. The refrigeration cycle has four processes:</a:t>
            </a:r>
          </a:p>
          <a:p>
            <a:pPr>
              <a:spcAft>
                <a:spcPts val="1000"/>
              </a:spcAft>
              <a:defRPr sz="1800">
                <a:solidFill>
                  <a:srgbClr val="333333"/>
                </a:solidFill>
              </a:defRPr>
            </a:pPr>
            <a:r>
              <a:t>Compression - we put work in to raise pressure and temperature of refrigerant vapor. This is the energy input to the system.</a:t>
            </a:r>
          </a:p>
          <a:p>
            <a:pPr>
              <a:spcAft>
                <a:spcPts val="1000"/>
              </a:spcAft>
              <a:defRPr sz="1800">
                <a:solidFill>
                  <a:srgbClr val="333333"/>
                </a:solidFill>
              </a:defRPr>
            </a:pPr>
            <a:r>
              <a:t>Condensation - the hot vapor releases heat to the outside air and condenses into liquid at high pressure. This is where we dump the cabin heat.</a:t>
            </a:r>
          </a:p>
          <a:p>
            <a:pPr>
              <a:spcAft>
                <a:spcPts val="1000"/>
              </a:spcAft>
              <a:defRPr sz="1800">
                <a:solidFill>
                  <a:srgbClr val="333333"/>
                </a:solidFill>
              </a:defRPr>
            </a:pPr>
            <a:r>
              <a:t>Expansion - the high-pressure liquid throttles through a valve, dropping in pressure and temperature.</a:t>
            </a:r>
          </a:p>
          <a:p>
            <a:pPr>
              <a:spcAft>
                <a:spcPts val="1000"/>
              </a:spcAft>
              <a:defRPr sz="1800">
                <a:solidFill>
                  <a:srgbClr val="333333"/>
                </a:solidFill>
              </a:defRPr>
            </a:pPr>
            <a:r>
              <a:t>Evaporation - the cold liquid absorbs heat from the cabin air and evaporates back into vapor. This is where the cooling happens.</a:t>
            </a:r>
          </a:p>
          <a:p>
            <a:pPr>
              <a:spcAft>
                <a:spcPts val="1000"/>
              </a:spcAft>
              <a:defRPr sz="1800">
                <a:solidFill>
                  <a:srgbClr val="333333"/>
                </a:solidFill>
              </a:defRPr>
            </a:pPr>
            <a:r>
              <a:t>The P-h diagram shows us the cycle visually. The refrigerant properties determine the specific pressures and temperatures. And the COP tells us how efficiently we're moving heat.</a:t>
            </a:r>
          </a:p>
          <a:p>
            <a:pPr>
              <a:spcAft>
                <a:spcPts val="1000"/>
              </a:spcAft>
              <a:defRPr sz="1800">
                <a:solidFill>
                  <a:srgbClr val="333333"/>
                </a:solidFill>
              </a:defRPr>
            </a:pPr>
            <a:r>
              <a:t>Now that you understand the thermodynamics, we can move to the actual hardware that makes this happen.</a:t>
            </a:r>
          </a:p>
          <a:p>
            <a:pPr>
              <a:spcAft>
                <a:spcPts val="1000"/>
              </a:spcAft>
              <a:defRPr sz="1800">
                <a:solidFill>
                  <a:srgbClr val="333333"/>
                </a:solidFill>
              </a:defRPr>
            </a:pPr>
            <a:r>
              <a:t>PPT Content:</a:t>
            </a:r>
          </a:p>
          <a:p>
            <a:pPr>
              <a:defRPr sz="1400">
                <a:solidFill>
                  <a:srgbClr val="787878"/>
                </a:solidFill>
                <a:latin typeface="Consolas"/>
              </a:defRPr>
            </a:pPr>
            <a:r>
              <a:t>REFRIGERATION CYCLE SUMMARY</a:t>
            </a:r>
            <a:br/>
            <a:br/>
            <a:r>
              <a:t>4 Processes:</a:t>
            </a:r>
            <a:br/>
            <a:r>
              <a:t>1. COMPRESSION (Compressor) - Work input, pressure ↑, temp ↑</a:t>
            </a:r>
            <a:br/>
            <a:r>
              <a:t>2. CONDENSATION (Condenser) - Heat rejection, gas → liquid</a:t>
            </a:r>
            <a:br/>
            <a:r>
              <a:t>3. EXPANSION (Expansion valve) - Pressure ↓, temp ↓</a:t>
            </a:r>
            <a:br/>
            <a:r>
              <a:t>4. EVAPORATION (Evaporator) - Heat absorption, liquid → gas</a:t>
            </a:r>
            <a:br/>
            <a:br/>
            <a:r>
              <a:t>P-h Diagram:</a:t>
            </a:r>
            <a:br/>
            <a:r>
              <a:t>Visualizes the cycle: High-pressure side (condenser) vs Low-pressure side (evaporator)</a:t>
            </a:r>
            <a:br/>
            <a:r>
              <a:t>Phase changes at constant pressure</a:t>
            </a:r>
            <a:br/>
            <a:br/>
            <a:r>
              <a:t>Refrigerant:</a:t>
            </a:r>
            <a:br/>
            <a:r>
              <a:t>Working fluid: R134a (legacy) or R1234yf (current)</a:t>
            </a:r>
            <a:br/>
            <a:r>
              <a:t>Latent heat provides large cooling effect</a:t>
            </a:r>
            <a:br/>
            <a:br/>
            <a:r>
              <a:t>Efficiency:</a:t>
            </a:r>
            <a:br/>
            <a:r>
              <a:t>COP = Cooling / Work ≈ 2-3 (typical automotive)</a:t>
            </a:r>
            <a:br/>
            <a:br/>
            <a:r>
              <a:t>Next: Let's see the actual components!</a:t>
            </a:r>
          </a:p>
          <a:p>
            <a:pPr>
              <a:spcAft>
                <a:spcPts val="1000"/>
              </a:spcAft>
              <a:defRPr sz="1800">
                <a:solidFill>
                  <a:srgbClr val="333333"/>
                </a:solidFill>
              </a:defRPr>
            </a:pPr>
            <a:r>
              <a:t>Outcomes Addressed: SO-5-17-2 (complete)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PART 3: RISING ACTION - "HVAC Components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Slides 14-19 | Duration: ~20 minutes | Energy Level: Medium (Building Complexity)</a:t>
            </a:r>
          </a:p>
          <a:p>
            <a:pPr>
              <a:spcAft>
                <a:spcPts val="1000"/>
              </a:spcAft>
              <a:defRPr sz="1800">
                <a:solidFill>
                  <a:srgbClr val="333333"/>
                </a:solidFill>
              </a:defRPr>
            </a:pPr>
            <a:r>
              <a:t>Story Purpose: Identify each component and understand its operation</a:t>
            </a:r>
          </a:p>
          <a:p>
            <a:pPr>
              <a:spcAft>
                <a:spcPts val="1000"/>
              </a:spcAft>
              <a:defRPr sz="1800">
                <a:solidFill>
                  <a:srgbClr val="333333"/>
                </a:solidFill>
              </a:defRPr>
            </a:pPr>
            <a:r>
              <a:t>Teaching Mode: Component-by-component explanation with visuals</a:t>
            </a:r>
          </a:p>
          <a:p>
            <a:pPr>
              <a:spcAft>
                <a:spcPts val="1000"/>
              </a:spcAft>
              <a:defRPr sz="1800">
                <a:solidFill>
                  <a:srgbClr val="333333"/>
                </a:solidFill>
              </a:defRPr>
            </a:pPr>
            <a:r>
              <a:t>Connection to Prior Knowledge: Refrigeration cycle from Part 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HVAC System Layout</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Alright, now let's see the complete HVAC system layout. This is what you'd find under the hood and inside the cabin of a modern car.</a:t>
            </a:r>
          </a:p>
          <a:p>
            <a:pPr>
              <a:spcAft>
                <a:spcPts val="1000"/>
              </a:spcAft>
              <a:defRPr sz="1800">
                <a:solidFill>
                  <a:srgbClr val="333333"/>
                </a:solidFill>
              </a:defRPr>
            </a:pPr>
            <a:r>
              <a:t>Starting at the engine, we have the compressor - usually belt-driven from the engine crankshaft, though newer cars may use an electric compressor. The compressor pumps refrigerant vapor and sends it through a high-pressure line to the condenser.</a:t>
            </a:r>
          </a:p>
          <a:p>
            <a:pPr>
              <a:spcAft>
                <a:spcPts val="1000"/>
              </a:spcAft>
              <a:defRPr sz="1800">
                <a:solidFill>
                  <a:srgbClr val="333333"/>
                </a:solidFill>
              </a:defRPr>
            </a:pPr>
            <a:r>
              <a:t>The condenser sits at the very front of the vehicle, right ahead of the engine radiator. It's a large heat exchanger that looks like a radiator. As you drive, ram air flows through the condenser fins, cooling the hot refrigerant. When you're stationary, a cooling fan forces air through it.</a:t>
            </a:r>
          </a:p>
          <a:p>
            <a:pPr>
              <a:spcAft>
                <a:spcPts val="1000"/>
              </a:spcAft>
              <a:defRPr sz="1800">
                <a:solidFill>
                  <a:srgbClr val="333333"/>
                </a:solidFill>
              </a:defRPr>
            </a:pPr>
            <a:r>
              <a:t>From the condenser, high-pressure liquid refrigerant flows through the liquid line to the expansion valve, which is usually located near the evaporator inside the cabin.</a:t>
            </a:r>
          </a:p>
          <a:p>
            <a:pPr>
              <a:spcAft>
                <a:spcPts val="1000"/>
              </a:spcAft>
              <a:defRPr sz="1800">
                <a:solidFill>
                  <a:srgbClr val="333333"/>
                </a:solidFill>
              </a:defRPr>
            </a:pPr>
            <a:r>
              <a:t>The evaporator is hidden inside the HVAC module behind the dashboard. It's another heat exchanger, but this time cabin air is blown over it by the blower motor. The cold evaporator surface cools and dehumidifies the air, which then comes out through your vents.</a:t>
            </a:r>
          </a:p>
          <a:p>
            <a:pPr>
              <a:spcAft>
                <a:spcPts val="1000"/>
              </a:spcAft>
              <a:defRPr sz="1800">
                <a:solidFill>
                  <a:srgbClr val="333333"/>
                </a:solidFill>
              </a:defRPr>
            </a:pPr>
            <a:r>
              <a:t>Finally, low-pressure vapor exits the evaporator and returns to the compressor through the suction line, completing the loop.</a:t>
            </a:r>
          </a:p>
          <a:p>
            <a:pPr>
              <a:spcAft>
                <a:spcPts val="1000"/>
              </a:spcAft>
              <a:defRPr sz="1800">
                <a:solidFill>
                  <a:srgbClr val="333333"/>
                </a:solidFill>
              </a:defRPr>
            </a:pPr>
            <a:r>
              <a:t>Notice there are two sides to this system: the high-pressure side from compressor discharge to expansion valve, and the low-pressure side from expansion valve through evaporator back to compressor suction. We'll examine each component in detail now.</a:t>
            </a:r>
          </a:p>
          <a:p>
            <a:pPr>
              <a:spcAft>
                <a:spcPts val="1000"/>
              </a:spcAft>
              <a:defRPr sz="1800">
                <a:solidFill>
                  <a:srgbClr val="333333"/>
                </a:solidFill>
              </a:defRPr>
            </a:pPr>
            <a:r>
              <a:t>PPT Content:</a:t>
            </a:r>
          </a:p>
          <a:p>
            <a:pPr>
              <a:defRPr sz="1400">
                <a:solidFill>
                  <a:srgbClr val="787878"/>
                </a:solidFill>
                <a:latin typeface="Consolas"/>
              </a:defRPr>
            </a:pPr>
            <a:r>
              <a:t>HVAC SYSTEM LAYOUT</a:t>
            </a:r>
            <a:br/>
            <a:br/>
            <a:r>
              <a:t>[Complete schematic diagram showing]</a:t>
            </a:r>
            <a:br/>
            <a:br/>
            <a:r>
              <a:t>COMPONENTS:</a:t>
            </a:r>
            <a:br/>
            <a:br/>
            <a:r>
              <a:t>HIGH-PRESSURE SIDE (Hot, 12-18 bar):</a:t>
            </a:r>
            <a:br/>
            <a:r>
              <a:t>1. Compressor (engine-driven or electric)</a:t>
            </a:r>
            <a:br/>
            <a:r>
              <a:t>2. Discharge line (high-pressure vapor)</a:t>
            </a:r>
            <a:br/>
            <a:r>
              <a:t>3. Condenser (front of vehicle, with cooling fan)</a:t>
            </a:r>
            <a:br/>
            <a:r>
              <a:t>4. Receiver-dryer (filter/moisture removal)</a:t>
            </a:r>
            <a:br/>
            <a:r>
              <a:t>5. Liquid line (high-pressure liquid)</a:t>
            </a:r>
            <a:br/>
            <a:br/>
            <a:r>
              <a:t>LOW-PRESSURE SIDE (Cold, 2-3 bar):</a:t>
            </a:r>
            <a:br/>
            <a:r>
              <a:t>6. Expansion valve (TXV or orifice tube)</a:t>
            </a:r>
            <a:br/>
            <a:r>
              <a:t>7. Evaporator (inside cabin HVAC module)</a:t>
            </a:r>
            <a:br/>
            <a:r>
              <a:t>8. Suction line (low-pressure vapor)</a:t>
            </a:r>
            <a:br/>
            <a:r>
              <a:t>9. Back to compressor</a:t>
            </a:r>
            <a:br/>
            <a:br/>
            <a:r>
              <a:t>ADDITIONAL COMPONENTS:</a:t>
            </a:r>
            <a:br/>
            <a:r>
              <a:t>• Blower motor (cabin air circulation)</a:t>
            </a:r>
            <a:br/>
            <a:r>
              <a:t>• Cabin air filter</a:t>
            </a:r>
            <a:br/>
            <a:r>
              <a:t>• Blend door (temperature control)</a:t>
            </a:r>
            <a:br/>
            <a:r>
              <a:t>• Mode doors (vent direction control)</a:t>
            </a:r>
            <a:br/>
            <a:r>
              <a:t>• Heater core (heating function)</a:t>
            </a:r>
            <a:br/>
            <a:br/>
            <a:r>
              <a:t>REFRIGERANT FLOW PATH:</a:t>
            </a:r>
            <a:br/>
            <a:r>
              <a:t>Compressor → Condenser → Receiver-dryer → Expansion valve</a:t>
            </a:r>
            <a:br/>
            <a:r>
              <a:t>→ Evaporator → Compressor (loop)</a:t>
            </a:r>
            <a:br/>
            <a:br/>
            <a:r>
              <a:t>PHYSICAL LOCATIONS:</a:t>
            </a:r>
            <a:br/>
            <a:r>
              <a:t>• Engine bay: Compressor, condenser, receiver-dryer</a:t>
            </a:r>
            <a:br/>
            <a:r>
              <a:t>• Inside cabin (behind dashboard): Evaporator, expansion valve, HVAC module</a:t>
            </a:r>
            <a:br/>
            <a:r>
              <a:t>• Throughout vehicle: Refrigerant lines (insulated)</a:t>
            </a:r>
            <a:br/>
            <a:br/>
            <a:r>
              <a:t>Pressures:</a:t>
            </a:r>
            <a:br/>
            <a:r>
              <a:t>High side: 12-18 bar (depends on ambient temp, ~15 bar typical)</a:t>
            </a:r>
            <a:br/>
            <a:r>
              <a:t>Low side: 2-3 bar (depends on evaporator temp, ~2.5 bar typical)</a:t>
            </a:r>
          </a:p>
          <a:p>
            <a:pPr>
              <a:spcAft>
                <a:spcPts val="1000"/>
              </a:spcAft>
              <a:defRPr sz="1800">
                <a:solidFill>
                  <a:srgbClr val="333333"/>
                </a:solidFill>
              </a:defRPr>
            </a:pPr>
            <a:r>
              <a:t>Safety Note:</a:t>
            </a:r>
          </a:p>
          <a:p>
            <a:pPr>
              <a:spcAft>
                <a:spcPts val="1000"/>
              </a:spcAft>
              <a:defRPr sz="1800">
                <a:solidFill>
                  <a:srgbClr val="333333"/>
                </a:solidFill>
              </a:defRPr>
            </a:pPr>
            <a:r>
              <a:t>High-pressure refrigerant lines are labeled with warning stickers. System must be professionally serviced - releasing refrigerant is illegal and harmful to environment.</a:t>
            </a:r>
          </a:p>
          <a:p>
            <a:pPr>
              <a:spcAft>
                <a:spcPts val="1000"/>
              </a:spcAft>
              <a:defRPr sz="1800">
                <a:solidFill>
                  <a:srgbClr val="333333"/>
                </a:solidFill>
              </a:defRPr>
            </a:pPr>
            <a:r>
              <a:t>Outcomes Addressed: SO-5-17-3 (component identification, system overview)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Component 1 - Compressor</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Let's start with the heart of the system: the compressor. Its job is simple - take low-pressure refrigerant vapor from the evaporator and compress it to high pressure. But the implementation is quite sophisticated.</a:t>
            </a:r>
          </a:p>
          <a:p>
            <a:pPr>
              <a:spcAft>
                <a:spcPts val="1000"/>
              </a:spcAft>
              <a:defRPr sz="1800">
                <a:solidFill>
                  <a:srgbClr val="333333"/>
                </a:solidFill>
              </a:defRPr>
            </a:pPr>
            <a:r>
              <a:t>Most traditional cars use a belt-driven compressor connected to the engine crankshaft via an accessory belt - the same belt system that drives the alternator. But unlike the alternator which always runs when the engine runs, the compressor has an electromagnetic clutch. When you press the AC button, the clutch engages and couples the compressor pulley to the compressor shaft. When you turn AC off, the clutch disengages - the pulley keeps spinning but the compressor shaft stops, saving engine power.</a:t>
            </a:r>
          </a:p>
          <a:p>
            <a:pPr>
              <a:spcAft>
                <a:spcPts val="1000"/>
              </a:spcAft>
              <a:defRPr sz="1800">
                <a:solidFill>
                  <a:srgbClr val="333333"/>
                </a:solidFill>
              </a:defRPr>
            </a:pPr>
            <a:r>
              <a:t>Inside the compressor, you typically find multiple pistons arranged radially or axially. As the shaft rotates, these pistons reciprocate, drawing in low-pressure vapor through inlet valves, compressing it, and pushing it out through discharge valves. It's similar in principle to an engine, but in reverse - we're putting work in, not getting work out.</a:t>
            </a:r>
          </a:p>
          <a:p>
            <a:pPr>
              <a:spcAft>
                <a:spcPts val="1000"/>
              </a:spcAft>
              <a:defRPr sz="1800">
                <a:solidFill>
                  <a:srgbClr val="333333"/>
                </a:solidFill>
              </a:defRPr>
            </a:pPr>
            <a:r>
              <a:t>The compressor also contains oil for lubrication. This oil circulates with the refrigerant throughout the system, which is why you must use refrigerant-compatible oil.</a:t>
            </a:r>
          </a:p>
          <a:p>
            <a:pPr>
              <a:spcAft>
                <a:spcPts val="1000"/>
              </a:spcAft>
              <a:defRPr sz="1800">
                <a:solidFill>
                  <a:srgbClr val="333333"/>
                </a:solidFill>
              </a:defRPr>
            </a:pPr>
            <a:r>
              <a:t>Compressor power consumption varies with load. At maximum cooling demand - hot day, cabin temperature high - the compressor might draw 3-4 kW from the engine. In mild conditions with the cabin already cool, it might cycle on and off, averaging maybe 1-2 kW.</a:t>
            </a:r>
          </a:p>
          <a:p>
            <a:pPr>
              <a:spcAft>
                <a:spcPts val="1000"/>
              </a:spcAft>
              <a:defRPr sz="1800">
                <a:solidFill>
                  <a:srgbClr val="333333"/>
                </a:solidFill>
              </a:defRPr>
            </a:pPr>
            <a:r>
              <a:t>We'll compare different compressor types in a later slide.</a:t>
            </a:r>
          </a:p>
          <a:p>
            <a:pPr>
              <a:spcAft>
                <a:spcPts val="1000"/>
              </a:spcAft>
              <a:defRPr sz="1800">
                <a:solidFill>
                  <a:srgbClr val="333333"/>
                </a:solidFill>
              </a:defRPr>
            </a:pPr>
            <a:r>
              <a:t>PPT Content:</a:t>
            </a:r>
          </a:p>
          <a:p>
            <a:pPr>
              <a:defRPr sz="1400">
                <a:solidFill>
                  <a:srgbClr val="787878"/>
                </a:solidFill>
                <a:latin typeface="Consolas"/>
              </a:defRPr>
            </a:pPr>
            <a:r>
              <a:t>COMPONENT 1: COMPRESSOR</a:t>
            </a:r>
            <a:br/>
            <a:br/>
            <a:r>
              <a:t>Function:</a:t>
            </a:r>
            <a:br/>
            <a:r>
              <a:t>Compress low-pressure vapor → high-pressure vapor</a:t>
            </a:r>
            <a:br/>
            <a:r>
              <a:t>Provides pressure lift for refrigerant circulation</a:t>
            </a:r>
            <a:br/>
            <a:r>
              <a:t>Work input to the refrigeration cycle</a:t>
            </a:r>
            <a:br/>
            <a:br/>
            <a:r>
              <a:t>Location: Engine bay, belt-driven from crankshaft</a:t>
            </a:r>
            <a:br/>
            <a:br/>
            <a:r>
              <a:t>Key Components:</a:t>
            </a:r>
            <a:br/>
            <a:r>
              <a:t>• Compressor pulley (always rotating with belt)</a:t>
            </a:r>
            <a:br/>
            <a:r>
              <a:t>• Electromagnetic clutch (engages/disengages compressor)</a:t>
            </a:r>
            <a:br/>
            <a:r>
              <a:t>• Compressor shaft</a:t>
            </a:r>
            <a:br/>
            <a:r>
              <a:t>• Pistons (reciprocating or scroll mechanism)</a:t>
            </a:r>
            <a:br/>
            <a:r>
              <a:t>• Inlet and discharge valves</a:t>
            </a:r>
            <a:br/>
            <a:r>
              <a:t>• Oil sump (lubrication)</a:t>
            </a:r>
            <a:br/>
            <a:br/>
            <a:r>
              <a:t>Operation:</a:t>
            </a:r>
            <a:br/>
            <a:r>
              <a:t>1. AC button pressed → Clutch engages</a:t>
            </a:r>
            <a:br/>
            <a:r>
              <a:t>2. Pulley couples to compressor shaft</a:t>
            </a:r>
            <a:br/>
            <a:r>
              <a:t>3. Shaft rotation → Pistons compress refrigerant</a:t>
            </a:r>
            <a:br/>
            <a:r>
              <a:t>4. Low-pressure inlet: ~2-3 bar, ~10°C vapor</a:t>
            </a:r>
            <a:br/>
            <a:r>
              <a:t>5. High-pressure discharge: ~15 bar, ~80°C vapor</a:t>
            </a:r>
            <a:br/>
            <a:r>
              <a:t>6. AC button off → Clutch disengages, compressor stops</a:t>
            </a:r>
            <a:br/>
            <a:br/>
            <a:r>
              <a:t>Types (Overview - details later):</a:t>
            </a:r>
            <a:br/>
            <a:r>
              <a:t>• Fixed displacement (piston type)</a:t>
            </a:r>
            <a:br/>
            <a:r>
              <a:t>• Variable displacement (swash plate angle varies)</a:t>
            </a:r>
            <a:br/>
            <a:r>
              <a:t>• Scroll compressor (spiral compression)</a:t>
            </a:r>
            <a:br/>
            <a:r>
              <a:t>• Electric compressor (no belt, motor-driven)</a:t>
            </a:r>
            <a:br/>
            <a:br/>
            <a:r>
              <a:t>Power Consumption:</a:t>
            </a:r>
            <a:br/>
            <a:r>
              <a:t>• Maximum load: 3-4 kW</a:t>
            </a:r>
            <a:br/>
            <a:r>
              <a:t>• Moderate load: 1.5-2.5 kW</a:t>
            </a:r>
            <a:br/>
            <a:r>
              <a:t>• Cycles on/off or varies displacement based on demand</a:t>
            </a:r>
            <a:br/>
            <a:br/>
            <a:r>
              <a:t>Clutch Cycling:</a:t>
            </a:r>
            <a:br/>
            <a:r>
              <a:t>When cabin reaches target temp → Compressor clutch disengages → Saves fuel</a:t>
            </a:r>
            <a:br/>
            <a:r>
              <a:t>If temp rises → Clutch re-engages</a:t>
            </a:r>
            <a:br/>
            <a:r>
              <a:t>Cycling frequency: Every 30-60 seconds (typical)</a:t>
            </a:r>
          </a:p>
          <a:p>
            <a:pPr>
              <a:spcAft>
                <a:spcPts val="1000"/>
              </a:spcAft>
              <a:defRPr sz="1800">
                <a:solidFill>
                  <a:srgbClr val="333333"/>
                </a:solidFill>
              </a:defRPr>
            </a:pPr>
            <a:r>
              <a:t>Real-World Example:</a:t>
            </a:r>
          </a:p>
          <a:p>
            <a:pPr>
              <a:spcAft>
                <a:spcPts val="1000"/>
              </a:spcAft>
              <a:defRPr sz="1800">
                <a:solidFill>
                  <a:srgbClr val="333333"/>
                </a:solidFill>
              </a:defRPr>
            </a:pPr>
            <a:r>
              <a:t>When you're idling at a traffic light with AC on in a small car, you can actually feel the engine load change when the compressor clutch engages - RPM might drop slightly, and you hear the click of the clutch.</a:t>
            </a:r>
          </a:p>
          <a:p>
            <a:pPr>
              <a:spcAft>
                <a:spcPts val="1000"/>
              </a:spcAft>
              <a:defRPr sz="1800">
                <a:solidFill>
                  <a:srgbClr val="333333"/>
                </a:solidFill>
              </a:defRPr>
            </a:pPr>
            <a:r>
              <a:t>Outcomes Addressed: SO-5-17-3 (compressor identification and operation)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Component 2 - Condenser</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After the compressor, hot high-pressure vapor flows to the condenser. The condenser's job is to reject heat to the outside air and condense the vapor into liquid.</a:t>
            </a:r>
          </a:p>
          <a:p>
            <a:pPr>
              <a:spcAft>
                <a:spcPts val="1000"/>
              </a:spcAft>
              <a:defRPr sz="1800">
                <a:solidFill>
                  <a:srgbClr val="333333"/>
                </a:solidFill>
              </a:defRPr>
            </a:pPr>
            <a:r>
              <a:t>The condenser is always located at the very front of the vehicle, ahead of the engine's radiator. Why? Because it needs maximum airflow. When you're driving, ram air flows through the condenser - this is forced convection cooling. The condenser fins increase surface area to maximize heat transfer.</a:t>
            </a:r>
          </a:p>
          <a:p>
            <a:pPr>
              <a:spcAft>
                <a:spcPts val="1000"/>
              </a:spcAft>
              <a:defRPr sz="1800">
                <a:solidFill>
                  <a:srgbClr val="333333"/>
                </a:solidFill>
              </a:defRPr>
            </a:pPr>
            <a:r>
              <a:t>When you're stopped in traffic, there's no ram air. So there's a dedicated condenser fan (or the radiator fan also serves the condenser) that switches on to force airflow. This is why you sometimes hear a fan running even when the engine is off but AC was recently on - the system is still rejecting heat.</a:t>
            </a:r>
          </a:p>
          <a:p>
            <a:pPr>
              <a:spcAft>
                <a:spcPts val="1000"/>
              </a:spcAft>
              <a:defRPr sz="1800">
                <a:solidFill>
                  <a:srgbClr val="333333"/>
                </a:solidFill>
              </a:defRPr>
            </a:pPr>
            <a:r>
              <a:t>The condenser is essentially a long tube with fins, arranged in a serpentine pattern. Hot refrigerant vapor enters at the top. As it flows through the tube with outside air flowing over the fins, it loses heat. First it cools as superheated vapor, then it reaches the saturation temperature and starts condensing - this is where most of the heat rejection happens because latent heat is released. By the time it exits at the bottom, it's subcooled liquid, a few degrees below the condensation temperature.</a:t>
            </a:r>
          </a:p>
          <a:p>
            <a:pPr>
              <a:spcAft>
                <a:spcPts val="1000"/>
              </a:spcAft>
              <a:defRPr sz="1800">
                <a:solidFill>
                  <a:srgbClr val="333333"/>
                </a:solidFill>
              </a:defRPr>
            </a:pPr>
            <a:r>
              <a:t>Typical heat rejection at the condenser is 3-7 kW depending on cooling load. That's a lot of heat! On a hot day with AC running full blast, the air coming off the condenser can be 10-15°C hotter than ambient.</a:t>
            </a:r>
          </a:p>
          <a:p>
            <a:pPr>
              <a:spcAft>
                <a:spcPts val="1000"/>
              </a:spcAft>
              <a:defRPr sz="1800">
                <a:solidFill>
                  <a:srgbClr val="333333"/>
                </a:solidFill>
              </a:defRPr>
            </a:pPr>
            <a:r>
              <a:t>PPT Content:</a:t>
            </a:r>
          </a:p>
          <a:p>
            <a:pPr>
              <a:defRPr sz="1400">
                <a:solidFill>
                  <a:srgbClr val="787878"/>
                </a:solidFill>
                <a:latin typeface="Consolas"/>
              </a:defRPr>
            </a:pPr>
            <a:r>
              <a:t>COMPONENT 2: CONDENSER</a:t>
            </a:r>
            <a:br/>
            <a:br/>
            <a:r>
              <a:t>Function:</a:t>
            </a:r>
            <a:br/>
            <a:r>
              <a:t>Reject heat from refrigerant to outside air</a:t>
            </a:r>
            <a:br/>
            <a:r>
              <a:t>Condense high-pressure vapor → high-pressure liquid</a:t>
            </a:r>
            <a:br/>
            <a:r>
              <a:t>Phase change: Gas → Liquid</a:t>
            </a:r>
            <a:br/>
            <a:br/>
            <a:r>
              <a:t>Location: Front of vehicle (ahead of radiator)</a:t>
            </a:r>
            <a:br/>
            <a:br/>
            <a:r>
              <a:t>Construction:</a:t>
            </a:r>
            <a:br/>
            <a:r>
              <a:t>• Aluminum tubes (refrigerant flow path)</a:t>
            </a:r>
            <a:br/>
            <a:r>
              <a:t>• Aluminum fins (increase surface area)</a:t>
            </a:r>
            <a:br/>
            <a:r>
              <a:t>• Multi-pass serpentine layout</a:t>
            </a:r>
            <a:br/>
            <a:r>
              <a:t>• Inlet: Top (hot vapor)</a:t>
            </a:r>
            <a:br/>
            <a:r>
              <a:t>• Outlet: Bottom (subcooled liquid)</a:t>
            </a:r>
            <a:br/>
            <a:br/>
            <a:r>
              <a:t>Heat Transfer Process:</a:t>
            </a:r>
            <a:br/>
            <a:r>
              <a:t>1. Inlet: Superheated vapor (~80-90°C, 15 bar)</a:t>
            </a:r>
            <a:br/>
            <a:r>
              <a:t>2. Desuperheating: Vapor cools to saturation temp (~55°C)</a:t>
            </a:r>
            <a:br/>
            <a:r>
              <a:t>3. Condensation: Vapor → Liquid at constant temp (MAJOR heat release)</a:t>
            </a:r>
            <a:br/>
            <a:r>
              <a:t>4. Subcooling: Liquid cools below saturation (~50°C)</a:t>
            </a:r>
            <a:br/>
            <a:r>
              <a:t>5. Outlet: Subcooled liquid ready for expansion valve</a:t>
            </a:r>
            <a:br/>
            <a:br/>
            <a:r>
              <a:t>Heat Rejection:</a:t>
            </a:r>
            <a:br/>
            <a:r>
              <a:t>Q_cond = Q_evap + W_comp (energy balance)</a:t>
            </a:r>
            <a:br/>
            <a:r>
              <a:t>Typical: 4-8 kW (varies with conditions)</a:t>
            </a:r>
            <a:br/>
            <a:br/>
            <a:r>
              <a:t>Airflow:</a:t>
            </a:r>
            <a:br/>
            <a:r>
              <a:t>• Moving vehicle: Ram air (natural convection)</a:t>
            </a:r>
            <a:br/>
            <a:r>
              <a:t>• Stationary: Condenser fan (forced convection)</a:t>
            </a:r>
            <a:br/>
            <a:r>
              <a:t>• Airflow rate: ~2000-5000 m³/hr</a:t>
            </a:r>
            <a:br/>
            <a:r>
              <a:t>• Air temp rise across condenser: +10-15°C</a:t>
            </a:r>
            <a:br/>
            <a:br/>
            <a:r>
              <a:t>Why Front Location?</a:t>
            </a:r>
            <a:br/>
            <a:r>
              <a:t>• Maximum airflow when driving</a:t>
            </a:r>
            <a:br/>
            <a:r>
              <a:t>• First heat exchanger (cleanest air)</a:t>
            </a:r>
            <a:br/>
            <a:r>
              <a:t>• Trade-off: Exposed to road debris, impacts</a:t>
            </a:r>
            <a:br/>
            <a:br/>
            <a:r>
              <a:t>Failure Modes:</a:t>
            </a:r>
            <a:br/>
            <a:r>
              <a:t>• Fin damage from rocks/debris → Reduced heat rejection</a:t>
            </a:r>
            <a:br/>
            <a:r>
              <a:t>• Internal corrosion → Leaks</a:t>
            </a:r>
            <a:br/>
            <a:r>
              <a:t>• Blockage → High pressure, poor cooling</a:t>
            </a:r>
          </a:p>
          <a:p>
            <a:pPr>
              <a:spcAft>
                <a:spcPts val="1000"/>
              </a:spcAft>
              <a:defRPr sz="1800">
                <a:solidFill>
                  <a:srgbClr val="333333"/>
                </a:solidFill>
              </a:defRPr>
            </a:pPr>
            <a:r>
              <a:t>Visual Note:</a:t>
            </a:r>
          </a:p>
          <a:p>
            <a:pPr>
              <a:spcAft>
                <a:spcPts val="1000"/>
              </a:spcAft>
              <a:defRPr sz="1800">
                <a:solidFill>
                  <a:srgbClr val="333333"/>
                </a:solidFill>
              </a:defRPr>
            </a:pPr>
            <a:r>
              <a:t>Show thermal image of condenser - hot inlet at top, progressively cooler toward bottom.</a:t>
            </a:r>
          </a:p>
          <a:p>
            <a:pPr>
              <a:spcAft>
                <a:spcPts val="1000"/>
              </a:spcAft>
              <a:defRPr sz="1800">
                <a:solidFill>
                  <a:srgbClr val="333333"/>
                </a:solidFill>
              </a:defRPr>
            </a:pPr>
            <a:r>
              <a:t>Outcomes Addressed: SO-5-17-3 (condenser identification and operation)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Component 3 - Expansion Valve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Now we come to a small but critical component: the expansion valve. This is the device that creates the pressure drop between the high-pressure liquid from the condenser and the low-pressure liquid entering the evaporator.</a:t>
            </a:r>
          </a:p>
          <a:p>
            <a:pPr>
              <a:spcAft>
                <a:spcPts val="1000"/>
              </a:spcAft>
              <a:defRPr sz="1800">
                <a:solidFill>
                  <a:srgbClr val="333333"/>
                </a:solidFill>
              </a:defRPr>
            </a:pPr>
            <a:r>
              <a:t>There are two common types in automotive systems. The traditional one is the Thermostatic Expansion Valve, or TXV. The modern alternative is a simple Orifice Tube.</a:t>
            </a:r>
          </a:p>
          <a:p>
            <a:pPr>
              <a:spcAft>
                <a:spcPts val="1000"/>
              </a:spcAft>
              <a:defRPr sz="1800">
                <a:solidFill>
                  <a:srgbClr val="333333"/>
                </a:solidFill>
              </a:defRPr>
            </a:pPr>
            <a:r>
              <a:t>Let's talk about the TXV first. It's a spring-loaded valve with a temperature-sensing bulb. The bulb is attached to the evaporator outlet and senses the temperature of the vapor leaving the evaporator - this is called the superheat. The valve automatically adjusts its opening to maintain a specific superheat, typically 5-10°C.</a:t>
            </a:r>
          </a:p>
          <a:p>
            <a:pPr>
              <a:spcAft>
                <a:spcPts val="1000"/>
              </a:spcAft>
              <a:defRPr sz="1800">
                <a:solidFill>
                  <a:srgbClr val="333333"/>
                </a:solidFill>
              </a:defRPr>
            </a:pPr>
            <a:r>
              <a:t>Here's why that matters: we want the refrigerant to completely evaporate inside the evaporator - we don't want liquid droplets reaching the compressor because liquids don't compress, they can damage the compressor. But we also don't want too much superheat because that means we're not using the full evaporator surface for phase change cooling. The TXV finds the perfect balance.</a:t>
            </a:r>
          </a:p>
          <a:p>
            <a:pPr>
              <a:spcAft>
                <a:spcPts val="1000"/>
              </a:spcAft>
              <a:defRPr sz="1800">
                <a:solidFill>
                  <a:srgbClr val="333333"/>
                </a:solidFill>
              </a:defRPr>
            </a:pPr>
            <a:r>
              <a:t>When the superheat is too low - meaning we're almost sending liquid to the compressor - the valve closes slightly, reducing refrigerant flow to the evaporator. When superheat is too high - meaning we're wasting evaporator capacity - the valve opens more. It's a mechanical feedback control.</a:t>
            </a:r>
          </a:p>
          <a:p>
            <a:pPr>
              <a:spcAft>
                <a:spcPts val="1000"/>
              </a:spcAft>
              <a:defRPr sz="1800">
                <a:solidFill>
                  <a:srgbClr val="333333"/>
                </a:solidFill>
              </a:defRPr>
            </a:pPr>
            <a:r>
              <a:t>The orifice tube, on the other hand, is just a fixed restriction - a small hole. It's simpler and cheaper, but it doesn't adapt to varying conditions. Cars with orifice tubes typically use an accumulator after the evaporator to trap any liquid refrigerant before it reaches the compressor.</a:t>
            </a:r>
          </a:p>
          <a:p>
            <a:pPr>
              <a:spcAft>
                <a:spcPts val="1000"/>
              </a:spcAft>
              <a:defRPr sz="1800">
                <a:solidFill>
                  <a:srgbClr val="333333"/>
                </a:solidFill>
              </a:defRPr>
            </a:pPr>
            <a:r>
              <a:t>Either way, the result is the same: high-pressure liquid suddenly expands through a restriction, pressure drops from 15 bar to 2-3 bar, and temperature drops from 50°C to about 5°C. The refrigerant is now a cold, low-pressure mixture of liquid and vapor, ready to enter the evaporator.</a:t>
            </a:r>
          </a:p>
          <a:p>
            <a:pPr>
              <a:spcAft>
                <a:spcPts val="1000"/>
              </a:spcAft>
              <a:defRPr sz="1800">
                <a:solidFill>
                  <a:srgbClr val="333333"/>
                </a:solidFill>
              </a:defRPr>
            </a:pPr>
            <a:r>
              <a:t>PPT Content:</a:t>
            </a:r>
          </a:p>
          <a:p>
            <a:pPr>
              <a:defRPr sz="1400">
                <a:solidFill>
                  <a:srgbClr val="787878"/>
                </a:solidFill>
                <a:latin typeface="Consolas"/>
              </a:defRPr>
            </a:pPr>
            <a:r>
              <a:t>COMPONENT 3: EXPANSION VALVE</a:t>
            </a:r>
            <a:br/>
            <a:br/>
            <a:r>
              <a:t>Function:</a:t>
            </a:r>
            <a:br/>
            <a:r>
              <a:t>Create pressure drop from high-pressure to low-pressure side</a:t>
            </a:r>
            <a:br/>
            <a:r>
              <a:t>Meter refrigerant flow to evaporator</a:t>
            </a:r>
            <a:br/>
            <a:r>
              <a:t>Control superheat to protect compressor</a:t>
            </a:r>
            <a:br/>
            <a:br/>
            <a:r>
              <a:t>Location: Just before evaporator (inside cabin HVAC module)</a:t>
            </a:r>
            <a:br/>
            <a:br/>
            <a:r>
              <a:t>TYPE 1: Thermostatic Expansion Valve (TXV)</a:t>
            </a:r>
            <a:br/>
            <a:br/>
            <a:r>
              <a:t>Construction:</a:t>
            </a:r>
            <a:br/>
            <a:r>
              <a:t>• Valve body with inlet (high P) and outlet (low P)</a:t>
            </a:r>
            <a:br/>
            <a:r>
              <a:t>• Needle valve and seat (variable orifice)</a:t>
            </a:r>
            <a:br/>
            <a:r>
              <a:t>• Sensing bulb attached to evaporator outlet</a:t>
            </a:r>
            <a:br/>
            <a:r>
              <a:t>• Spring opposing bulb pressure</a:t>
            </a:r>
            <a:br/>
            <a:br/>
            <a:r>
              <a:t>Operation:</a:t>
            </a:r>
            <a:br/>
            <a:r>
              <a:t>1. Sensing bulb monitors evaporator outlet temperature</a:t>
            </a:r>
            <a:br/>
            <a:r>
              <a:t>2. Bulb contains refrigerant that expands when warm</a:t>
            </a:r>
            <a:br/>
            <a:r>
              <a:t>3. Bulb pressure pushes needle open</a:t>
            </a:r>
            <a:br/>
            <a:r>
              <a:t>4. Spring pressure pushes needle closed</a:t>
            </a:r>
            <a:br/>
            <a:r>
              <a:t>5. Valve modulates to maintain target superheat (~5-10°C)</a:t>
            </a:r>
            <a:br/>
            <a:br/>
            <a:r>
              <a:t>Superheat Control:</a:t>
            </a:r>
            <a:br/>
            <a:r>
              <a:t>Superheat = T_outlet - T_saturation</a:t>
            </a:r>
            <a:br/>
            <a:r>
              <a:t>Too low (&lt;3°C) → Risk of liquid to compressor → Valve closes</a:t>
            </a:r>
            <a:br/>
            <a:r>
              <a:t>Too high (&gt;15°C) → Wasted evaporator capacity → Valve opens</a:t>
            </a:r>
            <a:br/>
            <a:r>
              <a:t>TXV automatically balances</a:t>
            </a:r>
            <a:br/>
            <a:br/>
            <a:r>
              <a:t>TYPE 2: Orifice Tube (Fixed Orifice)</a:t>
            </a:r>
            <a:br/>
            <a:br/>
            <a:r>
              <a:t>Construction:</a:t>
            </a:r>
            <a:br/>
            <a:r>
              <a:t>• Simple fixed-size orifice (hole)</a:t>
            </a:r>
            <a:br/>
            <a:r>
              <a:t>• Filter screen</a:t>
            </a:r>
            <a:br/>
            <a:r>
              <a:t>• No moving parts</a:t>
            </a:r>
            <a:br/>
            <a:br/>
            <a:r>
              <a:t>Operation:</a:t>
            </a:r>
            <a:br/>
            <a:r>
              <a:t>• Fixed restriction, no modulation</a:t>
            </a:r>
            <a:br/>
            <a:r>
              <a:t>• Simpler, cheaper, more reliable</a:t>
            </a:r>
            <a:br/>
            <a:r>
              <a:t>• Requires accumulator after evaporator to trap liquid</a:t>
            </a:r>
            <a:br/>
            <a:br/>
            <a:r>
              <a:t>Thermodynamic Process:</a:t>
            </a:r>
            <a:br/>
            <a:r>
              <a:t>Process: Throttling (isenthalpic expansion)</a:t>
            </a:r>
            <a:br/>
            <a:r>
              <a:t>P_in: ~15 bar (high-pressure liquid)</a:t>
            </a:r>
            <a:br/>
            <a:r>
              <a:t>T_in: ~50°C</a:t>
            </a:r>
            <a:br/>
            <a:r>
              <a:t>P_out: ~2.5 bar (low-pressure two-phase)</a:t>
            </a:r>
            <a:br/>
            <a:r>
              <a:t>T_out: ~5°C</a:t>
            </a:r>
            <a:br/>
            <a:r>
              <a:t>Enthalpy: h_in = h_out (no heat exchange, no work)</a:t>
            </a:r>
            <a:br/>
            <a:r>
              <a:t>Result: Pressure drop causes temperature drop</a:t>
            </a:r>
            <a:br/>
            <a:br/>
            <a:r>
              <a:t>Why Pressure Drop = Temperature Drop?</a:t>
            </a:r>
            <a:br/>
            <a:r>
              <a:t>As pressure decreases, some liquid flashes to vapor (evaporates)</a:t>
            </a:r>
            <a:br/>
            <a:r>
              <a:t>Evaporation absorbs energy from remaining liquid</a:t>
            </a:r>
            <a:br/>
            <a:r>
              <a:t>→ Bulk temperature drops</a:t>
            </a:r>
          </a:p>
          <a:p>
            <a:pPr>
              <a:spcAft>
                <a:spcPts val="1000"/>
              </a:spcAft>
              <a:defRPr sz="1800">
                <a:solidFill>
                  <a:srgbClr val="333333"/>
                </a:solidFill>
              </a:defRPr>
            </a:pPr>
            <a:r>
              <a:t>Analogy:</a:t>
            </a:r>
          </a:p>
          <a:p>
            <a:pPr>
              <a:spcAft>
                <a:spcPts val="1000"/>
              </a:spcAft>
              <a:defRPr sz="1800">
                <a:solidFill>
                  <a:srgbClr val="333333"/>
                </a:solidFill>
              </a:defRPr>
            </a:pPr>
            <a:r>
              <a:t>Think of shaking a can of compressed air and feeling it get cold. Same principle - rapid pressure drop causes cooling.</a:t>
            </a:r>
          </a:p>
          <a:p>
            <a:pPr>
              <a:spcAft>
                <a:spcPts val="1000"/>
              </a:spcAft>
              <a:defRPr sz="1800">
                <a:solidFill>
                  <a:srgbClr val="333333"/>
                </a:solidFill>
              </a:defRPr>
            </a:pPr>
            <a:r>
              <a:t>Outcomes Addressed: SO-5-17-3 (expansion valve identification and operation)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Component 4 - Evaporator</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Finally we reach the evaporator - the component you actually feel the benefit from. The evaporator is where the magic happens: cold refrigerant absorbs heat from cabin air, giving you that blessed cool breeze on a hot day.</a:t>
            </a:r>
          </a:p>
          <a:p>
            <a:pPr>
              <a:spcAft>
                <a:spcPts val="1000"/>
              </a:spcAft>
              <a:defRPr sz="1800">
                <a:solidFill>
                  <a:srgbClr val="333333"/>
                </a:solidFill>
              </a:defRPr>
            </a:pPr>
            <a:r>
              <a:t>The evaporator is located inside the HVAC module behind the dashboard. You can't see it without disassembling the dash, but it's there - a compact heat exchanger about the size of a car radiator but smaller.</a:t>
            </a:r>
          </a:p>
          <a:p>
            <a:pPr>
              <a:spcAft>
                <a:spcPts val="1000"/>
              </a:spcAft>
              <a:defRPr sz="1800">
                <a:solidFill>
                  <a:srgbClr val="333333"/>
                </a:solidFill>
              </a:defRPr>
            </a:pPr>
            <a:r>
              <a:t>It looks similar to the condenser but works in reverse. Cold, low-pressure refrigerant enters at the bottom as a mixture of liquid and vapor. As it flows through the evaporator tubes, cabin air blown by the blower motor passes over the fins. Heat transfers from the warm cabin air to the cold refrigerant.</a:t>
            </a:r>
          </a:p>
          <a:p>
            <a:pPr>
              <a:spcAft>
                <a:spcPts val="1000"/>
              </a:spcAft>
              <a:defRPr sz="1800">
                <a:solidFill>
                  <a:srgbClr val="333333"/>
                </a:solidFill>
              </a:defRPr>
            </a:pPr>
            <a:r>
              <a:t>This heat causes the liquid refrigerant to evaporate - phase change from liquid to gas. Remember, evaporation absorbs latent heat. By the time the refrigerant exits at the top, it should be fully vaporized plus a bit of superheat. Typical evaporator outlet temperature is around 5-10°C.</a:t>
            </a:r>
          </a:p>
          <a:p>
            <a:pPr>
              <a:spcAft>
                <a:spcPts val="1000"/>
              </a:spcAft>
              <a:defRPr sz="1800">
                <a:solidFill>
                  <a:srgbClr val="333333"/>
                </a:solidFill>
              </a:defRPr>
            </a:pPr>
            <a:r>
              <a:t>The cabin air, meanwhile, is cooled. Air enters the evaporator at maybe 30-35°C and exits at 8-12°C. That's a 20°C+ temperature drop!</a:t>
            </a:r>
          </a:p>
          <a:p>
            <a:pPr>
              <a:spcAft>
                <a:spcPts val="1000"/>
              </a:spcAft>
              <a:defRPr sz="1800">
                <a:solidFill>
                  <a:srgbClr val="333333"/>
                </a:solidFill>
              </a:defRPr>
            </a:pPr>
            <a:r>
              <a:t>But cooling isn't the only benefit. The evaporator also dehumidifies. When warm, humid air contacts the cold evaporator surface below the dew point, water vapor condenses into liquid droplets - just like moisture forming on a cold drink glass. This moisture drips off the evaporator fins and drains out through a tube under the car - that's why you see water puddles under parked cars with AC running.</a:t>
            </a:r>
          </a:p>
          <a:p>
            <a:pPr>
              <a:spcAft>
                <a:spcPts val="1000"/>
              </a:spcAft>
              <a:defRPr sz="1800">
                <a:solidFill>
                  <a:srgbClr val="333333"/>
                </a:solidFill>
              </a:defRPr>
            </a:pPr>
            <a:r>
              <a:t>Dehumidification is crucial for comfort and for defogging windows. Removing moisture prevents that clammy feeling and improves visibility.</a:t>
            </a:r>
          </a:p>
          <a:p>
            <a:pPr>
              <a:spcAft>
                <a:spcPts val="1000"/>
              </a:spcAft>
              <a:defRPr sz="1800">
                <a:solidFill>
                  <a:srgbClr val="333333"/>
                </a:solidFill>
              </a:defRPr>
            </a:pPr>
            <a:r>
              <a:t>PPT Content:</a:t>
            </a:r>
          </a:p>
          <a:p>
            <a:pPr>
              <a:defRPr sz="1400">
                <a:solidFill>
                  <a:srgbClr val="787878"/>
                </a:solidFill>
                <a:latin typeface="Consolas"/>
              </a:defRPr>
            </a:pPr>
            <a:r>
              <a:t>COMPONENT 4: EVAPORATOR</a:t>
            </a:r>
            <a:br/>
            <a:br/>
            <a:r>
              <a:t>Function:</a:t>
            </a:r>
            <a:br/>
            <a:r>
              <a:t>Absorb heat from cabin air</a:t>
            </a:r>
            <a:br/>
            <a:r>
              <a:t>Evaporate low-pressure liquid → low-pressure vapor</a:t>
            </a:r>
            <a:br/>
            <a:r>
              <a:t>Cool and dehumidify cabin air</a:t>
            </a:r>
            <a:br/>
            <a:br/>
            <a:r>
              <a:t>Location: Inside HVAC module (behind dashboard)</a:t>
            </a:r>
            <a:br/>
            <a:br/>
            <a:r>
              <a:t>Construction:</a:t>
            </a:r>
            <a:br/>
            <a:r>
              <a:t>• Aluminum tubes (refrigerant flow)</a:t>
            </a:r>
            <a:br/>
            <a:r>
              <a:t>• Aluminum fins (air-side heat transfer)</a:t>
            </a:r>
            <a:br/>
            <a:r>
              <a:t>• Inlet: Bottom (low-pressure two-phase mixture)</a:t>
            </a:r>
            <a:br/>
            <a:r>
              <a:t>• Outlet: Top (low-pressure vapor, slightly superheated)</a:t>
            </a:r>
            <a:br/>
            <a:r>
              <a:t>• Condensate drain tube (remove water)</a:t>
            </a:r>
            <a:br/>
            <a:br/>
            <a:r>
              <a:t>Refrigerant-Side Process:</a:t>
            </a:r>
            <a:br/>
            <a:r>
              <a:t>1. Inlet: Two-phase mixture (~5°C, 2.5 bar, ~30% vapor)</a:t>
            </a:r>
            <a:br/>
            <a:r>
              <a:t>2. Evaporation: Liquid → Vapor as heat absorbed</a:t>
            </a:r>
            <a:br/>
            <a:r>
              <a:t>3. Outlet: Superheated vapor (~10°C, 2.5 bar, 100% vapor)</a:t>
            </a:r>
            <a:br/>
            <a:r>
              <a:t>4. Heat absorbed: Q_evap = ṁ × ΔH_vap (~3-6 kW)</a:t>
            </a:r>
            <a:br/>
            <a:br/>
            <a:r>
              <a:t>Air-Side Process:</a:t>
            </a:r>
            <a:br/>
            <a:r>
              <a:t>1. Inlet: Warm cabin air (~30-35°C, relative humidity ~50-70%)</a:t>
            </a:r>
            <a:br/>
            <a:r>
              <a:t>2. Cooling: Air temperature drops to ~8-12°C</a:t>
            </a:r>
            <a:br/>
            <a:r>
              <a:t>3. Dehumidification: Water vapor condenses on cold fins</a:t>
            </a:r>
            <a:br/>
            <a:r>
              <a:t>4. Outlet: Cool, dry air to cabin vents</a:t>
            </a:r>
            <a:br/>
            <a:br/>
            <a:r>
              <a:t>Dehumidification:</a:t>
            </a:r>
            <a:br/>
            <a:r>
              <a:t>When air temp drops below dew point → Moisture condenses</a:t>
            </a:r>
            <a:br/>
            <a:r>
              <a:t>Condensate drips to drain pan → Drains outside vehicle</a:t>
            </a:r>
            <a:br/>
            <a:r>
              <a:t>Dehumidification rate: ~100-300 ml/hr (typical)</a:t>
            </a:r>
            <a:br/>
            <a:r>
              <a:t>Benefits:</a:t>
            </a:r>
            <a:br/>
            <a:r>
              <a:t>  • Prevents clammy/sticky feeling</a:t>
            </a:r>
            <a:br/>
            <a:r>
              <a:t>  • Defogs windshield (dry air prevents condensation)</a:t>
            </a:r>
            <a:br/>
            <a:r>
              <a:t>  • Improves perceived cooling (dry air feels cooler)</a:t>
            </a:r>
            <a:br/>
            <a:br/>
            <a:r>
              <a:t>Evaporator Temperature Control:</a:t>
            </a:r>
            <a:br/>
            <a:r>
              <a:t>Must stay above freezing (~3-5°C minimum)</a:t>
            </a:r>
            <a:br/>
            <a:r>
              <a:t>If too cold → Ice forms on fins → Blocks airflow</a:t>
            </a:r>
            <a:br/>
            <a:r>
              <a:t>Cycling clutch or variable compressor prevents ice formation</a:t>
            </a:r>
            <a:br/>
            <a:br/>
            <a:r>
              <a:t>Cooling Capacity:</a:t>
            </a:r>
            <a:br/>
            <a:r>
              <a:t>Typical sedan: 3-5 kW steady-state</a:t>
            </a:r>
            <a:br/>
            <a:r>
              <a:t>Initial cool-down: 6-8 kW peak</a:t>
            </a:r>
            <a:br/>
            <a:r>
              <a:t>Dependent on:</a:t>
            </a:r>
            <a:br/>
            <a:r>
              <a:t>  • Refrigerant flow rate</a:t>
            </a:r>
            <a:br/>
            <a:r>
              <a:t>  • Evaporator surface area</a:t>
            </a:r>
            <a:br/>
            <a:r>
              <a:t>  • Air flow rate (blower speed)</a:t>
            </a:r>
            <a:br/>
            <a:r>
              <a:t>  • Temperature difference</a:t>
            </a:r>
          </a:p>
          <a:p>
            <a:pPr>
              <a:spcAft>
                <a:spcPts val="1000"/>
              </a:spcAft>
              <a:defRPr sz="1800">
                <a:solidFill>
                  <a:srgbClr val="333333"/>
                </a:solidFill>
              </a:defRPr>
            </a:pPr>
            <a:r>
              <a:t>Real-World Note:</a:t>
            </a:r>
          </a:p>
          <a:p>
            <a:pPr>
              <a:spcAft>
                <a:spcPts val="1000"/>
              </a:spcAft>
              <a:defRPr sz="1800">
                <a:solidFill>
                  <a:srgbClr val="333333"/>
                </a:solidFill>
              </a:defRPr>
            </a:pPr>
            <a:r>
              <a:t>That water dripping under your parked car? It's from the evaporator condensate. Completely normal. If you DON'T see it on a humid day with AC running, your drain might be clogged.</a:t>
            </a:r>
          </a:p>
          <a:p>
            <a:pPr>
              <a:spcAft>
                <a:spcPts val="1000"/>
              </a:spcAft>
              <a:defRPr sz="1800">
                <a:solidFill>
                  <a:srgbClr val="333333"/>
                </a:solidFill>
              </a:defRPr>
            </a:pPr>
            <a:r>
              <a:t>Outcomes Addressed: SO-5-17-3 (evaporator identification and operation)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Refrigerant Circuit Integration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Let's bring it all together. Here's the complete refrigerant circuit with all the key parameters labeled at each point.</a:t>
            </a:r>
          </a:p>
          <a:p>
            <a:pPr>
              <a:spcAft>
                <a:spcPts val="1000"/>
              </a:spcAft>
              <a:defRPr sz="1800">
                <a:solidFill>
                  <a:srgbClr val="333333"/>
                </a:solidFill>
              </a:defRPr>
            </a:pPr>
            <a:r>
              <a:t>Starting at the compressor inlet: we have low-pressure vapor at about 2.5 bar and 10°C coming from the evaporator. The compressor compresses it to high-pressure, high-temperature vapor - 15 bar, 85°C.</a:t>
            </a:r>
          </a:p>
          <a:p>
            <a:pPr>
              <a:spcAft>
                <a:spcPts val="1000"/>
              </a:spcAft>
              <a:defRPr sz="1800">
                <a:solidFill>
                  <a:srgbClr val="333333"/>
                </a:solidFill>
              </a:defRPr>
            </a:pPr>
            <a:r>
              <a:t>This hot vapor flows to the condenser where it cools and condenses. At the condenser outlet, we have high-pressure liquid at about 15 bar and 50°C - subcooled a bit below the condensation temperature.</a:t>
            </a:r>
          </a:p>
          <a:p>
            <a:pPr>
              <a:spcAft>
                <a:spcPts val="1000"/>
              </a:spcAft>
              <a:defRPr sz="1800">
                <a:solidFill>
                  <a:srgbClr val="333333"/>
                </a:solidFill>
              </a:defRPr>
            </a:pPr>
            <a:r>
              <a:t>This liquid then throttles through the expansion valve. Pressure drops from 15 bar to 2.5 bar, temperature drops from 50°C to 5°C, and we get a two-phase mixture.</a:t>
            </a:r>
          </a:p>
          <a:p>
            <a:pPr>
              <a:spcAft>
                <a:spcPts val="1000"/>
              </a:spcAft>
              <a:defRPr sz="1800">
                <a:solidFill>
                  <a:srgbClr val="333333"/>
                </a:solidFill>
              </a:defRPr>
            </a:pPr>
            <a:r>
              <a:t>Finally, this cold mixture enters the evaporator. It absorbs cabin heat and fully evaporates, exiting as low-pressure vapor at 10°C, which returns to the compressor.</a:t>
            </a:r>
          </a:p>
          <a:p>
            <a:pPr>
              <a:spcAft>
                <a:spcPts val="1000"/>
              </a:spcAft>
              <a:defRPr sz="1800">
                <a:solidFill>
                  <a:srgbClr val="333333"/>
                </a:solidFill>
              </a:defRPr>
            </a:pPr>
            <a:r>
              <a:t>Notice the refrigerant is always moving in one direction, driven by the compressor. The high-pressure side runs from compressor discharge through condenser to expansion valve - these lines are warm or hot to touch. The low-pressure side runs from expansion valve through evaporator back to compressor - these lines are cold.</a:t>
            </a:r>
          </a:p>
          <a:p>
            <a:pPr>
              <a:spcAft>
                <a:spcPts val="1000"/>
              </a:spcAft>
              <a:defRPr sz="1800">
                <a:solidFill>
                  <a:srgbClr val="333333"/>
                </a:solidFill>
              </a:defRPr>
            </a:pPr>
            <a:r>
              <a:t>If you ever see an automotive AC system, you can identify the high and low sides by line diameter too - the low-pressure suction line is larger diameter because vapor is less dense than liquid, so you need a bigger pipe for the same mass flow.</a:t>
            </a:r>
          </a:p>
          <a:p>
            <a:pPr>
              <a:spcAft>
                <a:spcPts val="1000"/>
              </a:spcAft>
              <a:defRPr sz="1800">
                <a:solidFill>
                  <a:srgbClr val="333333"/>
                </a:solidFill>
              </a:defRPr>
            </a:pPr>
            <a:r>
              <a:t>This is your complete vapor compression refrigeration cycle in an automobile.</a:t>
            </a:r>
          </a:p>
          <a:p>
            <a:pPr>
              <a:spcAft>
                <a:spcPts val="1000"/>
              </a:spcAft>
              <a:defRPr sz="1800">
                <a:solidFill>
                  <a:srgbClr val="333333"/>
                </a:solidFill>
              </a:defRPr>
            </a:pPr>
            <a:r>
              <a:t>PPT Content:</a:t>
            </a:r>
          </a:p>
          <a:p>
            <a:pPr>
              <a:defRPr sz="1400">
                <a:solidFill>
                  <a:srgbClr val="787878"/>
                </a:solidFill>
                <a:latin typeface="Consolas"/>
              </a:defRPr>
            </a:pPr>
            <a:r>
              <a:t>REFRIGERANT CIRCUIT INTEGRATION</a:t>
            </a:r>
            <a:br/>
            <a:br/>
            <a:r>
              <a:t>COMPLETE CYCLE with State Points:</a:t>
            </a:r>
            <a:br/>
            <a:br/>
            <a:r>
              <a:t>Point 1 (Compressor Inlet):</a:t>
            </a:r>
            <a:br/>
            <a:r>
              <a:t>• State: Low-pressure vapor (superheated)</a:t>
            </a:r>
            <a:br/>
            <a:r>
              <a:t>• Pressure: 2-3 bar</a:t>
            </a:r>
            <a:br/>
            <a:r>
              <a:t>• Temperature: 5-10°C</a:t>
            </a:r>
            <a:br/>
            <a:r>
              <a:t>• Location: Evaporator outlet / Suction line</a:t>
            </a:r>
            <a:br/>
            <a:br/>
            <a:r>
              <a:t>Point 2 (Compressor Outlet):</a:t>
            </a:r>
            <a:br/>
            <a:r>
              <a:t>• State: High-pressure vapor (superheated)</a:t>
            </a:r>
            <a:br/>
            <a:r>
              <a:t>• Pressure: 12-18 bar</a:t>
            </a:r>
            <a:br/>
            <a:r>
              <a:t>• Temperature: 70-90°C</a:t>
            </a:r>
            <a:br/>
            <a:r>
              <a:t>• Location: Discharge line</a:t>
            </a:r>
            <a:br/>
            <a:br/>
            <a:r>
              <a:t>Point 3 (Condenser Outlet):</a:t>
            </a:r>
            <a:br/>
            <a:r>
              <a:t>• State: High-pressure liquid (subcooled)</a:t>
            </a:r>
            <a:br/>
            <a:r>
              <a:t>• Pressure: 12-18 bar</a:t>
            </a:r>
            <a:br/>
            <a:r>
              <a:t>• Temperature: 45-55°C</a:t>
            </a:r>
            <a:br/>
            <a:r>
              <a:t>• Location: Liquid line</a:t>
            </a:r>
            <a:br/>
            <a:br/>
            <a:r>
              <a:t>Point 4 (Expansion Valve Outlet):</a:t>
            </a:r>
            <a:br/>
            <a:r>
              <a:t>• State: Low-pressure two-phase mixture</a:t>
            </a:r>
            <a:br/>
            <a:r>
              <a:t>• Pressure: 2-3 bar</a:t>
            </a:r>
            <a:br/>
            <a:r>
              <a:t>• Temperature: 3-7°C</a:t>
            </a:r>
            <a:br/>
            <a:r>
              <a:t>• Quality: ~20-40% vapor</a:t>
            </a:r>
            <a:br/>
            <a:r>
              <a:t>• Location: Evaporator inlet</a:t>
            </a:r>
            <a:br/>
            <a:br/>
            <a:r>
              <a:t>Pressure-Temperature Relationship:</a:t>
            </a:r>
            <a:br/>
            <a:r>
              <a:t>High-side pressure varies with ambient temp:</a:t>
            </a:r>
            <a:br/>
            <a:r>
              <a:t>• 25°C ambient → ~12 bar</a:t>
            </a:r>
            <a:br/>
            <a:r>
              <a:t>• 35°C ambient → ~15 bar</a:t>
            </a:r>
            <a:br/>
            <a:r>
              <a:t>• 45°C ambient → ~18 bar</a:t>
            </a:r>
            <a:br/>
            <a:br/>
            <a:r>
              <a:t>Low-side pressure varies with evaporator temp:</a:t>
            </a:r>
            <a:br/>
            <a:r>
              <a:t>• Warmer evap (10°C) → ~3.5 bar</a:t>
            </a:r>
            <a:br/>
            <a:r>
              <a:t>• Cooler evap (5°C) → ~2.5 bar</a:t>
            </a:r>
            <a:br/>
            <a:r>
              <a:t>• Near freezing (0°C) → ~2.0 bar (risk of icing)</a:t>
            </a:r>
            <a:br/>
            <a:br/>
            <a:r>
              <a:t>Line Identification:</a:t>
            </a:r>
            <a:br/>
            <a:r>
              <a:t>Suction line: Large diameter, cold, insulated (vapor, low density)</a:t>
            </a:r>
            <a:br/>
            <a:r>
              <a:t>Discharge line: Medium diameter, hot (vapor, high density)</a:t>
            </a:r>
            <a:br/>
            <a:r>
              <a:t>Liquid line: Small diameter, warm (liquid, high density)</a:t>
            </a:r>
            <a:br/>
            <a:br/>
            <a:r>
              <a:t>Refrigerant Charge:</a:t>
            </a:r>
            <a:br/>
            <a:r>
              <a:t>Typical sedan: 400-800 grams total refrigerant</a:t>
            </a:r>
            <a:br/>
            <a:r>
              <a:t>Distributed: ~60% in condenser, ~30% in evaporator, ~10% in lines/compressor</a:t>
            </a:r>
            <a:br/>
            <a:br/>
            <a:r>
              <a:t>System Service Ports:</a:t>
            </a:r>
            <a:br/>
            <a:r>
              <a:t>High-side port (blue cap): For gauges, larger fitting</a:t>
            </a:r>
            <a:br/>
            <a:r>
              <a:t>Low-side port (red cap): For gauges, smaller fitting</a:t>
            </a:r>
            <a:br/>
            <a:r>
              <a:t>Used for pressure diagnosis and refrigerant charging</a:t>
            </a:r>
          </a:p>
          <a:p>
            <a:pPr>
              <a:spcAft>
                <a:spcPts val="1000"/>
              </a:spcAft>
              <a:defRPr sz="1800">
                <a:solidFill>
                  <a:srgbClr val="333333"/>
                </a:solidFill>
              </a:defRPr>
            </a:pPr>
            <a:r>
              <a:t>Teaching Tip:</a:t>
            </a:r>
          </a:p>
          <a:p>
            <a:pPr>
              <a:spcAft>
                <a:spcPts val="1000"/>
              </a:spcAft>
              <a:defRPr sz="1800">
                <a:solidFill>
                  <a:srgbClr val="333333"/>
                </a:solidFill>
              </a:defRPr>
            </a:pPr>
            <a:r>
              <a:t>Show photo of actual engine bay pointing out compressor, lines, condenser, and service ports.</a:t>
            </a:r>
          </a:p>
          <a:p>
            <a:pPr>
              <a:spcAft>
                <a:spcPts val="1000"/>
              </a:spcAft>
              <a:defRPr sz="1800">
                <a:solidFill>
                  <a:srgbClr val="333333"/>
                </a:solidFill>
              </a:defRPr>
            </a:pPr>
            <a:r>
              <a:t>Outcomes Addressed: SO-5-17-3 (complete component integration)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PART 4: CLIMAX - "Heating &amp; Complete System</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Slides 20-26 | Duration: ~20 minutes | Energy Level: High (Integration Point)</a:t>
            </a:r>
          </a:p>
          <a:p>
            <a:pPr>
              <a:spcAft>
                <a:spcPts val="1000"/>
              </a:spcAft>
              <a:defRPr sz="1800">
                <a:solidFill>
                  <a:srgbClr val="333333"/>
                </a:solidFill>
              </a:defRPr>
            </a:pPr>
            <a:r>
              <a:t>Story Purpose: Integrate heating function and compare compressor technologies</a:t>
            </a:r>
          </a:p>
          <a:p>
            <a:pPr>
              <a:spcAft>
                <a:spcPts val="1000"/>
              </a:spcAft>
              <a:defRPr sz="1800">
                <a:solidFill>
                  <a:srgbClr val="333333"/>
                </a:solidFill>
              </a:defRPr>
            </a:pPr>
            <a:r>
              <a:t>Teaching Mode: System integration + technology comparison</a:t>
            </a:r>
          </a:p>
          <a:p>
            <a:pPr>
              <a:spcAft>
                <a:spcPts val="1000"/>
              </a:spcAft>
              <a:defRPr sz="1800">
                <a:solidFill>
                  <a:srgbClr val="333333"/>
                </a:solidFill>
              </a:defRPr>
            </a:pPr>
            <a:r>
              <a:t>Connection to Prior Knowledge: Engine cooling system (Session 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Heating System Integration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Now let's talk about the other side of HVAC: heating. In a conventional internal combustion engine vehicle, heating is almost trivially simple because we have abundant waste heat.</a:t>
            </a:r>
          </a:p>
          <a:p>
            <a:pPr>
              <a:spcAft>
                <a:spcPts val="1000"/>
              </a:spcAft>
              <a:defRPr sz="1800">
                <a:solidFill>
                  <a:srgbClr val="333333"/>
                </a:solidFill>
              </a:defRPr>
            </a:pPr>
            <a:r>
              <a:t>Remember from Session 5 that the engine cooling system circulates coolant through the engine to absorb combustion heat. That coolant, at around 85-95°C, flows to the radiator to reject heat to the outside. But before it goes to the radiator, we branch off a small flow to the heater core.</a:t>
            </a:r>
          </a:p>
          <a:p>
            <a:pPr>
              <a:spcAft>
                <a:spcPts val="1000"/>
              </a:spcAft>
              <a:defRPr sz="1800">
                <a:solidFill>
                  <a:srgbClr val="333333"/>
                </a:solidFill>
              </a:defRPr>
            </a:pPr>
            <a:r>
              <a:t>The heater core is essentially a miniature radiator located inside the cabin HVAC module, right next to the evaporator. Hot engine coolant flows through the heater core tubes. When you want cabin heating, the blend door inside the HVAC module directs cabin air to flow over the heater core instead of the evaporator. The air is heated by the hot coolant and comes out warm through the vents.</a:t>
            </a:r>
          </a:p>
          <a:p>
            <a:pPr>
              <a:spcAft>
                <a:spcPts val="1000"/>
              </a:spcAft>
              <a:defRPr sz="1800">
                <a:solidFill>
                  <a:srgbClr val="333333"/>
                </a:solidFill>
              </a:defRPr>
            </a:pPr>
            <a:r>
              <a:t>The beauty of this system is that it's parasitic-free - the engine is generating this heat anyway, so using it for cabin heating costs essentially nothing. There's a tiny bit of extra pumping power for the coolant, but it's negligible.</a:t>
            </a:r>
          </a:p>
          <a:p>
            <a:pPr>
              <a:spcAft>
                <a:spcPts val="1000"/>
              </a:spcAft>
              <a:defRPr sz="1800">
                <a:solidFill>
                  <a:srgbClr val="333333"/>
                </a:solidFill>
              </a:defRPr>
            </a:pPr>
            <a:r>
              <a:t>You control heating by adjusting the blend door position. Fully closed - all air bypasses the heater core, you get maximum cooling. Fully open - all air goes through the heater core, you get maximum heating. Partial positions blend cold air from the evaporator with hot air from the heater core to achieve your desired temperature.</a:t>
            </a:r>
          </a:p>
          <a:p>
            <a:pPr>
              <a:spcAft>
                <a:spcPts val="1000"/>
              </a:spcAft>
              <a:defRPr sz="1800">
                <a:solidFill>
                  <a:srgbClr val="333333"/>
                </a:solidFill>
              </a:defRPr>
            </a:pPr>
            <a:r>
              <a:t>This is why conventional cars can provide instant heating as long as the engine is warm, but electric vehicles struggle with heating efficiency - EVs don't have waste heat, they need to use battery energy to run an electric heater or heat pump.</a:t>
            </a:r>
          </a:p>
          <a:p>
            <a:pPr>
              <a:spcAft>
                <a:spcPts val="1000"/>
              </a:spcAft>
              <a:defRPr sz="1800">
                <a:solidFill>
                  <a:srgbClr val="333333"/>
                </a:solidFill>
              </a:defRPr>
            </a:pPr>
            <a:r>
              <a:t>PPT Content:</a:t>
            </a:r>
          </a:p>
          <a:p>
            <a:pPr>
              <a:defRPr sz="1400">
                <a:solidFill>
                  <a:srgbClr val="787878"/>
                </a:solidFill>
                <a:latin typeface="Consolas"/>
              </a:defRPr>
            </a:pPr>
            <a:r>
              <a:t>HEATING SYSTEM INTEGRATION</a:t>
            </a:r>
            <a:br/>
            <a:br/>
            <a:r>
              <a:t>Heat Source: Engine waste heat (conventional vehicles)</a:t>
            </a:r>
            <a:br/>
            <a:br/>
            <a:r>
              <a:t>Engine Coolant Circuit:</a:t>
            </a:r>
            <a:br/>
            <a:r>
              <a:t>Engine → Water pump → Coolant passages (absorb heat)</a:t>
            </a:r>
            <a:br/>
            <a:r>
              <a:t>→ Thermostat → Splits:</a:t>
            </a:r>
            <a:br/>
            <a:r>
              <a:t>  Path 1: Radiator (main heat rejection)</a:t>
            </a:r>
            <a:br/>
            <a:r>
              <a:t>  Path 2: Heater core (cabin heating) ← WE USE THIS</a:t>
            </a:r>
            <a:br/>
            <a:r>
              <a:t>→ Return to engine</a:t>
            </a:r>
            <a:br/>
            <a:br/>
            <a:r>
              <a:t>Heater Core:</a:t>
            </a:r>
            <a:br/>
            <a:r>
              <a:t>• Small heat exchanger (~15 cm × 20 cm)</a:t>
            </a:r>
            <a:br/>
            <a:r>
              <a:t>• Located inside HVAC module (next to evaporator)</a:t>
            </a:r>
            <a:br/>
            <a:r>
              <a:t>• Hot coolant flows through tubes: 85-95°C</a:t>
            </a:r>
            <a:br/>
            <a:r>
              <a:t>• Cabin air blown over fins</a:t>
            </a:r>
            <a:br/>
            <a:r>
              <a:t>• Heat transfer: Coolant → Air (~3-5 kW heating capacity)</a:t>
            </a:r>
            <a:br/>
            <a:br/>
            <a:r>
              <a:t>Blend Door Control:</a:t>
            </a:r>
            <a:br/>
            <a:r>
              <a:t>Position 1 (Max Cool): Air bypasses heater core → Only through evaporator</a:t>
            </a:r>
            <a:br/>
            <a:r>
              <a:t>Position 2 (Blend): Partial airflow through heater core, partial through evaporator</a:t>
            </a:r>
            <a:br/>
            <a:r>
              <a:t>Position 3 (Max Heat): All air through heater core → No evaporator</a:t>
            </a:r>
            <a:br/>
            <a:br/>
            <a:r>
              <a:t>Temperature Control:</a:t>
            </a:r>
            <a:br/>
            <a:r>
              <a:t>Move blend door to mix cold (evaporator) and hot (heater core) air</a:t>
            </a:r>
            <a:br/>
            <a:r>
              <a:t>Achieve any desired cabin temperature between extremes</a:t>
            </a:r>
            <a:br/>
            <a:r>
              <a:t>Controlled by: Manual dial or automatic climate control ECU</a:t>
            </a:r>
            <a:br/>
            <a:br/>
            <a:r>
              <a:t>Coolant Flow Control:</a:t>
            </a:r>
            <a:br/>
            <a:r>
              <a:t>Older vehicles: Heater control valve (shuts off coolant to heater core when not needed)</a:t>
            </a:r>
            <a:br/>
            <a:r>
              <a:t>Modern vehicles: Continuous flow, temperature controlled by blend door only</a:t>
            </a:r>
            <a:br/>
            <a:br/>
            <a:r>
              <a:t>Heating Performance:</a:t>
            </a:r>
            <a:br/>
            <a:r>
              <a:t>Available heat: Essentially unlimited (engine generates 30-50 kW waste heat)</a:t>
            </a:r>
            <a:br/>
            <a:r>
              <a:t>Heating capacity: ~3-6 kW (limited by heater core size and airflow)</a:t>
            </a:r>
            <a:br/>
            <a:r>
              <a:t>Warm-up time: Depends on engine warm-up (~3-5 min cold start)</a:t>
            </a:r>
            <a:br/>
            <a:br/>
            <a:r>
              <a:t>Integration with Engine Cooling:</a:t>
            </a:r>
            <a:br/>
            <a:r>
              <a:t>Heater core acts as auxiliary radiator</a:t>
            </a:r>
            <a:br/>
            <a:r>
              <a:t>Using cabin heating helps cool engine (useful if engine overheating)</a:t>
            </a:r>
            <a:br/>
            <a:r>
              <a:t>Winter: Opening heater core load helps engine reach operating temp faster</a:t>
            </a:r>
            <a:br/>
            <a:br/>
            <a:r>
              <a:t>ELECTRIC VEHICLE CHALLENGE:</a:t>
            </a:r>
            <a:br/>
            <a:r>
              <a:t>No engine waste heat → Must use:</a:t>
            </a:r>
            <a:br/>
            <a:r>
              <a:t>  Option 1: Resistive electric heater (inefficient, ~1 kW per 1 kW heat)</a:t>
            </a:r>
            <a:br/>
            <a:r>
              <a:t>  Option 2: Heat pump (efficient, ~3 kW heat per 1 kW electric, but complex)</a:t>
            </a:r>
            <a:br/>
            <a:r>
              <a:t>Heating in EVs reduces driving range significantly</a:t>
            </a:r>
          </a:p>
          <a:p>
            <a:pPr>
              <a:spcAft>
                <a:spcPts val="1000"/>
              </a:spcAft>
              <a:defRPr sz="1800">
                <a:solidFill>
                  <a:srgbClr val="333333"/>
                </a:solidFill>
              </a:defRPr>
            </a:pPr>
            <a:r>
              <a:t>Real-World Example:</a:t>
            </a:r>
          </a:p>
          <a:p>
            <a:pPr>
              <a:spcAft>
                <a:spcPts val="1000"/>
              </a:spcAft>
              <a:defRPr sz="1800">
                <a:solidFill>
                  <a:srgbClr val="333333"/>
                </a:solidFill>
              </a:defRPr>
            </a:pPr>
            <a:r>
              <a:t>On a cold winter morning, your car's heater won't blow warm air immediately because the engine coolant hasn't warmed up yet. You need to wait 2-3 minutes for the engine to generate enough heat. Auxiliary electric heaters can help in some cars.</a:t>
            </a:r>
          </a:p>
          <a:p>
            <a:pPr>
              <a:spcAft>
                <a:spcPts val="1000"/>
              </a:spcAft>
              <a:defRPr sz="1800">
                <a:solidFill>
                  <a:srgbClr val="333333"/>
                </a:solidFill>
              </a:defRPr>
            </a:pPr>
            <a:r>
              <a:t>Outcomes Addressed: SO-5-17-5 (heating system, engine cooling integration)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Complete HVAC Module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Let me show you the complete HVAC module - this is the unit hidden behind your dashboard that ties everything together.</a:t>
            </a:r>
          </a:p>
          <a:p>
            <a:pPr>
              <a:spcAft>
                <a:spcPts val="1000"/>
              </a:spcAft>
              <a:defRPr sz="1800">
                <a:solidFill>
                  <a:srgbClr val="333333"/>
                </a:solidFill>
              </a:defRPr>
            </a:pPr>
            <a:r>
              <a:t>At the core, you have two heat exchangers sitting side by side: the evaporator and the heater core. The evaporator is for cooling, the heater core is for heating.</a:t>
            </a:r>
          </a:p>
          <a:p>
            <a:pPr>
              <a:spcAft>
                <a:spcPts val="1000"/>
              </a:spcAft>
              <a:defRPr sz="1800">
                <a:solidFill>
                  <a:srgbClr val="333333"/>
                </a:solidFill>
              </a:defRPr>
            </a:pPr>
            <a:r>
              <a:t>Air enters the module through the cabin air filter, which removes dust, pollen, and pollutants. The blower motor - a multi-speed fan - forces this air into the module.</a:t>
            </a:r>
          </a:p>
          <a:p>
            <a:pPr>
              <a:spcAft>
                <a:spcPts val="1000"/>
              </a:spcAft>
              <a:defRPr sz="1800">
                <a:solidFill>
                  <a:srgbClr val="333333"/>
                </a:solidFill>
              </a:defRPr>
            </a:pPr>
            <a:r>
              <a:t>The air first encounters the evaporator. Even if you're in heating mode, the air often passes through or near the evaporator to dehumidify it, which is important for defrosting windows.</a:t>
            </a:r>
          </a:p>
          <a:p>
            <a:pPr>
              <a:spcAft>
                <a:spcPts val="1000"/>
              </a:spcAft>
              <a:defRPr sz="1800">
                <a:solidFill>
                  <a:srgbClr val="333333"/>
                </a:solidFill>
              </a:defRPr>
            </a:pPr>
            <a:r>
              <a:t>Then comes the blend door. This is a pivoting flap controlled by a servo motor. If you want cold air, the blend door blocks the heater core and directs all air to bypass it. If you want hot air, the blend door forces all air through the heater core. For a comfortable temperature, the door is partially open, blending some cold air with some heated air.</a:t>
            </a:r>
          </a:p>
          <a:p>
            <a:pPr>
              <a:spcAft>
                <a:spcPts val="1000"/>
              </a:spcAft>
              <a:defRPr sz="1800">
                <a:solidFill>
                  <a:srgbClr val="333333"/>
                </a:solidFill>
              </a:defRPr>
            </a:pPr>
            <a:r>
              <a:t>After the blend door, the air is at your desired temperature. But where does it go? That's determined by mode doors. There are several vents in the car: face vents on the dashboard, floor vents at your feet, and defrost vents aimed at the windshield. Mode doors direct air to whichever vents you select on the control panel - face mode, feet mode, defrost mode, or combinations.</a:t>
            </a:r>
          </a:p>
          <a:p>
            <a:pPr>
              <a:spcAft>
                <a:spcPts val="1000"/>
              </a:spcAft>
              <a:defRPr sz="1800">
                <a:solidFill>
                  <a:srgbClr val="333333"/>
                </a:solidFill>
              </a:defRPr>
            </a:pPr>
            <a:r>
              <a:t>So the HVAC module is doing three things simultaneously: temperature control via blend door, airflow distribution via mode doors, and fan speed control via the blower. All of this is managed either by manual controls or by an automatic climate control ECU.</a:t>
            </a:r>
          </a:p>
          <a:p>
            <a:pPr>
              <a:spcAft>
                <a:spcPts val="1000"/>
              </a:spcAft>
              <a:defRPr sz="1800">
                <a:solidFill>
                  <a:srgbClr val="333333"/>
                </a:solidFill>
              </a:defRPr>
            </a:pPr>
            <a:r>
              <a:t>PPT Content:</a:t>
            </a:r>
          </a:p>
          <a:p>
            <a:pPr>
              <a:defRPr sz="1400">
                <a:solidFill>
                  <a:srgbClr val="787878"/>
                </a:solidFill>
                <a:latin typeface="Consolas"/>
              </a:defRPr>
            </a:pPr>
            <a:r>
              <a:t>COMPLETE HVAC MODULE</a:t>
            </a:r>
            <a:br/>
            <a:br/>
            <a:r>
              <a:t>Location: Behind dashboard (center of vehicle)</a:t>
            </a:r>
            <a:br/>
            <a:br/>
            <a:r>
              <a:t>Key Components:</a:t>
            </a:r>
            <a:br/>
            <a:br/>
            <a:r>
              <a:t>1. EVAPORATOR</a:t>
            </a:r>
            <a:br/>
            <a:r>
              <a:t>   • Cooling heat exchanger</a:t>
            </a:r>
            <a:br/>
            <a:r>
              <a:t>   • Connected to AC refrigeration circuit</a:t>
            </a:r>
            <a:br/>
            <a:r>
              <a:t>   • Cools and dehumidifies air</a:t>
            </a:r>
            <a:br/>
            <a:br/>
            <a:r>
              <a:t>2. HEATER CORE</a:t>
            </a:r>
            <a:br/>
            <a:r>
              <a:t>   • Heating heat exchanger</a:t>
            </a:r>
            <a:br/>
            <a:r>
              <a:t>   • Connected to engine coolant circuit</a:t>
            </a:r>
            <a:br/>
            <a:r>
              <a:t>   • Heats air</a:t>
            </a:r>
            <a:br/>
            <a:br/>
            <a:r>
              <a:t>3. BLOWER MOTOR &amp; FAN</a:t>
            </a:r>
            <a:br/>
            <a:r>
              <a:t>   • Multi-speed electric fan</a:t>
            </a:r>
            <a:br/>
            <a:r>
              <a:t>   • Forces air through system</a:t>
            </a:r>
            <a:br/>
            <a:r>
              <a:t>   • Speeds: Low, Medium, High (or variable)</a:t>
            </a:r>
            <a:br/>
            <a:r>
              <a:t>   • Airflow: 200-600 m³/hr (typical)</a:t>
            </a:r>
            <a:br/>
            <a:br/>
            <a:r>
              <a:t>4. CABIN AIR FILTER</a:t>
            </a:r>
            <a:br/>
            <a:r>
              <a:t>   • Removes dust, pollen, pollutants</a:t>
            </a:r>
            <a:br/>
            <a:r>
              <a:t>   • Located at fresh air inlet</a:t>
            </a:r>
            <a:br/>
            <a:r>
              <a:t>   • Should be replaced annually</a:t>
            </a:r>
            <a:br/>
            <a:br/>
            <a:r>
              <a:t>5. BLEND DOOR (Temperature Control)</a:t>
            </a:r>
            <a:br/>
            <a:r>
              <a:t>   • Pivoting door controlled by servo motor</a:t>
            </a:r>
            <a:br/>
            <a:r>
              <a:t>   • Positions:</a:t>
            </a:r>
            <a:br/>
            <a:r>
              <a:t>     - Full cold: Air bypasses heater core</a:t>
            </a:r>
            <a:br/>
            <a:r>
              <a:t>     - Full hot: All air through heater core</a:t>
            </a:r>
            <a:br/>
            <a:r>
              <a:t>     - Blend: Partial mix for intermediate temp</a:t>
            </a:r>
            <a:br/>
            <a:r>
              <a:t>   • Controlled by temperature dial or auto climate ECU</a:t>
            </a:r>
            <a:br/>
            <a:br/>
            <a:r>
              <a:t>6. MODE DOORS (Airflow Distribution)</a:t>
            </a:r>
            <a:br/>
            <a:r>
              <a:t>   • Direct air to selected vents:</a:t>
            </a:r>
            <a:br/>
            <a:r>
              <a:t>     - FACE: Dashboard vents (cooling)</a:t>
            </a:r>
            <a:br/>
            <a:r>
              <a:t>     - FEET: Floor vents (heating)</a:t>
            </a:r>
            <a:br/>
            <a:r>
              <a:t>     - DEFROST: Windshield vents (defogging)</a:t>
            </a:r>
            <a:br/>
            <a:r>
              <a:t>     - BILEVEL: Face + Feet combination</a:t>
            </a:r>
            <a:br/>
            <a:r>
              <a:t>   • Multiple doors operate simultaneously</a:t>
            </a:r>
            <a:br/>
            <a:br/>
            <a:r>
              <a:t>7. RECIRCULATION DOOR</a:t>
            </a:r>
            <a:br/>
            <a:r>
              <a:t>   • Fresh air mode: Outside air inlet (default)</a:t>
            </a:r>
            <a:br/>
            <a:r>
              <a:t>   • Recirculation mode: Cabin air recirculates</a:t>
            </a:r>
            <a:br/>
            <a:r>
              <a:t>   • Recirc benefits: Faster cooling, less pollution ingress</a:t>
            </a:r>
            <a:br/>
            <a:r>
              <a:t>   • Recirc drawback: CO₂ buildup, humidity increase</a:t>
            </a:r>
            <a:br/>
            <a:br/>
            <a:r>
              <a:t>Air Flow Path:</a:t>
            </a:r>
            <a:br/>
            <a:r>
              <a:t>Outside Air (or Recirculated Air)</a:t>
            </a:r>
            <a:br/>
            <a:r>
              <a:t>→ Cabin Filter</a:t>
            </a:r>
            <a:br/>
            <a:r>
              <a:t>→ Blower Fan</a:t>
            </a:r>
            <a:br/>
            <a:r>
              <a:t>→ Evaporator (cooling/dehumidification)</a:t>
            </a:r>
            <a:br/>
            <a:r>
              <a:t>→ Blend Door (temperature control)</a:t>
            </a:r>
            <a:br/>
            <a:r>
              <a:t>→ Heater Core (if blend door directs air there)</a:t>
            </a:r>
            <a:br/>
            <a:r>
              <a:t>→ Mode Doors (distribution)</a:t>
            </a:r>
            <a:br/>
            <a:r>
              <a:t>→ Vents (face/feet/defrost)</a:t>
            </a:r>
            <a:br/>
            <a:r>
              <a:t>→ Cabin</a:t>
            </a:r>
            <a:br/>
            <a:br/>
            <a:r>
              <a:t>Controls:</a:t>
            </a:r>
            <a:br/>
            <a:r>
              <a:t>Manual: Mechanical cables or electric switches</a:t>
            </a:r>
            <a:br/>
            <a:r>
              <a:t>Automatic: Climate control ECU with servo motors</a:t>
            </a:r>
          </a:p>
          <a:p>
            <a:pPr>
              <a:spcAft>
                <a:spcPts val="1000"/>
              </a:spcAft>
              <a:defRPr sz="1800">
                <a:solidFill>
                  <a:srgbClr val="333333"/>
                </a:solidFill>
              </a:defRPr>
            </a:pPr>
            <a:r>
              <a:t>Visual Aid:</a:t>
            </a:r>
          </a:p>
          <a:p>
            <a:pPr>
              <a:spcAft>
                <a:spcPts val="1000"/>
              </a:spcAft>
              <a:defRPr sz="1800">
                <a:solidFill>
                  <a:srgbClr val="333333"/>
                </a:solidFill>
              </a:defRPr>
            </a:pPr>
            <a:r>
              <a:t>Show 3D exploded view of HVAC module with all components labeled and airflow arrows.</a:t>
            </a:r>
          </a:p>
          <a:p>
            <a:pPr>
              <a:spcAft>
                <a:spcPts val="1000"/>
              </a:spcAft>
              <a:defRPr sz="1800">
                <a:solidFill>
                  <a:srgbClr val="333333"/>
                </a:solidFill>
              </a:defRPr>
            </a:pPr>
            <a:r>
              <a:t>Outcomes Addressed: SO-5-17-5 (complete heating integration), SO-5-17-6 (distribution system)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Defrost and Dehumidification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2 minutes</a:t>
            </a:r>
          </a:p>
          <a:p>
            <a:pPr>
              <a:spcAft>
                <a:spcPts val="1000"/>
              </a:spcAft>
              <a:defRPr sz="1800">
                <a:solidFill>
                  <a:srgbClr val="333333"/>
                </a:solidFill>
              </a:defRPr>
            </a:pPr>
            <a:r>
              <a:t>Instructor Narrative:</a:t>
            </a:r>
          </a:p>
          <a:p>
            <a:pPr>
              <a:spcAft>
                <a:spcPts val="1000"/>
              </a:spcAft>
              <a:defRPr sz="1800">
                <a:solidFill>
                  <a:srgbClr val="333333"/>
                </a:solidFill>
              </a:defRPr>
            </a:pPr>
            <a:r>
              <a:t>Let me quickly highlight one critical HVAC function: windshield defrosting. This is actually a safety feature, not just comfort.</a:t>
            </a:r>
          </a:p>
          <a:p>
            <a:pPr>
              <a:spcAft>
                <a:spcPts val="1000"/>
              </a:spcAft>
              <a:defRPr sz="1800">
                <a:solidFill>
                  <a:srgbClr val="333333"/>
                </a:solidFill>
              </a:defRPr>
            </a:pPr>
            <a:r>
              <a:t>In cold, humid conditions, your breath and body moisture raise cabin humidity. When this humid air contacts the cold windshield, moisture condenses - you get fogging. You can't see through a fogged windshield, which is dangerous.</a:t>
            </a:r>
          </a:p>
          <a:p>
            <a:pPr>
              <a:spcAft>
                <a:spcPts val="1000"/>
              </a:spcAft>
              <a:defRPr sz="1800">
                <a:solidFill>
                  <a:srgbClr val="333333"/>
                </a:solidFill>
              </a:defRPr>
            </a:pPr>
            <a:r>
              <a:t>The defrost mode does two things simultaneously. First, it directs airflow to vents aimed at the windshield - strong airflow across the glass. Second - and this is clever - it usually runs the AC compressor even in cold weather. Why? Because passing the air through the cold evaporator removes moisture before the air is reheated by the heater core. So you get warm, dry air blasting the windshield.</a:t>
            </a:r>
          </a:p>
          <a:p>
            <a:pPr>
              <a:spcAft>
                <a:spcPts val="1000"/>
              </a:spcAft>
              <a:defRPr sz="1800">
                <a:solidFill>
                  <a:srgbClr val="333333"/>
                </a:solidFill>
              </a:defRPr>
            </a:pPr>
            <a:r>
              <a:t>The warm air heats the windshield glass above the dew point so moisture evaporates. The dry air absorbs that moisture without re-condensing. Together, you get rapid defogging.</a:t>
            </a:r>
          </a:p>
          <a:p>
            <a:pPr>
              <a:spcAft>
                <a:spcPts val="1000"/>
              </a:spcAft>
              <a:defRPr sz="1800">
                <a:solidFill>
                  <a:srgbClr val="333333"/>
                </a:solidFill>
              </a:defRPr>
            </a:pPr>
            <a:r>
              <a:t>This is why the AC light sometimes comes on automatically when you select defrost mode, even in winter. It's intentional dehumidification.</a:t>
            </a:r>
          </a:p>
          <a:p>
            <a:pPr>
              <a:spcAft>
                <a:spcPts val="1000"/>
              </a:spcAft>
              <a:defRPr sz="1800">
                <a:solidFill>
                  <a:srgbClr val="333333"/>
                </a:solidFill>
              </a:defRPr>
            </a:pPr>
            <a:r>
              <a:t>PPT Content:</a:t>
            </a:r>
          </a:p>
          <a:p>
            <a:pPr>
              <a:defRPr sz="1400">
                <a:solidFill>
                  <a:srgbClr val="787878"/>
                </a:solidFill>
                <a:latin typeface="Consolas"/>
              </a:defRPr>
            </a:pPr>
            <a:r>
              <a:t>DEFROST &amp; DEHUMIDIFICATION</a:t>
            </a:r>
            <a:br/>
            <a:br/>
            <a:r>
              <a:t>Problem: Windshield Fogging</a:t>
            </a:r>
            <a:br/>
            <a:r>
              <a:t>Cause: Humid cabin air contacts cold glass → Condensation</a:t>
            </a:r>
            <a:br/>
            <a:r>
              <a:t>Risk: Visibility loss (safety hazard)</a:t>
            </a:r>
            <a:br/>
            <a:br/>
            <a:r>
              <a:t>Defrost Mode Operation:</a:t>
            </a:r>
            <a:br/>
            <a:r>
              <a:t>1. Airflow directed to windshield defrost vents</a:t>
            </a:r>
            <a:br/>
            <a:r>
              <a:t>2. AC compressor runs (even in cold weather!)</a:t>
            </a:r>
            <a:br/>
            <a:r>
              <a:t>3. Air cooled by evaporator → Moisture condenses, drains out</a:t>
            </a:r>
            <a:br/>
            <a:r>
              <a:t>4. Dry air then heated by heater core</a:t>
            </a:r>
            <a:br/>
            <a:r>
              <a:t>5. Warm, dry air blows on windshield</a:t>
            </a:r>
            <a:br/>
            <a:br/>
            <a:r>
              <a:t>Why This Works:</a:t>
            </a:r>
            <a:br/>
            <a:r>
              <a:t>• Warm air → Raises glass temperature above dew point</a:t>
            </a:r>
            <a:br/>
            <a:r>
              <a:t>• Dry air → Absorbs moisture without re-condensing</a:t>
            </a:r>
            <a:br/>
            <a:r>
              <a:t>• High airflow → Rapid evaporation</a:t>
            </a:r>
            <a:br/>
            <a:br/>
            <a:r>
              <a:t>Typical Defrost Performance:</a:t>
            </a:r>
            <a:br/>
            <a:r>
              <a:t>Fogged windshield → Clear visibility in 1-3 minutes</a:t>
            </a:r>
            <a:br/>
            <a:br/>
            <a:r>
              <a:t>Controls:</a:t>
            </a:r>
            <a:br/>
            <a:r>
              <a:t>Defrost button → Activates:</a:t>
            </a:r>
            <a:br/>
            <a:r>
              <a:t>  ✓ Defrost mode doors (air to windshield)</a:t>
            </a:r>
            <a:br/>
            <a:r>
              <a:t>  ✓ AC compressor (dehumidification)</a:t>
            </a:r>
            <a:br/>
            <a:r>
              <a:t>  ✓ High blower speed</a:t>
            </a:r>
            <a:br/>
            <a:r>
              <a:t>  ✓ Blend door to warm position</a:t>
            </a:r>
            <a:br/>
            <a:br/>
            <a:r>
              <a:t>Rear Window Defrost:</a:t>
            </a:r>
            <a:br/>
            <a:r>
              <a:t>Electric resistance heating grid embedded in glass</a:t>
            </a:r>
            <a:br/>
            <a:r>
              <a:t>~100-150 W power consumption</a:t>
            </a:r>
            <a:br/>
            <a:r>
              <a:t>Timer: Auto shutoff after 10-15 minutes</a:t>
            </a:r>
          </a:p>
          <a:p>
            <a:pPr>
              <a:spcAft>
                <a:spcPts val="1000"/>
              </a:spcAft>
              <a:defRPr sz="1800">
                <a:solidFill>
                  <a:srgbClr val="333333"/>
                </a:solidFill>
              </a:defRPr>
            </a:pPr>
            <a:r>
              <a:t>Outcomes Addressed: SO-5-17-5 (heating integration), SO-5-17-6 (air quality, dehumidification)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Compressor Type 1 - Fixed Displacement</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Now let's dive into compressor technologies. I mentioned earlier that there are different types. Let's compare them, starting with the traditional fixed displacement compressor.</a:t>
            </a:r>
          </a:p>
          <a:p>
            <a:pPr>
              <a:spcAft>
                <a:spcPts val="1000"/>
              </a:spcAft>
              <a:defRPr sz="1800">
                <a:solidFill>
                  <a:srgbClr val="333333"/>
                </a:solidFill>
              </a:defRPr>
            </a:pPr>
            <a:r>
              <a:t>A fixed displacement compressor has a fixed swept volume per revolution. For example, a 7-piston radial compressor might have 120 cc displacement. Every time the shaft makes one full rotation, it pumps exactly 120 cc of refrigerant vapor.</a:t>
            </a:r>
          </a:p>
          <a:p>
            <a:pPr>
              <a:spcAft>
                <a:spcPts val="1000"/>
              </a:spcAft>
              <a:defRPr sz="1800">
                <a:solidFill>
                  <a:srgbClr val="333333"/>
                </a:solidFill>
              </a:defRPr>
            </a:pPr>
            <a:r>
              <a:t>This means the compressor's output is directly proportional to engine RPM. If the engine doubles its speed, the compressor flow doubles, and cooling capacity roughly doubles (assuming the system can handle it).</a:t>
            </a:r>
          </a:p>
          <a:p>
            <a:pPr>
              <a:spcAft>
                <a:spcPts val="1000"/>
              </a:spcAft>
              <a:defRPr sz="1800">
                <a:solidFill>
                  <a:srgbClr val="333333"/>
                </a:solidFill>
              </a:defRPr>
            </a:pPr>
            <a:r>
              <a:t>The problem is that you don't always need maximum cooling. Once the cabin is cool, continuing to run the compressor at full capacity would overcool and waste energy. The solution is clutch cycling. When the evaporator temperature drops to a set threshold - say 3°C, to avoid icing - the compressor clutch disengages. The compressor stops. Temperature starts rising. When it reaches maybe 8°C, the clutch re-engages. The compressor restarts.</a:t>
            </a:r>
          </a:p>
          <a:p>
            <a:pPr>
              <a:spcAft>
                <a:spcPts val="1000"/>
              </a:spcAft>
              <a:defRPr sz="1800">
                <a:solidFill>
                  <a:srgbClr val="333333"/>
                </a:solidFill>
              </a:defRPr>
            </a:pPr>
            <a:r>
              <a:t>This on-off cycling happens every 30-60 seconds in moderate conditions. You can sometimes feel it in small cars - a slight surge when the clutch engages, slight relief when it disengages.</a:t>
            </a:r>
          </a:p>
          <a:p>
            <a:pPr>
              <a:spcAft>
                <a:spcPts val="1000"/>
              </a:spcAft>
              <a:defRPr sz="1800">
                <a:solidFill>
                  <a:srgbClr val="333333"/>
                </a:solidFill>
              </a:defRPr>
            </a:pPr>
            <a:r>
              <a:t>The advantage of fixed displacement is simplicity and cost. It's durable, proven technology. The disadvantage is that cycling causes temperature fluctuations and isn't the most efficient because you're either at 100% capacity or 0%, nothing in between.</a:t>
            </a:r>
          </a:p>
          <a:p>
            <a:pPr>
              <a:spcAft>
                <a:spcPts val="1000"/>
              </a:spcAft>
              <a:defRPr sz="1800">
                <a:solidFill>
                  <a:srgbClr val="333333"/>
                </a:solidFill>
              </a:defRPr>
            </a:pPr>
            <a:r>
              <a:t>PPT Content:</a:t>
            </a:r>
          </a:p>
          <a:p>
            <a:pPr>
              <a:defRPr sz="1400">
                <a:solidFill>
                  <a:srgbClr val="787878"/>
                </a:solidFill>
                <a:latin typeface="Consolas"/>
              </a:defRPr>
            </a:pPr>
            <a:r>
              <a:t>COMPRESSOR TYPE 1: FIXED DISPLACEMENT</a:t>
            </a:r>
            <a:br/>
            <a:br/>
            <a:r>
              <a:t>Design:</a:t>
            </a:r>
            <a:br/>
            <a:r>
              <a:t>• Fixed piston stroke and cylinder count</a:t>
            </a:r>
            <a:br/>
            <a:r>
              <a:t>• Displacement: Constant (e.g., 120 cc/rev)</a:t>
            </a:r>
            <a:br/>
            <a:r>
              <a:t>• Output proportional to engine RPM</a:t>
            </a:r>
            <a:br/>
            <a:r>
              <a:t>• Electromagnetic clutch for on/off control</a:t>
            </a:r>
            <a:br/>
            <a:br/>
            <a:r>
              <a:t>Common Configurations:</a:t>
            </a:r>
            <a:br/>
            <a:r>
              <a:t>• Radial piston: 4-7 pistons arranged radially</a:t>
            </a:r>
            <a:br/>
            <a:r>
              <a:t>• Axial piston: Pistons parallel to shaft axis</a:t>
            </a:r>
            <a:br/>
            <a:r>
              <a:t>• Reciprocating motion driven by wobble plate or swash plate</a:t>
            </a:r>
            <a:br/>
            <a:br/>
            <a:r>
              <a:t>Operation:</a:t>
            </a:r>
            <a:br/>
            <a:r>
              <a:t>• Clutch engaged: Full cooling capacity</a:t>
            </a:r>
            <a:br/>
            <a:r>
              <a:t>• Clutch disengaged: No cooling (compressor off)</a:t>
            </a:r>
            <a:br/>
            <a:br/>
            <a:r>
              <a:t>Capacity Control: Clutch Cycling</a:t>
            </a:r>
            <a:br/>
            <a:r>
              <a:t>• Evaporator reaches low temp (3°C) → Clutch disengages</a:t>
            </a:r>
            <a:br/>
            <a:r>
              <a:t>• Temperature rises (8°C) → Clutch re-engages</a:t>
            </a:r>
            <a:br/>
            <a:r>
              <a:t>• Cycling frequency: ~30-60 seconds</a:t>
            </a:r>
            <a:br/>
            <a:r>
              <a:t>• Controlled by pressure switch or temperature sensor</a:t>
            </a:r>
            <a:br/>
            <a:br/>
            <a:r>
              <a:t>Advantages:</a:t>
            </a:r>
            <a:br/>
            <a:r>
              <a:t>✓ Simple, robust design</a:t>
            </a:r>
            <a:br/>
            <a:r>
              <a:t>✓ Low cost</a:t>
            </a:r>
            <a:br/>
            <a:r>
              <a:t>✓ Proven reliability</a:t>
            </a:r>
            <a:br/>
            <a:r>
              <a:t>✓ Easy to service</a:t>
            </a:r>
            <a:br/>
            <a:br/>
            <a:r>
              <a:t>Disadvantages:</a:t>
            </a:r>
            <a:br/>
            <a:r>
              <a:t>✗ On-off cycling → Temperature fluctuations</a:t>
            </a:r>
            <a:br/>
            <a:r>
              <a:t>✗ Less efficient (always 100% or 0%)</a:t>
            </a:r>
            <a:br/>
            <a:r>
              <a:t>✗ Mechanical wear from clutch cycling</a:t>
            </a:r>
            <a:br/>
            <a:r>
              <a:t>✗ Noticeable engine load changes</a:t>
            </a:r>
            <a:br/>
            <a:br/>
            <a:r>
              <a:t>Typical Applications:</a:t>
            </a:r>
            <a:br/>
            <a:r>
              <a:t>• Entry-level and mid-range vehicles</a:t>
            </a:r>
            <a:br/>
            <a:r>
              <a:t>• Older vehicle models (pre-2000s dominant)</a:t>
            </a:r>
            <a:br/>
            <a:br/>
            <a:r>
              <a:t>Cooling Capacity:</a:t>
            </a:r>
            <a:br/>
            <a:r>
              <a:t>Depends on engine RPM and displacement</a:t>
            </a:r>
            <a:br/>
            <a:r>
              <a:t>Example: 150 cc compressor at 2000 RPM</a:t>
            </a:r>
            <a:br/>
            <a:r>
              <a:t>→ Flow rate: ~10-15 g/s refrigerant</a:t>
            </a:r>
            <a:br/>
            <a:r>
              <a:t>→ Cooling: ~3-4 kW</a:t>
            </a:r>
          </a:p>
          <a:p>
            <a:pPr>
              <a:spcAft>
                <a:spcPts val="1000"/>
              </a:spcAft>
              <a:defRPr sz="1800">
                <a:solidFill>
                  <a:srgbClr val="333333"/>
                </a:solidFill>
              </a:defRPr>
            </a:pPr>
            <a:r>
              <a:t>Real-World Note:</a:t>
            </a:r>
          </a:p>
          <a:p>
            <a:pPr>
              <a:spcAft>
                <a:spcPts val="1000"/>
              </a:spcAft>
              <a:defRPr sz="1800">
                <a:solidFill>
                  <a:srgbClr val="333333"/>
                </a:solidFill>
              </a:defRPr>
            </a:pPr>
            <a:r>
              <a:t>Most cars built before 2010 use fixed displacement compressors. They're still common in budget vehicles today.</a:t>
            </a:r>
          </a:p>
          <a:p>
            <a:pPr>
              <a:spcAft>
                <a:spcPts val="1000"/>
              </a:spcAft>
              <a:defRPr sz="1800">
                <a:solidFill>
                  <a:srgbClr val="333333"/>
                </a:solidFill>
              </a:defRPr>
            </a:pPr>
            <a:r>
              <a:t>Outcomes Addressed: SO-5-17-4 (compressor types comparison)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Compressor Type 2 - Variable Displacement</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The next evolution is the variable displacement compressor. This is a smarter design that can adjust its output capacity continuously without cycling on and off.</a:t>
            </a:r>
          </a:p>
          <a:p>
            <a:pPr>
              <a:spcAft>
                <a:spcPts val="1000"/>
              </a:spcAft>
              <a:defRPr sz="1800">
                <a:solidFill>
                  <a:srgbClr val="333333"/>
                </a:solidFill>
              </a:defRPr>
            </a:pPr>
            <a:r>
              <a:t>The key innovation is a variable-angle swash plate. In a fixed displacement compressor, the swash plate - the angled disc that converts rotary motion to piston reciprocation - is at a fixed angle. In a variable compressor, this angle can change.</a:t>
            </a:r>
          </a:p>
          <a:p>
            <a:pPr>
              <a:spcAft>
                <a:spcPts val="1000"/>
              </a:spcAft>
              <a:defRPr sz="1800">
                <a:solidFill>
                  <a:srgbClr val="333333"/>
                </a:solidFill>
              </a:defRPr>
            </a:pPr>
            <a:r>
              <a:t>When the swash plate is at maximum angle, the pistons have maximum stroke, so you get maximum displacement per revolution - full cooling capacity. When the angle decreases, the piston stroke shortens, displacement drops, and cooling capacity reduces. At minimum angle, the stroke is almost zero - compressor is barely pumping.</a:t>
            </a:r>
          </a:p>
          <a:p>
            <a:pPr>
              <a:spcAft>
                <a:spcPts val="1000"/>
              </a:spcAft>
              <a:defRPr sz="1800">
                <a:solidFill>
                  <a:srgbClr val="333333"/>
                </a:solidFill>
              </a:defRPr>
            </a:pPr>
            <a:r>
              <a:t>Here's the clever part: the swash plate angle is controlled automatically by a pressure-sensing mechanism built into the compressor. If the evaporator pressure is high - meaning cooling demand is high - the mechanism increases the swash plate angle for more capacity. If evaporator pressure is low - cabin is cool, low demand - the angle decreases.</a:t>
            </a:r>
          </a:p>
          <a:p>
            <a:pPr>
              <a:spcAft>
                <a:spcPts val="1000"/>
              </a:spcAft>
              <a:defRPr sz="1800">
                <a:solidFill>
                  <a:srgbClr val="333333"/>
                </a:solidFill>
              </a:defRPr>
            </a:pPr>
            <a:r>
              <a:t>This happens continuously and smoothly, with no clutch cycling. The compressor runs all the time when AC is on, but it only produces as much cooling as needed. It's like a variable-speed drive.</a:t>
            </a:r>
          </a:p>
          <a:p>
            <a:pPr>
              <a:spcAft>
                <a:spcPts val="1000"/>
              </a:spcAft>
              <a:defRPr sz="1800">
                <a:solidFill>
                  <a:srgbClr val="333333"/>
                </a:solidFill>
              </a:defRPr>
            </a:pPr>
            <a:r>
              <a:t>The advantages are significant: no temperature fluctuations, better efficiency because you're not wasting energy at times of low demand, smoother engine operation because load changes are gradual. The clutch still exists but rarely cycles - it stays engaged as long as AC is on.</a:t>
            </a:r>
          </a:p>
          <a:p>
            <a:pPr>
              <a:spcAft>
                <a:spcPts val="1000"/>
              </a:spcAft>
              <a:defRPr sz="1800">
                <a:solidFill>
                  <a:srgbClr val="333333"/>
                </a:solidFill>
              </a:defRPr>
            </a:pPr>
            <a:r>
              <a:t>The disadvantage is cost and complexity. Variable displacement compressors are more expensive to manufacture and slightly more complex mechanically. But they're now standard in most mid-range and premium vehicles.</a:t>
            </a:r>
          </a:p>
          <a:p>
            <a:pPr>
              <a:spcAft>
                <a:spcPts val="1000"/>
              </a:spcAft>
              <a:defRPr sz="1800">
                <a:solidFill>
                  <a:srgbClr val="333333"/>
                </a:solidFill>
              </a:defRPr>
            </a:pPr>
            <a:r>
              <a:t>PPT content:</a:t>
            </a:r>
          </a:p>
          <a:p>
            <a:pPr>
              <a:defRPr sz="1400">
                <a:solidFill>
                  <a:srgbClr val="787878"/>
                </a:solidFill>
                <a:latin typeface="Consolas"/>
              </a:defRPr>
            </a:pPr>
            <a:r>
              <a:t>COMPRESSOR TYPE 2: VARIABLE DISPLACEMENT</a:t>
            </a:r>
            <a:br/>
            <a:br/>
            <a:r>
              <a:t>Design:</a:t>
            </a:r>
            <a:br/>
            <a:r>
              <a:t>• Variable-angle swash plate mechanism</a:t>
            </a:r>
            <a:br/>
            <a:r>
              <a:t>• Displacement varies: 5% - 100% capacity</a:t>
            </a:r>
            <a:br/>
            <a:r>
              <a:t>• Clutch remains engaged; capacity modulates internally</a:t>
            </a:r>
            <a:br/>
            <a:r>
              <a:t>• Self-regulating based on system pressure</a:t>
            </a:r>
            <a:br/>
            <a:br/>
            <a:r>
              <a:t>Swash Plate Angle Control:</a:t>
            </a:r>
            <a:br/>
            <a:r>
              <a:t>• Maximum angle → Maximum piston stroke → Max capacity</a:t>
            </a:r>
            <a:br/>
            <a:r>
              <a:t>• Minimum angle → Minimum piston stroke → Min capacity (idle)</a:t>
            </a:r>
            <a:br/>
            <a:r>
              <a:t>• Angle adjusted by pressure-sensing valve (crankcase pressure control)</a:t>
            </a:r>
            <a:br/>
            <a:br/>
            <a:r>
              <a:t>Capacity Control Mechanism:</a:t>
            </a:r>
            <a:br/>
            <a:r>
              <a:t>1. High cooling demand → Evaporator pressure high</a:t>
            </a:r>
            <a:br/>
            <a:r>
              <a:t>2. Control valve increases swash plate angle</a:t>
            </a:r>
            <a:br/>
            <a:r>
              <a:t>3. Displacement increases → More cooling</a:t>
            </a:r>
            <a:br/>
            <a:r>
              <a:t>4. Cabin cools → Evaporator pressure drops</a:t>
            </a:r>
            <a:br/>
            <a:r>
              <a:t>5. Control valve decreases swash plate angle</a:t>
            </a:r>
            <a:br/>
            <a:r>
              <a:t>6. Displacement decreases → Less cooling</a:t>
            </a:r>
            <a:br/>
            <a:r>
              <a:t>7. Continuous, automatic modulation</a:t>
            </a:r>
            <a:br/>
            <a:br/>
            <a:r>
              <a:t>Operation:</a:t>
            </a:r>
            <a:br/>
            <a:r>
              <a:t>• Clutch engages when AC turned on</a:t>
            </a:r>
            <a:br/>
            <a:r>
              <a:t>• Compressor runs continuously</a:t>
            </a:r>
            <a:br/>
            <a:r>
              <a:t>• Capacity varies smoothly from 5% to 100%</a:t>
            </a:r>
            <a:br/>
            <a:r>
              <a:t>• No cycling (clutch stays engaged)</a:t>
            </a:r>
            <a:br/>
            <a:br/>
            <a:r>
              <a:t>Advantages:</a:t>
            </a:r>
            <a:br/>
            <a:r>
              <a:t>✓ Smooth, continuous capacity control</a:t>
            </a:r>
            <a:br/>
            <a:r>
              <a:t>✓ No temperature fluctuations</a:t>
            </a:r>
            <a:br/>
            <a:r>
              <a:t>✓ Better efficiency (matches demand)</a:t>
            </a:r>
            <a:br/>
            <a:r>
              <a:t>✓ Reduced engine load variations</a:t>
            </a:r>
            <a:br/>
            <a:r>
              <a:t>✓ Quieter operation</a:t>
            </a:r>
            <a:br/>
            <a:r>
              <a:t>✓ Faster cool-down (can run at max initially)</a:t>
            </a:r>
            <a:br/>
            <a:br/>
            <a:r>
              <a:t>Disadvantages:</a:t>
            </a:r>
            <a:br/>
            <a:r>
              <a:t>✗ Higher cost (~30-50% more than fixed)</a:t>
            </a:r>
            <a:br/>
            <a:r>
              <a:t>✗ More complex mechanism</a:t>
            </a:r>
            <a:br/>
            <a:r>
              <a:t>✗ Slightly less efficient at full load (internal losses)</a:t>
            </a:r>
            <a:br/>
            <a:br/>
            <a:r>
              <a:t>Typical Applications:</a:t>
            </a:r>
            <a:br/>
            <a:r>
              <a:t>• Mid-range to premium vehicles</a:t>
            </a:r>
            <a:br/>
            <a:r>
              <a:t>• Modern vehicles (2000s onward)</a:t>
            </a:r>
            <a:br/>
            <a:r>
              <a:t>• Systems with precise climate control</a:t>
            </a:r>
            <a:br/>
            <a:br/>
            <a:r>
              <a:t>Capacity Range:</a:t>
            </a:r>
            <a:br/>
            <a:r>
              <a:t>Same compressor, different operating points:</a:t>
            </a:r>
            <a:br/>
            <a:r>
              <a:t>• Minimum: 5-10% → ~0.5 kW cooling</a:t>
            </a:r>
            <a:br/>
            <a:r>
              <a:t>• Maximum: 100% → ~5 kW cooling</a:t>
            </a:r>
            <a:br/>
            <a:r>
              <a:t>• Continuously variable in between</a:t>
            </a:r>
            <a:br/>
            <a:br/>
            <a:r>
              <a:t>Control Signal:</a:t>
            </a:r>
            <a:br/>
            <a:r>
              <a:t>Older: Mechanical pressure sensing (internal)</a:t>
            </a:r>
            <a:br/>
            <a:r>
              <a:t>Modern: May include external electronic control</a:t>
            </a:r>
          </a:p>
          <a:p>
            <a:pPr>
              <a:spcAft>
                <a:spcPts val="1000"/>
              </a:spcAft>
              <a:defRPr sz="1800">
                <a:solidFill>
                  <a:srgbClr val="333333"/>
                </a:solidFill>
              </a:defRPr>
            </a:pPr>
            <a:r>
              <a:t>Visual Aid:</a:t>
            </a:r>
          </a:p>
          <a:p>
            <a:pPr>
              <a:spcAft>
                <a:spcPts val="1000"/>
              </a:spcAft>
              <a:defRPr sz="1800">
                <a:solidFill>
                  <a:srgbClr val="333333"/>
                </a:solidFill>
              </a:defRPr>
            </a:pPr>
            <a:r>
              <a:t>Show animation of swash plate angle changing and corresponding piston stroke variation.</a:t>
            </a:r>
          </a:p>
          <a:p>
            <a:pPr>
              <a:spcAft>
                <a:spcPts val="1000"/>
              </a:spcAft>
              <a:defRPr sz="1800">
                <a:solidFill>
                  <a:srgbClr val="333333"/>
                </a:solidFill>
              </a:defRPr>
            </a:pPr>
            <a:r>
              <a:t>Outcomes Addressed: SO-5-17-4 (compressor types comparison)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Compressor Type 3 - Electric Compressor</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The latest evolution, essential for electric and hybrid vehicles, is the electric compressor. Instead of being belt-driven from the engine, this compressor has an integrated electric motor powered directly from the vehicle's high-voltage battery.</a:t>
            </a:r>
          </a:p>
          <a:p>
            <a:pPr>
              <a:spcAft>
                <a:spcPts val="1000"/>
              </a:spcAft>
              <a:defRPr sz="1800">
                <a:solidFill>
                  <a:srgbClr val="333333"/>
                </a:solidFill>
              </a:defRPr>
            </a:pPr>
            <a:r>
              <a:t>For fully electric vehicles, this is mandatory because there's no engine to drive a belt. But even some high-end conventional and hybrid vehicles now use electric compressors because of the control flexibility they offer.</a:t>
            </a:r>
          </a:p>
          <a:p>
            <a:pPr>
              <a:spcAft>
                <a:spcPts val="1000"/>
              </a:spcAft>
              <a:defRPr sz="1800">
                <a:solidFill>
                  <a:srgbClr val="333333"/>
                </a:solidFill>
              </a:defRPr>
            </a:pPr>
            <a:r>
              <a:t>The electric compressor uses a brushless DC motor, typically running on the vehicle's high-voltage system - 200 to 400 volts. An inverter converts DC battery power to three-phase AC to drive the motor. The motor directly drives the compressor scroll or rotors.</a:t>
            </a:r>
          </a:p>
          <a:p>
            <a:pPr>
              <a:spcAft>
                <a:spcPts val="1000"/>
              </a:spcAft>
              <a:defRPr sz="1800">
                <a:solidFill>
                  <a:srgbClr val="333333"/>
                </a:solidFill>
              </a:defRPr>
            </a:pPr>
            <a:r>
              <a:t>The huge advantage is complete speed independence from the engine. The compressor can run at any speed from 0 to maximum - typically 6000 to 8000 RPM - regardless of engine speed or even whether the engine is running. This means you can have AC while parked with the engine off, which is great for waiting in the car or for camping.</a:t>
            </a:r>
          </a:p>
          <a:p>
            <a:pPr>
              <a:spcAft>
                <a:spcPts val="1000"/>
              </a:spcAft>
              <a:defRPr sz="1800">
                <a:solidFill>
                  <a:srgbClr val="333333"/>
                </a:solidFill>
              </a:defRPr>
            </a:pPr>
            <a:r>
              <a:t>Speed control also means precise capacity control, similar to a variable displacement compressor but even better. If you need 30% cooling capacity, you just run the compressor at 30% speed. Infinitely variable, very efficient.</a:t>
            </a:r>
          </a:p>
          <a:p>
            <a:pPr>
              <a:spcAft>
                <a:spcPts val="1000"/>
              </a:spcAft>
              <a:defRPr sz="1800">
                <a:solidFill>
                  <a:srgbClr val="333333"/>
                </a:solidFill>
              </a:defRPr>
            </a:pPr>
            <a:r>
              <a:t>In hybrid vehicles, the electric compressor allows the engine to shut off during idle stops (start-stop system) while maintaining AC cooling. Without it, you'd lose AC every time the engine stops.</a:t>
            </a:r>
          </a:p>
          <a:p>
            <a:pPr>
              <a:spcAft>
                <a:spcPts val="1000"/>
              </a:spcAft>
              <a:defRPr sz="1800">
                <a:solidFill>
                  <a:srgbClr val="333333"/>
                </a:solidFill>
              </a:defRPr>
            </a:pPr>
            <a:r>
              <a:t>The disadvantages are cost - electric compressors are expensive, easily $500-1000 compared to $200-300 for a conventional one - and the need for high-voltage electrical infrastructure. You also need a dedicated controller to manage the inverter.</a:t>
            </a:r>
          </a:p>
          <a:p>
            <a:pPr>
              <a:spcAft>
                <a:spcPts val="1000"/>
              </a:spcAft>
              <a:defRPr sz="1800">
                <a:solidFill>
                  <a:srgbClr val="333333"/>
                </a:solidFill>
              </a:defRPr>
            </a:pPr>
            <a:r>
              <a:t>But for EVs, there's no choice, and the trend in premium conventional vehicles is moving this direction for the control benefits.</a:t>
            </a:r>
          </a:p>
          <a:p>
            <a:pPr>
              <a:spcAft>
                <a:spcPts val="1000"/>
              </a:spcAft>
              <a:defRPr sz="1800">
                <a:solidFill>
                  <a:srgbClr val="333333"/>
                </a:solidFill>
              </a:defRPr>
            </a:pPr>
            <a:r>
              <a:t>PPT Content:</a:t>
            </a:r>
          </a:p>
          <a:p>
            <a:pPr>
              <a:defRPr sz="1400">
                <a:solidFill>
                  <a:srgbClr val="787878"/>
                </a:solidFill>
                <a:latin typeface="Consolas"/>
              </a:defRPr>
            </a:pPr>
            <a:r>
              <a:t>COMPRESSOR TYPE 3: ELECTRIC COMPRESSOR</a:t>
            </a:r>
            <a:br/>
            <a:br/>
            <a:r>
              <a:t>Design:</a:t>
            </a:r>
            <a:br/>
            <a:r>
              <a:t>• Integrated electric motor (no belt drive)</a:t>
            </a:r>
            <a:br/>
            <a:r>
              <a:t>• Brushless DC motor (BLDC)</a:t>
            </a:r>
            <a:br/>
            <a:r>
              <a:t>• High-voltage power: 200-400 VDC (from HV battery)</a:t>
            </a:r>
            <a:br/>
            <a:r>
              <a:t>• Inverter: DC → 3-phase AC motor drive</a:t>
            </a:r>
            <a:br/>
            <a:r>
              <a:t>• Scroll or rotary compressor mechanism</a:t>
            </a:r>
            <a:br/>
            <a:r>
              <a:t>• No clutch (speed control provides on/off and modulation)</a:t>
            </a:r>
            <a:br/>
            <a:br/>
            <a:r>
              <a:t>Operation:</a:t>
            </a:r>
            <a:br/>
            <a:r>
              <a:t>• Powered directly from vehicle HV battery</a:t>
            </a:r>
            <a:br/>
            <a:r>
              <a:t>• Speed controlled by inverter: 0-8000 RPM (typical)</a:t>
            </a:r>
            <a:br/>
            <a:r>
              <a:t>• Capacity proportional to speed (variable)</a:t>
            </a:r>
            <a:br/>
            <a:r>
              <a:t>• Independent of engine speed or engine running</a:t>
            </a:r>
            <a:br/>
            <a:br/>
            <a:r>
              <a:t>Speed Control:</a:t>
            </a:r>
            <a:br/>
            <a:r>
              <a:t>• Low cooling demand → Low speed (e.g., 2000 RPM)</a:t>
            </a:r>
            <a:br/>
            <a:r>
              <a:t>• High cooling demand → High speed (e.g., 7000 RPM)</a:t>
            </a:r>
            <a:br/>
            <a:r>
              <a:t>• Continuous variable control</a:t>
            </a:r>
            <a:br/>
            <a:r>
              <a:t>• ECU commands inverter based on cabin temperature</a:t>
            </a:r>
            <a:br/>
            <a:br/>
            <a:r>
              <a:t>Advantages:</a:t>
            </a:r>
            <a:br/>
            <a:r>
              <a:t>✓ Engine-independent operation (AC while parked, engine off)</a:t>
            </a:r>
            <a:br/>
            <a:r>
              <a:t>✓ Precise capacity control (infinitely variable)</a:t>
            </a:r>
            <a:br/>
            <a:r>
              <a:t>✓ Essential for electric vehicles (no engine to drive belt)</a:t>
            </a:r>
            <a:br/>
            <a:r>
              <a:t>✓ Enables engine start-stop in hybrids (AC continues during engine-off)</a:t>
            </a:r>
            <a:br/>
            <a:r>
              <a:t>✓ Optimal efficiency (run at exact speed needed)</a:t>
            </a:r>
            <a:br/>
            <a:r>
              <a:t>✓ Quiet operation (smooth, no mechanical clutch)</a:t>
            </a:r>
            <a:br/>
            <a:r>
              <a:t>✓ Fast response (instant speed change)</a:t>
            </a:r>
            <a:br/>
            <a:br/>
            <a:r>
              <a:t>Disadvantages:</a:t>
            </a:r>
            <a:br/>
            <a:r>
              <a:t>✗ High cost ($500-1000+ vs $200-300 conventional)</a:t>
            </a:r>
            <a:br/>
            <a:r>
              <a:t>✗ Requires high-voltage electrical system</a:t>
            </a:r>
            <a:br/>
            <a:r>
              <a:t>✗ Complex power electronics (inverter, controller)</a:t>
            </a:r>
            <a:br/>
            <a:r>
              <a:t>✗ Additional failure modes (electronics)</a:t>
            </a:r>
            <a:br/>
            <a:r>
              <a:t>✗ High current draw from battery (1-3 kW electric power)</a:t>
            </a:r>
            <a:br/>
            <a:br/>
            <a:r>
              <a:t>Typical Applications:</a:t>
            </a:r>
            <a:br/>
            <a:r>
              <a:t>• Fully electric vehicles (BEVs) - MANDATORY</a:t>
            </a:r>
            <a:br/>
            <a:r>
              <a:t>• Plug-in hybrid vehicles (PHEVs)</a:t>
            </a:r>
            <a:br/>
            <a:r>
              <a:t>• Full hybrids with engine start-stop</a:t>
            </a:r>
            <a:br/>
            <a:r>
              <a:t>• High-end conventional vehicles (some luxury models)</a:t>
            </a:r>
            <a:br/>
            <a:br/>
            <a:r>
              <a:t>Power Consumption:</a:t>
            </a:r>
            <a:br/>
            <a:r>
              <a:t>Mechanical power: 1-4 kW (varies with speed/load)</a:t>
            </a:r>
            <a:br/>
            <a:r>
              <a:t>Electrical power: 1.2-5 kW (including inverter losses ~80-90% efficiency)</a:t>
            </a:r>
            <a:br/>
            <a:r>
              <a:t>Battery current: 5-15 A at 300V (example)</a:t>
            </a:r>
            <a:br/>
            <a:br/>
            <a:r>
              <a:t>Impact on Electric Vehicles:</a:t>
            </a:r>
            <a:br/>
            <a:r>
              <a:t>AC power draw reduces driving range</a:t>
            </a:r>
            <a:br/>
            <a:r>
              <a:t>Example: 2 kW AC load on 60 kWh battery</a:t>
            </a:r>
            <a:br/>
            <a:r>
              <a:t>→ ~3.3% battery capacity per hour of AC use</a:t>
            </a:r>
            <a:br/>
            <a:r>
              <a:t>→ Range reduction: ~10-15% with AC on</a:t>
            </a:r>
            <a:br/>
            <a:br/>
            <a:r>
              <a:t>Control Integration:</a:t>
            </a:r>
            <a:br/>
            <a:r>
              <a:t>Controlled by climate control ECU</a:t>
            </a:r>
            <a:br/>
            <a:r>
              <a:t>Communication via CAN bus</a:t>
            </a:r>
            <a:br/>
            <a:r>
              <a:t>Inputs: Cabin temp sensor, ambient temp sensor, user settings</a:t>
            </a:r>
            <a:br/>
            <a:r>
              <a:t>Output: Speed command to inverter (PWM or digital control)</a:t>
            </a:r>
          </a:p>
          <a:p>
            <a:pPr>
              <a:spcAft>
                <a:spcPts val="1000"/>
              </a:spcAft>
              <a:defRPr sz="1800">
                <a:solidFill>
                  <a:srgbClr val="333333"/>
                </a:solidFill>
              </a:defRPr>
            </a:pPr>
            <a:r>
              <a:t>Real-World Examples: — Tesla Model 3: Electric compressor, ~2-3 kW typical draw</a:t>
            </a:r>
          </a:p>
          <a:p>
            <a:pPr>
              <a:spcAft>
                <a:spcPts val="600"/>
              </a:spcAft>
              <a:defRPr sz="1800">
                <a:solidFill>
                  <a:srgbClr val="333333"/>
                </a:solidFill>
              </a:defRPr>
            </a:pPr>
            <a:r>
              <a:t>Nissan Leaf: Electric compressor, range impact ~15-20% with AC</a:t>
            </a:r>
          </a:p>
          <a:p>
            <a:pPr>
              <a:spcAft>
                <a:spcPts val="600"/>
              </a:spcAft>
              <a:defRPr sz="1800">
                <a:solidFill>
                  <a:srgbClr val="333333"/>
                </a:solidFill>
              </a:defRPr>
            </a:pPr>
            <a:r>
              <a:t>Toyota Prius (modern): Electric compressor to support engine start-stop</a:t>
            </a:r>
          </a:p>
          <a:p>
            <a:pPr>
              <a:spcAft>
                <a:spcPts val="1000"/>
              </a:spcAft>
              <a:defRPr sz="1800">
                <a:solidFill>
                  <a:srgbClr val="333333"/>
                </a:solidFill>
              </a:defRPr>
            </a:pPr>
            <a:r>
              <a:t>Outcomes Addressed: SO-5-17-4 (compressor types comparison, control mechanisms)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Compressor Comparison Summary</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2 minutes</a:t>
            </a:r>
          </a:p>
          <a:p>
            <a:pPr>
              <a:spcAft>
                <a:spcPts val="1000"/>
              </a:spcAft>
              <a:defRPr sz="1800">
                <a:solidFill>
                  <a:srgbClr val="333333"/>
                </a:solidFill>
              </a:defRPr>
            </a:pPr>
            <a:r>
              <a:t>Instructor Narrative:</a:t>
            </a:r>
          </a:p>
          <a:p>
            <a:pPr>
              <a:spcAft>
                <a:spcPts val="1000"/>
              </a:spcAft>
              <a:defRPr sz="1800">
                <a:solidFill>
                  <a:srgbClr val="333333"/>
                </a:solidFill>
              </a:defRPr>
            </a:pPr>
            <a:r>
              <a:t>Let me summarize the three compressor types so you can see the evolution and trade-offs clearly.</a:t>
            </a:r>
          </a:p>
          <a:p>
            <a:pPr>
              <a:spcAft>
                <a:spcPts val="1000"/>
              </a:spcAft>
              <a:defRPr sz="1800">
                <a:solidFill>
                  <a:srgbClr val="333333"/>
                </a:solidFill>
              </a:defRPr>
            </a:pPr>
            <a:r>
              <a:t>Fixed displacement is the legacy technology - simple, cheap, reliable, but inefficient due to on-off cycling. Still used in budget vehicles.</a:t>
            </a:r>
          </a:p>
          <a:p>
            <a:pPr>
              <a:spcAft>
                <a:spcPts val="1000"/>
              </a:spcAft>
              <a:defRPr sz="1800">
                <a:solidFill>
                  <a:srgbClr val="333333"/>
                </a:solidFill>
              </a:defRPr>
            </a:pPr>
            <a:r>
              <a:t>Variable displacement is the middle ground - continuously variable capacity, smooth operation, better efficiency, but higher cost. Standard in most modern conventional vehicles.</a:t>
            </a:r>
          </a:p>
          <a:p>
            <a:pPr>
              <a:spcAft>
                <a:spcPts val="1000"/>
              </a:spcAft>
              <a:defRPr sz="1800">
                <a:solidFill>
                  <a:srgbClr val="333333"/>
                </a:solidFill>
              </a:defRPr>
            </a:pPr>
            <a:r>
              <a:t>Electric compressor is the premium and EV-mandatory option - complete speed independence, essential for electric vehicles, excellent control, but expensive and requires high-voltage systems.</a:t>
            </a:r>
          </a:p>
          <a:p>
            <a:pPr>
              <a:spcAft>
                <a:spcPts val="1000"/>
              </a:spcAft>
              <a:defRPr sz="1800">
                <a:solidFill>
                  <a:srgbClr val="333333"/>
                </a:solidFill>
              </a:defRPr>
            </a:pPr>
            <a:r>
              <a:t>The trend is clearly toward electric compressors as vehicles electrify, but you'll still see all three types on the road for years to come.</a:t>
            </a:r>
          </a:p>
          <a:p>
            <a:pPr>
              <a:spcAft>
                <a:spcPts val="1000"/>
              </a:spcAft>
              <a:defRPr sz="1800">
                <a:solidFill>
                  <a:srgbClr val="333333"/>
                </a:solidFill>
              </a:defRPr>
            </a:pPr>
            <a:r>
              <a:t>PPT Content:</a:t>
            </a:r>
          </a:p>
          <a:p>
            <a:pPr>
              <a:defRPr sz="1400">
                <a:solidFill>
                  <a:srgbClr val="787878"/>
                </a:solidFill>
                <a:latin typeface="Consolas"/>
              </a:defRPr>
            </a:pPr>
            <a:r>
              <a:t>COMPRESSOR COMPARISON SUMMARY</a:t>
            </a:r>
            <a:br/>
            <a:br/>
            <a:r>
              <a:t>| Feature | Fixed Displacement | Variable Displacement | Electric Compressor |</a:t>
            </a:r>
            <a:br/>
            <a:r>
              <a:t>|---------|-------------------|----------------------|---------------------|</a:t>
            </a:r>
            <a:br/>
            <a:r>
              <a:t>| **Drive** | Engine belt + clutch | Engine belt + clutch | Electric motor (HV) |</a:t>
            </a:r>
            <a:br/>
            <a:r>
              <a:t>| **Capacity Control** | On/Off (clutch cycling) | Continuous (swash plate angle) | Continuous (motor speed) |</a:t>
            </a:r>
            <a:br/>
            <a:r>
              <a:t>| **Speed** | Proportional to engine RPM | Proportional to engine RPM | Independent (0-8000 RPM) |</a:t>
            </a:r>
            <a:br/>
            <a:r>
              <a:t>| **Efficiency** | Moderate (cycling losses) | Good (matches demand) | Excellent (optimized speed) |</a:t>
            </a:r>
            <a:br/>
            <a:r>
              <a:t>| **Temperature Stability** | Fluctuates (cycling) | Stable (continuous) | Very stable (precise control) |</a:t>
            </a:r>
            <a:br/>
            <a:r>
              <a:t>| **Engine Load** | Sudden changes | Gradual changes | Independent |</a:t>
            </a:r>
            <a:br/>
            <a:r>
              <a:t>| **AC When Engine Off** | ✗ No | ✗ No | ✓ Yes |</a:t>
            </a:r>
            <a:br/>
            <a:r>
              <a:t>| **Cost** | Low ($200-300) | Medium ($300-500) | High ($500-1000+) |</a:t>
            </a:r>
            <a:br/>
            <a:r>
              <a:t>| **Complexity** | Simple | Moderate | Complex |</a:t>
            </a:r>
            <a:br/>
            <a:r>
              <a:t>| **Typical Application** | Budget vehicles, older cars | Mid-range, modern conventional | EVs, hybrids, premium cars |</a:t>
            </a:r>
            <a:br/>
            <a:r>
              <a:t>| **Maintenance** | Clutch wear | Moderate | Electronics, motor |</a:t>
            </a:r>
            <a:br/>
            <a:br/>
            <a:r>
              <a:t>TECHNOLOGY EVOLUTION:</a:t>
            </a:r>
            <a:br/>
            <a:r>
              <a:t>1980s-2000s: Fixed displacement dominant</a:t>
            </a:r>
            <a:br/>
            <a:r>
              <a:t>2000s-2010s: Variable displacement becomes standard</a:t>
            </a:r>
            <a:br/>
            <a:r>
              <a:t>2010s-present: Electric compressor for EVs/hybrids</a:t>
            </a:r>
            <a:br/>
            <a:r>
              <a:t>Future: Electric compressor likely to dominate (vehicle electrification trend)</a:t>
            </a:r>
            <a:br/>
            <a:br/>
            <a:r>
              <a:t>SELECTION CRITERIA:</a:t>
            </a:r>
            <a:br/>
            <a:r>
              <a:t>• Budget vehicle, conventional: Fixed displacement</a:t>
            </a:r>
            <a:br/>
            <a:r>
              <a:t>• Modern conventional, good climate control: Variable displacement</a:t>
            </a:r>
            <a:br/>
            <a:r>
              <a:t>• Electric or hybrid vehicle: Electric compressor (mandatory)</a:t>
            </a:r>
            <a:br/>
            <a:r>
              <a:t>• Premium conventional with start-stop: Electric compressor</a:t>
            </a:r>
          </a:p>
          <a:p>
            <a:pPr>
              <a:spcAft>
                <a:spcPts val="1000"/>
              </a:spcAft>
              <a:defRPr sz="1800">
                <a:solidFill>
                  <a:srgbClr val="333333"/>
                </a:solidFill>
              </a:defRPr>
            </a:pPr>
            <a:r>
              <a:t>Outcomes Addressed: SO-5-17-4 (complete comparison of compressor types)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PART 5: RESOLUTION - "Automatic Climate Control</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Slides 27-30 | Duration: ~13 minutes | Energy Level: Medium-High (Bringing It Together)</a:t>
            </a:r>
          </a:p>
          <a:p>
            <a:pPr>
              <a:spcAft>
                <a:spcPts val="1000"/>
              </a:spcAft>
              <a:defRPr sz="1800">
                <a:solidFill>
                  <a:srgbClr val="333333"/>
                </a:solidFill>
              </a:defRPr>
            </a:pPr>
            <a:r>
              <a:t>Story Purpose: Show how modern systems automatically manage HVAC with sensors and ECU</a:t>
            </a:r>
          </a:p>
          <a:p>
            <a:pPr>
              <a:spcAft>
                <a:spcPts val="1000"/>
              </a:spcAft>
              <a:defRPr sz="1800">
                <a:solidFill>
                  <a:srgbClr val="333333"/>
                </a:solidFill>
              </a:defRPr>
            </a:pPr>
            <a:r>
              <a:t>Teaching Mode: System-level integration + control logic</a:t>
            </a:r>
          </a:p>
          <a:p>
            <a:pPr>
              <a:spcAft>
                <a:spcPts val="1000"/>
              </a:spcAft>
              <a:defRPr sz="1800">
                <a:solidFill>
                  <a:srgbClr val="333333"/>
                </a:solidFill>
              </a:defRPr>
            </a:pPr>
            <a:r>
              <a:t>Connection to Prior Knowledge: ECU and sensors from Session 14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Automatic Climate Control Overview</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We've seen all the hardware components. Now let's talk about automatic climate control - how modern vehicles manage all of this intelligently without you constantly adjusting knobs.</a:t>
            </a:r>
          </a:p>
          <a:p>
            <a:pPr>
              <a:spcAft>
                <a:spcPts val="1000"/>
              </a:spcAft>
              <a:defRPr sz="1800">
                <a:solidFill>
                  <a:srgbClr val="333333"/>
                </a:solidFill>
              </a:defRPr>
            </a:pPr>
            <a:r>
              <a:t>In a manual HVAC system, you set the temperature dial, fan speed, and mode yourself. You're the control system. If it gets too cold, you manually turn up the temperature. If the sun comes out and heats the cabin, you manually adjust again.</a:t>
            </a:r>
          </a:p>
          <a:p>
            <a:pPr>
              <a:spcAft>
                <a:spcPts val="1000"/>
              </a:spcAft>
              <a:defRPr sz="1800">
                <a:solidFill>
                  <a:srgbClr val="333333"/>
                </a:solidFill>
              </a:defRPr>
            </a:pPr>
            <a:r>
              <a:t>Automatic climate control replaces you with an ECU - a dedicated computer for the HVAC system. You simply tell it your desired cabin temperature - say, 22°C - and the system automatically manages compressor operation, blend door position, fan speed, and airflow distribution to maintain that temperature regardless of external conditions.</a:t>
            </a:r>
          </a:p>
          <a:p>
            <a:pPr>
              <a:spcAft>
                <a:spcPts val="1000"/>
              </a:spcAft>
              <a:defRPr sz="1800">
                <a:solidFill>
                  <a:srgbClr val="333333"/>
                </a:solidFill>
              </a:defRPr>
            </a:pPr>
            <a:r>
              <a:t>The ECU uses multiple sensors to understand the thermal state of the cabin and the environment. It knows the cabin temperature, the outside temperature, the sun's intensity, and even the evaporator temperature to prevent icing. Based on all these inputs and your target temperature, it calculates the required cooling or heating and adjusts the actuators accordingly.</a:t>
            </a:r>
          </a:p>
          <a:p>
            <a:pPr>
              <a:spcAft>
                <a:spcPts val="1000"/>
              </a:spcAft>
              <a:defRPr sz="1800">
                <a:solidFill>
                  <a:srgbClr val="333333"/>
                </a:solidFill>
              </a:defRPr>
            </a:pPr>
            <a:r>
              <a:t>This is a classic feedback control system. The cabin temperature is your process variable, your target setting is the setpoint, the difference is the error, and the ECU is the controller. It modulates the compressor, blend door, and fan to drive the error to zero.</a:t>
            </a:r>
          </a:p>
          <a:p>
            <a:pPr>
              <a:spcAft>
                <a:spcPts val="1000"/>
              </a:spcAft>
              <a:defRPr sz="1800">
                <a:solidFill>
                  <a:srgbClr val="333333"/>
                </a:solidFill>
              </a:defRPr>
            </a:pPr>
            <a:r>
              <a:t>The result is set-and-forget comfort. You tell the car '22 degrees,' and it maintains 22 degrees whether you're driving through a tunnel, in bright sun, in traffic, or on the highway.</a:t>
            </a:r>
          </a:p>
          <a:p>
            <a:pPr>
              <a:spcAft>
                <a:spcPts val="1000"/>
              </a:spcAft>
              <a:defRPr sz="1800">
                <a:solidFill>
                  <a:srgbClr val="333333"/>
                </a:solidFill>
              </a:defRPr>
            </a:pPr>
            <a:r>
              <a:t>PPT Content:</a:t>
            </a:r>
          </a:p>
          <a:p>
            <a:pPr>
              <a:defRPr sz="1400">
                <a:solidFill>
                  <a:srgbClr val="787878"/>
                </a:solidFill>
                <a:latin typeface="Consolas"/>
              </a:defRPr>
            </a:pPr>
            <a:r>
              <a:t>AUTOMATIC CLIMATE CONTROL OVERVIEW</a:t>
            </a:r>
            <a:br/>
            <a:br/>
            <a:r>
              <a:t>Manual vs Automatic HVAC:</a:t>
            </a:r>
            <a:br/>
            <a:br/>
            <a:r>
              <a:t>MANUAL HVAC:</a:t>
            </a:r>
            <a:br/>
            <a:r>
              <a:t>• User sets: Temperature dial, fan speed, mode</a:t>
            </a:r>
            <a:br/>
            <a:r>
              <a:t>• Fixed settings until user changes them</a:t>
            </a:r>
            <a:br/>
            <a:r>
              <a:t>• User must adjust for changing conditions</a:t>
            </a:r>
            <a:br/>
            <a:r>
              <a:t>• Simple, cheap, no complex electronics</a:t>
            </a:r>
            <a:br/>
            <a:br/>
            <a:r>
              <a:t>AUTOMATIC CLIMATE CONTROL:</a:t>
            </a:r>
            <a:br/>
            <a:r>
              <a:t>• User sets: Desired temperature (e.g., 22°C)</a:t>
            </a:r>
            <a:br/>
            <a:r>
              <a:t>• System automatically adjusts all parameters</a:t>
            </a:r>
            <a:br/>
            <a:r>
              <a:t>• Maintains temperature regardless of external changes</a:t>
            </a:r>
            <a:br/>
            <a:r>
              <a:t>• Requires sensors, ECU, actuators</a:t>
            </a:r>
            <a:br/>
            <a:br/>
            <a:r>
              <a:t>AUTOMATIC CLIMATE CONTROL SYSTEM:</a:t>
            </a:r>
            <a:br/>
            <a:br/>
            <a:r>
              <a:t>┌──────────────┐</a:t>
            </a:r>
            <a:br/>
            <a:r>
              <a:t>│   SENSORS    │───┐</a:t>
            </a:r>
            <a:br/>
            <a:r>
              <a:t>└──────────────┘   │</a:t>
            </a:r>
            <a:br/>
            <a:r>
              <a:t>                   ↓</a:t>
            </a:r>
            <a:br/>
            <a:r>
              <a:t>┌──────────────────────────┐</a:t>
            </a:r>
            <a:br/>
            <a:r>
              <a:t>│   CLIMATE CONTROL ECU    │</a:t>
            </a:r>
            <a:br/>
            <a:r>
              <a:t>│  (Controller/Computer)   │</a:t>
            </a:r>
            <a:br/>
            <a:r>
              <a:t>└──────────────────────────┘</a:t>
            </a:r>
            <a:br/>
            <a:r>
              <a:t>                   ↓</a:t>
            </a:r>
            <a:br/>
            <a:r>
              <a:t>┌──────────────┐</a:t>
            </a:r>
            <a:br/>
            <a:r>
              <a:t>│  ACTUATORS   │</a:t>
            </a:r>
            <a:br/>
            <a:r>
              <a:t>└──────────────┘</a:t>
            </a:r>
            <a:br/>
            <a:br/>
            <a:r>
              <a:t>Inputs (Sensors):</a:t>
            </a:r>
            <a:br/>
            <a:r>
              <a:t>• Cabin temperature</a:t>
            </a:r>
            <a:br/>
            <a:r>
              <a:t>• Outside ambient temperature</a:t>
            </a:r>
            <a:br/>
            <a:r>
              <a:t>• Solar radiation (sun load)</a:t>
            </a:r>
            <a:br/>
            <a:r>
              <a:t>• Evaporator temperature</a:t>
            </a:r>
            <a:br/>
            <a:r>
              <a:t>• Humidity (advanced systems)</a:t>
            </a:r>
            <a:br/>
            <a:r>
              <a:t>• Occupant presence (advanced systems)</a:t>
            </a:r>
            <a:br/>
            <a:br/>
            <a:r>
              <a:t>Processing (ECU Logic):</a:t>
            </a:r>
            <a:br/>
            <a:r>
              <a:t>• Calculate temperature error: Error = Target - Actual</a:t>
            </a:r>
            <a:br/>
            <a:r>
              <a:t>• Determine required cooling/heating power</a:t>
            </a:r>
            <a:br/>
            <a:r>
              <a:t>• Control strategy: Compressor speed, blend door position, fan speed</a:t>
            </a:r>
            <a:br/>
            <a:r>
              <a:t>• Prevent icing (evaporator temp &gt; 3°C)</a:t>
            </a:r>
            <a:br/>
            <a:r>
              <a:t>• Optimize efficiency and comfort</a:t>
            </a:r>
            <a:br/>
            <a:br/>
            <a:r>
              <a:t>Outputs (Actuators):</a:t>
            </a:r>
            <a:br/>
            <a:r>
              <a:t>• Compressor clutch or speed control</a:t>
            </a:r>
            <a:br/>
            <a:r>
              <a:t>• Blend door servo motor (temperature control)</a:t>
            </a:r>
            <a:br/>
            <a:r>
              <a:t>• Mode door servo motors (air distribution)</a:t>
            </a:r>
            <a:br/>
            <a:r>
              <a:t>• Blower motor speed (fan control)</a:t>
            </a:r>
            <a:br/>
            <a:r>
              <a:t>• Recirculation door (air source)</a:t>
            </a:r>
            <a:br/>
            <a:br/>
            <a:r>
              <a:t>Control Type: Closed-Loop Feedback</a:t>
            </a:r>
            <a:br/>
            <a:r>
              <a:t>Setpoint: User-selected temperature (20-28°C typical range)</a:t>
            </a:r>
            <a:br/>
            <a:r>
              <a:t>Process Variable: Actual cabin temperature</a:t>
            </a:r>
            <a:br/>
            <a:r>
              <a:t>Controller: PID or fuzzy logic (ECU algorithm)</a:t>
            </a:r>
            <a:br/>
            <a:r>
              <a:t>Actuators: Modulate to drive error → 0</a:t>
            </a:r>
          </a:p>
          <a:p>
            <a:pPr>
              <a:spcAft>
                <a:spcPts val="1000"/>
              </a:spcAft>
              <a:defRPr sz="1800">
                <a:solidFill>
                  <a:srgbClr val="333333"/>
                </a:solidFill>
              </a:defRPr>
            </a:pPr>
            <a:r>
              <a:t>Analogy:</a:t>
            </a:r>
          </a:p>
          <a:p>
            <a:pPr>
              <a:spcAft>
                <a:spcPts val="1000"/>
              </a:spcAft>
              <a:defRPr sz="1800">
                <a:solidFill>
                  <a:srgbClr val="333333"/>
                </a:solidFill>
              </a:defRPr>
            </a:pPr>
            <a:r>
              <a:t>It's like cruise control for temperature. You set the target, the system maintains it automatically.</a:t>
            </a:r>
          </a:p>
          <a:p>
            <a:pPr>
              <a:spcAft>
                <a:spcPts val="1000"/>
              </a:spcAft>
              <a:defRPr sz="1800">
                <a:solidFill>
                  <a:srgbClr val="333333"/>
                </a:solidFill>
              </a:defRPr>
            </a:pPr>
            <a:r>
              <a:t>Outcomes Addressed: SO-5-17-6 (automatic climate control systems)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Sensors for Climate Control</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Let's look at the key sensors in an automatic climate control system.</a:t>
            </a:r>
          </a:p>
          <a:p>
            <a:pPr>
              <a:spcAft>
                <a:spcPts val="1000"/>
              </a:spcAft>
              <a:defRPr sz="1800">
                <a:solidFill>
                  <a:srgbClr val="333333"/>
                </a:solidFill>
              </a:defRPr>
            </a:pPr>
            <a:r>
              <a:t>First, the cabin temperature sensor. This is usually located in the dashboard near the climate control vents, behind a small grille. It's often a thermistor - a temperature-sensitive resistor. Some systems have multiple cabin sensors to measure temperature at different zones.</a:t>
            </a:r>
          </a:p>
          <a:p>
            <a:pPr>
              <a:spcAft>
                <a:spcPts val="1000"/>
              </a:spcAft>
              <a:defRPr sz="1800">
                <a:solidFill>
                  <a:srgbClr val="333333"/>
                </a:solidFill>
              </a:defRPr>
            </a:pPr>
            <a:r>
              <a:t>Second, the ambient temperature sensor. This measures outside air temperature and is typically located behind the front bumper where it gets good airflow but is protected from direct sun and engine heat. It tells the system what it's up against - if it's 40°C outside, the system knows it needs maximum cooling initially.</a:t>
            </a:r>
          </a:p>
          <a:p>
            <a:pPr>
              <a:spcAft>
                <a:spcPts val="1000"/>
              </a:spcAft>
              <a:defRPr sz="1800">
                <a:solidFill>
                  <a:srgbClr val="333333"/>
                </a:solidFill>
              </a:defRPr>
            </a:pPr>
            <a:r>
              <a:t>Third, the solar radiation sensor or sun load sensor. This is a photodiode or photodetector mounted on top of the dashboard, usually near the windshield. It measures sunlight intensity. Why does this matter? Because even if the cabin air temperature is 22°C, if the sun is blasting through the windows, your skin feels hot. The solar sensor detects this and tells the system to increase cooling or shift airflow to compensate.</a:t>
            </a:r>
          </a:p>
          <a:p>
            <a:pPr>
              <a:spcAft>
                <a:spcPts val="1000"/>
              </a:spcAft>
              <a:defRPr sz="1800">
                <a:solidFill>
                  <a:srgbClr val="333333"/>
                </a:solidFill>
              </a:defRPr>
            </a:pPr>
            <a:r>
              <a:t>Fourth, the evaporator temperature sensor. This is a thermistor attached to the evaporator fins. Its job is to prevent the evaporator from freezing. If the evaporator drops below about 3°C, ice can form on the fins, blocking airflow. The ECU monitors this sensor and cycles the compressor off or reduces capacity if icing is detected.</a:t>
            </a:r>
          </a:p>
          <a:p>
            <a:pPr>
              <a:spcAft>
                <a:spcPts val="1000"/>
              </a:spcAft>
              <a:defRPr sz="1800">
                <a:solidFill>
                  <a:srgbClr val="333333"/>
                </a:solidFill>
              </a:defRPr>
            </a:pPr>
            <a:r>
              <a:t>Advanced systems might also have humidity sensors to optimize dehumidification, CO₂ sensors to determine when fresh air is needed, and even occupancy sensors to detect which zones are occupied in multi-zone systems.</a:t>
            </a:r>
          </a:p>
          <a:p>
            <a:pPr>
              <a:spcAft>
                <a:spcPts val="1000"/>
              </a:spcAft>
              <a:defRPr sz="1800">
                <a:solidFill>
                  <a:srgbClr val="333333"/>
                </a:solidFill>
              </a:defRPr>
            </a:pPr>
            <a:r>
              <a:t>All these sensors feed data to the climate control ECU dozens of times per second, allowing it to respond quickly to changing conditions.</a:t>
            </a:r>
          </a:p>
          <a:p>
            <a:pPr>
              <a:spcAft>
                <a:spcPts val="1000"/>
              </a:spcAft>
              <a:defRPr sz="1800">
                <a:solidFill>
                  <a:srgbClr val="333333"/>
                </a:solidFill>
              </a:defRPr>
            </a:pPr>
            <a:r>
              <a:t>PPT Content:</a:t>
            </a:r>
          </a:p>
          <a:p>
            <a:pPr>
              <a:defRPr sz="1400">
                <a:solidFill>
                  <a:srgbClr val="787878"/>
                </a:solidFill>
                <a:latin typeface="Consolas"/>
              </a:defRPr>
            </a:pPr>
            <a:r>
              <a:t>SENSORS FOR CLIMATE CONTROL</a:t>
            </a:r>
            <a:br/>
            <a:br/>
            <a:r>
              <a:t>1. CABIN TEMPERATURE SENSOR</a:t>
            </a:r>
            <a:br/>
            <a:r>
              <a:t>   • Type: Thermistor (NTC - Negative Temperature Coefficient)</a:t>
            </a:r>
            <a:br/>
            <a:r>
              <a:t>   • Location: Dashboard, behind vent grille (aspirated by fan)</a:t>
            </a:r>
            <a:br/>
            <a:r>
              <a:t>   • Range: -40°C to +80°C</a:t>
            </a:r>
            <a:br/>
            <a:r>
              <a:t>   • Accuracy: ±0.5°C</a:t>
            </a:r>
            <a:br/>
            <a:r>
              <a:t>   • Purpose: Measure actual cabin air temperature (feedback)</a:t>
            </a:r>
            <a:br/>
            <a:r>
              <a:t>   • Multi-zone systems: Multiple sensors (driver, passenger, rear)</a:t>
            </a:r>
            <a:br/>
            <a:br/>
            <a:r>
              <a:t>2. AMBIENT TEMPERATURE SENSOR</a:t>
            </a:r>
            <a:br/>
            <a:r>
              <a:t>   • Type: Thermistor or RTD (Resistance Temperature Detector)</a:t>
            </a:r>
            <a:br/>
            <a:r>
              <a:t>   • Location: Behind front bumper, shielded from sun/engine</a:t>
            </a:r>
            <a:br/>
            <a:r>
              <a:t>   • Range: -40°C to +60°C</a:t>
            </a:r>
            <a:br/>
            <a:r>
              <a:t>   • Purpose: Measure outside air temperature</a:t>
            </a:r>
            <a:br/>
            <a:r>
              <a:t>   • Usage: Initial cooling/heating demand calculation, display to driver</a:t>
            </a:r>
            <a:br/>
            <a:br/>
            <a:r>
              <a:t>3. SOLAR RADIATION SENSOR (Sun Load Sensor)</a:t>
            </a:r>
            <a:br/>
            <a:r>
              <a:t>   • Type: Photodiode or photodetector array</a:t>
            </a:r>
            <a:br/>
            <a:r>
              <a:t>   • Location: Top of dashboard (near windshield)</a:t>
            </a:r>
            <a:br/>
            <a:r>
              <a:t>   • Output: Voltage proportional to light intensity (W/m²)</a:t>
            </a:r>
            <a:br/>
            <a:r>
              <a:t>   • Range: 0-1200 W/m² (full sunlight ~1000 W/m²)</a:t>
            </a:r>
            <a:br/>
            <a:r>
              <a:t>   • Purpose: Detect radiant heat from sun</a:t>
            </a:r>
            <a:br/>
            <a:r>
              <a:t>   • Advanced: Multi-axis sensors detect sun angle for left/right zone compensation</a:t>
            </a:r>
            <a:br/>
            <a:br/>
            <a:r>
              <a:t>4. EVAPORATOR TEMPERATURE SENSOR</a:t>
            </a:r>
            <a:br/>
            <a:r>
              <a:t>   • Type: Thermistor</a:t>
            </a:r>
            <a:br/>
            <a:r>
              <a:t>   • Location: Attached to evaporator fins</a:t>
            </a:r>
            <a:br/>
            <a:r>
              <a:t>   • Range: -10°C to +20°C</a:t>
            </a:r>
            <a:br/>
            <a:r>
              <a:t>   • Purpose: Prevent evaporator icing (monitor evap temp &gt; 3°C)</a:t>
            </a:r>
            <a:br/>
            <a:r>
              <a:t>   • Usage: Compressor cycling control or capacity reduction</a:t>
            </a:r>
            <a:br/>
            <a:br/>
            <a:r>
              <a:t>5. HUMIDITY SENSOR (Advanced Systems)</a:t>
            </a:r>
            <a:br/>
            <a:r>
              <a:t>   • Type: Capacitive or resistive humidity sensor</a:t>
            </a:r>
            <a:br/>
            <a:r>
              <a:t>   • Location: Cabin air intake or HVAC module</a:t>
            </a:r>
            <a:br/>
            <a:r>
              <a:t>   • Range: 0-100% relative humidity</a:t>
            </a:r>
            <a:br/>
            <a:r>
              <a:t>   • Purpose: Optimize dehumidification, prevent fogging</a:t>
            </a:r>
            <a:br/>
            <a:br/>
            <a:r>
              <a:t>6. CABIN AIR QUALITY SENSOR (Premium Systems)</a:t>
            </a:r>
            <a:br/>
            <a:r>
              <a:t>   • Type: VOC (Volatile Organic Compound) sensor, CO₂ sensor</a:t>
            </a:r>
            <a:br/>
            <a:r>
              <a:t>   • Location: Cabin air intake</a:t>
            </a:r>
            <a:br/>
            <a:r>
              <a:t>   • Purpose: Detect pollutants, automatically switch to recirculation in tunnels/traffic</a:t>
            </a:r>
            <a:br/>
            <a:r>
              <a:t>   • Auto recirc: Close outside air when pollution detected</a:t>
            </a:r>
            <a:br/>
            <a:br/>
            <a:r>
              <a:t>Sensor Communication:</a:t>
            </a:r>
            <a:br/>
            <a:r>
              <a:t>• Analog signals: Voltage (0-5V) or resistance (thermistors)</a:t>
            </a:r>
            <a:br/>
            <a:r>
              <a:t>• Converted by ECU analog-to-digital converter (ADC)</a:t>
            </a:r>
            <a:br/>
            <a:r>
              <a:t>• Sampling rate: 10-100 Hz (depends on sensor type)</a:t>
            </a:r>
            <a:br/>
            <a:r>
              <a:t>• Some sensors on LIN bus (digital communication)</a:t>
            </a:r>
          </a:p>
          <a:p>
            <a:pPr>
              <a:spcAft>
                <a:spcPts val="1000"/>
              </a:spcAft>
              <a:defRPr sz="1800">
                <a:solidFill>
                  <a:srgbClr val="333333"/>
                </a:solidFill>
              </a:defRPr>
            </a:pPr>
            <a:r>
              <a:t>Teaching Note:</a:t>
            </a:r>
          </a:p>
          <a:p>
            <a:pPr>
              <a:spcAft>
                <a:spcPts val="1000"/>
              </a:spcAft>
              <a:defRPr sz="1800">
                <a:solidFill>
                  <a:srgbClr val="333333"/>
                </a:solidFill>
              </a:defRPr>
            </a:pPr>
            <a:r>
              <a:t>Emphasize that sensors provide situational awareness - the ECU can't control what it can't measure.</a:t>
            </a:r>
          </a:p>
          <a:p>
            <a:pPr>
              <a:spcAft>
                <a:spcPts val="1000"/>
              </a:spcAft>
              <a:defRPr sz="1800">
                <a:solidFill>
                  <a:srgbClr val="333333"/>
                </a:solidFill>
              </a:defRPr>
            </a:pPr>
            <a:r>
              <a:t>Outcomes Addressed: SO-5-17-6 (automatic climate control, sensors)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Multi-Zone Climate Control</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One of the coolest features in modern premium vehicles is multi-zone climate control. Instead of one temperature for the entire cabin, you can have independent temperature settings for different zones - typically driver, passenger, and rear.</a:t>
            </a:r>
          </a:p>
          <a:p>
            <a:pPr>
              <a:spcAft>
                <a:spcPts val="1000"/>
              </a:spcAft>
              <a:defRPr sz="1800">
                <a:solidFill>
                  <a:srgbClr val="333333"/>
                </a:solidFill>
              </a:defRPr>
            </a:pPr>
            <a:r>
              <a:t>How is this possible when there's only one evaporator and one heater core? The secret is multiple blend doors and independent zone controls.</a:t>
            </a:r>
          </a:p>
          <a:p>
            <a:pPr>
              <a:spcAft>
                <a:spcPts val="1000"/>
              </a:spcAft>
              <a:defRPr sz="1800">
                <a:solidFill>
                  <a:srgbClr val="333333"/>
                </a:solidFill>
              </a:defRPr>
            </a:pPr>
            <a:r>
              <a:t>The HVAC module has separate air channels for each zone. After the air passes through the evaporator and heater core, it splits into zone-specific ducts. Each zone has its own blend door, controlled by its own servo motor. So the driver might have their blend door set to 40% heater core (warm), while the passenger has their blend door set to 10% heater core (cool).</a:t>
            </a:r>
          </a:p>
          <a:p>
            <a:pPr>
              <a:spcAft>
                <a:spcPts val="1000"/>
              </a:spcAft>
              <a:defRPr sz="1800">
                <a:solidFill>
                  <a:srgbClr val="333333"/>
                </a:solidFill>
              </a:defRPr>
            </a:pPr>
            <a:r>
              <a:t>Each zone also has its own temperature sensor. The climate control ECU runs independent control loops for each zone, adjusting each zone's blend door to maintain that zone's target temperature.</a:t>
            </a:r>
          </a:p>
          <a:p>
            <a:pPr>
              <a:spcAft>
                <a:spcPts val="1000"/>
              </a:spcAft>
              <a:defRPr sz="1800">
                <a:solidFill>
                  <a:srgbClr val="333333"/>
                </a:solidFill>
              </a:defRPr>
            </a:pPr>
            <a:r>
              <a:t>The compressor and fan speed are set to handle the maximum demand across all zones. If the driver wants 18°C (maximum cooling) and the passenger wants 28°C (warm), the system runs the compressor hard to provide maximum cooling, then reheats the passenger side air with the heater core.</a:t>
            </a:r>
          </a:p>
          <a:p>
            <a:pPr>
              <a:spcAft>
                <a:spcPts val="1000"/>
              </a:spcAft>
              <a:defRPr sz="1800">
                <a:solidFill>
                  <a:srgbClr val="333333"/>
                </a:solidFill>
              </a:defRPr>
            </a:pPr>
            <a:r>
              <a:t>This is obviously less efficient than single-zone - you're cooling air and then reheating it - but the comfort benefit is huge. The driver and passenger can each be comfortable without compromise.</a:t>
            </a:r>
          </a:p>
          <a:p>
            <a:pPr>
              <a:spcAft>
                <a:spcPts val="1000"/>
              </a:spcAft>
              <a:defRPr sz="1800">
                <a:solidFill>
                  <a:srgbClr val="333333"/>
                </a:solidFill>
              </a:defRPr>
            </a:pPr>
            <a:r>
              <a:t>Luxury vehicles may have three or even four zones: driver, front passenger, left rear, right rear. The principle is the same - multiple blend doors and temperature sensors, centralized compressor and heater core.</a:t>
            </a:r>
          </a:p>
          <a:p>
            <a:pPr>
              <a:spcAft>
                <a:spcPts val="1000"/>
              </a:spcAft>
              <a:defRPr sz="1800">
                <a:solidFill>
                  <a:srgbClr val="333333"/>
                </a:solidFill>
              </a:defRPr>
            </a:pPr>
            <a:r>
              <a:t>This requires significantly more hardware - extra servo motors, sensors, and complex ductwork - which is why it's typically a premium feature.</a:t>
            </a:r>
          </a:p>
          <a:p>
            <a:pPr>
              <a:spcAft>
                <a:spcPts val="1000"/>
              </a:spcAft>
              <a:defRPr sz="1800">
                <a:solidFill>
                  <a:srgbClr val="333333"/>
                </a:solidFill>
              </a:defRPr>
            </a:pPr>
            <a:r>
              <a:t>PPT Content:</a:t>
            </a:r>
          </a:p>
          <a:p>
            <a:pPr>
              <a:defRPr sz="1400">
                <a:solidFill>
                  <a:srgbClr val="787878"/>
                </a:solidFill>
                <a:latin typeface="Consolas"/>
              </a:defRPr>
            </a:pPr>
            <a:r>
              <a:t>MULTI-ZONE CLIMATE CONTROL</a:t>
            </a:r>
            <a:br/>
            <a:br/>
            <a:r>
              <a:t>Concept:</a:t>
            </a:r>
            <a:br/>
            <a:r>
              <a:t>Independent temperature settings for different cabin areas</a:t>
            </a:r>
            <a:br/>
            <a:r>
              <a:t>Typical configurations:</a:t>
            </a:r>
            <a:br/>
            <a:r>
              <a:t>• 2-zone: Driver, Passenger</a:t>
            </a:r>
            <a:br/>
            <a:r>
              <a:t>• 3-zone: Driver, Passenger, Rear</a:t>
            </a:r>
            <a:br/>
            <a:r>
              <a:t>• 4-zone: Driver, Passenger, Left Rear, Right Rear</a:t>
            </a:r>
            <a:br/>
            <a:br/>
            <a:r>
              <a:t>How It Works:</a:t>
            </a:r>
            <a:br/>
            <a:br/>
            <a:r>
              <a:t>SHARED COMPONENTS:</a:t>
            </a:r>
            <a:br/>
            <a:r>
              <a:t>• Single evaporator (cooling for all zones)</a:t>
            </a:r>
            <a:br/>
            <a:r>
              <a:t>• Single heater core (heating for all zones)</a:t>
            </a:r>
            <a:br/>
            <a:r>
              <a:t>• Single blower motor (main airflow)</a:t>
            </a:r>
            <a:br/>
            <a:br/>
            <a:r>
              <a:t>ZONE-SPECIFIC COMPONENTS:</a:t>
            </a:r>
            <a:br/>
            <a:r>
              <a:t>• Separate blend doors per zone</a:t>
            </a:r>
            <a:br/>
            <a:r>
              <a:t>• Independent servo motors per blend door</a:t>
            </a:r>
            <a:br/>
            <a:r>
              <a:t>• Separate temperature sensors per zone</a:t>
            </a:r>
            <a:br/>
            <a:r>
              <a:t>• Dedicated ductwork per zone</a:t>
            </a:r>
            <a:br/>
            <a:r>
              <a:t>• Individual mode doors (some systems)</a:t>
            </a:r>
            <a:br/>
            <a:br/>
            <a:r>
              <a:t>Control Strategy:</a:t>
            </a:r>
            <a:br/>
            <a:r>
              <a:t>1. User sets target temperature per zone</a:t>
            </a:r>
            <a:br/>
            <a:r>
              <a:t>   Example: Driver 20°C, Passenger 24°C, Rear 22°C</a:t>
            </a:r>
            <a:br/>
            <a:br/>
            <a:r>
              <a:t>2. ECU reads temperature sensor for each zone</a:t>
            </a:r>
            <a:br/>
            <a:br/>
            <a:r>
              <a:t>3. ECU calculates required blend door position per zone</a:t>
            </a:r>
            <a:br/>
            <a:r>
              <a:t>   Example: Driver zone → Blend door 20% heater core (cool bias)</a:t>
            </a:r>
            <a:br/>
            <a:r>
              <a:t>            Passenger zone → Blend door 60% heater core (warm bias)</a:t>
            </a:r>
            <a:br/>
            <a:br/>
            <a:r>
              <a:t>4. ECU commands servo motors to position each blend door</a:t>
            </a:r>
            <a:br/>
            <a:br/>
            <a:r>
              <a:t>5. Air splits after evaporator/heater core:</a:t>
            </a:r>
            <a:br/>
            <a:r>
              <a:t>   → Driver duct → Driver blend door → Driver vents</a:t>
            </a:r>
            <a:br/>
            <a:r>
              <a:t>   → Passenger duct → Passenger blend door → Passenger vents</a:t>
            </a:r>
            <a:br/>
            <a:r>
              <a:t>   → Rear duct → Rear blend door → Rear vents</a:t>
            </a:r>
            <a:br/>
            <a:br/>
            <a:r>
              <a:t>Compressor &amp; Fan Control:</a:t>
            </a:r>
            <a:br/>
            <a:r>
              <a:t>• Set to meet MAXIMUM cooling demand across all zones</a:t>
            </a:r>
            <a:br/>
            <a:r>
              <a:t>• Example: If driver wants max cool (18°C) and passenger wants warm (26°C):</a:t>
            </a:r>
            <a:br/>
            <a:r>
              <a:t>  → Compressor runs at full capacity (coldest evaporator)</a:t>
            </a:r>
            <a:br/>
            <a:r>
              <a:t>  → Driver gets full cold air</a:t>
            </a:r>
            <a:br/>
            <a:r>
              <a:t>  → Passenger air is reheated via heater core (blend door open)</a:t>
            </a:r>
            <a:br/>
            <a:br/>
            <a:r>
              <a:t>Efficiency Trade-off:</a:t>
            </a:r>
            <a:br/>
            <a:r>
              <a:t>• Less efficient than single zone (simultaneous cooling + heating)</a:t>
            </a:r>
            <a:br/>
            <a:r>
              <a:t>• Energy penalty: ~10-20% higher consumption</a:t>
            </a:r>
            <a:br/>
            <a:r>
              <a:t>• Comfort benefit: Personalized temperature zones</a:t>
            </a:r>
            <a:br/>
            <a:br/>
            <a:r>
              <a:t>Typical Applications:</a:t>
            </a:r>
            <a:br/>
            <a:r>
              <a:t>• Premium sedans (3-series BMW, Audi A4, Mercedes C-class)</a:t>
            </a:r>
            <a:br/>
            <a:r>
              <a:t>• Luxury SUVs (Range Rover, Lexus RX)</a:t>
            </a:r>
            <a:br/>
            <a:r>
              <a:t>• Full-size sedans and SUVs</a:t>
            </a:r>
            <a:br/>
            <a:br/>
            <a:r>
              <a:t>User Interface:</a:t>
            </a:r>
            <a:br/>
            <a:r>
              <a:t>• Driver control panel: Temperature setting (L/R or driver/passenger)</a:t>
            </a:r>
            <a:br/>
            <a:r>
              <a:t>• Passenger control panel: Independent temperature control</a:t>
            </a:r>
            <a:br/>
            <a:r>
              <a:t>• Rear control panel (optional): Rear zone temperature, fan speed</a:t>
            </a:r>
            <a:br/>
            <a:r>
              <a:t>• Display shows all zone target temperatures</a:t>
            </a:r>
          </a:p>
          <a:p>
            <a:pPr>
              <a:spcAft>
                <a:spcPts val="1000"/>
              </a:spcAft>
              <a:defRPr sz="1800">
                <a:solidFill>
                  <a:srgbClr val="333333"/>
                </a:solidFill>
              </a:defRPr>
            </a:pPr>
            <a:r>
              <a:t>Real-World Example:</a:t>
            </a:r>
          </a:p>
          <a:p>
            <a:pPr>
              <a:spcAft>
                <a:spcPts val="1000"/>
              </a:spcAft>
              <a:defRPr sz="1800">
                <a:solidFill>
                  <a:srgbClr val="333333"/>
                </a:solidFill>
              </a:defRPr>
            </a:pPr>
            <a:r>
              <a:t>In a family road trip, dad (driver) might want 20°C, mom (passenger) wants 24°C, and kids in the rear want 22°C. Multi-zone makes everyone happy without arguments.</a:t>
            </a:r>
          </a:p>
          <a:p>
            <a:pPr>
              <a:spcAft>
                <a:spcPts val="1000"/>
              </a:spcAft>
              <a:defRPr sz="1800">
                <a:solidFill>
                  <a:srgbClr val="333333"/>
                </a:solidFill>
              </a:defRPr>
            </a:pPr>
            <a:r>
              <a:t>Outcomes Addressed: SO-5-17-6 (multi-zone temperature management)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Summary &amp; Integration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2 minutes</a:t>
            </a:r>
          </a:p>
          <a:p>
            <a:pPr>
              <a:spcAft>
                <a:spcPts val="1000"/>
              </a:spcAft>
              <a:defRPr sz="1800">
                <a:solidFill>
                  <a:srgbClr val="333333"/>
                </a:solidFill>
              </a:defRPr>
            </a:pPr>
            <a:r>
              <a:t>Instructor Narrative:</a:t>
            </a:r>
          </a:p>
          <a:p>
            <a:pPr>
              <a:spcAft>
                <a:spcPts val="1000"/>
              </a:spcAft>
              <a:defRPr sz="1800">
                <a:solidFill>
                  <a:srgbClr val="333333"/>
                </a:solidFill>
              </a:defRPr>
            </a:pPr>
            <a:r>
              <a:t>Let's wrap up. We started today by understanding cabin comfort requirements - temperature, humidity, air quality. We learned that automotive HVAC faces unique challenges with varying loads and conditions.</a:t>
            </a:r>
          </a:p>
          <a:p>
            <a:pPr>
              <a:spcAft>
                <a:spcPts val="1000"/>
              </a:spcAft>
              <a:defRPr sz="1800">
                <a:solidFill>
                  <a:srgbClr val="333333"/>
                </a:solidFill>
              </a:defRPr>
            </a:pPr>
            <a:r>
              <a:t>We then dove into refrigeration thermodynamics. You now understand the vapor compression cycle: compression, condensation, expansion, evaporation. You can read a P-h diagram and understand why evaporation cools - latent heat absorption.</a:t>
            </a:r>
          </a:p>
          <a:p>
            <a:pPr>
              <a:spcAft>
                <a:spcPts val="1000"/>
              </a:spcAft>
              <a:defRPr sz="1800">
                <a:solidFill>
                  <a:srgbClr val="333333"/>
                </a:solidFill>
              </a:defRPr>
            </a:pPr>
            <a:r>
              <a:t>We identified all the key components: compressor driven by engine or electric motor, condenser rejecting heat to outside air, expansion valve dropping pressure and temperature, and evaporator absorbing cabin heat. We saw how refrigerant circulates through this closed loop.</a:t>
            </a:r>
          </a:p>
          <a:p>
            <a:pPr>
              <a:spcAft>
                <a:spcPts val="1000"/>
              </a:spcAft>
              <a:defRPr sz="1800">
                <a:solidFill>
                  <a:srgbClr val="333333"/>
                </a:solidFill>
              </a:defRPr>
            </a:pPr>
            <a:r>
              <a:t>We integrated heating by tapping engine waste heat through the heater core. We compared compressor technologies: fixed displacement with clutch cycling, variable displacement with continuous capacity control, and electric compressors for hybrids and EVs.</a:t>
            </a:r>
          </a:p>
          <a:p>
            <a:pPr>
              <a:spcAft>
                <a:spcPts val="1000"/>
              </a:spcAft>
              <a:defRPr sz="1800">
                <a:solidFill>
                  <a:srgbClr val="333333"/>
                </a:solidFill>
              </a:defRPr>
            </a:pPr>
            <a:r>
              <a:t>Finally, we saw how automatic climate control uses sensors and an ECU to maintain your desired temperature automatically, and how multi-zone systems provide personalized comfort for different passengers.</a:t>
            </a:r>
          </a:p>
          <a:p>
            <a:pPr>
              <a:spcAft>
                <a:spcPts val="1000"/>
              </a:spcAft>
              <a:defRPr sz="1800">
                <a:solidFill>
                  <a:srgbClr val="333333"/>
                </a:solidFill>
              </a:defRPr>
            </a:pPr>
            <a:r>
              <a:t>The HVAC system is a beautiful example of thermodynamics, fluid mechanics, heat transfer, controls, and mechanical design all working together. It's one of the most power-hungry systems in the vehicle, but it's also one of the most important for comfort and safety - remember, defrosting is critical for visibility.</a:t>
            </a:r>
          </a:p>
          <a:p>
            <a:pPr>
              <a:spcAft>
                <a:spcPts val="1000"/>
              </a:spcAft>
              <a:defRPr sz="1800">
                <a:solidFill>
                  <a:srgbClr val="333333"/>
                </a:solidFill>
              </a:defRPr>
            </a:pPr>
            <a:r>
              <a:t>You now have a complete understanding of automotive HVAC from the physics to the components to the control systems.</a:t>
            </a:r>
          </a:p>
          <a:p>
            <a:pPr>
              <a:spcAft>
                <a:spcPts val="1000"/>
              </a:spcAft>
              <a:defRPr sz="1800">
                <a:solidFill>
                  <a:srgbClr val="333333"/>
                </a:solidFill>
              </a:defRPr>
            </a:pPr>
            <a:r>
              <a:t>PPT Content:</a:t>
            </a:r>
          </a:p>
          <a:p>
            <a:pPr>
              <a:defRPr sz="1400">
                <a:solidFill>
                  <a:srgbClr val="787878"/>
                </a:solidFill>
                <a:latin typeface="Consolas"/>
              </a:defRPr>
            </a:pPr>
            <a:r>
              <a:t>SESSION 17 SUMMARY</a:t>
            </a:r>
            <a:br/>
            <a:br/>
            <a:r>
              <a:t>✓ Cabin Comfort Requirements</a:t>
            </a:r>
            <a:br/>
            <a:r>
              <a:t>  • Temperature, humidity, air quality, airflow</a:t>
            </a:r>
            <a:br/>
            <a:r>
              <a:t>  • Automotive challenges: Variable loads, rapid response</a:t>
            </a:r>
            <a:br/>
            <a:br/>
            <a:r>
              <a:t>✓ Refrigeration Thermodynamics</a:t>
            </a:r>
            <a:br/>
            <a:r>
              <a:t>  • Vapor compression cycle: 4 processes</a:t>
            </a:r>
            <a:br/>
            <a:r>
              <a:t>  • P-h diagram visualization</a:t>
            </a:r>
            <a:br/>
            <a:r>
              <a:t>  • Refrigerant: R134a → R1234yf (low GWP)</a:t>
            </a:r>
            <a:br/>
            <a:r>
              <a:t>  • Phase change: Evaporation cools, condensation heats</a:t>
            </a:r>
            <a:br/>
            <a:br/>
            <a:r>
              <a:t>✓ HVAC Components</a:t>
            </a:r>
            <a:br/>
            <a:r>
              <a:t>  • Compressor: Pressure &amp; temperature boost (work input)</a:t>
            </a:r>
            <a:br/>
            <a:r>
              <a:t>  • Condenser: Heat rejection to outside (phase change: gas → liquid)</a:t>
            </a:r>
            <a:br/>
            <a:r>
              <a:t>  • Expansion valve: Pressure drop (throttling)</a:t>
            </a:r>
            <a:br/>
            <a:r>
              <a:t>  • Evaporator: Heat absorption from cabin (phase change: liquid → gas)</a:t>
            </a:r>
            <a:br/>
            <a:br/>
            <a:r>
              <a:t>✓ Heating Integration</a:t>
            </a:r>
            <a:br/>
            <a:r>
              <a:t>  • Heater core: Engine coolant waste heat</a:t>
            </a:r>
            <a:br/>
            <a:r>
              <a:t>  • Blend door: Temperature control (cold/hot air mix)</a:t>
            </a:r>
            <a:br/>
            <a:r>
              <a:t>  • Free heating in conventional vehicles</a:t>
            </a:r>
            <a:br/>
            <a:r>
              <a:t>  • Challenge for EVs: No waste heat</a:t>
            </a:r>
            <a:br/>
            <a:br/>
            <a:r>
              <a:t>✓ Compressor Technologies</a:t>
            </a:r>
            <a:br/>
            <a:r>
              <a:t>  • Fixed displacement: On/off cycling, simple, budget</a:t>
            </a:r>
            <a:br/>
            <a:r>
              <a:t>  • Variable displacement: Continuous capacity, smooth, modern</a:t>
            </a:r>
            <a:br/>
            <a:r>
              <a:t>  • Electric compressor: Speed-independent, EVs/hybrids, premium</a:t>
            </a:r>
            <a:br/>
            <a:br/>
            <a:r>
              <a:t>✓ Automatic Climate Control</a:t>
            </a:r>
            <a:br/>
            <a:r>
              <a:t>  • Sensors: Cabin temp, ambient temp, solar, evaporator temp</a:t>
            </a:r>
            <a:br/>
            <a:r>
              <a:t>  • Climate ECU: Feedback control, maintains target temperature</a:t>
            </a:r>
            <a:br/>
            <a:r>
              <a:t>  • Actuators: Compressor, blend doors, fan, mode doors</a:t>
            </a:r>
            <a:br/>
            <a:r>
              <a:t>  • Multi-zone: Independent zone temperatures (driver, passenger, rear)</a:t>
            </a:r>
            <a:br/>
            <a:br/>
            <a:r>
              <a:t>Key Takeaway:</a:t>
            </a:r>
            <a:br/>
            <a:r>
              <a:t>HVAC is an integrated thermal management system combining refrigeration (cooling), waste heat recovery (heating), airflow distribution, and intelligent control to maintain cabin comfort across all driving conditions.</a:t>
            </a:r>
            <a:br/>
            <a:br/>
            <a:r>
              <a:t>Next Session: Passive Safety Systems</a:t>
            </a:r>
            <a:br/>
            <a:r>
              <a:t>• Crash structures, seatbelts, airbags</a:t>
            </a:r>
            <a:br/>
            <a:r>
              <a:t>• Occupant protection strategies</a:t>
            </a:r>
            <a:br/>
            <a:r>
              <a:t>• Safety testing standards</a:t>
            </a:r>
          </a:p>
          <a:p>
            <a:pPr>
              <a:spcAft>
                <a:spcPts val="1000"/>
              </a:spcAft>
              <a:defRPr sz="1800">
                <a:solidFill>
                  <a:srgbClr val="333333"/>
                </a:solidFill>
              </a:defRPr>
            </a:pPr>
            <a:r>
              <a:t>Outcomes Addressed: All SOs (complete summary)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POST-SESSION ACTIVITIES &amp; ASSESSMENT ALIGNMENT</a:t>
            </a:r>
          </a:p>
        </p:txBody>
      </p:sp>
      <p:sp>
        <p:nvSpPr>
          <p:cNvPr id="3" name="Content Placeholder 2"/>
          <p:cNvSpPr>
            <a:spLocks noGrp="1"/>
          </p:cNvSpPr>
          <p:nvPr>
            <p:ph idx="1"/>
          </p:nvPr>
        </p:nvSpPr>
        <p:spPr/>
        <p:txBody>
          <a:bodyPr/>
          <a:lstStyle/>
          <a:p>
            <a:pPr>
              <a:defRPr sz="2400" b="1">
                <a:solidFill>
                  <a:srgbClr val="2E5090"/>
                </a:solidFill>
              </a:defRPr>
            </a:pPr>
            <a:r>
              <a:t>Connection to Next Session</a:t>
            </a:r>
          </a:p>
          <a:p>
            <a:pPr>
              <a:spcAft>
                <a:spcPts val="1000"/>
              </a:spcAft>
              <a:defRPr sz="1800">
                <a:solidFill>
                  <a:srgbClr val="333333"/>
                </a:solidFill>
              </a:defRPr>
            </a:pPr>
            <a:r>
              <a:t>| SO Code | Coverage | Verification Method |</a:t>
            </a:r>
          </a:p>
          <a:p>
            <a:pPr>
              <a:spcAft>
                <a:spcPts val="1000"/>
              </a:spcAft>
              <a:defRPr sz="1800">
                <a:solidFill>
                  <a:srgbClr val="333333"/>
                </a:solidFill>
              </a:defRPr>
            </a:pPr>
            <a:r>
              <a:t>|---------|----------|---------------------|</a:t>
            </a:r>
          </a:p>
          <a:p>
            <a:pPr>
              <a:spcAft>
                <a:spcPts val="1000"/>
              </a:spcAft>
              <a:defRPr sz="1800">
                <a:solidFill>
                  <a:srgbClr val="333333"/>
                </a:solidFill>
              </a:defRPr>
            </a:pPr>
            <a:r>
              <a:t>| SO-5-17-1 | Slides 2-6 | Explain comfort parameters, HVAC challenges, system functions |</a:t>
            </a:r>
          </a:p>
          <a:p>
            <a:pPr>
              <a:spcAft>
                <a:spcPts val="1000"/>
              </a:spcAft>
              <a:defRPr sz="1800">
                <a:solidFill>
                  <a:srgbClr val="333333"/>
                </a:solidFill>
              </a:defRPr>
            </a:pPr>
            <a:r>
              <a:t>| SO-5-17-2 | Slides 7-13 | Describe refrigeration cycle, P-h diagram, thermodynamic processes |</a:t>
            </a:r>
          </a:p>
          <a:p>
            <a:pPr>
              <a:spcAft>
                <a:spcPts val="1000"/>
              </a:spcAft>
              <a:defRPr sz="1800">
                <a:solidFill>
                  <a:srgbClr val="333333"/>
                </a:solidFill>
              </a:defRPr>
            </a:pPr>
            <a:r>
              <a:t>| SO-5-17-3 | Slides 14-19 | Identify and explain all HVAC components and refrigerant flow |</a:t>
            </a:r>
          </a:p>
          <a:p>
            <a:pPr>
              <a:spcAft>
                <a:spcPts val="1000"/>
              </a:spcAft>
              <a:defRPr sz="1800">
                <a:solidFill>
                  <a:srgbClr val="333333"/>
                </a:solidFill>
              </a:defRPr>
            </a:pPr>
            <a:r>
              <a:t>| SO-5-17-4 | Slides 23-26 | Compare compressor types (fixed, variable, electric) |</a:t>
            </a:r>
          </a:p>
          <a:p>
            <a:pPr>
              <a:spcAft>
                <a:spcPts val="1000"/>
              </a:spcAft>
              <a:defRPr sz="1800">
                <a:solidFill>
                  <a:srgbClr val="333333"/>
                </a:solidFill>
              </a:defRPr>
            </a:pPr>
            <a:r>
              <a:t>| SO-5-17-5 | Slides 20-22 | Explain heater core and integration with engine cooling |</a:t>
            </a:r>
          </a:p>
          <a:p>
            <a:pPr>
              <a:spcAft>
                <a:spcPts val="1000"/>
              </a:spcAft>
              <a:defRPr sz="1800">
                <a:solidFill>
                  <a:srgbClr val="333333"/>
                </a:solidFill>
              </a:defRPr>
            </a:pPr>
            <a:r>
              <a:t>| SO-5-17-6 | Slides 27-30 | Describe automatic climate control, multi-zone systems |</a:t>
            </a:r>
          </a:p>
          <a:p>
            <a:pPr>
              <a:spcAft>
                <a:spcPts val="1000"/>
              </a:spcAft>
              <a:defRPr sz="1800">
                <a:solidFill>
                  <a:srgbClr val="333333"/>
                </a:solidFill>
              </a:defRPr>
            </a:pPr>
            <a:r>
              <a:t>Expected Student Questions:</a:t>
            </a:r>
          </a:p>
          <a:p>
            <a:pPr>
              <a:spcAft>
                <a:spcPts val="600"/>
              </a:spcAft>
              <a:defRPr sz="1800">
                <a:solidFill>
                  <a:srgbClr val="333333"/>
                </a:solidFill>
              </a:defRPr>
            </a:pPr>
            <a:r>
              <a:t>"Why does AC reduce fuel economy?" — Answer: Compressor requires 2-4 kW mechanical power from engine. At city speeds (~30 kW engine output), this is 10-15% power consumption → 10-15% fuel penalty.</a:t>
            </a:r>
          </a:p>
          <a:p>
            <a:pPr>
              <a:spcAft>
                <a:spcPts val="600"/>
              </a:spcAft>
              <a:defRPr sz="1800">
                <a:solidFill>
                  <a:srgbClr val="333333"/>
                </a:solidFill>
              </a:defRPr>
            </a:pPr>
            <a:r>
              <a:t>"Can you run AC with engine off?" — Conventional: No (belt-driven compressor needs engine running)</a:t>
            </a:r>
          </a:p>
          <a:p>
            <a:pPr>
              <a:spcAft>
                <a:spcPts val="600"/>
              </a:spcAft>
              <a:defRPr sz="1800">
                <a:solidFill>
                  <a:srgbClr val="333333"/>
                </a:solidFill>
              </a:defRPr>
            </a:pPr>
            <a:r>
              <a:t>Electric compressor: Yes (draws from battery, limited duration)</a:t>
            </a:r>
          </a:p>
          <a:p>
            <a:pPr>
              <a:spcAft>
                <a:spcPts val="600"/>
              </a:spcAft>
              <a:defRPr sz="1800">
                <a:solidFill>
                  <a:srgbClr val="333333"/>
                </a:solidFill>
              </a:defRPr>
            </a:pPr>
            <a:r>
              <a:t>"Why does my car's AC take time to get cold?" — Answer: System must build pressure, refrigerant must circulate, evaporator must cool down. Initial cool-down 1-2 minutes. Cabin cool-down depends on cabin temperature and insulation.</a:t>
            </a:r>
          </a:p>
          <a:p>
            <a:pPr>
              <a:spcAft>
                <a:spcPts val="600"/>
              </a:spcAft>
              <a:defRPr sz="1800">
                <a:solidFill>
                  <a:srgbClr val="333333"/>
                </a:solidFill>
              </a:defRPr>
            </a:pPr>
            <a:r>
              <a:t>"What's the difference between 'Max AC' and normal AC?" — Answer: Max AC = Recirculation mode (recirculates cabin air instead of outside air). Cools faster because starting with cooler cabin air. But can't use indefinitely (CO₂ buildup, humidity).</a:t>
            </a:r>
          </a:p>
          <a:p>
            <a:pPr>
              <a:spcAft>
                <a:spcPts val="600"/>
              </a:spcAft>
              <a:defRPr sz="1800">
                <a:solidFill>
                  <a:srgbClr val="333333"/>
                </a:solidFill>
              </a:defRPr>
            </a:pPr>
            <a:r>
              <a:t>"Why run AC in winter for defrost?" — Answer: Dehumidification. Evaporator removes moisture, then air is reheated. Dry warm air prevents windshield fogging better than just warm air.</a:t>
            </a:r>
          </a:p>
          <a:p>
            <a:pPr>
              <a:spcAft>
                <a:spcPts val="1000"/>
              </a:spcAft>
              <a:defRPr sz="1800">
                <a:solidFill>
                  <a:srgbClr val="333333"/>
                </a:solidFill>
              </a:defRPr>
            </a:pPr>
            <a:r>
              <a:t>Recommended Q&amp;A Topics: — COP calculation examples</a:t>
            </a:r>
          </a:p>
          <a:p>
            <a:pPr>
              <a:spcAft>
                <a:spcPts val="600"/>
              </a:spcAft>
              <a:defRPr sz="1800">
                <a:solidFill>
                  <a:srgbClr val="333333"/>
                </a:solidFill>
              </a:defRPr>
            </a:pPr>
            <a:r>
              <a:t>Refrigerant safety and environmental concerns</a:t>
            </a:r>
          </a:p>
          <a:p>
            <a:pPr>
              <a:spcAft>
                <a:spcPts val="600"/>
              </a:spcAft>
              <a:defRPr sz="1800">
                <a:solidFill>
                  <a:srgbClr val="333333"/>
                </a:solidFill>
              </a:defRPr>
            </a:pPr>
            <a:r>
              <a:t>HVAC maintenance (cabin filter replacement, refrigerant recharge)</a:t>
            </a:r>
          </a:p>
          <a:p>
            <a:pPr>
              <a:spcAft>
                <a:spcPts val="600"/>
              </a:spcAft>
              <a:defRPr sz="1800">
                <a:solidFill>
                  <a:srgbClr val="333333"/>
                </a:solidFill>
              </a:defRPr>
            </a:pPr>
            <a:r>
              <a:t>Electric vehicle HVAC challenges and solutions (heat pumps)</a:t>
            </a:r>
          </a:p>
          <a:p>
            <a:pPr>
              <a:spcAft>
                <a:spcPts val="1000"/>
              </a:spcAft>
              <a:defRPr sz="1800">
                <a:solidFill>
                  <a:srgbClr val="333333"/>
                </a:solidFill>
              </a:defRPr>
            </a:pPr>
            <a:r>
              <a:t>Assignment 1: HVAC Cooling Capacity Calculation — Given: Vehicle cabin volume, initial temperature, target temperature, cool-down time</a:t>
            </a:r>
          </a:p>
          <a:p>
            <a:pPr>
              <a:spcAft>
                <a:spcPts val="600"/>
              </a:spcAft>
              <a:defRPr sz="1800">
                <a:solidFill>
                  <a:srgbClr val="333333"/>
                </a:solidFill>
              </a:defRPr>
            </a:pPr>
            <a:r>
              <a:t>Calculate: Required cooling power, refrigerant mass flow rate</a:t>
            </a:r>
          </a:p>
          <a:p>
            <a:pPr>
              <a:spcAft>
                <a:spcPts val="600"/>
              </a:spcAft>
              <a:defRPr sz="1800">
                <a:solidFill>
                  <a:srgbClr val="333333"/>
                </a:solidFill>
              </a:defRPr>
            </a:pPr>
            <a:r>
              <a:t>Reinforces: Thermodynamics, energy balance</a:t>
            </a:r>
          </a:p>
          <a:p>
            <a:pPr>
              <a:spcAft>
                <a:spcPts val="1000"/>
              </a:spcAft>
              <a:defRPr sz="1800">
                <a:solidFill>
                  <a:srgbClr val="333333"/>
                </a:solidFill>
              </a:defRPr>
            </a:pPr>
            <a:r>
              <a:t>Assignment 2: Compressor Selection — Scenario: Design HVAC for city car vs. luxury SUV vs. electric vehicle</a:t>
            </a:r>
          </a:p>
          <a:p>
            <a:pPr>
              <a:spcAft>
                <a:spcPts val="600"/>
              </a:spcAft>
              <a:defRPr sz="1800">
                <a:solidFill>
                  <a:srgbClr val="333333"/>
                </a:solidFill>
              </a:defRPr>
            </a:pPr>
            <a:r>
              <a:t>Task: Select compressor type, justify based on cost, performance, efficiency</a:t>
            </a:r>
          </a:p>
          <a:p>
            <a:pPr>
              <a:spcAft>
                <a:spcPts val="600"/>
              </a:spcAft>
              <a:defRPr sz="1800">
                <a:solidFill>
                  <a:srgbClr val="333333"/>
                </a:solidFill>
              </a:defRPr>
            </a:pPr>
            <a:r>
              <a:t>Reinforces: SO-5-17-4 (compressor comparison)</a:t>
            </a:r>
          </a:p>
          <a:p>
            <a:pPr>
              <a:spcAft>
                <a:spcPts val="1000"/>
              </a:spcAft>
              <a:defRPr sz="1800">
                <a:solidFill>
                  <a:srgbClr val="333333"/>
                </a:solidFill>
              </a:defRPr>
            </a:pPr>
            <a:r>
              <a:t>Assignment 3: Multi-Zone Climate Control Analysis — Given: 3-zone system with different target temperatures</a:t>
            </a:r>
          </a:p>
          <a:p>
            <a:pPr>
              <a:spcAft>
                <a:spcPts val="600"/>
              </a:spcAft>
              <a:defRPr sz="1800">
                <a:solidFill>
                  <a:srgbClr val="333333"/>
                </a:solidFill>
              </a:defRPr>
            </a:pPr>
            <a:r>
              <a:t>Task: Determine blend door positions, estimate efficiency penalty</a:t>
            </a:r>
          </a:p>
          <a:p>
            <a:pPr>
              <a:spcAft>
                <a:spcPts val="600"/>
              </a:spcAft>
              <a:defRPr sz="1800">
                <a:solidFill>
                  <a:srgbClr val="333333"/>
                </a:solidFill>
              </a:defRPr>
            </a:pPr>
            <a:r>
              <a:t>Reinforces: SO-5-17-6 (multi-zone systems)</a:t>
            </a:r>
          </a:p>
          <a:p>
            <a:pPr>
              <a:spcAft>
                <a:spcPts val="1000"/>
              </a:spcAft>
              <a:defRPr sz="1800">
                <a:solidFill>
                  <a:srgbClr val="333333"/>
                </a:solidFill>
              </a:defRPr>
            </a:pPr>
            <a:r>
              <a:t>Session 18 Preview:</a:t>
            </a:r>
          </a:p>
          <a:p>
            <a:pPr>
              <a:spcAft>
                <a:spcPts val="1000"/>
              </a:spcAft>
              <a:defRPr sz="1800">
                <a:solidFill>
                  <a:srgbClr val="333333"/>
                </a:solidFill>
              </a:defRPr>
            </a:pPr>
            <a:r>
              <a:t>In the next session, we'll shift focus from comfort to safety - specifically passive safety systems. We'll explore crash structures, seatbelts, airbags, and how vehicles protect occupants during collisions. You'll learn about the airbag control unit (ACU), which has similarities to the climate control ECU we discussed today - both use sensors and actuators for critical functions. See you next time!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INSTRUCTOR NOTES</a:t>
            </a:r>
          </a:p>
        </p:txBody>
      </p:sp>
      <p:sp>
        <p:nvSpPr>
          <p:cNvPr id="3" name="Content Placeholder 2"/>
          <p:cNvSpPr>
            <a:spLocks noGrp="1"/>
          </p:cNvSpPr>
          <p:nvPr>
            <p:ph idx="1"/>
          </p:nvPr>
        </p:nvSpPr>
        <p:spPr/>
        <p:txBody>
          <a:bodyPr/>
          <a:lstStyle/>
          <a:p>
            <a:pPr>
              <a:defRPr sz="2400" b="1">
                <a:solidFill>
                  <a:srgbClr val="2E5090"/>
                </a:solidFill>
              </a:defRPr>
            </a:pPr>
            <a:r>
              <a:t>Safety Reminders</a:t>
            </a:r>
          </a:p>
          <a:p>
            <a:pPr>
              <a:spcAft>
                <a:spcPts val="600"/>
              </a:spcAft>
              <a:defRPr sz="1800">
                <a:solidFill>
                  <a:srgbClr val="333333"/>
                </a:solidFill>
              </a:defRPr>
            </a:pPr>
            <a:r>
              <a:t>30 min: Should be finishing Part 2 (Refrigeration Thermodynamics)</a:t>
            </a:r>
          </a:p>
          <a:p>
            <a:pPr>
              <a:spcAft>
                <a:spcPts val="600"/>
              </a:spcAft>
              <a:defRPr sz="1800">
                <a:solidFill>
                  <a:srgbClr val="333333"/>
                </a:solidFill>
              </a:defRPr>
            </a:pPr>
            <a:r>
              <a:t>60 min: Should be finishing Part 3 (HVAC Components)</a:t>
            </a:r>
          </a:p>
          <a:p>
            <a:pPr>
              <a:spcAft>
                <a:spcPts val="600"/>
              </a:spcAft>
              <a:defRPr sz="1800">
                <a:solidFill>
                  <a:srgbClr val="333333"/>
                </a:solidFill>
              </a:defRPr>
            </a:pPr>
            <a:r>
              <a:t>75 min: Should be finishing Part 4 (Heating &amp; Complete System)</a:t>
            </a:r>
          </a:p>
          <a:p>
            <a:pPr>
              <a:spcAft>
                <a:spcPts val="600"/>
              </a:spcAft>
              <a:defRPr sz="1800">
                <a:solidFill>
                  <a:srgbClr val="333333"/>
                </a:solidFill>
              </a:defRPr>
            </a:pPr>
            <a:r>
              <a:t>90 min: Finish Part 5 (Automatic Climate Control)</a:t>
            </a:r>
          </a:p>
          <a:p>
            <a:pPr>
              <a:spcAft>
                <a:spcPts val="600"/>
              </a:spcAft>
              <a:defRPr sz="1800">
                <a:solidFill>
                  <a:srgbClr val="333333"/>
                </a:solidFill>
              </a:defRPr>
            </a:pPr>
            <a:r>
              <a:t>High energy: Part 2 (core thermodynamics - keep students engaged)</a:t>
            </a:r>
          </a:p>
          <a:p>
            <a:pPr>
              <a:spcAft>
                <a:spcPts val="600"/>
              </a:spcAft>
              <a:defRPr sz="1800">
                <a:solidFill>
                  <a:srgbClr val="333333"/>
                </a:solidFill>
              </a:defRPr>
            </a:pPr>
            <a:r>
              <a:t>Medium energy: Part 3 (component description - visual aids help)</a:t>
            </a:r>
          </a:p>
          <a:p>
            <a:pPr>
              <a:spcAft>
                <a:spcPts val="600"/>
              </a:spcAft>
              <a:defRPr sz="1800">
                <a:solidFill>
                  <a:srgbClr val="333333"/>
                </a:solidFill>
              </a:defRPr>
            </a:pPr>
            <a:r>
              <a:t>High energy: Part 4 (integration point - emphasize connections)</a:t>
            </a:r>
          </a:p>
          <a:p>
            <a:pPr>
              <a:spcAft>
                <a:spcPts val="600"/>
              </a:spcAft>
              <a:defRPr sz="1800">
                <a:solidFill>
                  <a:srgbClr val="333333"/>
                </a:solidFill>
              </a:defRPr>
            </a:pPr>
            <a:r>
              <a:t>Medium energy: Part 5 (control systems - technical but important)</a:t>
            </a:r>
          </a:p>
          <a:p>
            <a:pPr>
              <a:spcAft>
                <a:spcPts val="600"/>
              </a:spcAft>
              <a:defRPr sz="1800">
                <a:solidFill>
                  <a:srgbClr val="333333"/>
                </a:solidFill>
              </a:defRPr>
            </a:pPr>
            <a:r>
              <a:t>P-h Diagram: Students find it abstract. Use animated visualization showing refrigerant moving through cycle.</a:t>
            </a:r>
          </a:p>
          <a:p>
            <a:pPr>
              <a:spcAft>
                <a:spcPts val="600"/>
              </a:spcAft>
              <a:defRPr sz="1800">
                <a:solidFill>
                  <a:srgbClr val="333333"/>
                </a:solidFill>
              </a:defRPr>
            </a:pPr>
            <a:r>
              <a:t>Why COP &gt; 1: Clarify we're moving heat, not creating cold. Use heat pump analogy.</a:t>
            </a:r>
          </a:p>
          <a:p>
            <a:pPr>
              <a:spcAft>
                <a:spcPts val="600"/>
              </a:spcAft>
              <a:defRPr sz="1800">
                <a:solidFill>
                  <a:srgbClr val="333333"/>
                </a:solidFill>
              </a:defRPr>
            </a:pPr>
            <a:r>
              <a:t>Evaporator vs. Condenser Confusion: Both are heat exchangers. Emphasize: Evaporator INSIDE cabin (cooling), Condenser OUTSIDE vehicle (heat rejection).</a:t>
            </a:r>
          </a:p>
          <a:p>
            <a:pPr>
              <a:spcAft>
                <a:spcPts val="600"/>
              </a:spcAft>
              <a:defRPr sz="1800">
                <a:solidFill>
                  <a:srgbClr val="333333"/>
                </a:solidFill>
              </a:defRPr>
            </a:pPr>
            <a:r>
              <a:t>Show actual compressor (cutaway model if available)</a:t>
            </a:r>
          </a:p>
          <a:p>
            <a:pPr>
              <a:spcAft>
                <a:spcPts val="600"/>
              </a:spcAft>
              <a:defRPr sz="1800">
                <a:solidFill>
                  <a:srgbClr val="333333"/>
                </a:solidFill>
              </a:defRPr>
            </a:pPr>
            <a:r>
              <a:t>Demonstrate refrigerant pressure with gauge set (if safe setup available)</a:t>
            </a:r>
          </a:p>
          <a:p>
            <a:pPr>
              <a:spcAft>
                <a:spcPts val="600"/>
              </a:spcAft>
              <a:defRPr sz="1800">
                <a:solidFill>
                  <a:srgbClr val="333333"/>
                </a:solidFill>
              </a:defRPr>
            </a:pPr>
            <a:r>
              <a:t>Show HVAC module components (evaporator, blend door) from salvage unit</a:t>
            </a:r>
          </a:p>
          <a:p>
            <a:pPr>
              <a:spcAft>
                <a:spcPts val="600"/>
              </a:spcAft>
              <a:defRPr sz="1800">
                <a:solidFill>
                  <a:srgbClr val="333333"/>
                </a:solidFill>
              </a:defRPr>
            </a:pPr>
            <a:r>
              <a:t>Emphasize: NEVER release refrigerant to atmosphere (illegal, environmental harm)</a:t>
            </a:r>
          </a:p>
          <a:p>
            <a:pPr>
              <a:spcAft>
                <a:spcPts val="600"/>
              </a:spcAft>
              <a:defRPr sz="1800">
                <a:solidFill>
                  <a:srgbClr val="333333"/>
                </a:solidFill>
              </a:defRPr>
            </a:pPr>
            <a:r>
              <a:t>High-pressure refrigerant can cause frostbite injuries</a:t>
            </a:r>
          </a:p>
          <a:p>
            <a:pPr>
              <a:spcAft>
                <a:spcPts val="600"/>
              </a:spcAft>
              <a:defRPr sz="1800">
                <a:solidFill>
                  <a:srgbClr val="333333"/>
                </a:solidFill>
              </a:defRPr>
            </a:pPr>
            <a:r>
              <a:t>HV systems in electric compressors are dangerous (200-400V)</a:t>
            </a:r>
          </a:p>
          <a:p>
            <a:pPr>
              <a:spcAft>
                <a:spcPts val="600"/>
              </a:spcAft>
              <a:defRPr sz="1800">
                <a:solidFill>
                  <a:srgbClr val="333333"/>
                </a:solidFill>
              </a:defRPr>
            </a:pPr>
            <a:r>
              <a:t>Professional service required for refrigerant work</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END OF SESSION 17 FRAMEWORK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