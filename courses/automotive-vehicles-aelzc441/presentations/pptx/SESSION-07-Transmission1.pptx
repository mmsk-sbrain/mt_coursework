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---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marp: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theme: engineering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paginate: true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math: katex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header: 'Session 7: Transmission Systems - Part 1'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Transmission Systems - Part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Session 7 | Automotive Vehicles (AEL ZC441)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Welcome to Session 7. Today we answer a critical question: Why can't we connect the engine directly to the wheels? Why do we need this complex device called a transmission?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Problem - Engine vs Wheel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show you the fundamental mismatch between what engines produce and what wheels need: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ENGINE CHARACTERISTICS (from Sessions 4-6):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Operates from ~800 RPM (idle) to ~6000 RPM (redline)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Peak torque at ~4000 RPM (let's say 150 Nm)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Can't produce significant torque below ~1500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Problem: Needs to be spinning to make torque!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WHEEL REQUIREMENTS: — At standstill: Need MAXIMUM torque to overcome inertia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 120 km/h: Wheels spinning at ~800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 20 km/h: Wheels spinning at ~130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Problem: Wheels need high torque at low speeds, low torque at high speeds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mismatch: Engine makes power at high RPM, but vehicle needs torque at low wheel speeds.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Solution: A transmission – a mechanical device that multiplies torque and changes speed ratios.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Real-World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 me illustrate with a real car – Honda Civic: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Accelerating from 0-100 km/h: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WITHOUT transmission (impossible, but hypothetically):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At 0 km/h: Engine at 0 RPM → No torque → Car doesn't move!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 move: Need to keep engine at 4000 RPM while wheels at 0 RPM → Impossible!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WITH 6-speed transmission: — 0-20 km/h: 1st gear → Engine at 3000 RPM → Wheels at 130 RPM → High torque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20-40 km/h: 2nd gear → Engine at 3000 RPM → Wheels at 260 RPM → Good torque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40-60 km/h: 3rd gear → Engine at 3000 RPM → Wheels at 390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60-80 km/h: 4th gear → Engine at 2800 RPM → Wheels at 520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80-100 km/h: 5th gear → Engine at 2600 RPM → Wheels at 650 RPM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See the pattern? Engine stays in optimal RPM range (2500-4000), while wheels continuously accelerate. That's what transmission does!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Session 6 (BSFC Maps)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Remember in Session 6 we learned about BSFC maps? We found the 'optimal efficiency island' at 2000-3000 RPM, medium-high load.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the connection: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Without a transmission, you can't stay in that optimal zone. The transmission lets you choose the right gear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Keep engine RPM in efficient range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Match torque requirement at wheels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Maximize fuel economy OR maximize acceleration (depending on your goal)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transmissions (6, 7, 8 speeds): More gears = more opportunities to stay in optimal BSFC zone.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you'll learn how these gears work and how to calculate the ratios.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Real-World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a real engineering challenge: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Vehicle: Light commercial vehicle (think Tata Ace)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Engine: 700 cc, peak torque 38 Nm @ 4500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Vehicle mass: 900 kg (loaded)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radius: 0.28 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Must be able to climb 20° slope from standstill (loaded)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Must reach 80 km/h top speed on flat road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Questions: — What torque do we need at wheels to climb 20° slope?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gear ratio do we need in 1st gear?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gear ratio do we need in top gear (5th)?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many intermediate gears and what ratios?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By the end of today: You'll solve this problem completely.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The Simple Gear Pair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start with the simplest transmission: Two gears meshing together.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Setup: — Driver gear (input): 20 teeth, connected to engine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Driven gear (output): 60 teeth, connected to wheels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When driver rotates 1 revolution: — Driver gear: 20 teeth pass through mesh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Driven gear: Receives 20 teeth → Rotates 20/60 = 0.333 revolutions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Speed relationship: — If driver spins at 3000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Driven spins at 3000 × (20/60) = 1000 RPM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We've achieved speed reduction of 3:1 (or gear ratio = 3.0).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Where Did the 'Lost' Speed Go? (Torque Multiplication!)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Here's the beautiful principle: Energy is conserved (ignoring friction).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Power in = Power out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Remember from Session 3: Power = Torque × Angular velocity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 = τ × 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input (driver gear): — Torque: τ_in = 50 Nm (from engine)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Speed: ω_in = 3000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Power: P_in = 50 × 3000 = 150,000 units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output (driven gear): — Speed: ω_out = 1000 RPM (we reduced it by 3x)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Power: Pout = Pin = 150,000 units (conserved!)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Torque: τ_out = P / ω = 150,000 / 1000 = 150 Nm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Torque multiplied by 3x! (from 50 Nm to 150 Nm)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Rule: — Gear ratio 3:1 → Speed reduction 3x → Torque multiplication 3x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τout = τin × Gear Ratio — ωout = ωin / Gear Ratio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Defining Gear Ratio Mathematically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formalize the math: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GEAR RATIO (GR) = ωin / ωout = Ndriven / Ndriver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ω_in = Input speed (RPM)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ω_out = Output speed (RPM)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N_driven = Number of teeth on driven gear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N_driver = Number of teeth on driver gear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 our example: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 = 60 teeth / 20 teeth = 3.0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Relationships: — Speed: ωout = ωin / GR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Torque: τout = τin × GR × η (where η = efficiency, ~0.95-0.98 for gears)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insight: Higher gear ratio = More torque, Less speed (good for acceleration, hill climbing).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Lower gear ratio = Less torque, More speed (good for cruising, top speed).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Example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practice with a real example: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Given: — Engine speed: 4000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torque: 120 Nm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gear: 18 teeth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Driven gear: 54 teeth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Find: Output speed and torque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Calculate Gear Ratio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 = Ndriven / Ndriver = 54 / 18 = 3.0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Calculate Output Speed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ωout = ωin / GR = 4000 / 3.0 = 1333 RPM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Calculate Output Torque (assuming η = 0.96)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τout = τin × GR × η = 120 × 3.0 × 0.96 = 345.6 Nm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We've tripled the torque (120 → 346 Nm) while reducing speed to 1/3.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2: Transmission System Calculations (Slides 12-16, ~18 minutes)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Complete Transmission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 real vehicle transmission has multiple stages: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Power flow: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ENGINE → Torque: τengine, Speed: ωengine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CLUTCH → (When engaged, just passes power through)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GEARBOX → Gear ratio: GR_gearbox (e.g., 3.5 in 1st gear)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Speed: ωgearboxout = ωengine / GRgearbox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Torque: τgearboxout = τengine × GRgearbox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DIFFERENTIAL → Gear ratio: GR_diff (typically 3.5 to 4.5)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Speed: ωwheel = ωgearboxout / GRdiff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Torque: τwheel = τgearboxout × GRdiff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WHEELS → Convert torque to force: F = τwheel / rwheel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Overall Ratio = GRgearbox × GRdiff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calculate a complete example!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Complete Example - 1st Gear Acceleration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Scenario: Honda Civic accelerating in 1st gear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Given: — Engine torque: 145 Nm @ 4000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1st gear ratio: 3.6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Differential ratio: 4.1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radius: 0.32 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Transmission efficiency: 94%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Find: Force at road from one wheel (assuming 2WD, power to 2 wheels)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Torque after gearbox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τ_gearbox = 145 × 3.6 = 522 Nm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Torque after differential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τ_diff = 522 × 4.1 = 2,140 Nm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Torque per wheel (power to 2 wheels)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τ_wheel = 2,140 / 2 = 1,070 Nm per wheel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Apply efficiency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τwheelactual = 1,070 × 0.94 = 1,006 Nm per wheel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5: Force at road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 = τwheel / rwheel = 1,006 / 0.32 = 3,144 N per wheel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Total force (both drive wheels): ~6,300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That's enough to accelerate a 1,300 kg car at ~4.8 m/s²! (Good acceleration)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Practice Problem - You Try It!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Your turn! Try this: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Given: — Engine: 2000 RPM, 180 Nm torque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Transmission in 3rd gear, ratio = 1.8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Differential ratio = 4.3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radius = 0.30 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Efficiency = 95%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Calculate: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 per wheel (assume 2WD)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Force at road per wheel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Take 2 minutes. I'll show the solution after.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[Pause for student work]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Solution: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RPM = 2000 / (1.8 × 4.3) = 258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 per wheel = 180 × 1.8 × 4.3 × 0.95 / 2 = 660 Nm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Force per wheel = 660 / 0.30 = 2,200 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Designing Transmission Ratios -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Now let's flip the problem: HOW to choose gear ratios?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Two constraints define the extremes: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CONSTRAINT 1: Hill Climbing (determines 1st gear) — Must produce enough wheel torque to climb steepest slope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Calculation: F_required = m × g × sin(θ) + Rolling resistance + Drag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Work backwards: F → τwheel → τengine × Ratios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gives MINIMUM 1st gear ratio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CONSTRAINT 2: Top Speed (determines final gear) — At top speed, engine at redline (e.g., 6500 RPM)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speed must match top speed requirement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Calculation: ωwheel = vmax / r_wheel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This gives MAXIMUM top gear ratio (actually minimum value, around 0.7-1.0)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Intermediate gears: Spaced between these extremes to keep engine in optimal RPM range.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work through real design example...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Design Example - Small Commercial Vehicle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 Challenge: (Remember from Slide 6?)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Vehicle: 900 kg, wheel radius 0.28 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Engine: 38 Nm @ 4500 RPM (peak torque)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Differential ratio: 5.0 (typical for commercial vehicle)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Requirements: Climb 20° slope, 80 km/h top speed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DESIGNING 1st GEAR: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Force needed to climb 20° slope: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 = m × g × sin(20°) + F_rolling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 = 900 × 9.81 × 0.342 + (900 × 9.81 × 0.02)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 ≈ 3,020 + 177 = 3,200 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Torque needed at wheels (both drive wheels):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τwheel = F × rwheel = 3,200 × 0.28 = 896 Nm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Working backwards to find 1st gear ratio: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τwheel = τengine × GR1st × GRdiff × η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896 = 38 × GR_1st × 5.0 × 0.94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GR_1st = 896 / (38 × 5.0 × 0.94) = 5.0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DESIGNING 5th GEAR (top gear):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Top speed = 80 km/h = 22.2 m/s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Wheel RPM at top speed: ω_wheel = v / (2πr) = 22.2 / (2π × 0.28) = 12.6 rev/s = 757 RPM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Engine at redline: 6000 RPM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Overall ratio needed: GR_overall = 6000 / 757 = 7.93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Since differential = 5.0: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GR_5th = 7.93 / 5.0 = 1.59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Summary: — 1st gear: 5.0 (for hill climbing)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5th gear: 1.59 (for top speed)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Intermediate gears (2nd, 3rd, 4th): Geometrically spaced → ~3.5, ~2.5, ~2.0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You've just designed a transmission! —--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3: Clutch System (Slides 17-19, ~10 minutes)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Why Do We Need a Clutch?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we look inside the gearbox, we need to understand the CLUTCH.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problem: Engine must keep running (~800 RPM idle) even when vehicle is stopped (wheels at 0 RPM).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Without clutch: — Stop vehicle → Wheels stop → Transmission locked → Engine forced to stop → Engine stalls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 start moving: Can't shift gears while engine running (gears spinning at different speeds would clash!)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Clutch solution: Temporary disconnection device between engine and transmission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Allows engine to run while vehicle stopped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Allows gear shifting (disconnect, shift, reconnect)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Allows smooth engagement (gradually connect engine to wheels)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Operation: — Clutch engaged (pedal released): Engine connected to transmission → Power flows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Clutch disengaged (pedal pressed): Engine disconnected → Engine free, wheels free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Single-Plate Clutch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SINGLE-PLATE CLUTCH (most common in cars)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Components: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Flywheel: — Attached to engine crankshaft (always rotating with engine)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Heavy disc, smooths engine power pulses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Provides friction surface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Clutch Disc (Friction Disc): — Friction material both sides (like brake pads)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Splined hub connects to transmission input shaft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 slide on splines but rotates with input shaft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Pressure Plate: — Spring-loaded plate that presses clutch disc against flywheel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Provides clamping force via diaphragm spring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Release Bearing: — Pushes on diaphragm spring when clutch pedal pressed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Releases clamping force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OPERATION: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Engaged (pedal released): — Diaphragm spring pushes pressure plate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Clutch disc clamped between flywheel and pressure plate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Friction connects engine to transmission → Power flows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Disengaged (pedal pressed): — Release bearing pushes diaphragm spring center inward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Pressure plate pulls back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Clutch disc free → Engine and transmission disconnected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Clutch Engagement - The Friction Zone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 'biting point' or 'friction zone':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When you slowly release clutch pedal: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Fully pressed: No contact → 0% torque transfer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Friction zone (~20-40% release): Partial contact → 20-80% torque transfer (slipping)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Fully released: Full clamping → 100% torque transfer (locked)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slipping is useful: — Starting from standstill: Engine at 1500 RPM, wheels at 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Gradual engagement lets speeds synchronize smoothly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Prevents stall or violent jerk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Torque capacity: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Tmax = μ × N × Fclamp × R_mean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Where: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μ = friction coefficient (~0.3-0.4)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 = number of friction surfaces (2 for single-plate)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F_clamp = clamping force from spring (~3000-5000 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R_mean = mean radius of friction surface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Typical clutch capacity: 250-400 Nm (must exceed peak engine torque!)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#### Part 4: Manual Gearbox Internals (Slides 20-24, ~12 minutes)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Manual Transmission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look inside a manual transmission: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Main Components: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Input Shaft: — Connected to clutch disc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Receives power from engine (when clutch engaged)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Output Shaft: — Delivers power to differential/wheels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Parallel to input shaft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Gear Sets: — Multiple pairs of gears, always meshing (constant mesh design)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Different sized pairs for each gear ratio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Example: 1st gear pair (20T/60T), 2nd gear pair (25T/50T), etc.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Synchronizers (Synchromesh): — Allow smooth gear engagement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Match speeds before locking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Shift Forks &amp; Mechanism: — Moved by gear lever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synchronizers to select gears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Principle: Gears are ALWAYS meshing and spinning. Selection is done by locking the right gear to the output shaft.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Constant Mesh Gearbox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CONSTANT MESH principle (all modern manuals):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Setup: — Input shaft has gears fixed to it (rotate with input shaft always)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 shaft has gears that free-wheel on bearings (not locked)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Synchronizers on output shaft can lock selected gear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Example - Selecting 2nd Gear: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Before selection (in neutral): — Input shaft spinning at engine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gears on input shaft spinning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 shaft gears spinning (driven by meshing input gears) BUT freewheeling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 shaft stationary (no gear locked)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Shifting to 2nd: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Press clutch → Disconnect engine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Move shift lever → Shift fork moves 2nd gear synchronizer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Synchronizer matches speeds → Friction brings output shaft to 2nd gear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Synchronizer locks → 2nd gear now locked to output shaft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Release clutch → Power flows: Engine → Input shaft → 2nd gear pair → Output shaft → Wheels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Result: 2nd gear ratio now active!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Synchromesh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SYNCHROMESH = Synchronizer Mechanism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it solves: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When shifting (e.g., from 2nd to 3rd):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3rd gear on output shaft spinning at one speed (freewheeling)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 shaft spinning at different speed (locked to 2nd gear)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Can't just lock them together → Would clash, grind gears!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Synchromesh operation: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Stage 1: Synchronizing (friction cone contact) — Shift fork pushes synchronizer sleeve toward 3rd gear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Friction cone on synchro ring contacts friction cone on gear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Friction gradually matches speeds (synchro ring rotates slightly)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Stage 2: Locking (dog teeth engagement) — Once speeds matched (synchro ring aligns)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Continued push slides sleeve further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Dog teeth on sleeve engage dog teeth on gear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Gear now locked to output shaft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Benefits: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Smooth, clash-free shifting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No need to match speeds manually (like old non-synchro boxes)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Fast shifts possible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Modern transmissions: All forward gears have synchros (reverse often doesn't, hence the 'crunch' if you don't stop completely!)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Power Flow Analysis - 1st Gear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trace power flow with 1st gear engaged: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Power Path: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→ Clutch (engaged) → Input shaft spinning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Input shaft → 1st gear on input shaft (fixed to shaft) → 1st gear spinning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1st gear (input) meshes with 1st gear (output) → 1st gear on output shaft driven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1st gear (output) → Synchronizer locked → Output shaft forced to rotate with 1st gear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Output shaft → Differential → Wheels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Meanwhile: — All other gears on input shaft also spinning (constant mesh)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 other gears on output shaft freewheeling (not locked)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Only 1st gear pair is transmitting power (because only 1st is locked to output shaft)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Shift to 2nd: — Unlock 1st synchronizer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Lock 2nd synchronizer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Now 2nd gear pair transmits power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Elegant design: Simple mechanical selection determines which ratio is active.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Designing a Complete 5-Speed Manual Transmission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design a complete transmission system for a passenger car: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Vehicle Specifications: — Mass: 1,200 kg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Engine: Peak torque 180 Nm @ 4000 RPM, Redline 6500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radius: 0.32 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Performance requirements: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0-100 km/h: &lt;10 seconds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Top speed: 180 km/h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Climb 15° slope in 1st gear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1: Determine Differential Ratio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Choose: GR_diff = 4.1 (typical for passenger car)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2: Calculate 1st Gear Ratio (hill climbing requirement)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Force for 15° slope: F = 1200 × 9.81 × sin(15°) + rolling ≈ 3,200 N — Torque at wheels: τwheel = 3200 × 0.32 = 1,024 Nm — Required GR1st: 1024 = 180 × GR_1st × 4.1 × 0.95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GR_1st = 1024 / (180 × 4.1 × 0.95) = 1.46... round to 3.5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3: Calculate 5th Gear Ratio (top speed)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Top speed 180 km/h = 50 m/s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RPM: ω_wheel = 50 / (2π × 0.32) = 24.8 rev/s = 1,490 RPM — Engine at 6500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Overall ratio: 6500 / 1490 = 4.36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GR_5th = 4.36 / 4.1 = 1.06 ≈ 1.0 (close to 1:1, common for 5th gear)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STEP 4: Design Intermediate Gears (geometric progression)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2nd: 2.4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3rd: 1.7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4th: 1.3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Final Ratios: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Gear | Ratio | Overall (with diff)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|------|-------|---------------------|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1st  | 3.5   | 14.35              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2nd  | 2.4   | 9.84               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3rd  | 1.7   | 6.97               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4th  | 1.3   | 5.33               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5th  | 1.0   | 4.10                |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| Reverse | 3.8 | 15.58              |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Analyzing the Design - RPM Drop During Shifts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verify our design by checking RPM at different vehicle speeds: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At 100 km/h (27.8 m/s): — Wheel RPM = 27.8 / (2π × 0.32) = 828 RPM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Engine RPM in each gear: — 1st gear: 828 × 14.35 = 11,882 RPM → Way over redline! (Can't reach 100 km/h in 1st)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2nd gear: 828 × 9.84 = 8,147 RPM → Over redline (Can't sustain 100 km/h in 2nd)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3rd gear: 828 × 6.97 = 5,771 RPM → Below redline ✓ (Can reach 100 in 3rd)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4th gear: 828 × 5.33 = 4,413 RPM → Good RPM ✓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5th gear: 828 × 4.10 = 3,395 RPM → Optimal for cruising ✓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Shift points for acceleration (at redline 6500 RPM): — 1st → 2nd shift at: 6500 / 14.35 = 453 wheel RPM = 57 km/h — 2nd → 3rd shift at: 84 km/h — 3rd → 4th shift at: 112 km/h — 4th → 5th shift at: 147 km/h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RPM drop per shift: — 1st → 2nd: 6500 → (6500 × 9.84/14.35) = 4,458 RPM (drop 2042 RPM)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2nd → 3rd: 6500 → 4,603 RPM (drop 1897 RPM)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 is good: Smooth progression, keeps engine in power band during acceleration!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Key Takeaways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Let's consolidate what you've mastered today: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WHY TRANSMISSIONS: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Engine operates in narrow RPM range (1500-6500 RPM), wheels need 0-1500 RPM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Transmission multiplies torque at low speeds, allows high speed at top end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Keeps engine in optimal BSFC zone for fuel economy (Session 6 connection!)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GEAR RATIO MATHEMATICS: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GR = Ndriven / Ndriver = ωin / ωout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τout = τin × GR × η (torque multiplication)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ωout = ωin / GR (speed reduction)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Overall ratio = GRgearbox × GRdifferential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CLUTCH SYSTEM: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Disconnects engine from transmission for gear shifting and stopping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Single-plate clutch: Flywheel + Friction disc + Pressure plate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Friction zone allows smooth engagement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MANUAL GEARBOX: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Constant mesh design: All gears always meshing, select by locking to output shaft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Synchromesh matches speeds for smooth, clash-free shifting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Power flows through selected gear pair only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TRANSMISSION DESIGN: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1st gear ratio determined by hill climbing requirement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Top gear ratio determined by top speed and redline RPM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Intermediate gears spaced geometrically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You can now design and analyze complete manual transmissions!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Connection to 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Today we mastered manual transmissions – driver controls gear selection.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Next Session (Session 8): Advanced Transmissions &amp; Powertrain Alternatives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1: Automatic Transmissions — Torque converter (replaces clutch)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Planetary gear sets (compact, multiple ratios)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Hydraulic/electronic control (no clutch pedal!)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2: Modern Transmission Technologies — CVT (Continuously Variable Transmission) – infinite ratios!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DCT/DSG (Dual-Clutch Transmission) – fast shifts, no power loss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AMT (Automated Manual Transmission) – robotized manual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3: Differential &amp; Drivetrain — How differential allows wheels to spin at different speeds (cornering)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FWD vs RWD vs AWD configurations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Part 4: Electric Powertrains (Preview) — Electric motors: Instant torque from 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 EVs even need multi-speed transmissions? (Mostly single-speed!)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Hybrid architectures (Toyota Prius example)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Connection: Manual transmission fundamentals (gears, ratios, torque multiplication) apply to ALL transmission types – today's foundation supports everything!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📊 PPT DESIGN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Visual Elements to Include: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Assignment (Due before Session 8):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1: A vehicle has the following specifications: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Mass: 1,500 kg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Engine peak torque: 200 Nm @ 3500 RPM, Redline: 6000 RPM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Wheel radius: 0.33 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Must climb 18° slope from standstill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Top speed requirement: 150 km/h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Design a 5-speed manual transmission: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Calculate required 1st gear ratio (assume differential ratio = 4.2, efficiency = 95%)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Calculate required 5th gear ratio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c) Design intermediate gear ratios (2nd, 3rd, 4th) using geometric progression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d) At what vehicle speed should you shift from 2nd to 3rd if accelerating at redline?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2: For a gear pair with driver gear (25 teeth) and driven gear (75 teeth):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Calculate gear ratio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If input is 3600 RPM and 150 Nm torque, find output RPM and torque (assume 96% efficiency)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c) If driver gear has pitch circle diameter 80 mm, what is driven gear diameter?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Problem 3: Explain in your own words: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a) Why does engine RPM drop when you shift to a higher gear at constant vehicle speed?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b) What would happen if you tried to shift from 5th to 1st at 100 km/h? (Hint: Calculate engine RPM)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c) Why is synchromesh necessary in modern transmissions?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Bonus: Research and sketch the gear arrangement (number of teeth for each gear pair) for any real car's transmission. Calculate the overall ratios and verify against published specs.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Discussion Questions for Q&amp;A: — Why are modern cars moving to 6, 7, 8 or even 10-speed transmissions?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are the advantages and disadvantages of manual vs automatic transmissions?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do motorcycles achieve 6 speeds in such a small gearbox? (Sequential shifting)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is double-clutching and why was it necessary in old trucks?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30 minutes for your questions. —--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Consistency: Maintain professional engineering template from Sessions 1-6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Technical Professionalism: Clear gear diagrams, cutaway illustrations, calculation worksheets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Color coding: — Blue for input shaft and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Orange for output shaft and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Green for power flow arrows (when gear engaged)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Gray for freewheeling components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Font sizes: Calculation steps must be clear (18-20pt minimum)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2: Engine vs wheel mismatch problem – Establishes need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10: Gear ratio formulas – Core mathematics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16: Complete design example – Real application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21: Constant mesh operation – Understanding internals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25: Full 5-speed design – Integration of all concepts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28: Summary – Comprehensive reference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8-9: Animated gear meshing showing speed reduction and torque multiplication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18: Clutch engagement/disengagement animation (pressure plate movement)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21: Synchronizer sliding and locking animation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23: Power flow highlighting (show power path lighting up in one gear)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color highlighting to trace power flow through transmission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Gear diagrams: Clear spur gear illustrations with teeth counts labeled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Cutaway photos: Real manual transmission cutaways (ZF, Getrag, etc.)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 photos: Real clutch assembly, synchromesh, shift forks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Calculation worksheets: Step-by-step calculations with boxes and arrows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Comparison tables: Gear ratio comparisons, Honda Civic example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Power flow diagrams: Show which components rotate in each gear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🎯 INSTRUCTOR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Safety/Ethics Notes: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Problem-driven: Start with mismatch between engine and wheel needs (why?)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Mathematics-heavy: This is calculation-intensive – work through examples step-by-step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Build from simple to complex: Single gear pair → Complete transmission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Real-world validation: Compare designs to actual vehicles (Honda Civic)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Hands-on feel: If possible, bring real gears, clutch disc, synchromesh to show students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1: "Why does higher gear ratio mean more torque but lower speed? Shouldn't 'higher' mean faster?"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Clarify terminology: "Higher gear ratio" (e.g., 3.5) means more reduction, not higher gear number. "5th gear" has LOWER ratio (~1.0) than "1st gear" (3.5). Emphasize: Gear ratio = reduction ratio. Higher reduction = more torque, less speed.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2: "In calculations, when do I multiply and when do I divide by gear ratio?"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Always work from definitions: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Speed: ωout = ωin / GR (divide to reduce speed)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Torque: τout = τin × GR (multiply to increase torque)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Make students write this on every problem.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3: "Why are all gears meshing? Doesn't that cause power loss and noise?"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Explain constant mesh advantages: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Smoother shifting (synchro can match speeds before locking)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Stronger (gears always engaged, no shock loading)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Modern design minimizes losses through good bearings and lubrication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Trade-off: Slight efficiency loss (~2-4%) vs improved reliability and shift quality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Challenge 4: "I don't understand how synchronizer works – there are so many parts!"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How to address: Simplify to two stages: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Friction stage: Cone surfaces match speeds through friction (like mini-clutch)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Locking stage: Once matched, dog teeth engage mechanically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 animation or physical model if available.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short: — Condense clutch details (Slide 19) – just show operation, skip torque capacity calculation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Combine Slides 20-21 (gearbox overview and constant mesh operation)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Move synchromesh details (Slide 22) to assignment reading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time on shift mechanism (Slide 24)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If running long: — Move complete design example (Slide 25) calculations to assignment (just show results)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Defer RPM drop analysis (Slide 26) to Q&amp;A discussion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 time on Honda Civic comparison (Slide 27)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Core content (must cover): — Slides 2-3 (Why transmission needed – critical motivation)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8-11 (Gear ratio fundamentals – absolute core)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13 (Complete calculation example – must work through)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 16 (Design example – application)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17-18 (Clutch basics)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Slides 20-21 (Constant mesh operation)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2: Ask "Has anyone driven a car without enough power for a hill? What happens?" (Engine bogs down, need lower gear)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11: Work through calculation together on board – pause between steps, ask students for next step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14: Give students 2 minutes to try problem – competitive element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16: Interactive design – give parameters, ask students to estimate 1st gear ratio before calculation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Slide 23: Trace power flow together – point at diagram, ask "where does power go next?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Q&amp;A: Be ready for questions about: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Sequential gearboxes: How motorcycles and race cars shift (linear pattern, no searching for gears)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Dog-leg gearboxes: Why some sports cars have 1st gear in unusual position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Gear whine: Why race cars and straight-cut gears make noise (no helical teeth)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Reverse gear: Why it doesn't have synchro (crashes if you don't stop first)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Clutch abuse: Riding clutch (partial engagement) causes wear, overheating, premature failure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Money shifting: Accidentally shifting to wrong gear (e.g., 2nd instead of 4th) can over-rev engine → catastrophic damage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Maintenance: Transmission fluid change intervals, clutch replacement indicators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Driving efficiency: Proper gear selection saves fuel – connection to BSFC maps (Session 6)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✅ Session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Students leave able to: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Explain need for transmission in matching engine characteristics to wheel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Calculate gear ratios and analyze effect on torque and speed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Describe clutch construction and operation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Explain manual gearbox construction (constant mesh, synchromesh)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Design transmission gear ratios for given performance requirements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Analyze power flow through manual transmission in any gear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Most importantly: Students understand the complete manual transmission system as a mechanical solution to the engine-wheel mismatch problem, can perform gear ratio calculations confidently, and can design transmissions for real vehicle requirements.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  <a:r>
              <a:t>📝 ADDITIONAL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1">
                <a:solidFill>
                  <a:srgbClr val="2E5090"/>
                </a:solidFill>
              </a:defRPr>
            </a:pPr>
            <a:r>
              <a:t>Connection to Electronics: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3: Calculated power requirements → Session 7 shows how transmission delivers that power at different speeds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4: Engine torque curves → Session 7 uses those to determine gear ratios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Session 6: BSFC maps and optimal operating zones → Session 7 shows how transmission keeps engine in those zones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Throughout session, mention limitations of manual transmission: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Driver must shift (attention, skill required)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Shift interrupts power delivery (acceleration pause)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Only discrete ratios available (5-6 options)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Session 8 will show how modern transmissions address these limitations.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Sports cars: Close-ratio gearboxes (smaller ratio steps) keep engine in power band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Trucks: Wider 1st gear (5.0+) for heavy loads and steep hills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Economy cars: Taller gearing (lower numerical ratio) for better highway fuel economy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Track days: How proper gear selection improves lap times (staying in power band)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Bring real gears: Show two gears meshing, count teeth, calculate ratio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Clutch disc: Show friction material, splined hub, explain wear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Synchromesh unit: Disassembled synchro showing friction cone and dog teeth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Shift mechanism: Model or actual linkage showing how gear lever connects to forks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These make abstract concepts concrete and memorable.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Manual transmission sensors: Gear position sensor (for ECU to know current gear)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Clutch position sensor: For engine torque management during shifts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Rev-matching systems: Modern manuals with auto-blip on downshift (electronics controlling throttle)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Hill start assist: Uses sensors and brakes to prevent rollback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Manual transmissions are increasingly electronically assisted even though mechanically operated!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4472C4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End of Session 7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