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2: Tires &amp; Friction Fundamentals'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Tires &amp; Friction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2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back. Last session, we calculated the forces a vehicle must overcome. Today, we answer the next critical question: How do tires actually provide those forces?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Recap &amp; The Missing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Last time, we calculated that our Honda Civic at 100 km/h needs 848 N of force to overcome resistance. But here's what we didn't answer: Where does that force come from?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engine generates torque, the transmission multiplies it, but ultimately, all that power must become force at one place: the contact patch between tire and road.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tiny area – about the size of your hand – is where physics meets the road. Literally.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Four Contact Patches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Think about this. Right now, your entire car – all 1,300 kg – is supported by four patches of rubber, each roughly 15cm × 20cm. That's it. Four areas smaller than this textbook.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Through these patches: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acceleration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braking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cornering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weight transfer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Everything depends on tire-road friction. Today, we master this.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Maximum Force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a question that will drive everything today: Why can't tires provide unlimited force?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I asked you to accelerate at 5 m/s², you might do it easily. But if I asked for 15 m/s², your tires would just spin. Why? What's the limit?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answer is in the physics of friction. Let me show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What's Inside a Tire?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talk friction, let's understand what we're working with. A modern tire is engineering marvel. Let me show you what's inside.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[Point to diagram layers]: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Tread: Rubber that contacts road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Belt: Steel or fabric reinforcement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Carcass: Fabric plies that give 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Bead: Steel wire that seals to rim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main types: Radial (modern standard) vs Bias-ply (older, some specialty uses).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Radial vs Bias-Ply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Radial tires (what you drive on):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Cords run radially (perpendicular to direction of travel)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heat dissipation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Longer life, better fuel economy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 rolling resistance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Bias-ply tires (rare today):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Cords run at angles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Stiffer sidewalls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Still used in some agricultural and aircraft applications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this course, assume radial unless stated otherwise.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Tire Nomenclature - Reading the Sidewall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you see 205/55 R16 91V: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205: Width in mm (205 mm)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55: Aspect ratio (height is 55% of width)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R: Radial construction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16: Wheel diameter in inches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91: Load index (615 kg capacity)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V: Speed rating (up to 240 km/h)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Engineers use this to select appropriate tires for vehicle loads and speeds.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Quick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Decode this: 245/40 R18 97Y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[Pause for students]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245 mm wide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Height = 40% of 245 = 98 mm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Radial, 18-inch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730 kg load capacity per tire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Speed rated to 300 km/h (performance tire)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Moving on to forces.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Normal Force &amp; Load Distribution (Slides 11-14, ~12 minutes)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Normal Force - The Foundation of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a critical concept from physics: The maximum friction force depends on the normal force.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Normal force (N) is the force pressing the tire into the road. For a stationary car on flat ground: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 = Weight on that tire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it's not always equal on all four tires. Load distribution matters.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Load Distribution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cars are front-heavy (engine in front). Typical distribution: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 axle: 60% of weight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axle: 40% of weight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our 1,300 kg Honda Civic: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weight (W) = 1,300 × 9.81 = 12,753 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 axle: 0.60 × 12,753 = 7,652 N (3,826 N per tire)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Rear axle: 0.40 × 12,753 = 5,101 N (2,551 N per tire)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asymmetry affects braking, acceleration, and handling. We'll see why in later sessions.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Calculation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calculate normal force for each tire: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Front tires (assuming equal left/right):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N_front = 7,652 N / 2 = 3,826 N per tire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Rear tires: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N_rear = 5,101 N / 2 = 2,551 N per tire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 these numbers. They determine maximum friction force at each tire.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Load Transfer Teaser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note: This is for static conditions. When the car accelerates, brakes, or turns, weight transfers between tires. We'll dive deep into that in Session 9 (Vehicle Dynamics).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today, assume static loading. But keep in mind: real-world normal forces change dynamically.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Friction Fundamentals (Slides 15-18, ~15 minutes)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Friction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 it is. The equation that governs every force a tire can generate: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F_friction = μ ×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F_friction = maximum friction force (N)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μ (mu) = coefficient of friction (dimensionless)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 = normal force (N)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Simple, powerful, fundamental. Let me break down each part.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Coefficient of Friction (μ)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coefficient of friction depends on two surfaces in contact: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Values: — Dry asphalt + rubber: μ ≈ 0.8 - 1.0 — Wet asphalt + rubber: μ ≈ 0.5 - 0.7 — Ice + rubber: μ ≈ 0.1 - 0.2 — Racing slicks on track: μ ≈ 1.2 - 1.5 (hot)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Higher μ = more grip = more force available.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Note: These are simplified. Reality is complex (temperature, slip angle, etc.). But for our calculations, these 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Maximum Tire Force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calculate maximum force from one front tire on dry asphalt: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Given: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N_front = 3,826 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μ_dry = 0.9 (good tire, dry road)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F_max = μ ×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F_max = 0.9 × 3,826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F_max = 3,443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absolute maximum force this tire can provide in any direction – braking, accelerating, or cornering.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Exceed this, and the tire breaks traction (slides).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All Four Tires Combined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Maximum total force from all four tires: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Front: 2 × 3,443 N = 6,886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Rear (using N_rear = 2,551 N): 2 × (0.9 × 2,551) = 4,592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available friction force = 11,478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Compare this to Session 1: At 100 km/h on flat road, we only needed ~465 N to maintain speed (rolling + drag). We have massive margin.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what about acceleration? Braking? Cornering at the limit? That's where it gets interesting.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Tire Slip &amp; Force Generation (Slides 19-20, ~6 minutes)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Slip - The Surprising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something that surprises most people: Tires must slip slightly to generate force.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[Show graph of friction force vs slip %]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0% slip = no force (tire rolling freely)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5-15% slip = maximum force (optimal)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100% slip = wheel locked or spinning (lower force, no control)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 prevents wheel lock (keeps slip in optimal range)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Traction control prevents wheelspin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Skilled drivers 'feel' the limit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We'll use this in future sessions.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Longitudinal vs Lateral Slip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types of slip: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Longitudinal slip: Forward/backward (acceleration/braking)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rotating faster or slower than vehicle speed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Lateral slip (slip angle): Sideways (cornering)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Direction tire points vs direction it travels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Both generate force. Both can't be maximized simultaneously. That leads us to the friction circle.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5: The Friction Circle (Slides 21-22, ~5 minutes)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Friction Circle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one of the most important concepts in vehicle dynamics. Let me show you why.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[Show friction circle]: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Radius = maximum friction force (μN)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X-axis = longitudinal force (braking/accelerating)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Y-axis = lateral force (cornering)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Rule: The resultant force vector must stay inside the circle.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does this mean?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Complete Example - Emergency Braking While Turning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apply everything. Emergency scenario: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Situation: Front tire, dry road, turning + braking simultaneously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 = 3,826 N (we calculated this)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μ = 0.9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F_max = 3,443 N (circle radius)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Currently using 2,000 N for cornering (lateral)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Question: How much braking force can you add without losing grip?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Using Pythagorean theorem (forces are perpendicular):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Flateral² + Fbraking² ≤ F_max²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(2,000)² + F_braking² ≤ (3,443)²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F_braking² ≤ 11,854,249 - 4,000,000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F_braking ≤ 2,801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Answer: Maximum 2,801 N of braking force available. Beyond that, tire slides.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Summary - The Tire Force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complete picture: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Weight (mg) 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Normal Force (N = portion of weight) 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Friction (F_max = μN) 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Available Force (can be longitudinal, lateral, or combined)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chain determines every performance limit: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fast you can accelerate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quickly you can stop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fast you can corner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Master this, and you understand vehicle limits.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Session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now know: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1: Forces the vehicle must overcome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 (today): Forces the tires can provide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session: Converting force to torque and power. We'll answer: How much engine power do we actually need?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That's when everything clicks together.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Practice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maximum braking force for all four tires 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Dry asphalt (μ = 0.9)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Wet asphalt (μ = 0.6)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Compare to total vehicle weight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Using friction circle, if a tire is using 60% of maximum friction for cornering, what percentage is available for braking?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do performance cars have wider tires? (Hint: Think about contact patch and normal force distribution)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Show all work. Due next session.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Q&amp;A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Questions to ponder: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tire warmers help race cars?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are winter tires different from summer tires?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the physics behind drifting?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ABS actually work at the friction level?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Include Real Images: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Tire cross-sections: Use clean technical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circle: Make it prominent and clear (Slide 21-22)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Force vectors: Color-code (green = within limit, red = exceeds)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 (Contact patches) - Visual impact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 (Friction equation) - Core formula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21-22 (Friction circle) - Most important concept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 (Summary chain) - Complete understanding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21: Animate friction circle with example vectors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Step-by-step calculation reveal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Force diagrams: Build elements as you explain them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Tire tread patterns (Slide 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 tire sidewall (Slide 9)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Contact patch under load (Slide 3)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Race car vs regular tire comparison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Engagement Points: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 on Session 1: Explicit connections throughout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Hands-on concept: Friction is tangible, relatable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circle: Spend extra time here - it's crucial for understanding all dynamics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message: Implicit throughout (wet roads, worn tires)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μ vs N: Emphasize μ is property, N is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circle: Practice with multiple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Slip concept: Counterintuitive that slip is needed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circle (Slides 21-22): Don't rush - critical concept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skip Slide 10 exercise if running short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 (slip) can be brief with promise to revisit in dynamics module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5: Ask for examples of losing traction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Work through together on board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27: Can start in class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Read tire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Calculate normal forces on tires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Apply friction equation (F = μN)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Understand friction circle for combined forces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factors affecting tire grip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outcome: Students understand that tires are the performance bottleneck — everything else (engine, brakes, suspension) is limited by tire-road friction.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Session 3 (From Forces to Power Requirements)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