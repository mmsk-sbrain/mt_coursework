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---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marp: true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theme: engineering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paginate: true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math: katex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header: 'Session 8: Transmission Systems - Part 2 &amp; Powertrain Alternatives'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472C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Transmission Systems - Part 2 &amp; Powertrain Alternatives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Session 8 | Automotive Vehicles (AEL ZC441)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Welcome to Session 8 – the final session of our Powertrain Systems module. Today we explore modern transmission technologies and look ahead to the future: electric powertrains.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The Evolution of Transmissions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Let's trace the evolution: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Session 7 (Last week): Manual transmission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Driver controls gear selection (skill required)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Power interruption during shifts (clutch disengagement)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5-6 discrete gear ratios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Advantages: Driver control, simplicity, lower cost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Disadvantages: Requires skill, interrupted power delivery, tiring in traffic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Today's technologies solve these limitations: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1. AUTOMATIC TRANSMISSION (1940s+)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No clutch pedal, auto gear selection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Smooth, uninterrupted power (torque converter)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2. CVT (Continuously Variable, 1990s+)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INFINITE gear ratios (not discrete!)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Always optimal ratio for efficiency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3. DCT/DSG (Dual-Clutch, 2000s+)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Fast shifts (&lt;100ms) with no power loss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Combines manual efficiency with automatic convenience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4. ELECTRIC POWERTRAINS (2010s+)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Often SINGLE-SPEED (no multi-gear transmission needed!)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Instant torque from 0 RPM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Today you'll understand all of them.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The Differential Puzzle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But before modern transmissions, let me show you a problem we haven't solved yet: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Scenario: Car turning a corner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[Show diagram]: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Inside wheel (left, turning left): Travels shorter distance, needs to spin SLOWER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Outside wheel (right): Travels longer distance, needs to spin FASTER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Problem: If both wheels on same axle connected to same transmission output shaft (rigidly), they'd be FORCED to spin at same speed!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Result: — Inside wheel would slip/drag (forced to spin too fast)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Outside wheel would slip (forced to spin too slow)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Tire wear, poor handling, binding forces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Solution: A device called the DIFFERENTIAL – allows two wheels to spin at different speeds while both receive power.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We'll understand how this mechanical marvel works today!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Why This Matters for Electronics Engineers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Why do automotive electronics engineers need to understand transmissions?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Because modern transmissions are electronically controlled: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Automatic Transmission: — TCU (Transmission Control Unit) controls shifts based on: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Throttle position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Vehicle speed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Engine load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Driver mode selection (Eco / Sport / Manual)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Solenoid-controlled valves manage hydraulic pressure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CVT: — Stepper motor controls pulley ratio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ECU optimizes for target engine RPM (BSFC sweet spot!)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DCT/DSG: — Dual clutches electronically actuated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Predictive shift logic (pre-selects next gear)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Electric Powertrains: — Inverter controls motor speed and torque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Battery Management System (BMS)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Regenerative braking control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You'll design these control systems – must understand the mechanics you're controlling!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Real-World Scenario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Let me give you three very different vehicle scenarios: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Scenario A: Luxury Sedan (Mercedes S-Class)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Requirement: Smooth, effortless driving in city traffic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Challenge: Frequent stop-start, must be comfortable, imperceptible shifts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Question: What transmission type is best?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Scenario B: Performance Sports Car (Porsche 911)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Requirement: Fastest possible acceleration, minimal shift time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Challenge: Track use, aggressive driving, maximum performance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Question: What transmission technology?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Scenario C: City Electric Car (Nissan Leaf)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Electric motor produces 320 Nm torque from 0 RPM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Top speed: 140 km/h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Question: How many gears do we need?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By the end of today: You'll be able to select the optimal transmission for each scenario and justify your choice with engineering reasoning.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Automatic Transmission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AUTOMATIC TRANSMISSION – the most popular transmission type worldwide.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Key Difference from Manual: — No clutch pedal (torque converter replaces clutch)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Automatic gear selection (driver doesn't shift, TCU does)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Planetary gear sets (instead of parallel shaft gears like manual)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Two Main Components: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Torque Converter – Fluid coupling for smooth power transfer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Planetary Gear Sets – Compact gears providing multiple ratios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Let's understand each.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Torque Converter – The Fluid Clutch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TORQUE CONVERTER replaces the clutch in automatic transmissions.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Three Main Components: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1. Impeller (Pump): — Connected to engine crankshaft (always spinning with engine)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Centrifugal pump that throws transmission fluid outward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2. Turbine: — Connected to transmission input shaft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Receives fluid from impeller → Spins → Powers transmission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3. Stator: — Stationary (or one-way clutch)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Redirects fluid flow from turbine back to impeller efficiently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Key function: Provides TORQUE MULTIPLICATION!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How It Works: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Vehicle Stopped (Engine Idling): — Impeller spinning (engine running)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Turbine stationary (brakes holding vehicle)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Fluid circulates but turbine doesn't spin (stator redirects flow)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No rigid connection → Engine doesn't stall!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Accelerating: — Driver releases brake, presses accelerator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Engine speeds up → Impeller pumps more fluid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Turbine starts spinning → Transmission engages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Stator redirects fluid → Torque multiplication (~2-2.5x at stall!)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Cruising (Lockup): — Lockup clutch engages (mechanical connection)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Eliminates fluid slippage → Improved efficiency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Acts like rigid coupling (like manual clutch fully engaged)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Torque Converter Performance Characteristics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Torque Converter Performance: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Torque Multiplication: — At stall (0 speed): Torque multiplication ~2.0-2.5x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As turbine speeds up: Multiplication decreases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At coupling point (~90% impeller speed): Multiplication = 1.0x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Efficiency: — At stall: ~0% efficient (all energy creating fluid motion)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At coupling: ~85-90% efficient (fluid slippage losses)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With lockup clutch: ~98% efficient (mechanical connection)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Why Lockup Clutch? — Above ~40-50 km/h (cruising): Lockup engages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Eliminates slippage → Better fuel economy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Modern autos lock up as early as 2nd or 3rd gear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Trade-off: — Torque converter provides smoothness and torque multiplication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But: Less efficient than manual clutch (even with lockup)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This is why autos traditionally had worse fuel economy than manuals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Planetary Gear Sets – Compact Multi-Ratio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PLANETARY GEAR SET – the heart of automatic transmission.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Components: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Sun Gear (center, small gear)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Planet Gears (typically 3-4 small gears meshing with sun and ring)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Planet Carrier (holds planet gears, can rotate)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Ring Gear (outer gear, internal teeth, meshes with planets)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The Magic: By holding one component stationary and driving another, you get different ratios!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Example Ratios: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Configuration 1: 1st Gear (Reduction ~2.5:1)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Input: Sun gear (from torque converter)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Output: Carrier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Held: Ring gear (clutch/brake holds it stationary)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Planets walk around inside ring → Carrier rotates slowly → Speed reduction, torque multiplication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Configuration 2: Direct Drive (1:1 ratio)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Input: Sun gear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Output: Carrier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Locked: All components locked together (clutches)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Entire set rotates as one unit → No reduction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Configuration 3: Reverse (~2:1 reduction, opposite direction)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Input: Ring gear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Output: Carrier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Held: Sun gear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Carrier rotates opposite direction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Advantages: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Compact (coaxial, nested design)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Multiple ratios from single gear set (by changing what's held/driven)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Smooth (always in mesh, no shift shock like manuals)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Real transmissions: Use 2-3 planetary sets to achieve 6-10 speeds!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Shift Control – Hydraulics + Electronics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How does automatic transmission shift gears?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Shift Mechanism: — Different gear ratios achieved by engaging/disengaging clutches and brakes (bands)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These are hydraulically actuated (pressurized ATF – Automatic Transmission Fluid)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Control System: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Traditional (Pre-1990s): Purely Hydraulic — Governor (centrifugal valve) senses speed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Modulator senses throttle position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Hydraulic logic circuits determine shift points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Problem: Fixed shift logic, not adaptive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Modern (1990s+): Electronic Control — TCU (Transmission Control Unit) – Dedicated ECU for transmission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Sensors: — Transmission input speed (turbine speed)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Output speed (vehicle speed)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Throttle position (TPS)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Transmission fluid temperature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Gear position (PRNDL sensor)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Actuators: Solenoid valves control hydraulic pressure to clutches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Shift Logic: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TCU monitors speed and throttle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Determines optimal gear (based on shift map programmed in ECU)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Energizes solenoid → Opens valve → Hydraulic pressure engages clutch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Smooth shift achieved by modulating pressure (ramp up/down)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Modern Features: — Adaptive shift logic: Learns driver behavior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Driver modes: Sport (shift at higher RPM), Eco (shift early for economy)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Manual mode: Driver controls shifts (via paddles or shifter)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Skip shifts: 1st → 3rd → 6th (intelligent skipping)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This is where electronics meets mechanics!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Modern Multi-Speed Automatics (8, 9, 10 speeds!)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Evolution: More Speeds = Better Efficiency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Historical: — 1950s-1980s: 3-speed autos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1990s-2000s: 4-5 speed autos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2010s: 6-8 speed autos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Today: 8-10 speed autos common (Ford-GM: 10-speed!)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Why More Speeds?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Advantage 1: Closer Ratio Steps — Engine stays in optimal RPM range (BSFC sweet spot – Session 6!)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Example: 4-speed might have ratio steps 1.5x apart, 8-speed only 1.2x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Smoother acceleration (less RPM jump per shift)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Advantage 2: Wider Overall Ratio Spread — 4-speed: Overall spread ~4:1 (e.g., 1st = 3.2, 4th = 0.8)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8-speed: Overall spread ~7:1 (e.g., 1st = 4.7, 8th = 0.67)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Lower 1st gear → Better acceleration from standstill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Taller top gear → Lower RPM at highway speeds → Better fuel economy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Result: — Modern 8-speed auto can achieve BETTER fuel economy than manual!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Example: BMW 8-speed ZF transmission ~5-8% better economy than old 6-speed manual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Complexity: — More gears = More clutches and planetary sets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Sophisticated TCU software (thousands of shift combinations)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Higher cost (~₹50,000-100,000 more than manual)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#### Part 2: Modern Transmission Technologies (Slides 14-18, ~15 minutes)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CVT – Continuously Variable Transmission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CVT = Continuously Variable Transmission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Fundamental Difference: NO DISCRETE GEARS! Infinite ratios.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How It Works: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Components: — Two pulleys: Drive pulley (input) and Driven pulley (output)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Metal belt or chain connecting pulleys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Variable diameter: Pulley halves move together/apart to change effective diameter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Operation: — Low ratio (like 1st gear): — Drive pulley: Small diameter (halves apart)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Driven pulley: Large diameter (halves together)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Belt rides on small radius of drive, large radius of driven → Speed reduction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High ratio (like top gear): — Drive pulley: Large diameter (halves together)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Driven pulley: Small diameter (halves apart)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Belt rides on large radius of drive, small radius of driven → Speed increase (overdrive)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Infinite intermediate ratios: — Pulley halves move continuously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No shift points! Ratio changes smoothly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Control: Stepper motor or hydraulic actuators move pulley halves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Advantages: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Optimal efficiency: ECU can keep engine at exact optimal RPM (BSFC sweet spot)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Smooth acceleration: No shift shock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Simple: Fewer parts than multi-speed auto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Disadvantages: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✗ Torque limit: Belt/chain can slip under high torque (~250-300 Nm max)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✗ Driving feel: Constant RPM (rubber band effect) feels unnatural to some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✗ Efficiency: Slightly lower than manual/DCT due to belt friction losses (~5-8%)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Used in: Honda Jazz, Nissan Micra, many Nissan/Toyota hybrids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DCT/DSG – Dual-Clutch Transmission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DCT/DSG = Dual-Clutch Transmission / Direct Shift Gearbox (VW's name)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Concept: TWO manual gearboxes in one! TWO clutches!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How It Works: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Architecture: — Clutch 1 controls odd gears (1st, 3rd, 5th, 7th) via Input Shaft 1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Clutch 2 controls even gears (2nd, 4th, 6th) and Reverse via Input Shaft 2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Both input shafts are concentric (one inside the other)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Single output shaft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Shifting Process (e.g., 1st → 2nd):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In 1st gear: — Clutch 1 engaged → 1st gear active, power flowing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Clutch 2 disengaged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BUT: 2nd gear already pre-selected on Input Shaft 2!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Shifting: — Clutch 1 opens (releases 1st gear)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Simultaneously: Clutch 2 closes (engages 2nd gear)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Happens in 50-100 milliseconds! — No power interruption (one clutch closing as other opens)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Next gear already prepared: While in 2nd, 3rd is pre-selected and ready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Advantages: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Very fast shifts: Faster than manual, faster than auto (&lt;100ms vs ~200-300ms)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No power loss during shift: Seamless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High efficiency: ~98-99% (like manual, better than auto/CVT)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Performance: Used in supercars (Ferrari, Lamborghini, Porsche PDK)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Disadvantages: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✗ Complex: Two clutches, complex control logic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✗ Expensive: ₹1,50,000-2,00,000 more than manual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✗ Low-speed jerkiness: Dual wet clutches can be jerky in stop-start traffic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✗ Maintenance: More expensive than manual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Used in: VW/Audi (DSG), Porsche (PDK), Ford (PowerShift)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AMT – Automated Manual Transmission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AMT = Automated Manual Transmission (Also called Semi-Automatic)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Concept: Regular manual gearbox + Automated clutch and shift actuators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How It Works: — Base: Standard manual transmission (like Session 7)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Added: Electric or hydraulic actuators for: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Clutch operation (instead of pedal)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Gear shifting (instead of shift lever)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Control: TCU monitors speed/throttle, commands shifts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Operation: — Driver selects Drive (D) mode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TCU decides when to shift (based on speed, throttle)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Actuator presses clutch → Actuator moves shift mechanism → Actuator releases clutch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Same as manual transmission, just automated!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Advantages: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Low cost: Only add actuators to existing manual (~₹30,000-50,000 extra vs manual)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Fuel efficiency: Same as manual (no torque converter losses)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Easy to maintain: Based on proven manual transmission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Disadvantages: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✗ Slow shifts: ~400-600ms (much slower than DCT or even auto)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✗ Power interruption: Clutch disengages during shift (like manual)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✗ Jerky: Shift shock, especially at low speeds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✗ Not suitable for performance: Mainly used in budget cars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Used in: Maruti Suzuki (AGS), Tata (AMT), many budget Indian cars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Transmission Technology Comparison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Let's compare all transmission technologies side-by-side: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Aspect | Manual | Auto (TC) | CVT | DCT/DSG | AMT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|--------|--------|-----------|-----|---------|-----|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Shift Speed | ~500ms | ~200ms | N/A | &lt;100ms | ~500ms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Efficiency | 98% | 92-95% | 93-95% | 98-99% | 98%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Cost | Low | High | Medium | Very High | Low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Driving Ease | Skill needed | Very easy | Very easy | Very easy | Easy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Performance | Good | Good | Moderate | Excellent | Moderate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Traffic Use | Tiring | Excellent | Excellent | Good | Fair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Fuel Economy | Very Good | Good | Very Good | Very Good | Very Good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Reliability | Excellent | Good | Fair | Good | Good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Maintenance Cost | Low | High | Medium | High | Low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Torque Capacity | Very High | Very High | Limited | High | High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Recommendations: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Manual: Enthusiasts, budget, maximum control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Automatic (TC): Comfort, reliability, luxury cars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CVT: Fuel economy focus, city driving, small cars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DCT/DSG: Performance, fast shifts, sports cars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AMT: Budget automatic option, Indian market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Global Trend: Manual declining in developed markets, DCT and Auto gaining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Selecting the Right Transmission (Solve Scenario from Slide 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Let's solve our earlier scenarios: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Scenario A: Luxury Sedan (Mercedes S-Class)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Requirement: Smooth, effortless, comfortable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Recommendation: 9-speed Torque Converter Automatic — Why: Smoothest operation, proven reliability, imperceptible shifts, excellent low-speed refinement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Mercedes uses 9G-TRONIC (9-speed auto)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Scenario B: Performance Sports Car (Porsche 911)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Requirement: Fastest shifts, maximum performance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Recommendation: 7/8-speed DCT/PDK — Why: Fastest shifts (&lt;100ms), no power interruption, launch control capable, manual mode with paddle shifters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Porsche PDK (7-speed DCT) standard in 911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Scenario C: City Electric Car (Nissan Leaf)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Electric motor, instant torque, 140 km/h top speed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Recommendation: SINGLE-SPEED FIXED GEAR — Why: (We'll explore in Part 5!)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Engineering decision depends on: Performance goals, cost targets, customer expectations, driving environment.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#### Part 3: Differential &amp; Final Drive (Slides 19-22, ~12 minutes)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The Differential Problem and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Now let's solve the cornering problem from Slide 3: How to power both wheels while allowing different speeds?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THE DIFFERENTIAL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Function: — Splits torque equally between two wheels (left and right)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Allows wheels to rotate at different speeds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How It Works: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Components: — Ring gear: Driven by transmission output (pinion gear meshes with ring)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Differential case: Attached to ring gear, rotates with it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Spider gears (pinion gears): Inside case, on a cross shaft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Side gears: One for each axle shaft (left wheel, right wheel)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Operation: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Straight Line Driving: — Ring gear rotates differential case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Spider gears don't rotate relative to case (they orbit with case)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Both side gears rotate at same speed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Both wheels rotate at same speed → Equal torque to each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Turning (e.g., left turn): — Ring gear still rotates case at constant speed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Left wheel (inside) must slow down (shorter path)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Right wheel (outside) must speed up (longer path)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Spider gears rotate on their axis → Allow side gears to spin at different speeds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Side gear speeds adjust automatically! (based on resistance/traction)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Key principle: Spider gears act as a speed compensator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Torque Split: ALWAYS 50:50 to each wheel (in open differential)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Differential Ratio (Final Drive Ratio)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DIFFERENTIAL RATIO (Also called Final Drive Ratio)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Definition: Gear ratio between transmission output (pinion) and differential (ring gear)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Calculation: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GRdiff = Nring / N_pinion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Example: — Ring gear: 72 teeth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Pinion gear: 18 teeth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GR_diff = 72/18 = 4.0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What This Means: — Transmission output shaft rotates 4 times → Wheels rotate 1 time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This is the final torque multiplication stage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From Session 7, remember: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Overall ratio = GRtransmission × GRdifferential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Effect on Performance: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Higher Diff Ratio (e.g., 4.5):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More torque at wheels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Better acceleration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Lower top speed (engine hits redline at lower vehicle speed)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Worse fuel economy (higher RPM at cruising speed)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Lower Diff Ratio (e.g., 3.5):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Less torque at wheels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Slower acceleration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Higher top speed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Better fuel economy (lower RPM at cruising)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Typical Values: — Economy cars: 3.5-4.0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Performance cars: 3.0-3.5 (taller for high top speed)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Trucks/SUVs: 4.0-5.0 (shorter for towing and off-road)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Final Drive Ratio Calculation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Complete Example: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Vehicle: Sports sedan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Engine redline: 7000 RPM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Transmission 6th gear ratio: 0.8 (overdrive)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Wheel radius: 0.33 m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Two differential options being considered: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Option A: 3.5 final drive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Option B: 4.1 final drive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Calculate: Top speed in 6th gear for each option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Solution: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Option A (3.5 diff ratio):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Overall ratio in 6th = 0.8 × 3.5 = 2.8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Wheel RPM at redline: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ω_wheel = 7000 / 2.8 = 2,500 RPM = 41.67 rev/s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Vehicle speed: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v = ω × 2πr = 41.67 × 2π × 0.33 = 86.4 m/s = 311 km/h ✓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Option B (4.1 diff ratio):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Overall ratio in 6th = 0.8 × 4.1 = 3.28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Wheel RPM at redline: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ω_wheel = 7000 / 3.28 = 2,134 RPM = 35.57 rev/s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Vehicle speed: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v = 35.57 × 2π × 0.33 = 73.7 m/s = 265 km/h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Conclusion: — Option A (3.5): Higher top speed, better for autobahn cruising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Option B (4.1): Better acceleration (more torque multiplication), better for city/mountain driving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Engineering choice depends on vehicle purpose!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Limited-Slip Differential (LSD)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Problem with Open Differential: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Scenario: One wheel on ice, one on pavement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Wheel on ice has NO traction (can spin freely)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Differential splits torque 50:50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ALL power goes to the slipping wheel! (path of least resistance)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Wheel on pavement gets same torque but it's not enough to move car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Result: Car stuck, one wheel spinning uselessly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SOLUTION: LIMITED-SLIP DIFFERENTIAL (LSD)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Concept: Limit the speed difference between wheels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Types: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1. Clutch-type LSD: — Friction clutch packs between side gears and case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Preload keeps them partially engaged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If one wheel spins faster → Clutch resists → Transfers some torque to other wheel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2. Viscous LSD: — Silicone fluid between plates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Speed difference creates shear heating → Fluid thickens → Couples wheels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3. Torsen (Torque-Sensing): — Worm gears instead of spider gears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Mechanically biases torque to wheel with more traction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4. Electronic (e-Diff): — Uses brakes to slow down spinning wheel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Forces torque to other wheel (part of ESC system)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Used in: Sports cars (better cornering), trucks (off-road traction), performance sedans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#### Part 4: Drivetrain Configurations (Slides 23-24, ~8 minutes)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FWD vs RWD vs AWD Configurations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DRIVETRAIN CONFIGURATION: Which wheels receive power?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1. FWD – Front-Wheel Drive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Layout: Engine and transmission at front, power to front wheels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Advantages: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Compact (engine, transmission, differential all in front)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More interior space (no driveshaft tunnel)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Better traction in snow/rain (engine weight over drive wheels)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Lower cost (simpler, fewer parts)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Better fuel economy (lighter, less drivetrain loss)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Disadvantages: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✗ Front wheels do steering AND power → Torque steer (pulling to one side under hard acceleration)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✗ Weight distribution (60:40 front:rear) → Understeer tendency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✗ Limited high-performance applications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Used in: Most economy and mid-size cars (Honda Civic, Toyota Corolla, Maruti Suzuki)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2. RWD – Rear-Wheel Drive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Layout: Engine at front (or rear), transmission at front or rear, driveshaft to rear differential, power to rear wheels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Advantages: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Better weight distribution (50:50 possible)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Better handling (neutral steering, less understeer)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No torque steer (steering wheels not driven)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Better for high-power applications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Disadvantages: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✗ Less traction in snow/rain (light rear end)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✗ More complex (driveshaft needed)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✗ Less interior space (driveshaft tunnel)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✗ Slightly higher cost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Used in: Luxury cars (BMW, Mercedes), sports cars (Mazda MX-5), trucks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3. AWD – All-Wheel Drive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Layout: Power to all four wheels (front and rear differentials, transfer case)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Advantages: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Best traction (all wheels powered)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Better acceleration (can use all four contact patches)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Safer in adverse conditions (snow, rain, off-road)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Disadvantages: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✗ Heavier (extra differentials, transfer case, driveshafts)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✗ More complex and expensive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✗ Worse fuel economy (~10-15% penalty)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✗ Higher maintenance cost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Used in: SUVs, performance cars (Audi Quattro, Subaru), luxury sedans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4WD vs AWD Explained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4WD vs AWD: Often confused, but different!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AWD (All-Wheel Drive): — Always active (all wheels always powered)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Automatic: System distributes power as needed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Center differential: Allows front and rear axles to spin at different speeds (for normal roads)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Variable torque split: Can send more power to front or rear as needed (e.g., 60:40 or 40:60)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Used for: On-road performance and all-weather capability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Example: Audi Quattro, Subaru Symmetrical AWD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4WD (Four-Wheel Drive / 4x4): — Part-time: Driver selects 2WD or 4WD mode (lever or button)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Locked: In 4WD mode, front and rear axles locked together (usually 50:50 split)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Transfer case: Simple dog clutch or chain, no center differential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Low range: Often has low-range gearing for off-road crawling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Only for off-road: Should NOT use 4WD on dry pavement (axles locked → binding)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Used for: Serious off-road capability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Example: Jeep Wrangler, Mahindra Thar, Toyota Land Cruiser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Summary: — AWD: Sophisticated, on-road, always active, automatic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4WD: Rugged, off-road, selectable, low-range gearing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#### Part 5: Electric Powertrains (Slides 25-27, ~12 minutes)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Electric Motor vs IC Engine – Torque Characteristics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ELECTRIC POWERTRAINS – The future of automotive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Fundamental Difference: Torque Delivery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IC Engine Torque Curve (from Session 4):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Zero torque at 0 RPM (engine must be spinning)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Low torque at low RPM (~1000-1500 RPM)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Peak torque at ~3000-4000 RPM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Falling torque at high RPM (&gt;5000)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Narrow operating range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Electric Motor Torque Curve: — MAXIMUM torque from 0 RPM! (instant torque)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Constant torque from 0 to ~5000 RPM (base speed)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Above base speed: Torque decreases (field weakening mode)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Usable range: 0-15,000+ RPM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Very wide operating range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Implications: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For ICE: NEED multi-speed transmission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Low RPM: Insufficient torque → Need 1st/2nd gear for torque multiplication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High vehicle speed: Engine can't spin fast enough → Need multiple gears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For EV: Single-speed transmission often sufficient!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0 RPM: Already have full torque → Don't need 1st gear!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Top speed: Motor can spin to 15,000+ RPM → One gear covers entire speed range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Example: Tesla Model 3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Motor: 350 Nm constant from 0-5000 RPM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Single-speed fixed gear ratio ~9:1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0-100 km/h: 3.3 seconds (instant torque!)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Top speed: 225 km/h (motor at ~14,000 RPM)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Electric Powertrain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ELECTRIC POWERTRAIN ARCHITECTURE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Main Components: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1. Battery Pack (Energy Storage) — Lithium-ion cells (typically NCM or LFP chemistry)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High voltage: 400V (most EVs) or 800V (premium EVs like Porsche Taycan)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Capacity: 40-100 kWh (determines range)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Example: Nissan Leaf 40 kWh, Tesla Model 3 Long Range 82 kWh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2. BMS – Battery Management System — Monitors cell voltages, temperatures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Balances cells (ensures all cells at same state of charge)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Protects battery (thermal management, overcharge/over-discharge protection)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3. Inverter (Power Electronics) — Converts DC (battery) to 3-phase AC (motor)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Controls motor speed and torque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Bidirectional: Motor mode (drive) or Generator mode (regenerative braking)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This is the 'brain' – like ECU for ICE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4. Electric Motor — Typically Permanent Magnet Synchronous Motor (PMSM) or AC Induction Motor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Power: 50-500 kW (67-670 HP equivalent)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Peak torque: 200-1000 Nm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Efficiency: 90-95% (much better than ICE ~30-35%!)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5. Single-Speed Reducer (Transmission) — Fixed gear ratio ~8:1 to 10:1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No shifting, always engaged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Simple, reliable, ~98% efficient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6. Differential — Same as ICE vehicles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Distributes power to left/right wheels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Power Flow: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Battery (DC) → Inverter (DC to AC) → Motor (mechanical rotation) → Reducer → Differential → Wheels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Regenerative Braking: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Wheels → Differential → Reducer → Motor (acts as generator) → Inverter (AC to DC) → Battery (charges)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Recovers ~20-30% of energy during braking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Extends range significantly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Connection to Next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We've completed MODULE 2: POWERTRAIN SYSTEMS (Sessions 4-8).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What we've mastered: — How engines generate power (Session 4)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How to keep engines alive (Session 5)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How to optimize performance (Session 6)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How to deliver power to wheels (Sessions 7-8)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Next: MODULE 3: CHASSIS DYNAMICS &amp; CONTROL (Sessions 9-12)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Session 9: Vehicle Dynamics Fundamentals — Longitudinal dynamics (acceleration, braking)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Load transfer calculations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Weight distribution effects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Math-heavy! (Applying Sessions 1-3 physics to chassis)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Session 10: Braking Systems — Friction calculations (using Session 2 tire knowledge!)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Hydraulic brake systems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ABS (Anti-lock Braking System)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Session 11: Steering Systems — Ackermann geometry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Steering ratio calculations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Power steering (hydraulic and electric)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Session 12: Suspension Systems — Spring-mass-damper physics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Suspension types and trade-offs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Electronic suspension control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Connection: Powertrain generates forces → Chassis systems CONTROL those forces (braking, cornering, ride quality).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📊 PPT DESIGN GUIDANCE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 b="1">
                <a:solidFill>
                  <a:srgbClr val="2E5090"/>
                </a:solidFill>
              </a:defRPr>
            </a:pPr>
            <a:r>
              <a:t>Visual Elements to Include: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Assignment (Due before Session 9):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Problem 1: Compare transmission technologies: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Create a table comparing Manual, Automatic (TC), CVT, DCT, and AMT for: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a) City taxi (high mileage, frequent stops)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b) Performance sports car (track use)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c) Luxury sedan (comfort priority)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d) Budget hatchback (cost-conscious buyer)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Justify each recommendation with specific advantages for each application.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Problem 2: Final drive ratio calculations: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 vehicle has: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Engine redline: 6800 RPM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Transmission top gear ratio: 0.75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Wheel radius: 0.32 m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Top speed requirement: 210 km/h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a) Calculate required final drive ratio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b) If differential ratio chosen is 3.8, calculate acceleration in 1st gear (1st gear ratio = 3.5, engine torque = 200 Nm, efficiency = 94%)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c) Which gear should you use to cruise at 120 km/h for best fuel economy? (Assume BSFC optimal zone is 2000-3000 RPM)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Problem 3: Electric vs ICE comparison: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Compare a Tesla Model 3 (electric, 350 Nm from 0 RPM, single-speed) with a BMW 3-Series (ICE, 350 Nm @ 4000 RPM, 8-speed auto).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a) Why can Tesla achieve 0-100 km/h in 3.3s vs BMW's 5.6s despite same peak torque?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b) Sketch torque vs RPM curves for both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c) Explain why Tesla doesn't need multiple gears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Bonus: Research Porsche Taycan's 2-speed transmission. Why did Porsche add a 2nd gear when most EVs use single-speed? What performance advantage does it provide?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Discussion Questions for Q&amp;A: — Will manual transmissions disappear completely? Why or why not?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How do hybrid powertrains (like Toyota Prius) combine ICE and electric motors? (Preview for future)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What is torque vectoring and how do modern AWD systems implement it?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Why are some manufacturers developing multi-speed EVs (e.g., Porsche Taycan 2-speed)?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How does regenerative braking work in EVs and how much energy can be recovered?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30 minutes for your questions. —--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Consistency: Maintain professional engineering template from all previous sessions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Technical Professionalism: Clear system diagrams, cutaway illustrations, comparison tables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Color coding: — Blue for mechanical components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Orange for hydraulic/fluid components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Green for electronic control systems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Purple for electric powertrain components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Font sizes: Comparison tables must be very readable (16pt minimum)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9: Torque converter operation – Core of automatic transmission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11: Planetary gears – Unique to automatics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17: Transmission comparison table – Critical reference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19: Differential operation – How it allows different wheel speeds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25: EV vs ICE torque curves – Fundamental difference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28: Complete powertrain summary – Module integration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30: Assignment problems – Comprehensive application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9: Torque converter fluid flow animation (impeller → turbine → stator)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11: Planetary gear set operation (different configurations for different ratios)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14: CVT pulley width changing (show ratio change smoothly)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15: DCT dual-clutch shifting (show overlap)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19: Differential spider gears rotating during cornering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26: Electric powertrain power flow (battery → inverter → motor → wheels)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Cutaway photos: Real automatic transmission, torque converter, differential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Component photos: Planetary gear set, CVT pulleys, DCT clutches, electric motor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System diagrams: Complete powertrain layouts (FWD/RWD/AWD configurations)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Comparison tables: All transmission types, drivetrain configurations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Graphs: Torque curves (ICE vs EV), transmission efficiency comparisons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Calculation worksheets: Final drive ratio examples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🎯 INSTRUCTOR 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 b="1">
                <a:solidFill>
                  <a:srgbClr val="2E5090"/>
                </a:solidFill>
              </a:defRPr>
            </a:pPr>
            <a:r>
              <a:t>Safety/Ethics Notes: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Technology comparison: Present multiple solutions to same problem (getting power to wheels)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Evolution narrative: Manual → Auto → Modern (CVT/DCT) → Electric (shows progression)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Application-driven: Match technology to use case (luxury vs performance vs budget)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Integration: Connect back to Sessions 4-7 throughout (BSFC maps, gear ratios, etc.)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Forward-looking: Electric powertrains preview the future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Challenge 1: "How does torque converter multiply torque without gears?"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How to address: Explain stator function carefully – it redirects fluid flow to give impeller a "push" from turbine exit flow. This creates reaction torque on stator (held stationary), which allows turbine to produce MORE torque than impeller puts in. Draw fluid flow paths clearly.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Challenge 2: "Why are there so many transmission types? Isn't one 'best'?"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How to address: Emphasize trade-offs – no perfect solution. Each type optimizes different priorities (cost, efficiency, performance, comfort). Use comparison table extensively. Real-world selection depends on application, market, and customer expectations.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Challenge 3: "If electric motors have instant torque, why does Porsche Taycan have 2-speed transmission?"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How to address: Explain that single-speed works for most EVs, but for extreme performance: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1st gear: Even higher torque multiplication for 0-100 km/h (sub-3 second acceleration)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2nd gear: Allows higher top speed (&gt;250 km/h)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Trade-off: Added complexity and weight for marginal performance gains. Only makes sense for premium performance EVs.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Challenge 4: "How does differential 'know' to send power to the wheel that needs it?"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How to address: Clarify misconception – OPEN differential doesn't "send" power intelligently. It ALWAYS splits torque 50:50. The wheel with less traction will spin faster (because it can), but receives same torque as other wheel. LIMITED-SLIP differentials address this by resisting speed difference, which does transfer more torque to higher-traction wheel. Electronic systems (using brakes) can actively manage this.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If running short: — Condense torque converter details (Slide 10) – show operation, skip efficiency graphs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Combine CVT and AMT into single slide (Slides 14+16)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Reduce differential details (Skip LSD Slide 22, just mention it exists)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Move drivetrain configurations (Slides 23-24) to assignment reading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If running long: — Move final drive calculations (Slide 21) to assignment (just show formula)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Defer 4WD vs AWD details (Slide 24) to Q&amp;A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Reduce electric powertrain details (combine Slides 26-27)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Core content (must cover): — Slides 8-11 (Automatic transmission fundamentals – torque converter and planetary gears)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17 (Transmission comparison table – critical reference)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19 (Differential operation – resolves cornering puzzle)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Slides 25-26 (Electric powertrain basics – future technology)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28 (Module summary – integration)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Slide 3: Ask "When was the last time you noticed wheels spinning at different speeds during a turn? What would happen without a differential?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Slide 9: Draw torque converter fluid flow on board together – trace path from impeller to turbine to stator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Slide 17: Poll students: "Which transmission would YOU choose for your personal car? Why?" (Gets them thinking about trade-offs)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Slide 19: If possible, bring a differential (salvaged from junkyard) to physically demonstrate – rotate input, show wheels spin at different rates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Slide 25: Ask "Why do electric cars accelerate so much faster than gas cars with same torque?" (Instant torque from 0 RPM!)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Q&amp;A: Be ready for questions about: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Hybrid transmissions: How Toyota Prius combines ICE and electric (eCVT with planetary gears)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Launch control: How DCTs and autos achieve maximum acceleration (slip clutch/converter at optimal RPM)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Torque vectoring: How modern AWD systems send different torque to each wheel (via clutches or electric motors at each wheel)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EV multi-motor setups: Dual motor (front + rear) or quad motor (one per wheel)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Transmission fluid maintenance: Regular ATF changes extend transmission life (~60,000-100,000 km intervals)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Differential fluid: Often neglected but critical (change every ~50,000 km)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EV high voltage safety: 400-800V systems are LETHAL – only trained technicians should work on them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Environmental impact: EV lifecycle emissions depend on electricity source (coal vs renewable)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✅ Session Success Criteria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Students leave able to: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Explain automatic transmission operation (torque converter and planetary gears)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Compare all transmission technologies (Manual, Auto, CVT, DCT, AMT) with advantages/disadvantages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Describe differential operation and speed difference allowance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Calculate final drive ratio and analyze impact on performance/economy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Compare drivetrain configurations (FWD, RWD, AWD, 4WD)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Explain electric powertrain components and why EVs use single-speed transmissions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Most importantly: Students understand the complete powertrain module (Sessions 4-8) as an integrated system, can compare different technological approaches to same problems, and appreciate the fundamental differences between ICE and electric powertrains.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📝 ADDITIONAL 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 b="1">
                <a:solidFill>
                  <a:srgbClr val="2E5090"/>
                </a:solidFill>
              </a:defRPr>
            </a:pPr>
            <a:r>
              <a:t>Connection to Electronics (Throughout):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This session completes Module 2 (Powertrain Systems). Students should now understand: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How power is generated (ICE engines or electric motors)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How power is managed (cooling, lubrication, fuel/battery systems)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How power is delivered to wheels (transmissions, differentials, drivetrain)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How to optimize the complete system (BSFC maps, gear selection, efficiency)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Next module shifts focus from power generation/delivery to power CONTROL: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Braking (controlling deceleration)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Steering (controlling direction)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Suspension (controlling ride and handling)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All use the physics foundations from Sessions 1-3.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Transmission choices: Why Ferrari uses DCT, Mercedes uses auto, budget cars use AMT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Differential types: Why sports cars have LSD, luxury cars have electronic torque vectoring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EV architecture: Tesla (single-speed), Porsche Taycan (2-speed), Rivian (quad-motor)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Hybrid systems: Toyota (eCVT), Honda (multi-mode), plug-in hybrids (combined operation)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In-wheel motors: Electric motor in each wheel (eliminates differential!)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eCVT: Planetary gear set with electric motors (Toyota Prius system)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48V mild hybrid: Electric assist to ICE (belt-starter-generator)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Solid-state batteries: Next-gen EV batteries (higher energy density, faster charging)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TCU programming: Shift maps, adaptive logic, sport/eco modes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Inverter control: PWM control of electric motors, regenerative braking algorithms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BMS design: Cell balancing, thermal management, state of charge estimation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Torque vectoring: ECU coordinating brakes/clutches/motors for optimal traction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This bridges mechanical and electrical engineering domains comprehensively.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End of Session 8 Framework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End of Module 2 (Powertrain Systems) - Sessions 4-8 Complete!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